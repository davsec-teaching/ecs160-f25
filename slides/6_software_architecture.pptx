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49"/>
  </p:notesMasterIdLst>
  <p:handoutMasterIdLst>
    <p:handoutMasterId r:id="rId150"/>
  </p:handoutMasterIdLst>
  <p:sldIdLst>
    <p:sldId id="256" r:id="rId2"/>
    <p:sldId id="317" r:id="rId3"/>
    <p:sldId id="316" r:id="rId4"/>
    <p:sldId id="257" r:id="rId5"/>
    <p:sldId id="306" r:id="rId6"/>
    <p:sldId id="308" r:id="rId7"/>
    <p:sldId id="309" r:id="rId8"/>
    <p:sldId id="310" r:id="rId9"/>
    <p:sldId id="311" r:id="rId10"/>
    <p:sldId id="287" r:id="rId11"/>
    <p:sldId id="314" r:id="rId12"/>
    <p:sldId id="319" r:id="rId13"/>
    <p:sldId id="320" r:id="rId14"/>
    <p:sldId id="315" r:id="rId15"/>
    <p:sldId id="318" r:id="rId16"/>
    <p:sldId id="321" r:id="rId17"/>
    <p:sldId id="322" r:id="rId18"/>
    <p:sldId id="313" r:id="rId19"/>
    <p:sldId id="431" r:id="rId20"/>
    <p:sldId id="432" r:id="rId21"/>
    <p:sldId id="288" r:id="rId22"/>
    <p:sldId id="289" r:id="rId23"/>
    <p:sldId id="323" r:id="rId24"/>
    <p:sldId id="305" r:id="rId25"/>
    <p:sldId id="329" r:id="rId26"/>
    <p:sldId id="324" r:id="rId27"/>
    <p:sldId id="325" r:id="rId28"/>
    <p:sldId id="326" r:id="rId29"/>
    <p:sldId id="343" r:id="rId30"/>
    <p:sldId id="328" r:id="rId31"/>
    <p:sldId id="344" r:id="rId32"/>
    <p:sldId id="327" r:id="rId33"/>
    <p:sldId id="342" r:id="rId34"/>
    <p:sldId id="345" r:id="rId35"/>
    <p:sldId id="430" r:id="rId36"/>
    <p:sldId id="425" r:id="rId37"/>
    <p:sldId id="426" r:id="rId38"/>
    <p:sldId id="427" r:id="rId39"/>
    <p:sldId id="428" r:id="rId40"/>
    <p:sldId id="429" r:id="rId41"/>
    <p:sldId id="436" r:id="rId42"/>
    <p:sldId id="437" r:id="rId43"/>
    <p:sldId id="441" r:id="rId44"/>
    <p:sldId id="341" r:id="rId45"/>
    <p:sldId id="258" r:id="rId46"/>
    <p:sldId id="359" r:id="rId47"/>
    <p:sldId id="360" r:id="rId48"/>
    <p:sldId id="262" r:id="rId49"/>
    <p:sldId id="356" r:id="rId50"/>
    <p:sldId id="264" r:id="rId51"/>
    <p:sldId id="263" r:id="rId52"/>
    <p:sldId id="370" r:id="rId53"/>
    <p:sldId id="394" r:id="rId54"/>
    <p:sldId id="395" r:id="rId55"/>
    <p:sldId id="398" r:id="rId56"/>
    <p:sldId id="396" r:id="rId57"/>
    <p:sldId id="399" r:id="rId58"/>
    <p:sldId id="400" r:id="rId59"/>
    <p:sldId id="272" r:id="rId60"/>
    <p:sldId id="274" r:id="rId61"/>
    <p:sldId id="273" r:id="rId62"/>
    <p:sldId id="438" r:id="rId63"/>
    <p:sldId id="439" r:id="rId64"/>
    <p:sldId id="276" r:id="rId65"/>
    <p:sldId id="275" r:id="rId66"/>
    <p:sldId id="284" r:id="rId67"/>
    <p:sldId id="285" r:id="rId68"/>
    <p:sldId id="410" r:id="rId69"/>
    <p:sldId id="411" r:id="rId70"/>
    <p:sldId id="402" r:id="rId71"/>
    <p:sldId id="424" r:id="rId72"/>
    <p:sldId id="417" r:id="rId73"/>
    <p:sldId id="373" r:id="rId74"/>
    <p:sldId id="374" r:id="rId75"/>
    <p:sldId id="375" r:id="rId76"/>
    <p:sldId id="261" r:id="rId77"/>
    <p:sldId id="378" r:id="rId78"/>
    <p:sldId id="268" r:id="rId79"/>
    <p:sldId id="393" r:id="rId80"/>
    <p:sldId id="269" r:id="rId81"/>
    <p:sldId id="271" r:id="rId82"/>
    <p:sldId id="270" r:id="rId83"/>
    <p:sldId id="407" r:id="rId84"/>
    <p:sldId id="401" r:id="rId85"/>
    <p:sldId id="408" r:id="rId86"/>
    <p:sldId id="412" r:id="rId87"/>
    <p:sldId id="415" r:id="rId88"/>
    <p:sldId id="416" r:id="rId89"/>
    <p:sldId id="418" r:id="rId90"/>
    <p:sldId id="277" r:id="rId91"/>
    <p:sldId id="296" r:id="rId92"/>
    <p:sldId id="295" r:id="rId93"/>
    <p:sldId id="278" r:id="rId94"/>
    <p:sldId id="404" r:id="rId95"/>
    <p:sldId id="405" r:id="rId96"/>
    <p:sldId id="406" r:id="rId97"/>
    <p:sldId id="420" r:id="rId98"/>
    <p:sldId id="419" r:id="rId99"/>
    <p:sldId id="421" r:id="rId100"/>
    <p:sldId id="279" r:id="rId101"/>
    <p:sldId id="280" r:id="rId102"/>
    <p:sldId id="281" r:id="rId103"/>
    <p:sldId id="297" r:id="rId104"/>
    <p:sldId id="298" r:id="rId105"/>
    <p:sldId id="423" r:id="rId106"/>
    <p:sldId id="422" r:id="rId107"/>
    <p:sldId id="260" r:id="rId108"/>
    <p:sldId id="433" r:id="rId109"/>
    <p:sldId id="434" r:id="rId110"/>
    <p:sldId id="435" r:id="rId111"/>
    <p:sldId id="347" r:id="rId112"/>
    <p:sldId id="349" r:id="rId113"/>
    <p:sldId id="350" r:id="rId114"/>
    <p:sldId id="361" r:id="rId115"/>
    <p:sldId id="381" r:id="rId116"/>
    <p:sldId id="382" r:id="rId117"/>
    <p:sldId id="265" r:id="rId118"/>
    <p:sldId id="266" r:id="rId119"/>
    <p:sldId id="267" r:id="rId120"/>
    <p:sldId id="380" r:id="rId121"/>
    <p:sldId id="300" r:id="rId122"/>
    <p:sldId id="301" r:id="rId123"/>
    <p:sldId id="371" r:id="rId124"/>
    <p:sldId id="387" r:id="rId125"/>
    <p:sldId id="330" r:id="rId126"/>
    <p:sldId id="384" r:id="rId127"/>
    <p:sldId id="331" r:id="rId128"/>
    <p:sldId id="362" r:id="rId129"/>
    <p:sldId id="388" r:id="rId130"/>
    <p:sldId id="352" r:id="rId131"/>
    <p:sldId id="389" r:id="rId132"/>
    <p:sldId id="391" r:id="rId133"/>
    <p:sldId id="390" r:id="rId134"/>
    <p:sldId id="392" r:id="rId135"/>
    <p:sldId id="334" r:id="rId136"/>
    <p:sldId id="353" r:id="rId137"/>
    <p:sldId id="340" r:id="rId138"/>
    <p:sldId id="259" r:id="rId139"/>
    <p:sldId id="364" r:id="rId140"/>
    <p:sldId id="365" r:id="rId141"/>
    <p:sldId id="366" r:id="rId142"/>
    <p:sldId id="367" r:id="rId143"/>
    <p:sldId id="368" r:id="rId144"/>
    <p:sldId id="369" r:id="rId145"/>
    <p:sldId id="397" r:id="rId146"/>
    <p:sldId id="363" r:id="rId147"/>
    <p:sldId id="385" r:id="rId148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B8B8B8"/>
    <a:srgbClr val="FFFFFF"/>
    <a:srgbClr val="B9B9FF"/>
    <a:srgbClr val="646464"/>
    <a:srgbClr val="003399"/>
    <a:srgbClr val="0000FF"/>
    <a:srgbClr val="DDDDFF"/>
    <a:srgbClr val="E6E0EC"/>
    <a:srgbClr val="FFD5D5"/>
    <a:srgbClr val="0082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77361" autoAdjust="0"/>
  </p:normalViewPr>
  <p:slideViewPr>
    <p:cSldViewPr snapToGrid="0">
      <p:cViewPr varScale="1">
        <p:scale>
          <a:sx n="119" d="100"/>
          <a:sy n="119" d="100"/>
        </p:scale>
        <p:origin x="4356" y="114"/>
      </p:cViewPr>
      <p:guideLst/>
    </p:cSldViewPr>
  </p:slideViewPr>
  <p:outlineViewPr>
    <p:cViewPr>
      <p:scale>
        <a:sx n="33" d="100"/>
        <a:sy n="33" d="100"/>
      </p:scale>
      <p:origin x="0" y="-4657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1946"/>
    </p:cViewPr>
  </p:sorter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handoutMaster" Target="handoutMasters/handoutMaster1.xml"/><Relationship Id="rId155" Type="http://schemas.microsoft.com/office/2016/11/relationships/changesInfo" Target="changesInfos/changesInfo1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presProps" Target="presProps.xml"/><Relationship Id="rId156" Type="http://schemas.microsoft.com/office/2015/10/relationships/revisionInfo" Target="revisionInfo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microsoft.com/office/2018/10/relationships/authors" Target="author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theme" Target="theme/theme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tableStyles" Target="tableStyle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Unlike previous lectures</a:t>
            </a:r>
          </a:p>
          <a:p>
            <a:pPr marL="171450" indent="-171450">
              <a:buFontTx/>
              <a:buChar char="-"/>
            </a:pPr>
            <a:r>
              <a:rPr lang="en-US" dirty="0"/>
              <a:t>When we say Interfaces, Abstract classes, Runtime polymorphism we mean one and only one thing</a:t>
            </a:r>
          </a:p>
          <a:p>
            <a:pPr marL="171450" indent="-171450">
              <a:buFontTx/>
              <a:buChar char="-"/>
            </a:pPr>
            <a:r>
              <a:rPr lang="en-US" dirty="0"/>
              <a:t>Terms we will be using will be a little fuzzy</a:t>
            </a:r>
          </a:p>
          <a:p>
            <a:pPr marL="171450" indent="-171450">
              <a:buFontTx/>
              <a:buChar char="-"/>
            </a:pPr>
            <a:r>
              <a:rPr lang="en-US" dirty="0"/>
              <a:t>Sometimes we will talk about the same framework providing support for more than one software architecture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8491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EDA0B-1F0C-0338-0E28-0E35765E3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D03790-60FA-0750-028F-FB5ECA61B6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1F6D32-2E11-AA8C-E3B6-197CD8D026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24091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583D3-A526-A3F9-7826-4358F3925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1338B7-FDD6-D2E0-0643-299D066416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188EF2-1A11-62C8-53C1-D676BED2F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1075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57C80-B1BD-96F2-4C6F-39CA3B44E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34B616-7197-257F-3C1A-0C5C690BA1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52EB3E-DFBB-ED1C-2EFE-2DB48DA4F9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In this module, we will pop out a bit</a:t>
            </a:r>
          </a:p>
          <a:p>
            <a:pPr marL="171450" indent="-171450">
              <a:buFontTx/>
              <a:buChar char="-"/>
            </a:pPr>
            <a:r>
              <a:rPr lang="en-US" dirty="0"/>
              <a:t>Look at entire system</a:t>
            </a:r>
          </a:p>
          <a:p>
            <a:pPr marL="171450" indent="-171450">
              <a:buFontTx/>
              <a:buChar char="-"/>
            </a:pPr>
            <a:r>
              <a:rPr lang="en-US" dirty="0"/>
              <a:t>Design these complex systems</a:t>
            </a:r>
          </a:p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5143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Like reflective programming, not used on a day-to-day basis</a:t>
            </a:r>
          </a:p>
          <a:p>
            <a:pPr marL="171450" indent="-171450">
              <a:buFontTx/>
              <a:buChar char="-"/>
            </a:pPr>
            <a:r>
              <a:rPr lang="en-US" dirty="0"/>
              <a:t>From the perspective of the software company</a:t>
            </a:r>
          </a:p>
        </p:txBody>
      </p:sp>
    </p:spTree>
    <p:extLst>
      <p:ext uri="{BB962C8B-B14F-4D97-AF65-F5344CB8AC3E}">
        <p14:creationId xmlns:p14="http://schemas.microsoft.com/office/powerpoint/2010/main" val="22256964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Cares about the following things</a:t>
            </a:r>
          </a:p>
          <a:p>
            <a:pPr marL="171450" indent="-171450">
              <a:buFontTx/>
              <a:buChar char="-"/>
            </a:pPr>
            <a:r>
              <a:rPr lang="en-US" dirty="0"/>
              <a:t>Not comprehensive </a:t>
            </a:r>
          </a:p>
          <a:p>
            <a:pPr marL="171450" indent="-171450">
              <a:buFontTx/>
              <a:buChar char="-"/>
            </a:pPr>
            <a:r>
              <a:rPr lang="en-US" dirty="0"/>
              <a:t>Goal [click]</a:t>
            </a:r>
          </a:p>
        </p:txBody>
      </p:sp>
    </p:spTree>
    <p:extLst>
      <p:ext uri="{BB962C8B-B14F-4D97-AF65-F5344CB8AC3E}">
        <p14:creationId xmlns:p14="http://schemas.microsoft.com/office/powerpoint/2010/main" val="41861706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91496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97BAB-85A7-7B93-33AB-1187C4860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BAFDA5-C120-EEAA-E91B-43538B80C0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D28F9A-3E8C-B20F-8ED9-53408E843F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Provides an URL (called endpoint)</a:t>
            </a:r>
          </a:p>
        </p:txBody>
      </p:sp>
    </p:spTree>
    <p:extLst>
      <p:ext uri="{BB962C8B-B14F-4D97-AF65-F5344CB8AC3E}">
        <p14:creationId xmlns:p14="http://schemas.microsoft.com/office/powerpoint/2010/main" val="32303376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E8555-2F2E-BB3D-57A5-07191CCDC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B26C28-F60A-DF10-6213-FCEA2142A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335359-EF6F-298C-F74D-2DFB7748BD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Different tradeoffs for each approach</a:t>
            </a:r>
          </a:p>
          <a:p>
            <a:pPr marL="171450" indent="-171450">
              <a:buFontTx/>
              <a:buChar char="-"/>
            </a:pPr>
            <a:r>
              <a:rPr lang="en-US" dirty="0"/>
              <a:t>We will</a:t>
            </a:r>
            <a:r>
              <a:rPr lang="en-US" b="1" dirty="0"/>
              <a:t> explore these tradeoffs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02536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Taylor swift post goes viral</a:t>
            </a:r>
          </a:p>
        </p:txBody>
      </p:sp>
    </p:spTree>
    <p:extLst>
      <p:ext uri="{BB962C8B-B14F-4D97-AF65-F5344CB8AC3E}">
        <p14:creationId xmlns:p14="http://schemas.microsoft.com/office/powerpoint/2010/main" val="30163708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Identical to the original machines</a:t>
            </a:r>
          </a:p>
          <a:p>
            <a:pPr marL="171450" indent="-171450">
              <a:buFontTx/>
              <a:buChar char="-"/>
            </a:pPr>
            <a:r>
              <a:rPr lang="en-US" dirty="0"/>
              <a:t>Must be taken down when demand falls back</a:t>
            </a:r>
          </a:p>
        </p:txBody>
      </p:sp>
    </p:spTree>
    <p:extLst>
      <p:ext uri="{BB962C8B-B14F-4D97-AF65-F5344CB8AC3E}">
        <p14:creationId xmlns:p14="http://schemas.microsoft.com/office/powerpoint/2010/main" val="14507495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E0804-8522-D0D5-6C6F-0206CA7CA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8D09F5-B9BD-19D6-B51A-55F35B800F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83B75A-614D-D04D-7836-1CCCEC92E3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90619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30127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Distri</a:t>
            </a:r>
            <a:endParaRPr lang="en-US" dirty="0"/>
          </a:p>
          <a:p>
            <a:pPr marL="628650" lvl="1" indent="-171450">
              <a:buFontTx/>
              <a:buChar char="-"/>
            </a:pPr>
            <a:r>
              <a:rPr lang="en-US" dirty="0"/>
              <a:t>Twitter or </a:t>
            </a:r>
            <a:r>
              <a:rPr lang="en-US" dirty="0" err="1"/>
              <a:t>Bsky</a:t>
            </a:r>
            <a:r>
              <a:rPr lang="en-US" dirty="0"/>
              <a:t> service running in SF have consensus with service running in NY</a:t>
            </a:r>
          </a:p>
          <a:p>
            <a:pPr marL="628650" lvl="1" indent="-171450">
              <a:buFontTx/>
              <a:buChar char="-"/>
            </a:pPr>
            <a:r>
              <a:rPr lang="en-US" b="1" dirty="0"/>
              <a:t>Reconcile</a:t>
            </a:r>
          </a:p>
        </p:txBody>
      </p:sp>
    </p:spTree>
    <p:extLst>
      <p:ext uri="{BB962C8B-B14F-4D97-AF65-F5344CB8AC3E}">
        <p14:creationId xmlns:p14="http://schemas.microsoft.com/office/powerpoint/2010/main" val="30837344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Different versions</a:t>
            </a:r>
          </a:p>
          <a:p>
            <a:pPr marL="171450" indent="-171450">
              <a:buFontTx/>
              <a:buChar char="-"/>
            </a:pPr>
            <a:r>
              <a:rPr lang="en-US" dirty="0"/>
              <a:t>Different Oses</a:t>
            </a:r>
          </a:p>
          <a:p>
            <a:pPr marL="171450" indent="-171450">
              <a:buFontTx/>
              <a:buChar char="-"/>
            </a:pPr>
            <a:r>
              <a:rPr lang="en-US" dirty="0"/>
              <a:t>Spike for JS content.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Python pages not being visited, idle</a:t>
            </a:r>
          </a:p>
        </p:txBody>
      </p:sp>
    </p:spTree>
    <p:extLst>
      <p:ext uri="{BB962C8B-B14F-4D97-AF65-F5344CB8AC3E}">
        <p14:creationId xmlns:p14="http://schemas.microsoft.com/office/powerpoint/2010/main" val="30167236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6070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E1CF7-D55A-58D4-CFAD-34C4ABE90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0A8112-0DA0-06B0-88D8-27D0EC7C0D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53CB1A-8A31-0C42-F7FB-08D7A66E24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41802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If have time then FAAS</a:t>
            </a:r>
          </a:p>
        </p:txBody>
      </p:sp>
    </p:spTree>
    <p:extLst>
      <p:ext uri="{BB962C8B-B14F-4D97-AF65-F5344CB8AC3E}">
        <p14:creationId xmlns:p14="http://schemas.microsoft.com/office/powerpoint/2010/main" val="33180100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19446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C0E9C-3160-4604-4180-395EE04B8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179E00-C46A-89AC-ED7A-CAB05B1969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506FE0-A3D1-4C20-D97E-D48B32512C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Everything is abstraction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Don’t want to be writing a HTTP response for each request</a:t>
            </a:r>
          </a:p>
          <a:p>
            <a:pPr marL="171450" indent="-171450">
              <a:buFontTx/>
              <a:buChar char="-"/>
            </a:pPr>
            <a:r>
              <a:rPr lang="en-US" dirty="0"/>
              <a:t>Hides the details of the lower layers</a:t>
            </a:r>
          </a:p>
        </p:txBody>
      </p:sp>
    </p:spTree>
    <p:extLst>
      <p:ext uri="{BB962C8B-B14F-4D97-AF65-F5344CB8AC3E}">
        <p14:creationId xmlns:p14="http://schemas.microsoft.com/office/powerpoint/2010/main" val="314801937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Sudo apt install tomcat9</a:t>
            </a:r>
          </a:p>
          <a:p>
            <a:pPr marL="171450" indent="-171450">
              <a:buFontTx/>
              <a:buChar char="-"/>
            </a:pPr>
            <a:r>
              <a:rPr lang="en-US" dirty="0"/>
              <a:t>/</a:t>
            </a:r>
            <a:r>
              <a:rPr lang="en-US" dirty="0" err="1"/>
              <a:t>usr</a:t>
            </a:r>
            <a:r>
              <a:rPr lang="en-US" dirty="0"/>
              <a:t>/share/tomcat9/bin</a:t>
            </a:r>
          </a:p>
          <a:p>
            <a:pPr marL="171450" indent="-171450">
              <a:buFontTx/>
              <a:buChar char="-"/>
            </a:pPr>
            <a:r>
              <a:rPr lang="en-US" dirty="0"/>
              <a:t>Copy the /var/lib/tomcat9/webapps</a:t>
            </a:r>
          </a:p>
        </p:txBody>
      </p:sp>
    </p:spTree>
    <p:extLst>
      <p:ext uri="{BB962C8B-B14F-4D97-AF65-F5344CB8AC3E}">
        <p14:creationId xmlns:p14="http://schemas.microsoft.com/office/powerpoint/2010/main" val="264435696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01595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E0093-B416-EFA7-92F6-28CF3758F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50AC27-03E9-210B-94E2-E4A60D1BB2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087FD5-F6B7-9BE4-CE40-F1EA8198E5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40772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964AE-0F5D-EE91-E494-3D50F6D43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D3F884-AD98-26B0-4C8D-AB22143FE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4102ED-4D4A-38D7-D34E-4CB6A91AC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2282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Focusing a lot on technologies</a:t>
            </a:r>
          </a:p>
          <a:p>
            <a:pPr marL="171450" indent="-171450">
              <a:buFontTx/>
              <a:buChar char="-"/>
            </a:pPr>
            <a:r>
              <a:rPr lang="en-US" dirty="0"/>
              <a:t>Step back and look at the architecture</a:t>
            </a:r>
          </a:p>
        </p:txBody>
      </p:sp>
    </p:spTree>
    <p:extLst>
      <p:ext uri="{BB962C8B-B14F-4D97-AF65-F5344CB8AC3E}">
        <p14:creationId xmlns:p14="http://schemas.microsoft.com/office/powerpoint/2010/main" val="364966169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HW1/2</a:t>
            </a:r>
          </a:p>
        </p:txBody>
      </p:sp>
    </p:spTree>
    <p:extLst>
      <p:ext uri="{BB962C8B-B14F-4D97-AF65-F5344CB8AC3E}">
        <p14:creationId xmlns:p14="http://schemas.microsoft.com/office/powerpoint/2010/main" val="392662256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615B3-136C-1F13-B634-E57F0EF78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094421-E5FD-1205-7983-8BD41D823F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3558DC-E5CA-5997-81F5-1C9EAFFE99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965132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078001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7C3B-D1A9-0161-7D40-9E5713247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DDF737-C3DC-490E-A681-24ADAE142C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417AB1-6554-BF8E-8676-9369AE648F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912853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UI flows</a:t>
            </a:r>
          </a:p>
        </p:txBody>
      </p:sp>
    </p:spTree>
    <p:extLst>
      <p:ext uri="{BB962C8B-B14F-4D97-AF65-F5344CB8AC3E}">
        <p14:creationId xmlns:p14="http://schemas.microsoft.com/office/powerpoint/2010/main" val="139219115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914171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02807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Install docker.io</a:t>
            </a:r>
          </a:p>
          <a:p>
            <a:pPr marL="171450" indent="-171450">
              <a:buFontTx/>
              <a:buChar char="-"/>
            </a:pPr>
            <a:r>
              <a:rPr lang="en-US" dirty="0"/>
              <a:t>Write a simple text file</a:t>
            </a:r>
          </a:p>
        </p:txBody>
      </p:sp>
    </p:spTree>
    <p:extLst>
      <p:ext uri="{BB962C8B-B14F-4D97-AF65-F5344CB8AC3E}">
        <p14:creationId xmlns:p14="http://schemas.microsoft.com/office/powerpoint/2010/main" val="85958262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79899-5B60-79F6-6D7F-C087C8F4F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DF28A2-1010-CCC7-E295-A7AFEE65A2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B8DB2F-1545-E4CC-6F2A-33A14F915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057292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636E1-3076-9EEF-16F9-5A6DAD6E9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D41728-9027-CBCF-5015-4A8D3D042A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4F0593-DB08-8302-0F16-BBCB6966BD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In modern software architecture all the components are connected</a:t>
            </a:r>
          </a:p>
          <a:p>
            <a:pPr marL="171450" indent="-171450">
              <a:buFontTx/>
              <a:buChar char="-"/>
            </a:pPr>
            <a:r>
              <a:rPr lang="en-US" dirty="0"/>
              <a:t>Running on different machines</a:t>
            </a:r>
          </a:p>
          <a:p>
            <a:pPr marL="171450" indent="-171450">
              <a:buFontTx/>
              <a:buChar char="-"/>
            </a:pPr>
            <a:r>
              <a:rPr lang="en-US" dirty="0"/>
              <a:t>Need some networking revision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Help with microservices</a:t>
            </a:r>
          </a:p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36374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Networking code consists of different layers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Purely in software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784911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4444D-11D1-49EF-804D-6A5EA6421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2702C7-C45B-C83B-783C-F43090E339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338FB3-A225-D03B-D6A4-6E30EEF242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Networking code consists of different layers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Purely in software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39485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08CEC-55DB-9DD5-C4D4-87112A6FD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36CB0A-7866-55C5-0446-0D03AB410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06C5C5-86DE-DC62-373D-CE2D536E5E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411297398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CAB0F-6FE0-50E5-82D7-93D2082B9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B6AAF3-46A5-FB11-5748-A5DFBFAFB5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850560-A989-7E6F-FBB6-F7146C05F6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378091916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765CB-05BB-D2EA-2FBD-4A5E81F8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437DB7-F472-528D-7923-8C9E25D16A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6F8AED-A32D-B51E-5DAA-EBEE155CFE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317689141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29907-8AA7-FDD1-9442-76BEFCC63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664BC-6A84-1E7D-6E67-8D84D4F604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BDE2BD-4C2C-77AC-3019-CC47F76851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80503666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8E4EF-3D72-5F2D-3FFD-720B33B0F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3F87FD-EB26-0805-6586-70CBA3097B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944689-B862-1F7B-04AA-ED013A89BD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87813910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333275357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28EA4-836D-7D85-B1BA-B0CE9CA7A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9898CC-6A6B-3903-5DBA-496A7B3CAE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76AE29-1A4C-730C-818C-E078CF8F84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127646521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http://httpforever.com/</a:t>
            </a:r>
          </a:p>
        </p:txBody>
      </p:sp>
    </p:spTree>
    <p:extLst>
      <p:ext uri="{BB962C8B-B14F-4D97-AF65-F5344CB8AC3E}">
        <p14:creationId xmlns:p14="http://schemas.microsoft.com/office/powerpoint/2010/main" val="2631008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Important for the microservices</a:t>
            </a:r>
          </a:p>
        </p:txBody>
      </p:sp>
    </p:spTree>
    <p:extLst>
      <p:ext uri="{BB962C8B-B14F-4D97-AF65-F5344CB8AC3E}">
        <p14:creationId xmlns:p14="http://schemas.microsoft.com/office/powerpoint/2010/main" val="396464128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/</a:t>
            </a:r>
            <a:r>
              <a:rPr lang="en-US" dirty="0" err="1"/>
              <a:t>etc</a:t>
            </a:r>
            <a:r>
              <a:rPr lang="en-US" dirty="0"/>
              <a:t>/apache2 has the config</a:t>
            </a:r>
          </a:p>
          <a:p>
            <a:pPr marL="171450" indent="-171450">
              <a:buFontTx/>
              <a:buChar char="-"/>
            </a:pPr>
            <a:r>
              <a:rPr lang="en-US" dirty="0"/>
              <a:t>/var/www has the website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225177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Run </a:t>
            </a:r>
            <a:r>
              <a:rPr lang="en-US" dirty="0" err="1"/>
              <a:t>wireshark</a:t>
            </a:r>
            <a:r>
              <a:rPr lang="en-US" dirty="0"/>
              <a:t> on the WSL</a:t>
            </a:r>
          </a:p>
          <a:p>
            <a:pPr marL="171450" indent="-171450">
              <a:buFontTx/>
              <a:buChar char="-"/>
            </a:pPr>
            <a:r>
              <a:rPr lang="en-US" dirty="0"/>
              <a:t>/</a:t>
            </a:r>
            <a:r>
              <a:rPr lang="en-US" dirty="0" err="1"/>
              <a:t>etc</a:t>
            </a:r>
            <a:r>
              <a:rPr lang="en-US" dirty="0"/>
              <a:t>/apache2 has the config</a:t>
            </a:r>
          </a:p>
          <a:p>
            <a:pPr marL="171450" indent="-171450">
              <a:buFontTx/>
              <a:buChar char="-"/>
            </a:pPr>
            <a:r>
              <a:rPr lang="en-US" dirty="0"/>
              <a:t>/var/www has the website</a:t>
            </a:r>
          </a:p>
        </p:txBody>
      </p:sp>
    </p:spTree>
    <p:extLst>
      <p:ext uri="{BB962C8B-B14F-4D97-AF65-F5344CB8AC3E}">
        <p14:creationId xmlns:p14="http://schemas.microsoft.com/office/powerpoint/2010/main" val="36095512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Wednesday, October 29,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Wednesday, October 29,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Wednesday, October 29,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Wednesday, October 29,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Wednesday, October 29,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3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3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document/d/1Z9MUMv_GZ9PatPVSs_Mz4sK1u8f00drgCTtbRrpFbVs/edit?usp=sharing" TargetMode="Externa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jpe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jpeg"/><Relationship Id="rId5" Type="http://schemas.openxmlformats.org/officeDocument/2006/relationships/image" Target="../media/image25.png"/><Relationship Id="rId4" Type="http://schemas.openxmlformats.org/officeDocument/2006/relationships/image" Target="../media/image24.jpe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jpeg"/><Relationship Id="rId4" Type="http://schemas.openxmlformats.org/officeDocument/2006/relationships/image" Target="../media/image26.jpeg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jpe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hyperlink" Target="https://start.spring.io/" TargetMode="Externa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hyperlink" Target="mailto:john.doe@example.com" TargetMode="Externa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hyperlink" Target="mailto:john.doe@example.com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start.spring.io/" TargetMode="Externa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53.png"/><Relationship Id="rId4" Type="http://schemas.openxmlformats.org/officeDocument/2006/relationships/image" Target="../media/image59.jpeg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1.png"/><Relationship Id="rId4" Type="http://schemas.openxmlformats.org/officeDocument/2006/relationships/image" Target="../media/image21.jpeg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eg"/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jpe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jpeg"/><Relationship Id="rId5" Type="http://schemas.openxmlformats.org/officeDocument/2006/relationships/image" Target="../media/image66.png"/><Relationship Id="rId4" Type="http://schemas.openxmlformats.org/officeDocument/2006/relationships/image" Target="../media/image65.jpeg"/><Relationship Id="rId9" Type="http://schemas.openxmlformats.org/officeDocument/2006/relationships/image" Target="../media/image70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24.jpeg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24.jpeg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jpeg"/><Relationship Id="rId5" Type="http://schemas.openxmlformats.org/officeDocument/2006/relationships/image" Target="../media/image25.png"/><Relationship Id="rId4" Type="http://schemas.openxmlformats.org/officeDocument/2006/relationships/image" Target="../media/image73.png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jpeg"/><Relationship Id="rId5" Type="http://schemas.openxmlformats.org/officeDocument/2006/relationships/image" Target="../media/image23.jpeg"/><Relationship Id="rId4" Type="http://schemas.openxmlformats.org/officeDocument/2006/relationships/image" Target="../media/image73.png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hyperlink" Target="mailto:john.doe@example.com" TargetMode="External"/><Relationship Id="rId1" Type="http://schemas.openxmlformats.org/officeDocument/2006/relationships/slideLayout" Target="../slideLayouts/slideLayout4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hyperlink" Target="mailto:john.doe@example.com" TargetMode="External"/><Relationship Id="rId1" Type="http://schemas.openxmlformats.org/officeDocument/2006/relationships/slideLayout" Target="../slideLayouts/slideLayout4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3217C80-3813-2699-3B05-283407FB15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skeleton code updated</a:t>
            </a:r>
          </a:p>
          <a:p>
            <a:r>
              <a:rPr lang="en-US" dirty="0"/>
              <a:t>Sample logging framework code added for reference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6225A9-B7A8-04C5-6624-5C64342F2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1743391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6C1A28-CA6B-5C7F-4FFF-9953330D7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Software architecture overview</a:t>
            </a:r>
          </a:p>
          <a:p>
            <a:r>
              <a:rPr lang="en-US" dirty="0"/>
              <a:t>Software architecture styles</a:t>
            </a:r>
          </a:p>
          <a:p>
            <a:r>
              <a:rPr lang="en-US"/>
              <a:t>Spring Boot Demo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F449CC-05C2-9F1D-467B-7B7ED738A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9E84167-3085-ACC2-1494-CDDBEC3526C4}"/>
              </a:ext>
            </a:extLst>
          </p:cNvPr>
          <p:cNvCxnSpPr>
            <a:cxnSpLocks/>
          </p:cNvCxnSpPr>
          <p:nvPr/>
        </p:nvCxnSpPr>
        <p:spPr>
          <a:xfrm>
            <a:off x="0" y="2150968"/>
            <a:ext cx="12192000" cy="0"/>
          </a:xfrm>
          <a:prstGeom prst="line">
            <a:avLst/>
          </a:prstGeom>
          <a:ln w="22225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0030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CEF276-D5BF-BBBF-526A-44546AF68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Standard definitions</a:t>
            </a:r>
          </a:p>
          <a:p>
            <a:pPr lvl="1"/>
            <a:r>
              <a:rPr lang="en-US" dirty="0"/>
              <a:t>Fundamental organization of a software system</a:t>
            </a:r>
          </a:p>
          <a:p>
            <a:pPr lvl="1"/>
            <a:r>
              <a:rPr lang="en-US" dirty="0"/>
              <a:t>Design decisions that are critical for a software project</a:t>
            </a:r>
          </a:p>
          <a:p>
            <a:r>
              <a:rPr lang="en-US" dirty="0"/>
              <a:t>Can there be an objective definition of fundamental and critical?</a:t>
            </a:r>
          </a:p>
          <a:p>
            <a:r>
              <a:rPr lang="en-US" dirty="0"/>
              <a:t>Alternate definition: Shared understanding that expert developers have of the system design*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21573D1-B6E9-BD56-C340-01DA464BE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software architecture?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38D0BE-A560-2A14-967F-48347B1E4E25}"/>
              </a:ext>
            </a:extLst>
          </p:cNvPr>
          <p:cNvSpPr txBox="1"/>
          <p:nvPr/>
        </p:nvSpPr>
        <p:spPr>
          <a:xfrm>
            <a:off x="6910082" y="5165730"/>
            <a:ext cx="34307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0" i="0" dirty="0">
                <a:solidFill>
                  <a:srgbClr val="3E3E3E"/>
                </a:solidFill>
                <a:effectLst/>
                <a:latin typeface="Lato" panose="020F0502020204030203" pitchFamily="34" charset="0"/>
              </a:rPr>
              <a:t>* https://martinfowler.com/architecture/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321975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B9DDA-043B-7333-4A2B-FD37F8C9A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178AE5-B1CA-9C29-87DF-CD10384F1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Standard definitions</a:t>
            </a:r>
          </a:p>
          <a:p>
            <a:pPr lvl="1"/>
            <a:r>
              <a:rPr lang="en-US" dirty="0"/>
              <a:t>Fundamental organization of a software system</a:t>
            </a:r>
          </a:p>
          <a:p>
            <a:pPr lvl="1"/>
            <a:r>
              <a:rPr lang="en-US" dirty="0"/>
              <a:t>Design decisions that are critical for a software project</a:t>
            </a:r>
          </a:p>
          <a:p>
            <a:r>
              <a:rPr lang="en-US" dirty="0"/>
              <a:t>Can there be an objective definition of fundamental and critical?</a:t>
            </a:r>
          </a:p>
          <a:p>
            <a:r>
              <a:rPr lang="en-US" dirty="0"/>
              <a:t>Alternate definition: Shared understanding that expert developers have of the system design*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491873-66A8-0921-66BC-6F5AC3F8C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software architecture?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A946CD-F469-3744-2E61-0D926A79A993}"/>
              </a:ext>
            </a:extLst>
          </p:cNvPr>
          <p:cNvSpPr txBox="1"/>
          <p:nvPr/>
        </p:nvSpPr>
        <p:spPr>
          <a:xfrm>
            <a:off x="6910082" y="5165730"/>
            <a:ext cx="34307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0" i="0" dirty="0">
                <a:solidFill>
                  <a:srgbClr val="3E3E3E"/>
                </a:solidFill>
                <a:effectLst/>
                <a:latin typeface="Lato" panose="020F0502020204030203" pitchFamily="34" charset="0"/>
              </a:rPr>
              <a:t>* https://martinfowler.com/architecture/</a:t>
            </a:r>
            <a:endParaRPr lang="en-US" sz="14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0DB0BE2-8AC6-55BB-804D-518E1A41A561}"/>
              </a:ext>
            </a:extLst>
          </p:cNvPr>
          <p:cNvSpPr/>
          <p:nvPr/>
        </p:nvSpPr>
        <p:spPr>
          <a:xfrm>
            <a:off x="360607" y="696277"/>
            <a:ext cx="11470786" cy="4942523"/>
          </a:xfrm>
          <a:prstGeom prst="rect">
            <a:avLst/>
          </a:prstGeom>
          <a:solidFill>
            <a:srgbClr val="FFFFFF">
              <a:alpha val="69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 descr="Professional People Talking and Speech Communication Vector Illustration |  Premium AI-generated vector">
            <a:extLst>
              <a:ext uri="{FF2B5EF4-FFF2-40B4-BE49-F238E27FC236}">
                <a16:creationId xmlns:a16="http://schemas.microsoft.com/office/drawing/2014/main" id="{BBC67489-A1FA-85DB-56BF-2B9D396AA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391" y="1044227"/>
            <a:ext cx="7573749" cy="4246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C0053F0-AA43-A25C-78B1-3382E022C8FF}"/>
              </a:ext>
            </a:extLst>
          </p:cNvPr>
          <p:cNvSpPr txBox="1"/>
          <p:nvPr/>
        </p:nvSpPr>
        <p:spPr>
          <a:xfrm>
            <a:off x="4398107" y="1559500"/>
            <a:ext cx="1704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>
                <a:latin typeface="Consolas" panose="020B0609020204030204" pitchFamily="49" charset="0"/>
              </a:rPr>
              <a:t>MessageQueue</a:t>
            </a:r>
            <a:endParaRPr lang="en-US" b="1" i="1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156C11-F10B-73D4-4EC3-95B1EED84057}"/>
              </a:ext>
            </a:extLst>
          </p:cNvPr>
          <p:cNvSpPr txBox="1"/>
          <p:nvPr/>
        </p:nvSpPr>
        <p:spPr>
          <a:xfrm>
            <a:off x="7832277" y="2209288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latin typeface="Consolas" panose="020B0609020204030204" pitchFamily="49" charset="0"/>
              </a:rPr>
              <a:t>Pub-sub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B59E2-6D7D-863E-B6B3-AC257BFBCEDF}"/>
              </a:ext>
            </a:extLst>
          </p:cNvPr>
          <p:cNvSpPr txBox="1"/>
          <p:nvPr/>
        </p:nvSpPr>
        <p:spPr>
          <a:xfrm>
            <a:off x="2553448" y="2203194"/>
            <a:ext cx="1704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latin typeface="Consolas" panose="020B0609020204030204" pitchFamily="49" charset="0"/>
              </a:rPr>
              <a:t>Microservice</a:t>
            </a:r>
          </a:p>
        </p:txBody>
      </p:sp>
    </p:spTree>
    <p:extLst>
      <p:ext uri="{BB962C8B-B14F-4D97-AF65-F5344CB8AC3E}">
        <p14:creationId xmlns:p14="http://schemas.microsoft.com/office/powerpoint/2010/main" val="17077612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D2F94-6FCF-7EBE-CFE6-E749D1E11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C3F6E86-7975-B930-B497-69115EE1D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Social media platform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80A378F-ECD9-C170-C529-4D4F1E651026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751D54-3BA6-D00B-AED2-0069CCB6F642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C188F48-9BD6-106F-FC37-0C33A864EA57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706CDEB-4785-D52E-E4D1-E112D636843B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DE3CDA5-1511-666F-D417-A2B8FEA6FDB3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41AA0C1-43C7-DBBD-5AD1-DA7F43B2D2B7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09EF6F9-E90D-916F-B1AB-BA2FE5D08028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5BABD66-5093-901F-C229-40C696307C6D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CDF64D9-0BF3-66DD-1E93-533BFA8DE86C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7E3FBEE-5B45-17F0-FC26-5F010F05157C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6A93A38-6A07-04B0-3479-7AB421FF7267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0363C5C-5083-CD7F-3D28-7A1DF6EF88DD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72F7BE-6DFB-052E-4BC9-5A0D4B360358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9B7959-A50F-608D-796C-99DBBB3729A0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C093F80-7BF8-EF40-4654-4D52BBCCD4AC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CF91B3-24BF-4CC6-7070-2D6C6E5AD749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BD68DED-064A-8BD4-4C5B-C8C3B439E11B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E9C1117-7648-13A5-2BEF-D7F61B684B49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F11FBB7-1D6C-98FF-E310-C8E9FBD2E185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17A0B50-3478-A935-2B6A-42FC4263CAE9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E822C58-A220-B7D8-9C1E-9E5A484E1322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1FFAFC5-D0B1-F8C0-0686-B12F71E22CB9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CB1417D-291B-8FFD-B6E0-2CEB3E372265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18CE2DA-F026-F0E7-D21D-B3BFA3C60DDB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2DD4A04-6519-538B-A3C8-A7D3D633154D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014E90-C4E8-983F-25D9-82B66F7717DB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7E2D4DC-6412-309C-38C0-233B4C9F95BC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B850E369-08BE-E47C-EABF-72B46194A83E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06151DF-576D-FE7B-39E3-BEB9C73D37D2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31A0A280-5115-C44E-6B74-B02EE64A3051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4257879F-468A-10A0-1BED-428200D5F32E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ED06F55-4B19-9B66-7AAB-91ED0F568011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51553D3-956C-CCF9-5C9F-A390BF50D02E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58156BA-A111-B1EA-A85F-BB66ACF8BD31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FA78926-2475-1839-CC1F-0DE2FA2ABAF6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6A92C78-2038-726F-E4D8-76FD9855128F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9A0A8C0-0552-BD73-3279-0D43EC47F292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ACDF28B-084F-634A-3B14-D12A636A61E9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20D0864-DD9A-A39F-E542-377DBC075803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9674045-C1CB-16C0-0E5C-F0337D4A3B8A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AAA755C-EF46-85EA-5227-C5DDAA8AB60B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7A8DF45-AFD4-ACEF-C55C-A4975C432ABF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02D0B9EB-C3FE-A91C-0C30-1C19D0541BCA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DE13A4AC-A844-E555-1C9B-91D8D46CB2DA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1CEFB15D-B721-00B6-43CA-D06AC082420A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FE28D401-C713-BEF2-278F-E1A7A8627D2B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671DC276-2A9F-7EF5-3464-7C1410431AD6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12CB8FC7-F0FE-D86C-AB34-1D5D1E28359F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1894A399-56F8-35A6-D62A-7C698D1BABFA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361A0ADE-492B-3DED-66F4-6F758B66FDEB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E3ADC7C4-F2FC-E176-4228-2B93DF735901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56F32BBD-1083-D09E-239F-87C928D89021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26CA2728-4DCF-6DB0-61B9-CDAAA474F1F2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13E5944C-C527-2B6E-BABE-98B2353C5E28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0924524E-A2A3-7564-3ECC-3B07634DE330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81BED55A-CF6E-7CC0-1FD7-6782997D1D74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91C9AB10-5A24-4B90-2F79-521B424E69A8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B759DC36-0343-4AA8-4E86-BB1515758578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DD032A81-97E1-56A5-535A-D36E0DAB9DD8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6C9695AA-88C5-BAED-62F9-F1620096CC05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CD44E3DB-261E-4CBB-1CA4-838569B78CB9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2134E18C-67C6-1699-DA30-F21EB38B8C6D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A9245098-B0B0-4750-5BC0-BC1D5385F1F9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FB63A0F6-6809-3EC1-8DF2-0098C4691A9E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7D1F4824-5620-6BBD-228B-BE8069C3D265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7EEE151B-24C4-007F-9EC6-4184216E12BC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DAB1095F-4229-5752-5520-459417381E36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53B93CAB-550E-32FE-D78D-480273D5F2FD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6B810224-FE2D-F4BC-171A-E8B59A35A60F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D80FB16B-1555-FAA7-1F0E-5C1A715B191D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257966A5-6D4E-DF7D-154C-F7054377AD10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17F81078-0D49-721E-1F80-0F1C6438D158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563072ED-1DAB-6389-AD3E-1B64629EF2EF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C6FC003C-779D-5074-8864-14FC3E637DCE}"/>
              </a:ext>
            </a:extLst>
          </p:cNvPr>
          <p:cNvSpPr/>
          <p:nvPr/>
        </p:nvSpPr>
        <p:spPr>
          <a:xfrm>
            <a:off x="5287114" y="3586868"/>
            <a:ext cx="1987071" cy="784582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941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7634D-F2BA-A166-AC5B-4CBB5F7EC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F70FCC2-C395-7A99-0BD4-D7647B748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Till now – single component focus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5A6895C-A406-2087-EC15-293160E61AF4}"/>
              </a:ext>
            </a:extLst>
          </p:cNvPr>
          <p:cNvSpPr/>
          <p:nvPr/>
        </p:nvSpPr>
        <p:spPr>
          <a:xfrm>
            <a:off x="4313118" y="3429000"/>
            <a:ext cx="3565764" cy="1524144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8C4FE6D-3BCC-8E28-6637-612C4AF7132C}"/>
              </a:ext>
            </a:extLst>
          </p:cNvPr>
          <p:cNvSpPr/>
          <p:nvPr/>
        </p:nvSpPr>
        <p:spPr>
          <a:xfrm>
            <a:off x="1050465" y="1007573"/>
            <a:ext cx="213872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OO class design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72BBF84-FDBE-4BC4-BA90-CA5A4A6A14F2}"/>
              </a:ext>
            </a:extLst>
          </p:cNvPr>
          <p:cNvSpPr/>
          <p:nvPr/>
        </p:nvSpPr>
        <p:spPr>
          <a:xfrm>
            <a:off x="5011921" y="1007573"/>
            <a:ext cx="2168158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Frameworks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Reflection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Annotations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Proxies</a:t>
            </a:r>
            <a:endParaRPr lang="en-US" sz="2400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DCAF342-FA34-C2FC-6393-72B9D42AAB0A}"/>
              </a:ext>
            </a:extLst>
          </p:cNvPr>
          <p:cNvSpPr/>
          <p:nvPr/>
        </p:nvSpPr>
        <p:spPr>
          <a:xfrm>
            <a:off x="8424805" y="1007573"/>
            <a:ext cx="2258567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Testing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JUnit tests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Mock testing</a:t>
            </a:r>
          </a:p>
        </p:txBody>
      </p:sp>
      <p:cxnSp>
        <p:nvCxnSpPr>
          <p:cNvPr id="55" name="Connector: Curved 54">
            <a:extLst>
              <a:ext uri="{FF2B5EF4-FFF2-40B4-BE49-F238E27FC236}">
                <a16:creationId xmlns:a16="http://schemas.microsoft.com/office/drawing/2014/main" id="{F365035C-5CA1-82EE-3EB9-FBA4AC17123F}"/>
              </a:ext>
            </a:extLst>
          </p:cNvPr>
          <p:cNvCxnSpPr>
            <a:stCxn id="48" idx="2"/>
            <a:endCxn id="25" idx="1"/>
          </p:cNvCxnSpPr>
          <p:nvPr/>
        </p:nvCxnSpPr>
        <p:spPr>
          <a:xfrm rot="16200000" flipH="1">
            <a:off x="1855556" y="1733510"/>
            <a:ext cx="2721834" cy="2193289"/>
          </a:xfrm>
          <a:prstGeom prst="curved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Connector: Curved 55">
            <a:extLst>
              <a:ext uri="{FF2B5EF4-FFF2-40B4-BE49-F238E27FC236}">
                <a16:creationId xmlns:a16="http://schemas.microsoft.com/office/drawing/2014/main" id="{29EF85C5-607D-A831-1B4A-9D2237BA450C}"/>
              </a:ext>
            </a:extLst>
          </p:cNvPr>
          <p:cNvCxnSpPr>
            <a:cxnSpLocks/>
            <a:stCxn id="50" idx="2"/>
            <a:endCxn id="25" idx="0"/>
          </p:cNvCxnSpPr>
          <p:nvPr/>
        </p:nvCxnSpPr>
        <p:spPr>
          <a:xfrm rot="5400000">
            <a:off x="5670117" y="3003116"/>
            <a:ext cx="851767" cy="12700"/>
          </a:xfrm>
          <a:prstGeom prst="curved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4" name="Connector: Curved 1023">
            <a:extLst>
              <a:ext uri="{FF2B5EF4-FFF2-40B4-BE49-F238E27FC236}">
                <a16:creationId xmlns:a16="http://schemas.microsoft.com/office/drawing/2014/main" id="{5BD1A808-9A55-37D9-E2AE-3D8F45A362DE}"/>
              </a:ext>
            </a:extLst>
          </p:cNvPr>
          <p:cNvCxnSpPr>
            <a:cxnSpLocks/>
            <a:stCxn id="54" idx="2"/>
            <a:endCxn id="25" idx="3"/>
          </p:cNvCxnSpPr>
          <p:nvPr/>
        </p:nvCxnSpPr>
        <p:spPr>
          <a:xfrm rot="5400000">
            <a:off x="7724901" y="2361884"/>
            <a:ext cx="1983170" cy="1675207"/>
          </a:xfrm>
          <a:prstGeom prst="curved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4905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50" grpId="0"/>
      <p:bldP spid="5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492B0-3BD6-3CEC-B0DF-730FD5773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BC12AD-84F5-110E-1666-5750879E2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E716B01-555D-070D-75BE-D4BAEB70BB08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2228462-BD0D-792D-7B50-CFEF44C0D299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DD7D132-B832-0B2B-4881-860F82187BAD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9C33840-8D51-A541-C3CA-7AF33E1A5276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A28129D-0DE3-EFD6-7DC6-70CE716AFDD5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284E446-748F-0F6E-7F2C-EFCAC3F4309E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40BC189-0DDB-8E8B-6BE6-F2947CC1E28E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4471DF3-F3DF-A4AD-60C8-3D114F785A00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6446299-EE4E-10C4-6C7D-17CBC4089A94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9A4E326-DF76-4182-F691-95A8B8E435C0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FB9BAEB-6870-B417-CE5E-7251118AF915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A4495DF-36F6-0E8E-9303-80FF8D3F00BC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0CE9F9D-EAB9-861F-E69E-DBBB05031A39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B149E8B-3ECB-EA42-48BD-F4B60C77E333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FB4A9A8-FE25-12FC-330E-618DBDC1618B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A1210D4-C099-156B-9712-0EFC97403C57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B570CE-86F3-6A20-CD80-5038367FDB5C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DA779CF-7C69-8174-9292-E19A1E335498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98B325A-0696-E811-DC3D-D08E85DE61EA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1769CD1-0B06-F70D-CB00-F8E72E100A96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F0DE5-0BD4-AA87-7049-6CA1DE77DFBC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391515C-9555-84F1-96C6-6AC4296A74A9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F412C97-3CBF-5EDA-0FA7-89C67F524262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1E32789-6EAD-36EB-5E56-CDE856749F8F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F6B1CB9-0C76-E7E0-777D-DFFAA7F784AB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3B7803C-07F2-D2BB-9CDC-E7333770071D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0CFE8BB-B2CA-5395-3553-48DB1FB5FFDD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93C4D5A-83B4-C94E-FE12-637CC90935DA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D5B22B7-404A-EB06-F2B7-5992CA527764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6DC4FCEC-E725-65D0-A57F-DE8DEE78C411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4A6122F-B3F5-EBE7-06FD-E13564762DDD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C2BA776-076C-AC08-90F6-8BAE92B86F37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59A432D-02B2-2634-0E45-373A98E07EEB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D8CC424-CE27-E217-EAD5-CA6D350BD82D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AC24AA3-4F86-FCE2-9E0E-D9831DD3C892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7019B8F-6467-9EE9-EB6A-7714FA18F204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87B55CE-1FE7-2D68-6E32-7430F827845F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A1906C6-9ED9-BEFB-2C49-591A080A2147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043467B-291B-365F-A436-B4EB08C8A8FA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6870189-06F2-8DD4-3163-482724438EF1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74227C5C-E8D8-5ADD-BD34-2758BE38DACC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8A57E30-8252-023F-5A70-DFBAF7221C71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DA3EA4C9-954E-162E-AD68-EE280619C6ED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FE35DF5B-FEC2-0620-89E8-2A4654D79858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E18A6757-B181-3CC9-5129-A0F5F7687D29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B8BC5F6A-8D72-4E96-C615-59C1EFD7996D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58D02E9F-960F-274E-F47E-E097A94571D4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AE4B18DF-06DC-187E-7001-F148F3FDA85F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F1BBAE24-A33E-F9A5-0543-B9A5BD70CDC0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71A87E0C-A57B-EFC8-CD7B-7826F974F9FE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96823AAF-A411-311B-1ADB-236B28C0988E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233889CC-B073-F78F-BE3A-AF20AE3A7E9C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7F92CE7B-7175-7B2E-C216-F17276B399C4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346D5D6B-3FBD-1C63-DA6F-FE2D267A6F9D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F6AD76AD-F559-D6F1-58F6-3BE7828BFFAE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D7FB22D7-2CB1-D21F-FA85-3987FF2BD315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E68398C7-3634-DBB5-0FE5-565B164D9CA6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F5B0B4DF-55B3-277B-F36F-79EB3004EA7F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AC13801E-B0DC-E381-EE74-51BB56739E0D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1EF3DBCD-2C08-7B19-B322-2D35E2A88025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8EAF61D6-3E30-EEB7-3F56-A1B9A0B55145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A9109CE6-D6F8-BACC-A0F0-C495316ADA07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876525F8-D7D5-35CE-213B-A1683AF7D07B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9CCEA774-713F-7F25-9290-0B04A4C82BF6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7063A2CE-C4FD-E25E-E120-08C7DBBB5377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3C576BC2-1D52-FDB2-3394-4DF66F93B8E3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6EB02EDA-9DBD-9E54-E26D-0A918CE9C73A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4366E92E-1849-3768-0BD1-15E91027BD24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E8A86DEB-D42D-799D-2986-749ABD7AFFAF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1144E78F-08AC-E6BD-0023-C6163B84473D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31BC1E5D-07CF-F818-5AE2-4F66E89F1A14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CF338640-C7A5-7CE1-FC27-5B772645FDF0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75320C85-373A-07DA-F455-95636EAD58E4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50D37713-FE73-318A-49C2-DABE950DD1F7}"/>
              </a:ext>
            </a:extLst>
          </p:cNvPr>
          <p:cNvSpPr/>
          <p:nvPr/>
        </p:nvSpPr>
        <p:spPr>
          <a:xfrm>
            <a:off x="0" y="539066"/>
            <a:ext cx="11871580" cy="5320167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408EB7A-6EC7-FB35-ED8B-18B83E7D251C}"/>
              </a:ext>
            </a:extLst>
          </p:cNvPr>
          <p:cNvSpPr/>
          <p:nvPr/>
        </p:nvSpPr>
        <p:spPr>
          <a:xfrm>
            <a:off x="4245069" y="1266731"/>
            <a:ext cx="3604641" cy="646331"/>
          </a:xfrm>
          <a:prstGeom prst="rect">
            <a:avLst/>
          </a:prstGeom>
          <a:solidFill>
            <a:srgbClr val="FFFFFF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System as a whole</a:t>
            </a:r>
          </a:p>
        </p:txBody>
      </p:sp>
    </p:spTree>
    <p:extLst>
      <p:ext uri="{BB962C8B-B14F-4D97-AF65-F5344CB8AC3E}">
        <p14:creationId xmlns:p14="http://schemas.microsoft.com/office/powerpoint/2010/main" val="1162856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03EE85-8CB2-A65E-D917-832EEE328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Software architecture decisions have more impact than component design</a:t>
            </a:r>
          </a:p>
          <a:p>
            <a:pPr lvl="1"/>
            <a:r>
              <a:rPr lang="en-US" dirty="0"/>
              <a:t>Easy to refactor a class</a:t>
            </a:r>
          </a:p>
          <a:p>
            <a:pPr lvl="2"/>
            <a:r>
              <a:rPr lang="en-US" dirty="0"/>
              <a:t>Affects a few team members</a:t>
            </a:r>
          </a:p>
          <a:p>
            <a:pPr lvl="1"/>
            <a:r>
              <a:rPr lang="en-US" dirty="0"/>
              <a:t>Harder to change the architecture of a software system</a:t>
            </a:r>
          </a:p>
          <a:p>
            <a:pPr lvl="2"/>
            <a:r>
              <a:rPr lang="en-US" dirty="0"/>
              <a:t>Affects the entire team and beyond…</a:t>
            </a:r>
          </a:p>
          <a:p>
            <a:r>
              <a:rPr lang="en-US" dirty="0"/>
              <a:t>Important to get it right the first time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4C0468B-5A16-1590-C2AB-EF7EE1346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architecture importance</a:t>
            </a:r>
          </a:p>
        </p:txBody>
      </p:sp>
    </p:spTree>
    <p:extLst>
      <p:ext uri="{BB962C8B-B14F-4D97-AF65-F5344CB8AC3E}">
        <p14:creationId xmlns:p14="http://schemas.microsoft.com/office/powerpoint/2010/main" val="2458790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DD300-FFA7-915B-F954-4A370D291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E32BE8-8640-BF1C-72EE-B4E8D36BAB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Encapsulation</a:t>
            </a:r>
          </a:p>
          <a:p>
            <a:r>
              <a:rPr lang="en-US" dirty="0"/>
              <a:t>Scalability</a:t>
            </a:r>
          </a:p>
          <a:p>
            <a:r>
              <a:rPr lang="en-US" dirty="0"/>
              <a:t>Resilience</a:t>
            </a:r>
          </a:p>
          <a:p>
            <a:r>
              <a:rPr lang="en-US" dirty="0"/>
              <a:t>Performance</a:t>
            </a:r>
          </a:p>
          <a:p>
            <a:r>
              <a:rPr lang="en-US" dirty="0"/>
              <a:t>Ease of </a:t>
            </a:r>
            <a:r>
              <a:rPr lang="en-US" dirty="0" err="1"/>
              <a:t>deployability</a:t>
            </a:r>
            <a:endParaRPr lang="en-US" dirty="0"/>
          </a:p>
          <a:p>
            <a:r>
              <a:rPr lang="en-US" dirty="0">
                <a:solidFill>
                  <a:srgbClr val="646464"/>
                </a:solidFill>
              </a:rPr>
              <a:t>Security (later module)</a:t>
            </a:r>
          </a:p>
          <a:p>
            <a:r>
              <a:rPr lang="en-US" dirty="0"/>
              <a:t>Module goal – learn solutions for some of these concerns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1C750D2-5C3C-B94F-1002-550DFC816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software architecture concerns</a:t>
            </a:r>
          </a:p>
        </p:txBody>
      </p:sp>
    </p:spTree>
    <p:extLst>
      <p:ext uri="{BB962C8B-B14F-4D97-AF65-F5344CB8AC3E}">
        <p14:creationId xmlns:p14="http://schemas.microsoft.com/office/powerpoint/2010/main" val="3979493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E374971-2366-8EC9-26C2-1221F66955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B0F0EF-F07F-E7D4-7BCF-55A182AB3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4593EFC-52EB-28FC-DBCA-4FF0BC61761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At the component level</a:t>
            </a:r>
          </a:p>
          <a:p>
            <a:pPr lvl="1"/>
            <a:r>
              <a:rPr lang="en-US" dirty="0"/>
              <a:t>Does </a:t>
            </a:r>
            <a:r>
              <a:rPr lang="en-US" dirty="0" err="1">
                <a:latin typeface="Consolas" panose="020B0609020204030204" pitchFamily="49" charset="0"/>
              </a:rPr>
              <a:t>TweetInjectionService</a:t>
            </a:r>
            <a:r>
              <a:rPr lang="en-US" dirty="0"/>
              <a:t> need to know anything about the </a:t>
            </a:r>
            <a:r>
              <a:rPr lang="en-US" b="1" i="1" dirty="0"/>
              <a:t>internals</a:t>
            </a:r>
            <a:r>
              <a:rPr lang="en-US" dirty="0"/>
              <a:t> of </a:t>
            </a:r>
            <a:r>
              <a:rPr lang="en-US" dirty="0" err="1">
                <a:latin typeface="Consolas" panose="020B0609020204030204" pitchFamily="49" charset="0"/>
              </a:rPr>
              <a:t>ShortURLService</a:t>
            </a:r>
            <a:r>
              <a:rPr lang="en-US" dirty="0"/>
              <a:t>?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18A1C0B-1D5F-7FC3-115D-544883695A7E}"/>
              </a:ext>
            </a:extLst>
          </p:cNvPr>
          <p:cNvGrpSpPr/>
          <p:nvPr/>
        </p:nvGrpSpPr>
        <p:grpSpPr>
          <a:xfrm>
            <a:off x="6537965" y="1750631"/>
            <a:ext cx="4364496" cy="2885051"/>
            <a:chOff x="6537965" y="1750631"/>
            <a:chExt cx="4364496" cy="2885051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80259016-B90B-0E7F-9DE3-A16DFFEB2CEC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DD0C468-D04F-5A79-A9AB-1A1F9C414107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028C0826-96C9-D8BA-C8D2-B050DECD9886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8AC0A23-E196-A5E4-96D5-71B5D2639894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5DC6CEB-4C09-B54F-7555-46F5C045F94A}"/>
                </a:ext>
              </a:extLst>
            </p:cNvPr>
            <p:cNvCxnSpPr>
              <a:cxnSpLocks/>
              <a:stCxn id="11" idx="3"/>
              <a:endCxn id="14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C060B92-18CE-D70A-F2F8-69E3377AF95B}"/>
                </a:ext>
              </a:extLst>
            </p:cNvPr>
            <p:cNvCxnSpPr>
              <a:cxnSpLocks/>
              <a:stCxn id="14" idx="1"/>
              <a:endCxn id="12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0C5ED95-7514-5677-8BAA-D9519B093D7E}"/>
                </a:ext>
              </a:extLst>
            </p:cNvPr>
            <p:cNvCxnSpPr>
              <a:cxnSpLocks/>
              <a:stCxn id="13" idx="0"/>
              <a:endCxn id="12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449279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18D24-7301-4366-91E4-92FE76AED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27768F2-007F-BC5C-BBA7-DFE1DFF8EC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064A71-5505-41B2-8AF1-4FDC5FE69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2C11E52-1446-FE74-C167-E38A274090B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interface does </a:t>
            </a:r>
            <a:r>
              <a:rPr lang="en-US" dirty="0" err="1">
                <a:latin typeface="Consolas" panose="020B0609020204030204" pitchFamily="49" charset="0"/>
              </a:rPr>
              <a:t>ShortURLService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provide to </a:t>
            </a:r>
            <a:r>
              <a:rPr lang="en-US" dirty="0" err="1">
                <a:latin typeface="Consolas" panose="020B0609020204030204" pitchFamily="49" charset="0"/>
              </a:rPr>
              <a:t>TweetInjectionService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0F54BD-D8BA-60ED-90AC-ED8C52C9BD5B}"/>
              </a:ext>
            </a:extLst>
          </p:cNvPr>
          <p:cNvSpPr/>
          <p:nvPr/>
        </p:nvSpPr>
        <p:spPr>
          <a:xfrm>
            <a:off x="4470670" y="2966992"/>
            <a:ext cx="5211042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https://twitter.com/v1/tweet/id=?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928BBA0-C93D-141D-673E-F63170B6A2DA}"/>
              </a:ext>
            </a:extLst>
          </p:cNvPr>
          <p:cNvGrpSpPr/>
          <p:nvPr/>
        </p:nvGrpSpPr>
        <p:grpSpPr>
          <a:xfrm>
            <a:off x="6537965" y="1750631"/>
            <a:ext cx="4364496" cy="2885051"/>
            <a:chOff x="6537965" y="1750631"/>
            <a:chExt cx="4364496" cy="2885051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C129CBC0-1EC5-1FF2-3B5E-CD3DCD1840C2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82037B37-9A77-D14E-ED3E-DF40BC862458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3EC5C6D4-0F60-0027-C8BC-DCECCF021357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AC39754-D0EC-07B5-D8B8-4D4FBB5C9D45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FD6F6E8-A52D-72C3-38E1-3AEB464082D3}"/>
                </a:ext>
              </a:extLst>
            </p:cNvPr>
            <p:cNvCxnSpPr>
              <a:cxnSpLocks/>
              <a:stCxn id="17" idx="3"/>
              <a:endCxn id="20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B96C9FDC-EC38-2888-6774-64D4A319A35F}"/>
                </a:ext>
              </a:extLst>
            </p:cNvPr>
            <p:cNvCxnSpPr>
              <a:cxnSpLocks/>
              <a:stCxn id="20" idx="1"/>
              <a:endCxn id="18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FD2DC21-9173-8217-0C34-E31199C8FE7C}"/>
                </a:ext>
              </a:extLst>
            </p:cNvPr>
            <p:cNvCxnSpPr>
              <a:cxnSpLocks/>
              <a:stCxn id="19" idx="0"/>
              <a:endCxn id="18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53983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3E6B0-C10D-A75B-38DF-520388006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9D0A0F-6621-F89C-F93C-E893647202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68269E-B679-997F-D9D6-9EE0D023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BA403E3-E392-F38F-F030-81F99BED17C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Typically run on different machines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How do they </a:t>
            </a:r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communicate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Directly call each other or is there a mediator?</a:t>
            </a:r>
          </a:p>
          <a:p>
            <a:pPr lvl="2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Different tradeoffs</a:t>
            </a:r>
          </a:p>
        </p:txBody>
      </p:sp>
      <p:pic>
        <p:nvPicPr>
          <p:cNvPr id="8196" name="Picture 4" descr="Redis Lucee Extension">
            <a:extLst>
              <a:ext uri="{FF2B5EF4-FFF2-40B4-BE49-F238E27FC236}">
                <a16:creationId xmlns:a16="http://schemas.microsoft.com/office/drawing/2014/main" id="{76155272-78DD-99DE-C468-9DC6516DE6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56367" y="2866971"/>
            <a:ext cx="698560" cy="805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D79D774B-65B7-1B18-CDFD-F93F57A1B060}"/>
              </a:ext>
            </a:extLst>
          </p:cNvPr>
          <p:cNvGrpSpPr/>
          <p:nvPr/>
        </p:nvGrpSpPr>
        <p:grpSpPr>
          <a:xfrm>
            <a:off x="6537965" y="1750631"/>
            <a:ext cx="4364496" cy="2885051"/>
            <a:chOff x="6537965" y="1750631"/>
            <a:chExt cx="4364496" cy="2885051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CB245629-B8BA-80B5-3C18-C9D68923D91B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91193FF3-8C36-DD8B-07F7-384E0E2B3D10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08EE43B7-B825-29DF-2E45-405A9F35D9E3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AFB4631-98C2-802E-43DE-84AD438B32C0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B0AF18E-B958-6C3C-5488-D600C05C0692}"/>
                </a:ext>
              </a:extLst>
            </p:cNvPr>
            <p:cNvCxnSpPr>
              <a:cxnSpLocks/>
              <a:stCxn id="6" idx="3"/>
              <a:endCxn id="11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7DB4E38-3A18-9AAA-38E6-53F868B7FFBA}"/>
                </a:ext>
              </a:extLst>
            </p:cNvPr>
            <p:cNvCxnSpPr>
              <a:cxnSpLocks/>
              <a:stCxn id="11" idx="1"/>
              <a:endCxn id="7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BD5F9FB-1995-504C-7F3A-DE651D78A8B3}"/>
                </a:ext>
              </a:extLst>
            </p:cNvPr>
            <p:cNvCxnSpPr>
              <a:cxnSpLocks/>
              <a:stCxn id="9" idx="0"/>
              <a:endCxn id="7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74548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002864-FD62-319B-9E04-6C1CE366E8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5"/>
            <a:ext cx="11449319" cy="24242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Website traffic is not constant</a:t>
            </a:r>
          </a:p>
          <a:p>
            <a:r>
              <a:rPr lang="en-US" dirty="0"/>
              <a:t>Can spike due to planned events</a:t>
            </a:r>
          </a:p>
          <a:p>
            <a:pPr lvl="1"/>
            <a:r>
              <a:rPr lang="en-US" dirty="0"/>
              <a:t>Product launch</a:t>
            </a:r>
          </a:p>
          <a:p>
            <a:pPr lvl="1"/>
            <a:r>
              <a:rPr lang="en-US" dirty="0"/>
              <a:t>US elections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551C5F3-CC58-4164-49B6-FF70D7F83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pic>
        <p:nvPicPr>
          <p:cNvPr id="5124" name="Picture 4" descr="BLOG-2618 15">
            <a:extLst>
              <a:ext uri="{FF2B5EF4-FFF2-40B4-BE49-F238E27FC236}">
                <a16:creationId xmlns:a16="http://schemas.microsoft.com/office/drawing/2014/main" id="{97CF2270-ACE4-751D-6674-4E9C0363B5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1585" y="3209241"/>
            <a:ext cx="9108830" cy="2788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52F0F6-385F-FC11-2240-032FA57E9031}"/>
              </a:ext>
            </a:extLst>
          </p:cNvPr>
          <p:cNvSpPr txBox="1"/>
          <p:nvPr/>
        </p:nvSpPr>
        <p:spPr>
          <a:xfrm>
            <a:off x="4856636" y="2858903"/>
            <a:ext cx="63626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https://blog.cloudflare.com/exploring-internet-traffic-shifts-and-cyber-attacks-during-the-2024-us-election/</a:t>
            </a:r>
          </a:p>
        </p:txBody>
      </p:sp>
    </p:spTree>
    <p:extLst>
      <p:ext uri="{BB962C8B-B14F-4D97-AF65-F5344CB8AC3E}">
        <p14:creationId xmlns:p14="http://schemas.microsoft.com/office/powerpoint/2010/main" val="740977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210CB1F-B9A5-3AF2-878D-71577A381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4859093" cy="5218981"/>
          </a:xfrm>
        </p:spPr>
        <p:txBody>
          <a:bodyPr/>
          <a:lstStyle/>
          <a:p>
            <a:r>
              <a:rPr lang="en-US" dirty="0"/>
              <a:t>Unplanned events</a:t>
            </a:r>
          </a:p>
          <a:p>
            <a:pPr lvl="1"/>
            <a:r>
              <a:rPr lang="en-US" dirty="0"/>
              <a:t>Post goes viral</a:t>
            </a:r>
          </a:p>
          <a:p>
            <a:r>
              <a:rPr lang="en-US" dirty="0"/>
              <a:t>Architecture should </a:t>
            </a:r>
            <a:r>
              <a:rPr lang="en-US" i="1" dirty="0"/>
              <a:t>scale </a:t>
            </a:r>
            <a:r>
              <a:rPr lang="en-US" dirty="0"/>
              <a:t>to handle such events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BAC3E0F-43CA-D71E-B18E-31ED3E034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pic>
        <p:nvPicPr>
          <p:cNvPr id="6146" name="Picture 2" descr="Google analytics data for viral post">
            <a:extLst>
              <a:ext uri="{FF2B5EF4-FFF2-40B4-BE49-F238E27FC236}">
                <a16:creationId xmlns:a16="http://schemas.microsoft.com/office/drawing/2014/main" id="{BF611A38-3FAE-1F6C-6038-304ADB3DB3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0554" y="1229608"/>
            <a:ext cx="5744308" cy="4329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BE4D48C-01A2-9CCB-518F-39802A3C5B98}"/>
              </a:ext>
            </a:extLst>
          </p:cNvPr>
          <p:cNvSpPr txBox="1"/>
          <p:nvPr/>
        </p:nvSpPr>
        <p:spPr>
          <a:xfrm>
            <a:off x="6515197" y="785004"/>
            <a:ext cx="50943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https://www.residualthoughts.com/2018/05/20/traffic-data-from-a-viral-post/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A446BD-8617-9D00-B931-9BEECA50691F}"/>
              </a:ext>
            </a:extLst>
          </p:cNvPr>
          <p:cNvSpPr/>
          <p:nvPr/>
        </p:nvSpPr>
        <p:spPr>
          <a:xfrm>
            <a:off x="5829301" y="2514600"/>
            <a:ext cx="1104900" cy="1856850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076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DFCA80D2-DDB1-1D4B-2530-1DA52ADBF5E5}"/>
              </a:ext>
            </a:extLst>
          </p:cNvPr>
          <p:cNvGrpSpPr/>
          <p:nvPr/>
        </p:nvGrpSpPr>
        <p:grpSpPr>
          <a:xfrm>
            <a:off x="9511665" y="1233445"/>
            <a:ext cx="2042148" cy="1016631"/>
            <a:chOff x="9205332" y="1443535"/>
            <a:chExt cx="2042148" cy="1016631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A9B1106F-B3D3-1C8C-679A-AC6B0EEE1927}"/>
                </a:ext>
              </a:extLst>
            </p:cNvPr>
            <p:cNvSpPr/>
            <p:nvPr/>
          </p:nvSpPr>
          <p:spPr>
            <a:xfrm>
              <a:off x="9453853" y="1443535"/>
              <a:ext cx="1793627" cy="782093"/>
            </a:xfrm>
            <a:prstGeom prst="roundRect">
              <a:avLst/>
            </a:prstGeom>
            <a:solidFill>
              <a:schemeClr val="tx1">
                <a:lumMod val="25000"/>
                <a:lumOff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44593FBA-038B-4910-0203-A4304B1DCAA9}"/>
                </a:ext>
              </a:extLst>
            </p:cNvPr>
            <p:cNvSpPr/>
            <p:nvPr/>
          </p:nvSpPr>
          <p:spPr>
            <a:xfrm>
              <a:off x="9309219" y="1573519"/>
              <a:ext cx="1793627" cy="782093"/>
            </a:xfrm>
            <a:prstGeom prst="roundRect">
              <a:avLst/>
            </a:prstGeom>
            <a:solidFill>
              <a:schemeClr val="tx1">
                <a:lumMod val="25000"/>
                <a:lumOff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92AF47D1-9054-08E6-CF77-FFCA8F7A44FD}"/>
                </a:ext>
              </a:extLst>
            </p:cNvPr>
            <p:cNvSpPr/>
            <p:nvPr/>
          </p:nvSpPr>
          <p:spPr>
            <a:xfrm>
              <a:off x="9205332" y="1678073"/>
              <a:ext cx="1793627" cy="782093"/>
            </a:xfrm>
            <a:prstGeom prst="roundRect">
              <a:avLst/>
            </a:prstGeom>
            <a:solidFill>
              <a:schemeClr val="tx1">
                <a:lumMod val="25000"/>
                <a:lumOff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E43A65A-B5A0-DDEF-FFDF-6DDF93A413A1}"/>
              </a:ext>
            </a:extLst>
          </p:cNvPr>
          <p:cNvGrpSpPr/>
          <p:nvPr/>
        </p:nvGrpSpPr>
        <p:grpSpPr>
          <a:xfrm>
            <a:off x="9234416" y="3551866"/>
            <a:ext cx="1919209" cy="959725"/>
            <a:chOff x="9234416" y="3551866"/>
            <a:chExt cx="1919209" cy="959725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18FC6ACC-9836-5F84-F3DD-560E68B17168}"/>
                </a:ext>
              </a:extLst>
            </p:cNvPr>
            <p:cNvSpPr/>
            <p:nvPr/>
          </p:nvSpPr>
          <p:spPr>
            <a:xfrm>
              <a:off x="9359998" y="3551866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89E30F5A-9C7A-BD20-C881-1D2AF4BEC5BA}"/>
                </a:ext>
              </a:extLst>
            </p:cNvPr>
            <p:cNvSpPr/>
            <p:nvPr/>
          </p:nvSpPr>
          <p:spPr>
            <a:xfrm>
              <a:off x="9234416" y="3729498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03383FF-E8F5-AF56-DCF3-8F762C076C3C}"/>
              </a:ext>
            </a:extLst>
          </p:cNvPr>
          <p:cNvGrpSpPr/>
          <p:nvPr/>
        </p:nvGrpSpPr>
        <p:grpSpPr>
          <a:xfrm>
            <a:off x="9154553" y="1564301"/>
            <a:ext cx="2014458" cy="981307"/>
            <a:chOff x="9154553" y="1564301"/>
            <a:chExt cx="2014458" cy="981307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C2A0F0C5-B4A6-054B-0869-AF0764211FE8}"/>
                </a:ext>
              </a:extLst>
            </p:cNvPr>
            <p:cNvSpPr/>
            <p:nvPr/>
          </p:nvSpPr>
          <p:spPr>
            <a:xfrm>
              <a:off x="9375384" y="1564301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1596D1-2805-6346-7690-9F8880ADEA1F}"/>
                </a:ext>
              </a:extLst>
            </p:cNvPr>
            <p:cNvSpPr/>
            <p:nvPr/>
          </p:nvSpPr>
          <p:spPr>
            <a:xfrm>
              <a:off x="9234417" y="166885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FDA7CCBE-A890-A144-EC15-FC8938BBB82C}"/>
                </a:ext>
              </a:extLst>
            </p:cNvPr>
            <p:cNvSpPr/>
            <p:nvPr/>
          </p:nvSpPr>
          <p:spPr>
            <a:xfrm>
              <a:off x="9154553" y="176351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B37375E4-5EE0-1068-F41F-04B050BC9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5BDDCB17-AD0B-C9A0-7F48-63E713F7599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Services run on more than one machine</a:t>
            </a:r>
          </a:p>
          <a:p>
            <a:r>
              <a:rPr lang="en-US" dirty="0"/>
              <a:t>Autoscaling for when traffic reaches threshold</a:t>
            </a:r>
          </a:p>
          <a:p>
            <a:pPr lvl="1"/>
            <a:r>
              <a:rPr lang="en-US" dirty="0"/>
              <a:t>System automatically brings up new “machines”</a:t>
            </a:r>
          </a:p>
          <a:p>
            <a:pPr lvl="1"/>
            <a:r>
              <a:rPr lang="en-US" dirty="0"/>
              <a:t>Available in popular cloud deployments</a:t>
            </a:r>
          </a:p>
          <a:p>
            <a:pPr lvl="2"/>
            <a:r>
              <a:rPr lang="en-US" dirty="0"/>
              <a:t>Amazon AWS, Digital Ocean, Google Cloud</a:t>
            </a:r>
          </a:p>
          <a:p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463BF4-9442-2A98-643A-FCB556F4379A}"/>
              </a:ext>
            </a:extLst>
          </p:cNvPr>
          <p:cNvSpPr/>
          <p:nvPr/>
        </p:nvSpPr>
        <p:spPr>
          <a:xfrm>
            <a:off x="6537965" y="1852242"/>
            <a:ext cx="1793627" cy="78209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20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1D4A59D-F81A-8991-AA32-BCF9AA8BE081}"/>
              </a:ext>
            </a:extLst>
          </p:cNvPr>
          <p:cNvSpPr/>
          <p:nvPr/>
        </p:nvSpPr>
        <p:spPr>
          <a:xfrm>
            <a:off x="9108834" y="1852242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5CE6CE8-C95C-9D30-C92D-3C9B0D44B0F3}"/>
              </a:ext>
            </a:extLst>
          </p:cNvPr>
          <p:cNvSpPr/>
          <p:nvPr/>
        </p:nvSpPr>
        <p:spPr>
          <a:xfrm>
            <a:off x="9108834" y="3853589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9205EA-92B1-9E54-7B11-12ED3A3B79C1}"/>
              </a:ext>
            </a:extLst>
          </p:cNvPr>
          <p:cNvSpPr/>
          <p:nvPr/>
        </p:nvSpPr>
        <p:spPr>
          <a:xfrm flipH="1">
            <a:off x="8688704" y="1750631"/>
            <a:ext cx="63018" cy="9853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AD81CCB-513F-F6B9-F46F-3D9CAFDB9620}"/>
              </a:ext>
            </a:extLst>
          </p:cNvPr>
          <p:cNvCxnSpPr>
            <a:cxnSpLocks/>
            <a:stCxn id="6" idx="3"/>
            <a:endCxn id="9" idx="3"/>
          </p:cNvCxnSpPr>
          <p:nvPr/>
        </p:nvCxnSpPr>
        <p:spPr>
          <a:xfrm flipV="1">
            <a:off x="833159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21247A8-AC5E-052E-E74F-E512CB94D988}"/>
              </a:ext>
            </a:extLst>
          </p:cNvPr>
          <p:cNvCxnSpPr>
            <a:cxnSpLocks/>
            <a:stCxn id="9" idx="1"/>
            <a:endCxn id="7" idx="1"/>
          </p:cNvCxnSpPr>
          <p:nvPr/>
        </p:nvCxnSpPr>
        <p:spPr>
          <a:xfrm>
            <a:off x="875172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E42C27-827F-E65F-B665-DE60147B0F5F}"/>
              </a:ext>
            </a:extLst>
          </p:cNvPr>
          <p:cNvCxnSpPr>
            <a:cxnSpLocks/>
            <a:stCxn id="8" idx="0"/>
            <a:endCxn id="7" idx="2"/>
          </p:cNvCxnSpPr>
          <p:nvPr/>
        </p:nvCxnSpPr>
        <p:spPr>
          <a:xfrm flipV="1">
            <a:off x="10005648" y="2634335"/>
            <a:ext cx="0" cy="121925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8" name="Picture 2" descr="Google analytics data for viral post">
            <a:extLst>
              <a:ext uri="{FF2B5EF4-FFF2-40B4-BE49-F238E27FC236}">
                <a16:creationId xmlns:a16="http://schemas.microsoft.com/office/drawing/2014/main" id="{2802A412-3594-1729-64E7-0761458319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2651" y="3444570"/>
            <a:ext cx="2257849" cy="1701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5F4BA301-3438-4D49-3AFB-E2B2195CEE89}"/>
              </a:ext>
            </a:extLst>
          </p:cNvPr>
          <p:cNvSpPr/>
          <p:nvPr/>
        </p:nvSpPr>
        <p:spPr>
          <a:xfrm>
            <a:off x="6232651" y="3776774"/>
            <a:ext cx="1212846" cy="1369649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E5AFC6A-8B98-FF1C-BCE3-D14ED86AB348}"/>
              </a:ext>
            </a:extLst>
          </p:cNvPr>
          <p:cNvSpPr txBox="1"/>
          <p:nvPr/>
        </p:nvSpPr>
        <p:spPr>
          <a:xfrm>
            <a:off x="9615552" y="773208"/>
            <a:ext cx="2570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Auto scaled-up machines</a:t>
            </a:r>
          </a:p>
        </p:txBody>
      </p:sp>
    </p:spTree>
    <p:extLst>
      <p:ext uri="{BB962C8B-B14F-4D97-AF65-F5344CB8AC3E}">
        <p14:creationId xmlns:p14="http://schemas.microsoft.com/office/powerpoint/2010/main" val="105232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2A70A-1558-0324-A7C0-F0103F5D1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713892-4CAA-3AC3-EAE6-68F7EA08F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FDD1FD3-B63D-02E5-0EAD-7FC9960F2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Resilience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6B468D-1A86-01AF-E1A8-07F4C2631EA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Is the system resilient to failures?</a:t>
            </a:r>
          </a:p>
          <a:p>
            <a:pPr lvl="1"/>
            <a:r>
              <a:rPr lang="en-US" dirty="0"/>
              <a:t>If a single component fails does the entire system fail?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F038897-5411-E095-FA2D-4CFA90E610F6}"/>
              </a:ext>
            </a:extLst>
          </p:cNvPr>
          <p:cNvGrpSpPr/>
          <p:nvPr/>
        </p:nvGrpSpPr>
        <p:grpSpPr>
          <a:xfrm>
            <a:off x="9234416" y="3551866"/>
            <a:ext cx="1919209" cy="959725"/>
            <a:chOff x="9234416" y="3551866"/>
            <a:chExt cx="1919209" cy="959725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FF2DCFBC-5658-9D2D-1DAD-2064C4F6ABB5}"/>
                </a:ext>
              </a:extLst>
            </p:cNvPr>
            <p:cNvSpPr/>
            <p:nvPr/>
          </p:nvSpPr>
          <p:spPr>
            <a:xfrm>
              <a:off x="9359998" y="3551866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6D195371-AD87-5F0A-F28E-08E22191F5E5}"/>
                </a:ext>
              </a:extLst>
            </p:cNvPr>
            <p:cNvSpPr/>
            <p:nvPr/>
          </p:nvSpPr>
          <p:spPr>
            <a:xfrm>
              <a:off x="9234416" y="3729498"/>
              <a:ext cx="1793627" cy="782093"/>
            </a:xfrm>
            <a:prstGeom prst="roundRect">
              <a:avLst/>
            </a:prstGeom>
            <a:solidFill>
              <a:srgbClr val="FF0000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5C689AA-D8FD-346A-ED9C-DAE6AA947B56}"/>
              </a:ext>
            </a:extLst>
          </p:cNvPr>
          <p:cNvGrpSpPr/>
          <p:nvPr/>
        </p:nvGrpSpPr>
        <p:grpSpPr>
          <a:xfrm>
            <a:off x="9154553" y="1564301"/>
            <a:ext cx="2014458" cy="981307"/>
            <a:chOff x="9154553" y="1564301"/>
            <a:chExt cx="2014458" cy="98130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6B76CB86-844B-1C71-75AE-1DC63AF141AF}"/>
                </a:ext>
              </a:extLst>
            </p:cNvPr>
            <p:cNvSpPr/>
            <p:nvPr/>
          </p:nvSpPr>
          <p:spPr>
            <a:xfrm>
              <a:off x="9375384" y="1564301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EA9C8D5D-7781-6F77-D063-5B46F11DC39A}"/>
                </a:ext>
              </a:extLst>
            </p:cNvPr>
            <p:cNvSpPr/>
            <p:nvPr/>
          </p:nvSpPr>
          <p:spPr>
            <a:xfrm>
              <a:off x="9234417" y="166885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A650DB9-8FE2-6F62-C168-7714E48E893F}"/>
                </a:ext>
              </a:extLst>
            </p:cNvPr>
            <p:cNvSpPr/>
            <p:nvPr/>
          </p:nvSpPr>
          <p:spPr>
            <a:xfrm>
              <a:off x="9154553" y="176351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66EC0AE-92E1-1E25-DE0C-7ED025BACFFF}"/>
              </a:ext>
            </a:extLst>
          </p:cNvPr>
          <p:cNvSpPr/>
          <p:nvPr/>
        </p:nvSpPr>
        <p:spPr>
          <a:xfrm>
            <a:off x="6537965" y="1852242"/>
            <a:ext cx="1793627" cy="78209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2000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EB5878A-763D-F19E-7916-A9BC5D4804C4}"/>
              </a:ext>
            </a:extLst>
          </p:cNvPr>
          <p:cNvSpPr/>
          <p:nvPr/>
        </p:nvSpPr>
        <p:spPr>
          <a:xfrm>
            <a:off x="9108834" y="1852242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E1E50B5-1321-4894-038B-4F8C06100C33}"/>
              </a:ext>
            </a:extLst>
          </p:cNvPr>
          <p:cNvSpPr/>
          <p:nvPr/>
        </p:nvSpPr>
        <p:spPr>
          <a:xfrm>
            <a:off x="9108834" y="3853589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32244FC-2773-E1D4-7D68-AC2DD4F5B7C0}"/>
              </a:ext>
            </a:extLst>
          </p:cNvPr>
          <p:cNvSpPr/>
          <p:nvPr/>
        </p:nvSpPr>
        <p:spPr>
          <a:xfrm flipH="1">
            <a:off x="8688704" y="1750631"/>
            <a:ext cx="63018" cy="9853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2A8C109-AFBA-89AA-46F8-849F4E84C1D9}"/>
              </a:ext>
            </a:extLst>
          </p:cNvPr>
          <p:cNvCxnSpPr>
            <a:cxnSpLocks/>
            <a:stCxn id="17" idx="3"/>
            <a:endCxn id="20" idx="3"/>
          </p:cNvCxnSpPr>
          <p:nvPr/>
        </p:nvCxnSpPr>
        <p:spPr>
          <a:xfrm flipV="1">
            <a:off x="833159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0F5293A-D068-5649-2266-70073C4A049A}"/>
              </a:ext>
            </a:extLst>
          </p:cNvPr>
          <p:cNvCxnSpPr>
            <a:cxnSpLocks/>
            <a:stCxn id="20" idx="1"/>
            <a:endCxn id="18" idx="1"/>
          </p:cNvCxnSpPr>
          <p:nvPr/>
        </p:nvCxnSpPr>
        <p:spPr>
          <a:xfrm>
            <a:off x="875172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608E1C0-4012-CEC2-BDF9-E6D5D7A60B31}"/>
              </a:ext>
            </a:extLst>
          </p:cNvPr>
          <p:cNvCxnSpPr>
            <a:cxnSpLocks/>
            <a:stCxn id="19" idx="0"/>
            <a:endCxn id="18" idx="2"/>
          </p:cNvCxnSpPr>
          <p:nvPr/>
        </p:nvCxnSpPr>
        <p:spPr>
          <a:xfrm flipV="1">
            <a:off x="10005648" y="2634335"/>
            <a:ext cx="0" cy="121925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79CD401-84F7-8AC1-905C-614395F00747}"/>
              </a:ext>
            </a:extLst>
          </p:cNvPr>
          <p:cNvSpPr txBox="1"/>
          <p:nvPr/>
        </p:nvSpPr>
        <p:spPr>
          <a:xfrm>
            <a:off x="10169282" y="4676951"/>
            <a:ext cx="1626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Failed machine</a:t>
            </a:r>
          </a:p>
        </p:txBody>
      </p:sp>
    </p:spTree>
    <p:extLst>
      <p:ext uri="{BB962C8B-B14F-4D97-AF65-F5344CB8AC3E}">
        <p14:creationId xmlns:p14="http://schemas.microsoft.com/office/powerpoint/2010/main" val="3615130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4BFB431-1CD0-49C8-3234-AA0C028142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7E6607-DA07-D278-10DF-A1F30720D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Resilience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4D1DBB-0093-4E5D-AF1C-16F8D391356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Fault tolerance </a:t>
            </a:r>
          </a:p>
          <a:p>
            <a:pPr lvl="1"/>
            <a:r>
              <a:rPr lang="en-US" dirty="0"/>
              <a:t>Distribute traffic across multiple instances (load balancers)</a:t>
            </a:r>
          </a:p>
          <a:p>
            <a:pPr lvl="1"/>
            <a:r>
              <a:rPr lang="en-US" dirty="0"/>
              <a:t>Load balancer detects the failures and stops sending requests to faulting nodes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0F2B32D-962B-75FC-6B47-795B3C597F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1129" y="1673644"/>
            <a:ext cx="5284177" cy="3072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93DE09-0D8A-BB01-FB64-6D76AB23EE59}"/>
              </a:ext>
            </a:extLst>
          </p:cNvPr>
          <p:cNvSpPr txBox="1"/>
          <p:nvPr/>
        </p:nvSpPr>
        <p:spPr>
          <a:xfrm>
            <a:off x="7486900" y="4834742"/>
            <a:ext cx="27299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Nginx load balancer</a:t>
            </a:r>
          </a:p>
        </p:txBody>
      </p:sp>
      <p:pic>
        <p:nvPicPr>
          <p:cNvPr id="4100" name="Picture 4" descr="HAProxy - Wikipedia">
            <a:extLst>
              <a:ext uri="{FF2B5EF4-FFF2-40B4-BE49-F238E27FC236}">
                <a16:creationId xmlns:a16="http://schemas.microsoft.com/office/drawing/2014/main" id="{52CACFD5-6F5A-B72F-8A64-DFB4C13267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79" y="4183632"/>
            <a:ext cx="2095500" cy="1647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What is Nginx?. In this article, we're ...">
            <a:extLst>
              <a:ext uri="{FF2B5EF4-FFF2-40B4-BE49-F238E27FC236}">
                <a16:creationId xmlns:a16="http://schemas.microsoft.com/office/drawing/2014/main" id="{38E081BA-DD1A-1F5D-3C90-2E77125821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2414" y="4478907"/>
            <a:ext cx="338137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6398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503789-12F4-9649-6776-73FCDEFDA8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Round Robin – Sequentially routes requests across servers; simple but doesn’t account for server load</a:t>
            </a:r>
          </a:p>
          <a:p>
            <a:r>
              <a:rPr lang="en-US" dirty="0"/>
              <a:t>Least Connections – Directs traffic to the server with the fewest active connections; adapts well to uneven load</a:t>
            </a:r>
          </a:p>
          <a:p>
            <a:r>
              <a:rPr lang="en-US" dirty="0"/>
              <a:t>Least Response Time – Chooses the server with the fastest response time and fewest connections; performance-oriented</a:t>
            </a:r>
          </a:p>
          <a:p>
            <a:r>
              <a:rPr lang="en-US" dirty="0"/>
              <a:t>Random Policy – Selects servers randomly; useful in stateless, uniform environments</a:t>
            </a:r>
          </a:p>
          <a:p>
            <a:r>
              <a:rPr lang="en-US" dirty="0"/>
              <a:t>Weighted Distribution – Allocates requests based on server capacity (e.g., CPU power, memory)</a:t>
            </a:r>
          </a:p>
          <a:p>
            <a:r>
              <a:rPr lang="en-US" b="1" i="1" dirty="0"/>
              <a:t>… Tradeoffs?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9C954F6-3ED6-D2AE-8933-2BC4EA823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balancing strategies</a:t>
            </a:r>
          </a:p>
        </p:txBody>
      </p:sp>
    </p:spTree>
    <p:extLst>
      <p:ext uri="{BB962C8B-B14F-4D97-AF65-F5344CB8AC3E}">
        <p14:creationId xmlns:p14="http://schemas.microsoft.com/office/powerpoint/2010/main" val="2950731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F43145A-6F73-C3C4-E348-1575F6BE85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Health Checks: Continuously verify server availability</a:t>
            </a:r>
          </a:p>
          <a:p>
            <a:r>
              <a:rPr lang="en-US" dirty="0"/>
              <a:t>Session Persistence (Sticky Sessions): Keep user sessions on the same server</a:t>
            </a:r>
          </a:p>
          <a:p>
            <a:r>
              <a:rPr lang="en-US" dirty="0"/>
              <a:t>Demo: on Friday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00ADE39-3D62-9651-5154-DBF6E34E6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balancer considerations</a:t>
            </a:r>
          </a:p>
        </p:txBody>
      </p:sp>
    </p:spTree>
    <p:extLst>
      <p:ext uri="{BB962C8B-B14F-4D97-AF65-F5344CB8AC3E}">
        <p14:creationId xmlns:p14="http://schemas.microsoft.com/office/powerpoint/2010/main" val="495198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B55CD1-E9D4-3FE3-5AF2-4CD4243C6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F1EF9F2-B170-803F-78DD-B8F5CCA7250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Does the architecture itself cause any performance bottlenecks?</a:t>
            </a:r>
          </a:p>
          <a:p>
            <a:r>
              <a:rPr lang="en-US" dirty="0"/>
              <a:t>Modularity reduces performance</a:t>
            </a:r>
          </a:p>
          <a:p>
            <a:r>
              <a:rPr lang="en-US" dirty="0"/>
              <a:t>How to limit performance overhead?</a:t>
            </a:r>
          </a:p>
          <a:p>
            <a:endParaRPr lang="en-US" dirty="0"/>
          </a:p>
        </p:txBody>
      </p:sp>
      <p:pic>
        <p:nvPicPr>
          <p:cNvPr id="3" name="Picture 4" descr="Redis Lucee Extension">
            <a:extLst>
              <a:ext uri="{FF2B5EF4-FFF2-40B4-BE49-F238E27FC236}">
                <a16:creationId xmlns:a16="http://schemas.microsoft.com/office/drawing/2014/main" id="{1459DE3B-01AF-1FAA-DC72-BFCA91C4F8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4967" y="2752671"/>
            <a:ext cx="698560" cy="805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11A3BD1-6C54-911D-1DEE-46D0242D17E4}"/>
              </a:ext>
            </a:extLst>
          </p:cNvPr>
          <p:cNvGrpSpPr/>
          <p:nvPr/>
        </p:nvGrpSpPr>
        <p:grpSpPr>
          <a:xfrm>
            <a:off x="6766565" y="1636331"/>
            <a:ext cx="4364496" cy="2885051"/>
            <a:chOff x="6537965" y="1750631"/>
            <a:chExt cx="4364496" cy="2885051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A907D37-3A80-B89B-A336-F37350D7C4FD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2C89C53C-128B-3D46-9A72-271C09B9D781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9C645E9E-CB19-7558-84E9-8BD5C79FA1ED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A64B8A1-DB90-31B7-4D06-EC65C48C3369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28DD63F-3866-6D93-E7AA-BBF1F76F946F}"/>
                </a:ext>
              </a:extLst>
            </p:cNvPr>
            <p:cNvCxnSpPr>
              <a:cxnSpLocks/>
              <a:stCxn id="7" idx="3"/>
              <a:endCxn id="10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36C5CBB-C97F-4DC4-965D-DEAF18715E4C}"/>
                </a:ext>
              </a:extLst>
            </p:cNvPr>
            <p:cNvCxnSpPr>
              <a:cxnSpLocks/>
              <a:stCxn id="10" idx="1"/>
              <a:endCxn id="8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1A46A90-D6DD-B59D-422D-625195831165}"/>
                </a:ext>
              </a:extLst>
            </p:cNvPr>
            <p:cNvCxnSpPr>
              <a:cxnSpLocks/>
              <a:stCxn id="9" idx="0"/>
              <a:endCxn id="8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2774D25B-FA81-37C4-4F30-0903C51FCD67}"/>
              </a:ext>
            </a:extLst>
          </p:cNvPr>
          <p:cNvSpPr txBox="1"/>
          <p:nvPr/>
        </p:nvSpPr>
        <p:spPr>
          <a:xfrm>
            <a:off x="8156282" y="1206022"/>
            <a:ext cx="1673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Network access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53C271-1BEE-5CC4-26AE-EEEB6599A3E6}"/>
              </a:ext>
            </a:extLst>
          </p:cNvPr>
          <p:cNvSpPr txBox="1"/>
          <p:nvPr/>
        </p:nvSpPr>
        <p:spPr>
          <a:xfrm>
            <a:off x="10392832" y="2557724"/>
            <a:ext cx="1673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Network access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FD7DA5-26D3-A551-ED61-BAD30BEA72C4}"/>
              </a:ext>
            </a:extLst>
          </p:cNvPr>
          <p:cNvSpPr txBox="1"/>
          <p:nvPr/>
        </p:nvSpPr>
        <p:spPr>
          <a:xfrm>
            <a:off x="10392832" y="3330553"/>
            <a:ext cx="1673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Network access</a:t>
            </a:r>
          </a:p>
        </p:txBody>
      </p:sp>
    </p:spTree>
    <p:extLst>
      <p:ext uri="{BB962C8B-B14F-4D97-AF65-F5344CB8AC3E}">
        <p14:creationId xmlns:p14="http://schemas.microsoft.com/office/powerpoint/2010/main" val="65392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F582C-BF77-81B0-109D-B1231BC0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88A5B85-09CC-76AC-B6E6-E240499449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/>
          <a:lstStyle/>
          <a:p>
            <a:r>
              <a:rPr lang="en-US" dirty="0"/>
              <a:t>Can individual components be individually deployed?</a:t>
            </a:r>
          </a:p>
          <a:p>
            <a:pPr lvl="1"/>
            <a:r>
              <a:rPr lang="en-US" dirty="0"/>
              <a:t>Do I need to deploy </a:t>
            </a:r>
            <a:r>
              <a:rPr lang="en-US" dirty="0" err="1"/>
              <a:t>TweetService</a:t>
            </a:r>
            <a:r>
              <a:rPr lang="en-US" dirty="0"/>
              <a:t> to deploy </a:t>
            </a:r>
            <a:r>
              <a:rPr lang="en-US" dirty="0" err="1"/>
              <a:t>ShortURLService</a:t>
            </a:r>
            <a:r>
              <a:rPr lang="en-US" dirty="0"/>
              <a:t>?</a:t>
            </a:r>
          </a:p>
          <a:p>
            <a:r>
              <a:rPr lang="en-US" dirty="0"/>
              <a:t>Can deployment steps be automated?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515BBF3-1973-E935-45CC-72CD1E843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Deployability</a:t>
            </a:r>
            <a:endParaRPr lang="en-US" dirty="0"/>
          </a:p>
        </p:txBody>
      </p:sp>
      <p:pic>
        <p:nvPicPr>
          <p:cNvPr id="3076" name="Picture 4" descr="GitHub environments for your next big project | by Soumya Sagar | Medium">
            <a:extLst>
              <a:ext uri="{FF2B5EF4-FFF2-40B4-BE49-F238E27FC236}">
                <a16:creationId xmlns:a16="http://schemas.microsoft.com/office/drawing/2014/main" id="{0AAC6C8B-5C15-1FDC-D822-29E03206C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490373"/>
            <a:ext cx="5579018" cy="3140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79738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50E2EC-8DE2-62D6-22E0-192C001017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Both in industry and academia</a:t>
            </a:r>
          </a:p>
          <a:p>
            <a:r>
              <a:rPr lang="en-US" dirty="0"/>
              <a:t>Tremendous amount of innovation happening currently</a:t>
            </a:r>
          </a:p>
          <a:p>
            <a:r>
              <a:rPr lang="en-US" dirty="0"/>
              <a:t>Majority of topics fall under “cloud computing”</a:t>
            </a:r>
          </a:p>
          <a:p>
            <a:pPr lvl="1"/>
            <a:r>
              <a:rPr lang="en-US" dirty="0"/>
              <a:t>This course will have an overview of these topics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F80D86-B91C-5C7C-0422-F86A31ACA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Active areas of research and innovation</a:t>
            </a:r>
          </a:p>
        </p:txBody>
      </p:sp>
    </p:spTree>
    <p:extLst>
      <p:ext uri="{BB962C8B-B14F-4D97-AF65-F5344CB8AC3E}">
        <p14:creationId xmlns:p14="http://schemas.microsoft.com/office/powerpoint/2010/main" val="36687362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94F27E-3DB8-4D4F-BB46-FE53DB287D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Operating systems</a:t>
            </a:r>
          </a:p>
          <a:p>
            <a:pPr lvl="1"/>
            <a:r>
              <a:rPr lang="en-US" dirty="0"/>
              <a:t>Virtual machines and containers for software deployment</a:t>
            </a:r>
          </a:p>
          <a:p>
            <a:r>
              <a:rPr lang="en-US" dirty="0">
                <a:solidFill>
                  <a:schemeClr val="accent4">
                    <a:lumMod val="50000"/>
                    <a:lumOff val="50000"/>
                  </a:schemeClr>
                </a:solidFill>
              </a:rPr>
              <a:t>Networking (already covered)</a:t>
            </a:r>
          </a:p>
          <a:p>
            <a:r>
              <a:rPr lang="en-US" dirty="0">
                <a:solidFill>
                  <a:srgbClr val="646464"/>
                </a:solidFill>
              </a:rPr>
              <a:t>Security (later module)</a:t>
            </a:r>
          </a:p>
          <a:p>
            <a:r>
              <a:rPr lang="en-US" strike="sngStrike" dirty="0">
                <a:solidFill>
                  <a:srgbClr val="646464"/>
                </a:solidFill>
              </a:rPr>
              <a:t>Distributed systems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44525B4-190E-B932-524E-BF26C5899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 to systems topics</a:t>
            </a:r>
          </a:p>
        </p:txBody>
      </p:sp>
    </p:spTree>
    <p:extLst>
      <p:ext uri="{BB962C8B-B14F-4D97-AF65-F5344CB8AC3E}">
        <p14:creationId xmlns:p14="http://schemas.microsoft.com/office/powerpoint/2010/main" val="29932876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58C704B-E6EF-E795-2A9C-AE44F0EA5A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36E6BE5-CC49-578F-E502-D88CD4346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842556-C04D-5205-04AA-8C5C950C81B9}"/>
              </a:ext>
            </a:extLst>
          </p:cNvPr>
          <p:cNvSpPr/>
          <p:nvPr/>
        </p:nvSpPr>
        <p:spPr>
          <a:xfrm>
            <a:off x="2234755" y="2967335"/>
            <a:ext cx="77225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Virtual machines and containers</a:t>
            </a:r>
          </a:p>
        </p:txBody>
      </p:sp>
    </p:spTree>
    <p:extLst>
      <p:ext uri="{BB962C8B-B14F-4D97-AF65-F5344CB8AC3E}">
        <p14:creationId xmlns:p14="http://schemas.microsoft.com/office/powerpoint/2010/main" val="14827683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51BA0B-B57A-06E3-6477-6324383EC1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Complex software architecture needs for a “virtual environment”</a:t>
            </a:r>
          </a:p>
          <a:p>
            <a:pPr lvl="1"/>
            <a:r>
              <a:rPr lang="en-US" dirty="0"/>
              <a:t>For example, autoscaling can not bring up physical machines</a:t>
            </a:r>
          </a:p>
          <a:p>
            <a:pPr lvl="2"/>
            <a:r>
              <a:rPr lang="en-US" dirty="0"/>
              <a:t>Even if it can, wasteful to have physical machines sitting around idle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42C662-E17D-5CD7-29B5-3539A0E3C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machine and containers</a:t>
            </a:r>
          </a:p>
        </p:txBody>
      </p:sp>
    </p:spTree>
    <p:extLst>
      <p:ext uri="{BB962C8B-B14F-4D97-AF65-F5344CB8AC3E}">
        <p14:creationId xmlns:p14="http://schemas.microsoft.com/office/powerpoint/2010/main" val="8659843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55B81-7CB7-27F9-EE6C-82B31F7F8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7A994A0-248B-00B1-3248-1479B73395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 flexible use of physical machines through dynamic reconfiguring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262CDA-AEB2-CA95-5A32-6C06AC7AF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machine and containers</a:t>
            </a:r>
          </a:p>
        </p:txBody>
      </p:sp>
      <p:pic>
        <p:nvPicPr>
          <p:cNvPr id="9218" name="Picture 2" descr="Server - Free computer icons">
            <a:extLst>
              <a:ext uri="{FF2B5EF4-FFF2-40B4-BE49-F238E27FC236}">
                <a16:creationId xmlns:a16="http://schemas.microsoft.com/office/drawing/2014/main" id="{88FCE1DE-AAED-B8F1-F2A2-EE09B9F7F1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8670" y="3279459"/>
            <a:ext cx="2072496" cy="2072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 descr="Server - Free computer icons">
            <a:extLst>
              <a:ext uri="{FF2B5EF4-FFF2-40B4-BE49-F238E27FC236}">
                <a16:creationId xmlns:a16="http://schemas.microsoft.com/office/drawing/2014/main" id="{EA601D69-C8AA-BF83-5B65-1881FE0A67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3096" y="3279457"/>
            <a:ext cx="2072497" cy="2072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 descr="Server - Free computer icons">
            <a:extLst>
              <a:ext uri="{FF2B5EF4-FFF2-40B4-BE49-F238E27FC236}">
                <a16:creationId xmlns:a16="http://schemas.microsoft.com/office/drawing/2014/main" id="{7329970C-F789-FEFB-0E75-1685E2F11A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2522" y="3279457"/>
            <a:ext cx="2072497" cy="2072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485C6AA4-E9E1-40FC-077F-8977FADAABB4}"/>
              </a:ext>
            </a:extLst>
          </p:cNvPr>
          <p:cNvGrpSpPr/>
          <p:nvPr/>
        </p:nvGrpSpPr>
        <p:grpSpPr>
          <a:xfrm>
            <a:off x="9441552" y="2227708"/>
            <a:ext cx="1041488" cy="1861032"/>
            <a:chOff x="8108051" y="1595712"/>
            <a:chExt cx="1673469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8C3AE5C1-3DA0-A1F2-0026-5F75EF7C7E64}"/>
                </a:ext>
              </a:extLst>
            </p:cNvPr>
            <p:cNvSpPr/>
            <p:nvPr/>
          </p:nvSpPr>
          <p:spPr>
            <a:xfrm>
              <a:off x="8108051" y="1595712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Picture 18" descr="Nodejs - Free brands and logotypes icons">
              <a:extLst>
                <a:ext uri="{FF2B5EF4-FFF2-40B4-BE49-F238E27FC236}">
                  <a16:creationId xmlns:a16="http://schemas.microsoft.com/office/drawing/2014/main" id="{22CA18C8-D5EF-B52E-A65B-908EA3CFFB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20531" y="1790450"/>
              <a:ext cx="1248508" cy="12485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6" descr="893 ubuntu icons - Iconfinder">
              <a:extLst>
                <a:ext uri="{FF2B5EF4-FFF2-40B4-BE49-F238E27FC236}">
                  <a16:creationId xmlns:a16="http://schemas.microsoft.com/office/drawing/2014/main" id="{6596F29D-2EEF-1A48-E2EC-D9BB81A751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86118" y="3127685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F1FADC8-A254-F939-5BDE-95B8CC5BDBBC}"/>
                </a:ext>
              </a:extLst>
            </p:cNvPr>
            <p:cNvSpPr txBox="1"/>
            <p:nvPr/>
          </p:nvSpPr>
          <p:spPr>
            <a:xfrm>
              <a:off x="8192283" y="2854292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22.04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1491BE2-D4D9-D3F2-8676-3D85E6F08D87}"/>
              </a:ext>
            </a:extLst>
          </p:cNvPr>
          <p:cNvGrpSpPr/>
          <p:nvPr/>
        </p:nvGrpSpPr>
        <p:grpSpPr>
          <a:xfrm>
            <a:off x="6848355" y="2248413"/>
            <a:ext cx="1040303" cy="1850680"/>
            <a:chOff x="4406176" y="1513957"/>
            <a:chExt cx="1673469" cy="2680669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6C44F136-B9AD-6256-B824-FD0B42BBC59E}"/>
                </a:ext>
              </a:extLst>
            </p:cNvPr>
            <p:cNvSpPr/>
            <p:nvPr/>
          </p:nvSpPr>
          <p:spPr>
            <a:xfrm>
              <a:off x="4406176" y="1513957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0" name="Picture 6" descr="893 ubuntu icons - Iconfinder">
              <a:extLst>
                <a:ext uri="{FF2B5EF4-FFF2-40B4-BE49-F238E27FC236}">
                  <a16:creationId xmlns:a16="http://schemas.microsoft.com/office/drawing/2014/main" id="{A68385F5-10D4-B9E3-798F-20D252BB711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84243" y="3045930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EDA12C9-E6A1-FE32-0EC1-C57FA789BDA6}"/>
                </a:ext>
              </a:extLst>
            </p:cNvPr>
            <p:cNvSpPr txBox="1"/>
            <p:nvPr/>
          </p:nvSpPr>
          <p:spPr>
            <a:xfrm>
              <a:off x="4490408" y="2772537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24.04</a:t>
              </a:r>
            </a:p>
          </p:txBody>
        </p:sp>
        <p:pic>
          <p:nvPicPr>
            <p:cNvPr id="22" name="Picture 16" descr="Python icon - Free download on Iconfinder">
              <a:extLst>
                <a:ext uri="{FF2B5EF4-FFF2-40B4-BE49-F238E27FC236}">
                  <a16:creationId xmlns:a16="http://schemas.microsoft.com/office/drawing/2014/main" id="{F0FBA1D7-D842-5050-E13E-3BAAF74B4E5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56055" y="1627914"/>
              <a:ext cx="1173707" cy="1173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1F57A25-A80A-C61E-7921-633F6AD0C6FA}"/>
              </a:ext>
            </a:extLst>
          </p:cNvPr>
          <p:cNvGrpSpPr/>
          <p:nvPr/>
        </p:nvGrpSpPr>
        <p:grpSpPr>
          <a:xfrm>
            <a:off x="3929895" y="2238059"/>
            <a:ext cx="1040303" cy="1850680"/>
            <a:chOff x="4406176" y="1513957"/>
            <a:chExt cx="1673469" cy="2680669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F8A041F3-93DF-1C67-8594-18122D5D29DC}"/>
                </a:ext>
              </a:extLst>
            </p:cNvPr>
            <p:cNvSpPr/>
            <p:nvPr/>
          </p:nvSpPr>
          <p:spPr>
            <a:xfrm>
              <a:off x="4406176" y="1513957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6" name="Picture 6" descr="893 ubuntu icons - Iconfinder">
              <a:extLst>
                <a:ext uri="{FF2B5EF4-FFF2-40B4-BE49-F238E27FC236}">
                  <a16:creationId xmlns:a16="http://schemas.microsoft.com/office/drawing/2014/main" id="{69CBA35E-D417-0B71-2C6E-A18DF3875D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84243" y="3045930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7830E0C-71EC-497B-2FB2-70A8B6DA557B}"/>
                </a:ext>
              </a:extLst>
            </p:cNvPr>
            <p:cNvSpPr txBox="1"/>
            <p:nvPr/>
          </p:nvSpPr>
          <p:spPr>
            <a:xfrm>
              <a:off x="4490408" y="2772537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23.04</a:t>
              </a:r>
            </a:p>
          </p:txBody>
        </p:sp>
        <p:pic>
          <p:nvPicPr>
            <p:cNvPr id="28" name="Picture 16" descr="Python icon - Free download on Iconfinder">
              <a:extLst>
                <a:ext uri="{FF2B5EF4-FFF2-40B4-BE49-F238E27FC236}">
                  <a16:creationId xmlns:a16="http://schemas.microsoft.com/office/drawing/2014/main" id="{F2CD6797-0223-6D43-77A8-B0CBD94ED1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56055" y="1627914"/>
              <a:ext cx="1173707" cy="1173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2" descr="Google analytics data for viral post">
            <a:extLst>
              <a:ext uri="{FF2B5EF4-FFF2-40B4-BE49-F238E27FC236}">
                <a16:creationId xmlns:a16="http://schemas.microsoft.com/office/drawing/2014/main" id="{1C5C545B-C566-64D6-0C2A-87FE7937B8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755" y="4315707"/>
            <a:ext cx="2257849" cy="1701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21C92882-961A-E65A-6ED4-D484ADA07A09}"/>
              </a:ext>
            </a:extLst>
          </p:cNvPr>
          <p:cNvSpPr/>
          <p:nvPr/>
        </p:nvSpPr>
        <p:spPr>
          <a:xfrm>
            <a:off x="862759" y="4591245"/>
            <a:ext cx="1212846" cy="1369649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5D01CD2-10AA-151C-1769-2FC7C613485E}"/>
              </a:ext>
            </a:extLst>
          </p:cNvPr>
          <p:cNvGrpSpPr/>
          <p:nvPr/>
        </p:nvGrpSpPr>
        <p:grpSpPr>
          <a:xfrm>
            <a:off x="6849542" y="2238061"/>
            <a:ext cx="1041488" cy="1861032"/>
            <a:chOff x="8108051" y="1595713"/>
            <a:chExt cx="1673469" cy="2680669"/>
          </a:xfrm>
        </p:grpSpPr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7E6BD648-6D9B-399B-E0FD-4CF8F0F7D23C}"/>
                </a:ext>
              </a:extLst>
            </p:cNvPr>
            <p:cNvSpPr/>
            <p:nvPr/>
          </p:nvSpPr>
          <p:spPr>
            <a:xfrm>
              <a:off x="8108051" y="1595713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3" name="Picture 18" descr="Nodejs - Free brands and logotypes icons">
              <a:extLst>
                <a:ext uri="{FF2B5EF4-FFF2-40B4-BE49-F238E27FC236}">
                  <a16:creationId xmlns:a16="http://schemas.microsoft.com/office/drawing/2014/main" id="{55054773-4456-3DBB-32A7-735481235B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20531" y="1790450"/>
              <a:ext cx="1248508" cy="12485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6" descr="893 ubuntu icons - Iconfinder">
              <a:extLst>
                <a:ext uri="{FF2B5EF4-FFF2-40B4-BE49-F238E27FC236}">
                  <a16:creationId xmlns:a16="http://schemas.microsoft.com/office/drawing/2014/main" id="{09446411-91E0-A178-0916-D237D37B56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86118" y="3127685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27A78F4-833C-C126-B2E9-972A5647A169}"/>
                </a:ext>
              </a:extLst>
            </p:cNvPr>
            <p:cNvSpPr txBox="1"/>
            <p:nvPr/>
          </p:nvSpPr>
          <p:spPr>
            <a:xfrm>
              <a:off x="8192283" y="2854292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22.04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FE4FB82-EDAF-D5B2-CA42-FC5573B9559D}"/>
              </a:ext>
            </a:extLst>
          </p:cNvPr>
          <p:cNvGrpSpPr/>
          <p:nvPr/>
        </p:nvGrpSpPr>
        <p:grpSpPr>
          <a:xfrm>
            <a:off x="3928710" y="2223071"/>
            <a:ext cx="1041488" cy="1861032"/>
            <a:chOff x="8108051" y="1595712"/>
            <a:chExt cx="1673469" cy="2680669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72EA4CD3-5101-8741-DFB3-1D050D706E10}"/>
                </a:ext>
              </a:extLst>
            </p:cNvPr>
            <p:cNvSpPr/>
            <p:nvPr/>
          </p:nvSpPr>
          <p:spPr>
            <a:xfrm>
              <a:off x="8108051" y="1595712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8" name="Picture 18" descr="Nodejs - Free brands and logotypes icons">
              <a:extLst>
                <a:ext uri="{FF2B5EF4-FFF2-40B4-BE49-F238E27FC236}">
                  <a16:creationId xmlns:a16="http://schemas.microsoft.com/office/drawing/2014/main" id="{688DBD49-F653-D5D1-5C43-A213CD29A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20531" y="1790450"/>
              <a:ext cx="1248508" cy="12485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6" descr="893 ubuntu icons - Iconfinder">
              <a:extLst>
                <a:ext uri="{FF2B5EF4-FFF2-40B4-BE49-F238E27FC236}">
                  <a16:creationId xmlns:a16="http://schemas.microsoft.com/office/drawing/2014/main" id="{E72A3839-A422-E233-0375-3A879A5460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86118" y="3127685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9B73553-1A83-3317-4724-E0DA9D254391}"/>
                </a:ext>
              </a:extLst>
            </p:cNvPr>
            <p:cNvSpPr txBox="1"/>
            <p:nvPr/>
          </p:nvSpPr>
          <p:spPr>
            <a:xfrm>
              <a:off x="8192283" y="2854292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22.04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40511163-9525-696C-58F9-2094989BCB31}"/>
              </a:ext>
            </a:extLst>
          </p:cNvPr>
          <p:cNvSpPr txBox="1"/>
          <p:nvPr/>
        </p:nvSpPr>
        <p:spPr>
          <a:xfrm>
            <a:off x="1337013" y="4699000"/>
            <a:ext cx="2337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http://app.com/app.js</a:t>
            </a:r>
          </a:p>
        </p:txBody>
      </p:sp>
    </p:spTree>
    <p:extLst>
      <p:ext uri="{BB962C8B-B14F-4D97-AF65-F5344CB8AC3E}">
        <p14:creationId xmlns:p14="http://schemas.microsoft.com/office/powerpoint/2010/main" val="2742067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FDB0D1-B297-8B3A-14B3-A16A8D8EC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virtual machine?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E371B51-CCED-A11D-295A-991E521D2D5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Isolated environment that emulates a physical machine</a:t>
            </a:r>
          </a:p>
          <a:p>
            <a:r>
              <a:rPr lang="en-US" dirty="0"/>
              <a:t>A hypervisor runs on the hardware</a:t>
            </a:r>
          </a:p>
          <a:p>
            <a:r>
              <a:rPr lang="en-US" dirty="0"/>
              <a:t>Each VM has its own kernel</a:t>
            </a:r>
          </a:p>
          <a:p>
            <a:r>
              <a:rPr lang="en-US" dirty="0"/>
              <a:t>Isolation enforced by hardware</a:t>
            </a:r>
          </a:p>
          <a:p>
            <a:pPr lvl="1"/>
            <a:r>
              <a:rPr lang="en-US" dirty="0"/>
              <a:t>Intel VT-x or AMD-V</a:t>
            </a:r>
          </a:p>
          <a:p>
            <a:endParaRPr lang="en-US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2214118-D8A5-04E3-A7B6-34DB46985E93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F3B6AF9-1289-4BC4-A2F7-3F93C1929573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B23A893-A8B0-32FC-5805-AE768CE8F099}"/>
                </a:ext>
              </a:extLst>
            </p:cNvPr>
            <p:cNvGrpSpPr/>
            <p:nvPr/>
          </p:nvGrpSpPr>
          <p:grpSpPr>
            <a:xfrm>
              <a:off x="5241071" y="2605712"/>
              <a:ext cx="1532791" cy="779658"/>
              <a:chOff x="5241071" y="2605712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5A59E618-2A31-4138-AAD6-D92091B258A8}"/>
                  </a:ext>
                </a:extLst>
              </p:cNvPr>
              <p:cNvSpPr/>
              <p:nvPr/>
            </p:nvSpPr>
            <p:spPr>
              <a:xfrm>
                <a:off x="5241071" y="2605712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FEAC0B39-1FD9-1541-E315-6E22D4115F7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010" y="3074708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F6524825-F651-38FE-4E5E-F075DD42B0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A910B156-BA49-2C72-0804-8987D8CF2DEA}"/>
                </a:ext>
              </a:extLst>
            </p:cNvPr>
            <p:cNvSpPr/>
            <p:nvPr/>
          </p:nvSpPr>
          <p:spPr>
            <a:xfrm>
              <a:off x="5224911" y="3387151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5.4.1</a:t>
              </a:r>
              <a:endParaRPr lang="en-US" sz="105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EA7BEA4-6C97-5783-39AD-3DA9D11E60F6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6EC5731D-942A-E968-B456-1AB1D6D05EDD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43C0779B-0D13-4C2D-6524-6006E4DB9554}"/>
                </a:ext>
              </a:extLst>
            </p:cNvPr>
            <p:cNvSpPr/>
            <p:nvPr/>
          </p:nvSpPr>
          <p:spPr>
            <a:xfrm>
              <a:off x="8223177" y="2605713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E046C7CC-9B6C-40ED-653C-CE62D212D0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50325" y="3050728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160266B5-C917-E742-1CF7-00D9F8E4EB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FF928235-BD24-BA6A-0BBC-38DF86CC9015}"/>
                </a:ext>
              </a:extLst>
            </p:cNvPr>
            <p:cNvSpPr/>
            <p:nvPr/>
          </p:nvSpPr>
          <p:spPr>
            <a:xfrm>
              <a:off x="8129999" y="3418787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6.0.2</a:t>
              </a:r>
              <a:endParaRPr lang="en-US" sz="105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3E61088-471A-1AAC-7C55-E01BF829707C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C1607899-BF97-DA3D-4D6B-C47A2200875C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13C6A56A-2003-1853-92DC-24BA370DC44C}"/>
                </a:ext>
              </a:extLst>
            </p:cNvPr>
            <p:cNvSpPr/>
            <p:nvPr/>
          </p:nvSpPr>
          <p:spPr>
            <a:xfrm>
              <a:off x="10160214" y="2605713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3B2DE27E-695D-282B-8B0A-9ABE9A4878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9279" y="3074708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12504F8E-70D8-68AD-4942-2E7E90770BC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BD031DCC-7C63-A2BD-4989-CD2DE745B5D4}"/>
                </a:ext>
              </a:extLst>
            </p:cNvPr>
            <p:cNvSpPr/>
            <p:nvPr/>
          </p:nvSpPr>
          <p:spPr>
            <a:xfrm>
              <a:off x="10010797" y="3440106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4.4.7</a:t>
              </a:r>
              <a:endParaRPr lang="en-US" sz="1050" dirty="0"/>
            </a:p>
          </p:txBody>
        </p:sp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24D6C5A-BC15-6F0F-2EEE-CBD2D41ECB5D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34FC105B-616F-58AB-A676-D601762F92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5916EEC-3341-EC59-D2DF-B739B6AB00E3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rgbClr val="B9B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Hypervisor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428C7F8-A87B-B314-656C-DB452865995F}"/>
              </a:ext>
            </a:extLst>
          </p:cNvPr>
          <p:cNvGrpSpPr/>
          <p:nvPr/>
        </p:nvGrpSpPr>
        <p:grpSpPr>
          <a:xfrm>
            <a:off x="5877903" y="1026543"/>
            <a:ext cx="5875346" cy="4200070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DF72711-5255-D287-B303-020984551AEC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4FA5933-73C2-6F08-E411-E91C0D2EB1B3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5D9F128-E050-8894-7D48-B667D117B57B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27375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B9F4F-258D-672B-BEFC-53894BAAE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0B0F778-6F90-209B-A564-FEA6BB0E0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virtual machine?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B02242-5CF4-EBB0-BF46-EC12ECF17BC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Special CPU instructions to enter and exit VMs</a:t>
            </a:r>
          </a:p>
          <a:p>
            <a:pPr lvl="1"/>
            <a:r>
              <a:rPr lang="en-US" dirty="0"/>
              <a:t>VMRUN to enter “guest mode” and run the VM</a:t>
            </a:r>
          </a:p>
          <a:p>
            <a:pPr lvl="1"/>
            <a:r>
              <a:rPr lang="en-US" dirty="0"/>
              <a:t>VMCALL to exit “guest mode” and execute host code</a:t>
            </a:r>
          </a:p>
          <a:p>
            <a:r>
              <a:rPr lang="en-US" dirty="0"/>
              <a:t>Expensive instructions and also cause cache, TLB invalidations</a:t>
            </a:r>
          </a:p>
          <a:p>
            <a:endParaRPr lang="en-US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CA350B7-13C3-3097-9B9B-250559550FE3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C0822991-138D-EBA4-D0B7-A3EB7F430855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4D18B8D2-D0D7-2CE8-E767-48560945C5DC}"/>
                </a:ext>
              </a:extLst>
            </p:cNvPr>
            <p:cNvGrpSpPr/>
            <p:nvPr/>
          </p:nvGrpSpPr>
          <p:grpSpPr>
            <a:xfrm>
              <a:off x="5241071" y="2605712"/>
              <a:ext cx="1532791" cy="779658"/>
              <a:chOff x="5241071" y="2605712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6E71393B-81A2-6140-22FE-AC4984E66916}"/>
                  </a:ext>
                </a:extLst>
              </p:cNvPr>
              <p:cNvSpPr/>
              <p:nvPr/>
            </p:nvSpPr>
            <p:spPr>
              <a:xfrm>
                <a:off x="5241071" y="2605712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3A338AD9-1217-4394-FC43-E525B4A0CA8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010" y="3074708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FE7A58F5-4CB8-5E24-60A8-53C29421B9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2A7F3A27-A14B-773C-6188-E6B4D64858FC}"/>
                </a:ext>
              </a:extLst>
            </p:cNvPr>
            <p:cNvSpPr/>
            <p:nvPr/>
          </p:nvSpPr>
          <p:spPr>
            <a:xfrm>
              <a:off x="5224911" y="3387151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5.4.1</a:t>
              </a:r>
              <a:endParaRPr lang="en-US" sz="105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B345CB2-AD44-92BB-2F56-5046A496D43E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7CEEF0FB-D14C-4AF3-A0EA-C61590AB57A3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0E4FC357-7E4C-903C-29FD-14366FE3B1B3}"/>
                </a:ext>
              </a:extLst>
            </p:cNvPr>
            <p:cNvSpPr/>
            <p:nvPr/>
          </p:nvSpPr>
          <p:spPr>
            <a:xfrm>
              <a:off x="8223177" y="2605713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D3CEBD62-418A-BF6A-5668-6BFA2979A1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50325" y="3050728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937732FA-9249-8BDE-1494-F73E029C99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5351D91B-CD72-EE65-7619-8D21EF671568}"/>
                </a:ext>
              </a:extLst>
            </p:cNvPr>
            <p:cNvSpPr/>
            <p:nvPr/>
          </p:nvSpPr>
          <p:spPr>
            <a:xfrm>
              <a:off x="8129999" y="3418787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6.0.2</a:t>
              </a:r>
              <a:endParaRPr lang="en-US" sz="105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899B51D-C664-AA5A-E584-551856D25852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22260FDE-9A8E-9EBE-DBFB-0AA62DAD1B8B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68BDEBC-D08F-5077-DA4E-CA8D8D203FE1}"/>
                </a:ext>
              </a:extLst>
            </p:cNvPr>
            <p:cNvSpPr/>
            <p:nvPr/>
          </p:nvSpPr>
          <p:spPr>
            <a:xfrm>
              <a:off x="10160214" y="2605713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3F42058C-40DD-784B-0477-215EA5AF14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9279" y="3074708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B92E5D59-9533-93A7-2731-6AB053C72F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20D083D2-B81B-15DB-5B3F-14074A935735}"/>
                </a:ext>
              </a:extLst>
            </p:cNvPr>
            <p:cNvSpPr/>
            <p:nvPr/>
          </p:nvSpPr>
          <p:spPr>
            <a:xfrm>
              <a:off x="10010797" y="3440106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4.4.7</a:t>
              </a:r>
              <a:endParaRPr lang="en-US" sz="1050" dirty="0"/>
            </a:p>
          </p:txBody>
        </p:sp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F5A346F-AADD-314C-9B64-F435F3B1DF95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4C39D654-783E-6B25-0C8C-63CF6C2FC3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DE39C86-C93F-8F1C-C491-A9257BB20607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rgbClr val="B9B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Hypervisor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DFC6903-86D0-A55A-6D34-F1E632D8A265}"/>
              </a:ext>
            </a:extLst>
          </p:cNvPr>
          <p:cNvGrpSpPr/>
          <p:nvPr/>
        </p:nvGrpSpPr>
        <p:grpSpPr>
          <a:xfrm>
            <a:off x="5877903" y="1026543"/>
            <a:ext cx="5875346" cy="4200070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198E039-2AFC-5D59-4C81-0A3D1BECB48F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34933CF-C0E7-048B-4E27-3C63DF73E7F1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53165AC-A6C0-FE0E-1D2D-E08A1710EE61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89324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1FD07-85A1-EB78-5F46-DBA422810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18D5FB-DE50-D817-649D-8891AF3E6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container?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4DFDB5-34DA-CF7A-2129-1F30E3BC05C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Isolated environment that emulates a physical machine</a:t>
            </a:r>
          </a:p>
          <a:p>
            <a:r>
              <a:rPr lang="en-US" dirty="0"/>
              <a:t>Each container shares the host kernel</a:t>
            </a:r>
          </a:p>
          <a:p>
            <a:r>
              <a:rPr lang="en-US" dirty="0"/>
              <a:t>Isolation enforced by software</a:t>
            </a:r>
          </a:p>
          <a:p>
            <a:pPr lvl="1"/>
            <a:r>
              <a:rPr lang="en-US" dirty="0"/>
              <a:t>Namespaces and </a:t>
            </a:r>
            <a:r>
              <a:rPr lang="en-US" dirty="0" err="1"/>
              <a:t>cgroups</a:t>
            </a:r>
            <a:r>
              <a:rPr lang="en-US" dirty="0"/>
              <a:t> in the Linux kernel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A69647D-F401-B7B6-0B18-F06C2FD68EF4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2BF61166-92AF-C629-1927-919B11370055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8BDCD8F-6160-5AEF-3BC1-5DF07D312C6B}"/>
                </a:ext>
              </a:extLst>
            </p:cNvPr>
            <p:cNvGrpSpPr/>
            <p:nvPr/>
          </p:nvGrpSpPr>
          <p:grpSpPr>
            <a:xfrm>
              <a:off x="5241416" y="3228509"/>
              <a:ext cx="1532791" cy="779658"/>
              <a:chOff x="5241416" y="3228509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CE956420-E1C5-D4A2-7BDE-23FD8A3FBF09}"/>
                  </a:ext>
                </a:extLst>
              </p:cNvPr>
              <p:cNvSpPr/>
              <p:nvPr/>
            </p:nvSpPr>
            <p:spPr>
              <a:xfrm>
                <a:off x="5241416" y="3228509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6D6FF51D-5E15-A343-777D-34E87947BAF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355" y="3697505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E5A833B6-10D7-60EE-5B85-31896879AB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6F9A14-66E8-63B4-F5B5-70654ABC9963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8B001A9-F328-E140-5EB8-C4CC5D686FF3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9973BDFC-D94C-8E53-E3BC-954EA49F13E7}"/>
                </a:ext>
              </a:extLst>
            </p:cNvPr>
            <p:cNvSpPr/>
            <p:nvPr/>
          </p:nvSpPr>
          <p:spPr>
            <a:xfrm>
              <a:off x="8232965" y="3230184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C08D8A0E-CA1D-1C57-DD6E-4721B5FE2F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60113" y="3675199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A345BA9A-4CC2-314A-F50A-AC2F6A491D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D353973-1280-477F-87B1-AEBCF87E0664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2CFF74C2-4200-F0A8-3EC8-044DF0F4F673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B693CB1-DA6A-C88D-A43A-CE816FDAD59A}"/>
                </a:ext>
              </a:extLst>
            </p:cNvPr>
            <p:cNvSpPr/>
            <p:nvPr/>
          </p:nvSpPr>
          <p:spPr>
            <a:xfrm>
              <a:off x="10207907" y="3228509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E3F756F1-4BBE-7285-E6DF-B609E1D69E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26972" y="3697504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00FCD4EE-ABF1-23B2-6D7A-56E48AA8C7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A69FC0D-A29F-357F-894C-50C2318AF6FE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B92B222F-CA25-C93C-52CF-CAD632DE83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2566E8B-ABF8-A11F-E69E-CD81A6F02AAE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Linux kernel 5.4.1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315351F-436E-CCBC-4472-78491CB1BFBD}"/>
              </a:ext>
            </a:extLst>
          </p:cNvPr>
          <p:cNvGrpSpPr/>
          <p:nvPr/>
        </p:nvGrpSpPr>
        <p:grpSpPr>
          <a:xfrm>
            <a:off x="5877903" y="1026543"/>
            <a:ext cx="5875346" cy="3342257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EE3AB60-F6BE-08C0-3C0E-56C4838817AC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CDCD7A2-F7F5-12F6-D36D-AE9C802D6714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07301F4-07B8-49E7-09AA-0DB1F96B819A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96413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FE6ED-5225-8CC5-8FD9-3E4B4BC5E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4089947-549B-F975-F298-5015FE808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container?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73B0D8-2C70-9BE6-D6BF-D9739EC0701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Namespaces partition kernel resources in software</a:t>
            </a:r>
          </a:p>
          <a:p>
            <a:r>
              <a:rPr lang="en-US" dirty="0"/>
              <a:t>E.g., a process can only see the filesystem in its own namespace</a:t>
            </a:r>
          </a:p>
          <a:p>
            <a:r>
              <a:rPr lang="en-US" dirty="0"/>
              <a:t>No hardware instructions executed</a:t>
            </a:r>
          </a:p>
          <a:p>
            <a:r>
              <a:rPr lang="en-US" dirty="0"/>
              <a:t>Useful for packaging software versions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4F13648-7750-EFDD-A13C-B59F0C8C6F8F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55ADE431-DD7E-A85F-B2EB-4529E87E051D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BC458024-1D27-3EE8-511C-1AE4792C36EA}"/>
                </a:ext>
              </a:extLst>
            </p:cNvPr>
            <p:cNvGrpSpPr/>
            <p:nvPr/>
          </p:nvGrpSpPr>
          <p:grpSpPr>
            <a:xfrm>
              <a:off x="5241416" y="3228509"/>
              <a:ext cx="1532791" cy="779658"/>
              <a:chOff x="5241416" y="3228509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10181D5-6387-F3A5-3955-24DF184BC6F7}"/>
                  </a:ext>
                </a:extLst>
              </p:cNvPr>
              <p:cNvSpPr/>
              <p:nvPr/>
            </p:nvSpPr>
            <p:spPr>
              <a:xfrm>
                <a:off x="5241416" y="3228509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B21A42CE-B914-C684-30AC-5BFF73FEBB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355" y="3697505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EFD130A5-1010-9D95-0230-09ED417F8F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15843C8-8C89-8AC6-DB32-6BB9713A9034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BEE79730-90FF-B473-998F-728EDBBBC5CA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653434F3-A177-05D0-8844-02EBE2A15FE9}"/>
                </a:ext>
              </a:extLst>
            </p:cNvPr>
            <p:cNvSpPr/>
            <p:nvPr/>
          </p:nvSpPr>
          <p:spPr>
            <a:xfrm>
              <a:off x="8232965" y="3230184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476D05B3-6EE6-9BB4-9263-80828C0703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60113" y="3675199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F265E939-4906-1AFD-275D-65E0353DDE6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17F58FE-1389-9D1C-B4A8-999EB3D094FC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4DFBB39-E4AE-E493-AF71-0D1E7EFFF5CA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02037789-FCA7-A045-EBD0-77A08FF8299A}"/>
                </a:ext>
              </a:extLst>
            </p:cNvPr>
            <p:cNvSpPr/>
            <p:nvPr/>
          </p:nvSpPr>
          <p:spPr>
            <a:xfrm>
              <a:off x="10207907" y="3228509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7A397081-AB5A-D95F-EECC-5DA178E1E2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26972" y="3697504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BEC7D922-7B38-1315-D006-39E7E37281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57DE14A-79F8-1717-2BCC-445CA45FD193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AC18C01E-6FCB-4806-B634-6F51C5610E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23B2371-3456-DE47-75F4-59C160AFA8C0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Linux kernel 5.4.1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6643C45-5B1D-27F2-7C3B-8883B5B40BD3}"/>
              </a:ext>
            </a:extLst>
          </p:cNvPr>
          <p:cNvGrpSpPr/>
          <p:nvPr/>
        </p:nvGrpSpPr>
        <p:grpSpPr>
          <a:xfrm>
            <a:off x="5877903" y="1026543"/>
            <a:ext cx="5875346" cy="3342257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3063FC9-AF9E-FCBF-25BF-BB28A50E91CD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C5EB49C-803E-862D-869B-248B8AC14232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A93162C-5FF2-0C50-0053-DFF724DE024A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55145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93B7D8D-E1EC-8ED1-7D99-3F71CF25E0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Containers are more lightweight</a:t>
            </a:r>
          </a:p>
          <a:p>
            <a:pPr lvl="1"/>
            <a:r>
              <a:rPr lang="en-US" dirty="0"/>
              <a:t>Switching between containers is done in the OS kernel</a:t>
            </a:r>
          </a:p>
          <a:p>
            <a:pPr lvl="1"/>
            <a:r>
              <a:rPr lang="en-US" dirty="0"/>
              <a:t>Containers </a:t>
            </a:r>
            <a:r>
              <a:rPr lang="en-US" b="1" i="1" dirty="0"/>
              <a:t>share </a:t>
            </a:r>
            <a:r>
              <a:rPr lang="en-US" dirty="0"/>
              <a:t>the OS kernel</a:t>
            </a:r>
          </a:p>
          <a:p>
            <a:pPr lvl="2"/>
            <a:r>
              <a:rPr lang="en-US" dirty="0"/>
              <a:t>Smaller memory footprint than a VM</a:t>
            </a:r>
          </a:p>
          <a:p>
            <a:pPr lvl="2"/>
            <a:r>
              <a:rPr lang="en-US" dirty="0"/>
              <a:t>Limitations – can’t run unsupported containers</a:t>
            </a:r>
          </a:p>
          <a:p>
            <a:r>
              <a:rPr lang="en-US" dirty="0"/>
              <a:t>Containers are less secure</a:t>
            </a:r>
          </a:p>
          <a:p>
            <a:pPr lvl="1"/>
            <a:r>
              <a:rPr lang="en-US" dirty="0"/>
              <a:t>Isolation between containers is maintained by software (the OS kernel)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BCFBED9-530C-E896-8B7A-875D45D63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VMs vs. containers</a:t>
            </a:r>
          </a:p>
        </p:txBody>
      </p:sp>
    </p:spTree>
    <p:extLst>
      <p:ext uri="{BB962C8B-B14F-4D97-AF65-F5344CB8AC3E}">
        <p14:creationId xmlns:p14="http://schemas.microsoft.com/office/powerpoint/2010/main" val="28614487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AD012E1-3C98-F7F6-8C08-DF48848D6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Choice depends on deployment scenario</a:t>
            </a:r>
          </a:p>
          <a:p>
            <a:pPr lvl="1"/>
            <a:r>
              <a:rPr lang="en-US" dirty="0"/>
              <a:t>On self-owned machines, containers are adequate</a:t>
            </a:r>
          </a:p>
          <a:p>
            <a:pPr lvl="2"/>
            <a:r>
              <a:rPr lang="en-US" dirty="0"/>
              <a:t>Personal servers, personal cloud</a:t>
            </a:r>
          </a:p>
          <a:p>
            <a:r>
              <a:rPr lang="en-US" dirty="0"/>
              <a:t>Common choice</a:t>
            </a:r>
          </a:p>
          <a:p>
            <a:pPr lvl="1"/>
            <a:r>
              <a:rPr lang="en-US" dirty="0"/>
              <a:t>Per-tenant VM</a:t>
            </a:r>
          </a:p>
          <a:p>
            <a:pPr lvl="1"/>
            <a:r>
              <a:rPr lang="en-US" dirty="0"/>
              <a:t>Use containers inside VM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B8C9CB-1EFD-8FE2-A35E-A89BB495B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VMs vs. containers</a:t>
            </a:r>
          </a:p>
        </p:txBody>
      </p:sp>
    </p:spTree>
    <p:extLst>
      <p:ext uri="{BB962C8B-B14F-4D97-AF65-F5344CB8AC3E}">
        <p14:creationId xmlns:p14="http://schemas.microsoft.com/office/powerpoint/2010/main" val="11293107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87867-E636-9B5B-F78E-DF5E1C88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FFC7EA-CCA6-9761-F54A-FF99DE2F82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VMs necessary for security on cloud machines</a:t>
            </a:r>
          </a:p>
          <a:p>
            <a:pPr lvl="1"/>
            <a:r>
              <a:rPr lang="en-US" dirty="0"/>
              <a:t>Multiple “tenants” can have their apps running on the same host machine</a:t>
            </a:r>
          </a:p>
          <a:p>
            <a:pPr lvl="1"/>
            <a:r>
              <a:rPr lang="en-US" dirty="0"/>
              <a:t>Needs stronger isolation between them</a:t>
            </a:r>
          </a:p>
          <a:p>
            <a:pPr lvl="1"/>
            <a:r>
              <a:rPr lang="en-US" dirty="0"/>
              <a:t>AWS cloud, Google cloud, etc.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A314C25-9AB7-7A01-DAD6-B584CADDC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VMs vs. containers</a:t>
            </a:r>
          </a:p>
        </p:txBody>
      </p:sp>
    </p:spTree>
    <p:extLst>
      <p:ext uri="{BB962C8B-B14F-4D97-AF65-F5344CB8AC3E}">
        <p14:creationId xmlns:p14="http://schemas.microsoft.com/office/powerpoint/2010/main" val="5974425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931DA2-A2C8-24FA-664C-C58E7065E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cloud setup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BE8ABAB-1A81-26C2-F534-02D76B3FF75D}"/>
              </a:ext>
            </a:extLst>
          </p:cNvPr>
          <p:cNvSpPr/>
          <p:nvPr/>
        </p:nvSpPr>
        <p:spPr>
          <a:xfrm>
            <a:off x="3379470" y="1554856"/>
            <a:ext cx="1725701" cy="2680669"/>
          </a:xfrm>
          <a:prstGeom prst="roundRect">
            <a:avLst/>
          </a:prstGeom>
          <a:solidFill>
            <a:schemeClr val="accent4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E7E444F-7E43-AC6A-CE37-F8FCF47924EF}"/>
              </a:ext>
            </a:extLst>
          </p:cNvPr>
          <p:cNvGrpSpPr/>
          <p:nvPr/>
        </p:nvGrpSpPr>
        <p:grpSpPr>
          <a:xfrm>
            <a:off x="5310220" y="1551137"/>
            <a:ext cx="1702776" cy="2680669"/>
            <a:chOff x="8034856" y="1454270"/>
            <a:chExt cx="1702776" cy="268066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35E4CF0-01FE-D9E0-DCE5-9ACE4C5F7635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E9B87D3D-0D13-81E3-FF00-F22B14894BC6}"/>
                </a:ext>
              </a:extLst>
            </p:cNvPr>
            <p:cNvSpPr/>
            <p:nvPr/>
          </p:nvSpPr>
          <p:spPr>
            <a:xfrm>
              <a:off x="8129999" y="3418787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6.0.2</a:t>
              </a:r>
              <a:endParaRPr lang="en-US" sz="105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EBC5100-9AFC-9C35-C5A1-6F1B39DD66EA}"/>
              </a:ext>
            </a:extLst>
          </p:cNvPr>
          <p:cNvGrpSpPr/>
          <p:nvPr/>
        </p:nvGrpSpPr>
        <p:grpSpPr>
          <a:xfrm>
            <a:off x="7135637" y="1551137"/>
            <a:ext cx="1713320" cy="2680669"/>
            <a:chOff x="9906000" y="1454271"/>
            <a:chExt cx="1713320" cy="2680669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32A01C2D-4B30-8A1A-D0CE-7AC6DBC97A0D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0E29C49C-37C6-8889-F101-2EB204979F62}"/>
                </a:ext>
              </a:extLst>
            </p:cNvPr>
            <p:cNvSpPr/>
            <p:nvPr/>
          </p:nvSpPr>
          <p:spPr>
            <a:xfrm>
              <a:off x="10010797" y="3440106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4.4.7</a:t>
              </a:r>
              <a:endParaRPr lang="en-US" sz="1050" dirty="0"/>
            </a:p>
          </p:txBody>
        </p:sp>
      </p:grp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3E2E01C-0907-C7FA-B519-E41046BD5C3C}"/>
              </a:ext>
            </a:extLst>
          </p:cNvPr>
          <p:cNvSpPr/>
          <p:nvPr/>
        </p:nvSpPr>
        <p:spPr>
          <a:xfrm>
            <a:off x="3303791" y="5068670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62CC45EC-9940-AA3D-0647-B196D9AA26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2795" y="5068670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0F5AA015-51BE-1F8B-F567-12F28E2D31A1}"/>
              </a:ext>
            </a:extLst>
          </p:cNvPr>
          <p:cNvSpPr/>
          <p:nvPr/>
        </p:nvSpPr>
        <p:spPr>
          <a:xfrm>
            <a:off x="3296351" y="4368574"/>
            <a:ext cx="5561886" cy="656493"/>
          </a:xfrm>
          <a:prstGeom prst="roundRect">
            <a:avLst/>
          </a:prstGeom>
          <a:solidFill>
            <a:srgbClr val="B9B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Hypervisor</a:t>
            </a:r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D4CC059-7875-B9DB-CD3C-E718F763FEE1}"/>
              </a:ext>
            </a:extLst>
          </p:cNvPr>
          <p:cNvGrpSpPr/>
          <p:nvPr/>
        </p:nvGrpSpPr>
        <p:grpSpPr>
          <a:xfrm>
            <a:off x="3158767" y="1411704"/>
            <a:ext cx="5875346" cy="4007413"/>
            <a:chOff x="5877903" y="1187326"/>
            <a:chExt cx="5875346" cy="3344417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AAB41B25-0909-E2D5-196E-199E60E8B141}"/>
                </a:ext>
              </a:extLst>
            </p:cNvPr>
            <p:cNvSpPr/>
            <p:nvPr/>
          </p:nvSpPr>
          <p:spPr>
            <a:xfrm>
              <a:off x="5877903" y="1187327"/>
              <a:ext cx="2034314" cy="3344416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8265EB0-B28B-629A-3F3D-9D915DBC7D59}"/>
                </a:ext>
              </a:extLst>
            </p:cNvPr>
            <p:cNvSpPr/>
            <p:nvPr/>
          </p:nvSpPr>
          <p:spPr>
            <a:xfrm>
              <a:off x="7900039" y="1187326"/>
              <a:ext cx="1930229" cy="3344417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F59F5C0-EB58-DBDE-772C-9C56F9E3E4DE}"/>
                </a:ext>
              </a:extLst>
            </p:cNvPr>
            <p:cNvSpPr/>
            <p:nvPr/>
          </p:nvSpPr>
          <p:spPr>
            <a:xfrm>
              <a:off x="9823020" y="1187326"/>
              <a:ext cx="1930229" cy="3344417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AD4B587-EB3C-E043-68DC-4F9D019E78BB}"/>
              </a:ext>
            </a:extLst>
          </p:cNvPr>
          <p:cNvSpPr/>
          <p:nvPr/>
        </p:nvSpPr>
        <p:spPr>
          <a:xfrm>
            <a:off x="3453017" y="3482704"/>
            <a:ext cx="1532791" cy="65649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Linux kernel</a:t>
            </a:r>
            <a:b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</a:br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5.11.1</a:t>
            </a:r>
            <a:endParaRPr lang="en-US" sz="1050" dirty="0"/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04FFE422-D811-29D7-62B6-C8B19BE5150E}"/>
              </a:ext>
            </a:extLst>
          </p:cNvPr>
          <p:cNvSpPr/>
          <p:nvPr/>
        </p:nvSpPr>
        <p:spPr>
          <a:xfrm>
            <a:off x="3537284" y="1676023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Python</a:t>
            </a: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68FADD09-A788-9146-F586-FA17D7E83FEE}"/>
              </a:ext>
            </a:extLst>
          </p:cNvPr>
          <p:cNvSpPr/>
          <p:nvPr/>
        </p:nvSpPr>
        <p:spPr>
          <a:xfrm>
            <a:off x="3546457" y="2453683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NodeJS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ACBD5C7B-2E1E-0532-F6B3-F9933B542876}"/>
              </a:ext>
            </a:extLst>
          </p:cNvPr>
          <p:cNvSpPr/>
          <p:nvPr/>
        </p:nvSpPr>
        <p:spPr>
          <a:xfrm>
            <a:off x="5442526" y="1676023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Python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6A8E4806-D137-2372-3ACA-BD954AB88D66}"/>
              </a:ext>
            </a:extLst>
          </p:cNvPr>
          <p:cNvSpPr/>
          <p:nvPr/>
        </p:nvSpPr>
        <p:spPr>
          <a:xfrm>
            <a:off x="5425340" y="2453682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Python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F8406443-014F-AB75-5CEB-E011105E110E}"/>
              </a:ext>
            </a:extLst>
          </p:cNvPr>
          <p:cNvSpPr/>
          <p:nvPr/>
        </p:nvSpPr>
        <p:spPr>
          <a:xfrm>
            <a:off x="7228271" y="1646185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Rust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399D2630-7C13-F670-7C7E-8F435BA9949B}"/>
              </a:ext>
            </a:extLst>
          </p:cNvPr>
          <p:cNvSpPr/>
          <p:nvPr/>
        </p:nvSpPr>
        <p:spPr>
          <a:xfrm>
            <a:off x="7228271" y="2482516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Rust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B31BED-C42D-5A57-8ACD-8F041384D526}"/>
              </a:ext>
            </a:extLst>
          </p:cNvPr>
          <p:cNvSpPr txBox="1"/>
          <p:nvPr/>
        </p:nvSpPr>
        <p:spPr>
          <a:xfrm>
            <a:off x="3433798" y="898505"/>
            <a:ext cx="16945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Tenant1 VM</a:t>
            </a:r>
            <a:endParaRPr lang="en-US" sz="1400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A5C3DB4-63BB-F3C1-809F-6F609D4547CE}"/>
              </a:ext>
            </a:extLst>
          </p:cNvPr>
          <p:cNvSpPr txBox="1"/>
          <p:nvPr/>
        </p:nvSpPr>
        <p:spPr>
          <a:xfrm>
            <a:off x="5283969" y="886648"/>
            <a:ext cx="16945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Tenant2 VM</a:t>
            </a:r>
            <a:endParaRPr lang="en-US" sz="1400" i="1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B4906AE-63FB-AD12-82F8-81D269F827C5}"/>
              </a:ext>
            </a:extLst>
          </p:cNvPr>
          <p:cNvSpPr txBox="1"/>
          <p:nvPr/>
        </p:nvSpPr>
        <p:spPr>
          <a:xfrm>
            <a:off x="7186864" y="876443"/>
            <a:ext cx="21993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i="1"/>
              <a:t>Tenant3 VM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1285021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C8C72BD-B095-7F22-85BE-23BDAFBCE3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009A11-3B6C-B198-908B-90E3C4A43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machine demo</a:t>
            </a:r>
          </a:p>
        </p:txBody>
      </p:sp>
    </p:spTree>
    <p:extLst>
      <p:ext uri="{BB962C8B-B14F-4D97-AF65-F5344CB8AC3E}">
        <p14:creationId xmlns:p14="http://schemas.microsoft.com/office/powerpoint/2010/main" val="2741253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105889-1EF2-F038-3649-365FD63BE0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Goal: Match compute capacity to demand automatically.</a:t>
            </a:r>
          </a:p>
          <a:p>
            <a:r>
              <a:rPr lang="en-US" dirty="0"/>
              <a:t>Definition: Autoscaling adjusts the number of running virtual machines (VMs) based on metrics like CPU usage, memory, or request rate.</a:t>
            </a:r>
          </a:p>
          <a:p>
            <a:r>
              <a:rPr lang="en-US" dirty="0"/>
              <a:t>Why it matters:</a:t>
            </a:r>
          </a:p>
          <a:p>
            <a:pPr lvl="1"/>
            <a:r>
              <a:rPr lang="en-US" dirty="0"/>
              <a:t>Optimizes performance under varying load</a:t>
            </a:r>
          </a:p>
          <a:p>
            <a:pPr lvl="1"/>
            <a:r>
              <a:rPr lang="en-US" dirty="0"/>
              <a:t>Reduces costs by deallocating idle resources</a:t>
            </a:r>
          </a:p>
          <a:p>
            <a:pPr lvl="1"/>
            <a:r>
              <a:rPr lang="en-US" dirty="0"/>
              <a:t>Improves resilience and fault tolerance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10FC0E2-5717-8900-DD74-952F117B0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Autoscaling</a:t>
            </a:r>
          </a:p>
        </p:txBody>
      </p:sp>
    </p:spTree>
    <p:extLst>
      <p:ext uri="{BB962C8B-B14F-4D97-AF65-F5344CB8AC3E}">
        <p14:creationId xmlns:p14="http://schemas.microsoft.com/office/powerpoint/2010/main" val="31407027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00BDDE2-95B4-C044-26E6-EF45B5CA74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Core Components</a:t>
            </a:r>
          </a:p>
          <a:p>
            <a:pPr lvl="1"/>
            <a:r>
              <a:rPr lang="en-US" dirty="0"/>
              <a:t>Monitoring &amp; Metrics: Tracks performance indicators (CPU, latency, queue length)</a:t>
            </a:r>
          </a:p>
          <a:p>
            <a:pPr lvl="1"/>
            <a:r>
              <a:rPr lang="en-US" dirty="0"/>
              <a:t>Scaling Policies: Rules define when to add or remove VMs (threshold-based, scheduled, or predictive)</a:t>
            </a:r>
          </a:p>
          <a:p>
            <a:pPr lvl="1"/>
            <a:r>
              <a:rPr lang="en-US" dirty="0"/>
              <a:t>Load Balancing: Distributes traffic evenly across instances</a:t>
            </a:r>
          </a:p>
          <a:p>
            <a:r>
              <a:rPr lang="en-US" dirty="0"/>
              <a:t>Lifecycle</a:t>
            </a:r>
          </a:p>
          <a:p>
            <a:pPr lvl="1"/>
            <a:r>
              <a:rPr lang="en-US" dirty="0"/>
              <a:t>Monitor → Trigger Policy → Provision/Terminate VM → Rebalance Traffic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906A3FD-1E99-795E-FAA3-761BDB153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Autoscaling Works</a:t>
            </a:r>
          </a:p>
        </p:txBody>
      </p:sp>
    </p:spTree>
    <p:extLst>
      <p:ext uri="{BB962C8B-B14F-4D97-AF65-F5344CB8AC3E}">
        <p14:creationId xmlns:p14="http://schemas.microsoft.com/office/powerpoint/2010/main" val="8713072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E05B1C1-5892-5ED2-8A00-CCC602A77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Cloud Providers</a:t>
            </a:r>
          </a:p>
          <a:p>
            <a:pPr lvl="1"/>
            <a:r>
              <a:rPr lang="en-US" dirty="0"/>
              <a:t>AWS Auto Scaling: Works with EC2 instances, supports target tracking (e.g., keep CPU at 60%)</a:t>
            </a:r>
          </a:p>
          <a:p>
            <a:pPr lvl="1"/>
            <a:r>
              <a:rPr lang="en-US" dirty="0"/>
              <a:t>Azure VM Scale Sets (VMSS): </a:t>
            </a:r>
            <a:r>
              <a:rPr lang="en-US" dirty="0" err="1"/>
              <a:t>Autoscale</a:t>
            </a:r>
            <a:r>
              <a:rPr lang="en-US" dirty="0"/>
              <a:t> based on custom metrics or schedules</a:t>
            </a:r>
          </a:p>
          <a:p>
            <a:pPr lvl="1"/>
            <a:r>
              <a:rPr lang="en-US" dirty="0"/>
              <a:t>Google Compute Engine </a:t>
            </a:r>
            <a:r>
              <a:rPr lang="en-US" dirty="0" err="1"/>
              <a:t>Autoscaler</a:t>
            </a:r>
            <a:r>
              <a:rPr lang="en-US" dirty="0"/>
              <a:t>: Integrates with </a:t>
            </a:r>
            <a:r>
              <a:rPr lang="en-US" dirty="0" err="1"/>
              <a:t>Stackdriver</a:t>
            </a:r>
            <a:r>
              <a:rPr lang="en-US" dirty="0"/>
              <a:t> metrics, supports predictive scaling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CC0424-7146-6047-6C02-BF8DC4402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Real-World Frameworks &amp; Services</a:t>
            </a:r>
          </a:p>
        </p:txBody>
      </p:sp>
    </p:spTree>
    <p:extLst>
      <p:ext uri="{BB962C8B-B14F-4D97-AF65-F5344CB8AC3E}">
        <p14:creationId xmlns:p14="http://schemas.microsoft.com/office/powerpoint/2010/main" val="5063599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F42F63-1929-D31C-176E-B5D30E138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Cold start time for VM provisioning</a:t>
            </a:r>
          </a:p>
          <a:p>
            <a:r>
              <a:rPr lang="en-US" dirty="0"/>
              <a:t>Maintaining stateful workloads</a:t>
            </a:r>
          </a:p>
          <a:p>
            <a:r>
              <a:rPr lang="en-US" dirty="0"/>
              <a:t>Over-provisioning from poor metric tuning</a:t>
            </a:r>
          </a:p>
          <a:p>
            <a:r>
              <a:rPr lang="en-US" dirty="0"/>
              <a:t>How to shutdown?</a:t>
            </a:r>
          </a:p>
          <a:p>
            <a:pPr lvl="1"/>
            <a:r>
              <a:rPr lang="en-US" dirty="0"/>
              <a:t>Graceful shutdowns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08C138-6FAE-DA79-0F8B-593F9029C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</p:spTree>
    <p:extLst>
      <p:ext uri="{BB962C8B-B14F-4D97-AF65-F5344CB8AC3E}">
        <p14:creationId xmlns:p14="http://schemas.microsoft.com/office/powerpoint/2010/main" val="32007054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81A6B8-8DCD-3334-C739-D9C1CB1E00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37C3ED-ECBB-F3D0-3D8D-1C17FEA9BF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</p:spTree>
    <p:extLst>
      <p:ext uri="{BB962C8B-B14F-4D97-AF65-F5344CB8AC3E}">
        <p14:creationId xmlns:p14="http://schemas.microsoft.com/office/powerpoint/2010/main" val="38131574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4A86C60-006B-E8A9-3C15-EE1C812D67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Sample midterm question</a:t>
            </a:r>
          </a:p>
          <a:p>
            <a:r>
              <a:rPr lang="en-US" dirty="0"/>
              <a:t>Software architecture styles</a:t>
            </a:r>
          </a:p>
          <a:p>
            <a:r>
              <a:rPr lang="en-US" dirty="0"/>
              <a:t>Spring Boot Demo</a:t>
            </a:r>
          </a:p>
          <a:p>
            <a:r>
              <a:rPr lang="en-US" dirty="0"/>
              <a:t>Continuous Integration</a:t>
            </a:r>
          </a:p>
          <a:p>
            <a:r>
              <a:rPr lang="en-US" dirty="0"/>
              <a:t>Autoscaling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89AB9E6-2D28-A812-F355-9573E6E89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576FEFE-7E78-D0F2-B8E4-1FE2101695ED}"/>
              </a:ext>
            </a:extLst>
          </p:cNvPr>
          <p:cNvCxnSpPr>
            <a:cxnSpLocks/>
          </p:cNvCxnSpPr>
          <p:nvPr/>
        </p:nvCxnSpPr>
        <p:spPr>
          <a:xfrm>
            <a:off x="0" y="2032000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22068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3302F19-3947-0FD3-9D67-AC1BF8CFD9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https://docs.google.com/document/d/1Z9MUMv_GZ9PatPVSs_Mz4sK1u8f00drgCTtbRrpFbVs/edit?usp=sharing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391F0A-EDE2-D804-170D-D475CA169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midterm question</a:t>
            </a:r>
          </a:p>
        </p:txBody>
      </p:sp>
    </p:spTree>
    <p:extLst>
      <p:ext uri="{BB962C8B-B14F-4D97-AF65-F5344CB8AC3E}">
        <p14:creationId xmlns:p14="http://schemas.microsoft.com/office/powerpoint/2010/main" val="4294964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ACDEA-4E3D-1948-71B2-E6FE363C6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B68B3DE-6BBF-310E-619A-D6E7D7711D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AF26236-2052-7B7D-E993-6EE609762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9072E8-EF32-0D52-639C-B00C60604AEF}"/>
              </a:ext>
            </a:extLst>
          </p:cNvPr>
          <p:cNvSpPr/>
          <p:nvPr/>
        </p:nvSpPr>
        <p:spPr>
          <a:xfrm>
            <a:off x="2739131" y="2967335"/>
            <a:ext cx="6713762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Software architecture styles</a:t>
            </a:r>
            <a:endParaRPr lang="en-US" sz="44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1011118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C5DF4C-643A-0D2D-0575-C378CA175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Client-server</a:t>
            </a:r>
          </a:p>
          <a:p>
            <a:r>
              <a:rPr lang="en-US" dirty="0"/>
              <a:t>Microservices</a:t>
            </a:r>
          </a:p>
          <a:p>
            <a:r>
              <a:rPr lang="en-US" dirty="0" err="1"/>
              <a:t>FaaS</a:t>
            </a:r>
            <a:r>
              <a:rPr lang="en-US" dirty="0"/>
              <a:t> frameworks </a:t>
            </a:r>
          </a:p>
          <a:p>
            <a:r>
              <a:rPr lang="en-US" dirty="0"/>
              <a:t>RPC</a:t>
            </a:r>
          </a:p>
          <a:p>
            <a:r>
              <a:rPr lang="en-US" dirty="0"/>
              <a:t>Message Queue</a:t>
            </a:r>
          </a:p>
          <a:p>
            <a:r>
              <a:rPr lang="en-US" dirty="0"/>
              <a:t>Pub-sub</a:t>
            </a:r>
          </a:p>
          <a:p>
            <a:r>
              <a:rPr lang="en-US" dirty="0" err="1"/>
              <a:t>Misc</a:t>
            </a:r>
            <a:r>
              <a:rPr lang="en-US" dirty="0"/>
              <a:t> topics</a:t>
            </a:r>
          </a:p>
          <a:p>
            <a:pPr lvl="1"/>
            <a:r>
              <a:rPr lang="en-US" dirty="0"/>
              <a:t>Continuous deployment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E7DFDF-5059-9FFA-2C39-6496578B7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Popular software architecture styles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C7BB4DA-73A7-D656-49B6-5994D8FC6B75}"/>
              </a:ext>
            </a:extLst>
          </p:cNvPr>
          <p:cNvGrpSpPr/>
          <p:nvPr/>
        </p:nvGrpSpPr>
        <p:grpSpPr>
          <a:xfrm>
            <a:off x="5345721" y="785005"/>
            <a:ext cx="5898596" cy="1691496"/>
            <a:chOff x="4056185" y="785004"/>
            <a:chExt cx="5898596" cy="2251273"/>
          </a:xfrm>
        </p:grpSpPr>
        <p:sp>
          <p:nvSpPr>
            <p:cNvPr id="6" name="Right Brace 5">
              <a:extLst>
                <a:ext uri="{FF2B5EF4-FFF2-40B4-BE49-F238E27FC236}">
                  <a16:creationId xmlns:a16="http://schemas.microsoft.com/office/drawing/2014/main" id="{34B8D5D1-A406-6B58-83E5-9C27D0D81F37}"/>
                </a:ext>
              </a:extLst>
            </p:cNvPr>
            <p:cNvSpPr/>
            <p:nvPr/>
          </p:nvSpPr>
          <p:spPr>
            <a:xfrm>
              <a:off x="4056185" y="785004"/>
              <a:ext cx="773723" cy="2251273"/>
            </a:xfrm>
            <a:prstGeom prst="rightBrace">
              <a:avLst/>
            </a:prstGeom>
            <a:ln w="3492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5833AEB-4B1A-DFDD-6B63-0E129E4F65DD}"/>
                </a:ext>
              </a:extLst>
            </p:cNvPr>
            <p:cNvSpPr txBox="1"/>
            <p:nvPr/>
          </p:nvSpPr>
          <p:spPr>
            <a:xfrm>
              <a:off x="5029202" y="1560887"/>
              <a:ext cx="49255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How software code is organized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1345900-68C5-B1BC-66DE-222C4981B449}"/>
              </a:ext>
            </a:extLst>
          </p:cNvPr>
          <p:cNvGrpSpPr/>
          <p:nvPr/>
        </p:nvGrpSpPr>
        <p:grpSpPr>
          <a:xfrm>
            <a:off x="5345721" y="2794552"/>
            <a:ext cx="5195263" cy="1803398"/>
            <a:chOff x="4056185" y="785004"/>
            <a:chExt cx="5195263" cy="1254811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9A8F9FB9-C183-CB71-0C62-7A87A2887D84}"/>
                </a:ext>
              </a:extLst>
            </p:cNvPr>
            <p:cNvSpPr/>
            <p:nvPr/>
          </p:nvSpPr>
          <p:spPr>
            <a:xfrm>
              <a:off x="4056185" y="785004"/>
              <a:ext cx="773723" cy="1254811"/>
            </a:xfrm>
            <a:prstGeom prst="rightBrace">
              <a:avLst/>
            </a:prstGeom>
            <a:ln w="3492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2539D64-7142-6D58-4C32-80BBDACCF60C}"/>
                </a:ext>
              </a:extLst>
            </p:cNvPr>
            <p:cNvSpPr txBox="1"/>
            <p:nvPr/>
          </p:nvSpPr>
          <p:spPr>
            <a:xfrm>
              <a:off x="5029202" y="935355"/>
              <a:ext cx="4222246" cy="954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How different components </a:t>
              </a:r>
            </a:p>
            <a:p>
              <a:r>
                <a:rPr lang="en-US" sz="2800" b="1" i="1" dirty="0"/>
                <a:t>communicate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183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58100-9B53-6641-2EEB-69300A4E4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've tested over 59 laptops: this is the best laptop of 2024 | Mashable">
            <a:extLst>
              <a:ext uri="{FF2B5EF4-FFF2-40B4-BE49-F238E27FC236}">
                <a16:creationId xmlns:a16="http://schemas.microsoft.com/office/drawing/2014/main" id="{D0C30C6E-5B21-52F1-06E5-B0B072FED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03" r="18906" b="1"/>
          <a:stretch/>
        </p:blipFill>
        <p:spPr bwMode="auto">
          <a:xfrm>
            <a:off x="6374633" y="2789282"/>
            <a:ext cx="1428248" cy="1279435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EE83E43-C6EE-5FB4-A70A-BCC494E90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 wrap="square" anchor="b">
            <a:normAutofit/>
          </a:bodyPr>
          <a:lstStyle/>
          <a:p>
            <a:r>
              <a:rPr lang="en-US" dirty="0"/>
              <a:t>Client server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54F2BC-A732-3C89-BCC6-F1536155FA2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 wrap="square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US" dirty="0"/>
              <a:t>A distributed computing model where the client and server interact to fulfill requests</a:t>
            </a:r>
          </a:p>
          <a:p>
            <a:pPr>
              <a:lnSpc>
                <a:spcPct val="110000"/>
              </a:lnSpc>
            </a:pPr>
            <a:r>
              <a:rPr lang="en-US" dirty="0"/>
              <a:t>The client initiates requests, and the server processes them and sends back responses</a:t>
            </a:r>
          </a:p>
        </p:txBody>
      </p:sp>
      <p:pic>
        <p:nvPicPr>
          <p:cNvPr id="1028" name="Picture 4" descr="Server Png Images - Free Download on Freepik">
            <a:extLst>
              <a:ext uri="{FF2B5EF4-FFF2-40B4-BE49-F238E27FC236}">
                <a16:creationId xmlns:a16="http://schemas.microsoft.com/office/drawing/2014/main" id="{9F1F949E-C286-124B-26FB-6CA8B44B04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15475" y="1857824"/>
            <a:ext cx="2900812" cy="2900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FEFFABE8-44EE-2EE7-2935-073AE07A26FA}"/>
              </a:ext>
            </a:extLst>
          </p:cNvPr>
          <p:cNvSpPr/>
          <p:nvPr/>
        </p:nvSpPr>
        <p:spPr>
          <a:xfrm>
            <a:off x="7985760" y="278928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6BEFC35-2D3F-0A1F-1A81-30DC64B39F7F}"/>
              </a:ext>
            </a:extLst>
          </p:cNvPr>
          <p:cNvSpPr/>
          <p:nvPr/>
        </p:nvSpPr>
        <p:spPr>
          <a:xfrm rot="10800000">
            <a:off x="7974832" y="3550920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D85AEE-ADB9-0DFF-592C-B1316CE18D2E}"/>
              </a:ext>
            </a:extLst>
          </p:cNvPr>
          <p:cNvSpPr txBox="1"/>
          <p:nvPr/>
        </p:nvSpPr>
        <p:spPr>
          <a:xfrm>
            <a:off x="6571692" y="4758636"/>
            <a:ext cx="10341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Client</a:t>
            </a:r>
            <a:endParaRPr lang="en-US" b="1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EBB582-7A72-C3C6-24D6-0DB1FA54245B}"/>
              </a:ext>
            </a:extLst>
          </p:cNvPr>
          <p:cNvSpPr txBox="1"/>
          <p:nvPr/>
        </p:nvSpPr>
        <p:spPr>
          <a:xfrm>
            <a:off x="10448816" y="4758636"/>
            <a:ext cx="11287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Server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95949256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6BC8B-B6FF-4369-70FB-98CF198E9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've tested over 59 laptops: this is the best laptop of 2024 | Mashable">
            <a:extLst>
              <a:ext uri="{FF2B5EF4-FFF2-40B4-BE49-F238E27FC236}">
                <a16:creationId xmlns:a16="http://schemas.microsoft.com/office/drawing/2014/main" id="{919C4DC6-AC00-7486-0734-77D9622C3B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03" r="18906" b="1"/>
          <a:stretch/>
        </p:blipFill>
        <p:spPr bwMode="auto">
          <a:xfrm>
            <a:off x="6374633" y="2789282"/>
            <a:ext cx="1428248" cy="1279435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78C6C79-7EA5-9523-5474-0CAC9AF01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 wrap="square" anchor="b">
            <a:normAutofit/>
          </a:bodyPr>
          <a:lstStyle/>
          <a:p>
            <a:r>
              <a:rPr lang="en-US" dirty="0"/>
              <a:t>Client server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AEBF64D-8293-2562-ECED-673C7062DA0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 wrap="square" anchor="t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lang="en-US" sz="3200" dirty="0"/>
              <a:t>Centralized Control: Servers manage data and business logic centrally</a:t>
            </a:r>
          </a:p>
          <a:p>
            <a:pPr>
              <a:lnSpc>
                <a:spcPct val="110000"/>
              </a:lnSpc>
            </a:pPr>
            <a:r>
              <a:rPr lang="en-US" sz="3200" dirty="0"/>
              <a:t>Clients provide user interfaces, interacting with the server over a network</a:t>
            </a:r>
          </a:p>
          <a:p>
            <a:pPr>
              <a:lnSpc>
                <a:spcPct val="110000"/>
              </a:lnSpc>
            </a:pPr>
            <a:r>
              <a:rPr lang="en-US" sz="3200" dirty="0"/>
              <a:t>Single server</a:t>
            </a:r>
          </a:p>
          <a:p>
            <a:pPr>
              <a:lnSpc>
                <a:spcPct val="110000"/>
              </a:lnSpc>
            </a:pPr>
            <a:r>
              <a:rPr lang="en-US" sz="3200" b="1" i="1" dirty="0"/>
              <a:t>Large monolithic</a:t>
            </a:r>
            <a:r>
              <a:rPr lang="en-US" sz="3200" dirty="0"/>
              <a:t> application</a:t>
            </a:r>
          </a:p>
        </p:txBody>
      </p:sp>
      <p:pic>
        <p:nvPicPr>
          <p:cNvPr id="1028" name="Picture 4" descr="Server Png Images - Free Download on Freepik">
            <a:extLst>
              <a:ext uri="{FF2B5EF4-FFF2-40B4-BE49-F238E27FC236}">
                <a16:creationId xmlns:a16="http://schemas.microsoft.com/office/drawing/2014/main" id="{868E744B-2F22-2713-BD38-756C9E69F3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15475" y="1857824"/>
            <a:ext cx="2900812" cy="2900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11C0FC87-3A63-F880-180D-FD74ED42C8E8}"/>
              </a:ext>
            </a:extLst>
          </p:cNvPr>
          <p:cNvSpPr/>
          <p:nvPr/>
        </p:nvSpPr>
        <p:spPr>
          <a:xfrm>
            <a:off x="7985760" y="278928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D3F8336-C39F-8B30-4068-6BACEF1AA01B}"/>
              </a:ext>
            </a:extLst>
          </p:cNvPr>
          <p:cNvSpPr/>
          <p:nvPr/>
        </p:nvSpPr>
        <p:spPr>
          <a:xfrm rot="10800000">
            <a:off x="7974832" y="3550920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676C50-5B45-47CD-0F85-17C3821B947D}"/>
              </a:ext>
            </a:extLst>
          </p:cNvPr>
          <p:cNvSpPr txBox="1"/>
          <p:nvPr/>
        </p:nvSpPr>
        <p:spPr>
          <a:xfrm>
            <a:off x="6571692" y="4758636"/>
            <a:ext cx="10341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Client</a:t>
            </a:r>
            <a:endParaRPr lang="en-US" b="1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6F50EB-E4AA-A5E3-BB6D-2A4BAB3F7564}"/>
              </a:ext>
            </a:extLst>
          </p:cNvPr>
          <p:cNvSpPr txBox="1"/>
          <p:nvPr/>
        </p:nvSpPr>
        <p:spPr>
          <a:xfrm>
            <a:off x="10448816" y="4758636"/>
            <a:ext cx="11287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Server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28994294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C58F693-01E1-6C13-B33F-DEDE65667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Client-server architecture examples</a:t>
            </a:r>
          </a:p>
        </p:txBody>
      </p:sp>
      <p:pic>
        <p:nvPicPr>
          <p:cNvPr id="1030" name="Picture 6" descr="Web Server and Its Type - GeeksforGeeks">
            <a:extLst>
              <a:ext uri="{FF2B5EF4-FFF2-40B4-BE49-F238E27FC236}">
                <a16:creationId xmlns:a16="http://schemas.microsoft.com/office/drawing/2014/main" id="{EEAED7C5-8F20-3708-A3C8-CF0851862C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8849" y="1811700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675450-9219-9911-799F-F5BF0F383760}"/>
              </a:ext>
            </a:extLst>
          </p:cNvPr>
          <p:cNvSpPr txBox="1"/>
          <p:nvPr/>
        </p:nvSpPr>
        <p:spPr>
          <a:xfrm>
            <a:off x="2686959" y="4920796"/>
            <a:ext cx="70537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In reality: </a:t>
            </a:r>
            <a:r>
              <a:rPr lang="en-US" sz="3200" dirty="0"/>
              <a:t>Rarely only two-tier these days</a:t>
            </a:r>
            <a:endParaRPr lang="en-US" sz="3200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FE6C7E-39CD-7E67-B1D0-6199EB78ECE8}"/>
              </a:ext>
            </a:extLst>
          </p:cNvPr>
          <p:cNvSpPr txBox="1"/>
          <p:nvPr/>
        </p:nvSpPr>
        <p:spPr>
          <a:xfrm>
            <a:off x="3415387" y="1012401"/>
            <a:ext cx="50688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u="sng" dirty="0"/>
              <a:t>Web browser and web server</a:t>
            </a:r>
          </a:p>
        </p:txBody>
      </p:sp>
    </p:spTree>
    <p:extLst>
      <p:ext uri="{BB962C8B-B14F-4D97-AF65-F5344CB8AC3E}">
        <p14:creationId xmlns:p14="http://schemas.microsoft.com/office/powerpoint/2010/main" val="3985872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3ABC6-57A7-3525-A5D3-A00085E81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55FDF9-36DF-4C11-AA5B-FD011693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server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EAD7375-81F1-DEAC-28D9-2C3976657A8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– Apache httpd</a:t>
            </a:r>
          </a:p>
          <a:p>
            <a:r>
              <a:rPr lang="en-US" dirty="0"/>
              <a:t>Serves HTML and </a:t>
            </a:r>
            <a:r>
              <a:rPr lang="en-US" dirty="0" err="1"/>
              <a:t>Javascript</a:t>
            </a:r>
            <a:r>
              <a:rPr lang="en-US" dirty="0"/>
              <a:t> pages</a:t>
            </a:r>
          </a:p>
          <a:p>
            <a:r>
              <a:rPr lang="en-US" dirty="0"/>
              <a:t>Encapsulates and abstracts </a:t>
            </a:r>
          </a:p>
          <a:p>
            <a:pPr lvl="1"/>
            <a:r>
              <a:rPr lang="en-US" dirty="0"/>
              <a:t>All HTTP protocol parsing</a:t>
            </a:r>
          </a:p>
          <a:p>
            <a:pPr lvl="1"/>
            <a:r>
              <a:rPr lang="en-US" dirty="0"/>
              <a:t>All socket programming code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ACB9616-16A8-98D0-D928-F5AC7A2769AF}"/>
              </a:ext>
            </a:extLst>
          </p:cNvPr>
          <p:cNvGrpSpPr/>
          <p:nvPr/>
        </p:nvGrpSpPr>
        <p:grpSpPr>
          <a:xfrm>
            <a:off x="7556499" y="1460366"/>
            <a:ext cx="4294781" cy="4323694"/>
            <a:chOff x="7556499" y="1460366"/>
            <a:chExt cx="4294781" cy="43236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C70D6D0-500B-662B-5E78-647D31E8A21D}"/>
                </a:ext>
              </a:extLst>
            </p:cNvPr>
            <p:cNvSpPr/>
            <p:nvPr/>
          </p:nvSpPr>
          <p:spPr>
            <a:xfrm>
              <a:off x="7556500" y="1460366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35C19C1-4EA1-51C9-77B1-FDC6474CF005}"/>
                </a:ext>
              </a:extLst>
            </p:cNvPr>
            <p:cNvSpPr/>
            <p:nvPr/>
          </p:nvSpPr>
          <p:spPr>
            <a:xfrm>
              <a:off x="7556500" y="2247765"/>
              <a:ext cx="4294780" cy="120680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4501C95-617F-5F2B-2FB6-7A0B518AEB80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D776A86-0AF0-55DC-179C-AE0C1C5384BC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086AE59-9E94-8816-33CD-90DFC71985E6}"/>
              </a:ext>
            </a:extLst>
          </p:cNvPr>
          <p:cNvSpPr txBox="1"/>
          <p:nvPr/>
        </p:nvSpPr>
        <p:spPr>
          <a:xfrm>
            <a:off x="5415892" y="4011140"/>
            <a:ext cx="168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BDFCA6D8-ACE2-0942-9223-9831B64FC2DF}"/>
              </a:ext>
            </a:extLst>
          </p:cNvPr>
          <p:cNvSpPr/>
          <p:nvPr/>
        </p:nvSpPr>
        <p:spPr>
          <a:xfrm rot="10800000">
            <a:off x="6868906" y="2260023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297155-5CD3-DCAC-7E9C-B8AB7866AAE8}"/>
              </a:ext>
            </a:extLst>
          </p:cNvPr>
          <p:cNvSpPr txBox="1"/>
          <p:nvPr/>
        </p:nvSpPr>
        <p:spPr>
          <a:xfrm>
            <a:off x="5941242" y="1537417"/>
            <a:ext cx="14714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Userspace</a:t>
            </a:r>
            <a:endParaRPr lang="en-US" sz="24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2F34B96-25F0-A9D2-1C6B-903FA3B40E83}"/>
              </a:ext>
            </a:extLst>
          </p:cNvPr>
          <p:cNvSpPr/>
          <p:nvPr/>
        </p:nvSpPr>
        <p:spPr>
          <a:xfrm>
            <a:off x="8143063" y="2247764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Port:80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3638556-479F-F70C-7B79-A22306ED9F30}"/>
              </a:ext>
            </a:extLst>
          </p:cNvPr>
          <p:cNvGrpSpPr/>
          <p:nvPr/>
        </p:nvGrpSpPr>
        <p:grpSpPr>
          <a:xfrm>
            <a:off x="7738329" y="2665966"/>
            <a:ext cx="3729934" cy="1279427"/>
            <a:chOff x="7738329" y="2665966"/>
            <a:chExt cx="3729934" cy="1279427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5DEC658B-FE3E-6907-7545-B0C00F352DCD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7A574175-FD60-8EA5-AD79-49CF7473A9F4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B227517-B37D-34BD-EBC6-451C7A5FB7DB}"/>
                </a:ext>
              </a:extLst>
            </p:cNvPr>
            <p:cNvCxnSpPr>
              <a:cxnSpLocks/>
              <a:stCxn id="15" idx="0"/>
              <a:endCxn id="2" idx="2"/>
            </p:cNvCxnSpPr>
            <p:nvPr/>
          </p:nvCxnSpPr>
          <p:spPr>
            <a:xfrm flipV="1">
              <a:off x="8620316" y="2665966"/>
              <a:ext cx="0" cy="86122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A4FEBD8-E58F-36DE-5896-ACE7433921C6}"/>
              </a:ext>
            </a:extLst>
          </p:cNvPr>
          <p:cNvGrpSpPr/>
          <p:nvPr/>
        </p:nvGrpSpPr>
        <p:grpSpPr>
          <a:xfrm>
            <a:off x="8009398" y="3945393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197FE3A9-7A2C-94C9-94C8-34D248B0D9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89DABEF8-2CBF-D240-C12B-5E1614B2C86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A54201BE-42C0-57C8-23EF-FFD57B3135C9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61A6F355-268F-9E76-4683-CE51387A07DB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3" name="Picture 2">
            <a:extLst>
              <a:ext uri="{FF2B5EF4-FFF2-40B4-BE49-F238E27FC236}">
                <a16:creationId xmlns:a16="http://schemas.microsoft.com/office/drawing/2014/main" id="{9B445058-C067-F798-359D-A8E9A4916D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2579" y="1519542"/>
            <a:ext cx="1114793" cy="5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B8FD8B8-EF2E-AC6E-747F-FEEF18460B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3498" y="156326"/>
            <a:ext cx="3105150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ml file - Free computer icons">
            <a:extLst>
              <a:ext uri="{FF2B5EF4-FFF2-40B4-BE49-F238E27FC236}">
                <a16:creationId xmlns:a16="http://schemas.microsoft.com/office/drawing/2014/main" id="{C2D35BCA-9053-D112-F8B3-FC6DD4E8AA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008" y="334048"/>
            <a:ext cx="1288392" cy="128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Js file - Free files and folders icons">
            <a:extLst>
              <a:ext uri="{FF2B5EF4-FFF2-40B4-BE49-F238E27FC236}">
                <a16:creationId xmlns:a16="http://schemas.microsoft.com/office/drawing/2014/main" id="{FD8124CC-379C-88A2-F182-EDFADDB0B2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31525" y="335131"/>
            <a:ext cx="1260475" cy="1260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87E98FF-9187-747C-39FB-C46F429D4441}"/>
              </a:ext>
            </a:extLst>
          </p:cNvPr>
          <p:cNvSpPr/>
          <p:nvPr/>
        </p:nvSpPr>
        <p:spPr>
          <a:xfrm>
            <a:off x="7556499" y="1519542"/>
            <a:ext cx="4438611" cy="431191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Abstraction</a:t>
            </a:r>
          </a:p>
        </p:txBody>
      </p:sp>
    </p:spTree>
    <p:extLst>
      <p:ext uri="{BB962C8B-B14F-4D97-AF65-F5344CB8AC3E}">
        <p14:creationId xmlns:p14="http://schemas.microsoft.com/office/powerpoint/2010/main" val="1142947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8D03007-4781-55DD-3C65-A065C11C2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Centralized management of data: all data is on the server and can be easily secured</a:t>
            </a:r>
          </a:p>
          <a:p>
            <a:pPr lvl="2"/>
            <a:r>
              <a:rPr lang="en-US" dirty="0"/>
              <a:t>No complex data flows</a:t>
            </a:r>
          </a:p>
          <a:p>
            <a:pPr lvl="1"/>
            <a:r>
              <a:rPr lang="en-US" dirty="0"/>
              <a:t>Separation between client and server business logic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Single point of failure</a:t>
            </a:r>
          </a:p>
          <a:p>
            <a:pPr lvl="1"/>
            <a:r>
              <a:rPr lang="en-US" dirty="0"/>
              <a:t>Poor scaling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946EA62-2F57-0951-ABC0-CFC2F48FB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389583310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CF35C-3439-BB02-91A5-146D309C9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0998FC4-E8AB-3E34-7CFB-572171BB2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Client-server architecture examples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DF06DF0-B77F-1D03-F68D-49A19BA7FC47}"/>
              </a:ext>
            </a:extLst>
          </p:cNvPr>
          <p:cNvGrpSpPr/>
          <p:nvPr/>
        </p:nvGrpSpPr>
        <p:grpSpPr>
          <a:xfrm>
            <a:off x="2040179" y="1713398"/>
            <a:ext cx="8111641" cy="3585429"/>
            <a:chOff x="2040179" y="1713398"/>
            <a:chExt cx="8111641" cy="3585429"/>
          </a:xfrm>
        </p:grpSpPr>
        <p:pic>
          <p:nvPicPr>
            <p:cNvPr id="2052" name="Picture 4" descr="What Is an Email Server? How Does It Work? - IPXO">
              <a:extLst>
                <a:ext uri="{FF2B5EF4-FFF2-40B4-BE49-F238E27FC236}">
                  <a16:creationId xmlns:a16="http://schemas.microsoft.com/office/drawing/2014/main" id="{3ABFC5F1-D528-1D90-9811-0A4AD5F635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40179" y="1713398"/>
              <a:ext cx="8111641" cy="35854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DA8E6950-81BA-3E60-2DA0-A78D34D83A78}"/>
                </a:ext>
              </a:extLst>
            </p:cNvPr>
            <p:cNvSpPr/>
            <p:nvPr/>
          </p:nvSpPr>
          <p:spPr>
            <a:xfrm>
              <a:off x="8510590" y="3856892"/>
              <a:ext cx="1512276" cy="69627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426DAF2C-1918-EA9A-6C89-456C1200F342}"/>
              </a:ext>
            </a:extLst>
          </p:cNvPr>
          <p:cNvSpPr txBox="1"/>
          <p:nvPr/>
        </p:nvSpPr>
        <p:spPr>
          <a:xfrm>
            <a:off x="3550854" y="910801"/>
            <a:ext cx="49752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u="sng" dirty="0"/>
              <a:t>Email client and email server</a:t>
            </a:r>
          </a:p>
        </p:txBody>
      </p:sp>
    </p:spTree>
    <p:extLst>
      <p:ext uri="{BB962C8B-B14F-4D97-AF65-F5344CB8AC3E}">
        <p14:creationId xmlns:p14="http://schemas.microsoft.com/office/powerpoint/2010/main" val="258326229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DE7AF5-F4D9-43DF-14E0-D9D7B700D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Apache Httpd can only serve “static” HTML pages</a:t>
            </a:r>
          </a:p>
          <a:p>
            <a:pPr lvl="1"/>
            <a:r>
              <a:rPr lang="en-US" dirty="0"/>
              <a:t>Same content is served for each request</a:t>
            </a:r>
          </a:p>
          <a:p>
            <a:r>
              <a:rPr lang="en-US" dirty="0"/>
              <a:t>Web is “dynamic”</a:t>
            </a:r>
          </a:p>
          <a:p>
            <a:pPr lvl="1"/>
            <a:r>
              <a:rPr lang="en-US" dirty="0"/>
              <a:t>User uploads something and other users can interact with it</a:t>
            </a:r>
          </a:p>
          <a:p>
            <a:pPr lvl="1"/>
            <a:r>
              <a:rPr lang="en-US" dirty="0"/>
              <a:t>Many technologies</a:t>
            </a:r>
          </a:p>
          <a:p>
            <a:pPr lvl="2"/>
            <a:r>
              <a:rPr lang="en-US" dirty="0"/>
              <a:t>Java servlets, JSP, PHP, Python, NodeJS services, and so 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B490D48-0A90-501B-6EE8-B9038A9DA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servers </a:t>
            </a:r>
            <a:r>
              <a:rPr lang="en-US" sz="1400" dirty="0"/>
              <a:t>(Not in syllabus)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DE46D8-D3A4-4A1B-1AB5-2E3182232A71}"/>
              </a:ext>
            </a:extLst>
          </p:cNvPr>
          <p:cNvSpPr/>
          <p:nvPr/>
        </p:nvSpPr>
        <p:spPr>
          <a:xfrm>
            <a:off x="1078521" y="3927231"/>
            <a:ext cx="1606063" cy="433753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Apache Tomcat ...">
            <a:extLst>
              <a:ext uri="{FF2B5EF4-FFF2-40B4-BE49-F238E27FC236}">
                <a16:creationId xmlns:a16="http://schemas.microsoft.com/office/drawing/2014/main" id="{3EEB9EAE-E3BA-BB9B-F048-8E65B08904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7651" y="500429"/>
            <a:ext cx="2962275" cy="1543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stall SSL certificate on Oracle GlassFish server - CheapSSLsecurity">
            <a:extLst>
              <a:ext uri="{FF2B5EF4-FFF2-40B4-BE49-F238E27FC236}">
                <a16:creationId xmlns:a16="http://schemas.microsoft.com/office/drawing/2014/main" id="{448459D6-6C28-922C-DE6B-33C56F23C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9978" y="3166633"/>
            <a:ext cx="3411415" cy="1521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04070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C36547-B667-FC3B-5549-2DD9A1D5B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Servlets are Java classes that extend server functionality</a:t>
            </a:r>
          </a:p>
          <a:p>
            <a:r>
              <a:rPr lang="en-US" dirty="0"/>
              <a:t>Part of the Java EE/Jakarta EE framework</a:t>
            </a:r>
          </a:p>
          <a:p>
            <a:r>
              <a:rPr lang="en-US" dirty="0"/>
              <a:t>Process HTTP requests and generate responses</a:t>
            </a:r>
          </a:p>
          <a:p>
            <a:r>
              <a:rPr lang="en-US" dirty="0"/>
              <a:t>Not used often these days</a:t>
            </a:r>
          </a:p>
          <a:p>
            <a:r>
              <a:rPr lang="en-US" b="1" i="1" dirty="0"/>
              <a:t>Foundation </a:t>
            </a:r>
            <a:r>
              <a:rPr lang="en-US" dirty="0"/>
              <a:t>of many current web frameworks</a:t>
            </a:r>
            <a:endParaRPr lang="en-US" b="1" i="1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9E121C-ABE0-4849-5775-B5893FAE0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servlet </a:t>
            </a:r>
            <a:r>
              <a:rPr lang="en-US" sz="1200" dirty="0"/>
              <a:t>(Not in syllabus)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915556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9304CE0-5DE2-D8A0-629C-501518F28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private String name;</a:t>
            </a:r>
          </a:p>
          <a:p>
            <a:r>
              <a:rPr lang="en-US" dirty="0"/>
              <a:t>  private String id;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@WebServlet("/hello")</a:t>
            </a:r>
          </a:p>
          <a:p>
            <a:r>
              <a:rPr lang="en-US" dirty="0"/>
              <a:t>public class </a:t>
            </a:r>
            <a:r>
              <a:rPr lang="en-US" dirty="0" err="1"/>
              <a:t>HelloServlet</a:t>
            </a:r>
            <a:r>
              <a:rPr lang="en-US" dirty="0"/>
              <a:t> extends </a:t>
            </a:r>
            <a:r>
              <a:rPr lang="en-US" dirty="0" err="1"/>
              <a:t>HttpServlet</a:t>
            </a:r>
            <a:r>
              <a:rPr lang="en-US" dirty="0"/>
              <a:t> {</a:t>
            </a:r>
          </a:p>
          <a:p>
            <a:r>
              <a:rPr lang="en-US" dirty="0"/>
              <a:t>  protected void </a:t>
            </a:r>
            <a:r>
              <a:rPr lang="en-US" dirty="0" err="1"/>
              <a:t>doGet</a:t>
            </a:r>
            <a:r>
              <a:rPr lang="en-US" dirty="0"/>
              <a:t>(</a:t>
            </a:r>
            <a:r>
              <a:rPr lang="en-US" dirty="0" err="1"/>
              <a:t>HttpServletRequest</a:t>
            </a:r>
            <a:r>
              <a:rPr lang="en-US" dirty="0"/>
              <a:t> request, </a:t>
            </a:r>
            <a:r>
              <a:rPr lang="en-US" dirty="0" err="1"/>
              <a:t>HttpServletResponse</a:t>
            </a:r>
            <a:r>
              <a:rPr lang="en-US" dirty="0"/>
              <a:t> response) {</a:t>
            </a:r>
          </a:p>
          <a:p>
            <a:r>
              <a:rPr lang="en-US" dirty="0"/>
              <a:t>    String name = </a:t>
            </a:r>
            <a:r>
              <a:rPr lang="en-US" dirty="0" err="1"/>
              <a:t>request.getParameter</a:t>
            </a:r>
            <a:r>
              <a:rPr lang="en-US" dirty="0"/>
              <a:t>("name");</a:t>
            </a:r>
          </a:p>
          <a:p>
            <a:r>
              <a:rPr lang="en-US" dirty="0"/>
              <a:t>    String id = </a:t>
            </a:r>
            <a:r>
              <a:rPr lang="en-US" dirty="0" err="1"/>
              <a:t>request.getParameter</a:t>
            </a:r>
            <a:r>
              <a:rPr lang="en-US" dirty="0"/>
              <a:t>("id");</a:t>
            </a:r>
          </a:p>
          <a:p>
            <a:endParaRPr lang="en-US" dirty="0"/>
          </a:p>
          <a:p>
            <a:r>
              <a:rPr lang="en-US" dirty="0"/>
              <a:t>    // Parse the request</a:t>
            </a:r>
          </a:p>
          <a:p>
            <a:r>
              <a:rPr lang="en-US" dirty="0"/>
              <a:t>    // Store it in a class</a:t>
            </a:r>
          </a:p>
          <a:p>
            <a:r>
              <a:rPr lang="en-US" dirty="0"/>
              <a:t>    Person p = new Person(name, id);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response.setContentType</a:t>
            </a:r>
            <a:r>
              <a:rPr lang="en-US" dirty="0"/>
              <a:t>("text/html");</a:t>
            </a:r>
          </a:p>
          <a:p>
            <a:endParaRPr lang="en-US" dirty="0"/>
          </a:p>
          <a:p>
            <a:r>
              <a:rPr lang="en-US" dirty="0"/>
              <a:t>    // Create the HTML output</a:t>
            </a:r>
          </a:p>
          <a:p>
            <a:r>
              <a:rPr lang="en-US" dirty="0"/>
              <a:t>    </a:t>
            </a:r>
            <a:r>
              <a:rPr lang="en-US" dirty="0" err="1"/>
              <a:t>PrintWriter</a:t>
            </a:r>
            <a:r>
              <a:rPr lang="en-US" dirty="0"/>
              <a:t> out = </a:t>
            </a:r>
            <a:r>
              <a:rPr lang="en-US" dirty="0" err="1"/>
              <a:t>response.getWriter</a:t>
            </a:r>
            <a:r>
              <a:rPr lang="en-US" dirty="0"/>
              <a:t>();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("&lt;html&gt;&lt;body&gt;");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("&lt;h1&gt;Hello, " + name + "!&lt;/h1&gt;");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("&lt;/body&gt;&lt;/html&gt;");</a:t>
            </a:r>
          </a:p>
          <a:p>
            <a:r>
              <a:rPr lang="en-US" dirty="0"/>
              <a:t> 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BCE814F-7906-41DF-4040-7B8803519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Servlet example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(Not in syllabus)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55854B-4A2D-4563-0EDF-1036CF79B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9" y="785004"/>
            <a:ext cx="4915586" cy="2896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48DB762-437A-95F8-141D-7926000D5883}"/>
              </a:ext>
            </a:extLst>
          </p:cNvPr>
          <p:cNvSpPr txBox="1"/>
          <p:nvPr/>
        </p:nvSpPr>
        <p:spPr>
          <a:xfrm>
            <a:off x="484699" y="4736123"/>
            <a:ext cx="5141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https://github.com/davsec-teaching/jakarta-servlet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ADA9A51-9D66-6AEB-8B27-8B04595BCB78}"/>
              </a:ext>
            </a:extLst>
          </p:cNvPr>
          <p:cNvSpPr/>
          <p:nvPr/>
        </p:nvSpPr>
        <p:spPr>
          <a:xfrm>
            <a:off x="6096000" y="1629508"/>
            <a:ext cx="2625969" cy="3516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9D962B-0887-645C-ECBD-9E05B672A8F2}"/>
              </a:ext>
            </a:extLst>
          </p:cNvPr>
          <p:cNvSpPr/>
          <p:nvPr/>
        </p:nvSpPr>
        <p:spPr>
          <a:xfrm>
            <a:off x="6176512" y="2057160"/>
            <a:ext cx="5394165" cy="439855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ED9B43-CEB4-7854-9B04-29FBA327CE9F}"/>
              </a:ext>
            </a:extLst>
          </p:cNvPr>
          <p:cNvSpPr/>
          <p:nvPr/>
        </p:nvSpPr>
        <p:spPr>
          <a:xfrm>
            <a:off x="6176512" y="2527089"/>
            <a:ext cx="5394165" cy="1153919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0450D4-E69A-BF8E-7CE1-A389BDACB732}"/>
              </a:ext>
            </a:extLst>
          </p:cNvPr>
          <p:cNvSpPr/>
          <p:nvPr/>
        </p:nvSpPr>
        <p:spPr>
          <a:xfrm>
            <a:off x="6176511" y="4074573"/>
            <a:ext cx="5394165" cy="1153919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6C608E-563B-F128-AD29-4E1B89CF967F}"/>
              </a:ext>
            </a:extLst>
          </p:cNvPr>
          <p:cNvSpPr txBox="1"/>
          <p:nvPr/>
        </p:nvSpPr>
        <p:spPr>
          <a:xfrm>
            <a:off x="8820237" y="1571565"/>
            <a:ext cx="19111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Mapping URL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73EA44-D058-C6EF-0184-46813DF52BB5}"/>
              </a:ext>
            </a:extLst>
          </p:cNvPr>
          <p:cNvSpPr txBox="1"/>
          <p:nvPr/>
        </p:nvSpPr>
        <p:spPr>
          <a:xfrm>
            <a:off x="10115216" y="1673345"/>
            <a:ext cx="19080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HTTP method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960229-6044-D61E-F0FA-47CF16A77C91}"/>
              </a:ext>
            </a:extLst>
          </p:cNvPr>
          <p:cNvSpPr txBox="1"/>
          <p:nvPr/>
        </p:nvSpPr>
        <p:spPr>
          <a:xfrm>
            <a:off x="9236369" y="2692956"/>
            <a:ext cx="30003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Parse GET parameters</a:t>
            </a:r>
          </a:p>
          <a:p>
            <a:r>
              <a:rPr lang="en-US" sz="2400" b="1" i="1" dirty="0"/>
              <a:t>into object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5C5A1C-1670-2C25-34C8-EEE482CAD691}"/>
              </a:ext>
            </a:extLst>
          </p:cNvPr>
          <p:cNvSpPr txBox="1"/>
          <p:nvPr/>
        </p:nvSpPr>
        <p:spPr>
          <a:xfrm>
            <a:off x="8354557" y="5157929"/>
            <a:ext cx="22808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Set the response</a:t>
            </a:r>
          </a:p>
        </p:txBody>
      </p:sp>
    </p:spTree>
    <p:extLst>
      <p:ext uri="{BB962C8B-B14F-4D97-AF65-F5344CB8AC3E}">
        <p14:creationId xmlns:p14="http://schemas.microsoft.com/office/powerpoint/2010/main" val="2083746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5" grpId="0"/>
      <p:bldP spid="15" grpId="1"/>
      <p:bldP spid="16" grpId="0"/>
      <p:bldP spid="16" grpId="1"/>
      <p:bldP spid="17" grpId="0"/>
      <p:bldP spid="17" grpId="1"/>
      <p:bldP spid="18" grpId="0"/>
      <p:bldP spid="18" grpId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6F1A4-FF6D-0E61-F0F1-AF7FD983E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6C7D4F1-9A9F-9B2D-5D02-DD52A83286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private String name;</a:t>
            </a:r>
          </a:p>
          <a:p>
            <a:r>
              <a:rPr lang="en-US" dirty="0"/>
              <a:t>  private String id;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@WebServlet("/hello")</a:t>
            </a:r>
          </a:p>
          <a:p>
            <a:r>
              <a:rPr lang="en-US" dirty="0"/>
              <a:t>public class </a:t>
            </a:r>
            <a:r>
              <a:rPr lang="en-US" dirty="0" err="1"/>
              <a:t>HelloServlet</a:t>
            </a:r>
            <a:r>
              <a:rPr lang="en-US" dirty="0"/>
              <a:t> extends </a:t>
            </a:r>
            <a:r>
              <a:rPr lang="en-US" dirty="0" err="1"/>
              <a:t>HttpServlet</a:t>
            </a:r>
            <a:r>
              <a:rPr lang="en-US" dirty="0"/>
              <a:t> {</a:t>
            </a:r>
          </a:p>
          <a:p>
            <a:r>
              <a:rPr lang="en-US" dirty="0"/>
              <a:t>  protected void </a:t>
            </a:r>
            <a:r>
              <a:rPr lang="en-US" dirty="0" err="1"/>
              <a:t>doGet</a:t>
            </a:r>
            <a:r>
              <a:rPr lang="en-US" dirty="0"/>
              <a:t>(</a:t>
            </a:r>
            <a:r>
              <a:rPr lang="en-US" dirty="0" err="1"/>
              <a:t>HttpServletRequest</a:t>
            </a:r>
            <a:r>
              <a:rPr lang="en-US" dirty="0"/>
              <a:t> request, </a:t>
            </a:r>
            <a:r>
              <a:rPr lang="en-US" dirty="0" err="1"/>
              <a:t>HttpServletResponse</a:t>
            </a:r>
            <a:r>
              <a:rPr lang="en-US" dirty="0"/>
              <a:t> response) {</a:t>
            </a:r>
          </a:p>
          <a:p>
            <a:r>
              <a:rPr lang="en-US" dirty="0"/>
              <a:t>    String name = </a:t>
            </a:r>
            <a:r>
              <a:rPr lang="en-US" dirty="0" err="1"/>
              <a:t>request.getParameter</a:t>
            </a:r>
            <a:r>
              <a:rPr lang="en-US" dirty="0"/>
              <a:t>("name");</a:t>
            </a:r>
          </a:p>
          <a:p>
            <a:r>
              <a:rPr lang="en-US" dirty="0"/>
              <a:t>    String id = </a:t>
            </a:r>
            <a:r>
              <a:rPr lang="en-US" dirty="0" err="1"/>
              <a:t>request.getParameter</a:t>
            </a:r>
            <a:r>
              <a:rPr lang="en-US" dirty="0"/>
              <a:t>("id");</a:t>
            </a:r>
          </a:p>
          <a:p>
            <a:endParaRPr lang="en-US" dirty="0"/>
          </a:p>
          <a:p>
            <a:r>
              <a:rPr lang="en-US" dirty="0"/>
              <a:t>    // Parse the request</a:t>
            </a:r>
          </a:p>
          <a:p>
            <a:r>
              <a:rPr lang="en-US" dirty="0"/>
              <a:t>    // Store it in a class</a:t>
            </a:r>
          </a:p>
          <a:p>
            <a:r>
              <a:rPr lang="en-US" dirty="0"/>
              <a:t>    Person p = new Person(name, id);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response.setContentType</a:t>
            </a:r>
            <a:r>
              <a:rPr lang="en-US" dirty="0"/>
              <a:t>("text/html");</a:t>
            </a:r>
          </a:p>
          <a:p>
            <a:endParaRPr lang="en-US" dirty="0"/>
          </a:p>
          <a:p>
            <a:r>
              <a:rPr lang="en-US" dirty="0"/>
              <a:t>    // Create the HTML output</a:t>
            </a:r>
          </a:p>
          <a:p>
            <a:r>
              <a:rPr lang="en-US" dirty="0"/>
              <a:t>    </a:t>
            </a:r>
            <a:r>
              <a:rPr lang="en-US" dirty="0" err="1"/>
              <a:t>PrintWriter</a:t>
            </a:r>
            <a:r>
              <a:rPr lang="en-US" dirty="0"/>
              <a:t> out = </a:t>
            </a:r>
            <a:r>
              <a:rPr lang="en-US" dirty="0" err="1"/>
              <a:t>response.getWriter</a:t>
            </a:r>
            <a:r>
              <a:rPr lang="en-US" dirty="0"/>
              <a:t>();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("&lt;html&gt;&lt;body&gt;");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("&lt;h1&gt;Hello, " + name + "!&lt;/h1&gt;");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("&lt;/body&gt;&lt;/html&gt;");</a:t>
            </a:r>
          </a:p>
          <a:p>
            <a:r>
              <a:rPr lang="en-US" dirty="0"/>
              <a:t> 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B8D1DF8-5AA2-CC92-0E12-2968B2DF5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Servlet example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(Not in syllabus)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4B3ECE-50CD-2309-EB86-8FBD18C7B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9" y="785004"/>
            <a:ext cx="4915586" cy="2896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41FE85D-16F4-EA55-A38C-ED653C1951F9}"/>
              </a:ext>
            </a:extLst>
          </p:cNvPr>
          <p:cNvSpPr txBox="1"/>
          <p:nvPr/>
        </p:nvSpPr>
        <p:spPr>
          <a:xfrm>
            <a:off x="258785" y="4306438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&gt; cp </a:t>
            </a:r>
            <a:r>
              <a:rPr lang="en-US" b="1" dirty="0" err="1">
                <a:latin typeface="Consolas" panose="020B0609020204030204" pitchFamily="49" charset="0"/>
              </a:rPr>
              <a:t>HelloServlet.war</a:t>
            </a:r>
            <a:r>
              <a:rPr lang="en-US" b="1" dirty="0">
                <a:latin typeface="Consolas" panose="020B0609020204030204" pitchFamily="49" charset="0"/>
              </a:rPr>
              <a:t> $CATALINA_HOME/webapps</a:t>
            </a:r>
            <a:br>
              <a:rPr lang="en-US" b="1" dirty="0">
                <a:latin typeface="Consolas" panose="020B0609020204030204" pitchFamily="49" charset="0"/>
              </a:rPr>
            </a:br>
            <a:r>
              <a:rPr lang="en-US" b="1" dirty="0">
                <a:latin typeface="Consolas" panose="020B0609020204030204" pitchFamily="49" charset="0"/>
              </a:rPr>
              <a:t>&gt; catalina.sh start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2C4C90-10FE-7546-1CCA-277CD5CE84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3937" y="1348342"/>
            <a:ext cx="4010585" cy="2543530"/>
          </a:xfrm>
          <a:prstGeom prst="rect">
            <a:avLst/>
          </a:prstGeom>
          <a:ln w="25400">
            <a:solidFill>
              <a:schemeClr val="accent4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15514392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E2210-1868-D080-951C-A7E225772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3353500-43DF-DAD9-7F9F-0E5C4D4C1B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private String name;</a:t>
            </a:r>
          </a:p>
          <a:p>
            <a:r>
              <a:rPr lang="en-US" dirty="0"/>
              <a:t>  private String id;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@WebServlet("/hello")</a:t>
            </a:r>
          </a:p>
          <a:p>
            <a:r>
              <a:rPr lang="en-US" dirty="0"/>
              <a:t>public class </a:t>
            </a:r>
            <a:r>
              <a:rPr lang="en-US" dirty="0" err="1"/>
              <a:t>HelloServlet</a:t>
            </a:r>
            <a:r>
              <a:rPr lang="en-US" dirty="0"/>
              <a:t> extends </a:t>
            </a:r>
            <a:r>
              <a:rPr lang="en-US" dirty="0" err="1"/>
              <a:t>HttpServlet</a:t>
            </a:r>
            <a:r>
              <a:rPr lang="en-US" dirty="0"/>
              <a:t> {</a:t>
            </a:r>
          </a:p>
          <a:p>
            <a:r>
              <a:rPr lang="en-US" dirty="0"/>
              <a:t>  protected void </a:t>
            </a:r>
            <a:r>
              <a:rPr lang="en-US" dirty="0" err="1"/>
              <a:t>doGet</a:t>
            </a:r>
            <a:r>
              <a:rPr lang="en-US" dirty="0"/>
              <a:t>(</a:t>
            </a:r>
            <a:r>
              <a:rPr lang="en-US" dirty="0" err="1"/>
              <a:t>HttpServletRequest</a:t>
            </a:r>
            <a:r>
              <a:rPr lang="en-US" dirty="0"/>
              <a:t> request, </a:t>
            </a:r>
            <a:r>
              <a:rPr lang="en-US" dirty="0" err="1"/>
              <a:t>HttpServletResponse</a:t>
            </a:r>
            <a:r>
              <a:rPr lang="en-US" dirty="0"/>
              <a:t> response) {</a:t>
            </a:r>
          </a:p>
          <a:p>
            <a:r>
              <a:rPr lang="en-US" dirty="0"/>
              <a:t>    String name = </a:t>
            </a:r>
            <a:r>
              <a:rPr lang="en-US" dirty="0" err="1"/>
              <a:t>request.getParameter</a:t>
            </a:r>
            <a:r>
              <a:rPr lang="en-US" dirty="0"/>
              <a:t>("name");</a:t>
            </a:r>
          </a:p>
          <a:p>
            <a:r>
              <a:rPr lang="en-US" dirty="0"/>
              <a:t>    String id = </a:t>
            </a:r>
            <a:r>
              <a:rPr lang="en-US" dirty="0" err="1"/>
              <a:t>request.getParameter</a:t>
            </a:r>
            <a:r>
              <a:rPr lang="en-US" dirty="0"/>
              <a:t>("id");</a:t>
            </a:r>
          </a:p>
          <a:p>
            <a:endParaRPr lang="en-US" dirty="0"/>
          </a:p>
          <a:p>
            <a:r>
              <a:rPr lang="en-US" dirty="0"/>
              <a:t>    // Parse the request</a:t>
            </a:r>
          </a:p>
          <a:p>
            <a:r>
              <a:rPr lang="en-US" dirty="0"/>
              <a:t>    // Store it in a class</a:t>
            </a:r>
          </a:p>
          <a:p>
            <a:r>
              <a:rPr lang="en-US" dirty="0"/>
              <a:t>    Person p = new Person(name, id);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response.setContentType</a:t>
            </a:r>
            <a:r>
              <a:rPr lang="en-US" dirty="0"/>
              <a:t>("text/html");</a:t>
            </a:r>
          </a:p>
          <a:p>
            <a:endParaRPr lang="en-US" dirty="0"/>
          </a:p>
          <a:p>
            <a:r>
              <a:rPr lang="en-US" dirty="0"/>
              <a:t>    // Create the HTML output</a:t>
            </a:r>
          </a:p>
          <a:p>
            <a:r>
              <a:rPr lang="en-US" dirty="0"/>
              <a:t>    </a:t>
            </a:r>
            <a:r>
              <a:rPr lang="en-US" dirty="0" err="1"/>
              <a:t>PrintWriter</a:t>
            </a:r>
            <a:r>
              <a:rPr lang="en-US" dirty="0"/>
              <a:t> out = </a:t>
            </a:r>
            <a:r>
              <a:rPr lang="en-US" dirty="0" err="1"/>
              <a:t>response.getWriter</a:t>
            </a:r>
            <a:r>
              <a:rPr lang="en-US" dirty="0"/>
              <a:t>();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("&lt;html&gt;&lt;body&gt;");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("&lt;h1&gt;Hello, " + name + "!&lt;/h1&gt;");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("&lt;/body&gt;&lt;/html&gt;");</a:t>
            </a:r>
          </a:p>
          <a:p>
            <a:r>
              <a:rPr lang="en-US" dirty="0"/>
              <a:t> 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AE25F66-276E-74EC-48C0-E68CC2F25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Servlet example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(Not in syllabus)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CC8FDF-3135-4717-9668-AA2FCE9354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9" y="785004"/>
            <a:ext cx="4915586" cy="2896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0271F2A-36F8-0146-F2F8-D417857E3FFE}"/>
              </a:ext>
            </a:extLst>
          </p:cNvPr>
          <p:cNvSpPr txBox="1"/>
          <p:nvPr/>
        </p:nvSpPr>
        <p:spPr>
          <a:xfrm>
            <a:off x="336265" y="4700954"/>
            <a:ext cx="54521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</a:rPr>
              <a:t>&gt; </a:t>
            </a:r>
            <a:r>
              <a:rPr lang="en-US" sz="2400" b="1" dirty="0" err="1">
                <a:latin typeface="Consolas" panose="020B0609020204030204" pitchFamily="49" charset="0"/>
              </a:rPr>
              <a:t>mvn</a:t>
            </a:r>
            <a:r>
              <a:rPr lang="en-US" sz="2400" b="1" dirty="0"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latin typeface="Consolas" panose="020B0609020204030204" pitchFamily="49" charset="0"/>
              </a:rPr>
              <a:t>jetty:run</a:t>
            </a:r>
            <a:r>
              <a:rPr lang="en-US" sz="2400" b="1" dirty="0">
                <a:latin typeface="Consolas" panose="020B0609020204030204" pitchFamily="49" charset="0"/>
              </a:rPr>
              <a:t> # launch server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E30050-9103-E9DD-A5DD-2C40E5F00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3937" y="1348342"/>
            <a:ext cx="4010585" cy="2543530"/>
          </a:xfrm>
          <a:prstGeom prst="rect">
            <a:avLst/>
          </a:prstGeom>
          <a:ln w="25400">
            <a:solidFill>
              <a:schemeClr val="accent4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085910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1F7ED4-B3F7-A900-090E-A41D07798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steps – </a:t>
            </a:r>
          </a:p>
          <a:p>
            <a:pPr lvl="1"/>
            <a:r>
              <a:rPr lang="en-US" dirty="0"/>
              <a:t>Create the directory structure</a:t>
            </a:r>
          </a:p>
          <a:p>
            <a:pPr lvl="1"/>
            <a:r>
              <a:rPr lang="en-US" dirty="0"/>
              <a:t>Write a servlet</a:t>
            </a:r>
          </a:p>
          <a:p>
            <a:pPr lvl="2"/>
            <a:r>
              <a:rPr lang="en-US" dirty="0"/>
              <a:t>Write glue code to parse the HTTP request into a Java object</a:t>
            </a:r>
          </a:p>
          <a:p>
            <a:pPr lvl="2"/>
            <a:r>
              <a:rPr lang="en-US" dirty="0"/>
              <a:t>Write the output</a:t>
            </a:r>
          </a:p>
          <a:p>
            <a:pPr lvl="1"/>
            <a:r>
              <a:rPr lang="en-US" dirty="0"/>
              <a:t>Copy the WAR (Web archive) file to the application server’s directory</a:t>
            </a:r>
          </a:p>
          <a:p>
            <a:pPr lvl="1"/>
            <a:r>
              <a:rPr lang="en-US" dirty="0"/>
              <a:t>Restart the application server</a:t>
            </a:r>
          </a:p>
          <a:p>
            <a:r>
              <a:rPr lang="en-US" dirty="0"/>
              <a:t>Need to do these steps for </a:t>
            </a:r>
            <a:r>
              <a:rPr lang="en-US" b="1" i="1" dirty="0"/>
              <a:t>each </a:t>
            </a:r>
            <a:r>
              <a:rPr lang="en-US" dirty="0"/>
              <a:t>servlet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05FD658-DCF5-CC46-93EF-4483AFCA5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points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(Not in syllabus)</a:t>
            </a:r>
            <a:endParaRPr lang="en-US" dirty="0"/>
          </a:p>
        </p:txBody>
      </p:sp>
      <p:pic>
        <p:nvPicPr>
          <p:cNvPr id="2050" name="Picture 2" descr="Poster, Print Red pin, push pin isolated on transparent background, 30x40 cm">
            <a:extLst>
              <a:ext uri="{FF2B5EF4-FFF2-40B4-BE49-F238E27FC236}">
                <a16:creationId xmlns:a16="http://schemas.microsoft.com/office/drawing/2014/main" id="{D8C5340E-0274-D4BB-7EE1-D080B1AA46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4002" y="854015"/>
            <a:ext cx="1848460" cy="2304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1734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9BF8EC6-B48F-1530-4656-092C84C7B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43B650-FDDF-1D68-8E8D-3E28B524A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 server architecture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A8745117-6819-DEA6-A697-34EDB35D41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4316" y="1710100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F44AEDE3-3CD1-5192-9E11-10E5F24A6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4914" y="1184404"/>
            <a:ext cx="1769086" cy="841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Apache Tomcat ...">
            <a:extLst>
              <a:ext uri="{FF2B5EF4-FFF2-40B4-BE49-F238E27FC236}">
                <a16:creationId xmlns:a16="http://schemas.microsoft.com/office/drawing/2014/main" id="{EC6F64A1-DF30-4A68-2EC8-E5B3E11DAC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787" y="978195"/>
            <a:ext cx="2406503" cy="1253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5653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518E58-26DF-E8B8-9EDD-9AB992D42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approach to developing a single application as a suite of small services, each running in its own process and communicating with lightweight mechanisms, often an HTTP resource API</a:t>
            </a:r>
          </a:p>
          <a:p>
            <a:r>
              <a:rPr lang="en-US" dirty="0"/>
              <a:t>Independently deployable by automated processes</a:t>
            </a:r>
          </a:p>
          <a:p>
            <a:r>
              <a:rPr lang="en-US" dirty="0"/>
              <a:t>Bare minimum centralized management</a:t>
            </a:r>
          </a:p>
          <a:p>
            <a:r>
              <a:rPr lang="en-US" dirty="0"/>
              <a:t>Smart endpoints connected by “dumb” pipes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2344C9-4958-EA72-0D24-394930602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F20CDA-A67E-928C-5725-A6479A5AD2EF}"/>
              </a:ext>
            </a:extLst>
          </p:cNvPr>
          <p:cNvSpPr txBox="1"/>
          <p:nvPr/>
        </p:nvSpPr>
        <p:spPr>
          <a:xfrm>
            <a:off x="9099916" y="1978243"/>
            <a:ext cx="317414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https://martinfowler.com/articles/microservices.html</a:t>
            </a:r>
          </a:p>
        </p:txBody>
      </p:sp>
    </p:spTree>
    <p:extLst>
      <p:ext uri="{BB962C8B-B14F-4D97-AF65-F5344CB8AC3E}">
        <p14:creationId xmlns:p14="http://schemas.microsoft.com/office/powerpoint/2010/main" val="413233235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B3AC6-DB52-8BFC-8C13-A72F01AA2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FD3687-E7C5-99C8-3924-B2AFF5101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overview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763F1C0-0153-986E-9AC1-AFC4F2BBD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7875" y="952500"/>
            <a:ext cx="8096250" cy="495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AE22D2D-01EC-0112-1044-E081232E6D7C}"/>
              </a:ext>
            </a:extLst>
          </p:cNvPr>
          <p:cNvSpPr txBox="1"/>
          <p:nvPr/>
        </p:nvSpPr>
        <p:spPr>
          <a:xfrm>
            <a:off x="7786932" y="5774695"/>
            <a:ext cx="32913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https://martinfowler.com/articles/microservices.html</a:t>
            </a:r>
          </a:p>
        </p:txBody>
      </p:sp>
    </p:spTree>
    <p:extLst>
      <p:ext uri="{BB962C8B-B14F-4D97-AF65-F5344CB8AC3E}">
        <p14:creationId xmlns:p14="http://schemas.microsoft.com/office/powerpoint/2010/main" val="327003457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30045-2F1B-D89F-5FF3-50EC228C0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C98C1E-E718-DF7E-4037-5EFA53B5E7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microservice can have its own database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5E10D8-11B1-49BF-29E4-B930F908D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Monolithic to microservices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DEAD9932-E852-5DB7-2186-46F436CCE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6025" y="1349619"/>
            <a:ext cx="721995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D0DD429-E7E6-4F3D-4FFB-6463D01313EA}"/>
              </a:ext>
            </a:extLst>
          </p:cNvPr>
          <p:cNvSpPr txBox="1"/>
          <p:nvPr/>
        </p:nvSpPr>
        <p:spPr>
          <a:xfrm>
            <a:off x="8326193" y="5632277"/>
            <a:ext cx="32913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https://martinfowler.com/articles/microservices.html</a:t>
            </a:r>
          </a:p>
        </p:txBody>
      </p:sp>
    </p:spTree>
    <p:extLst>
      <p:ext uri="{BB962C8B-B14F-4D97-AF65-F5344CB8AC3E}">
        <p14:creationId xmlns:p14="http://schemas.microsoft.com/office/powerpoint/2010/main" val="244858048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E3408-C036-3326-42ED-69F9988D0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D4C968-F27C-C098-EEFF-C9BAE8607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provide finer scaling control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CBD5540-79FC-329B-D836-9085235D68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7875" y="952500"/>
            <a:ext cx="8096250" cy="495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0754EAA-CC04-6747-5DDA-29F403B1622A}"/>
              </a:ext>
            </a:extLst>
          </p:cNvPr>
          <p:cNvSpPr txBox="1"/>
          <p:nvPr/>
        </p:nvSpPr>
        <p:spPr>
          <a:xfrm>
            <a:off x="7786932" y="5774695"/>
            <a:ext cx="32913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https://martinfowler.com/articles/microservices.html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D054BF-557C-AA20-83B2-4259B68F51B2}"/>
              </a:ext>
            </a:extLst>
          </p:cNvPr>
          <p:cNvSpPr txBox="1"/>
          <p:nvPr/>
        </p:nvSpPr>
        <p:spPr>
          <a:xfrm>
            <a:off x="9872888" y="3794522"/>
            <a:ext cx="2138490" cy="116129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2800" b="1" i="1" dirty="0"/>
              <a:t>Finer control over scaling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F71BE6-8168-9B34-D787-CFF8284FFAE7}"/>
              </a:ext>
            </a:extLst>
          </p:cNvPr>
          <p:cNvSpPr/>
          <p:nvPr/>
        </p:nvSpPr>
        <p:spPr>
          <a:xfrm>
            <a:off x="6637867" y="2833511"/>
            <a:ext cx="1603022" cy="835378"/>
          </a:xfrm>
          <a:prstGeom prst="rect">
            <a:avLst/>
          </a:prstGeom>
          <a:noFill/>
          <a:ln w="444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D829D8-A316-6D17-B3C7-4BCB5E66BFA5}"/>
              </a:ext>
            </a:extLst>
          </p:cNvPr>
          <p:cNvSpPr/>
          <p:nvPr/>
        </p:nvSpPr>
        <p:spPr>
          <a:xfrm>
            <a:off x="8912578" y="4304103"/>
            <a:ext cx="841022" cy="1470592"/>
          </a:xfrm>
          <a:prstGeom prst="rect">
            <a:avLst/>
          </a:prstGeom>
          <a:noFill/>
          <a:ln w="444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0383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D3E8CA4-00C6-28BF-DF33-8A30A8145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Monolithic application can only be deployed as a whole</a:t>
            </a:r>
          </a:p>
          <a:p>
            <a:pPr lvl="1"/>
            <a:r>
              <a:rPr lang="en-US" dirty="0"/>
              <a:t>Therefore, can only be scaled as a whole</a:t>
            </a:r>
          </a:p>
          <a:p>
            <a:r>
              <a:rPr lang="en-US" dirty="0"/>
              <a:t>Microservices are individually deployable</a:t>
            </a:r>
          </a:p>
          <a:p>
            <a:pPr lvl="1"/>
            <a:r>
              <a:rPr lang="en-US" dirty="0"/>
              <a:t>Therefore, they provide finer scaling control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C03EC0-0CB4-A979-F120-6D4E34927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provide finer scaling control</a:t>
            </a:r>
          </a:p>
        </p:txBody>
      </p:sp>
    </p:spTree>
    <p:extLst>
      <p:ext uri="{BB962C8B-B14F-4D97-AF65-F5344CB8AC3E}">
        <p14:creationId xmlns:p14="http://schemas.microsoft.com/office/powerpoint/2010/main" val="2142423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79F36-BAC6-F51E-C0C2-83E5DF711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126EF8-77B2-30B3-600F-F4BC70250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5"/>
            <a:ext cx="11449319" cy="252925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Microservices simplify automated deployment </a:t>
            </a:r>
          </a:p>
          <a:p>
            <a:r>
              <a:rPr lang="en-US" dirty="0"/>
              <a:t>E.g., pushing to the main branch in GitHub triggers GitHub Actions that</a:t>
            </a:r>
          </a:p>
          <a:p>
            <a:pPr lvl="1"/>
            <a:r>
              <a:rPr lang="en-US" dirty="0"/>
              <a:t>Automatically builds</a:t>
            </a:r>
          </a:p>
          <a:p>
            <a:pPr lvl="1"/>
            <a:r>
              <a:rPr lang="en-US" dirty="0"/>
              <a:t>Execute unit-tests</a:t>
            </a:r>
          </a:p>
          <a:p>
            <a:pPr lvl="1"/>
            <a:r>
              <a:rPr lang="en-US" dirty="0"/>
              <a:t>Automatically deploy to integration environment (and then production environment)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FD0EEDF-1668-F061-BF54-AC2613FB3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deployment using microservices</a:t>
            </a:r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05E4E57D-5FB9-54A0-539A-5E2A83F21E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2921" y="3402987"/>
            <a:ext cx="8435062" cy="2529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06736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BC6C2-8A5B-4274-0FA0-356B5243E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BB7460-C333-0CA1-A065-9371FF521C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Pros</a:t>
            </a:r>
          </a:p>
          <a:p>
            <a:pPr lvl="1"/>
            <a:r>
              <a:rPr lang="en-US" dirty="0"/>
              <a:t>Strong encapsulation and modularity</a:t>
            </a:r>
          </a:p>
          <a:p>
            <a:pPr lvl="1"/>
            <a:r>
              <a:rPr lang="en-US" dirty="0"/>
              <a:t>Better reusability</a:t>
            </a:r>
          </a:p>
          <a:p>
            <a:pPr lvl="1"/>
            <a:r>
              <a:rPr lang="en-US" dirty="0"/>
              <a:t>Each microservice can be scaled independently </a:t>
            </a:r>
            <a:r>
              <a:rPr lang="en-US" i="1" dirty="0"/>
              <a:t>(More on this later)</a:t>
            </a:r>
            <a:endParaRPr lang="en-US" dirty="0"/>
          </a:p>
          <a:p>
            <a:pPr lvl="1"/>
            <a:r>
              <a:rPr lang="en-US" dirty="0"/>
              <a:t>Each microservice can be written in its own programming language</a:t>
            </a:r>
          </a:p>
          <a:p>
            <a:pPr lvl="1"/>
            <a:r>
              <a:rPr lang="en-US" dirty="0"/>
              <a:t>Fault isolation</a:t>
            </a:r>
          </a:p>
          <a:p>
            <a:pPr lvl="1"/>
            <a:r>
              <a:rPr lang="en-US" dirty="0"/>
              <a:t>Supports CI/CD (easier to deploy microservices than monolithic services)</a:t>
            </a:r>
          </a:p>
          <a:p>
            <a:r>
              <a:rPr lang="en-US" dirty="0"/>
              <a:t>Cons</a:t>
            </a:r>
          </a:p>
          <a:p>
            <a:pPr lvl="1"/>
            <a:r>
              <a:rPr lang="en-US" dirty="0"/>
              <a:t>Higher complexity</a:t>
            </a:r>
          </a:p>
          <a:p>
            <a:pPr lvl="1"/>
            <a:r>
              <a:rPr lang="en-US" dirty="0"/>
              <a:t>Debugging complex interactions is harder</a:t>
            </a:r>
          </a:p>
          <a:p>
            <a:pPr lvl="1"/>
            <a:r>
              <a:rPr lang="en-US" dirty="0"/>
              <a:t>Network overhead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7A20E2-DE50-AC21-1030-4EBAD968C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307642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C7E04-1006-76FA-7B87-5A0253E0A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9E9BEE-B231-EBD3-EB45-B0AA9054C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at Uber (2019)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BC756F4-A0E4-2456-D468-CE6D61071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Diagram of Uber’s microservices architecture from 2019">
            <a:extLst>
              <a:ext uri="{FF2B5EF4-FFF2-40B4-BE49-F238E27FC236}">
                <a16:creationId xmlns:a16="http://schemas.microsoft.com/office/drawing/2014/main" id="{0B3C43FA-0AC8-0466-414B-E3C390BD6A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87" y="1257300"/>
            <a:ext cx="6143625" cy="403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BD0FBF-1C67-54AB-9344-AA976BD07CBF}"/>
              </a:ext>
            </a:extLst>
          </p:cNvPr>
          <p:cNvSpPr txBox="1"/>
          <p:nvPr/>
        </p:nvSpPr>
        <p:spPr>
          <a:xfrm>
            <a:off x="7315200" y="5597719"/>
            <a:ext cx="32848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https://x.com/msuriar/status/1110244877424578560</a:t>
            </a:r>
          </a:p>
        </p:txBody>
      </p:sp>
    </p:spTree>
    <p:extLst>
      <p:ext uri="{BB962C8B-B14F-4D97-AF65-F5344CB8AC3E}">
        <p14:creationId xmlns:p14="http://schemas.microsoft.com/office/powerpoint/2010/main" val="305597799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18CAE-4CA1-FA25-D3B9-1490B2C0A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AAA7D9-0E60-4FCB-D933-96558E220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at Amazon (2008)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89E9F22-E241-F3F0-6901-17E93D2CAF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Code-named “</a:t>
            </a:r>
            <a:r>
              <a:rPr lang="en-US" dirty="0" err="1"/>
              <a:t>Deathstar</a:t>
            </a:r>
            <a:r>
              <a:rPr lang="en-US" dirty="0"/>
              <a:t>”</a:t>
            </a:r>
          </a:p>
        </p:txBody>
      </p:sp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462D70E6-62FA-FEFB-17CE-31BF29C05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1404938"/>
            <a:ext cx="6096000" cy="4048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6AA101B-F39E-910E-0987-A8F43C6E5689}"/>
              </a:ext>
            </a:extLst>
          </p:cNvPr>
          <p:cNvSpPr txBox="1"/>
          <p:nvPr/>
        </p:nvSpPr>
        <p:spPr>
          <a:xfrm>
            <a:off x="7315200" y="5597719"/>
            <a:ext cx="32127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https://x.com/Werner/status/741673514567143424</a:t>
            </a:r>
          </a:p>
        </p:txBody>
      </p:sp>
    </p:spTree>
    <p:extLst>
      <p:ext uri="{BB962C8B-B14F-4D97-AF65-F5344CB8AC3E}">
        <p14:creationId xmlns:p14="http://schemas.microsoft.com/office/powerpoint/2010/main" val="214976866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B43B58-339A-B4F2-9DEE-520D2C027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7A5EEFB-418C-2DDD-F3BC-A889948DAB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 server serve static HTML, HTTP pages </a:t>
            </a:r>
          </a:p>
          <a:p>
            <a:pPr lvl="1"/>
            <a:r>
              <a:rPr lang="en-US" dirty="0"/>
              <a:t>Do not execute any server-side code</a:t>
            </a:r>
          </a:p>
          <a:p>
            <a:r>
              <a:rPr lang="en-US" dirty="0"/>
              <a:t>Application servers serve “dynamic” pages</a:t>
            </a:r>
          </a:p>
          <a:p>
            <a:pPr lvl="1"/>
            <a:r>
              <a:rPr lang="en-US" dirty="0"/>
              <a:t>Execute server-side code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A542CCE-105F-124A-EFA5-6119941AE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– web servers, application servers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1F426104-A414-6C93-85E0-CC8137D87B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7085" y="3394494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97C00D54-6829-4193-C896-AB1A137691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7222" y="873630"/>
            <a:ext cx="1997210" cy="949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Apache Tomcat ...">
            <a:extLst>
              <a:ext uri="{FF2B5EF4-FFF2-40B4-BE49-F238E27FC236}">
                <a16:creationId xmlns:a16="http://schemas.microsoft.com/office/drawing/2014/main" id="{DC062129-8138-F8B6-194A-01755B582B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4119" y="2279129"/>
            <a:ext cx="2249732" cy="1171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010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0647366-585A-085E-18D0-701290D9C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86D77B-F33C-F289-FC07-DC9044D342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 server serve static HTML, HTTP pages </a:t>
            </a:r>
          </a:p>
          <a:p>
            <a:pPr lvl="1"/>
            <a:r>
              <a:rPr lang="en-US" dirty="0"/>
              <a:t>Do not execute any server-side code</a:t>
            </a:r>
          </a:p>
          <a:p>
            <a:r>
              <a:rPr lang="en-US" dirty="0"/>
              <a:t>Application servers serve “dynamic” pages</a:t>
            </a:r>
          </a:p>
          <a:p>
            <a:pPr lvl="1"/>
            <a:r>
              <a:rPr lang="en-US" dirty="0"/>
              <a:t>Execute server-side code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F277103-2535-BB79-D24B-C94E3DA30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– web servers, application servers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55428EC7-CEC4-7BE9-E3B8-2200B635E9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7085" y="3394494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BF207CA-D3EC-F9BC-03A1-93FCB2DAF09F}"/>
              </a:ext>
            </a:extLst>
          </p:cNvPr>
          <p:cNvSpPr txBox="1"/>
          <p:nvPr/>
        </p:nvSpPr>
        <p:spPr>
          <a:xfrm>
            <a:off x="4501661" y="3261503"/>
            <a:ext cx="25290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HTTP Request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4D4E93-D617-0A9D-7EAD-19E1ACBD292B}"/>
              </a:ext>
            </a:extLst>
          </p:cNvPr>
          <p:cNvSpPr txBox="1"/>
          <p:nvPr/>
        </p:nvSpPr>
        <p:spPr>
          <a:xfrm>
            <a:off x="4501661" y="5419210"/>
            <a:ext cx="276947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HTTP Response</a:t>
            </a:r>
          </a:p>
        </p:txBody>
      </p:sp>
    </p:spTree>
    <p:extLst>
      <p:ext uri="{BB962C8B-B14F-4D97-AF65-F5344CB8AC3E}">
        <p14:creationId xmlns:p14="http://schemas.microsoft.com/office/powerpoint/2010/main" val="1788466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11B0B39-6616-1703-5568-01D2686A34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architectural style for building distributed systems</a:t>
            </a:r>
          </a:p>
          <a:p>
            <a:r>
              <a:rPr lang="en-US" dirty="0"/>
              <a:t>Applications are divided into small, independent services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30D6B3D-9411-0A8A-A242-3417E90A0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what are microservices?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B32A69-2BA1-DF71-D7D7-C9AEDF72E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404" y="2568594"/>
            <a:ext cx="2128531" cy="2341384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5BAF02AA-8830-3C3B-DB36-95C515204096}"/>
              </a:ext>
            </a:extLst>
          </p:cNvPr>
          <p:cNvGrpSpPr/>
          <p:nvPr/>
        </p:nvGrpSpPr>
        <p:grpSpPr>
          <a:xfrm>
            <a:off x="7219317" y="2264135"/>
            <a:ext cx="3781672" cy="2645843"/>
            <a:chOff x="5919329" y="2258308"/>
            <a:chExt cx="3781672" cy="264584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7E88F85-013B-6924-17F1-E0A1330FF2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19329" y="2258308"/>
              <a:ext cx="2859389" cy="2341384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DFE33010-382C-67C2-A21F-432BA343043D}"/>
                </a:ext>
              </a:extLst>
            </p:cNvPr>
            <p:cNvGrpSpPr/>
            <p:nvPr/>
          </p:nvGrpSpPr>
          <p:grpSpPr>
            <a:xfrm>
              <a:off x="8469118" y="2510660"/>
              <a:ext cx="1231883" cy="1182109"/>
              <a:chOff x="5303387" y="3694691"/>
              <a:chExt cx="1231883" cy="1182109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FD3B089D-D7AD-3FC9-2542-BFE7216F36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303387" y="3694691"/>
                <a:ext cx="1231883" cy="1182109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865E1810-1DFD-3D14-5504-FCE682C45B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611597" y="3999150"/>
                <a:ext cx="600316" cy="408727"/>
              </a:xfrm>
              <a:prstGeom prst="rect">
                <a:avLst/>
              </a:prstGeom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88644F4-A836-0AA1-2A26-7DDBBE7A0776}"/>
                </a:ext>
              </a:extLst>
            </p:cNvPr>
            <p:cNvGrpSpPr/>
            <p:nvPr/>
          </p:nvGrpSpPr>
          <p:grpSpPr>
            <a:xfrm>
              <a:off x="7789888" y="3722042"/>
              <a:ext cx="1231883" cy="1182109"/>
              <a:chOff x="7789888" y="3722042"/>
              <a:chExt cx="1231883" cy="1182109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4DC404E3-E4BE-D4B0-7074-E3CC48A9E570}"/>
                  </a:ext>
                </a:extLst>
              </p:cNvPr>
              <p:cNvGrpSpPr/>
              <p:nvPr/>
            </p:nvGrpSpPr>
            <p:grpSpPr>
              <a:xfrm>
                <a:off x="7789888" y="3722042"/>
                <a:ext cx="1231883" cy="1182109"/>
                <a:chOff x="5303387" y="3694691"/>
                <a:chExt cx="1231883" cy="1182109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AC3B4093-8C55-929E-808A-248B6CB2ADE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303387" y="3694691"/>
                  <a:ext cx="1231883" cy="1182109"/>
                </a:xfrm>
                <a:prstGeom prst="rect">
                  <a:avLst/>
                </a:prstGeom>
              </p:spPr>
            </p:pic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A32E4208-0847-2FDA-E7AD-F47ED3DF6B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611597" y="3999150"/>
                  <a:ext cx="600316" cy="408727"/>
                </a:xfrm>
                <a:prstGeom prst="rect">
                  <a:avLst/>
                </a:prstGeom>
              </p:spPr>
            </p:pic>
          </p:grpSp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71CFCAC0-C74B-48D2-A51C-4640AA645F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098098" y="3945121"/>
                <a:ext cx="600317" cy="516273"/>
              </a:xfrm>
              <a:prstGeom prst="rect">
                <a:avLst/>
              </a:prstGeom>
            </p:spPr>
          </p:pic>
        </p:grp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06379156-0F66-5A3D-D9E6-6762F63A0998}"/>
              </a:ext>
            </a:extLst>
          </p:cNvPr>
          <p:cNvSpPr txBox="1"/>
          <p:nvPr/>
        </p:nvSpPr>
        <p:spPr>
          <a:xfrm>
            <a:off x="360607" y="4826699"/>
            <a:ext cx="6456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Monolithic application</a:t>
            </a:r>
          </a:p>
          <a:p>
            <a:pPr algn="ctr"/>
            <a:r>
              <a:rPr lang="en-US" b="1" i="1" dirty="0"/>
              <a:t>(Multiple components running in same process on same machine)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C01538-406E-81D6-C683-99DF50B3F175}"/>
              </a:ext>
            </a:extLst>
          </p:cNvPr>
          <p:cNvSpPr txBox="1"/>
          <p:nvPr/>
        </p:nvSpPr>
        <p:spPr>
          <a:xfrm>
            <a:off x="7354164" y="4823490"/>
            <a:ext cx="40513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Microservices</a:t>
            </a:r>
          </a:p>
          <a:p>
            <a:pPr algn="ctr"/>
            <a:r>
              <a:rPr lang="en-US" b="1" i="1" dirty="0"/>
              <a:t>(Each component runs in its own process</a:t>
            </a:r>
            <a:br>
              <a:rPr lang="en-US" b="1" i="1" dirty="0"/>
            </a:br>
            <a:r>
              <a:rPr lang="en-US" b="1" i="1" dirty="0"/>
              <a:t>on potentially its own machine)</a:t>
            </a:r>
          </a:p>
        </p:txBody>
      </p:sp>
    </p:spTree>
    <p:extLst>
      <p:ext uri="{BB962C8B-B14F-4D97-AF65-F5344CB8AC3E}">
        <p14:creationId xmlns:p14="http://schemas.microsoft.com/office/powerpoint/2010/main" val="140744603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9CF97C8-2160-0FCC-9118-CD4822D1A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0369CD1-9C37-7B89-FB68-B77F4CA40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architectural style for building distributed systems</a:t>
            </a:r>
          </a:p>
          <a:p>
            <a:r>
              <a:rPr lang="en-US" dirty="0"/>
              <a:t>Applications are divided into small, independent services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02159F-67B9-8368-E4C1-3A2743E3B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what are microservices?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D9207D-BD07-A631-E921-A0970854F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404" y="2568594"/>
            <a:ext cx="2128531" cy="2341384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9D59052C-77CC-1D11-DD30-D55EFE408EEE}"/>
              </a:ext>
            </a:extLst>
          </p:cNvPr>
          <p:cNvGrpSpPr/>
          <p:nvPr/>
        </p:nvGrpSpPr>
        <p:grpSpPr>
          <a:xfrm>
            <a:off x="7219317" y="2264135"/>
            <a:ext cx="3781672" cy="2645843"/>
            <a:chOff x="5919329" y="2258308"/>
            <a:chExt cx="3781672" cy="264584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F3DCA7F-BD57-EA82-7E69-51DAD60C4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19329" y="2258308"/>
              <a:ext cx="2859389" cy="2341384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1560E168-C6E1-FE99-096A-6E421DA0CF7B}"/>
                </a:ext>
              </a:extLst>
            </p:cNvPr>
            <p:cNvGrpSpPr/>
            <p:nvPr/>
          </p:nvGrpSpPr>
          <p:grpSpPr>
            <a:xfrm>
              <a:off x="8469118" y="2510660"/>
              <a:ext cx="1231883" cy="1182109"/>
              <a:chOff x="5303387" y="3694691"/>
              <a:chExt cx="1231883" cy="1182109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282A2F4A-63EC-90F1-9A61-244DE39DAC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303387" y="3694691"/>
                <a:ext cx="1231883" cy="1182109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F3478868-55CB-1FDA-278D-FB70B1DF7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611597" y="3999150"/>
                <a:ext cx="600316" cy="408727"/>
              </a:xfrm>
              <a:prstGeom prst="rect">
                <a:avLst/>
              </a:prstGeom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487319A-2CC5-2466-B233-78A687E99099}"/>
                </a:ext>
              </a:extLst>
            </p:cNvPr>
            <p:cNvGrpSpPr/>
            <p:nvPr/>
          </p:nvGrpSpPr>
          <p:grpSpPr>
            <a:xfrm>
              <a:off x="7789888" y="3722042"/>
              <a:ext cx="1231883" cy="1182109"/>
              <a:chOff x="7789888" y="3722042"/>
              <a:chExt cx="1231883" cy="1182109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4CBAE8F5-008D-4CE8-66D3-C748953F117F}"/>
                  </a:ext>
                </a:extLst>
              </p:cNvPr>
              <p:cNvGrpSpPr/>
              <p:nvPr/>
            </p:nvGrpSpPr>
            <p:grpSpPr>
              <a:xfrm>
                <a:off x="7789888" y="3722042"/>
                <a:ext cx="1231883" cy="1182109"/>
                <a:chOff x="5303387" y="3694691"/>
                <a:chExt cx="1231883" cy="1182109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872C0197-4D9A-62D6-2A33-B948AA49353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303387" y="3694691"/>
                  <a:ext cx="1231883" cy="1182109"/>
                </a:xfrm>
                <a:prstGeom prst="rect">
                  <a:avLst/>
                </a:prstGeom>
              </p:spPr>
            </p:pic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19505FFE-19A5-B7F1-C1B9-02613AE2AC6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611597" y="3999150"/>
                  <a:ext cx="600316" cy="408727"/>
                </a:xfrm>
                <a:prstGeom prst="rect">
                  <a:avLst/>
                </a:prstGeom>
              </p:spPr>
            </p:pic>
          </p:grpSp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C5FBDBE4-C931-4051-56ED-EE14752B9E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098098" y="3945121"/>
                <a:ext cx="600317" cy="516273"/>
              </a:xfrm>
              <a:prstGeom prst="rect">
                <a:avLst/>
              </a:prstGeom>
            </p:spPr>
          </p:pic>
        </p:grp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DEA9840A-613B-5D9A-6931-6D79CCEE7F60}"/>
              </a:ext>
            </a:extLst>
          </p:cNvPr>
          <p:cNvSpPr txBox="1"/>
          <p:nvPr/>
        </p:nvSpPr>
        <p:spPr>
          <a:xfrm>
            <a:off x="360607" y="4826699"/>
            <a:ext cx="6456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Monolithic application</a:t>
            </a:r>
          </a:p>
          <a:p>
            <a:pPr algn="ctr"/>
            <a:r>
              <a:rPr lang="en-US" b="1" i="1" dirty="0"/>
              <a:t>(Multiple components running in same process on same machine)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EDBEC7-293D-0B93-6C96-BD8BF0CAC35F}"/>
              </a:ext>
            </a:extLst>
          </p:cNvPr>
          <p:cNvSpPr txBox="1"/>
          <p:nvPr/>
        </p:nvSpPr>
        <p:spPr>
          <a:xfrm>
            <a:off x="7354164" y="4823490"/>
            <a:ext cx="40513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Microservices</a:t>
            </a:r>
          </a:p>
          <a:p>
            <a:pPr algn="ctr"/>
            <a:r>
              <a:rPr lang="en-US" b="1" i="1" dirty="0"/>
              <a:t>(Each component runs in its own process</a:t>
            </a:r>
            <a:br>
              <a:rPr lang="en-US" b="1" i="1" dirty="0"/>
            </a:br>
            <a:r>
              <a:rPr lang="en-US" b="1" i="1" dirty="0"/>
              <a:t>on potentially its own machine)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5CBE95-45EA-60AA-4CE9-E014FB574244}"/>
              </a:ext>
            </a:extLst>
          </p:cNvPr>
          <p:cNvSpPr txBox="1"/>
          <p:nvPr/>
        </p:nvSpPr>
        <p:spPr>
          <a:xfrm>
            <a:off x="3697597" y="2249034"/>
            <a:ext cx="16464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JSONParser</a:t>
            </a:r>
            <a:endParaRPr lang="en-US" sz="2400" b="1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49459D-F5FE-C66F-B462-00F179404CC7}"/>
              </a:ext>
            </a:extLst>
          </p:cNvPr>
          <p:cNvSpPr txBox="1"/>
          <p:nvPr/>
        </p:nvSpPr>
        <p:spPr>
          <a:xfrm>
            <a:off x="4379472" y="3160730"/>
            <a:ext cx="1230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RedisDB</a:t>
            </a:r>
            <a:endParaRPr lang="en-US" sz="2400" b="1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1EBCD4-DB4F-D1E5-3419-57756D7DF480}"/>
              </a:ext>
            </a:extLst>
          </p:cNvPr>
          <p:cNvSpPr txBox="1"/>
          <p:nvPr/>
        </p:nvSpPr>
        <p:spPr>
          <a:xfrm>
            <a:off x="1199618" y="3043029"/>
            <a:ext cx="14811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BasicStats</a:t>
            </a:r>
            <a:endParaRPr lang="en-US" sz="2400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B8F4D3-7FDE-EADD-3450-82402E9131F9}"/>
              </a:ext>
            </a:extLst>
          </p:cNvPr>
          <p:cNvSpPr txBox="1"/>
          <p:nvPr/>
        </p:nvSpPr>
        <p:spPr>
          <a:xfrm>
            <a:off x="692702" y="3792790"/>
            <a:ext cx="20537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WeightedStats</a:t>
            </a:r>
            <a:endParaRPr lang="en-US" sz="2400" b="1" i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F66077-AA69-EFF2-355C-57D0F204A1E8}"/>
              </a:ext>
            </a:extLst>
          </p:cNvPr>
          <p:cNvSpPr txBox="1"/>
          <p:nvPr/>
        </p:nvSpPr>
        <p:spPr>
          <a:xfrm>
            <a:off x="6061191" y="3857258"/>
            <a:ext cx="20537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WeightedStats</a:t>
            </a:r>
            <a:endParaRPr lang="en-US" sz="2400" b="1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193888-8540-2DD2-DA16-4AEB97F04DA2}"/>
              </a:ext>
            </a:extLst>
          </p:cNvPr>
          <p:cNvSpPr txBox="1"/>
          <p:nvPr/>
        </p:nvSpPr>
        <p:spPr>
          <a:xfrm>
            <a:off x="6003813" y="2820946"/>
            <a:ext cx="14811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BasicStats</a:t>
            </a:r>
            <a:endParaRPr lang="en-US" sz="2400" b="1" i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4832AF-7FD7-783E-9B24-7BCFA2926A2F}"/>
              </a:ext>
            </a:extLst>
          </p:cNvPr>
          <p:cNvSpPr txBox="1"/>
          <p:nvPr/>
        </p:nvSpPr>
        <p:spPr>
          <a:xfrm>
            <a:off x="8266669" y="2147356"/>
            <a:ext cx="16464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JSONParser</a:t>
            </a:r>
            <a:endParaRPr lang="en-US" sz="2400" b="1" i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DAB9EA7-3AFE-D35B-1535-28D56C7B8C62}"/>
              </a:ext>
            </a:extLst>
          </p:cNvPr>
          <p:cNvSpPr txBox="1"/>
          <p:nvPr/>
        </p:nvSpPr>
        <p:spPr>
          <a:xfrm>
            <a:off x="10829518" y="2820946"/>
            <a:ext cx="1230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RedisDB</a:t>
            </a:r>
            <a:endParaRPr lang="en-US" sz="2400" b="1" i="1" dirty="0"/>
          </a:p>
        </p:txBody>
      </p:sp>
    </p:spTree>
    <p:extLst>
      <p:ext uri="{BB962C8B-B14F-4D97-AF65-F5344CB8AC3E}">
        <p14:creationId xmlns:p14="http://schemas.microsoft.com/office/powerpoint/2010/main" val="223327646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3A275D3-0740-02FC-37ED-E233F56FF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E7F46F-6D4B-C0BA-2AD0-B41BAF9E5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Encapsulation and modularity: easy to replace individual pipeline stage</a:t>
            </a:r>
          </a:p>
          <a:p>
            <a:pPr lvl="1"/>
            <a:r>
              <a:rPr lang="en-US" dirty="0"/>
              <a:t>Scalability: individual stage can be scaled independently</a:t>
            </a:r>
          </a:p>
          <a:p>
            <a:pPr lvl="1"/>
            <a:r>
              <a:rPr lang="en-US" dirty="0"/>
              <a:t>East of testing: each stage can be tested independently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Debugging: debugging complex flows through multiple stages is hard</a:t>
            </a:r>
          </a:p>
          <a:p>
            <a:pPr lvl="1"/>
            <a:r>
              <a:rPr lang="en-US" dirty="0"/>
              <a:t>Hard to track data flow </a:t>
            </a:r>
            <a:r>
              <a:rPr lang="en-US" dirty="0">
                <a:sym typeface="Wingdings" panose="05000000000000000000" pitchFamily="2" charset="2"/>
              </a:rPr>
              <a:t> can cause security issues</a:t>
            </a:r>
          </a:p>
          <a:p>
            <a:pPr lvl="2"/>
            <a:r>
              <a:rPr lang="en-US" dirty="0"/>
              <a:t>Team A develops Pipeline A, Team B develops Pipeline B</a:t>
            </a:r>
          </a:p>
          <a:p>
            <a:pPr lvl="1"/>
            <a:r>
              <a:rPr lang="en-US" dirty="0"/>
              <a:t>Multiple pipeline stages can contribute to latency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EA0E3A-F66E-4744-9048-13F777BE7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336633311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14E25-0A51-3E9F-A8BB-7D0E3C554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4B2B6B-106B-F3AD-2309-A3B4D0953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microservice program logic</a:t>
            </a:r>
          </a:p>
          <a:p>
            <a:r>
              <a:rPr lang="en-US" dirty="0"/>
              <a:t>An URL the microservice can be accessed at</a:t>
            </a:r>
          </a:p>
          <a:p>
            <a:r>
              <a:rPr lang="en-US" dirty="0"/>
              <a:t>A server to host the microservice</a:t>
            </a:r>
          </a:p>
          <a:p>
            <a:r>
              <a:rPr lang="en-US" b="1" i="1" dirty="0"/>
              <a:t>... too much boilerplate configuration code!!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03FBD27-4D4B-4027-766D-D09CD5B31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all do you need to launch a microservice?</a:t>
            </a:r>
          </a:p>
        </p:txBody>
      </p:sp>
    </p:spTree>
    <p:extLst>
      <p:ext uri="{BB962C8B-B14F-4D97-AF65-F5344CB8AC3E}">
        <p14:creationId xmlns:p14="http://schemas.microsoft.com/office/powerpoint/2010/main" val="991405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AFBB-A9E4-4B03-80A1-EEDEF7844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FACCEB6-3545-0066-0E23-0052C4EAA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Spring Boot?</a:t>
            </a:r>
          </a:p>
          <a:p>
            <a:pPr lvl="1"/>
            <a:r>
              <a:rPr lang="en-US" dirty="0"/>
              <a:t>Framework for creating standalone, production-grade Spring-based applications</a:t>
            </a:r>
          </a:p>
          <a:p>
            <a:pPr lvl="1"/>
            <a:r>
              <a:rPr lang="en-US" dirty="0"/>
              <a:t>Reduces boilerplate configuration code</a:t>
            </a:r>
          </a:p>
          <a:p>
            <a:r>
              <a:rPr lang="en-US" dirty="0"/>
              <a:t>Embedded server (Tomcat/Jetty)</a:t>
            </a:r>
          </a:p>
          <a:p>
            <a:r>
              <a:rPr lang="en-US" dirty="0"/>
              <a:t>Simplifies microservice creation through annotations</a:t>
            </a:r>
          </a:p>
          <a:p>
            <a:r>
              <a:rPr lang="en-US" dirty="0"/>
              <a:t>Built-in support for REST APIs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67E414-B97C-CB18-82CF-F79725E4B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Overview</a:t>
            </a:r>
          </a:p>
        </p:txBody>
      </p:sp>
    </p:spTree>
    <p:extLst>
      <p:ext uri="{BB962C8B-B14F-4D97-AF65-F5344CB8AC3E}">
        <p14:creationId xmlns:p14="http://schemas.microsoft.com/office/powerpoint/2010/main" val="156715652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16AAF45-486C-8E5E-A36C-0145D0EFFC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Spring Boot Project using Spring </a:t>
            </a:r>
            <a:r>
              <a:rPr lang="en-US" dirty="0" err="1"/>
              <a:t>Initializr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https://start.spring.io/</a:t>
            </a:r>
            <a:endParaRPr lang="en-US" dirty="0"/>
          </a:p>
          <a:p>
            <a:r>
              <a:rPr lang="en-US" dirty="0"/>
              <a:t>Select your desired dependencies</a:t>
            </a:r>
          </a:p>
          <a:p>
            <a:r>
              <a:rPr lang="en-US" dirty="0"/>
              <a:t>Generates a project structure with </a:t>
            </a:r>
            <a:r>
              <a:rPr lang="en-US" dirty="0">
                <a:latin typeface="Consolas" panose="020B0609020204030204" pitchFamily="49" charset="0"/>
              </a:rPr>
              <a:t>pom.xml</a:t>
            </a:r>
            <a:r>
              <a:rPr lang="en-US" dirty="0"/>
              <a:t> prepopulated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EE484B2-3D85-E4C2-1DEB-082817E17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a Spring Boot application</a:t>
            </a:r>
          </a:p>
        </p:txBody>
      </p:sp>
    </p:spTree>
    <p:extLst>
      <p:ext uri="{BB962C8B-B14F-4D97-AF65-F5344CB8AC3E}">
        <p14:creationId xmlns:p14="http://schemas.microsoft.com/office/powerpoint/2010/main" val="270739707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A28BE-9A53-400D-C487-24B1AB6F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8D1740-D1FF-8902-44EE-12118F8604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r>
              <a:rPr lang="en-US" dirty="0"/>
              <a:t>// Example of REST API using Spring Boot</a:t>
            </a:r>
          </a:p>
          <a:p>
            <a:r>
              <a:rPr lang="en-US" b="1" dirty="0"/>
              <a:t>@RestController</a:t>
            </a:r>
          </a:p>
          <a:p>
            <a:r>
              <a:rPr lang="en-US" b="1" dirty="0"/>
              <a:t>@RequestMapping("/orders")</a:t>
            </a:r>
          </a:p>
          <a:p>
            <a:r>
              <a:rPr lang="en-US" dirty="0"/>
              <a:t>public class </a:t>
            </a:r>
            <a:r>
              <a:rPr lang="en-US" dirty="0" err="1"/>
              <a:t>OrderController</a:t>
            </a:r>
            <a:r>
              <a:rPr lang="en-US" dirty="0"/>
              <a:t> { </a:t>
            </a:r>
          </a:p>
          <a:p>
            <a:r>
              <a:rPr lang="en-US" dirty="0"/>
              <a:t>   </a:t>
            </a:r>
            <a:r>
              <a:rPr lang="en-US" b="1" dirty="0"/>
              <a:t>@GetMapping("/{id}")    </a:t>
            </a:r>
          </a:p>
          <a:p>
            <a:r>
              <a:rPr lang="en-US" dirty="0"/>
              <a:t>	public Order </a:t>
            </a:r>
            <a:r>
              <a:rPr lang="en-US" dirty="0" err="1"/>
              <a:t>getOrder</a:t>
            </a:r>
            <a:r>
              <a:rPr lang="en-US" dirty="0"/>
              <a:t>(</a:t>
            </a:r>
            <a:r>
              <a:rPr lang="en-US" b="1" dirty="0"/>
              <a:t>@PathVariable</a:t>
            </a:r>
            <a:r>
              <a:rPr lang="en-US" dirty="0"/>
              <a:t> int id){        </a:t>
            </a:r>
          </a:p>
          <a:p>
            <a:r>
              <a:rPr lang="en-US" dirty="0"/>
              <a:t>		return </a:t>
            </a:r>
            <a:r>
              <a:rPr lang="en-US" dirty="0" err="1"/>
              <a:t>orderService.getOrderById</a:t>
            </a:r>
            <a:r>
              <a:rPr lang="en-US" dirty="0"/>
              <a:t>(id);    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7F7040-8E0F-D1BB-3270-E1FEF86D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RESTful microservices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1E4CCD-9D2C-7069-29DE-42DBFE1B04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Create classes that can act as REST endpoints</a:t>
            </a:r>
          </a:p>
          <a:p>
            <a:r>
              <a:rPr lang="en-US" dirty="0"/>
              <a:t>Uses annotations to denote REST endpoint URLs</a:t>
            </a:r>
          </a:p>
          <a:p>
            <a:pPr lvl="1"/>
            <a:r>
              <a:rPr lang="en-US" dirty="0"/>
              <a:t>Allows complete decoupling from the boilerplate code</a:t>
            </a:r>
          </a:p>
          <a:p>
            <a:r>
              <a:rPr lang="en-US" dirty="0"/>
              <a:t>Types of requests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@GetMapping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@PostMapping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@PutMapping</a:t>
            </a:r>
            <a:r>
              <a:rPr lang="en-US" dirty="0"/>
              <a:t>, and so on… for all HTTP methods</a:t>
            </a:r>
          </a:p>
          <a:p>
            <a:r>
              <a:rPr lang="en-US" dirty="0">
                <a:latin typeface="Consolas" panose="020B0609020204030204" pitchFamily="49" charset="0"/>
              </a:rPr>
              <a:t>@PathVariable </a:t>
            </a:r>
            <a:r>
              <a:rPr lang="en-US" dirty="0"/>
              <a:t>– extract variable from request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05350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553D65-7713-38C9-94A1-EB93A03C7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AFF4053-FD91-8BB2-E585-C46B240C7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727E1BC-DCA6-68F9-0E50-E63866B6E8D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Apache httpd abstracts HTTP protocol parsing and network communication</a:t>
            </a:r>
          </a:p>
          <a:p>
            <a:r>
              <a:rPr lang="en-US" dirty="0"/>
              <a:t>Apache Tomcat supports Java servlets with abstract Java code execution on server machine</a:t>
            </a:r>
          </a:p>
          <a:p>
            <a:r>
              <a:rPr lang="en-US" dirty="0"/>
              <a:t>Spring Boot abstracts Java servlets to create microservice endpoints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D0D9F1-B940-A7F0-A96B-9BC25ADD7483}"/>
              </a:ext>
            </a:extLst>
          </p:cNvPr>
          <p:cNvSpPr/>
          <p:nvPr/>
        </p:nvSpPr>
        <p:spPr>
          <a:xfrm>
            <a:off x="6584125" y="1811989"/>
            <a:ext cx="2407475" cy="7151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Apache httpd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9257DEA-42A7-0104-42E0-0DE15BF5A74E}"/>
              </a:ext>
            </a:extLst>
          </p:cNvPr>
          <p:cNvSpPr/>
          <p:nvPr/>
        </p:nvSpPr>
        <p:spPr>
          <a:xfrm>
            <a:off x="6584125" y="2758240"/>
            <a:ext cx="2407475" cy="715108"/>
          </a:xfrm>
          <a:prstGeom prst="round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Apache Tomcat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CB9AAA-37C6-68EF-8706-65F5FAA03D78}"/>
              </a:ext>
            </a:extLst>
          </p:cNvPr>
          <p:cNvSpPr/>
          <p:nvPr/>
        </p:nvSpPr>
        <p:spPr>
          <a:xfrm>
            <a:off x="6584125" y="3786554"/>
            <a:ext cx="3138550" cy="715108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Spring Boot microservices</a:t>
            </a:r>
          </a:p>
        </p:txBody>
      </p:sp>
    </p:spTree>
    <p:extLst>
      <p:ext uri="{BB962C8B-B14F-4D97-AF65-F5344CB8AC3E}">
        <p14:creationId xmlns:p14="http://schemas.microsoft.com/office/powerpoint/2010/main" val="936702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4B912-B332-328A-FC11-07C434519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215EB0-0678-0768-C2DD-E7BF5FDBA6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3728381"/>
          </a:xfrm>
        </p:spPr>
        <p:txBody>
          <a:bodyPr>
            <a:normAutofit/>
          </a:bodyPr>
          <a:lstStyle/>
          <a:p>
            <a:r>
              <a:rPr lang="en-US" dirty="0"/>
              <a:t>A software design pattern where data flows through a series of processing stages, or "filters," connected by channels</a:t>
            </a:r>
          </a:p>
          <a:p>
            <a:r>
              <a:rPr lang="en-US" dirty="0"/>
              <a:t>Each stage can be a microservice</a:t>
            </a:r>
          </a:p>
          <a:p>
            <a:r>
              <a:rPr lang="en-US" dirty="0"/>
              <a:t>Each stage transforms the input data and passes the result to the next stage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30187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0354B53-6962-3BB3-BFCE-34ADD5B13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architecture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1404CF-E423-B090-5549-BF3E9D8AD926}"/>
              </a:ext>
            </a:extLst>
          </p:cNvPr>
          <p:cNvSpPr txBox="1"/>
          <p:nvPr/>
        </p:nvSpPr>
        <p:spPr>
          <a:xfrm>
            <a:off x="1208860" y="4689231"/>
            <a:ext cx="97742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tx2">
                    <a:lumMod val="75000"/>
                  </a:schemeClr>
                </a:solidFill>
              </a:rPr>
              <a:t>Input</a:t>
            </a:r>
            <a:r>
              <a:rPr lang="en-US" sz="3200" dirty="0"/>
              <a:t>   </a:t>
            </a:r>
            <a:r>
              <a:rPr lang="en-US" sz="3200" dirty="0">
                <a:sym typeface="Wingdings" panose="05000000000000000000" pitchFamily="2" charset="2"/>
              </a:rPr>
              <a:t> </a:t>
            </a:r>
            <a:r>
              <a:rPr lang="en-US" sz="3200" dirty="0"/>
              <a:t> [Stage 1]  </a:t>
            </a:r>
            <a:r>
              <a:rPr lang="en-US" sz="3200" dirty="0">
                <a:sym typeface="Wingdings" panose="05000000000000000000" pitchFamily="2" charset="2"/>
              </a:rPr>
              <a:t>  [Stage 2]    [Stage 3]   </a:t>
            </a:r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Output</a:t>
            </a:r>
            <a:endParaRPr lang="en-US" sz="3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483806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E4AB2-2F91-F17B-F3DD-FE8D8260E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C13771-65B9-061A-DE92-3253F3ED6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3728381"/>
          </a:xfrm>
        </p:spPr>
        <p:txBody>
          <a:bodyPr>
            <a:normAutofit/>
          </a:bodyPr>
          <a:lstStyle/>
          <a:p>
            <a:r>
              <a:rPr lang="en-US" dirty="0"/>
              <a:t>Modularity: Each stage performs a specific task independently</a:t>
            </a:r>
          </a:p>
          <a:p>
            <a:r>
              <a:rPr lang="en-US" dirty="0"/>
              <a:t>Sequential processing: Data flows linearly from one stage to another</a:t>
            </a:r>
          </a:p>
          <a:p>
            <a:r>
              <a:rPr lang="en-US" dirty="0"/>
              <a:t>Reusability: Each pipeline stage can be reused in other applications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30187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88F540-8559-B99F-29CE-9A262B07B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characteristics</a:t>
            </a:r>
          </a:p>
        </p:txBody>
      </p:sp>
    </p:spTree>
    <p:extLst>
      <p:ext uri="{BB962C8B-B14F-4D97-AF65-F5344CB8AC3E}">
        <p14:creationId xmlns:p14="http://schemas.microsoft.com/office/powerpoint/2010/main" val="405473760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523F5-0B58-04CF-803D-2753B9D30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A0F7AD-3D59-D616-90B7-BD633B4AD8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Extract-transform-load (ETL) pipeline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17067E-EC75-2D44-2F62-A5249EB72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processing pipeline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BEDE85-B212-BC74-B727-FE8D0398C182}"/>
              </a:ext>
            </a:extLst>
          </p:cNvPr>
          <p:cNvGrpSpPr/>
          <p:nvPr/>
        </p:nvGrpSpPr>
        <p:grpSpPr>
          <a:xfrm>
            <a:off x="845050" y="1446421"/>
            <a:ext cx="10480431" cy="4312794"/>
            <a:chOff x="845050" y="1352637"/>
            <a:chExt cx="10480431" cy="4312794"/>
          </a:xfrm>
        </p:grpSpPr>
        <p:pic>
          <p:nvPicPr>
            <p:cNvPr id="5122" name="Picture 2" descr="What is Data Pipeline: Components, Types, and Use Cases">
              <a:extLst>
                <a:ext uri="{FF2B5EF4-FFF2-40B4-BE49-F238E27FC236}">
                  <a16:creationId xmlns:a16="http://schemas.microsoft.com/office/drawing/2014/main" id="{A3472A2A-098F-102F-C6B6-74964F0D2F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5050" y="1352637"/>
              <a:ext cx="10480431" cy="42699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AB4804C9-FBDD-C97F-B537-703125F91864}"/>
                </a:ext>
              </a:extLst>
            </p:cNvPr>
            <p:cNvSpPr txBox="1"/>
            <p:nvPr/>
          </p:nvSpPr>
          <p:spPr>
            <a:xfrm>
              <a:off x="3634154" y="5357654"/>
              <a:ext cx="6096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https://www.altexsoft.com/blog/data-pipeline-components-and-types/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6BAD019-1CC1-38FF-C0FC-C9867D24ACD6}"/>
                </a:ext>
              </a:extLst>
            </p:cNvPr>
            <p:cNvSpPr/>
            <p:nvPr/>
          </p:nvSpPr>
          <p:spPr>
            <a:xfrm>
              <a:off x="9425354" y="4841631"/>
              <a:ext cx="1887415" cy="69166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6461824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B0C85-C2D7-6217-3763-B25B2B83E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C9C4953-4E59-7F0C-A9AD-6C50CAC5E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597E9E1-8B7E-8FA4-E94A-90179B567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Compiler pipeline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C06A5C40-5F38-C6FF-AF88-06AD621451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7973" y="785004"/>
            <a:ext cx="5850626" cy="5218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350724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C1E2B-B8DC-6EC6-1239-5A51BC65C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9D05266-D74D-1590-0BE7-7B18F758D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Encapsulation and modularity: easy to replace individual pipeline stage</a:t>
            </a:r>
          </a:p>
          <a:p>
            <a:pPr lvl="1"/>
            <a:r>
              <a:rPr lang="en-US" dirty="0"/>
              <a:t>Scalability: individual stage can be scaled independently</a:t>
            </a:r>
          </a:p>
          <a:p>
            <a:pPr lvl="1"/>
            <a:r>
              <a:rPr lang="en-US" dirty="0"/>
              <a:t>East of testing: each stage can be tested independently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Debugging: debugging complex flows through multiple stages is hard</a:t>
            </a:r>
          </a:p>
          <a:p>
            <a:pPr lvl="1"/>
            <a:r>
              <a:rPr lang="en-US" dirty="0"/>
              <a:t>Hard to track data flow </a:t>
            </a:r>
            <a:r>
              <a:rPr lang="en-US" dirty="0">
                <a:sym typeface="Wingdings" panose="05000000000000000000" pitchFamily="2" charset="2"/>
              </a:rPr>
              <a:t> can cause security issues</a:t>
            </a:r>
          </a:p>
          <a:p>
            <a:pPr lvl="2"/>
            <a:r>
              <a:rPr lang="en-US" dirty="0"/>
              <a:t>Team A develops Pipeline A, Team B develops Pipeline B</a:t>
            </a:r>
          </a:p>
          <a:p>
            <a:pPr lvl="1"/>
            <a:r>
              <a:rPr lang="en-US" dirty="0"/>
              <a:t>Multiple pipeline stages can contribute to latency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15643AE-B7A6-C548-EDE3-F8ACE768B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235734722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9FEBF51-A013-6891-D669-F57BB3B1C8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0D3B66-D984-7D4F-2DAD-0D124A9B61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</p:spTree>
    <p:extLst>
      <p:ext uri="{BB962C8B-B14F-4D97-AF65-F5344CB8AC3E}">
        <p14:creationId xmlns:p14="http://schemas.microsoft.com/office/powerpoint/2010/main" val="137696185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E2E265-A915-833F-3872-E8D6A223CE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Quick recap – server-client architecture, web servers, application servers, microservices</a:t>
            </a:r>
          </a:p>
          <a:p>
            <a:r>
              <a:rPr lang="en-US" dirty="0"/>
              <a:t>Spring boot microservices</a:t>
            </a:r>
          </a:p>
          <a:p>
            <a:r>
              <a:rPr lang="en-US" dirty="0"/>
              <a:t>Spring boot microservices demo</a:t>
            </a:r>
          </a:p>
          <a:p>
            <a:r>
              <a:rPr lang="en-US" dirty="0"/>
              <a:t>Communication styles – RPC, </a:t>
            </a:r>
            <a:r>
              <a:rPr lang="en-US" dirty="0" err="1"/>
              <a:t>MessageQueue</a:t>
            </a:r>
            <a:r>
              <a:rPr lang="en-US" dirty="0"/>
              <a:t>/Pub-sub architecture</a:t>
            </a:r>
          </a:p>
          <a:p>
            <a:r>
              <a:rPr lang="en-US" dirty="0">
                <a:solidFill>
                  <a:srgbClr val="B8B8B8"/>
                </a:solidFill>
              </a:rPr>
              <a:t>Design patterns</a:t>
            </a:r>
          </a:p>
          <a:p>
            <a:r>
              <a:rPr lang="en-US" dirty="0">
                <a:solidFill>
                  <a:srgbClr val="B8B8B8"/>
                </a:solidFill>
              </a:rPr>
              <a:t>Continuous deployment (during HW3 discussion)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79DD75-7A28-D93E-E01F-69F7CD9A5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239CF2B-4F45-24E1-0B82-F6ACF090118C}"/>
              </a:ext>
            </a:extLst>
          </p:cNvPr>
          <p:cNvCxnSpPr/>
          <p:nvPr/>
        </p:nvCxnSpPr>
        <p:spPr>
          <a:xfrm>
            <a:off x="0" y="4126524"/>
            <a:ext cx="12192000" cy="0"/>
          </a:xfrm>
          <a:prstGeom prst="line">
            <a:avLst/>
          </a:prstGeom>
          <a:ln w="22225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915239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1C2D2E8-6792-DCDC-87B8-720F20FB69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server</a:t>
            </a:r>
          </a:p>
          <a:p>
            <a:r>
              <a:rPr lang="en-US" b="1" i="1" dirty="0"/>
              <a:t>Large, monolithic </a:t>
            </a:r>
            <a:r>
              <a:rPr lang="en-US" dirty="0"/>
              <a:t>application</a:t>
            </a:r>
            <a:endParaRPr lang="en-US" b="1" i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628E55-729D-0D02-0D9C-E92E41438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– server client architecture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30EC66D0-4A4B-E342-F8CF-2A582F7258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7085" y="2776900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804332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9FFD51-9712-7FAE-1870-5418F1142E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GET request - Used to r</a:t>
            </a:r>
            <a:r>
              <a:rPr lang="en-US" dirty="0"/>
              <a:t>etrieve data from the server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GET /index.html HTTP/1.1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GET /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index.html?name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=ECS160&amp;data=02132025</a:t>
            </a:r>
          </a:p>
          <a:p>
            <a:pPr marL="230187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F423760-79C7-F6ED-D956-0145C697E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GET and POST request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20DC6EC-4611-1A52-2E36-B267F14AAFA5}"/>
              </a:ext>
            </a:extLst>
          </p:cNvPr>
          <p:cNvGrpSpPr/>
          <p:nvPr/>
        </p:nvGrpSpPr>
        <p:grpSpPr>
          <a:xfrm>
            <a:off x="1552423" y="1508956"/>
            <a:ext cx="2074985" cy="1080085"/>
            <a:chOff x="1430215" y="1441938"/>
            <a:chExt cx="2074985" cy="108008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FF65D3E-750C-2A75-7CEA-72FF37620FA6}"/>
                </a:ext>
              </a:extLst>
            </p:cNvPr>
            <p:cNvSpPr/>
            <p:nvPr/>
          </p:nvSpPr>
          <p:spPr>
            <a:xfrm>
              <a:off x="1430215" y="1441938"/>
              <a:ext cx="2074985" cy="539262"/>
            </a:xfrm>
            <a:prstGeom prst="rect">
              <a:avLst/>
            </a:prstGeom>
            <a:noFill/>
            <a:ln w="571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AB97C49-5FD4-B2BA-B65B-BA0E183523D7}"/>
                </a:ext>
              </a:extLst>
            </p:cNvPr>
            <p:cNvSpPr txBox="1"/>
            <p:nvPr/>
          </p:nvSpPr>
          <p:spPr>
            <a:xfrm>
              <a:off x="1997065" y="1875692"/>
              <a:ext cx="94128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i="1" dirty="0"/>
                <a:t>URL</a:t>
              </a:r>
              <a:endParaRPr lang="en-US" b="1" i="1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EC3BF05-8962-2D05-E6CC-C74EB2C86013}"/>
              </a:ext>
            </a:extLst>
          </p:cNvPr>
          <p:cNvGrpSpPr/>
          <p:nvPr/>
        </p:nvGrpSpPr>
        <p:grpSpPr>
          <a:xfrm>
            <a:off x="3423139" y="2445485"/>
            <a:ext cx="4630615" cy="1080085"/>
            <a:chOff x="1430215" y="1441938"/>
            <a:chExt cx="2074985" cy="108008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5CDFF9F-B795-5270-34AD-654D51100945}"/>
                </a:ext>
              </a:extLst>
            </p:cNvPr>
            <p:cNvSpPr/>
            <p:nvPr/>
          </p:nvSpPr>
          <p:spPr>
            <a:xfrm>
              <a:off x="1430215" y="1441938"/>
              <a:ext cx="2074985" cy="539262"/>
            </a:xfrm>
            <a:prstGeom prst="rect">
              <a:avLst/>
            </a:prstGeom>
            <a:noFill/>
            <a:ln w="571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452A719-1561-BF9E-6B69-183E01049AB8}"/>
                </a:ext>
              </a:extLst>
            </p:cNvPr>
            <p:cNvSpPr txBox="1"/>
            <p:nvPr/>
          </p:nvSpPr>
          <p:spPr>
            <a:xfrm>
              <a:off x="1521748" y="1875692"/>
              <a:ext cx="193767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i="1" dirty="0"/>
                <a:t>Request parameters</a:t>
              </a:r>
              <a:endParaRPr lang="en-US" b="1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618554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E8F71-1A99-11A5-F297-88350A554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51DDC8-2A4F-7185-FD3D-B98148C19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POST request - used to send data to the server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POST /users HTTP/1.1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Content-Type: application/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json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{  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"name": "John Doe",  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"email":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  <a:hlinkClick r:id="rId2"/>
              </a:rPr>
              <a:t>john.doe@example.com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AED546-BFE3-0141-A865-8F9B7588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GET and POST request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B7E58F0-CA1D-AF2E-D878-3B7A86ABF201}"/>
              </a:ext>
            </a:extLst>
          </p:cNvPr>
          <p:cNvGrpSpPr/>
          <p:nvPr/>
        </p:nvGrpSpPr>
        <p:grpSpPr>
          <a:xfrm>
            <a:off x="1652954" y="1060973"/>
            <a:ext cx="2207377" cy="903843"/>
            <a:chOff x="1734799" y="1042164"/>
            <a:chExt cx="3584455" cy="90384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E3907F6-F247-B6A3-AA3A-476D9B16567B}"/>
                </a:ext>
              </a:extLst>
            </p:cNvPr>
            <p:cNvSpPr/>
            <p:nvPr/>
          </p:nvSpPr>
          <p:spPr>
            <a:xfrm>
              <a:off x="1734799" y="1406745"/>
              <a:ext cx="2074985" cy="539262"/>
            </a:xfrm>
            <a:prstGeom prst="rect">
              <a:avLst/>
            </a:prstGeom>
            <a:noFill/>
            <a:ln w="571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1AFC6A0-5097-C922-635D-B973765E0456}"/>
                </a:ext>
              </a:extLst>
            </p:cNvPr>
            <p:cNvSpPr txBox="1"/>
            <p:nvPr/>
          </p:nvSpPr>
          <p:spPr>
            <a:xfrm>
              <a:off x="3790749" y="1042164"/>
              <a:ext cx="15285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i="1" dirty="0"/>
                <a:t>URL</a:t>
              </a:r>
              <a:endParaRPr lang="en-US" b="1" i="1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CA8689E-9448-BFD8-72CE-E7CFDD975B59}"/>
              </a:ext>
            </a:extLst>
          </p:cNvPr>
          <p:cNvGrpSpPr/>
          <p:nvPr/>
        </p:nvGrpSpPr>
        <p:grpSpPr>
          <a:xfrm>
            <a:off x="723393" y="2217610"/>
            <a:ext cx="8338545" cy="1545501"/>
            <a:chOff x="1734799" y="1211311"/>
            <a:chExt cx="3030230" cy="42438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1E1BEB4-BE2B-C283-EF68-8A93EE332F61}"/>
                </a:ext>
              </a:extLst>
            </p:cNvPr>
            <p:cNvSpPr/>
            <p:nvPr/>
          </p:nvSpPr>
          <p:spPr>
            <a:xfrm>
              <a:off x="1734799" y="1247075"/>
              <a:ext cx="2074985" cy="388621"/>
            </a:xfrm>
            <a:prstGeom prst="rect">
              <a:avLst/>
            </a:prstGeom>
            <a:noFill/>
            <a:ln w="571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6D71FD2-9B62-5DF4-A473-D73C4EEB3792}"/>
                </a:ext>
              </a:extLst>
            </p:cNvPr>
            <p:cNvSpPr txBox="1"/>
            <p:nvPr/>
          </p:nvSpPr>
          <p:spPr>
            <a:xfrm>
              <a:off x="3873774" y="1211311"/>
              <a:ext cx="891255" cy="1774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i="1" dirty="0"/>
                <a:t>Post “body”</a:t>
              </a:r>
              <a:endParaRPr lang="en-US" b="1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365175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2C825-B908-789E-E72F-5704413D0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3BD5E3-A56A-D02B-2D48-5DC07326C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at Uber (2019)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8973A7-ECAA-3FC6-C080-C2A84758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Diagram of Uber’s microservices architecture from 2019">
            <a:extLst>
              <a:ext uri="{FF2B5EF4-FFF2-40B4-BE49-F238E27FC236}">
                <a16:creationId xmlns:a16="http://schemas.microsoft.com/office/drawing/2014/main" id="{77F375F4-03D0-1A5D-DDDA-9A0F5100AE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87" y="1257300"/>
            <a:ext cx="6143625" cy="403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43DE3BC-4471-CD35-AD7E-E905697846FD}"/>
              </a:ext>
            </a:extLst>
          </p:cNvPr>
          <p:cNvSpPr txBox="1"/>
          <p:nvPr/>
        </p:nvSpPr>
        <p:spPr>
          <a:xfrm>
            <a:off x="7315200" y="5597719"/>
            <a:ext cx="32848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https://x.com/msuriar/status/1110244877424578560</a:t>
            </a:r>
          </a:p>
        </p:txBody>
      </p:sp>
    </p:spTree>
    <p:extLst>
      <p:ext uri="{BB962C8B-B14F-4D97-AF65-F5344CB8AC3E}">
        <p14:creationId xmlns:p14="http://schemas.microsoft.com/office/powerpoint/2010/main" val="351733455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FA698-68A7-C5A3-94EC-07E33C429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DD2DE2F-DCF5-2B26-53F4-251BE55BC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Communication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4E2A72-9A23-BF99-6BEF-8756FC0F5B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Diagram of Uber’s microservices architecture from 2019">
            <a:extLst>
              <a:ext uri="{FF2B5EF4-FFF2-40B4-BE49-F238E27FC236}">
                <a16:creationId xmlns:a16="http://schemas.microsoft.com/office/drawing/2014/main" id="{CA8D9B60-F67D-49DA-DC2A-1C6F7F65D2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87" y="1257300"/>
            <a:ext cx="6143625" cy="403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A6E35C3-B4C5-E00D-CF5A-2D40D421FE96}"/>
              </a:ext>
            </a:extLst>
          </p:cNvPr>
          <p:cNvSpPr txBox="1"/>
          <p:nvPr/>
        </p:nvSpPr>
        <p:spPr>
          <a:xfrm>
            <a:off x="7315200" y="5597719"/>
            <a:ext cx="32848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https://x.com/msuriar/status/1110244877424578560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EA66C2-661D-B98E-009E-D3906A357B51}"/>
              </a:ext>
            </a:extLst>
          </p:cNvPr>
          <p:cNvSpPr/>
          <p:nvPr/>
        </p:nvSpPr>
        <p:spPr>
          <a:xfrm>
            <a:off x="6492710" y="2053883"/>
            <a:ext cx="562707" cy="398584"/>
          </a:xfrm>
          <a:prstGeom prst="rect">
            <a:avLst/>
          </a:prstGeom>
          <a:noFill/>
          <a:ln w="412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571455-F14D-05E5-C54B-7BD4E54DEB7F}"/>
              </a:ext>
            </a:extLst>
          </p:cNvPr>
          <p:cNvSpPr/>
          <p:nvPr/>
        </p:nvSpPr>
        <p:spPr>
          <a:xfrm>
            <a:off x="1183456" y="5216604"/>
            <a:ext cx="10059549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How do two microservices communicate with each other?</a:t>
            </a:r>
          </a:p>
        </p:txBody>
      </p:sp>
    </p:spTree>
    <p:extLst>
      <p:ext uri="{BB962C8B-B14F-4D97-AF65-F5344CB8AC3E}">
        <p14:creationId xmlns:p14="http://schemas.microsoft.com/office/powerpoint/2010/main" val="3015290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9B9F2D-22A7-CC88-C1F4-7803E64217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Library/framework gives the illusion that the other microservice is running locally</a:t>
            </a:r>
          </a:p>
          <a:p>
            <a:pPr lvl="1"/>
            <a:r>
              <a:rPr lang="en-US" dirty="0"/>
              <a:t>Protocol that allows a program to execute a procedure on a remote server as if it were local</a:t>
            </a:r>
          </a:p>
          <a:p>
            <a:r>
              <a:rPr lang="en-US" dirty="0"/>
              <a:t>Synchronous communication – caller waits for response before proceeding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56B7FD5-53FD-524A-6E8B-E0B683757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Remote procedure call (RPC)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FADC11C-D3B6-35EE-56FD-8AEE817D1815}"/>
              </a:ext>
            </a:extLst>
          </p:cNvPr>
          <p:cNvGrpSpPr/>
          <p:nvPr/>
        </p:nvGrpSpPr>
        <p:grpSpPr>
          <a:xfrm>
            <a:off x="2836985" y="3739661"/>
            <a:ext cx="6956860" cy="2264324"/>
            <a:chOff x="2142041" y="3516866"/>
            <a:chExt cx="6956860" cy="2264324"/>
          </a:xfrm>
        </p:grpSpPr>
        <p:pic>
          <p:nvPicPr>
            <p:cNvPr id="5124" name="Picture 4" descr="Microservice - Free web icons">
              <a:extLst>
                <a:ext uri="{FF2B5EF4-FFF2-40B4-BE49-F238E27FC236}">
                  <a16:creationId xmlns:a16="http://schemas.microsoft.com/office/drawing/2014/main" id="{F7D82BC4-C285-09E5-EBA8-C09CDB6D91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42041" y="3596885"/>
              <a:ext cx="1805353" cy="18053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26" name="Picture 6" descr="Microservice - Free networking icons">
              <a:extLst>
                <a:ext uri="{FF2B5EF4-FFF2-40B4-BE49-F238E27FC236}">
                  <a16:creationId xmlns:a16="http://schemas.microsoft.com/office/drawing/2014/main" id="{3D43B62C-B0B1-6B8C-72ED-175DC3EB07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93548" y="3596885"/>
              <a:ext cx="1805353" cy="18053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D7B2485-2779-2DD9-BBE6-C7565659BDC8}"/>
                </a:ext>
              </a:extLst>
            </p:cNvPr>
            <p:cNvCxnSpPr/>
            <p:nvPr/>
          </p:nvCxnSpPr>
          <p:spPr>
            <a:xfrm>
              <a:off x="4237892" y="3997566"/>
              <a:ext cx="3000570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F0107CB-8001-9816-B4AD-B656757A1D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37892" y="4888520"/>
              <a:ext cx="3000570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D12C362-E15A-BDD9-F53F-12AD9460CB55}"/>
                </a:ext>
              </a:extLst>
            </p:cNvPr>
            <p:cNvSpPr txBox="1"/>
            <p:nvPr/>
          </p:nvSpPr>
          <p:spPr>
            <a:xfrm>
              <a:off x="5259295" y="3516866"/>
              <a:ext cx="9577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Request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FE1D580-9735-A433-0081-8A79B3A32D9E}"/>
                </a:ext>
              </a:extLst>
            </p:cNvPr>
            <p:cNvSpPr txBox="1"/>
            <p:nvPr/>
          </p:nvSpPr>
          <p:spPr>
            <a:xfrm>
              <a:off x="5260105" y="5032906"/>
              <a:ext cx="10869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Response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48CAB65-957D-2C17-5BED-9BCC6D27575A}"/>
                </a:ext>
              </a:extLst>
            </p:cNvPr>
            <p:cNvSpPr txBox="1"/>
            <p:nvPr/>
          </p:nvSpPr>
          <p:spPr>
            <a:xfrm>
              <a:off x="2142041" y="5411858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A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FB52F21-C219-36EE-FC85-3CBE9F49E0F6}"/>
                </a:ext>
              </a:extLst>
            </p:cNvPr>
            <p:cNvSpPr txBox="1"/>
            <p:nvPr/>
          </p:nvSpPr>
          <p:spPr>
            <a:xfrm>
              <a:off x="7399178" y="5411858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8196438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A6ACD-FCC8-3D7E-F3A7-32E765585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C9D47D5-2DDA-BD47-7300-EE065128F5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Language agnostic: the RPC itself does not depend on the service language</a:t>
            </a:r>
          </a:p>
          <a:p>
            <a:r>
              <a:rPr lang="en-US" dirty="0"/>
              <a:t>Abstracts network details</a:t>
            </a:r>
          </a:p>
          <a:p>
            <a:pPr lvl="1"/>
            <a:r>
              <a:rPr lang="en-US" dirty="0"/>
              <a:t>Typically, over HTTP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929A51-83A7-CB52-5641-507E3E094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RPC key features</a:t>
            </a:r>
          </a:p>
        </p:txBody>
      </p:sp>
    </p:spTree>
    <p:extLst>
      <p:ext uri="{BB962C8B-B14F-4D97-AF65-F5344CB8AC3E}">
        <p14:creationId xmlns:p14="http://schemas.microsoft.com/office/powerpoint/2010/main" val="138748427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EA6C8-5421-FC72-2A73-6A16B0B61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67A304C-1BA9-A3AC-B838-B56034F777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Text-based (e.g. REST APIs)</a:t>
            </a:r>
          </a:p>
          <a:p>
            <a:pPr lvl="1"/>
            <a:r>
              <a:rPr lang="en-US" dirty="0"/>
              <a:t>Uses JSON or XML for data exchange</a:t>
            </a:r>
          </a:p>
          <a:p>
            <a:pPr lvl="1"/>
            <a:r>
              <a:rPr lang="en-US" dirty="0"/>
              <a:t>Human-readable, but larger payloads</a:t>
            </a:r>
          </a:p>
          <a:p>
            <a:r>
              <a:rPr lang="en-US" dirty="0"/>
              <a:t>Binary formats (e.g. </a:t>
            </a:r>
            <a:r>
              <a:rPr lang="en-US" dirty="0" err="1"/>
              <a:t>gRPC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Uses binary standards (such as </a:t>
            </a:r>
            <a:r>
              <a:rPr lang="en-US" dirty="0" err="1">
                <a:latin typeface="Consolas" panose="020B0609020204030204" pitchFamily="49" charset="0"/>
              </a:rPr>
              <a:t>protobuf</a:t>
            </a:r>
            <a:r>
              <a:rPr lang="en-US" dirty="0"/>
              <a:t>) for serialization</a:t>
            </a:r>
          </a:p>
          <a:p>
            <a:pPr lvl="1"/>
            <a:r>
              <a:rPr lang="en-US" dirty="0"/>
              <a:t>Compact but faster, but less human-readable </a:t>
            </a:r>
          </a:p>
          <a:p>
            <a:pPr lvl="2"/>
            <a:r>
              <a:rPr lang="en-US" dirty="0"/>
              <a:t>… </a:t>
            </a:r>
            <a:r>
              <a:rPr lang="en-US" b="1" i="1" dirty="0"/>
              <a:t>why?</a:t>
            </a:r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981904-3287-7EE7-FBF4-98A9495F2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RPC formats</a:t>
            </a:r>
          </a:p>
        </p:txBody>
      </p:sp>
    </p:spTree>
    <p:extLst>
      <p:ext uri="{BB962C8B-B14F-4D97-AF65-F5344CB8AC3E}">
        <p14:creationId xmlns:p14="http://schemas.microsoft.com/office/powerpoint/2010/main" val="305021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93C86-4C1B-4AC8-C53F-F5FDF92C6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128E68-C95B-ACB5-3DD0-26D9F9724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// GET Request to Fetch a User denoted by ID</a:t>
            </a:r>
            <a:br>
              <a:rPr lang="en-US" dirty="0"/>
            </a:br>
            <a:br>
              <a:rPr lang="en-US" dirty="0"/>
            </a:br>
            <a:r>
              <a:rPr lang="en-US" dirty="0"/>
              <a:t>&gt; </a:t>
            </a:r>
            <a:r>
              <a:rPr lang="en-US" b="1" dirty="0"/>
              <a:t>GET /users/123</a:t>
            </a:r>
            <a:br>
              <a:rPr lang="en-US" b="1" dirty="0"/>
            </a:br>
            <a:br>
              <a:rPr lang="en-US" b="1" dirty="0"/>
            </a:br>
            <a:r>
              <a:rPr lang="en-US" dirty="0"/>
              <a:t>// Response</a:t>
            </a:r>
          </a:p>
          <a:p>
            <a:endParaRPr lang="en-US" dirty="0"/>
          </a:p>
          <a:p>
            <a:r>
              <a:rPr lang="en-US" dirty="0"/>
              <a:t>{  </a:t>
            </a:r>
          </a:p>
          <a:p>
            <a:r>
              <a:rPr lang="en-US" dirty="0"/>
              <a:t>	"id": 123,  </a:t>
            </a:r>
          </a:p>
          <a:p>
            <a:r>
              <a:rPr lang="en-US" dirty="0"/>
              <a:t>	"name": "John Doe",  </a:t>
            </a:r>
          </a:p>
          <a:p>
            <a:r>
              <a:rPr lang="en-US" dirty="0"/>
              <a:t>	"email": </a:t>
            </a:r>
            <a:r>
              <a:rPr lang="en-US" dirty="0">
                <a:hlinkClick r:id="rId3"/>
              </a:rPr>
              <a:t>john.doe@example.com</a:t>
            </a:r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9BF3AFE-9AF6-466E-58C1-6551140DF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JSON and REST APIs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3BCCF5-0C3B-B981-B560-60AD2023F0E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Representational State Transfer (REST) is an architectural style for web services</a:t>
            </a:r>
          </a:p>
          <a:p>
            <a:r>
              <a:rPr lang="en-US" dirty="0"/>
              <a:t>Application/microservice exposes an URL</a:t>
            </a:r>
          </a:p>
          <a:p>
            <a:r>
              <a:rPr lang="en-US" dirty="0"/>
              <a:t>Uses HTTP methods (GET, POST, PUT, DELETE) to perform operations on resources</a:t>
            </a:r>
          </a:p>
          <a:p>
            <a:r>
              <a:rPr lang="en-US" dirty="0"/>
              <a:t>Commonly paired with JSON for data exchange</a:t>
            </a:r>
          </a:p>
        </p:txBody>
      </p:sp>
    </p:spTree>
    <p:extLst>
      <p:ext uri="{BB962C8B-B14F-4D97-AF65-F5344CB8AC3E}">
        <p14:creationId xmlns:p14="http://schemas.microsoft.com/office/powerpoint/2010/main" val="123268698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AFBB-A9E4-4B03-80A1-EEDEF7844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FACCEB6-3545-0066-0E23-0052C4EAA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Framework for creating RESTful microservices</a:t>
            </a:r>
            <a:endParaRPr lang="en-US" b="1" i="1" dirty="0"/>
          </a:p>
          <a:p>
            <a:r>
              <a:rPr lang="en-US" dirty="0"/>
              <a:t>Reduces boilerplate configuration code</a:t>
            </a:r>
          </a:p>
          <a:p>
            <a:r>
              <a:rPr lang="en-US" dirty="0"/>
              <a:t>Embedded server (Tomcat/Jetty)</a:t>
            </a:r>
          </a:p>
          <a:p>
            <a:r>
              <a:rPr lang="en-US" dirty="0"/>
              <a:t>Simplifies microservice creation through annotations</a:t>
            </a:r>
          </a:p>
          <a:p>
            <a:r>
              <a:rPr lang="en-US" dirty="0"/>
              <a:t>Built-in support for REST APIs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67E414-B97C-CB18-82CF-F79725E4B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Overview</a:t>
            </a:r>
          </a:p>
        </p:txBody>
      </p:sp>
    </p:spTree>
    <p:extLst>
      <p:ext uri="{BB962C8B-B14F-4D97-AF65-F5344CB8AC3E}">
        <p14:creationId xmlns:p14="http://schemas.microsoft.com/office/powerpoint/2010/main" val="69763800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16AAF45-486C-8E5E-A36C-0145D0EFFC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Tricky to set up </a:t>
            </a:r>
            <a:r>
              <a:rPr lang="en-US" dirty="0">
                <a:latin typeface="Consolas" panose="020B0609020204030204" pitchFamily="49" charset="0"/>
              </a:rPr>
              <a:t>pom.xml </a:t>
            </a:r>
            <a:r>
              <a:rPr lang="en-US" dirty="0"/>
              <a:t>by hand for a Spring Boot microservice</a:t>
            </a:r>
          </a:p>
          <a:p>
            <a:r>
              <a:rPr lang="en-US" dirty="0"/>
              <a:t>Create a Spring Boot Project using Spring </a:t>
            </a:r>
            <a:r>
              <a:rPr lang="en-US" dirty="0" err="1"/>
              <a:t>Initializr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https://start.spring.io/</a:t>
            </a:r>
            <a:endParaRPr lang="en-US" dirty="0"/>
          </a:p>
          <a:p>
            <a:r>
              <a:rPr lang="en-US" dirty="0"/>
              <a:t>Select your desired dependencies</a:t>
            </a:r>
          </a:p>
          <a:p>
            <a:r>
              <a:rPr lang="en-US" dirty="0"/>
              <a:t>Generates a project structure with </a:t>
            </a:r>
            <a:r>
              <a:rPr lang="en-US" dirty="0">
                <a:latin typeface="Consolas" panose="020B0609020204030204" pitchFamily="49" charset="0"/>
              </a:rPr>
              <a:t>pom.xml</a:t>
            </a:r>
            <a:r>
              <a:rPr lang="en-US" dirty="0"/>
              <a:t> prepopulated</a:t>
            </a:r>
          </a:p>
          <a:p>
            <a:r>
              <a:rPr lang="en-US" dirty="0"/>
              <a:t>You will be provided with this skeleton for HW3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EE484B2-3D85-E4C2-1DEB-082817E17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a Spring Boot application</a:t>
            </a:r>
          </a:p>
        </p:txBody>
      </p:sp>
    </p:spTree>
    <p:extLst>
      <p:ext uri="{BB962C8B-B14F-4D97-AF65-F5344CB8AC3E}">
        <p14:creationId xmlns:p14="http://schemas.microsoft.com/office/powerpoint/2010/main" val="205072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A28BE-9A53-400D-C487-24B1AB6F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8D1740-D1FF-8902-44EE-12118F8604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MyRequest</a:t>
            </a:r>
            <a:r>
              <a:rPr lang="en-US" dirty="0"/>
              <a:t> {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postDate</a:t>
            </a:r>
            <a:r>
              <a:rPr lang="en-US" dirty="0"/>
              <a:t>;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// .. Getters and setters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@RestController</a:t>
            </a:r>
          </a:p>
          <a:p>
            <a:r>
              <a:rPr lang="en-US" b="1" dirty="0"/>
              <a:t>@RequestMapping("/myservice")</a:t>
            </a:r>
          </a:p>
          <a:p>
            <a:r>
              <a:rPr lang="en-US" dirty="0"/>
              <a:t>public class </a:t>
            </a:r>
            <a:r>
              <a:rPr lang="en-US" dirty="0" err="1"/>
              <a:t>MyController</a:t>
            </a:r>
            <a:r>
              <a:rPr lang="en-US" dirty="0"/>
              <a:t> {</a:t>
            </a:r>
          </a:p>
          <a:p>
            <a:r>
              <a:rPr lang="en-US" dirty="0"/>
              <a:t>	</a:t>
            </a:r>
            <a:r>
              <a:rPr lang="en-US" b="1" dirty="0"/>
              <a:t>@PostMapping("/sayhello")</a:t>
            </a:r>
          </a:p>
          <a:p>
            <a:r>
              <a:rPr lang="en-US" dirty="0"/>
              <a:t>    public String </a:t>
            </a:r>
            <a:r>
              <a:rPr lang="en-US" dirty="0" err="1"/>
              <a:t>sayHello</a:t>
            </a:r>
            <a:r>
              <a:rPr lang="en-US" b="1" dirty="0"/>
              <a:t>(@RequestBody </a:t>
            </a:r>
            <a:r>
              <a:rPr lang="en-US" dirty="0" err="1"/>
              <a:t>MyRequest</a:t>
            </a:r>
            <a:r>
              <a:rPr lang="en-US" dirty="0"/>
              <a:t> request) {</a:t>
            </a:r>
          </a:p>
          <a:p>
            <a:r>
              <a:rPr lang="en-US" dirty="0"/>
              <a:t>        return "";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7F7040-8E0F-D1BB-3270-E1FEF86D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RESTful microservices with Spring Boot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1E4CCD-9D2C-7069-29DE-42DBFE1B04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Create classes that can act as REST endpoints</a:t>
            </a:r>
          </a:p>
          <a:p>
            <a:r>
              <a:rPr lang="en-US" dirty="0"/>
              <a:t>Uses annotations to denote REST endpoint URLs</a:t>
            </a:r>
          </a:p>
          <a:p>
            <a:pPr lvl="1"/>
            <a:r>
              <a:rPr lang="en-US" dirty="0"/>
              <a:t>Allows complete decoupling from the boilerplate code</a:t>
            </a:r>
          </a:p>
          <a:p>
            <a:r>
              <a:rPr lang="en-US" dirty="0"/>
              <a:t>Types of requests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@GetMapping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@PostMapping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@PutMapping</a:t>
            </a:r>
            <a:r>
              <a:rPr lang="en-US" dirty="0"/>
              <a:t>, and so on… for all HTTP methods</a:t>
            </a:r>
          </a:p>
          <a:p>
            <a:r>
              <a:rPr lang="en-US" dirty="0">
                <a:latin typeface="Consolas" panose="020B0609020204030204" pitchFamily="49" charset="0"/>
              </a:rPr>
              <a:t>@PathVariable </a:t>
            </a:r>
            <a:r>
              <a:rPr lang="en-US" dirty="0"/>
              <a:t>– extract variable from GET request</a:t>
            </a:r>
          </a:p>
          <a:p>
            <a:r>
              <a:rPr lang="en-US" dirty="0"/>
              <a:t>@RequestBody – extract the post request body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23589E-257F-6903-FA85-A21FA96DE3C6}"/>
              </a:ext>
            </a:extLst>
          </p:cNvPr>
          <p:cNvSpPr/>
          <p:nvPr/>
        </p:nvSpPr>
        <p:spPr>
          <a:xfrm>
            <a:off x="6096000" y="2071663"/>
            <a:ext cx="3739662" cy="69627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E1565D1-0240-B7CC-3601-2E3DA1FEE4C7}"/>
              </a:ext>
            </a:extLst>
          </p:cNvPr>
          <p:cNvSpPr/>
          <p:nvPr/>
        </p:nvSpPr>
        <p:spPr>
          <a:xfrm>
            <a:off x="6400800" y="2960091"/>
            <a:ext cx="3739662" cy="31064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55EBD3-033B-794B-E80E-073B999174E1}"/>
              </a:ext>
            </a:extLst>
          </p:cNvPr>
          <p:cNvSpPr txBox="1"/>
          <p:nvPr/>
        </p:nvSpPr>
        <p:spPr>
          <a:xfrm>
            <a:off x="5462465" y="4481362"/>
            <a:ext cx="67295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Effective URL: http://[serverip]/myservice/sayhello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CD821B-9F8E-8D33-D83E-56936391095C}"/>
              </a:ext>
            </a:extLst>
          </p:cNvPr>
          <p:cNvSpPr/>
          <p:nvPr/>
        </p:nvSpPr>
        <p:spPr>
          <a:xfrm>
            <a:off x="8868385" y="3248982"/>
            <a:ext cx="1934553" cy="31064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B91FBF-7339-7794-0842-46C58FBCC663}"/>
              </a:ext>
            </a:extLst>
          </p:cNvPr>
          <p:cNvSpPr/>
          <p:nvPr/>
        </p:nvSpPr>
        <p:spPr>
          <a:xfrm>
            <a:off x="6164788" y="748982"/>
            <a:ext cx="3823274" cy="1289376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54745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9" grpId="0" animBg="1"/>
      <p:bldP spid="9" grpId="1" animBg="1"/>
      <p:bldP spid="10" grpId="0"/>
      <p:bldP spid="10" grpId="1"/>
      <p:bldP spid="11" grpId="0" animBg="1"/>
      <p:bldP spid="11" grpId="1" animBg="1"/>
      <p:bldP spid="12" grpId="0" animBg="1"/>
      <p:bldP spid="12" grpId="1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11918-2358-1F85-A1D9-88C24F4F4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78568B4-BC12-3668-98A4-2B145E944C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private String name;</a:t>
            </a:r>
          </a:p>
          <a:p>
            <a:r>
              <a:rPr lang="en-US" dirty="0"/>
              <a:t>  private String id;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@WebServlet("/hello")</a:t>
            </a:r>
          </a:p>
          <a:p>
            <a:r>
              <a:rPr lang="en-US" dirty="0"/>
              <a:t>public class </a:t>
            </a:r>
            <a:r>
              <a:rPr lang="en-US" dirty="0" err="1"/>
              <a:t>HelloServlet</a:t>
            </a:r>
            <a:r>
              <a:rPr lang="en-US" dirty="0"/>
              <a:t> extends </a:t>
            </a:r>
            <a:r>
              <a:rPr lang="en-US" dirty="0" err="1"/>
              <a:t>HttpServlet</a:t>
            </a:r>
            <a:r>
              <a:rPr lang="en-US" dirty="0"/>
              <a:t> {</a:t>
            </a:r>
          </a:p>
          <a:p>
            <a:r>
              <a:rPr lang="en-US" dirty="0"/>
              <a:t>  protected void </a:t>
            </a:r>
            <a:r>
              <a:rPr lang="en-US" dirty="0" err="1"/>
              <a:t>doGet</a:t>
            </a:r>
            <a:r>
              <a:rPr lang="en-US" dirty="0"/>
              <a:t>(</a:t>
            </a:r>
            <a:r>
              <a:rPr lang="en-US" dirty="0" err="1"/>
              <a:t>HttpServletRequest</a:t>
            </a:r>
            <a:r>
              <a:rPr lang="en-US" dirty="0"/>
              <a:t> request, </a:t>
            </a:r>
            <a:r>
              <a:rPr lang="en-US" dirty="0" err="1"/>
              <a:t>HttpServletResponse</a:t>
            </a:r>
            <a:r>
              <a:rPr lang="en-US" dirty="0"/>
              <a:t> response) {</a:t>
            </a:r>
          </a:p>
          <a:p>
            <a:r>
              <a:rPr lang="en-US" dirty="0"/>
              <a:t>    String name = </a:t>
            </a:r>
            <a:r>
              <a:rPr lang="en-US" dirty="0" err="1"/>
              <a:t>request.getParameter</a:t>
            </a:r>
            <a:r>
              <a:rPr lang="en-US" dirty="0"/>
              <a:t>("name");</a:t>
            </a:r>
          </a:p>
          <a:p>
            <a:r>
              <a:rPr lang="en-US" dirty="0"/>
              <a:t>    String id = </a:t>
            </a:r>
            <a:r>
              <a:rPr lang="en-US" dirty="0" err="1"/>
              <a:t>request.getParameter</a:t>
            </a:r>
            <a:r>
              <a:rPr lang="en-US" dirty="0"/>
              <a:t>("id");</a:t>
            </a:r>
          </a:p>
          <a:p>
            <a:endParaRPr lang="en-US" dirty="0"/>
          </a:p>
          <a:p>
            <a:r>
              <a:rPr lang="en-US" dirty="0"/>
              <a:t>    // Parse the request</a:t>
            </a:r>
          </a:p>
          <a:p>
            <a:r>
              <a:rPr lang="en-US" dirty="0"/>
              <a:t>    // Store it in a class</a:t>
            </a:r>
          </a:p>
          <a:p>
            <a:r>
              <a:rPr lang="en-US" dirty="0"/>
              <a:t>    Person p = new Person(name, id);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response.setContentType</a:t>
            </a:r>
            <a:r>
              <a:rPr lang="en-US" dirty="0"/>
              <a:t>("text/html");</a:t>
            </a:r>
          </a:p>
          <a:p>
            <a:endParaRPr lang="en-US" dirty="0"/>
          </a:p>
          <a:p>
            <a:r>
              <a:rPr lang="en-US" dirty="0"/>
              <a:t>    // Create the HTML output</a:t>
            </a:r>
          </a:p>
          <a:p>
            <a:r>
              <a:rPr lang="en-US" dirty="0"/>
              <a:t>    </a:t>
            </a:r>
            <a:r>
              <a:rPr lang="en-US" dirty="0" err="1"/>
              <a:t>PrintWriter</a:t>
            </a:r>
            <a:r>
              <a:rPr lang="en-US" dirty="0"/>
              <a:t> out = </a:t>
            </a:r>
            <a:r>
              <a:rPr lang="en-US" dirty="0" err="1"/>
              <a:t>response.getWriter</a:t>
            </a:r>
            <a:r>
              <a:rPr lang="en-US" dirty="0"/>
              <a:t>();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("&lt;html&gt;&lt;body&gt;");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("&lt;h1&gt;Hello, " + name + "!&lt;/h1&gt;");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("&lt;/body&gt;&lt;/html&gt;");</a:t>
            </a:r>
          </a:p>
          <a:p>
            <a:r>
              <a:rPr lang="en-US" dirty="0"/>
              <a:t> 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D88C1B4-3595-AAC6-FCB7-BCE2DD65A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Servlet recap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742A96-840A-64FD-10D1-4AF0EF6784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9" y="785004"/>
            <a:ext cx="4915586" cy="2896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1D2E914-29FB-E5B0-0A59-78C079E4A857}"/>
              </a:ext>
            </a:extLst>
          </p:cNvPr>
          <p:cNvSpPr txBox="1"/>
          <p:nvPr/>
        </p:nvSpPr>
        <p:spPr>
          <a:xfrm>
            <a:off x="219035" y="4091354"/>
            <a:ext cx="64780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 err="1">
                <a:latin typeface="Consolas" panose="020B0609020204030204" pitchFamily="49" charset="0"/>
              </a:rPr>
              <a:t>mvn</a:t>
            </a:r>
            <a:r>
              <a:rPr lang="en-US" sz="2400" b="1" dirty="0">
                <a:latin typeface="Consolas" panose="020B0609020204030204" pitchFamily="49" charset="0"/>
              </a:rPr>
              <a:t> clean package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>
                <a:latin typeface="Consolas" panose="020B0609020204030204" pitchFamily="49" charset="0"/>
              </a:rPr>
              <a:t>cp [app].war $CATALINA_HOME/webapps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>
                <a:latin typeface="Consolas" panose="020B0609020204030204" pitchFamily="49" charset="0"/>
              </a:rPr>
              <a:t>catalina.sh start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F6FE44-F2A7-DD1F-A257-0174DE2942D9}"/>
              </a:ext>
            </a:extLst>
          </p:cNvPr>
          <p:cNvSpPr/>
          <p:nvPr/>
        </p:nvSpPr>
        <p:spPr>
          <a:xfrm>
            <a:off x="6096000" y="1596911"/>
            <a:ext cx="5261762" cy="513243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14393C-D917-D66A-7724-A733EDF5B42C}"/>
              </a:ext>
            </a:extLst>
          </p:cNvPr>
          <p:cNvSpPr/>
          <p:nvPr/>
        </p:nvSpPr>
        <p:spPr>
          <a:xfrm>
            <a:off x="6176512" y="2423114"/>
            <a:ext cx="5261762" cy="1257894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A8B4D9-BDF7-7043-CFED-2B2046B22979}"/>
              </a:ext>
            </a:extLst>
          </p:cNvPr>
          <p:cNvSpPr/>
          <p:nvPr/>
        </p:nvSpPr>
        <p:spPr>
          <a:xfrm>
            <a:off x="138523" y="3888498"/>
            <a:ext cx="6478054" cy="1597902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599062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5" grpId="0" animBg="1"/>
      <p:bldP spid="5" grpId="1" animBg="1"/>
      <p:bldP spid="6" grpId="0" animBg="1"/>
      <p:bldP spid="6" grpId="1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D80D9-4DE8-1102-6034-265FCF809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BDD07F2-7CA4-BE4F-45E2-CCBBB1294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MyRequest</a:t>
            </a:r>
            <a:r>
              <a:rPr lang="en-US" dirty="0"/>
              <a:t> {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postDate</a:t>
            </a:r>
            <a:r>
              <a:rPr lang="en-US" dirty="0"/>
              <a:t>;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// .. Getters and setters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@RestController</a:t>
            </a:r>
          </a:p>
          <a:p>
            <a:r>
              <a:rPr lang="en-US" b="1" dirty="0"/>
              <a:t>@RequestMapping("/myservice")</a:t>
            </a:r>
          </a:p>
          <a:p>
            <a:r>
              <a:rPr lang="en-US" dirty="0"/>
              <a:t>public class </a:t>
            </a:r>
            <a:r>
              <a:rPr lang="en-US" dirty="0" err="1"/>
              <a:t>MyController</a:t>
            </a:r>
            <a:r>
              <a:rPr lang="en-US" dirty="0"/>
              <a:t> {</a:t>
            </a:r>
          </a:p>
          <a:p>
            <a:r>
              <a:rPr lang="en-US" dirty="0"/>
              <a:t>	</a:t>
            </a:r>
            <a:r>
              <a:rPr lang="en-US" b="1" dirty="0"/>
              <a:t>@PostMapping("/sayhello")</a:t>
            </a:r>
          </a:p>
          <a:p>
            <a:r>
              <a:rPr lang="en-US" dirty="0"/>
              <a:t>    public String </a:t>
            </a:r>
            <a:r>
              <a:rPr lang="en-US" dirty="0" err="1"/>
              <a:t>sayHello</a:t>
            </a:r>
            <a:r>
              <a:rPr lang="en-US" b="1" dirty="0"/>
              <a:t>(@RequestBody </a:t>
            </a:r>
            <a:r>
              <a:rPr lang="en-US" dirty="0" err="1"/>
              <a:t>MyRequest</a:t>
            </a:r>
            <a:r>
              <a:rPr lang="en-US" dirty="0"/>
              <a:t> request) {</a:t>
            </a:r>
          </a:p>
          <a:p>
            <a:r>
              <a:rPr lang="en-US" dirty="0"/>
              <a:t>        return "";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321617-4C07-E66C-42F0-0AC15D250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Framework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B13FDDE-7B3C-3EF1-4044-AB6935734E4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Uses reflection to first look up all classes with @RestController annotation</a:t>
            </a:r>
          </a:p>
          <a:p>
            <a:r>
              <a:rPr lang="en-US" dirty="0"/>
              <a:t>Then automatically creates Servlets out of the methods annotated with @GetMapping, @PostMapping, etc.</a:t>
            </a:r>
          </a:p>
          <a:p>
            <a:r>
              <a:rPr lang="en-US" dirty="0"/>
              <a:t>Uses reflection to parse the request parameters into class objects annotated with @RequestBody</a:t>
            </a:r>
          </a:p>
          <a:p>
            <a:r>
              <a:rPr lang="en-US" dirty="0"/>
              <a:t>Generates the WAR file and launches the Apache Tomcat server</a:t>
            </a:r>
          </a:p>
          <a:p>
            <a:pPr lvl="1"/>
            <a:r>
              <a:rPr lang="en-US" dirty="0"/>
              <a:t>Simply execute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spring-boot:run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39E77A-18FA-2CCC-95E9-BE0D5E1E3470}"/>
              </a:ext>
            </a:extLst>
          </p:cNvPr>
          <p:cNvSpPr/>
          <p:nvPr/>
        </p:nvSpPr>
        <p:spPr>
          <a:xfrm>
            <a:off x="6096000" y="2071663"/>
            <a:ext cx="3739662" cy="69627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EE1A0E-E7BB-803E-A077-78C8F148CDC5}"/>
              </a:ext>
            </a:extLst>
          </p:cNvPr>
          <p:cNvSpPr/>
          <p:nvPr/>
        </p:nvSpPr>
        <p:spPr>
          <a:xfrm>
            <a:off x="6330461" y="2917605"/>
            <a:ext cx="3739662" cy="390625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9D0F12-1BA7-F463-952D-3ED1BE3381CD}"/>
              </a:ext>
            </a:extLst>
          </p:cNvPr>
          <p:cNvSpPr/>
          <p:nvPr/>
        </p:nvSpPr>
        <p:spPr>
          <a:xfrm>
            <a:off x="8354241" y="3308230"/>
            <a:ext cx="3739662" cy="390625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110233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6" grpId="0" animBg="1"/>
      <p:bldP spid="6" grpId="1" animBg="1"/>
      <p:bldP spid="8" grpId="0" animBg="1"/>
      <p:bldP spid="8" grpId="1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83986C-489C-7075-3CF6-E6B9CAB9A3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Curl command to test POST APIs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curl.exe -X POST \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http://localhost:30000/myservice/sayhello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-H "Content-type: application/</a:t>
            </a:r>
            <a:r>
              <a:rPr lang="en-US" dirty="0" err="1">
                <a:latin typeface="Consolas" panose="020B0609020204030204" pitchFamily="49" charset="0"/>
              </a:rPr>
              <a:t>json</a:t>
            </a:r>
            <a:r>
              <a:rPr lang="en-US" dirty="0">
                <a:latin typeface="Consolas" panose="020B0609020204030204" pitchFamily="49" charset="0"/>
              </a:rPr>
              <a:t>"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-d '{\"</a:t>
            </a:r>
            <a:r>
              <a:rPr lang="en-US" dirty="0" err="1">
                <a:latin typeface="Consolas" panose="020B0609020204030204" pitchFamily="49" charset="0"/>
              </a:rPr>
              <a:t>postContent</a:t>
            </a:r>
            <a:r>
              <a:rPr lang="en-US" dirty="0">
                <a:latin typeface="Consolas" panose="020B0609020204030204" pitchFamily="49" charset="0"/>
              </a:rPr>
              <a:t>\": \"Hello, Spring Boot!\", \"</a:t>
            </a:r>
            <a:r>
              <a:rPr lang="en-US" dirty="0" err="1">
                <a:latin typeface="Consolas" panose="020B0609020204030204" pitchFamily="49" charset="0"/>
              </a:rPr>
              <a:t>postDate</a:t>
            </a:r>
            <a:r>
              <a:rPr lang="en-US" dirty="0">
                <a:latin typeface="Consolas" panose="020B0609020204030204" pitchFamily="49" charset="0"/>
              </a:rPr>
              <a:t>\": \"02222022\"}’</a:t>
            </a:r>
          </a:p>
          <a:p>
            <a:r>
              <a:rPr lang="en-US" dirty="0">
                <a:latin typeface="Helvetica" panose="020B0604020202020204"/>
                <a:cs typeface="Helvetica" panose="020B0604020202020204"/>
              </a:rPr>
              <a:t>Curl command to test GET APIs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curl.exe -X GET http://localhost:30000/myservice/getmesg/100 </a:t>
            </a:r>
          </a:p>
          <a:p>
            <a:pPr marL="230187" lvl="1" indent="0">
              <a:buNone/>
            </a:pP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312EEA-A955-0D26-748C-839992B68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demo</a:t>
            </a:r>
          </a:p>
        </p:txBody>
      </p:sp>
    </p:spTree>
    <p:extLst>
      <p:ext uri="{BB962C8B-B14F-4D97-AF65-F5344CB8AC3E}">
        <p14:creationId xmlns:p14="http://schemas.microsoft.com/office/powerpoint/2010/main" val="391364394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1CC20-E095-8911-0600-DC24CBBDD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9F6FE7F-435E-49DD-47B3-537D84255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Asynchronous communication model </a:t>
            </a:r>
          </a:p>
          <a:p>
            <a:pPr lvl="1"/>
            <a:r>
              <a:rPr lang="en-US" dirty="0"/>
              <a:t>Messages sent to a queue and processed by consumers independently of the producer</a:t>
            </a:r>
          </a:p>
          <a:p>
            <a:r>
              <a:rPr lang="en-US" dirty="0"/>
              <a:t>Stronger decoupling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47A8E02-8FCF-5930-0398-289C9B35A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Message queuing (MQ)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DB4D45B-3875-A94E-3103-CE2C1F4F1EE8}"/>
              </a:ext>
            </a:extLst>
          </p:cNvPr>
          <p:cNvGrpSpPr/>
          <p:nvPr/>
        </p:nvGrpSpPr>
        <p:grpSpPr>
          <a:xfrm>
            <a:off x="2206869" y="3336681"/>
            <a:ext cx="7680965" cy="2248841"/>
            <a:chOff x="2206869" y="3336681"/>
            <a:chExt cx="7680965" cy="2248841"/>
          </a:xfrm>
        </p:grpSpPr>
        <p:pic>
          <p:nvPicPr>
            <p:cNvPr id="2" name="Picture 4" descr="Microservice - Free web icons">
              <a:extLst>
                <a:ext uri="{FF2B5EF4-FFF2-40B4-BE49-F238E27FC236}">
                  <a16:creationId xmlns:a16="http://schemas.microsoft.com/office/drawing/2014/main" id="{DD7181FC-CE09-733E-001A-230CDACA68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6869" y="3390293"/>
              <a:ext cx="1641231" cy="1641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 descr="Microservice - Free networking icons">
              <a:extLst>
                <a:ext uri="{FF2B5EF4-FFF2-40B4-BE49-F238E27FC236}">
                  <a16:creationId xmlns:a16="http://schemas.microsoft.com/office/drawing/2014/main" id="{6148EDC7-1AD2-0D07-A24A-A8A98E1EE74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63733" y="3336681"/>
              <a:ext cx="1641231" cy="1641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C7C6E18-47B3-F367-5399-C0DE6C74B949}"/>
                </a:ext>
              </a:extLst>
            </p:cNvPr>
            <p:cNvCxnSpPr>
              <a:cxnSpLocks/>
            </p:cNvCxnSpPr>
            <p:nvPr/>
          </p:nvCxnSpPr>
          <p:spPr>
            <a:xfrm>
              <a:off x="4237892" y="3997566"/>
              <a:ext cx="861646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67A19E4-12F7-8217-74E8-4360C9083E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37892" y="4888520"/>
              <a:ext cx="767324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47162F6-0260-6D7F-5D1D-583BEABA4EA5}"/>
                </a:ext>
              </a:extLst>
            </p:cNvPr>
            <p:cNvSpPr txBox="1"/>
            <p:nvPr/>
          </p:nvSpPr>
          <p:spPr>
            <a:xfrm>
              <a:off x="4148380" y="351896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6D4194A-BC9B-97ED-82F4-F6B095725EB9}"/>
                </a:ext>
              </a:extLst>
            </p:cNvPr>
            <p:cNvSpPr txBox="1"/>
            <p:nvPr/>
          </p:nvSpPr>
          <p:spPr>
            <a:xfrm>
              <a:off x="4148380" y="507692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20CEC34-6576-9659-301E-871C2B6B11D4}"/>
                </a:ext>
              </a:extLst>
            </p:cNvPr>
            <p:cNvSpPr txBox="1"/>
            <p:nvPr/>
          </p:nvSpPr>
          <p:spPr>
            <a:xfrm>
              <a:off x="2230438" y="5216190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D9B34F2-ED94-45FD-97C6-6EB879927C19}"/>
                </a:ext>
              </a:extLst>
            </p:cNvPr>
            <p:cNvSpPr txBox="1"/>
            <p:nvPr/>
          </p:nvSpPr>
          <p:spPr>
            <a:xfrm>
              <a:off x="8293743" y="5216190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B</a:t>
              </a:r>
            </a:p>
          </p:txBody>
        </p:sp>
        <p:pic>
          <p:nvPicPr>
            <p:cNvPr id="7170" name="Picture 2" descr="queue&quot; Icon - Download for free – Iconduck">
              <a:extLst>
                <a:ext uri="{FF2B5EF4-FFF2-40B4-BE49-F238E27FC236}">
                  <a16:creationId xmlns:a16="http://schemas.microsoft.com/office/drawing/2014/main" id="{3388D505-EBD1-AE83-275E-288B4B17B3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89050" y="3703627"/>
              <a:ext cx="1481381" cy="13453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9EC7B6BB-FDCF-194D-40AB-E0CA87D2875C}"/>
                </a:ext>
              </a:extLst>
            </p:cNvPr>
            <p:cNvCxnSpPr>
              <a:cxnSpLocks/>
            </p:cNvCxnSpPr>
            <p:nvPr/>
          </p:nvCxnSpPr>
          <p:spPr>
            <a:xfrm>
              <a:off x="6986259" y="3997566"/>
              <a:ext cx="861646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5EAB9B9-0F7F-F8A4-B72B-E86EA04D4F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86259" y="4888520"/>
              <a:ext cx="767324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82142D0-E11B-50DC-806F-160A3627D3AC}"/>
                </a:ext>
              </a:extLst>
            </p:cNvPr>
            <p:cNvSpPr txBox="1"/>
            <p:nvPr/>
          </p:nvSpPr>
          <p:spPr>
            <a:xfrm>
              <a:off x="6896747" y="351896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F5563D7-166D-07C2-D566-5371DC6A2814}"/>
                </a:ext>
              </a:extLst>
            </p:cNvPr>
            <p:cNvSpPr txBox="1"/>
            <p:nvPr/>
          </p:nvSpPr>
          <p:spPr>
            <a:xfrm>
              <a:off x="6896747" y="507692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581846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6F7FC-1B85-067E-FE80-03F4984BA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46EC762-2BAC-BC92-C40A-14079E25E3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B357378-ED2E-C230-08D2-C52137E20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source and paid MQ services</a:t>
            </a:r>
          </a:p>
        </p:txBody>
      </p:sp>
      <p:pic>
        <p:nvPicPr>
          <p:cNvPr id="8194" name="Picture 2" descr="RabbitMQ - meshIQ">
            <a:extLst>
              <a:ext uri="{FF2B5EF4-FFF2-40B4-BE49-F238E27FC236}">
                <a16:creationId xmlns:a16="http://schemas.microsoft.com/office/drawing/2014/main" id="{FC452FBE-1676-EAB6-FBD3-C83EF6AC7E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286" y="1078523"/>
            <a:ext cx="3461094" cy="1948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 descr="What is Apache Kafka?. Apache Kafka came out of the Apache… | by Hugo Wood  | Zenika">
            <a:extLst>
              <a:ext uri="{FF2B5EF4-FFF2-40B4-BE49-F238E27FC236}">
                <a16:creationId xmlns:a16="http://schemas.microsoft.com/office/drawing/2014/main" id="{36DBEE80-C66B-209A-996A-AD28390776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8946" y="1078523"/>
            <a:ext cx="3649145" cy="1699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8" name="Picture 6" descr="Latest Apache ActiveMQ installation : Easy step - Maggi Minutes">
            <a:extLst>
              <a:ext uri="{FF2B5EF4-FFF2-40B4-BE49-F238E27FC236}">
                <a16:creationId xmlns:a16="http://schemas.microsoft.com/office/drawing/2014/main" id="{69FA2702-99C1-34FD-AF4A-20A304C2C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2885" y="3062288"/>
            <a:ext cx="5346990" cy="2642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00" name="Picture 8" descr="Amazon SQS : What? Why? How?. What is SQS? How Top Companies uses… | by  Prakash Agarwal | Towards AWS">
            <a:extLst>
              <a:ext uri="{FF2B5EF4-FFF2-40B4-BE49-F238E27FC236}">
                <a16:creationId xmlns:a16="http://schemas.microsoft.com/office/drawing/2014/main" id="{7F456FDE-8AB7-9519-BD67-AB0BD2BFA7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2441" y="2620106"/>
            <a:ext cx="3907843" cy="227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938442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1B966-41C7-C9CA-AB72-D302BDBA1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38BDEF2-315B-7FC4-DC91-13711386CB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Asynchronous messaging pattern where </a:t>
            </a:r>
            <a:r>
              <a:rPr lang="en-US" b="1" dirty="0"/>
              <a:t>publishers</a:t>
            </a:r>
            <a:r>
              <a:rPr lang="en-US" dirty="0"/>
              <a:t> send messages to a central </a:t>
            </a:r>
            <a:r>
              <a:rPr lang="en-US" b="1" dirty="0"/>
              <a:t>message broker</a:t>
            </a:r>
            <a:r>
              <a:rPr lang="en-US" dirty="0"/>
              <a:t> or </a:t>
            </a:r>
            <a:r>
              <a:rPr lang="en-US" b="1" dirty="0"/>
              <a:t>topic</a:t>
            </a:r>
            <a:r>
              <a:rPr lang="en-US" dirty="0"/>
              <a:t>, and </a:t>
            </a:r>
            <a:r>
              <a:rPr lang="en-US" b="1" dirty="0"/>
              <a:t>subscribers</a:t>
            </a:r>
            <a:r>
              <a:rPr lang="en-US" dirty="0"/>
              <a:t> receive messages based on their subscriptions</a:t>
            </a:r>
          </a:p>
          <a:p>
            <a:r>
              <a:rPr lang="en-US" dirty="0"/>
              <a:t>Broadcasting: messages can be sent to multiple subscribers</a:t>
            </a:r>
          </a:p>
          <a:p>
            <a:r>
              <a:rPr lang="en-US" dirty="0"/>
              <a:t>Typically, messages are persistent at the broker and must be explicitly deleted</a:t>
            </a:r>
          </a:p>
          <a:p>
            <a:r>
              <a:rPr lang="en-US" dirty="0"/>
              <a:t>Same frameworks often can act as both MQ or Pub-Sub depending on configuration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ADF71B5-195D-8796-94BE-5692877DA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Pub-sub architecture</a:t>
            </a:r>
          </a:p>
        </p:txBody>
      </p:sp>
    </p:spTree>
    <p:extLst>
      <p:ext uri="{BB962C8B-B14F-4D97-AF65-F5344CB8AC3E}">
        <p14:creationId xmlns:p14="http://schemas.microsoft.com/office/powerpoint/2010/main" val="305998940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B7F75-7DFC-AD09-F513-A54B105DF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30814C8-D1FA-F6D0-C1C3-04D75A7D7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Pub-sub architecture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88D7D8A-C35E-F9DE-1457-2F2D8595E8E3}"/>
              </a:ext>
            </a:extLst>
          </p:cNvPr>
          <p:cNvGrpSpPr/>
          <p:nvPr/>
        </p:nvGrpSpPr>
        <p:grpSpPr>
          <a:xfrm>
            <a:off x="1639990" y="668155"/>
            <a:ext cx="9439433" cy="4864335"/>
            <a:chOff x="1639990" y="668155"/>
            <a:chExt cx="9439433" cy="4864335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19ACA655-870F-E18F-50F9-C32988B4C5C9}"/>
                </a:ext>
              </a:extLst>
            </p:cNvPr>
            <p:cNvGrpSpPr/>
            <p:nvPr/>
          </p:nvGrpSpPr>
          <p:grpSpPr>
            <a:xfrm>
              <a:off x="1639990" y="668155"/>
              <a:ext cx="9439433" cy="4864335"/>
              <a:chOff x="1065563" y="1066737"/>
              <a:chExt cx="9439433" cy="4864335"/>
            </a:xfrm>
          </p:grpSpPr>
          <p:pic>
            <p:nvPicPr>
              <p:cNvPr id="3" name="Picture 4" descr="Microservice - Free web icons">
                <a:extLst>
                  <a:ext uri="{FF2B5EF4-FFF2-40B4-BE49-F238E27FC236}">
                    <a16:creationId xmlns:a16="http://schemas.microsoft.com/office/drawing/2014/main" id="{541BDBBC-7A8F-F57E-AEC3-75132D02AE1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5563" y="2543489"/>
                <a:ext cx="1641231" cy="16412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" name="Picture 6" descr="Microservice - Free networking icons">
                <a:extLst>
                  <a:ext uri="{FF2B5EF4-FFF2-40B4-BE49-F238E27FC236}">
                    <a16:creationId xmlns:a16="http://schemas.microsoft.com/office/drawing/2014/main" id="{41E606A4-735C-14B1-84A2-C9AA4F1AF93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63273" y="2673483"/>
                <a:ext cx="1188406" cy="118840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819F7E53-C083-BF93-180C-A2801473C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89713" y="3547269"/>
                <a:ext cx="861646" cy="0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89C53DC-0887-A47E-52D5-7CE6E5441EC2}"/>
                  </a:ext>
                </a:extLst>
              </p:cNvPr>
              <p:cNvSpPr txBox="1"/>
              <p:nvPr/>
            </p:nvSpPr>
            <p:spPr>
              <a:xfrm>
                <a:off x="3097427" y="3711721"/>
                <a:ext cx="10406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3930391-7794-75EC-5D77-F798AD4CE02A}"/>
                  </a:ext>
                </a:extLst>
              </p:cNvPr>
              <p:cNvSpPr txBox="1"/>
              <p:nvPr/>
            </p:nvSpPr>
            <p:spPr>
              <a:xfrm>
                <a:off x="1089132" y="4369386"/>
                <a:ext cx="140173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Publisher</a:t>
                </a:r>
              </a:p>
              <a:p>
                <a:r>
                  <a:rPr lang="en-US" b="1" i="1" dirty="0"/>
                  <a:t>Microservice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8776AB6-78A7-8D11-8067-12E51C950E5D}"/>
                  </a:ext>
                </a:extLst>
              </p:cNvPr>
              <p:cNvSpPr txBox="1"/>
              <p:nvPr/>
            </p:nvSpPr>
            <p:spPr>
              <a:xfrm>
                <a:off x="7861892" y="3815388"/>
                <a:ext cx="26380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Subscriber Microservice B</a:t>
                </a:r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03C150F6-0285-84E6-BBC5-BFF0E49F22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17086" y="3713075"/>
                <a:ext cx="1509316" cy="13586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5AE167B-61E3-4421-B484-C9A0FBC86022}"/>
                  </a:ext>
                </a:extLst>
              </p:cNvPr>
              <p:cNvSpPr txBox="1"/>
              <p:nvPr/>
            </p:nvSpPr>
            <p:spPr>
              <a:xfrm>
                <a:off x="6451409" y="3357329"/>
                <a:ext cx="10406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  <p:pic>
            <p:nvPicPr>
              <p:cNvPr id="9218" name="Picture 2" descr="Event driven message broker Icons, Logos, Symbols – Free Download PNG, SVG">
                <a:extLst>
                  <a:ext uri="{FF2B5EF4-FFF2-40B4-BE49-F238E27FC236}">
                    <a16:creationId xmlns:a16="http://schemas.microsoft.com/office/drawing/2014/main" id="{7BCD3B95-BD9F-CD60-E1BB-2AD7512A13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164829" y="2686947"/>
                <a:ext cx="2052257" cy="205225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2" name="Picture 6" descr="Microservice - Free networking icons">
                <a:extLst>
                  <a:ext uri="{FF2B5EF4-FFF2-40B4-BE49-F238E27FC236}">
                    <a16:creationId xmlns:a16="http://schemas.microsoft.com/office/drawing/2014/main" id="{27885891-BAF5-1244-02C4-056432F6F65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81927" y="4338193"/>
                <a:ext cx="1188406" cy="118840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3BADDCA-BB28-ACA4-48F8-51C39980F87A}"/>
                  </a:ext>
                </a:extLst>
              </p:cNvPr>
              <p:cNvSpPr txBox="1"/>
              <p:nvPr/>
            </p:nvSpPr>
            <p:spPr>
              <a:xfrm>
                <a:off x="7876520" y="5561740"/>
                <a:ext cx="26284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Subscriber Microservice C</a:t>
                </a:r>
              </a:p>
            </p:txBody>
          </p: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6DD30B89-A89A-58D0-03BF-24D812C93026}"/>
                  </a:ext>
                </a:extLst>
              </p:cNvPr>
              <p:cNvCxnSpPr>
                <a:cxnSpLocks/>
                <a:stCxn id="9218" idx="3"/>
              </p:cNvCxnSpPr>
              <p:nvPr/>
            </p:nvCxnSpPr>
            <p:spPr>
              <a:xfrm>
                <a:off x="6217086" y="3713076"/>
                <a:ext cx="1509316" cy="1433355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C35AF49-EDEC-0923-523D-79178F565942}"/>
                  </a:ext>
                </a:extLst>
              </p:cNvPr>
              <p:cNvSpPr txBox="1"/>
              <p:nvPr/>
            </p:nvSpPr>
            <p:spPr>
              <a:xfrm>
                <a:off x="6451409" y="4915371"/>
                <a:ext cx="10406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  <p:pic>
            <p:nvPicPr>
              <p:cNvPr id="42" name="Picture 6" descr="Microservice - Free networking icons">
                <a:extLst>
                  <a:ext uri="{FF2B5EF4-FFF2-40B4-BE49-F238E27FC236}">
                    <a16:creationId xmlns:a16="http://schemas.microsoft.com/office/drawing/2014/main" id="{8E0663FD-FE02-16A7-90CE-A1B77E2282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63273" y="1066737"/>
                <a:ext cx="1188406" cy="118840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553A8D3-9169-1971-7EBA-986168193FD8}"/>
                  </a:ext>
                </a:extLst>
              </p:cNvPr>
              <p:cNvSpPr txBox="1"/>
              <p:nvPr/>
            </p:nvSpPr>
            <p:spPr>
              <a:xfrm>
                <a:off x="7861892" y="2208642"/>
                <a:ext cx="26380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Subscriber Microservice A</a:t>
                </a:r>
              </a:p>
            </p:txBody>
          </p: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26B52A58-5851-D528-7DEF-7CAE684F8A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72315" y="1992923"/>
                <a:ext cx="1554087" cy="1715863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698181F-A7ED-2A01-5B78-4D31FCFF49A1}"/>
                  </a:ext>
                </a:extLst>
              </p:cNvPr>
              <p:cNvSpPr txBox="1"/>
              <p:nvPr/>
            </p:nvSpPr>
            <p:spPr>
              <a:xfrm>
                <a:off x="6358088" y="2108639"/>
                <a:ext cx="10406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740764D-3681-02B5-D75A-26B720574F80}"/>
                </a:ext>
              </a:extLst>
            </p:cNvPr>
            <p:cNvSpPr txBox="1"/>
            <p:nvPr/>
          </p:nvSpPr>
          <p:spPr>
            <a:xfrm>
              <a:off x="5447766" y="4432469"/>
              <a:ext cx="8177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Broker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4891198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210F5-6D5D-E0CA-C113-5BF422D12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BCD111-606B-03F7-7586-363B0C07FB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BD2F3CB-831E-244D-3869-755186132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Pub-sub frameworks</a:t>
            </a:r>
          </a:p>
        </p:txBody>
      </p:sp>
      <p:pic>
        <p:nvPicPr>
          <p:cNvPr id="10242" name="Picture 2" descr="Google Pub/Sub | PubSub+ Integration Hub | Solace">
            <a:extLst>
              <a:ext uri="{FF2B5EF4-FFF2-40B4-BE49-F238E27FC236}">
                <a16:creationId xmlns:a16="http://schemas.microsoft.com/office/drawing/2014/main" id="{FB12CC1E-0FF6-4441-5EE1-8C86DA7696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0505" y="1084383"/>
            <a:ext cx="2463312" cy="2463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Redis pub/sub with ruby - DEV Community">
            <a:extLst>
              <a:ext uri="{FF2B5EF4-FFF2-40B4-BE49-F238E27FC236}">
                <a16:creationId xmlns:a16="http://schemas.microsoft.com/office/drawing/2014/main" id="{5A30FEFA-AD06-3074-F3B9-0FB76E594A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6283" y="1349734"/>
            <a:ext cx="4141177" cy="1739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 descr="What is Apache Kafka?. Apache Kafka came out of the Apache… | by Hugo Wood  | Zenika">
            <a:extLst>
              <a:ext uri="{FF2B5EF4-FFF2-40B4-BE49-F238E27FC236}">
                <a16:creationId xmlns:a16="http://schemas.microsoft.com/office/drawing/2014/main" id="{3A04D642-8904-849F-8DDD-9533372C51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7726" y="3696985"/>
            <a:ext cx="3649145" cy="1699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RabbitMQ - meshIQ">
            <a:extLst>
              <a:ext uri="{FF2B5EF4-FFF2-40B4-BE49-F238E27FC236}">
                <a16:creationId xmlns:a16="http://schemas.microsoft.com/office/drawing/2014/main" id="{3A9A806E-0003-C576-38F2-87791AF05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8393" y="3385070"/>
            <a:ext cx="3461094" cy="1948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231100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4DBF19D-11F8-201B-D64B-86AE10368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A19CA4-CC0C-BAB0-66EF-0F3DEEED6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RabbitMQ architecture</a:t>
            </a:r>
          </a:p>
        </p:txBody>
      </p:sp>
      <p:pic>
        <p:nvPicPr>
          <p:cNvPr id="2050" name="Picture 2" descr="Everything you need to know about RabbitMQ (Backend Development Series)">
            <a:extLst>
              <a:ext uri="{FF2B5EF4-FFF2-40B4-BE49-F238E27FC236}">
                <a16:creationId xmlns:a16="http://schemas.microsoft.com/office/drawing/2014/main" id="{E99F1C05-274B-FFDC-ADBE-757D8F4BC4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8750" y="957262"/>
            <a:ext cx="9334500" cy="4943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36024C-E712-8984-D2A5-F17EE7EA19A2}"/>
              </a:ext>
            </a:extLst>
          </p:cNvPr>
          <p:cNvSpPr txBox="1"/>
          <p:nvPr/>
        </p:nvSpPr>
        <p:spPr>
          <a:xfrm>
            <a:off x="3048000" y="4149969"/>
            <a:ext cx="1289538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or</a:t>
            </a:r>
          </a:p>
          <a:p>
            <a:r>
              <a:rPr lang="en-US" dirty="0"/>
              <a:t>Producer</a:t>
            </a:r>
          </a:p>
        </p:txBody>
      </p:sp>
    </p:spTree>
    <p:extLst>
      <p:ext uri="{BB962C8B-B14F-4D97-AF65-F5344CB8AC3E}">
        <p14:creationId xmlns:p14="http://schemas.microsoft.com/office/powerpoint/2010/main" val="51082587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768E719-483B-9460-9DA8-E6F2C0014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public class </a:t>
            </a:r>
            <a:r>
              <a:rPr lang="en-US" dirty="0" err="1"/>
              <a:t>RabbitMQConsumer</a:t>
            </a:r>
            <a:r>
              <a:rPr lang="en-US" dirty="0"/>
              <a:t> {</a:t>
            </a:r>
          </a:p>
          <a:p>
            <a:r>
              <a:rPr lang="en-US" dirty="0"/>
              <a:t>    private static final String QUEUE_NAME = "</a:t>
            </a:r>
            <a:r>
              <a:rPr lang="en-US" dirty="0" err="1"/>
              <a:t>hello_queue</a:t>
            </a:r>
            <a:r>
              <a:rPr lang="en-US" dirty="0"/>
              <a:t>";</a:t>
            </a:r>
          </a:p>
          <a:p>
            <a:endParaRPr lang="en-US" dirty="0"/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</a:t>
            </a:r>
            <a:r>
              <a:rPr lang="en-US" dirty="0" err="1"/>
              <a:t>ConnectionFactory</a:t>
            </a:r>
            <a:r>
              <a:rPr lang="en-US" dirty="0"/>
              <a:t> factory = new </a:t>
            </a:r>
            <a:r>
              <a:rPr lang="en-US" dirty="0" err="1"/>
              <a:t>ConnectionFactory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factory.setHost</a:t>
            </a:r>
            <a:r>
              <a:rPr lang="en-US" dirty="0"/>
              <a:t>("localhost");</a:t>
            </a:r>
          </a:p>
          <a:p>
            <a:endParaRPr lang="en-US" dirty="0"/>
          </a:p>
          <a:p>
            <a:r>
              <a:rPr lang="en-US" dirty="0"/>
              <a:t>        try {</a:t>
            </a:r>
          </a:p>
          <a:p>
            <a:r>
              <a:rPr lang="en-US" dirty="0"/>
              <a:t>            Connection </a:t>
            </a:r>
            <a:r>
              <a:rPr lang="en-US" dirty="0" err="1"/>
              <a:t>connection</a:t>
            </a:r>
            <a:r>
              <a:rPr lang="en-US" dirty="0"/>
              <a:t> = </a:t>
            </a:r>
            <a:r>
              <a:rPr lang="en-US" dirty="0" err="1"/>
              <a:t>factory.newConnection</a:t>
            </a:r>
            <a:r>
              <a:rPr lang="en-US" dirty="0"/>
              <a:t>();</a:t>
            </a:r>
          </a:p>
          <a:p>
            <a:r>
              <a:rPr lang="en-US" dirty="0"/>
              <a:t>            Channel </a:t>
            </a:r>
            <a:r>
              <a:rPr lang="en-US" dirty="0" err="1"/>
              <a:t>channel</a:t>
            </a:r>
            <a:r>
              <a:rPr lang="en-US" dirty="0"/>
              <a:t> = </a:t>
            </a:r>
            <a:r>
              <a:rPr lang="en-US" dirty="0" err="1"/>
              <a:t>connection.createChannel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           // Declare the queue in case it doesn't exist</a:t>
            </a:r>
          </a:p>
          <a:p>
            <a:r>
              <a:rPr lang="en-US" dirty="0"/>
              <a:t>            </a:t>
            </a:r>
            <a:r>
              <a:rPr lang="en-US" dirty="0" err="1"/>
              <a:t>channel.queueDeclare</a:t>
            </a:r>
            <a:r>
              <a:rPr lang="en-US" dirty="0"/>
              <a:t>(QUEUE_NAME, false, false, false, null);</a:t>
            </a:r>
          </a:p>
          <a:p>
            <a:endParaRPr lang="en-US" dirty="0"/>
          </a:p>
          <a:p>
            <a:r>
              <a:rPr lang="en-US" dirty="0"/>
              <a:t>            </a:t>
            </a:r>
            <a:r>
              <a:rPr lang="en-US" dirty="0" err="1"/>
              <a:t>System.out.println</a:t>
            </a:r>
            <a:r>
              <a:rPr lang="en-US" dirty="0"/>
              <a:t>(" [*] Waiting for messages...");</a:t>
            </a:r>
          </a:p>
          <a:p>
            <a:endParaRPr lang="en-US" dirty="0"/>
          </a:p>
          <a:p>
            <a:r>
              <a:rPr lang="en-US" dirty="0"/>
              <a:t>            // Create a consumer to receive messages</a:t>
            </a:r>
          </a:p>
          <a:p>
            <a:r>
              <a:rPr lang="en-US" dirty="0"/>
              <a:t>            </a:t>
            </a:r>
            <a:r>
              <a:rPr lang="en-US" dirty="0" err="1"/>
              <a:t>DeliverCallback</a:t>
            </a:r>
            <a:r>
              <a:rPr lang="en-US" dirty="0"/>
              <a:t> </a:t>
            </a:r>
            <a:r>
              <a:rPr lang="en-US" dirty="0" err="1"/>
              <a:t>deliverCallback</a:t>
            </a:r>
            <a:r>
              <a:rPr lang="en-US" dirty="0"/>
              <a:t> = (</a:t>
            </a:r>
            <a:r>
              <a:rPr lang="en-US" dirty="0" err="1"/>
              <a:t>consumerTag</a:t>
            </a:r>
            <a:r>
              <a:rPr lang="en-US" dirty="0"/>
              <a:t>, delivery) -&gt; {</a:t>
            </a:r>
          </a:p>
          <a:p>
            <a:r>
              <a:rPr lang="en-US" dirty="0"/>
              <a:t>                String message = new String(</a:t>
            </a:r>
            <a:r>
              <a:rPr lang="en-US" dirty="0" err="1"/>
              <a:t>delivery.getBody</a:t>
            </a:r>
            <a:r>
              <a:rPr lang="en-US" dirty="0"/>
              <a:t>(), "UTF-8");</a:t>
            </a:r>
          </a:p>
          <a:p>
            <a:r>
              <a:rPr lang="en-US" dirty="0"/>
              <a:t>                </a:t>
            </a:r>
            <a:r>
              <a:rPr lang="en-US" dirty="0" err="1"/>
              <a:t>System.out.println</a:t>
            </a:r>
            <a:r>
              <a:rPr lang="en-US" dirty="0"/>
              <a:t>(" [x] Received: '" + message + "'");</a:t>
            </a:r>
          </a:p>
          <a:p>
            <a:r>
              <a:rPr lang="en-US" dirty="0"/>
              <a:t>            };</a:t>
            </a:r>
          </a:p>
          <a:p>
            <a:endParaRPr lang="en-US" dirty="0"/>
          </a:p>
          <a:p>
            <a:r>
              <a:rPr lang="en-US" dirty="0"/>
              <a:t>            </a:t>
            </a:r>
            <a:r>
              <a:rPr lang="en-US" dirty="0" err="1"/>
              <a:t>channel.basicConsume</a:t>
            </a:r>
            <a:r>
              <a:rPr lang="en-US" dirty="0"/>
              <a:t>(QUEUE_NAME, true, </a:t>
            </a:r>
            <a:r>
              <a:rPr lang="en-US" dirty="0" err="1"/>
              <a:t>deliverCallback</a:t>
            </a:r>
            <a:r>
              <a:rPr lang="en-US" dirty="0"/>
              <a:t>, </a:t>
            </a:r>
            <a:r>
              <a:rPr lang="en-US" dirty="0" err="1"/>
              <a:t>consumerTag</a:t>
            </a:r>
            <a:r>
              <a:rPr lang="en-US" dirty="0"/>
              <a:t> -&gt; { });</a:t>
            </a:r>
          </a:p>
          <a:p>
            <a:endParaRPr lang="en-US" dirty="0"/>
          </a:p>
          <a:p>
            <a:r>
              <a:rPr lang="en-US" dirty="0"/>
              <a:t>        } catch (Exception e) {</a:t>
            </a:r>
          </a:p>
          <a:p>
            <a:r>
              <a:rPr lang="en-US" dirty="0"/>
              <a:t>            </a:t>
            </a:r>
            <a:r>
              <a:rPr lang="en-US" dirty="0" err="1"/>
              <a:t>e.printStackTrace</a:t>
            </a:r>
            <a:r>
              <a:rPr lang="en-US" dirty="0"/>
              <a:t>();</a:t>
            </a:r>
          </a:p>
          <a:p>
            <a:r>
              <a:rPr lang="en-US" dirty="0"/>
              <a:t>        }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D889F0F-314A-0E3C-F81A-B88743EAB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 communication with RabbitMQ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8FE3AE-D811-42FB-B73C-F3D1257D39F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public class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RabbitMQProducer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private static final String QUEUE_NAME = "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hello_queue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public static void main(String[]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args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// Create a connection factory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ConnectionFactory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factory = new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ConnectionFactory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factory.setHost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("localhost");  // RabbitMQ server address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try (Connection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connection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factory.newConnection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Channel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channel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connection.createChannel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// Declare a queue (it must exist before publishing)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channel.queueDeclare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(QUEUE_NAME, false, false, false, null);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String message = "Hello, RabbitMQ!";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channel.basicPublish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("", QUEUE_NAME, null,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message.getBytes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System.out.println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(" [x] Sent: '" + message + "'");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} catch (Exception e)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e.printStackTrace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ACE22B-CDBC-CFE0-F977-FCBEB543B6B9}"/>
              </a:ext>
            </a:extLst>
          </p:cNvPr>
          <p:cNvSpPr/>
          <p:nvPr/>
        </p:nvSpPr>
        <p:spPr>
          <a:xfrm>
            <a:off x="382074" y="678404"/>
            <a:ext cx="5385680" cy="348139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C7CD598-1402-531F-CB2D-F7036E784EB0}"/>
              </a:ext>
            </a:extLst>
          </p:cNvPr>
          <p:cNvSpPr/>
          <p:nvPr/>
        </p:nvSpPr>
        <p:spPr>
          <a:xfrm>
            <a:off x="5995509" y="678403"/>
            <a:ext cx="5385680" cy="348139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6BEA13-2CD5-9106-D39A-33E44B3F58A1}"/>
              </a:ext>
            </a:extLst>
          </p:cNvPr>
          <p:cNvSpPr/>
          <p:nvPr/>
        </p:nvSpPr>
        <p:spPr>
          <a:xfrm>
            <a:off x="382074" y="1704505"/>
            <a:ext cx="5385680" cy="675280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8CB980F-C646-E8B1-E67E-AB68B4BA5CC3}"/>
              </a:ext>
            </a:extLst>
          </p:cNvPr>
          <p:cNvSpPr/>
          <p:nvPr/>
        </p:nvSpPr>
        <p:spPr>
          <a:xfrm>
            <a:off x="382074" y="3650536"/>
            <a:ext cx="5385680" cy="827680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191718A-9FC6-C4EB-B55A-F569A3DD67E4}"/>
              </a:ext>
            </a:extLst>
          </p:cNvPr>
          <p:cNvSpPr/>
          <p:nvPr/>
        </p:nvSpPr>
        <p:spPr>
          <a:xfrm>
            <a:off x="6176512" y="3873274"/>
            <a:ext cx="5385680" cy="827680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724946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5E68BE-9E87-8AE1-E540-7EBF20C37D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Pipeline architecture using microservices with message queues deployed on a serverless architecture</a:t>
            </a:r>
          </a:p>
          <a:p>
            <a:r>
              <a:rPr lang="en-US" dirty="0"/>
              <a:t>Pub-sub architecture with microservices using containers</a:t>
            </a:r>
          </a:p>
          <a:p>
            <a:r>
              <a:rPr lang="en-US" dirty="0"/>
              <a:t>Pipeline architecture in one part of the system, with a pub-sub in another</a:t>
            </a:r>
          </a:p>
          <a:p>
            <a:r>
              <a:rPr lang="en-US" dirty="0"/>
              <a:t>… and so on</a:t>
            </a:r>
          </a:p>
          <a:p>
            <a:r>
              <a:rPr lang="en-US" dirty="0"/>
              <a:t>Pick what is right for your software system!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E1E790-5CCB-19FB-C71E-882223CBA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mix and match!!</a:t>
            </a:r>
          </a:p>
        </p:txBody>
      </p:sp>
    </p:spTree>
    <p:extLst>
      <p:ext uri="{BB962C8B-B14F-4D97-AF65-F5344CB8AC3E}">
        <p14:creationId xmlns:p14="http://schemas.microsoft.com/office/powerpoint/2010/main" val="351178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4922A3-938E-C166-C0AB-6BE9B70F76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E410AB-2C7A-61F4-3E26-747B241564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Continuous deployment</a:t>
            </a:r>
          </a:p>
        </p:txBody>
      </p:sp>
    </p:spTree>
    <p:extLst>
      <p:ext uri="{BB962C8B-B14F-4D97-AF65-F5344CB8AC3E}">
        <p14:creationId xmlns:p14="http://schemas.microsoft.com/office/powerpoint/2010/main" val="191733355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C9F03-1D2D-11EB-7CA6-A036BED64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D87E23-B024-7236-FB13-211436EFAD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9AF86E-D240-EB54-6EA6-EC7C8BC9CC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Autoscaling</a:t>
            </a:r>
          </a:p>
        </p:txBody>
      </p:sp>
    </p:spTree>
    <p:extLst>
      <p:ext uri="{BB962C8B-B14F-4D97-AF65-F5344CB8AC3E}">
        <p14:creationId xmlns:p14="http://schemas.microsoft.com/office/powerpoint/2010/main" val="68060815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FC991A-62B5-336E-E666-39899A707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21AC20-6F44-0860-E512-F55E8E6CBC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Function-as-a-Service</a:t>
            </a:r>
          </a:p>
        </p:txBody>
      </p:sp>
    </p:spTree>
    <p:extLst>
      <p:ext uri="{BB962C8B-B14F-4D97-AF65-F5344CB8AC3E}">
        <p14:creationId xmlns:p14="http://schemas.microsoft.com/office/powerpoint/2010/main" val="356774659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499FDD-0DD9-40E3-9451-CCD455C705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Fixed message format</a:t>
            </a:r>
          </a:p>
          <a:p>
            <a:pPr lvl="1"/>
            <a:r>
              <a:rPr lang="en-US" dirty="0"/>
              <a:t>Header</a:t>
            </a:r>
          </a:p>
          <a:p>
            <a:pPr lvl="1"/>
            <a:r>
              <a:rPr lang="en-US" dirty="0"/>
              <a:t>Payload</a:t>
            </a:r>
          </a:p>
          <a:p>
            <a:pPr lvl="1"/>
            <a:r>
              <a:rPr lang="en-US" dirty="0"/>
              <a:t>Checksum</a:t>
            </a:r>
          </a:p>
          <a:p>
            <a:r>
              <a:rPr lang="en-US" dirty="0"/>
              <a:t>Structured set of messages that follow a predefined format</a:t>
            </a:r>
          </a:p>
          <a:p>
            <a:pPr lvl="1"/>
            <a:r>
              <a:rPr lang="en-US" dirty="0"/>
              <a:t>Multiple messages needed to establish and tear down a connection</a:t>
            </a:r>
          </a:p>
          <a:p>
            <a:pPr lvl="1"/>
            <a:r>
              <a:rPr lang="en-US" dirty="0"/>
              <a:t>[out of scope]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5FE3EC4-86DE-FE88-47F5-9803BC74B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protocol?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911BF64-FF9D-46A3-D81A-D6C4558C4BDA}"/>
              </a:ext>
            </a:extLst>
          </p:cNvPr>
          <p:cNvGrpSpPr/>
          <p:nvPr/>
        </p:nvGrpSpPr>
        <p:grpSpPr>
          <a:xfrm>
            <a:off x="3688080" y="1706880"/>
            <a:ext cx="7376160" cy="914400"/>
            <a:chOff x="3688080" y="1706880"/>
            <a:chExt cx="7376160" cy="9144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FCC038D-BECF-FB4A-CD4B-7B929E617A7F}"/>
                </a:ext>
              </a:extLst>
            </p:cNvPr>
            <p:cNvGrpSpPr/>
            <p:nvPr/>
          </p:nvGrpSpPr>
          <p:grpSpPr>
            <a:xfrm>
              <a:off x="3688080" y="1706880"/>
              <a:ext cx="3444240" cy="914400"/>
              <a:chOff x="5471160" y="1798320"/>
              <a:chExt cx="3444240" cy="91440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DACA1E4-0957-B4A6-3351-1E8E2657E97A}"/>
                  </a:ext>
                </a:extLst>
              </p:cNvPr>
              <p:cNvSpPr/>
              <p:nvPr/>
            </p:nvSpPr>
            <p:spPr>
              <a:xfrm>
                <a:off x="5471160" y="1798320"/>
                <a:ext cx="1722120" cy="9144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Header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AFCC462-8CC6-94AE-0CE5-1CCD8C78FAB9}"/>
                  </a:ext>
                </a:extLst>
              </p:cNvPr>
              <p:cNvSpPr/>
              <p:nvPr/>
            </p:nvSpPr>
            <p:spPr>
              <a:xfrm>
                <a:off x="7193280" y="1798320"/>
                <a:ext cx="1722120" cy="914400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Checksum</a:t>
                </a:r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4060A5-CD01-94CA-54FE-1795FFE7CE04}"/>
                </a:ext>
              </a:extLst>
            </p:cNvPr>
            <p:cNvSpPr/>
            <p:nvPr/>
          </p:nvSpPr>
          <p:spPr>
            <a:xfrm>
              <a:off x="7132320" y="1706880"/>
              <a:ext cx="3931920" cy="914400"/>
            </a:xfrm>
            <a:prstGeom prst="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Payload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35188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685408B-86EB-DF74-1E14-78AFCCFDA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sending, each layer wraps the upper layer payload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9A1D89-B2C1-A5C6-C45A-989744617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layers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617F17-2693-C4F8-EF8D-C7664AE4A2C7}"/>
              </a:ext>
            </a:extLst>
          </p:cNvPr>
          <p:cNvGrpSpPr/>
          <p:nvPr/>
        </p:nvGrpSpPr>
        <p:grpSpPr>
          <a:xfrm>
            <a:off x="5593080" y="1889760"/>
            <a:ext cx="3444240" cy="914400"/>
            <a:chOff x="5471160" y="1798320"/>
            <a:chExt cx="3444240" cy="9144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E1AB7F0-0E15-F004-2DFD-140D9CF7AAE7}"/>
                </a:ext>
              </a:extLst>
            </p:cNvPr>
            <p:cNvSpPr/>
            <p:nvPr/>
          </p:nvSpPr>
          <p:spPr>
            <a:xfrm>
              <a:off x="5471160" y="1798320"/>
              <a:ext cx="172212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TCP header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E2B96CD-E393-94C4-A518-CC33F88A9790}"/>
                </a:ext>
              </a:extLst>
            </p:cNvPr>
            <p:cNvSpPr/>
            <p:nvPr/>
          </p:nvSpPr>
          <p:spPr>
            <a:xfrm>
              <a:off x="7193280" y="1798320"/>
              <a:ext cx="1722120" cy="91440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TCP checksum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BD0DEB39-7A66-1BEF-DB60-C764F0D5A36A}"/>
              </a:ext>
            </a:extLst>
          </p:cNvPr>
          <p:cNvSpPr/>
          <p:nvPr/>
        </p:nvSpPr>
        <p:spPr>
          <a:xfrm>
            <a:off x="9037320" y="1889760"/>
            <a:ext cx="2865120" cy="91440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App. Layer payload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63DA463-495E-99B1-9C2F-1327E2CF4ED3}"/>
              </a:ext>
            </a:extLst>
          </p:cNvPr>
          <p:cNvSpPr/>
          <p:nvPr/>
        </p:nvSpPr>
        <p:spPr>
          <a:xfrm>
            <a:off x="2148840" y="1889760"/>
            <a:ext cx="1722120" cy="9144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IP header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31690D-733F-6E9F-C469-EAF367A56B4D}"/>
              </a:ext>
            </a:extLst>
          </p:cNvPr>
          <p:cNvSpPr/>
          <p:nvPr/>
        </p:nvSpPr>
        <p:spPr>
          <a:xfrm>
            <a:off x="3870960" y="1889760"/>
            <a:ext cx="1722120" cy="9144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IP checksum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98416D-7DD8-C3CB-1139-D9B9FD854BB8}"/>
              </a:ext>
            </a:extLst>
          </p:cNvPr>
          <p:cNvSpPr/>
          <p:nvPr/>
        </p:nvSpPr>
        <p:spPr>
          <a:xfrm>
            <a:off x="426720" y="1889760"/>
            <a:ext cx="1722120" cy="9144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Ethernet header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9472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6A50AD4-7EF6-09A5-9EA0-719261561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EBE1AF-84C3-1208-D6AD-018BA1E97D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receiving, each layer processes its own header</a:t>
            </a:r>
          </a:p>
          <a:p>
            <a:pPr lvl="1"/>
            <a:r>
              <a:rPr lang="en-US" dirty="0"/>
              <a:t>Removes it</a:t>
            </a:r>
          </a:p>
          <a:p>
            <a:pPr lvl="1"/>
            <a:r>
              <a:rPr lang="en-US" dirty="0"/>
              <a:t>Sends the remaining payload to the upper layer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45D049C-B8DE-94D3-E1CD-54492A376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layers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B3DD78E-B7CC-ECC9-B98B-4641D67BB508}"/>
              </a:ext>
            </a:extLst>
          </p:cNvPr>
          <p:cNvGrpSpPr/>
          <p:nvPr/>
        </p:nvGrpSpPr>
        <p:grpSpPr>
          <a:xfrm>
            <a:off x="5623560" y="3535680"/>
            <a:ext cx="3444240" cy="914400"/>
            <a:chOff x="5471160" y="1798320"/>
            <a:chExt cx="3444240" cy="9144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B25F434-51C6-1EF2-82C1-9F61A7F35628}"/>
                </a:ext>
              </a:extLst>
            </p:cNvPr>
            <p:cNvSpPr/>
            <p:nvPr/>
          </p:nvSpPr>
          <p:spPr>
            <a:xfrm>
              <a:off x="5471160" y="1798320"/>
              <a:ext cx="172212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TCP header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AD4A054-3F02-125B-9C5B-656B1D1036C5}"/>
                </a:ext>
              </a:extLst>
            </p:cNvPr>
            <p:cNvSpPr/>
            <p:nvPr/>
          </p:nvSpPr>
          <p:spPr>
            <a:xfrm>
              <a:off x="7193280" y="1798320"/>
              <a:ext cx="1722120" cy="91440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TCP checksum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9239EBC2-9836-F7E3-8287-8A861F17A081}"/>
              </a:ext>
            </a:extLst>
          </p:cNvPr>
          <p:cNvSpPr/>
          <p:nvPr/>
        </p:nvSpPr>
        <p:spPr>
          <a:xfrm>
            <a:off x="9067800" y="3535680"/>
            <a:ext cx="2865120" cy="91440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App. Layer payload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22BF58-B3D5-8632-815C-74E45F4F8C6C}"/>
              </a:ext>
            </a:extLst>
          </p:cNvPr>
          <p:cNvSpPr/>
          <p:nvPr/>
        </p:nvSpPr>
        <p:spPr>
          <a:xfrm>
            <a:off x="2179320" y="3535680"/>
            <a:ext cx="1722120" cy="9144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IP header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5E3406F-9381-47CF-9907-B561B87E421A}"/>
              </a:ext>
            </a:extLst>
          </p:cNvPr>
          <p:cNvSpPr/>
          <p:nvPr/>
        </p:nvSpPr>
        <p:spPr>
          <a:xfrm>
            <a:off x="3901440" y="3535680"/>
            <a:ext cx="1722120" cy="9144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IP checksum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1DFABA-47C6-1849-69CB-B033B0199453}"/>
              </a:ext>
            </a:extLst>
          </p:cNvPr>
          <p:cNvSpPr/>
          <p:nvPr/>
        </p:nvSpPr>
        <p:spPr>
          <a:xfrm>
            <a:off x="457200" y="3535680"/>
            <a:ext cx="1722120" cy="9144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Ethernet header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8762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969449-4117-922C-F3A2-2D7822F2D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Wireshark is a network packet-sniffing tool</a:t>
            </a:r>
          </a:p>
          <a:p>
            <a:r>
              <a:rPr lang="en-US" dirty="0"/>
              <a:t>Useful for debugging</a:t>
            </a:r>
          </a:p>
          <a:p>
            <a:r>
              <a:rPr lang="en-US" dirty="0"/>
              <a:t>Also, a cool tool!!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7A0D78C-B048-9442-ABB9-E1D66FA67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Wireshark demo</a:t>
            </a:r>
          </a:p>
        </p:txBody>
      </p:sp>
    </p:spTree>
    <p:extLst>
      <p:ext uri="{BB962C8B-B14F-4D97-AF65-F5344CB8AC3E}">
        <p14:creationId xmlns:p14="http://schemas.microsoft.com/office/powerpoint/2010/main" val="4191440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F077E59-00CA-FD39-4B88-D4E582BBD5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1877932-CC58-A46F-D8D0-CB3A6C328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Networking on the internet</a:t>
            </a:r>
          </a:p>
        </p:txBody>
      </p:sp>
      <p:pic>
        <p:nvPicPr>
          <p:cNvPr id="6" name="Picture 2" descr="I've tested over 59 laptops: this is the best laptop of 2024 | Mashable">
            <a:extLst>
              <a:ext uri="{FF2B5EF4-FFF2-40B4-BE49-F238E27FC236}">
                <a16:creationId xmlns:a16="http://schemas.microsoft.com/office/drawing/2014/main" id="{B0E69265-68AF-3AC2-C8C5-EA83BEDB34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03" r="18906" b="1"/>
          <a:stretch/>
        </p:blipFill>
        <p:spPr bwMode="auto">
          <a:xfrm>
            <a:off x="958571" y="2702022"/>
            <a:ext cx="1428248" cy="1279435"/>
          </a:xfrm>
          <a:prstGeom prst="rect">
            <a:avLst/>
          </a:prstGeom>
          <a:solidFill>
            <a:srgbClr val="FFFFFF"/>
          </a:solidFill>
        </p:spPr>
      </p:pic>
      <p:pic>
        <p:nvPicPr>
          <p:cNvPr id="7" name="Picture 4" descr="Server Png Images - Free Download on Freepik">
            <a:extLst>
              <a:ext uri="{FF2B5EF4-FFF2-40B4-BE49-F238E27FC236}">
                <a16:creationId xmlns:a16="http://schemas.microsoft.com/office/drawing/2014/main" id="{3E978A89-018F-E90E-DA48-005773AEE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1993" y="1978594"/>
            <a:ext cx="2900812" cy="2900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809CCB99-D20F-EA4A-11E2-0470762F2B96}"/>
              </a:ext>
            </a:extLst>
          </p:cNvPr>
          <p:cNvSpPr/>
          <p:nvPr/>
        </p:nvSpPr>
        <p:spPr>
          <a:xfrm>
            <a:off x="2569699" y="270202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8A6BDF7-EFD3-472E-D14A-E9AE52060F80}"/>
              </a:ext>
            </a:extLst>
          </p:cNvPr>
          <p:cNvSpPr/>
          <p:nvPr/>
        </p:nvSpPr>
        <p:spPr>
          <a:xfrm rot="10800000">
            <a:off x="2569699" y="3585579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Clouds - Free weather icons">
            <a:extLst>
              <a:ext uri="{FF2B5EF4-FFF2-40B4-BE49-F238E27FC236}">
                <a16:creationId xmlns:a16="http://schemas.microsoft.com/office/drawing/2014/main" id="{7141E4A5-6A9C-ACC2-1519-629A9F3690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1912" y="1524000"/>
            <a:ext cx="3311841" cy="3600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4A242E5F-1D5C-2DB1-6E71-899F755344C2}"/>
              </a:ext>
            </a:extLst>
          </p:cNvPr>
          <p:cNvSpPr/>
          <p:nvPr/>
        </p:nvSpPr>
        <p:spPr>
          <a:xfrm rot="10800000">
            <a:off x="8053753" y="3585579"/>
            <a:ext cx="1817271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D179E9B0-8918-9699-6B45-EFE358B8F476}"/>
              </a:ext>
            </a:extLst>
          </p:cNvPr>
          <p:cNvSpPr/>
          <p:nvPr/>
        </p:nvSpPr>
        <p:spPr>
          <a:xfrm>
            <a:off x="7783144" y="263635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69EE4A-C583-3192-A772-92849DE747D8}"/>
              </a:ext>
            </a:extLst>
          </p:cNvPr>
          <p:cNvSpPr txBox="1"/>
          <p:nvPr/>
        </p:nvSpPr>
        <p:spPr>
          <a:xfrm>
            <a:off x="5695819" y="3188677"/>
            <a:ext cx="17005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Internet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0196F1-6962-6A71-4FA8-8E78871055B8}"/>
              </a:ext>
            </a:extLst>
          </p:cNvPr>
          <p:cNvSpPr txBox="1"/>
          <p:nvPr/>
        </p:nvSpPr>
        <p:spPr>
          <a:xfrm>
            <a:off x="494250" y="4893435"/>
            <a:ext cx="27777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Your laptop at home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7B8B56-A49E-CD7A-D670-CA60915E2E76}"/>
              </a:ext>
            </a:extLst>
          </p:cNvPr>
          <p:cNvSpPr txBox="1"/>
          <p:nvPr/>
        </p:nvSpPr>
        <p:spPr>
          <a:xfrm>
            <a:off x="9458063" y="4893436"/>
            <a:ext cx="21686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UC Davis server</a:t>
            </a:r>
          </a:p>
        </p:txBody>
      </p:sp>
    </p:spTree>
    <p:extLst>
      <p:ext uri="{BB962C8B-B14F-4D97-AF65-F5344CB8AC3E}">
        <p14:creationId xmlns:p14="http://schemas.microsoft.com/office/powerpoint/2010/main" val="250579618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B16597-B514-07D1-C241-B6444AE7C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3F98F9C-0B45-BCAA-2B4D-34829EC05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center networking</a:t>
            </a:r>
          </a:p>
        </p:txBody>
      </p:sp>
      <p:pic>
        <p:nvPicPr>
          <p:cNvPr id="3074" name="Picture 2" descr="Data Center Networking: A Comprehensive Guide - Dgtl Infra">
            <a:extLst>
              <a:ext uri="{FF2B5EF4-FFF2-40B4-BE49-F238E27FC236}">
                <a16:creationId xmlns:a16="http://schemas.microsoft.com/office/drawing/2014/main" id="{5F8ADB01-595D-E260-4B13-64797465D6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0215" y="1269275"/>
            <a:ext cx="9671538" cy="431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B5BCBC-8AC0-B4C4-6126-9C7958824199}"/>
              </a:ext>
            </a:extLst>
          </p:cNvPr>
          <p:cNvSpPr txBox="1"/>
          <p:nvPr/>
        </p:nvSpPr>
        <p:spPr>
          <a:xfrm>
            <a:off x="9308122" y="5713754"/>
            <a:ext cx="274466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https://dgtlinfra.com/data-center-networking/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84DC86-6441-EDBC-D14A-57AC46752D18}"/>
              </a:ext>
            </a:extLst>
          </p:cNvPr>
          <p:cNvSpPr txBox="1"/>
          <p:nvPr/>
        </p:nvSpPr>
        <p:spPr>
          <a:xfrm>
            <a:off x="117231" y="913413"/>
            <a:ext cx="31368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Each node is a machine</a:t>
            </a:r>
          </a:p>
        </p:txBody>
      </p:sp>
    </p:spTree>
    <p:extLst>
      <p:ext uri="{BB962C8B-B14F-4D97-AF65-F5344CB8AC3E}">
        <p14:creationId xmlns:p14="http://schemas.microsoft.com/office/powerpoint/2010/main" val="304404720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E66122F-E291-D0C7-06C6-E5C80B27A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Divides the application into multiple logical layers or “tiers”</a:t>
            </a:r>
          </a:p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Stronger encapsulation</a:t>
            </a:r>
          </a:p>
          <a:p>
            <a:pPr lvl="2"/>
            <a:r>
              <a:rPr lang="en-US" dirty="0"/>
              <a:t>Clear division of responsibilities</a:t>
            </a:r>
          </a:p>
          <a:p>
            <a:pPr lvl="2"/>
            <a:r>
              <a:rPr lang="en-US" dirty="0"/>
              <a:t>Easier to maintain and test</a:t>
            </a:r>
          </a:p>
          <a:p>
            <a:pPr lvl="1"/>
            <a:r>
              <a:rPr lang="en-US" dirty="0"/>
              <a:t>Stronger reusability</a:t>
            </a:r>
          </a:p>
          <a:p>
            <a:pPr lvl="2"/>
            <a:r>
              <a:rPr lang="en-US" dirty="0"/>
              <a:t>Logic in one layer can be reused across different applications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Possible increase in latency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97A403-D46F-D625-F5E8-C524215AF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Multi-tier or layered architecture</a:t>
            </a:r>
          </a:p>
        </p:txBody>
      </p:sp>
    </p:spTree>
    <p:extLst>
      <p:ext uri="{BB962C8B-B14F-4D97-AF65-F5344CB8AC3E}">
        <p14:creationId xmlns:p14="http://schemas.microsoft.com/office/powerpoint/2010/main" val="4225419543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80B847B-CC28-8431-56F1-DE7232EC1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Three layers</a:t>
            </a:r>
          </a:p>
          <a:p>
            <a:r>
              <a:rPr lang="en-US" dirty="0"/>
              <a:t>Model: Manages data and business logic</a:t>
            </a:r>
          </a:p>
          <a:p>
            <a:r>
              <a:rPr lang="en-US" dirty="0"/>
              <a:t>View: Handles the presentation layer (user interface)</a:t>
            </a:r>
          </a:p>
          <a:p>
            <a:r>
              <a:rPr lang="en-US" dirty="0"/>
              <a:t>Controller: Acts as an intermediary, processing user input and coordinating between Model and View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FC92F1-0576-24E2-E47F-3D529E85B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Model-view-controller (MVC) architecture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85C69872-5213-03C1-CA0B-D69E50C4A1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046581"/>
            <a:ext cx="5505026" cy="3877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83FD19-2F4A-4B8D-ACEF-3C0877D6DA40}"/>
              </a:ext>
            </a:extLst>
          </p:cNvPr>
          <p:cNvSpPr txBox="1"/>
          <p:nvPr/>
        </p:nvSpPr>
        <p:spPr>
          <a:xfrm>
            <a:off x="6002215" y="4950830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https://medium.com/@cyberblogger007/mvc-architecture-with-jsp-example-5c53d1994157</a:t>
            </a:r>
          </a:p>
        </p:txBody>
      </p:sp>
    </p:spTree>
    <p:extLst>
      <p:ext uri="{BB962C8B-B14F-4D97-AF65-F5344CB8AC3E}">
        <p14:creationId xmlns:p14="http://schemas.microsoft.com/office/powerpoint/2010/main" val="217514027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79C87-3CE7-9DA2-0DA9-550B894516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8B7AAC1-858D-7D6F-7C81-977B2B573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frameworks</a:t>
            </a:r>
          </a:p>
        </p:txBody>
      </p:sp>
      <p:pic>
        <p:nvPicPr>
          <p:cNvPr id="4100" name="Picture 4" descr="20+ JSP Projects with Source Code - ProjectsGeek">
            <a:extLst>
              <a:ext uri="{FF2B5EF4-FFF2-40B4-BE49-F238E27FC236}">
                <a16:creationId xmlns:a16="http://schemas.microsoft.com/office/drawing/2014/main" id="{2482F43B-6C8E-C3DF-36AE-D3C36FB38C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611" y="852209"/>
            <a:ext cx="1039324" cy="1904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What Is a Java Servlet: A Comprehensive Guide">
            <a:extLst>
              <a:ext uri="{FF2B5EF4-FFF2-40B4-BE49-F238E27FC236}">
                <a16:creationId xmlns:a16="http://schemas.microsoft.com/office/drawing/2014/main" id="{D818ACBC-0B9A-AC5D-506B-D5B51C932C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7653" y="974574"/>
            <a:ext cx="1677865" cy="1605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Java (programming language) - Wikipedia">
            <a:extLst>
              <a:ext uri="{FF2B5EF4-FFF2-40B4-BE49-F238E27FC236}">
                <a16:creationId xmlns:a16="http://schemas.microsoft.com/office/drawing/2014/main" id="{8D6126B4-BA87-FB5E-8CC3-2C29B6044E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9939" y="798560"/>
            <a:ext cx="1067701" cy="1957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6" name="Picture 10" descr="Database Images – Browse 1,203,926 Stock Photos, Vectors, and Video | Adobe  Stock">
            <a:extLst>
              <a:ext uri="{FF2B5EF4-FFF2-40B4-BE49-F238E27FC236}">
                <a16:creationId xmlns:a16="http://schemas.microsoft.com/office/drawing/2014/main" id="{7EF3FA2C-99A2-56FC-6BDF-CC16970D2E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8227" y="1177139"/>
            <a:ext cx="1884850" cy="1254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8" name="Picture 12" descr="Web browser - Free web icons">
            <a:extLst>
              <a:ext uri="{FF2B5EF4-FFF2-40B4-BE49-F238E27FC236}">
                <a16:creationId xmlns:a16="http://schemas.microsoft.com/office/drawing/2014/main" id="{A400B065-7741-B6CE-0D61-CE73359931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748" y="921404"/>
            <a:ext cx="1765713" cy="1765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5BF80A7-DB0D-120A-8EEE-5FF23683F0A2}"/>
              </a:ext>
            </a:extLst>
          </p:cNvPr>
          <p:cNvCxnSpPr>
            <a:cxnSpLocks/>
          </p:cNvCxnSpPr>
          <p:nvPr/>
        </p:nvCxnSpPr>
        <p:spPr>
          <a:xfrm>
            <a:off x="2692461" y="1593246"/>
            <a:ext cx="1118150" cy="1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2B1DE2-BCFB-70E1-6CE2-9C5BA73BF2E0}"/>
              </a:ext>
            </a:extLst>
          </p:cNvPr>
          <p:cNvCxnSpPr>
            <a:cxnSpLocks/>
          </p:cNvCxnSpPr>
          <p:nvPr/>
        </p:nvCxnSpPr>
        <p:spPr>
          <a:xfrm>
            <a:off x="5115625" y="1593246"/>
            <a:ext cx="1118150" cy="1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04DDDE2-2B25-D698-B802-E096435BAAF3}"/>
              </a:ext>
            </a:extLst>
          </p:cNvPr>
          <p:cNvCxnSpPr>
            <a:cxnSpLocks/>
          </p:cNvCxnSpPr>
          <p:nvPr/>
        </p:nvCxnSpPr>
        <p:spPr>
          <a:xfrm>
            <a:off x="7241493" y="1588774"/>
            <a:ext cx="1118150" cy="1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3541F97-A3CD-C969-6632-2F3BFE55D5DA}"/>
              </a:ext>
            </a:extLst>
          </p:cNvPr>
          <p:cNvCxnSpPr>
            <a:cxnSpLocks/>
          </p:cNvCxnSpPr>
          <p:nvPr/>
        </p:nvCxnSpPr>
        <p:spPr>
          <a:xfrm>
            <a:off x="9372083" y="1588773"/>
            <a:ext cx="657625" cy="1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90B9E46-6FF4-E01F-BFB1-8D2867F687DD}"/>
              </a:ext>
            </a:extLst>
          </p:cNvPr>
          <p:cNvCxnSpPr>
            <a:cxnSpLocks/>
          </p:cNvCxnSpPr>
          <p:nvPr/>
        </p:nvCxnSpPr>
        <p:spPr>
          <a:xfrm flipH="1">
            <a:off x="9367640" y="1987358"/>
            <a:ext cx="596507" cy="0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CFDBD7F-489A-2EEF-F85C-811A554D39C9}"/>
              </a:ext>
            </a:extLst>
          </p:cNvPr>
          <p:cNvCxnSpPr>
            <a:cxnSpLocks/>
          </p:cNvCxnSpPr>
          <p:nvPr/>
        </p:nvCxnSpPr>
        <p:spPr>
          <a:xfrm flipH="1">
            <a:off x="7241493" y="1987358"/>
            <a:ext cx="1058446" cy="0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73FCAD0-680D-DD40-63CA-1672F1417B57}"/>
              </a:ext>
            </a:extLst>
          </p:cNvPr>
          <p:cNvCxnSpPr>
            <a:cxnSpLocks/>
          </p:cNvCxnSpPr>
          <p:nvPr/>
        </p:nvCxnSpPr>
        <p:spPr>
          <a:xfrm flipH="1">
            <a:off x="5115625" y="1981793"/>
            <a:ext cx="1058446" cy="0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7D59EA9-ED99-4457-3003-87C97B08B9D1}"/>
              </a:ext>
            </a:extLst>
          </p:cNvPr>
          <p:cNvCxnSpPr>
            <a:cxnSpLocks/>
          </p:cNvCxnSpPr>
          <p:nvPr/>
        </p:nvCxnSpPr>
        <p:spPr>
          <a:xfrm flipH="1">
            <a:off x="2722313" y="1970663"/>
            <a:ext cx="1058446" cy="0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E3522C9-63DF-500E-DED0-682658DCFBD5}"/>
              </a:ext>
            </a:extLst>
          </p:cNvPr>
          <p:cNvSpPr txBox="1"/>
          <p:nvPr/>
        </p:nvSpPr>
        <p:spPr>
          <a:xfrm>
            <a:off x="3864505" y="2756314"/>
            <a:ext cx="931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View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85D0576-7DCB-822D-0E19-536B613EF49E}"/>
              </a:ext>
            </a:extLst>
          </p:cNvPr>
          <p:cNvSpPr txBox="1"/>
          <p:nvPr/>
        </p:nvSpPr>
        <p:spPr>
          <a:xfrm>
            <a:off x="5869806" y="2751451"/>
            <a:ext cx="16657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Controller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BC7047C-F26E-A106-2FB1-BE3FB9E0E339}"/>
              </a:ext>
            </a:extLst>
          </p:cNvPr>
          <p:cNvSpPr txBox="1"/>
          <p:nvPr/>
        </p:nvSpPr>
        <p:spPr>
          <a:xfrm>
            <a:off x="8323665" y="2751451"/>
            <a:ext cx="11416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Model</a:t>
            </a:r>
          </a:p>
        </p:txBody>
      </p:sp>
      <p:pic>
        <p:nvPicPr>
          <p:cNvPr id="4110" name="Picture 14" descr="What Is Apache Struts | JRebel by Perforce">
            <a:extLst>
              <a:ext uri="{FF2B5EF4-FFF2-40B4-BE49-F238E27FC236}">
                <a16:creationId xmlns:a16="http://schemas.microsoft.com/office/drawing/2014/main" id="{5FCA6424-8A7B-720C-E8D9-E528569AAC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4722" y="4101687"/>
            <a:ext cx="2579565" cy="1719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2" name="Picture 16" descr="Spring MVC Architecture">
            <a:extLst>
              <a:ext uri="{FF2B5EF4-FFF2-40B4-BE49-F238E27FC236}">
                <a16:creationId xmlns:a16="http://schemas.microsoft.com/office/drawing/2014/main" id="{DD84460B-DA02-4FFC-2809-B087DB413F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3941" y="3991018"/>
            <a:ext cx="3176954" cy="178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179738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CD54F3F-3DBD-CFE6-C539-50427B215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403A5A2-4DDD-1161-7110-D54C20456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container?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5BB093-F889-35C7-C5D0-C3AE07BC6A7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Isolated environment that emulates a physical machine</a:t>
            </a:r>
          </a:p>
          <a:p>
            <a:r>
              <a:rPr lang="en-US" dirty="0"/>
              <a:t>Each container shares the host kernel</a:t>
            </a:r>
          </a:p>
          <a:p>
            <a:r>
              <a:rPr lang="en-US" dirty="0"/>
              <a:t>Isolation enforced by software</a:t>
            </a:r>
          </a:p>
          <a:p>
            <a:pPr lvl="1"/>
            <a:r>
              <a:rPr lang="en-US" dirty="0"/>
              <a:t>Namespaces and </a:t>
            </a:r>
            <a:r>
              <a:rPr lang="en-US" dirty="0" err="1"/>
              <a:t>cgroups</a:t>
            </a:r>
            <a:r>
              <a:rPr lang="en-US" dirty="0"/>
              <a:t> in the Linux kernel</a:t>
            </a:r>
          </a:p>
          <a:p>
            <a:r>
              <a:rPr lang="en-US" b="1" i="1" dirty="0"/>
              <a:t>Docker </a:t>
            </a:r>
            <a:r>
              <a:rPr lang="en-US" dirty="0"/>
              <a:t>is leading technology for building containers</a:t>
            </a:r>
            <a:endParaRPr lang="en-US" b="1" i="1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95D2408-0B85-5E4E-A359-B276FB9F498D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5F50B584-E53E-40F7-5D19-C28B20DC1EDF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9066857-168E-D85C-743E-4B9572964569}"/>
                </a:ext>
              </a:extLst>
            </p:cNvPr>
            <p:cNvGrpSpPr/>
            <p:nvPr/>
          </p:nvGrpSpPr>
          <p:grpSpPr>
            <a:xfrm>
              <a:off x="5241416" y="3228509"/>
              <a:ext cx="1532791" cy="779658"/>
              <a:chOff x="5241416" y="3228509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F81EAAF-EE79-0800-13AA-AA7264FEC18E}"/>
                  </a:ext>
                </a:extLst>
              </p:cNvPr>
              <p:cNvSpPr/>
              <p:nvPr/>
            </p:nvSpPr>
            <p:spPr>
              <a:xfrm>
                <a:off x="5241416" y="3228509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ADF5998C-E579-15A2-A39D-701943F09CB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355" y="3697505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BDB2CD2F-3BE9-A222-41CE-053B843BB5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DAB901A-5062-F6C0-9C35-FBFF384C5C3F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E12952F3-AE23-F4C7-B79E-C753766903B0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893E2717-76FD-D971-55DA-A6FEBAB05AB4}"/>
                </a:ext>
              </a:extLst>
            </p:cNvPr>
            <p:cNvSpPr/>
            <p:nvPr/>
          </p:nvSpPr>
          <p:spPr>
            <a:xfrm>
              <a:off x="8232965" y="3230184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A1E62B1C-6897-ECB0-8E2A-5FE62BA0C13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60113" y="3675199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E4F6C670-6512-7A24-61CD-7A9F9194D0C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49FEA8B-17E0-AD13-CAFA-F1A5873C94F9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2E721DD8-89AA-0B01-AD5A-54C6585EE49B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81C6359F-B841-3661-225F-75790DDC9A80}"/>
                </a:ext>
              </a:extLst>
            </p:cNvPr>
            <p:cNvSpPr/>
            <p:nvPr/>
          </p:nvSpPr>
          <p:spPr>
            <a:xfrm>
              <a:off x="10207907" y="3228509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9ED1E0D9-78E7-269D-313B-10F334B62B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26972" y="3697504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4F19A534-82CA-AA9A-E651-540A45CC01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0FBF1CF-187E-6713-5F80-F4406A1446C4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CDF740E3-1081-EE43-7914-C959EA355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D035F70-6247-24E6-169C-DD08DD356048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Linux kernel 5.4.1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84FF314-DD82-3EC1-8A03-BF4FC3D71FF3}"/>
              </a:ext>
            </a:extLst>
          </p:cNvPr>
          <p:cNvGrpSpPr/>
          <p:nvPr/>
        </p:nvGrpSpPr>
        <p:grpSpPr>
          <a:xfrm>
            <a:off x="5877903" y="1026543"/>
            <a:ext cx="5875346" cy="3342257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8878F91-13BF-EF3A-5706-49A82ECAC327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92C8C04-8C34-E10F-EBDC-C6C9CFB52215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3F7B0BE-CFAE-6908-DEB4-A5888A7FDCFD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10510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43E1F8-B7A3-7B22-9484-288D6F7F73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38FE643-8F0C-509A-012C-E37FC29DD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architecture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8A6596F-9E97-3A85-0CFC-A7DBC30E56B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Remote docker registry</a:t>
            </a:r>
          </a:p>
          <a:p>
            <a:pPr lvl="1"/>
            <a:r>
              <a:rPr lang="en-US" dirty="0" err="1"/>
              <a:t>Dockerhub</a:t>
            </a:r>
            <a:r>
              <a:rPr lang="en-US" dirty="0"/>
              <a:t> contains docker images</a:t>
            </a:r>
          </a:p>
          <a:p>
            <a:r>
              <a:rPr lang="en-US" dirty="0"/>
              <a:t>Docker host</a:t>
            </a:r>
          </a:p>
          <a:p>
            <a:pPr lvl="1"/>
            <a:r>
              <a:rPr lang="en-US" dirty="0"/>
              <a:t>Machine running docker daemon</a:t>
            </a:r>
          </a:p>
          <a:p>
            <a:pPr lvl="1"/>
            <a:r>
              <a:rPr lang="en-US" dirty="0"/>
              <a:t>Stores docker images locally</a:t>
            </a:r>
          </a:p>
          <a:p>
            <a:pPr lvl="1"/>
            <a:r>
              <a:rPr lang="en-US" dirty="0"/>
              <a:t>Spawns containers </a:t>
            </a:r>
          </a:p>
          <a:p>
            <a:r>
              <a:rPr lang="en-US" dirty="0"/>
              <a:t>Docker client commands 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docker pull</a:t>
            </a:r>
            <a:r>
              <a:rPr lang="en-US" dirty="0"/>
              <a:t>: pulls image from registry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docker build</a:t>
            </a:r>
            <a:r>
              <a:rPr lang="en-US" dirty="0"/>
              <a:t>: builds a docker image from a </a:t>
            </a:r>
            <a:r>
              <a:rPr lang="en-US" dirty="0" err="1">
                <a:latin typeface="Consolas" panose="020B0609020204030204" pitchFamily="49" charset="0"/>
              </a:rPr>
              <a:t>Dockerfile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Consolas" panose="020B0609020204030204" pitchFamily="49" charset="0"/>
              </a:rPr>
              <a:t>docker run</a:t>
            </a:r>
            <a:r>
              <a:rPr lang="en-US" dirty="0"/>
              <a:t>: spawns a container</a:t>
            </a:r>
          </a:p>
        </p:txBody>
      </p:sp>
      <p:pic>
        <p:nvPicPr>
          <p:cNvPr id="12290" name="Picture 2" descr="Understanding Docker Architecture: A Comprehensive Guide | by Ravi Patel |  Medium">
            <a:extLst>
              <a:ext uri="{FF2B5EF4-FFF2-40B4-BE49-F238E27FC236}">
                <a16:creationId xmlns:a16="http://schemas.microsoft.com/office/drawing/2014/main" id="{AC4E8A75-6AE4-72D1-5A60-00EDBF0DFB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5487" y="1453662"/>
            <a:ext cx="6036910" cy="3059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6894572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5EF4BD-4504-C6A6-189C-DB51580FA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</a:t>
            </a:r>
            <a:r>
              <a:rPr lang="en-US" dirty="0" err="1"/>
              <a:t>Dockerfile</a:t>
            </a:r>
            <a:r>
              <a:rPr lang="en-US" dirty="0"/>
              <a:t> to run HW1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F66848C-2856-156E-6D23-A95B7992920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10675" y="597877"/>
            <a:ext cx="5963171" cy="5403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355488" rIns="0" bIns="0" numCol="1" anchor="ctr" anchorCtr="0" compatLnSpc="1">
            <a:prstTxWarp prst="textNoShape">
              <a:avLst/>
            </a:prstTxWarp>
            <a:normAutofit lnSpcReduction="10000"/>
          </a:bodyPr>
          <a:lstStyle/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Use the Ubuntu base image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FROM ubuntu:20.04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Set the working directory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WORKDIR /app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Install required dependencies: OpenJDK, Maven, Git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apt-get update &amp;&amp; apt-get install -y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openjdk-11-jdk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maven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git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&amp;&amp; apt-get clean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&amp;&amp; rm -rf /var/lib/apt/lists/*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Set JAVA_HOME environment variable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ENV JAVA_HOME=/</a:t>
            </a:r>
            <a:r>
              <a:rPr lang="en-US" altLang="en-US" sz="1400" dirty="0" err="1">
                <a:solidFill>
                  <a:srgbClr val="242424"/>
                </a:solidFill>
              </a:rPr>
              <a:t>usr</a:t>
            </a:r>
            <a:r>
              <a:rPr lang="en-US" altLang="en-US" sz="1400" dirty="0">
                <a:solidFill>
                  <a:srgbClr val="242424"/>
                </a:solidFill>
              </a:rPr>
              <a:t>/lib/</a:t>
            </a:r>
            <a:r>
              <a:rPr lang="en-US" altLang="en-US" sz="1400" dirty="0" err="1">
                <a:solidFill>
                  <a:srgbClr val="242424"/>
                </a:solidFill>
              </a:rPr>
              <a:t>jvm</a:t>
            </a:r>
            <a:r>
              <a:rPr lang="en-US" altLang="en-US" sz="1400" dirty="0">
                <a:solidFill>
                  <a:srgbClr val="242424"/>
                </a:solidFill>
              </a:rPr>
              <a:t>/java-11-openjdk-amd64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ENV PATH="$JAVA_HOME/bin:$PATH"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Clone the Java application repository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git clone https://github.com/example-user/java-app.git .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Build the application using Maven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</a:t>
            </a:r>
            <a:r>
              <a:rPr lang="en-US" altLang="en-US" sz="1400" dirty="0" err="1">
                <a:solidFill>
                  <a:srgbClr val="242424"/>
                </a:solidFill>
              </a:rPr>
              <a:t>mvn</a:t>
            </a:r>
            <a:r>
              <a:rPr lang="en-US" altLang="en-US" sz="1400" dirty="0">
                <a:solidFill>
                  <a:srgbClr val="242424"/>
                </a:solidFill>
              </a:rPr>
              <a:t> clean package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Define the command to run the application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CMD ["java", "-jar", "target/java-app.jar"]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E15E4772-CBED-3A73-FDE5-98903B6FA3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5014" y="1676401"/>
            <a:ext cx="4615017" cy="273017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355488" rIns="0" bIns="0" numCol="1" anchor="ctr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b="1" dirty="0">
                <a:solidFill>
                  <a:srgbClr val="242424"/>
                </a:solidFill>
              </a:rPr>
              <a:t># To build the docker container</a:t>
            </a:r>
          </a:p>
          <a:p>
            <a:pPr marL="285750" indent="-285750" defTabSz="914400" eaLnBrk="0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docker build -t java-app .  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b="1" dirty="0">
                <a:solidFill>
                  <a:srgbClr val="242424"/>
                </a:solidFill>
              </a:rPr>
              <a:t># To run the docker container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&gt; </a:t>
            </a:r>
            <a:r>
              <a:rPr lang="sv-SE" altLang="en-US" sz="1400" dirty="0">
                <a:solidFill>
                  <a:srgbClr val="242424"/>
                </a:solidFill>
              </a:rPr>
              <a:t>docker run -p 8080:8080 java-app</a:t>
            </a:r>
            <a:endParaRPr lang="en-US" altLang="en-US" sz="1400" dirty="0">
              <a:solidFill>
                <a:srgbClr val="242424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DD3DC23-DFEC-4DA7-8CC4-BC57749DB9E8}"/>
              </a:ext>
            </a:extLst>
          </p:cNvPr>
          <p:cNvSpPr/>
          <p:nvPr/>
        </p:nvSpPr>
        <p:spPr>
          <a:xfrm>
            <a:off x="181714" y="696277"/>
            <a:ext cx="3564786" cy="696277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3808E9-806B-755B-9D02-A5F34243874D}"/>
              </a:ext>
            </a:extLst>
          </p:cNvPr>
          <p:cNvSpPr/>
          <p:nvPr/>
        </p:nvSpPr>
        <p:spPr>
          <a:xfrm>
            <a:off x="181714" y="1956039"/>
            <a:ext cx="5545986" cy="1472961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8E327E-95F1-3BEA-171A-2D5B8113D664}"/>
              </a:ext>
            </a:extLst>
          </p:cNvPr>
          <p:cNvSpPr/>
          <p:nvPr/>
        </p:nvSpPr>
        <p:spPr>
          <a:xfrm>
            <a:off x="309507" y="4027116"/>
            <a:ext cx="5963170" cy="1973793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598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5" grpId="0" animBg="1"/>
      <p:bldP spid="5" grpId="1" animBg="1"/>
      <p:bldP spid="6" grpId="0" animBg="1"/>
      <p:bldP spid="6" grpId="1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0A23A98-90F0-0C56-F381-4C52E2007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450CA2-2120-E0DB-BCE5-5FE79EA22AA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6C3138-B44C-D8A2-C0DE-4EBC75DC5F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9813320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218CF2C-A9BC-1EF7-0719-E956E59E4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Networking fundamentals</a:t>
            </a:r>
          </a:p>
          <a:p>
            <a:r>
              <a:rPr lang="en-US" dirty="0"/>
              <a:t>HTTP methods </a:t>
            </a:r>
          </a:p>
          <a:p>
            <a:r>
              <a:rPr lang="en-US" dirty="0"/>
              <a:t>Apache HTTP demo</a:t>
            </a:r>
          </a:p>
          <a:p>
            <a:r>
              <a:rPr lang="en-US" dirty="0"/>
              <a:t>Wireshark demo</a:t>
            </a:r>
          </a:p>
          <a:p>
            <a:r>
              <a:rPr lang="en-US" dirty="0"/>
              <a:t>Application servers</a:t>
            </a:r>
          </a:p>
          <a:p>
            <a:pPr lvl="2"/>
            <a:r>
              <a:rPr lang="en-US" dirty="0"/>
              <a:t>Apache Tomcat</a:t>
            </a:r>
          </a:p>
          <a:p>
            <a:r>
              <a:rPr lang="en-US" dirty="0"/>
              <a:t>Client server architecture</a:t>
            </a:r>
          </a:p>
          <a:p>
            <a:r>
              <a:rPr lang="en-US" dirty="0"/>
              <a:t>Microservices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7267F1D-4C15-0FA0-11B6-EC61DE81B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26A3F9B-01F7-F04D-65D8-ED1CE0D4CD87}"/>
              </a:ext>
            </a:extLst>
          </p:cNvPr>
          <p:cNvCxnSpPr/>
          <p:nvPr/>
        </p:nvCxnSpPr>
        <p:spPr>
          <a:xfrm>
            <a:off x="0" y="5275385"/>
            <a:ext cx="12192000" cy="0"/>
          </a:xfrm>
          <a:prstGeom prst="line">
            <a:avLst/>
          </a:prstGeom>
          <a:ln w="3175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4DFDC02-60EB-C2F5-88F0-AC97696FDBB1}"/>
              </a:ext>
            </a:extLst>
          </p:cNvPr>
          <p:cNvSpPr txBox="1"/>
          <p:nvPr/>
        </p:nvSpPr>
        <p:spPr>
          <a:xfrm>
            <a:off x="6829865" y="1526345"/>
            <a:ext cx="2763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Continue during Discussion</a:t>
            </a:r>
          </a:p>
        </p:txBody>
      </p:sp>
    </p:spTree>
    <p:extLst>
      <p:ext uri="{BB962C8B-B14F-4D97-AF65-F5344CB8AC3E}">
        <p14:creationId xmlns:p14="http://schemas.microsoft.com/office/powerpoint/2010/main" val="222449025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ACC6015-617F-4C8C-7CAE-6E74660B8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97D5546-C12B-AEC6-0EAE-20F7F3F73F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9A0A16D-DD0F-7C64-63DC-8ABFC0BB9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086DAC-5990-ED4F-ACCE-E00E33760D9D}"/>
              </a:ext>
            </a:extLst>
          </p:cNvPr>
          <p:cNvSpPr/>
          <p:nvPr/>
        </p:nvSpPr>
        <p:spPr>
          <a:xfrm>
            <a:off x="2948385" y="2967335"/>
            <a:ext cx="6295249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Networking fundamentals</a:t>
            </a:r>
          </a:p>
        </p:txBody>
      </p:sp>
    </p:spTree>
    <p:extLst>
      <p:ext uri="{BB962C8B-B14F-4D97-AF65-F5344CB8AC3E}">
        <p14:creationId xmlns:p14="http://schemas.microsoft.com/office/powerpoint/2010/main" val="926996165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3730597-842E-707C-B766-6ABBB6CEF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FF7372D-587A-794A-9C71-BAEF83828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Networked components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32FF42C-0C8F-4DCC-3161-065BE66073F8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837E6AC-FEE9-2ED0-81BB-21C81AE1B9F6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97914DD-A50F-8FFF-7F99-EDC931A94FA2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73A7E6A-9FCF-9BAB-241B-090FF3AB515F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D394B1F-7FF3-44D1-6001-EFD7EB252EC6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779907A-4771-AE0E-C5C0-644B43FBC3E0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F74515A-DDB6-6920-E14D-750AF6CEC044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6CE64CE-1576-EFC2-1E4F-5EA55C874722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CD3E9BD-6727-BCA8-8F66-3440B5BB8F26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E2E7166-A7CF-8898-7EBB-E810A46DCF82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1568512-4610-6DC3-2556-26799644C491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8900D6F-3967-2B7A-CE34-41F9870D875E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D83F654-9E3B-21EE-C2F8-561B667B7D72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A3B892-1C54-39D1-FBED-56CAD8D5A5AA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5B7956-3F94-C9D2-A8BE-6F6AD792F291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8F5A440-20B2-907D-E231-0E7FB46F8C78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5EF5544-9569-AFF1-54D0-2C792B6C7617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66BB450-2F2E-57DC-BB60-A2E8472F67EF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FBAB2B1-0BC7-A76C-7A07-5BB071812A04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71C6BB1-4EA6-E790-5DD7-97EEF6D3DFF0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C0F4F09-5B6B-15D2-E565-2E46F28D0DE3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72DB045-29A8-56D3-0438-A3949E27A2C2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60C04ED-CABD-486E-0098-CC32C8A2659D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F1EEF75-B4D1-65BD-66D6-1C9B4EF980B5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F6770FC2-610E-3644-A0EF-86749C4C2091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8774563-DE3B-2F1C-D984-871160A5FD55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BF78315-B233-6018-F46C-B2B44A9E502C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E0AFFC0-B6D3-F8A0-4F91-7CF6EB5BDCB1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1A64528-8AD9-67D0-CECA-67C6A9037B46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BE4923F-7B25-EABC-1E0F-859E2B976FA0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DF0F798-DA16-47B0-923C-07EFCB6CFF72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9B4D361-CD6A-AC67-1CCA-07C8EAA90280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C0C5FA3-EAE5-E917-BA31-A5BF8C2B30FE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4C13170-8F6E-27D2-2ADC-6D055BCCD48E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F5B1250-C2CF-4657-EA1F-E56062672CD0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4B08D43-A862-0E0B-715C-484E06D86803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1F36F35-7CF8-C4AD-6AFB-9158AD2A14F6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985402B-33AA-780C-6910-EF1AA0C5C1CF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A978C1A4-24DB-A8AA-FF9D-15B07BBC5E5E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BBDA5BC-2656-F89E-FBA8-6E4AB832C6A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B10A3017-78A0-151C-C680-00041A4FBC0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E0DA9CF-D4EF-270B-B519-BCD1D270616F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3EEE6D1-EEA9-5FB4-7166-0F6220F39BB5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25D21AE9-E43F-D949-AA42-2F94B374AB21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FB4DE61F-F10C-DBF3-1E05-771B3F3FE90A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16C38179-271A-78F8-C8B0-FB6CE984011E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F8BF24B1-AA63-592A-FAD9-7DB6B95D92E9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2EFA97ED-7B1D-F561-DB13-B015665A7374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04F2E5E4-52DB-8B2B-F30E-D967A983A4EB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A9D6EACC-4B70-5178-91D9-18097CBBE1A8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144B34DE-C4ED-DD41-3461-AC2E83CCCDC6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EC36B9FC-3AB9-DC25-0D92-303BA9F9A151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A7EFE1F3-1B71-0CE6-3513-B5CD1E64CB7E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F155590A-4163-5B08-CC09-C8E5463DFD60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C3368FE7-12EE-B9E9-3FCB-746AF127E8B6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EB13224D-46C7-2AB7-2138-BEE9B486BB8C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ABE06D10-C89F-3629-11CB-DFCC3DB9C504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51353887-38BF-7D05-45B1-3B44A125D4D3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BD406112-4FDD-7010-EB05-CBFF9197FE6F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39ADF3A9-1BE8-D098-D4F0-9D674722A275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44EFD996-7149-0AAE-4997-D72011C401ED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1FF03BF4-CAD3-F38E-8775-78B94036EEF6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2109F4CB-13B8-9566-4562-44C43446E768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E4F0F851-CCA1-B5D2-BF96-F117A85C5A6A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238ACA0B-B46B-788D-6854-4CD2F133475A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7E73BF0D-9B26-C072-F539-DE44A3C4FB03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CFC35EF2-FF52-CBFC-907D-4F0334B7DEFF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B8427028-DD8F-9D19-DBE9-22E17770DC25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BCB8F340-C885-B70B-101D-6724AF4A3ECE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23360855-57D1-B42D-0E07-533556D304C6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AA755372-927D-0720-E098-00120F9A2154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D8B8AF43-6111-E8C0-DA22-C02042ACE2CD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595D16E1-A243-7DAC-5255-E309B4B2EA62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794146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553BF9-A137-F26F-32FA-20027826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layers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D5DC9B73-E722-8D9A-0875-31EAD60DE11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The kernel contains the networking code</a:t>
            </a:r>
          </a:p>
          <a:p>
            <a:r>
              <a:rPr lang="en-US" dirty="0"/>
              <a:t>TCP-IP is the most common networking stack</a:t>
            </a:r>
          </a:p>
          <a:p>
            <a:r>
              <a:rPr lang="en-US" dirty="0"/>
              <a:t>It is organized in layers</a:t>
            </a:r>
          </a:p>
          <a:p>
            <a:pPr lvl="1"/>
            <a:r>
              <a:rPr lang="en-US" b="1" i="1" dirty="0"/>
              <a:t>Layered architecture</a:t>
            </a:r>
          </a:p>
          <a:p>
            <a:r>
              <a:rPr lang="en-US" dirty="0"/>
              <a:t>Every layer has a </a:t>
            </a:r>
            <a:r>
              <a:rPr lang="en-US" b="1" i="1" dirty="0"/>
              <a:t>protocol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347B939-2EB8-0E23-E730-580120CD6CD8}"/>
              </a:ext>
            </a:extLst>
          </p:cNvPr>
          <p:cNvGrpSpPr/>
          <p:nvPr/>
        </p:nvGrpSpPr>
        <p:grpSpPr>
          <a:xfrm>
            <a:off x="7556500" y="1879773"/>
            <a:ext cx="2971800" cy="3149600"/>
            <a:chOff x="7556500" y="1879773"/>
            <a:chExt cx="2971800" cy="31496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A9B74B9-591A-A10B-74B3-4FD221F4B951}"/>
                </a:ext>
              </a:extLst>
            </p:cNvPr>
            <p:cNvSpPr/>
            <p:nvPr/>
          </p:nvSpPr>
          <p:spPr>
            <a:xfrm>
              <a:off x="7556500" y="1879773"/>
              <a:ext cx="297180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25F8452-2F01-4D8D-CD0C-97B0366DD469}"/>
                </a:ext>
              </a:extLst>
            </p:cNvPr>
            <p:cNvSpPr/>
            <p:nvPr/>
          </p:nvSpPr>
          <p:spPr>
            <a:xfrm>
              <a:off x="7556500" y="2667173"/>
              <a:ext cx="2971800" cy="78740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0A09A9D-0B40-D784-FF05-698B7745E912}"/>
                </a:ext>
              </a:extLst>
            </p:cNvPr>
            <p:cNvSpPr/>
            <p:nvPr/>
          </p:nvSpPr>
          <p:spPr>
            <a:xfrm>
              <a:off x="7556500" y="3454573"/>
              <a:ext cx="2971800" cy="7874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A101785-7E24-1969-09E4-48FF894B7E5E}"/>
                </a:ext>
              </a:extLst>
            </p:cNvPr>
            <p:cNvSpPr/>
            <p:nvPr/>
          </p:nvSpPr>
          <p:spPr>
            <a:xfrm>
              <a:off x="7556500" y="4241973"/>
              <a:ext cx="2971800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4C9736A7-D2F1-F2FE-94CF-50E5E5DB8060}"/>
              </a:ext>
            </a:extLst>
          </p:cNvPr>
          <p:cNvSpPr txBox="1"/>
          <p:nvPr/>
        </p:nvSpPr>
        <p:spPr>
          <a:xfrm>
            <a:off x="5415892" y="4011140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1A72BA54-868E-7742-55D1-BDB5C01DE94C}"/>
              </a:ext>
            </a:extLst>
          </p:cNvPr>
          <p:cNvSpPr/>
          <p:nvPr/>
        </p:nvSpPr>
        <p:spPr>
          <a:xfrm rot="10800000">
            <a:off x="6868906" y="2717886"/>
            <a:ext cx="469900" cy="2260773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66C669-6A57-272F-26E4-32C2110C3A15}"/>
              </a:ext>
            </a:extLst>
          </p:cNvPr>
          <p:cNvSpPr txBox="1"/>
          <p:nvPr/>
        </p:nvSpPr>
        <p:spPr>
          <a:xfrm>
            <a:off x="5824091" y="2042379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B2F47C-87AE-82A4-51E2-CE3AF7701857}"/>
              </a:ext>
            </a:extLst>
          </p:cNvPr>
          <p:cNvSpPr/>
          <p:nvPr/>
        </p:nvSpPr>
        <p:spPr>
          <a:xfrm>
            <a:off x="10475312" y="2738484"/>
            <a:ext cx="171668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TCP, UDP</a:t>
            </a:r>
            <a:endParaRPr lang="en-US" sz="44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EC150A-B169-D805-FBB9-2973399CA6FA}"/>
              </a:ext>
            </a:extLst>
          </p:cNvPr>
          <p:cNvSpPr/>
          <p:nvPr/>
        </p:nvSpPr>
        <p:spPr>
          <a:xfrm>
            <a:off x="11049305" y="3495707"/>
            <a:ext cx="511680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IP</a:t>
            </a:r>
            <a:endParaRPr lang="en-US" sz="44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809901-283C-3EE3-9AE3-2EF153D37508}"/>
              </a:ext>
            </a:extLst>
          </p:cNvPr>
          <p:cNvSpPr/>
          <p:nvPr/>
        </p:nvSpPr>
        <p:spPr>
          <a:xfrm>
            <a:off x="10495492" y="4343285"/>
            <a:ext cx="1642181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Ethernet</a:t>
            </a:r>
            <a:endParaRPr lang="en-US" sz="44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38741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7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573A200-027F-F190-13B5-58D5894C4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AE8ED1-A7E8-BCB4-CF70-39516413B9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layer/protocol has a fixed message format</a:t>
            </a:r>
          </a:p>
          <a:p>
            <a:pPr lvl="1"/>
            <a:r>
              <a:rPr lang="en-US" dirty="0"/>
              <a:t>Header</a:t>
            </a:r>
          </a:p>
          <a:p>
            <a:pPr lvl="1"/>
            <a:r>
              <a:rPr lang="en-US" dirty="0"/>
              <a:t>Payload</a:t>
            </a:r>
          </a:p>
          <a:p>
            <a:pPr lvl="1"/>
            <a:r>
              <a:rPr lang="en-US" dirty="0"/>
              <a:t>[optional] Checksum</a:t>
            </a:r>
          </a:p>
          <a:p>
            <a:r>
              <a:rPr lang="en-US" dirty="0"/>
              <a:t>Structured set of messages that follow a predefined format</a:t>
            </a:r>
          </a:p>
          <a:p>
            <a:pPr lvl="1"/>
            <a:r>
              <a:rPr lang="en-US" dirty="0"/>
              <a:t>Multiple messages needed to establish and tear down a connection</a:t>
            </a:r>
          </a:p>
          <a:p>
            <a:pPr lvl="1"/>
            <a:r>
              <a:rPr lang="en-US" dirty="0"/>
              <a:t>[more in a networking class]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867814-B862-19CD-7DB1-AA45E0743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protocol?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16B094C-30F5-9401-2C86-6DCED33A5B9B}"/>
              </a:ext>
            </a:extLst>
          </p:cNvPr>
          <p:cNvGrpSpPr/>
          <p:nvPr/>
        </p:nvGrpSpPr>
        <p:grpSpPr>
          <a:xfrm>
            <a:off x="3688080" y="1706880"/>
            <a:ext cx="7376160" cy="914400"/>
            <a:chOff x="3688080" y="1706880"/>
            <a:chExt cx="7376160" cy="9144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57FD235-AEB2-AFDE-FA6B-F70345135064}"/>
                </a:ext>
              </a:extLst>
            </p:cNvPr>
            <p:cNvGrpSpPr/>
            <p:nvPr/>
          </p:nvGrpSpPr>
          <p:grpSpPr>
            <a:xfrm>
              <a:off x="3688080" y="1706880"/>
              <a:ext cx="3444240" cy="914400"/>
              <a:chOff x="5471160" y="1798320"/>
              <a:chExt cx="3444240" cy="91440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C8864EF-D5C0-64B7-C0FA-B4C156B81F98}"/>
                  </a:ext>
                </a:extLst>
              </p:cNvPr>
              <p:cNvSpPr/>
              <p:nvPr/>
            </p:nvSpPr>
            <p:spPr>
              <a:xfrm>
                <a:off x="5471160" y="1798320"/>
                <a:ext cx="1722120" cy="9144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Header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411C42-3A1A-6F02-AC7C-B0B1E3A38562}"/>
                  </a:ext>
                </a:extLst>
              </p:cNvPr>
              <p:cNvSpPr/>
              <p:nvPr/>
            </p:nvSpPr>
            <p:spPr>
              <a:xfrm>
                <a:off x="7193280" y="1798320"/>
                <a:ext cx="1722120" cy="914400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Checksum</a:t>
                </a:r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61CA2F4-AFFA-AAC3-0611-4C6D08B01E21}"/>
                </a:ext>
              </a:extLst>
            </p:cNvPr>
            <p:cNvSpPr/>
            <p:nvPr/>
          </p:nvSpPr>
          <p:spPr>
            <a:xfrm>
              <a:off x="7132320" y="1706880"/>
              <a:ext cx="3931920" cy="914400"/>
            </a:xfrm>
            <a:prstGeom prst="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Payload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91939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305D413-C404-A2CA-DF4C-E258E2FA7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A5B14B1-99C4-001F-CD58-20EE06EFD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3CBD242-61D1-0321-C81D-13EFCB44AAD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Only layer that communicates with hardware devices</a:t>
            </a:r>
          </a:p>
          <a:p>
            <a:r>
              <a:rPr lang="en-US" dirty="0"/>
              <a:t>Abstracts low-level hardware details</a:t>
            </a:r>
          </a:p>
          <a:p>
            <a:r>
              <a:rPr lang="en-US" dirty="0"/>
              <a:t>Upper layers don’t need to worry about which NIC card plugged in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23C881A-1F7D-67CE-24E7-3AF41FE6B46C}"/>
              </a:ext>
            </a:extLst>
          </p:cNvPr>
          <p:cNvGrpSpPr/>
          <p:nvPr/>
        </p:nvGrpSpPr>
        <p:grpSpPr>
          <a:xfrm>
            <a:off x="7556500" y="1879773"/>
            <a:ext cx="2971800" cy="3149600"/>
            <a:chOff x="7556500" y="1879773"/>
            <a:chExt cx="2971800" cy="31496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DD0ACBD-0D10-6FE9-7C61-79D9956A18DE}"/>
                </a:ext>
              </a:extLst>
            </p:cNvPr>
            <p:cNvSpPr/>
            <p:nvPr/>
          </p:nvSpPr>
          <p:spPr>
            <a:xfrm>
              <a:off x="7556500" y="1879773"/>
              <a:ext cx="297180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34686A6-9EEC-7E69-1DDC-0FEDFAB46506}"/>
                </a:ext>
              </a:extLst>
            </p:cNvPr>
            <p:cNvSpPr/>
            <p:nvPr/>
          </p:nvSpPr>
          <p:spPr>
            <a:xfrm>
              <a:off x="7556500" y="2667173"/>
              <a:ext cx="2971800" cy="78740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18048F5-64E1-E520-CF8F-11E0C580B4F7}"/>
                </a:ext>
              </a:extLst>
            </p:cNvPr>
            <p:cNvSpPr/>
            <p:nvPr/>
          </p:nvSpPr>
          <p:spPr>
            <a:xfrm>
              <a:off x="7556500" y="3454573"/>
              <a:ext cx="2971800" cy="7874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7B75976-DAC8-D53D-DE18-04962738B275}"/>
                </a:ext>
              </a:extLst>
            </p:cNvPr>
            <p:cNvSpPr/>
            <p:nvPr/>
          </p:nvSpPr>
          <p:spPr>
            <a:xfrm>
              <a:off x="7556500" y="4241973"/>
              <a:ext cx="2971800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77DF43B8-2E9B-80EB-3A19-E54D3DA3CFFD}"/>
              </a:ext>
            </a:extLst>
          </p:cNvPr>
          <p:cNvSpPr txBox="1"/>
          <p:nvPr/>
        </p:nvSpPr>
        <p:spPr>
          <a:xfrm>
            <a:off x="5415892" y="4011140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0E1493EF-F6A4-3DEB-ACF7-3B86E8806DEE}"/>
              </a:ext>
            </a:extLst>
          </p:cNvPr>
          <p:cNvSpPr/>
          <p:nvPr/>
        </p:nvSpPr>
        <p:spPr>
          <a:xfrm rot="10800000">
            <a:off x="6868906" y="2717886"/>
            <a:ext cx="469900" cy="2260773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BC517C-6332-A905-2799-41AED566D903}"/>
              </a:ext>
            </a:extLst>
          </p:cNvPr>
          <p:cNvSpPr txBox="1"/>
          <p:nvPr/>
        </p:nvSpPr>
        <p:spPr>
          <a:xfrm>
            <a:off x="5824091" y="2042379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pic>
        <p:nvPicPr>
          <p:cNvPr id="2" name="Picture 2" descr="1000Mbps Gigabit Ethernet Converged Network Adapter (NIC) with Intel I350  Chip | Ethernet PCI Express NIC Network Card | Quad Copper RJ45 Ports | PCI  ...">
            <a:extLst>
              <a:ext uri="{FF2B5EF4-FFF2-40B4-BE49-F238E27FC236}">
                <a16:creationId xmlns:a16="http://schemas.microsoft.com/office/drawing/2014/main" id="{F00D1005-B24A-C627-AEE6-5795DC55D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1986" y="4787997"/>
            <a:ext cx="1260475" cy="858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WiFi Card, Ubit AX/AC WiFi 6E Card Dual Band 5400 Mbps AX210N PCIe Bluetooth WLAN Network WiFi Card with Bluetooth 5.2 | MU-MIMO| OFDMA| Ultra-Low La">
            <a:extLst>
              <a:ext uri="{FF2B5EF4-FFF2-40B4-BE49-F238E27FC236}">
                <a16:creationId xmlns:a16="http://schemas.microsoft.com/office/drawing/2014/main" id="{7F92B23C-AB33-7436-4CAF-343CB59991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1420" y="4787997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2665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E1A707-3E6A-C907-4F6E-8158252C7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F5CEEE-0CC5-7B53-739C-6AA0B1808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Internet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69F3A90-BF56-C4DF-68ED-AE3A3105B95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Internet layer (IP layer)</a:t>
            </a:r>
          </a:p>
          <a:p>
            <a:pPr lvl="1"/>
            <a:r>
              <a:rPr lang="en-US" dirty="0"/>
              <a:t>Handles addressing</a:t>
            </a:r>
          </a:p>
          <a:p>
            <a:pPr lvl="1"/>
            <a:r>
              <a:rPr lang="en-US" dirty="0"/>
              <a:t>Unique address for each interface</a:t>
            </a:r>
          </a:p>
          <a:p>
            <a:pPr lvl="1"/>
            <a:r>
              <a:rPr lang="en-US" dirty="0"/>
              <a:t>localhost or 127.0.0.1 special “virtual” interface for the “loopback” interface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10CC86E-DE8A-FCAE-5AED-34E7D893E447}"/>
              </a:ext>
            </a:extLst>
          </p:cNvPr>
          <p:cNvGrpSpPr/>
          <p:nvPr/>
        </p:nvGrpSpPr>
        <p:grpSpPr>
          <a:xfrm>
            <a:off x="7638560" y="1240795"/>
            <a:ext cx="4294781" cy="3821252"/>
            <a:chOff x="7556499" y="1962808"/>
            <a:chExt cx="4294781" cy="3821252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F5E136D-067F-33B7-D252-7B31B843955E}"/>
                </a:ext>
              </a:extLst>
            </p:cNvPr>
            <p:cNvSpPr/>
            <p:nvPr/>
          </p:nvSpPr>
          <p:spPr>
            <a:xfrm>
              <a:off x="7556499" y="1962808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C382B39-14F0-ECB5-C344-D2B1423CC439}"/>
                </a:ext>
              </a:extLst>
            </p:cNvPr>
            <p:cNvSpPr/>
            <p:nvPr/>
          </p:nvSpPr>
          <p:spPr>
            <a:xfrm>
              <a:off x="7556500" y="2750208"/>
              <a:ext cx="4294780" cy="704364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CF12D84-1BE8-686B-72FA-2602E51B3A56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FD81CB7-16F7-15AD-4C3D-C33DD715C61D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CC8F758-5448-2B85-510F-A4AF530DD8CE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371D5269-410E-B788-2BBF-C7EE105BB3F3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14632D-5894-0205-F2C1-29BF84E613C2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259AF3-1C2D-89C5-0F2C-35132DE6F424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F3E4BC46-F590-462B-C86A-A0FEBE0F686D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898AC439-D798-162E-2656-B0224B73FB87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8161EDF-529A-C7DF-A4DF-A858524598DB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BD4E2F48-2D2D-12AA-4338-446B334A7F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1BD18726-C17E-22BC-7C7E-920B2953798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6E311E0A-3E0A-D47D-50C9-D89F82A13497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EFE120C-BCC0-4F03-C0E8-44C7BB16C01E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21856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5608A8B-6E8C-5018-E0D7-F228B1457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EA47AE-080F-4661-3B8F-6F03364AB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Transport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B359F16-6681-CE50-A2EC-227D7B81C17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Port is a logical abstraction provided by the transport layer</a:t>
            </a:r>
          </a:p>
          <a:p>
            <a:r>
              <a:rPr lang="en-US" dirty="0"/>
              <a:t>A port is associated with an IP address</a:t>
            </a:r>
          </a:p>
          <a:p>
            <a:pPr marL="168275" lvl="1" indent="0">
              <a:buNone/>
            </a:pP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5CC261E-C69D-92FD-3E97-1D7601BFD07B}"/>
              </a:ext>
            </a:extLst>
          </p:cNvPr>
          <p:cNvGrpSpPr/>
          <p:nvPr/>
        </p:nvGrpSpPr>
        <p:grpSpPr>
          <a:xfrm>
            <a:off x="7638559" y="750610"/>
            <a:ext cx="4294782" cy="4311437"/>
            <a:chOff x="7556498" y="1472623"/>
            <a:chExt cx="4294782" cy="431143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081EBF0-7DB9-1994-EDD5-3E45224A8DD6}"/>
                </a:ext>
              </a:extLst>
            </p:cNvPr>
            <p:cNvSpPr/>
            <p:nvPr/>
          </p:nvSpPr>
          <p:spPr>
            <a:xfrm>
              <a:off x="7556498" y="1472623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6BE5D2C-EDFD-15F8-9E43-4F77C2CECA69}"/>
                </a:ext>
              </a:extLst>
            </p:cNvPr>
            <p:cNvSpPr/>
            <p:nvPr/>
          </p:nvSpPr>
          <p:spPr>
            <a:xfrm>
              <a:off x="7556500" y="2260023"/>
              <a:ext cx="4294780" cy="119454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C48F8D4-0EEA-7FB2-AC1E-25F011B3F25E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D20772-6BDB-589F-7BE3-F6A498679467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59475AC6-5139-1136-DC95-751CB4118E46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0BC9B5CB-2A69-255C-0CA3-582A8F5F569A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74F63E-767A-93C7-96C5-C7028087D245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114F87A-3E47-D453-3417-17F82B6C289B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9005C1C1-206B-7938-F414-5875CC6BD026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BA5654F8-F7E2-B68F-93DB-7DA63E8CC66A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957CD2C-7A06-7952-C7F4-7830074A7F93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A25DA773-D169-17F8-2814-08BB61D190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C94E15DE-D379-AE11-612E-8CD73DFF6D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3C260D8-4111-2313-C989-91BBD3B7358C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2576CCA-B38E-C6AC-D41F-2FCC3FB60707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30DD721-0804-3A22-5686-BDD027D63DDF}"/>
              </a:ext>
            </a:extLst>
          </p:cNvPr>
          <p:cNvGrpSpPr/>
          <p:nvPr/>
        </p:nvGrpSpPr>
        <p:grpSpPr>
          <a:xfrm>
            <a:off x="8387567" y="1518114"/>
            <a:ext cx="3049585" cy="428136"/>
            <a:chOff x="8387567" y="1518114"/>
            <a:chExt cx="3049585" cy="42813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2F0AF529-3142-DA2F-2E31-C89B763BE98F}"/>
                </a:ext>
              </a:extLst>
            </p:cNvPr>
            <p:cNvSpPr/>
            <p:nvPr/>
          </p:nvSpPr>
          <p:spPr>
            <a:xfrm>
              <a:off x="8387567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Port:80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EF988237-5BB2-97B4-902E-065B1E919DF3}"/>
                </a:ext>
              </a:extLst>
            </p:cNvPr>
            <p:cNvSpPr/>
            <p:nvPr/>
          </p:nvSpPr>
          <p:spPr>
            <a:xfrm>
              <a:off x="9435106" y="1528048"/>
              <a:ext cx="954507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Port:6379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25871F3C-B19A-938C-49EB-691279F2D21F}"/>
                </a:ext>
              </a:extLst>
            </p:cNvPr>
            <p:cNvSpPr/>
            <p:nvPr/>
          </p:nvSpPr>
          <p:spPr>
            <a:xfrm>
              <a:off x="10482646" y="1518114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Port:22</a:t>
              </a: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5E213417-A10B-BA6B-A992-A0F380AD8FEA}"/>
              </a:ext>
            </a:extLst>
          </p:cNvPr>
          <p:cNvSpPr/>
          <p:nvPr/>
        </p:nvSpPr>
        <p:spPr>
          <a:xfrm>
            <a:off x="7934922" y="1363945"/>
            <a:ext cx="3823225" cy="784582"/>
          </a:xfrm>
          <a:prstGeom prst="rect">
            <a:avLst/>
          </a:prstGeom>
          <a:noFill/>
          <a:ln w="31750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6CD57B3-B708-26B8-4179-DE7339641C90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8702377" y="1946250"/>
            <a:ext cx="171720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82627A8-DB99-772B-6E64-86B05EED167E}"/>
              </a:ext>
            </a:extLst>
          </p:cNvPr>
          <p:cNvCxnSpPr>
            <a:cxnSpLocks/>
            <a:stCxn id="15" idx="0"/>
            <a:endCxn id="13" idx="2"/>
          </p:cNvCxnSpPr>
          <p:nvPr/>
        </p:nvCxnSpPr>
        <p:spPr>
          <a:xfrm flipV="1">
            <a:off x="8702377" y="1946250"/>
            <a:ext cx="1209983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1F618B2-CF42-566C-A29D-EE5FB4F24684}"/>
              </a:ext>
            </a:extLst>
          </p:cNvPr>
          <p:cNvCxnSpPr>
            <a:cxnSpLocks/>
            <a:stCxn id="19" idx="0"/>
            <a:endCxn id="20" idx="2"/>
          </p:cNvCxnSpPr>
          <p:nvPr/>
        </p:nvCxnSpPr>
        <p:spPr>
          <a:xfrm flipV="1">
            <a:off x="10668337" y="1936316"/>
            <a:ext cx="291562" cy="86886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6172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D51BFF7-40E1-32BA-60EE-A7BD564BA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E744669-CA29-2455-0C29-37DB04B6F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Transport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D840A9C-5A71-76A7-11C7-A3D23BE070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Port numbers go from 0 to 65535</a:t>
            </a:r>
          </a:p>
          <a:p>
            <a:pPr lvl="1"/>
            <a:r>
              <a:rPr lang="en-US" dirty="0"/>
              <a:t>&lt; 1024, needs root access</a:t>
            </a:r>
          </a:p>
          <a:p>
            <a:r>
              <a:rPr lang="en-US" dirty="0"/>
              <a:t>Standard ports</a:t>
            </a:r>
          </a:p>
          <a:p>
            <a:pPr lvl="1"/>
            <a:r>
              <a:rPr lang="en-US" dirty="0"/>
              <a:t>Web servers typically bind to port 80</a:t>
            </a:r>
          </a:p>
          <a:p>
            <a:pPr lvl="1"/>
            <a:r>
              <a:rPr lang="en-US" dirty="0"/>
              <a:t>Redis to port 6379</a:t>
            </a:r>
          </a:p>
          <a:p>
            <a:pPr lvl="1"/>
            <a:r>
              <a:rPr lang="en-US" dirty="0"/>
              <a:t>Ssh to port 22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40F874D-9A97-763F-F3A9-BF32440AF598}"/>
              </a:ext>
            </a:extLst>
          </p:cNvPr>
          <p:cNvGrpSpPr/>
          <p:nvPr/>
        </p:nvGrpSpPr>
        <p:grpSpPr>
          <a:xfrm>
            <a:off x="7638559" y="750610"/>
            <a:ext cx="4294782" cy="4311437"/>
            <a:chOff x="7556498" y="1472623"/>
            <a:chExt cx="4294782" cy="431143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A8FD09-8DAF-09DF-43E3-4E75899740E5}"/>
                </a:ext>
              </a:extLst>
            </p:cNvPr>
            <p:cNvSpPr/>
            <p:nvPr/>
          </p:nvSpPr>
          <p:spPr>
            <a:xfrm>
              <a:off x="7556498" y="1472623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A26310B-F67F-383D-C00F-4025844A5D96}"/>
                </a:ext>
              </a:extLst>
            </p:cNvPr>
            <p:cNvSpPr/>
            <p:nvPr/>
          </p:nvSpPr>
          <p:spPr>
            <a:xfrm>
              <a:off x="7556500" y="2260023"/>
              <a:ext cx="4294780" cy="119454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321E9B3-679B-4FAC-E966-CE6DFE4E05FE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D8CD3DC-7AD3-C304-E8BD-A2DA56703387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76D9914-6892-CAEC-19D8-34A706A1E87B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59D4500B-0955-FA1E-9A60-EEB2BC81CF7D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585C07-2155-F2C0-95CE-2FAE3DA1D45A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460FA54-EDEA-495E-4051-780812361B72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3EFC3958-8CDE-755B-BBD0-A4925ED0D0FC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76B5A2E3-F793-4D30-354D-6869720A6242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BDC9B49-44A1-D84C-24F6-BE55731B1818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66AA3EF0-4DCE-CD1E-1797-F6ADB0B27D0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CD19D4A8-65C2-16DE-C809-42EA92A803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6BD1968A-542D-C910-CE8B-7FCF70A6CAE8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77B581AA-6389-5651-BD03-297E253E23D6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BA8B0B7-0D05-FCE8-A94D-583B78765D8A}"/>
              </a:ext>
            </a:extLst>
          </p:cNvPr>
          <p:cNvGrpSpPr/>
          <p:nvPr/>
        </p:nvGrpSpPr>
        <p:grpSpPr>
          <a:xfrm>
            <a:off x="8387567" y="1518114"/>
            <a:ext cx="3049585" cy="428136"/>
            <a:chOff x="8387567" y="1518114"/>
            <a:chExt cx="3049585" cy="42813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27365E3E-3DA9-7D1C-4718-A617019318F3}"/>
                </a:ext>
              </a:extLst>
            </p:cNvPr>
            <p:cNvSpPr/>
            <p:nvPr/>
          </p:nvSpPr>
          <p:spPr>
            <a:xfrm>
              <a:off x="8387567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Port:80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2D36AEB1-8D43-F0F4-6F3F-A037D765B93A}"/>
                </a:ext>
              </a:extLst>
            </p:cNvPr>
            <p:cNvSpPr/>
            <p:nvPr/>
          </p:nvSpPr>
          <p:spPr>
            <a:xfrm>
              <a:off x="9435106" y="1528048"/>
              <a:ext cx="954507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Port:6379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8C5FBD04-B069-1BCF-A525-A21F5F0FD1F9}"/>
                </a:ext>
              </a:extLst>
            </p:cNvPr>
            <p:cNvSpPr/>
            <p:nvPr/>
          </p:nvSpPr>
          <p:spPr>
            <a:xfrm>
              <a:off x="10482646" y="1518114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Port:22</a:t>
              </a:r>
            </a:p>
          </p:txBody>
        </p:sp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8DCEC69-11AB-D11C-5354-846450DA6D8B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71720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058281F-DB46-406A-3D86-FF7DAFCD6846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209983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BF57FD8-B012-11BC-2351-86F6C0B039DF}"/>
              </a:ext>
            </a:extLst>
          </p:cNvPr>
          <p:cNvCxnSpPr>
            <a:cxnSpLocks/>
          </p:cNvCxnSpPr>
          <p:nvPr/>
        </p:nvCxnSpPr>
        <p:spPr>
          <a:xfrm flipV="1">
            <a:off x="10668337" y="1936316"/>
            <a:ext cx="291562" cy="86886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4484118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670D269-E227-374B-BC68-28237D0DF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FB73751-B3D8-C2D1-F110-0BD7080BD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0B02D24-1370-4557-D993-2A69E141F0F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Applications talk to the rest of the networking layers using application layer protocols</a:t>
            </a:r>
          </a:p>
          <a:p>
            <a:r>
              <a:rPr lang="en-US" dirty="0"/>
              <a:t>Applications </a:t>
            </a:r>
            <a:r>
              <a:rPr lang="en-US" b="1" i="1" dirty="0"/>
              <a:t>bind </a:t>
            </a:r>
            <a:r>
              <a:rPr lang="en-US" dirty="0"/>
              <a:t>and </a:t>
            </a:r>
            <a:r>
              <a:rPr lang="en-US" b="1" i="1" dirty="0"/>
              <a:t>listen </a:t>
            </a:r>
            <a:r>
              <a:rPr lang="en-US" dirty="0"/>
              <a:t>to a particular transport layer port for requests</a:t>
            </a:r>
          </a:p>
          <a:p>
            <a:r>
              <a:rPr lang="en-US" dirty="0"/>
              <a:t>HTTP, Redis, SSH protocols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6CED436-5CEB-7958-68B8-DBBE1A7F3283}"/>
              </a:ext>
            </a:extLst>
          </p:cNvPr>
          <p:cNvGrpSpPr/>
          <p:nvPr/>
        </p:nvGrpSpPr>
        <p:grpSpPr>
          <a:xfrm>
            <a:off x="7638559" y="750610"/>
            <a:ext cx="4294782" cy="4311437"/>
            <a:chOff x="7556498" y="1472623"/>
            <a:chExt cx="4294782" cy="431143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0ADEBD0-A107-95CA-651B-25D0E7C66751}"/>
                </a:ext>
              </a:extLst>
            </p:cNvPr>
            <p:cNvSpPr/>
            <p:nvPr/>
          </p:nvSpPr>
          <p:spPr>
            <a:xfrm>
              <a:off x="7556498" y="1472623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3E28302-6410-1AD3-3C37-D207BF195B2C}"/>
                </a:ext>
              </a:extLst>
            </p:cNvPr>
            <p:cNvSpPr/>
            <p:nvPr/>
          </p:nvSpPr>
          <p:spPr>
            <a:xfrm>
              <a:off x="7556500" y="2260023"/>
              <a:ext cx="4294780" cy="119454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749E3DE-159F-409A-C9F8-5B050EA4B9D0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A8175C5-6E3E-9CC7-923A-DF85C6C46B18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E15B5E7-8C8A-3340-220C-0DE5B24EBB06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83D199B8-BCAB-CD4F-7CB8-1086660EBA7D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BA6ECE-BF0C-7045-A98F-431BFC7425B6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933FE6D-999F-9E28-18F4-7906E6AA3EB3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8E8CB925-99A6-3F4C-8E61-744E6A7D032F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71E9219C-711B-F2E3-41C4-729D253E74F0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7A71A54-E6BE-6597-05C3-423DA6C9F31B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EF728F48-1533-E072-1B2B-D0F0D620AB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F635DE67-FEE5-357A-0872-2868E13F64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66D2D335-4CE4-E301-A35D-163A86F10412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A80718E2-023B-B3F2-01C4-1B0B049CDE5B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829CAF6-456E-DDB5-DCB1-9BF1D2DA72D5}"/>
              </a:ext>
            </a:extLst>
          </p:cNvPr>
          <p:cNvGrpSpPr/>
          <p:nvPr/>
        </p:nvGrpSpPr>
        <p:grpSpPr>
          <a:xfrm>
            <a:off x="8387567" y="1518114"/>
            <a:ext cx="3049585" cy="428136"/>
            <a:chOff x="8387567" y="1518114"/>
            <a:chExt cx="3049585" cy="42813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28C60434-6DC0-065D-6D17-F8C7FAA9CE2D}"/>
                </a:ext>
              </a:extLst>
            </p:cNvPr>
            <p:cNvSpPr/>
            <p:nvPr/>
          </p:nvSpPr>
          <p:spPr>
            <a:xfrm>
              <a:off x="8387567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Port:80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0A517DDC-CB9C-C6B3-CA89-4CDE8552AD97}"/>
                </a:ext>
              </a:extLst>
            </p:cNvPr>
            <p:cNvSpPr/>
            <p:nvPr/>
          </p:nvSpPr>
          <p:spPr>
            <a:xfrm>
              <a:off x="9435106" y="1528048"/>
              <a:ext cx="954507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Port:6379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AACE7032-81B3-6F72-627E-34DB82FF1666}"/>
                </a:ext>
              </a:extLst>
            </p:cNvPr>
            <p:cNvSpPr/>
            <p:nvPr/>
          </p:nvSpPr>
          <p:spPr>
            <a:xfrm>
              <a:off x="10482646" y="1518114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Port:22</a:t>
              </a:r>
            </a:p>
          </p:txBody>
        </p:sp>
      </p:grpSp>
      <p:pic>
        <p:nvPicPr>
          <p:cNvPr id="2" name="Picture 4" descr="Redis : A Comprehensive Guide | TO THE NEW Blog">
            <a:extLst>
              <a:ext uri="{FF2B5EF4-FFF2-40B4-BE49-F238E27FC236}">
                <a16:creationId xmlns:a16="http://schemas.microsoft.com/office/drawing/2014/main" id="{619E4932-F142-9CEF-2713-C34D9ABEB3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1107" y="768896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 descr="Externally visible ssh server - arc-ssh - Academic Computing ...">
            <a:extLst>
              <a:ext uri="{FF2B5EF4-FFF2-40B4-BE49-F238E27FC236}">
                <a16:creationId xmlns:a16="http://schemas.microsoft.com/office/drawing/2014/main" id="{9B2CEA7B-426F-32B2-E950-A19B0D80CA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3527" y="783707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0731BA4A-BC3E-5323-F054-ACD11169ED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0288" y="799450"/>
            <a:ext cx="1220626" cy="652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B59F92-28EC-5A51-E6DB-D9491BF762EC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71720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DCEDF49-DF52-A5E8-896E-074BCD40EA53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209983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E714F51-2BB4-C260-0520-D802A5587231}"/>
              </a:ext>
            </a:extLst>
          </p:cNvPr>
          <p:cNvCxnSpPr>
            <a:cxnSpLocks/>
          </p:cNvCxnSpPr>
          <p:nvPr/>
        </p:nvCxnSpPr>
        <p:spPr>
          <a:xfrm flipV="1">
            <a:off x="10668337" y="1936316"/>
            <a:ext cx="291562" cy="86886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6209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2E654AF-296D-943F-18C4-7CB274DF6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D26CDEE-7A64-01A2-A1D1-43AA6E95C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739894F-91BE-071C-1099-A668CCBEB36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Multiple instances of the same application needs different ports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74EE2C4-7788-24DF-318B-B5A7969D4931}"/>
              </a:ext>
            </a:extLst>
          </p:cNvPr>
          <p:cNvGrpSpPr/>
          <p:nvPr/>
        </p:nvGrpSpPr>
        <p:grpSpPr>
          <a:xfrm>
            <a:off x="7638559" y="750610"/>
            <a:ext cx="4294782" cy="4311437"/>
            <a:chOff x="7556498" y="1472623"/>
            <a:chExt cx="4294782" cy="431143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B6300D6-F7BE-16CA-0AC1-2E5C654ADE6A}"/>
                </a:ext>
              </a:extLst>
            </p:cNvPr>
            <p:cNvSpPr/>
            <p:nvPr/>
          </p:nvSpPr>
          <p:spPr>
            <a:xfrm>
              <a:off x="7556498" y="1472623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8D8FF87-84B0-F82C-08AD-CD05DFF21D78}"/>
                </a:ext>
              </a:extLst>
            </p:cNvPr>
            <p:cNvSpPr/>
            <p:nvPr/>
          </p:nvSpPr>
          <p:spPr>
            <a:xfrm>
              <a:off x="7556500" y="2260023"/>
              <a:ext cx="4294780" cy="119454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E3F5638-61FE-DF2E-7C39-DD97EA833537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BAEDD2D-87F9-9216-9261-F0621E38E531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B6A7C05-34C9-A744-1DFB-C24F37D044AD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FF80D3FD-4A66-743D-7339-D0A2B40480F0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00ABE84-2B04-B68C-B3CE-34D8EB2863EA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8834788-1077-A6E8-DD63-3777405D5198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02202D72-6FB6-9617-34E1-3449FF0D8C8B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A436C654-22FC-B4CD-7726-17E0734D9A92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A018FCD-4E98-FE63-3569-2445457F2588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33950E3A-5393-BCCB-645C-95C0D250B1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CC68863C-67B3-63B8-AB65-12826ED82B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6B1153A-6110-C973-0F03-8D0D89651912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5A8F4DED-B93D-162F-E281-7F4A53CDFDB1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852A019-D980-173D-1A13-846D73C14ED4}"/>
              </a:ext>
            </a:extLst>
          </p:cNvPr>
          <p:cNvGrpSpPr/>
          <p:nvPr/>
        </p:nvGrpSpPr>
        <p:grpSpPr>
          <a:xfrm>
            <a:off x="8387567" y="1518114"/>
            <a:ext cx="3049585" cy="428136"/>
            <a:chOff x="8387567" y="1518114"/>
            <a:chExt cx="3049585" cy="42813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FE9A899-D10C-EEFC-7DC1-06AA9898D14D}"/>
                </a:ext>
              </a:extLst>
            </p:cNvPr>
            <p:cNvSpPr/>
            <p:nvPr/>
          </p:nvSpPr>
          <p:spPr>
            <a:xfrm>
              <a:off x="8387567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Port:80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6071F1EA-71EE-1959-A488-94A703675607}"/>
                </a:ext>
              </a:extLst>
            </p:cNvPr>
            <p:cNvSpPr/>
            <p:nvPr/>
          </p:nvSpPr>
          <p:spPr>
            <a:xfrm>
              <a:off x="9435106" y="1528048"/>
              <a:ext cx="954507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Port:6379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0C5E5B92-D93F-7AD7-59AB-1271B9377C62}"/>
                </a:ext>
              </a:extLst>
            </p:cNvPr>
            <p:cNvSpPr/>
            <p:nvPr/>
          </p:nvSpPr>
          <p:spPr>
            <a:xfrm>
              <a:off x="10482646" y="1518114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Port:22</a:t>
              </a:r>
            </a:p>
          </p:txBody>
        </p:sp>
      </p:grpSp>
      <p:pic>
        <p:nvPicPr>
          <p:cNvPr id="2" name="Picture 4" descr="Redis : A Comprehensive Guide | TO THE NEW Blog">
            <a:extLst>
              <a:ext uri="{FF2B5EF4-FFF2-40B4-BE49-F238E27FC236}">
                <a16:creationId xmlns:a16="http://schemas.microsoft.com/office/drawing/2014/main" id="{D3BCDB43-9821-AF89-C5DD-A3046E9D9F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1107" y="768896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 descr="Externally visible ssh server - arc-ssh - Academic Computing ...">
            <a:extLst>
              <a:ext uri="{FF2B5EF4-FFF2-40B4-BE49-F238E27FC236}">
                <a16:creationId xmlns:a16="http://schemas.microsoft.com/office/drawing/2014/main" id="{0673CAC1-9315-9370-4035-64E5EF9007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3527" y="783707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32D9059E-DC02-F340-96F6-C53A418ED7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0288" y="799450"/>
            <a:ext cx="1220626" cy="652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187CF3-187C-E1E7-4224-25FC144C0A9B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71720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43CD17B-561D-8A5F-0F66-D14E83EA1C00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209983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9762816-9307-D9AE-201B-39604A34A30B}"/>
              </a:ext>
            </a:extLst>
          </p:cNvPr>
          <p:cNvCxnSpPr>
            <a:cxnSpLocks/>
          </p:cNvCxnSpPr>
          <p:nvPr/>
        </p:nvCxnSpPr>
        <p:spPr>
          <a:xfrm flipV="1">
            <a:off x="10668337" y="1936316"/>
            <a:ext cx="291562" cy="86886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E7C66E4-48FE-0F51-ABBE-4BE5F0A4256C}"/>
              </a:ext>
            </a:extLst>
          </p:cNvPr>
          <p:cNvGrpSpPr/>
          <p:nvPr/>
        </p:nvGrpSpPr>
        <p:grpSpPr>
          <a:xfrm>
            <a:off x="6919400" y="788461"/>
            <a:ext cx="1782977" cy="2016717"/>
            <a:chOff x="6919400" y="788461"/>
            <a:chExt cx="1782977" cy="2016717"/>
          </a:xfrm>
        </p:grpSpPr>
        <p:pic>
          <p:nvPicPr>
            <p:cNvPr id="21" name="Picture 2">
              <a:extLst>
                <a:ext uri="{FF2B5EF4-FFF2-40B4-BE49-F238E27FC236}">
                  <a16:creationId xmlns:a16="http://schemas.microsoft.com/office/drawing/2014/main" id="{72D8B88D-8E1C-E53F-9938-3DF8E0216A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19400" y="788461"/>
              <a:ext cx="1220626" cy="6520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6783E79-CBE3-1C31-9E59-37A707CD04BA}"/>
                </a:ext>
              </a:extLst>
            </p:cNvPr>
            <p:cNvSpPr/>
            <p:nvPr/>
          </p:nvSpPr>
          <p:spPr>
            <a:xfrm>
              <a:off x="7391915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Port:81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9EC668B-4A8A-86B1-B29C-8D7249BE395F}"/>
                </a:ext>
              </a:extLst>
            </p:cNvPr>
            <p:cNvCxnSpPr>
              <a:cxnSpLocks/>
              <a:stCxn id="15" idx="0"/>
              <a:endCxn id="24" idx="2"/>
            </p:cNvCxnSpPr>
            <p:nvPr/>
          </p:nvCxnSpPr>
          <p:spPr>
            <a:xfrm flipH="1" flipV="1">
              <a:off x="7869168" y="1946250"/>
              <a:ext cx="833209" cy="858928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30650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5D9C179-79E0-77F2-2B98-EC6C1B81F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372678F6-32BB-1869-7F8B-EB13C3A45E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Clients can connect to an IP address and a  port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FAFE0A-5F89-3C32-B356-BF56AC107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communication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BD6EFD6-3B8F-45F3-059A-478CEA565483}"/>
              </a:ext>
            </a:extLst>
          </p:cNvPr>
          <p:cNvGrpSpPr/>
          <p:nvPr/>
        </p:nvGrpSpPr>
        <p:grpSpPr>
          <a:xfrm>
            <a:off x="7556500" y="1460366"/>
            <a:ext cx="2971800" cy="3569007"/>
            <a:chOff x="7556500" y="1460366"/>
            <a:chExt cx="2971800" cy="356900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F01A6B5-B9DB-FFC8-53D2-621082EEF126}"/>
                </a:ext>
              </a:extLst>
            </p:cNvPr>
            <p:cNvSpPr/>
            <p:nvPr/>
          </p:nvSpPr>
          <p:spPr>
            <a:xfrm>
              <a:off x="7556500" y="1460366"/>
              <a:ext cx="297180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E1757CB-425D-21C7-B37B-FABC0F72ECF6}"/>
                </a:ext>
              </a:extLst>
            </p:cNvPr>
            <p:cNvSpPr/>
            <p:nvPr/>
          </p:nvSpPr>
          <p:spPr>
            <a:xfrm>
              <a:off x="7556500" y="2247765"/>
              <a:ext cx="2971800" cy="120680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242003A-7E75-3C54-834B-5906E442AD4A}"/>
                </a:ext>
              </a:extLst>
            </p:cNvPr>
            <p:cNvSpPr/>
            <p:nvPr/>
          </p:nvSpPr>
          <p:spPr>
            <a:xfrm>
              <a:off x="7556500" y="3454573"/>
              <a:ext cx="2971800" cy="7874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1EF7F21-FE3F-B623-F53D-8DE9B1545573}"/>
                </a:ext>
              </a:extLst>
            </p:cNvPr>
            <p:cNvSpPr/>
            <p:nvPr/>
          </p:nvSpPr>
          <p:spPr>
            <a:xfrm>
              <a:off x="7556500" y="4241973"/>
              <a:ext cx="2971800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pic>
        <p:nvPicPr>
          <p:cNvPr id="14340" name="Picture 4" descr="Redis : A Comprehensive Guide | TO THE NEW Blog">
            <a:extLst>
              <a:ext uri="{FF2B5EF4-FFF2-40B4-BE49-F238E27FC236}">
                <a16:creationId xmlns:a16="http://schemas.microsoft.com/office/drawing/2014/main" id="{932EB746-6310-B1CB-F774-B166460824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40268" y="1517902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2" name="Picture 6" descr="Externally visible ssh server - arc-ssh - Academic Computing ...">
            <a:extLst>
              <a:ext uri="{FF2B5EF4-FFF2-40B4-BE49-F238E27FC236}">
                <a16:creationId xmlns:a16="http://schemas.microsoft.com/office/drawing/2014/main" id="{14D3ECA9-AD80-8C3A-7771-DBE7C9C7A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2598" y="1528297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296FA10-7258-0DDD-C3B3-E60C55C69A52}"/>
              </a:ext>
            </a:extLst>
          </p:cNvPr>
          <p:cNvSpPr/>
          <p:nvPr/>
        </p:nvSpPr>
        <p:spPr>
          <a:xfrm>
            <a:off x="7556500" y="2260024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Port:80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1398642-4149-6945-D84D-3D7750B43DB4}"/>
              </a:ext>
            </a:extLst>
          </p:cNvPr>
          <p:cNvSpPr/>
          <p:nvPr/>
        </p:nvSpPr>
        <p:spPr>
          <a:xfrm>
            <a:off x="8604039" y="2260024"/>
            <a:ext cx="954507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Port:6379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BD63F00-9B14-2223-E192-A2693FA9C45B}"/>
              </a:ext>
            </a:extLst>
          </p:cNvPr>
          <p:cNvSpPr/>
          <p:nvPr/>
        </p:nvSpPr>
        <p:spPr>
          <a:xfrm>
            <a:off x="9651579" y="2250090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Port:22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B1F7FF6-E585-941C-6A13-E62B2F9BDA1C}"/>
              </a:ext>
            </a:extLst>
          </p:cNvPr>
          <p:cNvSpPr txBox="1"/>
          <p:nvPr/>
        </p:nvSpPr>
        <p:spPr>
          <a:xfrm>
            <a:off x="7981573" y="5329703"/>
            <a:ext cx="2164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Machine A</a:t>
            </a:r>
          </a:p>
        </p:txBody>
      </p:sp>
      <p:pic>
        <p:nvPicPr>
          <p:cNvPr id="41" name="Picture 2">
            <a:extLst>
              <a:ext uri="{FF2B5EF4-FFF2-40B4-BE49-F238E27FC236}">
                <a16:creationId xmlns:a16="http://schemas.microsoft.com/office/drawing/2014/main" id="{612085A3-D57F-92BD-25E0-E592D442F4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6500" y="1556303"/>
            <a:ext cx="1114793" cy="5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3C17D2B-F870-B35B-0E52-0C5BADAC870F}"/>
              </a:ext>
            </a:extLst>
          </p:cNvPr>
          <p:cNvSpPr/>
          <p:nvPr/>
        </p:nvSpPr>
        <p:spPr>
          <a:xfrm>
            <a:off x="8244996" y="3592478"/>
            <a:ext cx="1763974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130.245.42.104</a:t>
            </a:r>
          </a:p>
        </p:txBody>
      </p:sp>
      <p:pic>
        <p:nvPicPr>
          <p:cNvPr id="15" name="Picture 2" descr="1000Mbps Gigabit Ethernet Converged Network Adapter (NIC) with Intel I350  Chip | Ethernet PCI Express NIC Network Card | Quad Copper RJ45 Ports | PCI  ...">
            <a:extLst>
              <a:ext uri="{FF2B5EF4-FFF2-40B4-BE49-F238E27FC236}">
                <a16:creationId xmlns:a16="http://schemas.microsoft.com/office/drawing/2014/main" id="{D193AC16-4FDF-2211-B6E7-00F639E8E1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8308" y="4402020"/>
            <a:ext cx="1260475" cy="858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969DEDCE-F173-6461-2883-0BA8AD3E7E27}"/>
              </a:ext>
            </a:extLst>
          </p:cNvPr>
          <p:cNvGrpSpPr/>
          <p:nvPr/>
        </p:nvGrpSpPr>
        <p:grpSpPr>
          <a:xfrm>
            <a:off x="1308471" y="1479881"/>
            <a:ext cx="2971800" cy="4315853"/>
            <a:chOff x="1308471" y="1479881"/>
            <a:chExt cx="2971800" cy="4315853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4CDFAF26-15AE-68FA-323C-3FBDFF3795E5}"/>
                </a:ext>
              </a:extLst>
            </p:cNvPr>
            <p:cNvGrpSpPr/>
            <p:nvPr/>
          </p:nvGrpSpPr>
          <p:grpSpPr>
            <a:xfrm>
              <a:off x="1308471" y="1479881"/>
              <a:ext cx="2971800" cy="4315853"/>
              <a:chOff x="1308471" y="1479881"/>
              <a:chExt cx="2971800" cy="4315853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13A5C140-2789-5BDB-21A6-8A4FF45F4CF8}"/>
                  </a:ext>
                </a:extLst>
              </p:cNvPr>
              <p:cNvGrpSpPr/>
              <p:nvPr/>
            </p:nvGrpSpPr>
            <p:grpSpPr>
              <a:xfrm>
                <a:off x="1308471" y="1479881"/>
                <a:ext cx="2971800" cy="3569007"/>
                <a:chOff x="7556500" y="1460366"/>
                <a:chExt cx="2971800" cy="3569007"/>
              </a:xfrm>
            </p:grpSpPr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EB4880B6-8238-914C-F2E8-40EB1D7C5A7C}"/>
                    </a:ext>
                  </a:extLst>
                </p:cNvPr>
                <p:cNvSpPr/>
                <p:nvPr/>
              </p:nvSpPr>
              <p:spPr>
                <a:xfrm>
                  <a:off x="7556500" y="1460366"/>
                  <a:ext cx="2971800" cy="78740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Application Layer</a:t>
                  </a: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27E775E-0626-469D-C529-28691A6A07DF}"/>
                    </a:ext>
                  </a:extLst>
                </p:cNvPr>
                <p:cNvSpPr/>
                <p:nvPr/>
              </p:nvSpPr>
              <p:spPr>
                <a:xfrm>
                  <a:off x="7556500" y="2247765"/>
                  <a:ext cx="2971800" cy="1206807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Transport Layer</a:t>
                  </a: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1766574-FE63-03E9-A79C-78BFF6788E2D}"/>
                    </a:ext>
                  </a:extLst>
                </p:cNvPr>
                <p:cNvSpPr/>
                <p:nvPr/>
              </p:nvSpPr>
              <p:spPr>
                <a:xfrm>
                  <a:off x="7556500" y="3454573"/>
                  <a:ext cx="2971800" cy="787400"/>
                </a:xfrm>
                <a:prstGeom prst="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Internet Layer</a:t>
                  </a:r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4D4F60CC-91DB-9BFB-7846-C692CA1D812E}"/>
                    </a:ext>
                  </a:extLst>
                </p:cNvPr>
                <p:cNvSpPr/>
                <p:nvPr/>
              </p:nvSpPr>
              <p:spPr>
                <a:xfrm>
                  <a:off x="7556500" y="4241973"/>
                  <a:ext cx="2971800" cy="787400"/>
                </a:xfrm>
                <a:prstGeom prst="rect">
                  <a:avLst/>
                </a:prstGeom>
              </p:spPr>
              <p:style>
                <a:lnRef idx="2">
                  <a:schemeClr val="accent4">
                    <a:shade val="15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/>
                    <a:t>Link layer</a:t>
                  </a:r>
                </a:p>
              </p:txBody>
            </p:sp>
          </p:grpSp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08249788-C0B6-F742-2C8D-354BF16B1FA3}"/>
                  </a:ext>
                </a:extLst>
              </p:cNvPr>
              <p:cNvSpPr/>
              <p:nvPr/>
            </p:nvSpPr>
            <p:spPr>
              <a:xfrm>
                <a:off x="2356010" y="2279539"/>
                <a:ext cx="1179670" cy="418202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Port:15487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99A95CC-8E24-E088-28FA-132FBC14EE82}"/>
                  </a:ext>
                </a:extLst>
              </p:cNvPr>
              <p:cNvSpPr txBox="1"/>
              <p:nvPr/>
            </p:nvSpPr>
            <p:spPr>
              <a:xfrm>
                <a:off x="2163419" y="1630839"/>
                <a:ext cx="1564852" cy="523220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latin typeface="Consolas" panose="020B0609020204030204" pitchFamily="49" charset="0"/>
                  </a:rPr>
                  <a:t>HW1-app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7885A53-7D1B-5D3E-B1BC-45FDAC8E7B19}"/>
                  </a:ext>
                </a:extLst>
              </p:cNvPr>
              <p:cNvSpPr txBox="1"/>
              <p:nvPr/>
            </p:nvSpPr>
            <p:spPr>
              <a:xfrm>
                <a:off x="1706880" y="5334069"/>
                <a:ext cx="21640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dirty="0"/>
                  <a:t>Machine B</a:t>
                </a:r>
              </a:p>
            </p:txBody>
          </p:sp>
        </p:grp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6A220C89-1348-B3CE-AC2C-1D1964DE5D61}"/>
                </a:ext>
              </a:extLst>
            </p:cNvPr>
            <p:cNvSpPr/>
            <p:nvPr/>
          </p:nvSpPr>
          <p:spPr>
            <a:xfrm>
              <a:off x="2063857" y="3592478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102.56.89.2</a:t>
              </a:r>
            </a:p>
          </p:txBody>
        </p:sp>
        <p:pic>
          <p:nvPicPr>
            <p:cNvPr id="16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367BD3F8-6090-D1BD-F5E6-2785A3AE24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10447" y="4367636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D2102DB8-C624-18F7-7B02-0D8863BC3ACE}"/>
              </a:ext>
            </a:extLst>
          </p:cNvPr>
          <p:cNvSpPr/>
          <p:nvPr/>
        </p:nvSpPr>
        <p:spPr>
          <a:xfrm>
            <a:off x="855826" y="1325880"/>
            <a:ext cx="3823225" cy="1574138"/>
          </a:xfrm>
          <a:prstGeom prst="rect">
            <a:avLst/>
          </a:prstGeom>
          <a:noFill/>
          <a:ln w="31750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3D58420F-FB26-82E0-1F32-F052FE2D412F}"/>
              </a:ext>
            </a:extLst>
          </p:cNvPr>
          <p:cNvCxnSpPr>
            <a:stCxn id="31" idx="2"/>
            <a:endCxn id="3" idx="2"/>
          </p:cNvCxnSpPr>
          <p:nvPr/>
        </p:nvCxnSpPr>
        <p:spPr>
          <a:xfrm rot="5400000" flipH="1" flipV="1">
            <a:off x="6003811" y="-379740"/>
            <a:ext cx="19515" cy="6135448"/>
          </a:xfrm>
          <a:prstGeom prst="bentConnector3">
            <a:avLst>
              <a:gd name="adj1" fmla="val -13882690"/>
            </a:avLst>
          </a:prstGeom>
          <a:ln w="41275"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2959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7AF54E3-85FF-A7F9-71CC-E0F5F0383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DF34E8B-8917-016A-BBAA-5ACD19999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Socket end point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E521162-1C2D-781E-F1CB-64330DE3A3A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(port number, IP address) pair identifies a unique </a:t>
            </a:r>
            <a:r>
              <a:rPr lang="en-US" b="1" i="1" dirty="0"/>
              <a:t>socket</a:t>
            </a:r>
            <a:r>
              <a:rPr lang="en-US" dirty="0"/>
              <a:t> end point</a:t>
            </a:r>
          </a:p>
          <a:p>
            <a:pPr lvl="1"/>
            <a:r>
              <a:rPr lang="en-US" dirty="0"/>
              <a:t>E.g. (142.250.114.100, 80) -&gt; google.com</a:t>
            </a:r>
          </a:p>
          <a:p>
            <a:pPr lvl="1"/>
            <a:r>
              <a:rPr lang="en-US" dirty="0"/>
              <a:t>(23.185.0.4, 80) -&gt; ucdavis.edu</a:t>
            </a:r>
          </a:p>
          <a:p>
            <a:r>
              <a:rPr lang="en-US" dirty="0"/>
              <a:t>Socket API to open and close sockets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42D5E7E-0BE6-0D6A-014C-052F195671A0}"/>
              </a:ext>
            </a:extLst>
          </p:cNvPr>
          <p:cNvGrpSpPr/>
          <p:nvPr/>
        </p:nvGrpSpPr>
        <p:grpSpPr>
          <a:xfrm>
            <a:off x="7556499" y="1460366"/>
            <a:ext cx="4294781" cy="4323694"/>
            <a:chOff x="7556499" y="1460366"/>
            <a:chExt cx="4294781" cy="43236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FEF6539-C4E2-3961-CFB4-4AB84B8421AD}"/>
                </a:ext>
              </a:extLst>
            </p:cNvPr>
            <p:cNvSpPr/>
            <p:nvPr/>
          </p:nvSpPr>
          <p:spPr>
            <a:xfrm>
              <a:off x="7556500" y="1460366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0D01712-9292-E661-8D13-A5E665F3FA2F}"/>
                </a:ext>
              </a:extLst>
            </p:cNvPr>
            <p:cNvSpPr/>
            <p:nvPr/>
          </p:nvSpPr>
          <p:spPr>
            <a:xfrm>
              <a:off x="7556500" y="2247765"/>
              <a:ext cx="4294780" cy="120680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953DD7E-B708-DCC1-9946-181793EE7D7E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48EBF4-3443-2689-7A37-4A9EF2A0E6E9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pic>
        <p:nvPicPr>
          <p:cNvPr id="14340" name="Picture 4" descr="Redis : A Comprehensive Guide | TO THE NEW Blog">
            <a:extLst>
              <a:ext uri="{FF2B5EF4-FFF2-40B4-BE49-F238E27FC236}">
                <a16:creationId xmlns:a16="http://schemas.microsoft.com/office/drawing/2014/main" id="{7E2271CC-551D-E31E-532E-A654095E26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40268" y="1517902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2" name="Picture 6" descr="Externally visible ssh server - arc-ssh - Academic Computing ...">
            <a:extLst>
              <a:ext uri="{FF2B5EF4-FFF2-40B4-BE49-F238E27FC236}">
                <a16:creationId xmlns:a16="http://schemas.microsoft.com/office/drawing/2014/main" id="{AB596E07-6D2E-84CA-5C2F-8A99056BD8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2598" y="1528297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FE140A5-C54D-DBF2-0920-2F11A52A53D9}"/>
              </a:ext>
            </a:extLst>
          </p:cNvPr>
          <p:cNvSpPr txBox="1"/>
          <p:nvPr/>
        </p:nvSpPr>
        <p:spPr>
          <a:xfrm>
            <a:off x="5415892" y="4011140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080AEB19-BC71-877C-564E-302A33F4EB17}"/>
              </a:ext>
            </a:extLst>
          </p:cNvPr>
          <p:cNvSpPr/>
          <p:nvPr/>
        </p:nvSpPr>
        <p:spPr>
          <a:xfrm rot="10800000">
            <a:off x="6868906" y="2260023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07C586-A00A-23FC-8D20-B380BE01C642}"/>
              </a:ext>
            </a:extLst>
          </p:cNvPr>
          <p:cNvSpPr txBox="1"/>
          <p:nvPr/>
        </p:nvSpPr>
        <p:spPr>
          <a:xfrm>
            <a:off x="5941242" y="1537417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7AFAF4-9AC7-AAC3-7DDB-D966B88F54B6}"/>
              </a:ext>
            </a:extLst>
          </p:cNvPr>
          <p:cNvSpPr/>
          <p:nvPr/>
        </p:nvSpPr>
        <p:spPr>
          <a:xfrm>
            <a:off x="7556500" y="2260024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Port:80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F8A0FB3-DF35-4AB4-23DB-B1B2250B4B7E}"/>
              </a:ext>
            </a:extLst>
          </p:cNvPr>
          <p:cNvSpPr/>
          <p:nvPr/>
        </p:nvSpPr>
        <p:spPr>
          <a:xfrm>
            <a:off x="8604039" y="2260024"/>
            <a:ext cx="954507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Port:6379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40AE4FB-63F6-FD7D-BC51-BDB5A278D65A}"/>
              </a:ext>
            </a:extLst>
          </p:cNvPr>
          <p:cNvSpPr/>
          <p:nvPr/>
        </p:nvSpPr>
        <p:spPr>
          <a:xfrm>
            <a:off x="9651579" y="2250090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Port:22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97E6613-566C-3528-135B-6CA04E355033}"/>
              </a:ext>
            </a:extLst>
          </p:cNvPr>
          <p:cNvSpPr/>
          <p:nvPr/>
        </p:nvSpPr>
        <p:spPr>
          <a:xfrm>
            <a:off x="10803741" y="2250090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Port:81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11BDAED-C55E-F7FE-C285-20FB683CF3F6}"/>
              </a:ext>
            </a:extLst>
          </p:cNvPr>
          <p:cNvGrpSpPr/>
          <p:nvPr/>
        </p:nvGrpSpPr>
        <p:grpSpPr>
          <a:xfrm>
            <a:off x="7738329" y="2668292"/>
            <a:ext cx="3729934" cy="1277101"/>
            <a:chOff x="7738329" y="2668292"/>
            <a:chExt cx="3729934" cy="1277101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3032C419-CAC1-1B5D-34E8-021D0FFAC965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C1E91DDC-4C1D-BE8F-B1F0-A460D0DC9E22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03F7B0F-4F81-8D1F-4B54-81D919631726}"/>
                </a:ext>
              </a:extLst>
            </p:cNvPr>
            <p:cNvCxnSpPr>
              <a:cxnSpLocks/>
              <a:stCxn id="15" idx="0"/>
              <a:endCxn id="2" idx="2"/>
            </p:cNvCxnSpPr>
            <p:nvPr/>
          </p:nvCxnSpPr>
          <p:spPr>
            <a:xfrm flipH="1" flipV="1">
              <a:off x="8033753" y="2678226"/>
              <a:ext cx="586563" cy="84896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0C5D189-D5F4-5E36-4367-4908E34551AA}"/>
                </a:ext>
              </a:extLst>
            </p:cNvPr>
            <p:cNvCxnSpPr>
              <a:cxnSpLocks/>
              <a:stCxn id="15" idx="0"/>
            </p:cNvCxnSpPr>
            <p:nvPr/>
          </p:nvCxnSpPr>
          <p:spPr>
            <a:xfrm flipV="1">
              <a:off x="8620316" y="2678226"/>
              <a:ext cx="462724" cy="84896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3119CB79-872A-DDA2-662A-25441B633774}"/>
                </a:ext>
              </a:extLst>
            </p:cNvPr>
            <p:cNvCxnSpPr>
              <a:cxnSpLocks/>
              <a:stCxn id="19" idx="0"/>
              <a:endCxn id="11" idx="2"/>
            </p:cNvCxnSpPr>
            <p:nvPr/>
          </p:nvCxnSpPr>
          <p:spPr>
            <a:xfrm flipV="1">
              <a:off x="10586276" y="2668292"/>
              <a:ext cx="694718" cy="858899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7F1F9EA-C60A-B900-43E7-F24A00F36586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H="1" flipV="1">
              <a:off x="10119360" y="2678226"/>
              <a:ext cx="466916" cy="84896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05011C6-D0AF-8867-7783-D112F55E4C47}"/>
              </a:ext>
            </a:extLst>
          </p:cNvPr>
          <p:cNvGrpSpPr/>
          <p:nvPr/>
        </p:nvGrpSpPr>
        <p:grpSpPr>
          <a:xfrm>
            <a:off x="8009398" y="3945393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4841375C-F748-3079-7364-988A421889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9A7FC14E-85CC-C02A-A7B3-B621B78A13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9C4047F2-69FC-35F4-1C6F-3B3D4CD041ED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BF15201-4CA5-622E-410A-2E83FFFB7D89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0" name="Picture 2">
            <a:extLst>
              <a:ext uri="{FF2B5EF4-FFF2-40B4-BE49-F238E27FC236}">
                <a16:creationId xmlns:a16="http://schemas.microsoft.com/office/drawing/2014/main" id="{5EB825EC-4F14-559D-01C7-316497AC75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3560" y="1570577"/>
            <a:ext cx="1114793" cy="5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6C0A6F3-1BD2-DE3B-883A-07CDFBE77A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5133" y="1556303"/>
            <a:ext cx="1114793" cy="5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841120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0A45F4-F1E5-2946-37E9-78782761D4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Applications bind to ports</a:t>
            </a:r>
          </a:p>
          <a:p>
            <a:pPr lvl="1"/>
            <a:r>
              <a:rPr lang="en-US" dirty="0"/>
              <a:t>Multiple instances of the same app needs different ports</a:t>
            </a:r>
          </a:p>
          <a:p>
            <a:r>
              <a:rPr lang="en-US" dirty="0"/>
              <a:t>Every physical interface has a corresponding IP address</a:t>
            </a:r>
          </a:p>
          <a:p>
            <a:r>
              <a:rPr lang="en-US" dirty="0"/>
              <a:t>(port, IP address) is a socket pair and uniquely identifies an internet end point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D7EA087-830D-C013-AAFA-E7B7A3D1F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Networking key points</a:t>
            </a:r>
          </a:p>
        </p:txBody>
      </p:sp>
    </p:spTree>
    <p:extLst>
      <p:ext uri="{BB962C8B-B14F-4D97-AF65-F5344CB8AC3E}">
        <p14:creationId xmlns:p14="http://schemas.microsoft.com/office/powerpoint/2010/main" val="209349646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427CEE-3CBC-0532-E8CD-9FE745348D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HyperText</a:t>
            </a:r>
            <a:r>
              <a:rPr lang="en-US" dirty="0"/>
              <a:t> Transfer Protocol</a:t>
            </a:r>
          </a:p>
          <a:p>
            <a:pPr lvl="1"/>
            <a:r>
              <a:rPr lang="en-US" dirty="0"/>
              <a:t>Used for communicating with web servers, microservices, and so on…</a:t>
            </a:r>
          </a:p>
          <a:p>
            <a:r>
              <a:rPr lang="en-US" dirty="0"/>
              <a:t>Supports multiple “methods” or “verbs”</a:t>
            </a:r>
          </a:p>
          <a:p>
            <a:pPr lvl="1"/>
            <a:r>
              <a:rPr lang="en-US" dirty="0"/>
              <a:t>Common ones</a:t>
            </a:r>
          </a:p>
          <a:p>
            <a:pPr lvl="2"/>
            <a:r>
              <a:rPr lang="en-US" dirty="0"/>
              <a:t>GET</a:t>
            </a:r>
          </a:p>
          <a:p>
            <a:pPr lvl="2"/>
            <a:r>
              <a:rPr lang="en-US" dirty="0"/>
              <a:t>POST</a:t>
            </a:r>
          </a:p>
          <a:p>
            <a:pPr lvl="2"/>
            <a:r>
              <a:rPr lang="en-US" dirty="0"/>
              <a:t>PUT</a:t>
            </a:r>
          </a:p>
          <a:p>
            <a:pPr lvl="2"/>
            <a:r>
              <a:rPr lang="en-US" dirty="0"/>
              <a:t>DELETE</a:t>
            </a:r>
          </a:p>
          <a:p>
            <a:pPr lvl="1"/>
            <a:r>
              <a:rPr lang="en-US" dirty="0"/>
              <a:t>Different types of messages that the protocol can understand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B100560-DF09-C5CF-37CC-A38FDE00B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and HTTP methods</a:t>
            </a:r>
          </a:p>
        </p:txBody>
      </p:sp>
    </p:spTree>
    <p:extLst>
      <p:ext uri="{BB962C8B-B14F-4D97-AF65-F5344CB8AC3E}">
        <p14:creationId xmlns:p14="http://schemas.microsoft.com/office/powerpoint/2010/main" val="3833631534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E9635C-9C9E-026D-8595-9236A5328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1213919-006A-17D4-4600-8AE0E489E6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Request Line</a:t>
            </a:r>
            <a:r>
              <a:rPr lang="en-US" dirty="0"/>
              <a:t>: Method, URL, HTTP version</a:t>
            </a:r>
          </a:p>
          <a:p>
            <a:pPr lvl="1"/>
            <a:r>
              <a:rPr lang="en-US" dirty="0"/>
              <a:t>Example: </a:t>
            </a:r>
            <a:r>
              <a:rPr lang="en-US" dirty="0">
                <a:latin typeface="Consolas" panose="020B0609020204030204" pitchFamily="49" charset="0"/>
              </a:rPr>
              <a:t>GET /index.html HTTP/1.1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Headers: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Metadata like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Content-Type, Authorization</a:t>
            </a:r>
          </a:p>
          <a:p>
            <a:r>
              <a:rPr lang="en-US" b="1" dirty="0"/>
              <a:t>Body</a:t>
            </a:r>
            <a:r>
              <a:rPr lang="en-US" dirty="0"/>
              <a:t>: Optional, contains data for POST/PUT requests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40FD3E-B5E5-4EB8-446E-73E42ACAE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request</a:t>
            </a:r>
          </a:p>
        </p:txBody>
      </p:sp>
    </p:spTree>
    <p:extLst>
      <p:ext uri="{BB962C8B-B14F-4D97-AF65-F5344CB8AC3E}">
        <p14:creationId xmlns:p14="http://schemas.microsoft.com/office/powerpoint/2010/main" val="913636725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68C5DB-40A5-196F-B000-4402311EC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E62407A-BF90-F4D1-465F-0B0098E732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Status Line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: HTTP version, status code (e.g.,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200 OK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Headers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: Metadata like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Content-Type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Content-Length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Body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: Optional, contains response data (e.g., HTML, JSON)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DCE230-C7DB-D949-0458-D4B8664BF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response</a:t>
            </a:r>
          </a:p>
        </p:txBody>
      </p:sp>
    </p:spTree>
    <p:extLst>
      <p:ext uri="{BB962C8B-B14F-4D97-AF65-F5344CB8AC3E}">
        <p14:creationId xmlns:p14="http://schemas.microsoft.com/office/powerpoint/2010/main" val="2147435976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9257EB-7274-3337-64B0-BB479CA3D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22D538-F814-1B6B-26FC-E79182C814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&gt; telnet google.com 80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GET /index.html HTTP/1.1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&lt;html&gt;</a:t>
            </a:r>
          </a:p>
          <a:p>
            <a:r>
              <a:rPr lang="en-US" dirty="0">
                <a:cs typeface="Helvetica" panose="020B0604020202020204" pitchFamily="34" charset="0"/>
              </a:rPr>
              <a:t>	&lt;head&gt;&lt;title&gt;…. &lt;/title&gt;&lt;/head&gt;</a:t>
            </a:r>
          </a:p>
          <a:p>
            <a:r>
              <a:rPr lang="en-US" dirty="0">
                <a:cs typeface="Helvetica" panose="020B0604020202020204" pitchFamily="34" charset="0"/>
              </a:rPr>
              <a:t>	&lt;body&gt; … &lt;/body&gt;</a:t>
            </a:r>
          </a:p>
          <a:p>
            <a:r>
              <a:rPr lang="en-US" dirty="0">
                <a:cs typeface="Helvetica" panose="020B0604020202020204" pitchFamily="34" charset="0"/>
              </a:rPr>
              <a:t>&lt;/html&gt;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1189B1-BD75-63EB-2570-1A8EE730A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GET method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9F4DEE-59E4-0651-4577-872C74ABB61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Used to r</a:t>
            </a:r>
            <a:r>
              <a:rPr lang="en-US" dirty="0"/>
              <a:t>etrieve data from the server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Does not modify the server state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send parameters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GET /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url?id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=100 HTTP 1.1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 cases</a:t>
            </a:r>
          </a:p>
          <a:p>
            <a:pPr lvl="1"/>
            <a:r>
              <a:rPr lang="en-US" dirty="0"/>
              <a:t>Fetching a webpage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Retrieving information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351338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604D0-9D59-8C61-9E3D-2F251B5D5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EDAD4EE-FDD8-4628-9182-DA5AA58FC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&gt; telnet site.com 80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POST /users HTTP/1.1</a:t>
            </a:r>
          </a:p>
          <a:p>
            <a:r>
              <a:rPr lang="en-US" dirty="0">
                <a:cs typeface="Helvetica" panose="020B0604020202020204" pitchFamily="34" charset="0"/>
              </a:rPr>
              <a:t>Content-Type: application/</a:t>
            </a:r>
            <a:r>
              <a:rPr lang="en-US" dirty="0" err="1">
                <a:cs typeface="Helvetica" panose="020B0604020202020204" pitchFamily="34" charset="0"/>
              </a:rPr>
              <a:t>json</a:t>
            </a:r>
            <a:endParaRPr lang="en-US" dirty="0">
              <a:cs typeface="Helvetica" panose="020B0604020202020204" pitchFamily="34" charset="0"/>
            </a:endParaRP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{  </a:t>
            </a:r>
          </a:p>
          <a:p>
            <a:r>
              <a:rPr lang="en-US" dirty="0">
                <a:cs typeface="Helvetica" panose="020B0604020202020204" pitchFamily="34" charset="0"/>
              </a:rPr>
              <a:t>	"name": "John Doe",  </a:t>
            </a:r>
            <a:br>
              <a:rPr lang="en-US" dirty="0"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        "email": </a:t>
            </a:r>
            <a:r>
              <a:rPr lang="en-US" dirty="0">
                <a:cs typeface="Helvetica" panose="020B0604020202020204" pitchFamily="34" charset="0"/>
                <a:hlinkClick r:id="rId2"/>
              </a:rPr>
              <a:t>“john.doe@example.com</a:t>
            </a:r>
            <a:r>
              <a:rPr lang="en-US" dirty="0">
                <a:cs typeface="Helvetica" panose="020B0604020202020204" pitchFamily="34" charset="0"/>
              </a:rPr>
              <a:t>”</a:t>
            </a:r>
          </a:p>
          <a:p>
            <a:r>
              <a:rPr lang="en-US" dirty="0"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35AA85F-E1E8-52DB-3D71-E7EB72438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POST method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A5C9480-4355-80F4-C00E-A8F57A8FCB6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Used to send data to the server</a:t>
            </a:r>
            <a:endParaRPr lang="en-US" dirty="0"/>
          </a:p>
          <a:p>
            <a:r>
              <a:rPr lang="en-US" dirty="0"/>
              <a:t>Includes a body to send data to the server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 cases</a:t>
            </a:r>
          </a:p>
          <a:p>
            <a:pPr lvl="1"/>
            <a:r>
              <a:rPr lang="en-US" dirty="0"/>
              <a:t>User registration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Submitting forms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164210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57189A-EF85-0B4C-7BD1-C44330642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E428010-0CB6-B992-1A5F-D83C9A0E81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&gt; telnet site.com 80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PUT /users/</a:t>
            </a:r>
            <a:r>
              <a:rPr lang="en-US" b="1" dirty="0">
                <a:cs typeface="Helvetica" panose="020B0604020202020204" pitchFamily="34" charset="0"/>
              </a:rPr>
              <a:t>10</a:t>
            </a:r>
            <a:r>
              <a:rPr lang="en-US" dirty="0">
                <a:cs typeface="Helvetica" panose="020B0604020202020204" pitchFamily="34" charset="0"/>
              </a:rPr>
              <a:t> HTTP/1.1</a:t>
            </a:r>
          </a:p>
          <a:p>
            <a:r>
              <a:rPr lang="en-US" dirty="0">
                <a:cs typeface="Helvetica" panose="020B0604020202020204" pitchFamily="34" charset="0"/>
              </a:rPr>
              <a:t>Content-Type: application/</a:t>
            </a:r>
            <a:r>
              <a:rPr lang="en-US" dirty="0" err="1">
                <a:cs typeface="Helvetica" panose="020B0604020202020204" pitchFamily="34" charset="0"/>
              </a:rPr>
              <a:t>json</a:t>
            </a:r>
            <a:endParaRPr lang="en-US" dirty="0">
              <a:cs typeface="Helvetica" panose="020B0604020202020204" pitchFamily="34" charset="0"/>
            </a:endParaRP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{  </a:t>
            </a:r>
          </a:p>
          <a:p>
            <a:r>
              <a:rPr lang="en-US" dirty="0">
                <a:cs typeface="Helvetica" panose="020B0604020202020204" pitchFamily="34" charset="0"/>
              </a:rPr>
              <a:t>	"name": "John Doe",  "email": 	</a:t>
            </a:r>
            <a:r>
              <a:rPr lang="en-US" dirty="0">
                <a:cs typeface="Helvetica" panose="020B0604020202020204" pitchFamily="34" charset="0"/>
                <a:hlinkClick r:id="rId2"/>
              </a:rPr>
              <a:t>john.doe@example.com</a:t>
            </a:r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00034C-BB2D-9F39-FFE2-FDF019163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PUT method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CE1520D-2398-9EB0-3B1F-E21D30A2A0E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Used to u</a:t>
            </a:r>
            <a:r>
              <a:rPr lang="en-US" dirty="0"/>
              <a:t>pdate or replace an existing resource on the server</a:t>
            </a:r>
          </a:p>
          <a:p>
            <a:r>
              <a:rPr lang="en-US" dirty="0"/>
              <a:t>Includes a body to send updated data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 cases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Updating user information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… and so 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999112-23C2-001D-1952-0F9417A39F33}"/>
              </a:ext>
            </a:extLst>
          </p:cNvPr>
          <p:cNvSpPr/>
          <p:nvPr/>
        </p:nvSpPr>
        <p:spPr>
          <a:xfrm>
            <a:off x="6705600" y="2262555"/>
            <a:ext cx="961292" cy="304800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171952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B124581-718F-F1ED-5DC9-A08A4BA85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154E58-191A-C7AC-838F-0E1079A07C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&gt; telnet site.com 80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DELETE /users/</a:t>
            </a:r>
            <a:r>
              <a:rPr lang="en-US" b="1" dirty="0">
                <a:cs typeface="Helvetica" panose="020B0604020202020204" pitchFamily="34" charset="0"/>
              </a:rPr>
              <a:t>10</a:t>
            </a:r>
            <a:r>
              <a:rPr lang="en-US" dirty="0">
                <a:cs typeface="Helvetica" panose="020B0604020202020204" pitchFamily="34" charset="0"/>
              </a:rPr>
              <a:t> HTTP/1.1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7633ED-C8B9-EC3E-BE32-723EC14C3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DELETE method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37433F-72D5-9530-BD45-1FA0EC4EBB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Used to </a:t>
            </a:r>
            <a:r>
              <a:rPr lang="en-US" dirty="0"/>
              <a:t>remove a resource from the server</a:t>
            </a:r>
          </a:p>
          <a:p>
            <a:r>
              <a:rPr lang="en-US" dirty="0"/>
              <a:t>Typically, does not have a request body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 cases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Deleting user account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Removing items from a database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EE4B16-FD39-48A4-0AF7-1CF8014A3BAD}"/>
              </a:ext>
            </a:extLst>
          </p:cNvPr>
          <p:cNvSpPr/>
          <p:nvPr/>
        </p:nvSpPr>
        <p:spPr>
          <a:xfrm>
            <a:off x="7033846" y="2262555"/>
            <a:ext cx="961292" cy="304800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7752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E3D369-3D80-355D-34C9-22EA79F8BE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is just a protocol</a:t>
            </a:r>
          </a:p>
          <a:p>
            <a:r>
              <a:rPr lang="en-US" dirty="0"/>
              <a:t>The </a:t>
            </a:r>
            <a:r>
              <a:rPr lang="en-US" b="1" i="1" dirty="0"/>
              <a:t>functionality </a:t>
            </a:r>
            <a:r>
              <a:rPr lang="en-US" dirty="0"/>
              <a:t>of each HTTP method must be implemented by an application </a:t>
            </a:r>
          </a:p>
          <a:p>
            <a:pPr lvl="1"/>
            <a:r>
              <a:rPr lang="en-US" dirty="0"/>
              <a:t>Apache httpd webserver</a:t>
            </a:r>
          </a:p>
          <a:p>
            <a:pPr lvl="1"/>
            <a:r>
              <a:rPr lang="en-US" dirty="0"/>
              <a:t>Nginx webserver</a:t>
            </a:r>
          </a:p>
          <a:p>
            <a:pPr lvl="1"/>
            <a:r>
              <a:rPr lang="en-US" dirty="0"/>
              <a:t>You can develop your own webserver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FEF6C93-C848-BC02-8927-93501F846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points</a:t>
            </a:r>
          </a:p>
        </p:txBody>
      </p:sp>
    </p:spTree>
    <p:extLst>
      <p:ext uri="{BB962C8B-B14F-4D97-AF65-F5344CB8AC3E}">
        <p14:creationId xmlns:p14="http://schemas.microsoft.com/office/powerpoint/2010/main" val="3771990287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FBCEC9-62AA-2E30-E749-8F25C4C84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the HTTP web server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sudo</a:t>
            </a:r>
            <a:r>
              <a:rPr lang="en-US" dirty="0">
                <a:latin typeface="Consolas" panose="020B0609020204030204" pitchFamily="49" charset="0"/>
              </a:rPr>
              <a:t> service apache2 start</a:t>
            </a:r>
          </a:p>
          <a:p>
            <a:r>
              <a:rPr lang="en-US" dirty="0"/>
              <a:t>Update the port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etc</a:t>
            </a:r>
            <a:r>
              <a:rPr lang="en-US" dirty="0">
                <a:latin typeface="Consolas" panose="020B0609020204030204" pitchFamily="49" charset="0"/>
              </a:rPr>
              <a:t>/apache2/</a:t>
            </a:r>
            <a:r>
              <a:rPr lang="en-US" dirty="0" err="1">
                <a:latin typeface="Consolas" panose="020B0609020204030204" pitchFamily="49" charset="0"/>
              </a:rPr>
              <a:t>ports.conf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Add any HTML/</a:t>
            </a:r>
            <a:r>
              <a:rPr lang="en-US" dirty="0" err="1"/>
              <a:t>Javascript</a:t>
            </a:r>
            <a:r>
              <a:rPr lang="en-US" dirty="0"/>
              <a:t> files in </a:t>
            </a:r>
            <a:r>
              <a:rPr lang="en-US" dirty="0">
                <a:latin typeface="Consolas" panose="020B0609020204030204" pitchFamily="49" charset="0"/>
              </a:rPr>
              <a:t>/var/www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45D792-CB66-7780-4EBA-B98D3284C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Apache httpd demo</a:t>
            </a:r>
          </a:p>
        </p:txBody>
      </p:sp>
    </p:spTree>
    <p:extLst>
      <p:ext uri="{BB962C8B-B14F-4D97-AF65-F5344CB8AC3E}">
        <p14:creationId xmlns:p14="http://schemas.microsoft.com/office/powerpoint/2010/main" val="1815586722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688D89-4A7C-7176-3A06-D9381544D8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Wireshark demo for Apache httpd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9583154-EEAA-0940-9466-6119CEEDA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Wireshark demo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673C6F9-ABFA-D575-35CE-F1D5024567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061" y="1439629"/>
            <a:ext cx="9495692" cy="506536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8F5881B-725E-18E8-8D00-EF44BE099EEE}"/>
              </a:ext>
            </a:extLst>
          </p:cNvPr>
          <p:cNvSpPr/>
          <p:nvPr/>
        </p:nvSpPr>
        <p:spPr>
          <a:xfrm>
            <a:off x="844061" y="2627728"/>
            <a:ext cx="6050280" cy="351691"/>
          </a:xfrm>
          <a:prstGeom prst="rect">
            <a:avLst/>
          </a:prstGeom>
          <a:noFill/>
          <a:ln w="3492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B59CF7-F0E1-06A0-F507-5031989BB2C3}"/>
              </a:ext>
            </a:extLst>
          </p:cNvPr>
          <p:cNvSpPr/>
          <p:nvPr/>
        </p:nvSpPr>
        <p:spPr>
          <a:xfrm>
            <a:off x="844061" y="2985867"/>
            <a:ext cx="6050280" cy="351691"/>
          </a:xfrm>
          <a:prstGeom prst="rect">
            <a:avLst/>
          </a:prstGeom>
          <a:noFill/>
          <a:ln w="3492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777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7" grpId="1" animBg="1"/>
    </p:bldLst>
  </p:timing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14391</TotalTime>
  <Words>6885</Words>
  <Application>Microsoft Office PowerPoint</Application>
  <PresentationFormat>Widescreen</PresentationFormat>
  <Paragraphs>1387</Paragraphs>
  <Slides>147</Slides>
  <Notes>49</Notes>
  <HiddenSlides>42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147</vt:i4>
      </vt:variant>
    </vt:vector>
  </HeadingPairs>
  <TitlesOfParts>
    <vt:vector size="154" baseType="lpstr">
      <vt:lpstr>Arial</vt:lpstr>
      <vt:lpstr>Calibri</vt:lpstr>
      <vt:lpstr>Consolas</vt:lpstr>
      <vt:lpstr>Helvetica</vt:lpstr>
      <vt:lpstr>Lato</vt:lpstr>
      <vt:lpstr>Wingdings</vt:lpstr>
      <vt:lpstr>Preso 2022 Watertower Stats</vt:lpstr>
      <vt:lpstr>PowerPoint Presentation</vt:lpstr>
      <vt:lpstr>Announcements</vt:lpstr>
      <vt:lpstr>Agenda</vt:lpstr>
      <vt:lpstr>What is software architecture?</vt:lpstr>
      <vt:lpstr>What is software architecture?</vt:lpstr>
      <vt:lpstr>Social media platform</vt:lpstr>
      <vt:lpstr>Till now – single component focus</vt:lpstr>
      <vt:lpstr>Software architecture</vt:lpstr>
      <vt:lpstr>Software architecture importance</vt:lpstr>
      <vt:lpstr>Some software architecture concerns</vt:lpstr>
      <vt:lpstr>Encapsulation</vt:lpstr>
      <vt:lpstr>Encapsulation</vt:lpstr>
      <vt:lpstr>Encapsulation</vt:lpstr>
      <vt:lpstr>Scalability</vt:lpstr>
      <vt:lpstr>Scalability</vt:lpstr>
      <vt:lpstr>Scalability</vt:lpstr>
      <vt:lpstr>Resilience</vt:lpstr>
      <vt:lpstr>Resilience</vt:lpstr>
      <vt:lpstr>Load balancing strategies</vt:lpstr>
      <vt:lpstr>Load balancer considerations</vt:lpstr>
      <vt:lpstr>Performance</vt:lpstr>
      <vt:lpstr>Deployability</vt:lpstr>
      <vt:lpstr>Active areas of research and innovation</vt:lpstr>
      <vt:lpstr>Relation to systems topics</vt:lpstr>
      <vt:lpstr>PowerPoint Presentation</vt:lpstr>
      <vt:lpstr>Virtual machine and containers</vt:lpstr>
      <vt:lpstr>Virtual machine and containers</vt:lpstr>
      <vt:lpstr>What is a virtual machine?</vt:lpstr>
      <vt:lpstr>What is a virtual machine?</vt:lpstr>
      <vt:lpstr>What is a container?</vt:lpstr>
      <vt:lpstr>What is a container?</vt:lpstr>
      <vt:lpstr>VMs vs. containers</vt:lpstr>
      <vt:lpstr>VMs vs. containers</vt:lpstr>
      <vt:lpstr>VMs vs. containers</vt:lpstr>
      <vt:lpstr>Example cloud setup</vt:lpstr>
      <vt:lpstr>Virtual machine demo</vt:lpstr>
      <vt:lpstr>Autoscaling</vt:lpstr>
      <vt:lpstr>How Autoscaling Works</vt:lpstr>
      <vt:lpstr>Real-World Frameworks &amp; Services</vt:lpstr>
      <vt:lpstr>Challenges</vt:lpstr>
      <vt:lpstr>PowerPoint Presentation</vt:lpstr>
      <vt:lpstr>Agenda</vt:lpstr>
      <vt:lpstr>Sample midterm question</vt:lpstr>
      <vt:lpstr>PowerPoint Presentation</vt:lpstr>
      <vt:lpstr>Popular software architecture styles</vt:lpstr>
      <vt:lpstr>Client server architecture</vt:lpstr>
      <vt:lpstr>Client server architecture</vt:lpstr>
      <vt:lpstr>Client-server architecture examples</vt:lpstr>
      <vt:lpstr>HTTP server</vt:lpstr>
      <vt:lpstr>Pros and cons</vt:lpstr>
      <vt:lpstr>Client-server architecture examples</vt:lpstr>
      <vt:lpstr>Application servers (Not in syllabus)</vt:lpstr>
      <vt:lpstr>Java servlet (Not in syllabus)</vt:lpstr>
      <vt:lpstr>Servlet example (Not in syllabus)</vt:lpstr>
      <vt:lpstr>Servlet example (Not in syllabus)</vt:lpstr>
      <vt:lpstr>Servlet example (Not in syllabus)</vt:lpstr>
      <vt:lpstr>Key points (Not in syllabus)</vt:lpstr>
      <vt:lpstr>Client server architecture</vt:lpstr>
      <vt:lpstr>Microservices</vt:lpstr>
      <vt:lpstr>Microservices overview</vt:lpstr>
      <vt:lpstr>Monolithic to microservices</vt:lpstr>
      <vt:lpstr>Microservices provide finer scaling control</vt:lpstr>
      <vt:lpstr>Microservices provide finer scaling control</vt:lpstr>
      <vt:lpstr>Continuous deployment using microservices</vt:lpstr>
      <vt:lpstr>Pros and cons</vt:lpstr>
      <vt:lpstr>Microservices at Uber (2019)</vt:lpstr>
      <vt:lpstr>Microservices at Amazon (2008)</vt:lpstr>
      <vt:lpstr>Recap – web servers, application servers</vt:lpstr>
      <vt:lpstr>Recap – web servers, application servers</vt:lpstr>
      <vt:lpstr>Recall: what are microservices?</vt:lpstr>
      <vt:lpstr>Recall: what are microservices?</vt:lpstr>
      <vt:lpstr>Pros and cons</vt:lpstr>
      <vt:lpstr>What all do you need to launch a microservice?</vt:lpstr>
      <vt:lpstr>Spring Boot Overview</vt:lpstr>
      <vt:lpstr>Setting up a Spring Boot application</vt:lpstr>
      <vt:lpstr>RESTful microservices</vt:lpstr>
      <vt:lpstr>Abstractions</vt:lpstr>
      <vt:lpstr>Pipeline architecture</vt:lpstr>
      <vt:lpstr>Key characteristics</vt:lpstr>
      <vt:lpstr>Data processing pipeline</vt:lpstr>
      <vt:lpstr>Compiler pipeline</vt:lpstr>
      <vt:lpstr>Pros and cons</vt:lpstr>
      <vt:lpstr>PowerPoint Presentation</vt:lpstr>
      <vt:lpstr>Agenda</vt:lpstr>
      <vt:lpstr>Recap – server client architecture</vt:lpstr>
      <vt:lpstr>HTTP GET and POST request</vt:lpstr>
      <vt:lpstr>HTTP GET and POST request</vt:lpstr>
      <vt:lpstr>Microservices at Uber (2019)</vt:lpstr>
      <vt:lpstr>Communication</vt:lpstr>
      <vt:lpstr>Remote procedure call (RPC)</vt:lpstr>
      <vt:lpstr>RPC key features</vt:lpstr>
      <vt:lpstr>RPC formats</vt:lpstr>
      <vt:lpstr>JSON and REST APIs</vt:lpstr>
      <vt:lpstr>Spring Boot Overview</vt:lpstr>
      <vt:lpstr>Setting up a Spring Boot application</vt:lpstr>
      <vt:lpstr>RESTful microservices with Spring Boot</vt:lpstr>
      <vt:lpstr>Servlet recap</vt:lpstr>
      <vt:lpstr>Spring Boot Framework</vt:lpstr>
      <vt:lpstr>Spring Boot demo</vt:lpstr>
      <vt:lpstr>Message queuing (MQ)</vt:lpstr>
      <vt:lpstr>Open source and paid MQ services</vt:lpstr>
      <vt:lpstr>Pub-sub architecture</vt:lpstr>
      <vt:lpstr>Pub-sub architecture</vt:lpstr>
      <vt:lpstr>Pub-sub frameworks</vt:lpstr>
      <vt:lpstr>RabbitMQ architecture</vt:lpstr>
      <vt:lpstr>Asynchronous communication with RabbitMQ</vt:lpstr>
      <vt:lpstr>Can mix and match!!</vt:lpstr>
      <vt:lpstr>PowerPoint Presentation</vt:lpstr>
      <vt:lpstr>PowerPoint Presentation</vt:lpstr>
      <vt:lpstr>PowerPoint Presentation</vt:lpstr>
      <vt:lpstr>What is a protocol?</vt:lpstr>
      <vt:lpstr>Network layers</vt:lpstr>
      <vt:lpstr>Network layers</vt:lpstr>
      <vt:lpstr>Wireshark demo</vt:lpstr>
      <vt:lpstr>Networking on the internet</vt:lpstr>
      <vt:lpstr>Data center networking</vt:lpstr>
      <vt:lpstr>Multi-tier or layered architecture</vt:lpstr>
      <vt:lpstr>Model-view-controller (MVC) architecture</vt:lpstr>
      <vt:lpstr>MVC frameworks</vt:lpstr>
      <vt:lpstr>What is a container?</vt:lpstr>
      <vt:lpstr>Docker architecture</vt:lpstr>
      <vt:lpstr>Sample Dockerfile to run HW1</vt:lpstr>
      <vt:lpstr>PowerPoint Presentation</vt:lpstr>
      <vt:lpstr>Agenda</vt:lpstr>
      <vt:lpstr>PowerPoint Presentation</vt:lpstr>
      <vt:lpstr>Networked components</vt:lpstr>
      <vt:lpstr>Network layers</vt:lpstr>
      <vt:lpstr>What is a protocol?</vt:lpstr>
      <vt:lpstr>Link layer</vt:lpstr>
      <vt:lpstr>Internet layer</vt:lpstr>
      <vt:lpstr>Transport layer</vt:lpstr>
      <vt:lpstr>Transport layer</vt:lpstr>
      <vt:lpstr>Application layer</vt:lpstr>
      <vt:lpstr>Application layer</vt:lpstr>
      <vt:lpstr>Network communication</vt:lpstr>
      <vt:lpstr>Socket end point</vt:lpstr>
      <vt:lpstr>Networking key points</vt:lpstr>
      <vt:lpstr>HTTP and HTTP methods</vt:lpstr>
      <vt:lpstr>HTTP request</vt:lpstr>
      <vt:lpstr>HTTP response</vt:lpstr>
      <vt:lpstr>HTTP GET method</vt:lpstr>
      <vt:lpstr>HTTP POST method</vt:lpstr>
      <vt:lpstr>HTTP PUT method</vt:lpstr>
      <vt:lpstr>HTTP DELETE method</vt:lpstr>
      <vt:lpstr>Key points</vt:lpstr>
      <vt:lpstr>Apache httpd demo</vt:lpstr>
      <vt:lpstr>Wireshark demo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1329</cp:revision>
  <dcterms:created xsi:type="dcterms:W3CDTF">2019-06-30T03:25:06Z</dcterms:created>
  <dcterms:modified xsi:type="dcterms:W3CDTF">2025-10-29T18:28:35Z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