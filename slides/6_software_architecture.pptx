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0"/>
  </p:notesMasterIdLst>
  <p:handoutMasterIdLst>
    <p:handoutMasterId r:id="rId151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431" r:id="rId20"/>
    <p:sldId id="432" r:id="rId21"/>
    <p:sldId id="288" r:id="rId22"/>
    <p:sldId id="289" r:id="rId23"/>
    <p:sldId id="323" r:id="rId24"/>
    <p:sldId id="305" r:id="rId25"/>
    <p:sldId id="329" r:id="rId26"/>
    <p:sldId id="324" r:id="rId27"/>
    <p:sldId id="325" r:id="rId28"/>
    <p:sldId id="326" r:id="rId29"/>
    <p:sldId id="343" r:id="rId30"/>
    <p:sldId id="328" r:id="rId31"/>
    <p:sldId id="344" r:id="rId32"/>
    <p:sldId id="327" r:id="rId33"/>
    <p:sldId id="342" r:id="rId34"/>
    <p:sldId id="345" r:id="rId35"/>
    <p:sldId id="430" r:id="rId36"/>
    <p:sldId id="425" r:id="rId37"/>
    <p:sldId id="426" r:id="rId38"/>
    <p:sldId id="427" r:id="rId39"/>
    <p:sldId id="428" r:id="rId40"/>
    <p:sldId id="429" r:id="rId41"/>
    <p:sldId id="436" r:id="rId42"/>
    <p:sldId id="442" r:id="rId43"/>
    <p:sldId id="437" r:id="rId44"/>
    <p:sldId id="441" r:id="rId45"/>
    <p:sldId id="341" r:id="rId46"/>
    <p:sldId id="258" r:id="rId47"/>
    <p:sldId id="359" r:id="rId48"/>
    <p:sldId id="360" r:id="rId49"/>
    <p:sldId id="262" r:id="rId50"/>
    <p:sldId id="356" r:id="rId51"/>
    <p:sldId id="264" r:id="rId52"/>
    <p:sldId id="263" r:id="rId53"/>
    <p:sldId id="370" r:id="rId54"/>
    <p:sldId id="394" r:id="rId55"/>
    <p:sldId id="395" r:id="rId56"/>
    <p:sldId id="398" r:id="rId57"/>
    <p:sldId id="396" r:id="rId58"/>
    <p:sldId id="399" r:id="rId59"/>
    <p:sldId id="400" r:id="rId60"/>
    <p:sldId id="272" r:id="rId61"/>
    <p:sldId id="274" r:id="rId62"/>
    <p:sldId id="273" r:id="rId63"/>
    <p:sldId id="438" r:id="rId64"/>
    <p:sldId id="439" r:id="rId65"/>
    <p:sldId id="276" r:id="rId66"/>
    <p:sldId id="275" r:id="rId67"/>
    <p:sldId id="284" r:id="rId68"/>
    <p:sldId id="285" r:id="rId69"/>
    <p:sldId id="410" r:id="rId70"/>
    <p:sldId id="411" r:id="rId71"/>
    <p:sldId id="402" r:id="rId72"/>
    <p:sldId id="424" r:id="rId73"/>
    <p:sldId id="417" r:id="rId74"/>
    <p:sldId id="373" r:id="rId75"/>
    <p:sldId id="374" r:id="rId76"/>
    <p:sldId id="375" r:id="rId77"/>
    <p:sldId id="261" r:id="rId78"/>
    <p:sldId id="378" r:id="rId79"/>
    <p:sldId id="268" r:id="rId80"/>
    <p:sldId id="393" r:id="rId81"/>
    <p:sldId id="269" r:id="rId82"/>
    <p:sldId id="271" r:id="rId83"/>
    <p:sldId id="270" r:id="rId84"/>
    <p:sldId id="407" r:id="rId85"/>
    <p:sldId id="401" r:id="rId86"/>
    <p:sldId id="408" r:id="rId87"/>
    <p:sldId id="412" r:id="rId88"/>
    <p:sldId id="415" r:id="rId89"/>
    <p:sldId id="416" r:id="rId90"/>
    <p:sldId id="418" r:id="rId91"/>
    <p:sldId id="277" r:id="rId92"/>
    <p:sldId id="296" r:id="rId93"/>
    <p:sldId id="295" r:id="rId94"/>
    <p:sldId id="278" r:id="rId95"/>
    <p:sldId id="404" r:id="rId96"/>
    <p:sldId id="405" r:id="rId97"/>
    <p:sldId id="406" r:id="rId98"/>
    <p:sldId id="420" r:id="rId99"/>
    <p:sldId id="419" r:id="rId100"/>
    <p:sldId id="421" r:id="rId101"/>
    <p:sldId id="279" r:id="rId102"/>
    <p:sldId id="280" r:id="rId103"/>
    <p:sldId id="281" r:id="rId104"/>
    <p:sldId id="297" r:id="rId105"/>
    <p:sldId id="298" r:id="rId106"/>
    <p:sldId id="423" r:id="rId107"/>
    <p:sldId id="422" r:id="rId108"/>
    <p:sldId id="260" r:id="rId109"/>
    <p:sldId id="433" r:id="rId110"/>
    <p:sldId id="434" r:id="rId111"/>
    <p:sldId id="435" r:id="rId112"/>
    <p:sldId id="347" r:id="rId113"/>
    <p:sldId id="349" r:id="rId114"/>
    <p:sldId id="350" r:id="rId115"/>
    <p:sldId id="361" r:id="rId116"/>
    <p:sldId id="381" r:id="rId117"/>
    <p:sldId id="382" r:id="rId118"/>
    <p:sldId id="265" r:id="rId119"/>
    <p:sldId id="266" r:id="rId120"/>
    <p:sldId id="267" r:id="rId121"/>
    <p:sldId id="380" r:id="rId122"/>
    <p:sldId id="300" r:id="rId123"/>
    <p:sldId id="301" r:id="rId124"/>
    <p:sldId id="371" r:id="rId125"/>
    <p:sldId id="387" r:id="rId126"/>
    <p:sldId id="330" r:id="rId127"/>
    <p:sldId id="384" r:id="rId128"/>
    <p:sldId id="331" r:id="rId129"/>
    <p:sldId id="362" r:id="rId130"/>
    <p:sldId id="388" r:id="rId131"/>
    <p:sldId id="352" r:id="rId132"/>
    <p:sldId id="389" r:id="rId133"/>
    <p:sldId id="391" r:id="rId134"/>
    <p:sldId id="390" r:id="rId135"/>
    <p:sldId id="392" r:id="rId136"/>
    <p:sldId id="334" r:id="rId137"/>
    <p:sldId id="353" r:id="rId138"/>
    <p:sldId id="340" r:id="rId139"/>
    <p:sldId id="259" r:id="rId140"/>
    <p:sldId id="364" r:id="rId141"/>
    <p:sldId id="365" r:id="rId142"/>
    <p:sldId id="366" r:id="rId143"/>
    <p:sldId id="367" r:id="rId144"/>
    <p:sldId id="368" r:id="rId145"/>
    <p:sldId id="369" r:id="rId146"/>
    <p:sldId id="397" r:id="rId147"/>
    <p:sldId id="363" r:id="rId148"/>
    <p:sldId id="385" r:id="rId149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61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notesMaster" Target="notesMasters/notesMaster1.xml"/><Relationship Id="rId155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handoutMaster" Target="handoutMasters/handoutMaster1.xml"/><Relationship Id="rId156" Type="http://schemas.microsoft.com/office/2016/11/relationships/changesInfo" Target="changesInfos/changesInfo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446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6513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96464128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25177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360955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Wednesday, October 29,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Z9MUMv_GZ9PatPVSs_Mz4sK1u8f00drgCTtbRrpFbVs/edit?usp=sharing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26.jpe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3.png"/><Relationship Id="rId4" Type="http://schemas.openxmlformats.org/officeDocument/2006/relationships/image" Target="../media/image59.jpe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21.jpe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jpe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jpeg"/><Relationship Id="rId5" Type="http://schemas.openxmlformats.org/officeDocument/2006/relationships/image" Target="../media/image66.png"/><Relationship Id="rId4" Type="http://schemas.openxmlformats.org/officeDocument/2006/relationships/image" Target="../media/image65.jpeg"/><Relationship Id="rId9" Type="http://schemas.openxmlformats.org/officeDocument/2006/relationships/image" Target="../media/image7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3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3.png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skeleton code updated</a:t>
            </a:r>
          </a:p>
          <a:p>
            <a:r>
              <a:rPr lang="en-US" dirty="0"/>
              <a:t>Sample logging framework code added for reference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overview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/>
              <a:t>Spring Boot 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0" y="2150968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03789-12F4-9649-6776-73FCDEFD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Round Robin – Sequentially routes requests across servers; simple but doesn’t account for server load</a:t>
            </a:r>
          </a:p>
          <a:p>
            <a:r>
              <a:rPr lang="en-US" dirty="0"/>
              <a:t>Least Connections – Directs traffic to the server with the fewest active connections; adapts well to uneven load</a:t>
            </a:r>
          </a:p>
          <a:p>
            <a:r>
              <a:rPr lang="en-US" dirty="0"/>
              <a:t>Least Response Time – Chooses the server with the fastest response time and fewest connections; performance-oriented</a:t>
            </a:r>
          </a:p>
          <a:p>
            <a:r>
              <a:rPr lang="en-US" dirty="0"/>
              <a:t>Random Policy – Selects servers randomly; useful in stateless, uniform environments</a:t>
            </a:r>
          </a:p>
          <a:p>
            <a:r>
              <a:rPr lang="en-US" dirty="0"/>
              <a:t>Weighted Distribution – Allocates requests based on server capacity (e.g., CPU power, memory)</a:t>
            </a:r>
          </a:p>
          <a:p>
            <a:r>
              <a:rPr lang="en-US" b="1" i="1" dirty="0"/>
              <a:t>… Tradeoffs?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C954F6-3ED6-D2AE-8933-2BC4EA82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 strategies</a:t>
            </a:r>
          </a:p>
        </p:txBody>
      </p:sp>
    </p:spTree>
    <p:extLst>
      <p:ext uri="{BB962C8B-B14F-4D97-AF65-F5344CB8AC3E}">
        <p14:creationId xmlns:p14="http://schemas.microsoft.com/office/powerpoint/2010/main" val="295073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43145A-6F73-C3C4-E348-1575F6BE8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Checks: Continuously verify server availability</a:t>
            </a:r>
          </a:p>
          <a:p>
            <a:r>
              <a:rPr lang="en-US" dirty="0"/>
              <a:t>Session Persistence (Sticky Sessions): Keep user sessions on the same server</a:t>
            </a:r>
          </a:p>
          <a:p>
            <a:r>
              <a:rPr lang="en-US" dirty="0"/>
              <a:t>Demo: on Friday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0ADE39-3D62-9651-5154-DBF6E34E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balancer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9519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Networking (already covered)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  <a:p>
            <a:r>
              <a:rPr lang="en-US" dirty="0"/>
              <a:t>Useful for packaging software versions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  <a:p>
            <a:r>
              <a:rPr lang="en-US" dirty="0"/>
              <a:t>Common choice</a:t>
            </a:r>
          </a:p>
          <a:p>
            <a:pPr lvl="1"/>
            <a:r>
              <a:rPr lang="en-US" dirty="0"/>
              <a:t>Per-tenant VM</a:t>
            </a:r>
          </a:p>
          <a:p>
            <a:pPr lvl="1"/>
            <a:r>
              <a:rPr lang="en-US" dirty="0"/>
              <a:t>Use containers inside VM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931DA2-A2C8-24FA-664C-C58E7065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cloud setup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E8ABAB-1A81-26C2-F534-02D76B3FF75D}"/>
              </a:ext>
            </a:extLst>
          </p:cNvPr>
          <p:cNvSpPr/>
          <p:nvPr/>
        </p:nvSpPr>
        <p:spPr>
          <a:xfrm>
            <a:off x="3379470" y="1554856"/>
            <a:ext cx="1725701" cy="2680669"/>
          </a:xfrm>
          <a:prstGeom prst="roundRect">
            <a:avLst/>
          </a:prstGeom>
          <a:solidFill>
            <a:schemeClr val="accent4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7E444F-7E43-AC6A-CE37-F8FCF47924EF}"/>
              </a:ext>
            </a:extLst>
          </p:cNvPr>
          <p:cNvGrpSpPr/>
          <p:nvPr/>
        </p:nvGrpSpPr>
        <p:grpSpPr>
          <a:xfrm>
            <a:off x="5310220" y="1551137"/>
            <a:ext cx="1702776" cy="2680669"/>
            <a:chOff x="8034856" y="1454270"/>
            <a:chExt cx="1702776" cy="2680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35E4CF0-01FE-D9E0-DCE5-9ACE4C5F7635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9B87D3D-0D13-81E3-FF00-F22B14894BC6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BC5100-9AFC-9C35-C5A1-6F1B39DD66EA}"/>
              </a:ext>
            </a:extLst>
          </p:cNvPr>
          <p:cNvGrpSpPr/>
          <p:nvPr/>
        </p:nvGrpSpPr>
        <p:grpSpPr>
          <a:xfrm>
            <a:off x="7135637" y="1551137"/>
            <a:ext cx="1713320" cy="2680669"/>
            <a:chOff x="9906000" y="1454271"/>
            <a:chExt cx="1713320" cy="268066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2A01C2D-4B30-8A1A-D0CE-7AC6DBC97A0D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0E29C49C-37C6-8889-F101-2EB204979F62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E2E01C-0907-C7FA-B519-E41046BD5C3C}"/>
              </a:ext>
            </a:extLst>
          </p:cNvPr>
          <p:cNvSpPr/>
          <p:nvPr/>
        </p:nvSpPr>
        <p:spPr>
          <a:xfrm>
            <a:off x="3303791" y="5068670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2CC45EC-9940-AA3D-0647-B196D9AA2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2795" y="5068670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F5AA015-51BE-1F8B-F567-12F28E2D31A1}"/>
              </a:ext>
            </a:extLst>
          </p:cNvPr>
          <p:cNvSpPr/>
          <p:nvPr/>
        </p:nvSpPr>
        <p:spPr>
          <a:xfrm>
            <a:off x="3296351" y="4368574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D4CC059-7875-B9DB-CD3C-E718F763FEE1}"/>
              </a:ext>
            </a:extLst>
          </p:cNvPr>
          <p:cNvGrpSpPr/>
          <p:nvPr/>
        </p:nvGrpSpPr>
        <p:grpSpPr>
          <a:xfrm>
            <a:off x="3158767" y="1411704"/>
            <a:ext cx="5875346" cy="4007413"/>
            <a:chOff x="5877903" y="1187326"/>
            <a:chExt cx="5875346" cy="334441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AB41B25-0909-E2D5-196E-199E60E8B141}"/>
                </a:ext>
              </a:extLst>
            </p:cNvPr>
            <p:cNvSpPr/>
            <p:nvPr/>
          </p:nvSpPr>
          <p:spPr>
            <a:xfrm>
              <a:off x="5877903" y="1187327"/>
              <a:ext cx="2034314" cy="3344416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265EB0-B28B-629A-3F3D-9D915DBC7D59}"/>
                </a:ext>
              </a:extLst>
            </p:cNvPr>
            <p:cNvSpPr/>
            <p:nvPr/>
          </p:nvSpPr>
          <p:spPr>
            <a:xfrm>
              <a:off x="7900039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F59F5C0-EB58-DBDE-772C-9C56F9E3E4DE}"/>
                </a:ext>
              </a:extLst>
            </p:cNvPr>
            <p:cNvSpPr/>
            <p:nvPr/>
          </p:nvSpPr>
          <p:spPr>
            <a:xfrm>
              <a:off x="9823020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AD4B587-EB3C-E043-68DC-4F9D019E78BB}"/>
              </a:ext>
            </a:extLst>
          </p:cNvPr>
          <p:cNvSpPr/>
          <p:nvPr/>
        </p:nvSpPr>
        <p:spPr>
          <a:xfrm>
            <a:off x="3453017" y="3482704"/>
            <a:ext cx="1532791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</a:t>
            </a:r>
            <a:b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5.11.1</a:t>
            </a:r>
            <a:endParaRPr lang="en-US" sz="105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4FFE422-D811-29D7-62B6-C8B19BE5150E}"/>
              </a:ext>
            </a:extLst>
          </p:cNvPr>
          <p:cNvSpPr/>
          <p:nvPr/>
        </p:nvSpPr>
        <p:spPr>
          <a:xfrm>
            <a:off x="3537284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FADD09-A788-9146-F586-FA17D7E83FEE}"/>
              </a:ext>
            </a:extLst>
          </p:cNvPr>
          <p:cNvSpPr/>
          <p:nvPr/>
        </p:nvSpPr>
        <p:spPr>
          <a:xfrm>
            <a:off x="3546457" y="245368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NodeJS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CBD5C7B-2E1E-0532-F6B3-F9933B542876}"/>
              </a:ext>
            </a:extLst>
          </p:cNvPr>
          <p:cNvSpPr/>
          <p:nvPr/>
        </p:nvSpPr>
        <p:spPr>
          <a:xfrm>
            <a:off x="5442526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A8E4806-D137-2372-3ACA-BD954AB88D66}"/>
              </a:ext>
            </a:extLst>
          </p:cNvPr>
          <p:cNvSpPr/>
          <p:nvPr/>
        </p:nvSpPr>
        <p:spPr>
          <a:xfrm>
            <a:off x="5425340" y="2453682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8406443-014F-AB75-5CEB-E011105E110E}"/>
              </a:ext>
            </a:extLst>
          </p:cNvPr>
          <p:cNvSpPr/>
          <p:nvPr/>
        </p:nvSpPr>
        <p:spPr>
          <a:xfrm>
            <a:off x="7228271" y="1646185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99D2630-7C13-F670-7C7E-8F435BA9949B}"/>
              </a:ext>
            </a:extLst>
          </p:cNvPr>
          <p:cNvSpPr/>
          <p:nvPr/>
        </p:nvSpPr>
        <p:spPr>
          <a:xfrm>
            <a:off x="7228271" y="2482516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B31BED-C42D-5A57-8ACD-8F041384D526}"/>
              </a:ext>
            </a:extLst>
          </p:cNvPr>
          <p:cNvSpPr txBox="1"/>
          <p:nvPr/>
        </p:nvSpPr>
        <p:spPr>
          <a:xfrm>
            <a:off x="3433798" y="898505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Tenant1 VM</a:t>
            </a:r>
            <a:endParaRPr lang="en-US" sz="1400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5C3DB4-63BB-F3C1-809F-6F609D4547CE}"/>
              </a:ext>
            </a:extLst>
          </p:cNvPr>
          <p:cNvSpPr txBox="1"/>
          <p:nvPr/>
        </p:nvSpPr>
        <p:spPr>
          <a:xfrm>
            <a:off x="5283969" y="886648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Tenant2 VM</a:t>
            </a:r>
            <a:endParaRPr lang="en-US" sz="1400" i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4906AE-63FB-AD12-82F8-81D269F827C5}"/>
              </a:ext>
            </a:extLst>
          </p:cNvPr>
          <p:cNvSpPr txBox="1"/>
          <p:nvPr/>
        </p:nvSpPr>
        <p:spPr>
          <a:xfrm>
            <a:off x="7186864" y="876443"/>
            <a:ext cx="21993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/>
              <a:t>Tenant3 VM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8502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72BD-B095-7F22-85BE-23BDAFBC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009A11-3B6C-B198-908B-90E3C4A4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demo</a:t>
            </a:r>
          </a:p>
        </p:txBody>
      </p:sp>
    </p:spTree>
    <p:extLst>
      <p:ext uri="{BB962C8B-B14F-4D97-AF65-F5344CB8AC3E}">
        <p14:creationId xmlns:p14="http://schemas.microsoft.com/office/powerpoint/2010/main" val="274125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105889-1EF2-F038-3649-365FD63BE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Match compute capacity to demand automatically.</a:t>
            </a:r>
          </a:p>
          <a:p>
            <a:r>
              <a:rPr lang="en-US" dirty="0"/>
              <a:t>Definition: Autoscaling adjusts the number of running virtual machines (VMs) based on metrics like CPU usage, memory, or request rate.</a:t>
            </a:r>
          </a:p>
          <a:p>
            <a:r>
              <a:rPr lang="en-US" dirty="0"/>
              <a:t>Why it matters:</a:t>
            </a:r>
          </a:p>
          <a:p>
            <a:pPr lvl="1"/>
            <a:r>
              <a:rPr lang="en-US" dirty="0"/>
              <a:t>Optimizes performance under varying load</a:t>
            </a:r>
          </a:p>
          <a:p>
            <a:pPr lvl="1"/>
            <a:r>
              <a:rPr lang="en-US" dirty="0"/>
              <a:t>Reduces costs by deallocating idle resources</a:t>
            </a:r>
          </a:p>
          <a:p>
            <a:pPr lvl="1"/>
            <a:r>
              <a:rPr lang="en-US" dirty="0"/>
              <a:t>Improves resilience and fault tolerance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0FC0E2-5717-8900-DD74-952F117B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3140702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BDDE2-95B4-C044-26E6-EF45B5CA7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  <a:p>
            <a:pPr lvl="1"/>
            <a:r>
              <a:rPr lang="en-US" dirty="0"/>
              <a:t>Monitoring &amp; Metrics: Tracks performance indicators (CPU, latency, queue length)</a:t>
            </a:r>
          </a:p>
          <a:p>
            <a:pPr lvl="1"/>
            <a:r>
              <a:rPr lang="en-US" dirty="0"/>
              <a:t>Scaling Policies: Rules define when to add or remove VMs (threshold-based, scheduled, or predictive)</a:t>
            </a:r>
          </a:p>
          <a:p>
            <a:pPr lvl="1"/>
            <a:r>
              <a:rPr lang="en-US" dirty="0"/>
              <a:t>Load Balancing: Distributes traffic evenly across instances</a:t>
            </a:r>
          </a:p>
          <a:p>
            <a:r>
              <a:rPr lang="en-US" dirty="0"/>
              <a:t>Lifecycle</a:t>
            </a:r>
          </a:p>
          <a:p>
            <a:pPr lvl="1"/>
            <a:r>
              <a:rPr lang="en-US" dirty="0"/>
              <a:t>Monitor → Trigger Policy → Provision/Terminate VM → Rebalance Traffic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06A3FD-1E99-795E-FAA3-761BDB15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Autoscaling Works</a:t>
            </a:r>
          </a:p>
        </p:txBody>
      </p:sp>
    </p:spTree>
    <p:extLst>
      <p:ext uri="{BB962C8B-B14F-4D97-AF65-F5344CB8AC3E}">
        <p14:creationId xmlns:p14="http://schemas.microsoft.com/office/powerpoint/2010/main" val="8713072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05B1C1-5892-5ED2-8A00-CCC602A7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 Providers</a:t>
            </a:r>
          </a:p>
          <a:p>
            <a:pPr lvl="1"/>
            <a:r>
              <a:rPr lang="en-US" dirty="0"/>
              <a:t>AWS Auto Scaling: Works with EC2 instances, supports target tracking (e.g., keep CPU at 60%)</a:t>
            </a:r>
          </a:p>
          <a:p>
            <a:pPr lvl="1"/>
            <a:r>
              <a:rPr lang="en-US" dirty="0"/>
              <a:t>Azure VM Scale Sets (VMSS): </a:t>
            </a:r>
            <a:r>
              <a:rPr lang="en-US" dirty="0" err="1"/>
              <a:t>Autoscale</a:t>
            </a:r>
            <a:r>
              <a:rPr lang="en-US" dirty="0"/>
              <a:t> based on custom metrics or schedules</a:t>
            </a:r>
          </a:p>
          <a:p>
            <a:pPr lvl="1"/>
            <a:r>
              <a:rPr lang="en-US" dirty="0"/>
              <a:t>Google Compute Engine </a:t>
            </a:r>
            <a:r>
              <a:rPr lang="en-US" dirty="0" err="1"/>
              <a:t>Autoscaler</a:t>
            </a:r>
            <a:r>
              <a:rPr lang="en-US" dirty="0"/>
              <a:t>: Integrates with </a:t>
            </a:r>
            <a:r>
              <a:rPr lang="en-US" dirty="0" err="1"/>
              <a:t>Stackdriver</a:t>
            </a:r>
            <a:r>
              <a:rPr lang="en-US" dirty="0"/>
              <a:t> metrics, supports predictive scaling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C0424-7146-6047-6C02-BF8DC44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Real-World Frameworks &amp; Services</a:t>
            </a:r>
          </a:p>
        </p:txBody>
      </p:sp>
    </p:spTree>
    <p:extLst>
      <p:ext uri="{BB962C8B-B14F-4D97-AF65-F5344CB8AC3E}">
        <p14:creationId xmlns:p14="http://schemas.microsoft.com/office/powerpoint/2010/main" val="5063599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F42F63-1929-D31C-176E-B5D30E1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 time for VM provisioning</a:t>
            </a:r>
          </a:p>
          <a:p>
            <a:r>
              <a:rPr lang="en-US" dirty="0"/>
              <a:t>Maintaining stateful workloads</a:t>
            </a:r>
          </a:p>
          <a:p>
            <a:r>
              <a:rPr lang="en-US" dirty="0"/>
              <a:t>Over-provisioning from poor metric tuning</a:t>
            </a:r>
          </a:p>
          <a:p>
            <a:r>
              <a:rPr lang="en-US" dirty="0"/>
              <a:t>How to shutdown?</a:t>
            </a:r>
          </a:p>
          <a:p>
            <a:pPr lvl="1"/>
            <a:r>
              <a:rPr lang="en-US" dirty="0"/>
              <a:t>Graceful shutdowns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08C138-6FAE-DA79-0F8B-593F9029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32007054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81A6B8-8DCD-3334-C739-D9C1CB1E0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C3ED-ECBB-F3D0-3D8D-1C17FEA9BF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813157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6440DF-666A-84FD-0C11-0AEDF49C0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 syllabus till what is covered in class till 10/27</a:t>
            </a:r>
          </a:p>
          <a:p>
            <a:r>
              <a:rPr lang="en-US" dirty="0"/>
              <a:t>On paper</a:t>
            </a:r>
          </a:p>
          <a:p>
            <a:r>
              <a:rPr lang="en-US" dirty="0"/>
              <a:t>Closed book</a:t>
            </a:r>
          </a:p>
          <a:p>
            <a:r>
              <a:rPr lang="en-US" dirty="0"/>
              <a:t>1 sided A4/US letter sheet of </a:t>
            </a:r>
            <a:r>
              <a:rPr lang="en-US" b="1" u="sng" dirty="0"/>
              <a:t>handwritten</a:t>
            </a:r>
            <a:r>
              <a:rPr lang="en-US" b="1" dirty="0"/>
              <a:t> </a:t>
            </a:r>
            <a:r>
              <a:rPr lang="en-US" dirty="0"/>
              <a:t>notes</a:t>
            </a:r>
          </a:p>
          <a:p>
            <a:r>
              <a:rPr lang="en-US" dirty="0"/>
              <a:t>3 questions – 2 sets of True/False, MCQ, short answer questions, and 1 design question</a:t>
            </a:r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C0F101-EC07-A1E3-7945-EBFE7DFF2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2347561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86C60-006B-E8A9-3C15-EE1C812D6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 dirty="0"/>
              <a:t>Spring Boot Demo</a:t>
            </a:r>
          </a:p>
          <a:p>
            <a:r>
              <a:rPr lang="en-US" dirty="0"/>
              <a:t>Continuous Integration</a:t>
            </a:r>
          </a:p>
          <a:p>
            <a:r>
              <a:rPr lang="en-US" dirty="0"/>
              <a:t>Autoscaling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89AB9E6-2D28-A812-F355-9573E6E89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76FEFE-7E78-D0F2-B8E4-1FE2101695ED}"/>
              </a:ext>
            </a:extLst>
          </p:cNvPr>
          <p:cNvCxnSpPr>
            <a:cxnSpLocks/>
          </p:cNvCxnSpPr>
          <p:nvPr/>
        </p:nvCxnSpPr>
        <p:spPr>
          <a:xfrm>
            <a:off x="0" y="20320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2068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302F19-3947-0FD3-9D67-AC1BF8CFD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https://docs.google.com/document/d/1Z9MUMv_GZ9PatPVSs_Mz4sK1u8f00drgCTtbRrpFbVs/edit?usp=sharing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91F0A-EDE2-D804-170D-D475CA16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</p:txBody>
      </p:sp>
    </p:spTree>
    <p:extLst>
      <p:ext uri="{BB962C8B-B14F-4D97-AF65-F5344CB8AC3E}">
        <p14:creationId xmlns:p14="http://schemas.microsoft.com/office/powerpoint/2010/main" val="4294964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/>
              <a:t>FaaS</a:t>
            </a:r>
            <a:r>
              <a:rPr lang="en-US" dirty="0"/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Single server</a:t>
            </a:r>
          </a:p>
          <a:p>
            <a:pPr>
              <a:lnSpc>
                <a:spcPct val="110000"/>
              </a:lnSpc>
            </a:pPr>
            <a:r>
              <a:rPr lang="en-US" sz="3200" b="1" i="1" dirty="0"/>
              <a:t>Large monolithic</a:t>
            </a:r>
            <a:r>
              <a:rPr lang="en-US" sz="3200" dirty="0"/>
              <a:t> application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849" y="18117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686959" y="4920796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415387" y="10124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 </a:t>
            </a:r>
            <a:r>
              <a:rPr lang="en-US" sz="1400" dirty="0"/>
              <a:t>(Not in syllabus)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01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788466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4074460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2233276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663331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1567156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7073970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535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93670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3573472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137696185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Quick recap – server-client architecture, web servers, application servers, microservices</a:t>
            </a:r>
          </a:p>
          <a:p>
            <a:r>
              <a:rPr lang="en-US" dirty="0"/>
              <a:t>Spring boot microservices</a:t>
            </a:r>
          </a:p>
          <a:p>
            <a:r>
              <a:rPr lang="en-US" dirty="0"/>
              <a:t>Spring boot microservices demo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>
                <a:solidFill>
                  <a:srgbClr val="B8B8B8"/>
                </a:solidFill>
              </a:rPr>
              <a:t>Design patterns</a:t>
            </a:r>
          </a:p>
          <a:p>
            <a:r>
              <a:rPr lang="en-US" dirty="0">
                <a:solidFill>
                  <a:srgbClr val="B8B8B8"/>
                </a:solidFill>
              </a:rPr>
              <a:t>Continuous deployment (during HW3 discussion)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4126524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523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804332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18554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6517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51733455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301529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6976380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05072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474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906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023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391364394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4922A3-938E-C166-C0AB-6BE9B70F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410AB-2C7A-61F4-3E26-747B241564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19173335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C9F03-1D2D-11EB-7CA6-A036BED6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D87E23-B024-7236-FB13-211436EF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AF86E-D240-EB54-6EA6-EC7C8BC9CC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6806081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FC991A-62B5-336E-E666-39899A707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1AC20-6F44-0860-E512-F55E8E6CBC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Function-as-a-Service</a:t>
            </a:r>
          </a:p>
        </p:txBody>
      </p:sp>
    </p:spTree>
    <p:extLst>
      <p:ext uri="{BB962C8B-B14F-4D97-AF65-F5344CB8AC3E}">
        <p14:creationId xmlns:p14="http://schemas.microsoft.com/office/powerpoint/2010/main" val="35677465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383363153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91363672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14743597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35133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64210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7195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752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771990287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181558672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7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14412</TotalTime>
  <Words>6930</Words>
  <Application>Microsoft Office PowerPoint</Application>
  <PresentationFormat>Widescreen</PresentationFormat>
  <Paragraphs>1393</Paragraphs>
  <Slides>148</Slides>
  <Notes>49</Notes>
  <HiddenSlides>42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5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Load balancing strategies</vt:lpstr>
      <vt:lpstr>Load balancer considerations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Example cloud setup</vt:lpstr>
      <vt:lpstr>Virtual machine demo</vt:lpstr>
      <vt:lpstr>Autoscaling</vt:lpstr>
      <vt:lpstr>How Autoscaling Works</vt:lpstr>
      <vt:lpstr>Real-World Frameworks &amp; Services</vt:lpstr>
      <vt:lpstr>Challenges</vt:lpstr>
      <vt:lpstr>PowerPoint Presentation</vt:lpstr>
      <vt:lpstr>Announcements</vt:lpstr>
      <vt:lpstr>Agenda</vt:lpstr>
      <vt:lpstr>Sample midterm question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Pros and cons</vt:lpstr>
      <vt:lpstr>Client-server architecture examples</vt:lpstr>
      <vt:lpstr>Application servers (Not in syllabus)</vt:lpstr>
      <vt:lpstr>Java servlet (Not in syllabus)</vt:lpstr>
      <vt:lpstr>Servlet example (Not in syllabus)</vt:lpstr>
      <vt:lpstr>Servlet example (Not in syllabus)</vt:lpstr>
      <vt:lpstr>Servlet example (Not in syllabus)</vt:lpstr>
      <vt:lpstr>Key points (Not in syllabus)</vt:lpstr>
      <vt:lpstr>Client server architecture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Recap – web servers, application servers</vt:lpstr>
      <vt:lpstr>Recap – web servers, application servers</vt:lpstr>
      <vt:lpstr>Recall: what are microservices?</vt:lpstr>
      <vt:lpstr>Recall: what are microservices?</vt:lpstr>
      <vt:lpstr>Pros and cons</vt:lpstr>
      <vt:lpstr>What all do you need to launch a microservice?</vt:lpstr>
      <vt:lpstr>Spring Boot Overview</vt:lpstr>
      <vt:lpstr>Setting up a Spring Boot application</vt:lpstr>
      <vt:lpstr>RESTful microservices</vt:lpstr>
      <vt:lpstr>Abstractions</vt:lpstr>
      <vt:lpstr>Pipeline architecture</vt:lpstr>
      <vt:lpstr>Key characteristics</vt:lpstr>
      <vt:lpstr>Data processing pipeline</vt:lpstr>
      <vt:lpstr>Compiler pipeline</vt:lpstr>
      <vt:lpstr>Pros and cons</vt:lpstr>
      <vt:lpstr>PowerPoint Presentation</vt:lpstr>
      <vt:lpstr>Agenda</vt:lpstr>
      <vt:lpstr>Recap – server client architecture</vt:lpstr>
      <vt:lpstr>HTTP GET and POST request</vt:lpstr>
      <vt:lpstr>HTTP GET and POST request</vt:lpstr>
      <vt:lpstr>Microservices at Uber (2019)</vt:lpstr>
      <vt:lpstr>Communication</vt:lpstr>
      <vt:lpstr>Remote procedure call (RPC)</vt:lpstr>
      <vt:lpstr>RPC key features</vt:lpstr>
      <vt:lpstr>RPC formats</vt:lpstr>
      <vt:lpstr>JSON and REST APIs</vt:lpstr>
      <vt:lpstr>Spring Boot Overview</vt:lpstr>
      <vt:lpstr>Setting up a Spring Boot application</vt:lpstr>
      <vt:lpstr>RESTful microservices with Spring Boot</vt:lpstr>
      <vt:lpstr>Servlet recap</vt:lpstr>
      <vt:lpstr>Spring Boot Framework</vt:lpstr>
      <vt:lpstr>Spring Boot demo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PowerPoint Presentation</vt:lpstr>
      <vt:lpstr>PowerPoint Presentation</vt:lpstr>
      <vt:lpstr>PowerPoint Presentation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1334</cp:revision>
  <dcterms:created xsi:type="dcterms:W3CDTF">2019-06-30T03:25:06Z</dcterms:created>
  <dcterms:modified xsi:type="dcterms:W3CDTF">2025-10-29T18:49:46Z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