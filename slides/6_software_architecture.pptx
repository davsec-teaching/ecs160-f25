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7"/>
  </p:notesMasterIdLst>
  <p:handoutMasterIdLst>
    <p:handoutMasterId r:id="rId168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431" r:id="rId20"/>
    <p:sldId id="432" r:id="rId21"/>
    <p:sldId id="288" r:id="rId22"/>
    <p:sldId id="289" r:id="rId23"/>
    <p:sldId id="323" r:id="rId24"/>
    <p:sldId id="305" r:id="rId25"/>
    <p:sldId id="329" r:id="rId26"/>
    <p:sldId id="324" r:id="rId27"/>
    <p:sldId id="325" r:id="rId28"/>
    <p:sldId id="326" r:id="rId29"/>
    <p:sldId id="343" r:id="rId30"/>
    <p:sldId id="328" r:id="rId31"/>
    <p:sldId id="344" r:id="rId32"/>
    <p:sldId id="327" r:id="rId33"/>
    <p:sldId id="342" r:id="rId34"/>
    <p:sldId id="345" r:id="rId35"/>
    <p:sldId id="430" r:id="rId36"/>
    <p:sldId id="425" r:id="rId37"/>
    <p:sldId id="426" r:id="rId38"/>
    <p:sldId id="427" r:id="rId39"/>
    <p:sldId id="428" r:id="rId40"/>
    <p:sldId id="429" r:id="rId41"/>
    <p:sldId id="436" r:id="rId42"/>
    <p:sldId id="442" r:id="rId43"/>
    <p:sldId id="437" r:id="rId44"/>
    <p:sldId id="441" r:id="rId45"/>
    <p:sldId id="341" r:id="rId46"/>
    <p:sldId id="258" r:id="rId47"/>
    <p:sldId id="359" r:id="rId48"/>
    <p:sldId id="360" r:id="rId49"/>
    <p:sldId id="262" r:id="rId50"/>
    <p:sldId id="356" r:id="rId51"/>
    <p:sldId id="264" r:id="rId52"/>
    <p:sldId id="263" r:id="rId53"/>
    <p:sldId id="370" r:id="rId54"/>
    <p:sldId id="394" r:id="rId55"/>
    <p:sldId id="395" r:id="rId56"/>
    <p:sldId id="398" r:id="rId57"/>
    <p:sldId id="396" r:id="rId58"/>
    <p:sldId id="399" r:id="rId59"/>
    <p:sldId id="400" r:id="rId60"/>
    <p:sldId id="272" r:id="rId61"/>
    <p:sldId id="274" r:id="rId62"/>
    <p:sldId id="273" r:id="rId63"/>
    <p:sldId id="438" r:id="rId64"/>
    <p:sldId id="439" r:id="rId65"/>
    <p:sldId id="276" r:id="rId66"/>
    <p:sldId id="275" r:id="rId67"/>
    <p:sldId id="284" r:id="rId68"/>
    <p:sldId id="285" r:id="rId69"/>
    <p:sldId id="410" r:id="rId70"/>
    <p:sldId id="411" r:id="rId71"/>
    <p:sldId id="402" r:id="rId72"/>
    <p:sldId id="424" r:id="rId73"/>
    <p:sldId id="417" r:id="rId74"/>
    <p:sldId id="407" r:id="rId75"/>
    <p:sldId id="443" r:id="rId76"/>
    <p:sldId id="401" r:id="rId77"/>
    <p:sldId id="449" r:id="rId78"/>
    <p:sldId id="455" r:id="rId79"/>
    <p:sldId id="456" r:id="rId80"/>
    <p:sldId id="457" r:id="rId81"/>
    <p:sldId id="458" r:id="rId82"/>
    <p:sldId id="459" r:id="rId83"/>
    <p:sldId id="408" r:id="rId84"/>
    <p:sldId id="444" r:id="rId85"/>
    <p:sldId id="412" r:id="rId86"/>
    <p:sldId id="415" r:id="rId87"/>
    <p:sldId id="420" r:id="rId88"/>
    <p:sldId id="373" r:id="rId89"/>
    <p:sldId id="404" r:id="rId90"/>
    <p:sldId id="405" r:id="rId91"/>
    <p:sldId id="406" r:id="rId92"/>
    <p:sldId id="419" r:id="rId93"/>
    <p:sldId id="421" r:id="rId94"/>
    <p:sldId id="445" r:id="rId95"/>
    <p:sldId id="446" r:id="rId96"/>
    <p:sldId id="460" r:id="rId97"/>
    <p:sldId id="447" r:id="rId98"/>
    <p:sldId id="448" r:id="rId99"/>
    <p:sldId id="450" r:id="rId100"/>
    <p:sldId id="268" r:id="rId101"/>
    <p:sldId id="393" r:id="rId102"/>
    <p:sldId id="269" r:id="rId103"/>
    <p:sldId id="271" r:id="rId104"/>
    <p:sldId id="452" r:id="rId105"/>
    <p:sldId id="454" r:id="rId106"/>
    <p:sldId id="453" r:id="rId107"/>
    <p:sldId id="451" r:id="rId108"/>
    <p:sldId id="277" r:id="rId109"/>
    <p:sldId id="296" r:id="rId110"/>
    <p:sldId id="295" r:id="rId111"/>
    <p:sldId id="278" r:id="rId112"/>
    <p:sldId id="279" r:id="rId113"/>
    <p:sldId id="280" r:id="rId114"/>
    <p:sldId id="281" r:id="rId115"/>
    <p:sldId id="297" r:id="rId116"/>
    <p:sldId id="298" r:id="rId117"/>
    <p:sldId id="423" r:id="rId118"/>
    <p:sldId id="422" r:id="rId119"/>
    <p:sldId id="260" r:id="rId120"/>
    <p:sldId id="434" r:id="rId121"/>
    <p:sldId id="435" r:id="rId122"/>
    <p:sldId id="347" r:id="rId123"/>
    <p:sldId id="349" r:id="rId124"/>
    <p:sldId id="350" r:id="rId125"/>
    <p:sldId id="361" r:id="rId126"/>
    <p:sldId id="381" r:id="rId127"/>
    <p:sldId id="382" r:id="rId128"/>
    <p:sldId id="265" r:id="rId129"/>
    <p:sldId id="266" r:id="rId130"/>
    <p:sldId id="267" r:id="rId131"/>
    <p:sldId id="380" r:id="rId132"/>
    <p:sldId id="300" r:id="rId133"/>
    <p:sldId id="301" r:id="rId134"/>
    <p:sldId id="371" r:id="rId135"/>
    <p:sldId id="387" r:id="rId136"/>
    <p:sldId id="330" r:id="rId137"/>
    <p:sldId id="384" r:id="rId138"/>
    <p:sldId id="331" r:id="rId139"/>
    <p:sldId id="362" r:id="rId140"/>
    <p:sldId id="388" r:id="rId141"/>
    <p:sldId id="352" r:id="rId142"/>
    <p:sldId id="389" r:id="rId143"/>
    <p:sldId id="391" r:id="rId144"/>
    <p:sldId id="390" r:id="rId145"/>
    <p:sldId id="392" r:id="rId146"/>
    <p:sldId id="334" r:id="rId147"/>
    <p:sldId id="353" r:id="rId148"/>
    <p:sldId id="340" r:id="rId149"/>
    <p:sldId id="259" r:id="rId150"/>
    <p:sldId id="364" r:id="rId151"/>
    <p:sldId id="365" r:id="rId152"/>
    <p:sldId id="366" r:id="rId153"/>
    <p:sldId id="367" r:id="rId154"/>
    <p:sldId id="368" r:id="rId155"/>
    <p:sldId id="369" r:id="rId156"/>
    <p:sldId id="397" r:id="rId157"/>
    <p:sldId id="363" r:id="rId158"/>
    <p:sldId id="385" r:id="rId159"/>
    <p:sldId id="374" r:id="rId160"/>
    <p:sldId id="375" r:id="rId161"/>
    <p:sldId id="261" r:id="rId162"/>
    <p:sldId id="378" r:id="rId163"/>
    <p:sldId id="270" r:id="rId164"/>
    <p:sldId id="416" r:id="rId165"/>
    <p:sldId id="418" r:id="rId166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61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microsoft.com/office/2018/10/relationships/authors" Target="author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5865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6525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November 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November 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November 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November 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November 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Z9MUMv_GZ9PatPVSs_Mz4sK1u8f00drgCTtbRrpFbVs/edit?usp=sharing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6.png"/><Relationship Id="rId4" Type="http://schemas.openxmlformats.org/officeDocument/2006/relationships/image" Target="../media/image62.jpe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21.jpe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jpe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jpeg"/><Relationship Id="rId5" Type="http://schemas.openxmlformats.org/officeDocument/2006/relationships/image" Target="../media/image69.png"/><Relationship Id="rId4" Type="http://schemas.openxmlformats.org/officeDocument/2006/relationships/image" Target="../media/image68.jpeg"/><Relationship Id="rId9" Type="http://schemas.openxmlformats.org/officeDocument/2006/relationships/image" Target="../media/image73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24.jpe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24.jpe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6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skeleton code updated</a:t>
            </a:r>
          </a:p>
          <a:p>
            <a:r>
              <a:rPr lang="en-US" dirty="0"/>
              <a:t>Sample logging framework code added for reference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/>
              <a:t>Spring Boot 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150968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  <a:p>
            <a:r>
              <a:rPr lang="en-US" dirty="0"/>
              <a:t>Useful for packaging software versions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  <a:p>
            <a:r>
              <a:rPr lang="en-US" dirty="0"/>
              <a:t>Common choice</a:t>
            </a:r>
          </a:p>
          <a:p>
            <a:pPr lvl="1"/>
            <a:r>
              <a:rPr lang="en-US" dirty="0"/>
              <a:t>Per-tenant VM</a:t>
            </a:r>
          </a:p>
          <a:p>
            <a:pPr lvl="1"/>
            <a:r>
              <a:rPr lang="en-US" dirty="0"/>
              <a:t>Use containers inside VM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31DA2-A2C8-24FA-664C-C58E7065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cloud setup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E8ABAB-1A81-26C2-F534-02D76B3FF75D}"/>
              </a:ext>
            </a:extLst>
          </p:cNvPr>
          <p:cNvSpPr/>
          <p:nvPr/>
        </p:nvSpPr>
        <p:spPr>
          <a:xfrm>
            <a:off x="3379470" y="1554856"/>
            <a:ext cx="1725701" cy="2680669"/>
          </a:xfrm>
          <a:prstGeom prst="roundRect">
            <a:avLst/>
          </a:prstGeom>
          <a:solidFill>
            <a:schemeClr val="accent4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7E444F-7E43-AC6A-CE37-F8FCF47924EF}"/>
              </a:ext>
            </a:extLst>
          </p:cNvPr>
          <p:cNvGrpSpPr/>
          <p:nvPr/>
        </p:nvGrpSpPr>
        <p:grpSpPr>
          <a:xfrm>
            <a:off x="5310220" y="1551137"/>
            <a:ext cx="1702776" cy="2680669"/>
            <a:chOff x="8034856" y="1454270"/>
            <a:chExt cx="1702776" cy="2680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35E4CF0-01FE-D9E0-DCE5-9ACE4C5F7635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9B87D3D-0D13-81E3-FF00-F22B14894BC6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BC5100-9AFC-9C35-C5A1-6F1B39DD66EA}"/>
              </a:ext>
            </a:extLst>
          </p:cNvPr>
          <p:cNvGrpSpPr/>
          <p:nvPr/>
        </p:nvGrpSpPr>
        <p:grpSpPr>
          <a:xfrm>
            <a:off x="7135637" y="1551137"/>
            <a:ext cx="1713320" cy="2680669"/>
            <a:chOff x="9906000" y="1454271"/>
            <a:chExt cx="1713320" cy="268066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2A01C2D-4B30-8A1A-D0CE-7AC6DBC97A0D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E29C49C-37C6-8889-F101-2EB204979F62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E2E01C-0907-C7FA-B519-E41046BD5C3C}"/>
              </a:ext>
            </a:extLst>
          </p:cNvPr>
          <p:cNvSpPr/>
          <p:nvPr/>
        </p:nvSpPr>
        <p:spPr>
          <a:xfrm>
            <a:off x="3303791" y="5068670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2CC45EC-9940-AA3D-0647-B196D9AA2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2795" y="5068670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F5AA015-51BE-1F8B-F567-12F28E2D31A1}"/>
              </a:ext>
            </a:extLst>
          </p:cNvPr>
          <p:cNvSpPr/>
          <p:nvPr/>
        </p:nvSpPr>
        <p:spPr>
          <a:xfrm>
            <a:off x="3296351" y="4368574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D4CC059-7875-B9DB-CD3C-E718F763FEE1}"/>
              </a:ext>
            </a:extLst>
          </p:cNvPr>
          <p:cNvGrpSpPr/>
          <p:nvPr/>
        </p:nvGrpSpPr>
        <p:grpSpPr>
          <a:xfrm>
            <a:off x="3158767" y="1411704"/>
            <a:ext cx="5875346" cy="4007413"/>
            <a:chOff x="5877903" y="1187326"/>
            <a:chExt cx="5875346" cy="334441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AB41B25-0909-E2D5-196E-199E60E8B141}"/>
                </a:ext>
              </a:extLst>
            </p:cNvPr>
            <p:cNvSpPr/>
            <p:nvPr/>
          </p:nvSpPr>
          <p:spPr>
            <a:xfrm>
              <a:off x="5877903" y="1187327"/>
              <a:ext cx="2034314" cy="3344416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265EB0-B28B-629A-3F3D-9D915DBC7D59}"/>
                </a:ext>
              </a:extLst>
            </p:cNvPr>
            <p:cNvSpPr/>
            <p:nvPr/>
          </p:nvSpPr>
          <p:spPr>
            <a:xfrm>
              <a:off x="7900039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F59F5C0-EB58-DBDE-772C-9C56F9E3E4DE}"/>
                </a:ext>
              </a:extLst>
            </p:cNvPr>
            <p:cNvSpPr/>
            <p:nvPr/>
          </p:nvSpPr>
          <p:spPr>
            <a:xfrm>
              <a:off x="9823020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AD4B587-EB3C-E043-68DC-4F9D019E78BB}"/>
              </a:ext>
            </a:extLst>
          </p:cNvPr>
          <p:cNvSpPr/>
          <p:nvPr/>
        </p:nvSpPr>
        <p:spPr>
          <a:xfrm>
            <a:off x="3453017" y="3482704"/>
            <a:ext cx="1532791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</a:t>
            </a:r>
            <a:b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5.11.1</a:t>
            </a:r>
            <a:endParaRPr lang="en-US" sz="105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4FFE422-D811-29D7-62B6-C8B19BE5150E}"/>
              </a:ext>
            </a:extLst>
          </p:cNvPr>
          <p:cNvSpPr/>
          <p:nvPr/>
        </p:nvSpPr>
        <p:spPr>
          <a:xfrm>
            <a:off x="3537284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FADD09-A788-9146-F586-FA17D7E83FEE}"/>
              </a:ext>
            </a:extLst>
          </p:cNvPr>
          <p:cNvSpPr/>
          <p:nvPr/>
        </p:nvSpPr>
        <p:spPr>
          <a:xfrm>
            <a:off x="3546457" y="245368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NodeJS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CBD5C7B-2E1E-0532-F6B3-F9933B542876}"/>
              </a:ext>
            </a:extLst>
          </p:cNvPr>
          <p:cNvSpPr/>
          <p:nvPr/>
        </p:nvSpPr>
        <p:spPr>
          <a:xfrm>
            <a:off x="5442526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A8E4806-D137-2372-3ACA-BD954AB88D66}"/>
              </a:ext>
            </a:extLst>
          </p:cNvPr>
          <p:cNvSpPr/>
          <p:nvPr/>
        </p:nvSpPr>
        <p:spPr>
          <a:xfrm>
            <a:off x="5425340" y="2453682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8406443-014F-AB75-5CEB-E011105E110E}"/>
              </a:ext>
            </a:extLst>
          </p:cNvPr>
          <p:cNvSpPr/>
          <p:nvPr/>
        </p:nvSpPr>
        <p:spPr>
          <a:xfrm>
            <a:off x="7228271" y="1646185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99D2630-7C13-F670-7C7E-8F435BA9949B}"/>
              </a:ext>
            </a:extLst>
          </p:cNvPr>
          <p:cNvSpPr/>
          <p:nvPr/>
        </p:nvSpPr>
        <p:spPr>
          <a:xfrm>
            <a:off x="7228271" y="2482516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B31BED-C42D-5A57-8ACD-8F041384D526}"/>
              </a:ext>
            </a:extLst>
          </p:cNvPr>
          <p:cNvSpPr txBox="1"/>
          <p:nvPr/>
        </p:nvSpPr>
        <p:spPr>
          <a:xfrm>
            <a:off x="3433798" y="898505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Tenant1 VM</a:t>
            </a:r>
            <a:endParaRPr lang="en-US" sz="1400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C3DB4-63BB-F3C1-809F-6F609D4547CE}"/>
              </a:ext>
            </a:extLst>
          </p:cNvPr>
          <p:cNvSpPr txBox="1"/>
          <p:nvPr/>
        </p:nvSpPr>
        <p:spPr>
          <a:xfrm>
            <a:off x="5283969" y="886648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Tenant2 VM</a:t>
            </a:r>
            <a:endParaRPr lang="en-US" sz="1400" i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906AE-63FB-AD12-82F8-81D269F827C5}"/>
              </a:ext>
            </a:extLst>
          </p:cNvPr>
          <p:cNvSpPr txBox="1"/>
          <p:nvPr/>
        </p:nvSpPr>
        <p:spPr>
          <a:xfrm>
            <a:off x="7186864" y="876443"/>
            <a:ext cx="2199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/>
              <a:t>Tenant3 VM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8502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81A6B8-8DCD-3334-C739-D9C1CB1E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C3ED-ECBB-F3D0-3D8D-1C17FEA9BF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13157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6440DF-666A-84FD-0C11-0AEDF49C0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syllabus till what is covered in class till 10/27</a:t>
            </a:r>
          </a:p>
          <a:p>
            <a:r>
              <a:rPr lang="en-US" dirty="0"/>
              <a:t>On paper</a:t>
            </a:r>
          </a:p>
          <a:p>
            <a:r>
              <a:rPr lang="en-US" dirty="0"/>
              <a:t>Closed book</a:t>
            </a:r>
          </a:p>
          <a:p>
            <a:r>
              <a:rPr lang="en-US" dirty="0"/>
              <a:t>1 sided A4/US letter sheet of </a:t>
            </a:r>
            <a:r>
              <a:rPr lang="en-US" b="1" u="sng" dirty="0"/>
              <a:t>handwritten</a:t>
            </a:r>
            <a:r>
              <a:rPr lang="en-US" b="1" dirty="0"/>
              <a:t> </a:t>
            </a:r>
            <a:r>
              <a:rPr lang="en-US" dirty="0"/>
              <a:t>notes</a:t>
            </a:r>
          </a:p>
          <a:p>
            <a:r>
              <a:rPr lang="en-US" dirty="0"/>
              <a:t>3 questions – 2 sets of True/False, MCQ, short answer questions, and 1 design question</a:t>
            </a:r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C0F101-EC07-A1E3-7945-EBFE7DFF2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2347561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86C60-006B-E8A9-3C15-EE1C812D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 dirty="0"/>
              <a:t>Spring Boot Demo</a:t>
            </a:r>
          </a:p>
          <a:p>
            <a:r>
              <a:rPr lang="en-US" dirty="0"/>
              <a:t>Continuous Integration</a:t>
            </a:r>
          </a:p>
          <a:p>
            <a:r>
              <a:rPr lang="en-US" dirty="0"/>
              <a:t>Autoscaling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89AB9E6-2D28-A812-F355-9573E6E89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76FEFE-7E78-D0F2-B8E4-1FE2101695ED}"/>
              </a:ext>
            </a:extLst>
          </p:cNvPr>
          <p:cNvCxnSpPr>
            <a:cxnSpLocks/>
          </p:cNvCxnSpPr>
          <p:nvPr/>
        </p:nvCxnSpPr>
        <p:spPr>
          <a:xfrm>
            <a:off x="0" y="20320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2068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302F19-3947-0FD3-9D67-AC1BF8CF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https://docs.google.com/document/d/1Z9MUMv_GZ9PatPVSs_Mz4sK1u8f00drgCTtbRrpFbVs/edit?usp=sharing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91F0A-EDE2-D804-170D-D475CA16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</p:txBody>
      </p:sp>
    </p:spTree>
    <p:extLst>
      <p:ext uri="{BB962C8B-B14F-4D97-AF65-F5344CB8AC3E}">
        <p14:creationId xmlns:p14="http://schemas.microsoft.com/office/powerpoint/2010/main" val="4294964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 </a:t>
            </a:r>
            <a:r>
              <a:rPr lang="en-US" sz="1400" dirty="0"/>
              <a:t>(Not in syllabus)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01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788466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4074460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2233276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663331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77600058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E3D154-30ED-7FC6-A210-DB0C117FF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questions?</a:t>
            </a:r>
          </a:p>
          <a:p>
            <a:r>
              <a:rPr lang="en-US" dirty="0"/>
              <a:t>Quiz next week – on software architecture (will include what is taught today)</a:t>
            </a:r>
          </a:p>
          <a:p>
            <a:r>
              <a:rPr lang="en-US" dirty="0"/>
              <a:t>Please let me know if my audio drops!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E2BA33-B9F9-6065-CB35-761E763DD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60336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Sample midterm questions (short answers)</a:t>
            </a:r>
          </a:p>
          <a:p>
            <a:r>
              <a:rPr lang="en-US" dirty="0" err="1"/>
              <a:t>Javassist</a:t>
            </a:r>
            <a:r>
              <a:rPr lang="en-US" dirty="0"/>
              <a:t> dynamic proxy review</a:t>
            </a:r>
          </a:p>
          <a:p>
            <a:r>
              <a:rPr lang="en-US" dirty="0"/>
              <a:t>Quick recap – microservices</a:t>
            </a:r>
          </a:p>
          <a:p>
            <a:r>
              <a:rPr lang="en-US" dirty="0"/>
              <a:t>Spring boot microservices + demo</a:t>
            </a:r>
          </a:p>
          <a:p>
            <a:r>
              <a:rPr lang="en-US" dirty="0"/>
              <a:t>Continuous deployment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/>
              <a:t>Other architectural styles</a:t>
            </a:r>
          </a:p>
          <a:p>
            <a:r>
              <a:rPr lang="en-US" dirty="0"/>
              <a:t>Autoscaling, </a:t>
            </a:r>
            <a:r>
              <a:rPr lang="en-US" dirty="0" err="1"/>
              <a:t>FaaS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3889457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82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FC220-D761-968E-087D-979E22B8F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2C500B-EBAE-EBD0-8034-63A0B2918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7A472-EBBB-9971-01FA-211A0626F5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midterm questions</a:t>
            </a:r>
          </a:p>
        </p:txBody>
      </p:sp>
    </p:spTree>
    <p:extLst>
      <p:ext uri="{BB962C8B-B14F-4D97-AF65-F5344CB8AC3E}">
        <p14:creationId xmlns:p14="http://schemas.microsoft.com/office/powerpoint/2010/main" val="861517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A2D0B-9638-44E4-C252-1E0BF6208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5A1131-1307-C2BD-9953-F77A6F0DA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medium-sized Java project, a developer writes several methods such as </a:t>
            </a:r>
            <a:r>
              <a:rPr lang="en-US" dirty="0" err="1"/>
              <a:t>testAddUser</a:t>
            </a:r>
            <a:r>
              <a:rPr lang="en-US" dirty="0"/>
              <a:t>(), </a:t>
            </a:r>
            <a:r>
              <a:rPr lang="en-US" dirty="0" err="1"/>
              <a:t>testRemoveUser</a:t>
            </a:r>
            <a:r>
              <a:rPr lang="en-US" dirty="0"/>
              <a:t>(), and </a:t>
            </a:r>
            <a:r>
              <a:rPr lang="en-US" dirty="0" err="1"/>
              <a:t>testGetUser</a:t>
            </a:r>
            <a:r>
              <a:rPr lang="en-US" dirty="0"/>
              <a:t>() inside a Main class and invokes them manually to check correctness. Is this the correct approach? Why or why not?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2F9E50-0646-E549-BE7A-B79842F8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4505519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24D9E-1E3B-2A43-BC0F-BF85DB49B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6E186B-C857-18F9-8D49-333579E72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annotations can be declared with different retention policies: SOURCE, CLASS, and RUNTIME. Suppose you are designing a framework that automatically wires dependencies using @Inject annotations. Which retention policy must you choose, and why?</a:t>
            </a:r>
          </a:p>
          <a:p>
            <a:r>
              <a:rPr lang="en-US" dirty="0"/>
              <a:t>Are there any use-cases for the other retention policies?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88E67B-24FB-7685-C1B2-A164EAF4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37664867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5A70E-E66C-D1EE-49C5-B1566324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E40831-5E8E-E29A-C9BA-31357A5F0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it possible for a test that passes with mocks still fail when run against the real system? Why or why not?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98351B-D6FD-6866-28CD-779B0CC0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4146935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0ACB-A07E-BC49-9DD0-B6CE742E3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5C2036-3C75-A6BD-17C4-35D224987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one example in pseudocode of how reflection can cause runtime bugs. Explain how if the same code was implemented without reflection the </a:t>
            </a:r>
            <a:r>
              <a:rPr lang="en-US" b="1" dirty="0"/>
              <a:t>runtime </a:t>
            </a:r>
            <a:r>
              <a:rPr lang="en-US" dirty="0"/>
              <a:t>bug wouldn’t exist.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0DB628-2E14-3A5A-5766-91B012A8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2227897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8019F1C-4E31-ED64-335A-B7466D0F5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4742BB-842A-AC4D-56DE-90AC214E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dynamic proxy review</a:t>
            </a:r>
          </a:p>
        </p:txBody>
      </p:sp>
    </p:spTree>
    <p:extLst>
      <p:ext uri="{BB962C8B-B14F-4D97-AF65-F5344CB8AC3E}">
        <p14:creationId xmlns:p14="http://schemas.microsoft.com/office/powerpoint/2010/main" val="134455939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0777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B9C9-FB1D-EA1C-031B-1ED3565B0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ABD4C1-AA5E-A77C-702E-45BC7F7A0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38D1DD-14F3-896A-C99D-BF135F45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CD8F4A-E490-4559-EB4F-242CDF69C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6F5E01D-FC87-349F-BB93-25BB9EB44D6F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181471-FCC8-4862-6DBF-20406EFA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E07941-8450-EC04-7AF6-561B08B6CFC3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867D599-5A08-1165-E254-A24EA1BBD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E58094E-9BF8-BBE6-DD2D-9D72D3122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D684143-CABD-676F-B958-6FD29640D107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3C31E63-2F23-3630-E9A4-AB8E88481364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2BC64740-5422-B6C1-68C0-973F2FDC3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DA005D5C-7C9E-28CA-8047-5128F1A6E6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50E66B3-3F3D-78AE-DE3B-B4DBD620B6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0F2D8EB-0B34-E28E-14D5-AC3E9C0AFF3D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EFD277-E616-3307-065E-1B8FF4584AE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2481538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93200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8867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3685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25127844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91848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489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59450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7207082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D1091A-ACE7-73EA-D2AD-E2C89EB7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not have to convert annotated functions to servlets or launch Jetty/Tomcat instances</a:t>
            </a:r>
          </a:p>
          <a:p>
            <a:r>
              <a:rPr lang="en-US" dirty="0"/>
              <a:t>Okay to write an HTTP server and just map the URLs to the microservice methods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D5E124-844A-1CAB-C22A-5A36D908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 Microservice framework</a:t>
            </a:r>
          </a:p>
        </p:txBody>
      </p:sp>
    </p:spTree>
    <p:extLst>
      <p:ext uri="{BB962C8B-B14F-4D97-AF65-F5344CB8AC3E}">
        <p14:creationId xmlns:p14="http://schemas.microsoft.com/office/powerpoint/2010/main" val="19638819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D067BD-AD0B-F45A-77E1-50290F9F0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release of every code change that passes tests directly to production</a:t>
            </a:r>
          </a:p>
          <a:p>
            <a:r>
              <a:rPr lang="en-US" dirty="0"/>
              <a:t>Final stage of a modern CI/CD pipeline</a:t>
            </a:r>
          </a:p>
          <a:p>
            <a:r>
              <a:rPr lang="en-US" dirty="0"/>
              <a:t>Uses containers</a:t>
            </a:r>
          </a:p>
          <a:p>
            <a:r>
              <a:rPr lang="en-US" dirty="0"/>
              <a:t>GitHub Actions OR GitHub App Integration through cloud host</a:t>
            </a:r>
          </a:p>
          <a:p>
            <a:r>
              <a:rPr lang="en-US" dirty="0"/>
              <a:t>GitHub Apps can </a:t>
            </a:r>
            <a:r>
              <a:rPr lang="en-US" b="1" i="1" dirty="0"/>
              <a:t>extend the functionality </a:t>
            </a:r>
            <a:r>
              <a:rPr lang="en-US" dirty="0"/>
              <a:t>of GitHub itself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6281B7-F567-CC6A-3284-23F1B6C04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339147687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B3FEA1-1BBA-E996-FC9D-E740DB334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host integration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68C5B82-BB58-85AC-7182-7DA304D914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Every push to the repo must automatically deploy to the cloud</a:t>
            </a:r>
          </a:p>
          <a:p>
            <a:r>
              <a:rPr lang="en-US" dirty="0"/>
              <a:t>How to deploy?</a:t>
            </a:r>
          </a:p>
          <a:p>
            <a:pPr lvl="1"/>
            <a:r>
              <a:rPr lang="en-US" dirty="0"/>
              <a:t>Provide a </a:t>
            </a:r>
            <a:r>
              <a:rPr lang="en-US" dirty="0" err="1"/>
              <a:t>Dockerfile</a:t>
            </a:r>
            <a:r>
              <a:rPr lang="en-US" dirty="0"/>
              <a:t> that packages and launches the software</a:t>
            </a:r>
          </a:p>
          <a:p>
            <a:r>
              <a:rPr lang="en-US" dirty="0"/>
              <a:t>How to detect new commit pushes?</a:t>
            </a:r>
          </a:p>
          <a:p>
            <a:pPr lvl="1"/>
            <a:r>
              <a:rPr lang="en-US" dirty="0"/>
              <a:t>GitHub Actions</a:t>
            </a:r>
          </a:p>
          <a:p>
            <a:pPr lvl="1"/>
            <a:r>
              <a:rPr lang="en-US" dirty="0"/>
              <a:t>GitHub Apps provided by the Cloud Host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BA887-7CAE-4F82-B42E-6B6D7FBD2349}"/>
              </a:ext>
            </a:extLst>
          </p:cNvPr>
          <p:cNvSpPr/>
          <p:nvPr/>
        </p:nvSpPr>
        <p:spPr>
          <a:xfrm>
            <a:off x="6176512" y="2434390"/>
            <a:ext cx="1636295" cy="9946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 Repo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60598-606B-0042-9C93-6F6D9EB7F648}"/>
              </a:ext>
            </a:extLst>
          </p:cNvPr>
          <p:cNvSpPr/>
          <p:nvPr/>
        </p:nvSpPr>
        <p:spPr>
          <a:xfrm>
            <a:off x="9767752" y="1904331"/>
            <a:ext cx="1636295" cy="20453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 Host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(AWS, </a:t>
            </a:r>
            <a:r>
              <a:rPr lang="en-US" dirty="0" err="1">
                <a:solidFill>
                  <a:schemeClr val="tx1"/>
                </a:solidFill>
              </a:rPr>
              <a:t>DigitalOcean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linode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1026" name="Picture 2" descr="GitHub Logo and symbol, meaning, history, PNG, brand">
            <a:extLst>
              <a:ext uri="{FF2B5EF4-FFF2-40B4-BE49-F238E27FC236}">
                <a16:creationId xmlns:a16="http://schemas.microsoft.com/office/drawing/2014/main" id="{D5DAD8DD-E1B6-4334-AAEA-52DA03471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659" y="1513974"/>
            <a:ext cx="1636295" cy="920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4A5921-0E22-AEE1-4DC5-1E30B5690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3946" y="1140650"/>
            <a:ext cx="1815849" cy="113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342416-5920-1074-8CC8-50FC3B77A978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812807" y="2927015"/>
            <a:ext cx="1954945" cy="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6607BF-6C82-B3D1-B1F8-910DDF2BCE3F}"/>
              </a:ext>
            </a:extLst>
          </p:cNvPr>
          <p:cNvSpPr/>
          <p:nvPr/>
        </p:nvSpPr>
        <p:spPr>
          <a:xfrm>
            <a:off x="7812806" y="2692400"/>
            <a:ext cx="924793" cy="66240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GitHub App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6C4993-7D15-F41D-1731-E0AC9711A638}"/>
              </a:ext>
            </a:extLst>
          </p:cNvPr>
          <p:cNvSpPr txBox="1"/>
          <p:nvPr/>
        </p:nvSpPr>
        <p:spPr>
          <a:xfrm>
            <a:off x="8737599" y="2434390"/>
            <a:ext cx="82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deploy</a:t>
            </a:r>
          </a:p>
        </p:txBody>
      </p:sp>
    </p:spTree>
    <p:extLst>
      <p:ext uri="{BB962C8B-B14F-4D97-AF65-F5344CB8AC3E}">
        <p14:creationId xmlns:p14="http://schemas.microsoft.com/office/powerpoint/2010/main" val="1815770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8ED1A5F-BDBB-0F55-E41B-E0AD525ED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DigitalOcean</a:t>
            </a:r>
            <a:r>
              <a:rPr lang="en-US" dirty="0"/>
              <a:t> is a cloud provider, like AWS</a:t>
            </a:r>
          </a:p>
          <a:p>
            <a:pPr lvl="1"/>
            <a:r>
              <a:rPr lang="en-US" dirty="0"/>
              <a:t>Can launch VMs</a:t>
            </a:r>
          </a:p>
          <a:p>
            <a:r>
              <a:rPr lang="en-US" dirty="0"/>
              <a:t>Apps Platform</a:t>
            </a:r>
          </a:p>
          <a:p>
            <a:pPr lvl="1"/>
            <a:r>
              <a:rPr lang="en-US" dirty="0"/>
              <a:t>Managed service that automatically builds, deploys, and scales your apps</a:t>
            </a:r>
          </a:p>
          <a:p>
            <a:pPr lvl="1"/>
            <a:r>
              <a:rPr lang="en-US" dirty="0"/>
              <a:t>Directly from GitHub</a:t>
            </a:r>
          </a:p>
          <a:p>
            <a:r>
              <a:rPr lang="en-US" dirty="0"/>
              <a:t>Following steps similar across many platforms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6B7E56-2772-681A-E881-7E3706DE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</a:t>
            </a:r>
            <a:r>
              <a:rPr lang="en-US" dirty="0" err="1"/>
              <a:t>DigitalOcean</a:t>
            </a:r>
            <a:r>
              <a:rPr lang="en-US" dirty="0"/>
              <a:t> integration</a:t>
            </a:r>
          </a:p>
        </p:txBody>
      </p:sp>
    </p:spTree>
    <p:extLst>
      <p:ext uri="{BB962C8B-B14F-4D97-AF65-F5344CB8AC3E}">
        <p14:creationId xmlns:p14="http://schemas.microsoft.com/office/powerpoint/2010/main" val="152102095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A505B-B92D-3773-FF4C-961FD136C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--- Build stage ---</a:t>
            </a:r>
          </a:p>
          <a:p>
            <a:r>
              <a:rPr lang="en-US" dirty="0"/>
              <a:t>FROM maven:3.9.8-eclipse-temurin-21 AS build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pom.xml . # Copy pom.xml into the container</a:t>
            </a:r>
          </a:p>
          <a:p>
            <a:r>
              <a:rPr lang="en-US" dirty="0"/>
              <a:t>COPY </a:t>
            </a:r>
            <a:r>
              <a:rPr lang="en-US" dirty="0" err="1"/>
              <a:t>src</a:t>
            </a:r>
            <a:r>
              <a:rPr lang="en-US" dirty="0"/>
              <a:t> ./</a:t>
            </a:r>
            <a:r>
              <a:rPr lang="en-US" dirty="0" err="1"/>
              <a:t>src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/>
              <a:t>mvn</a:t>
            </a:r>
            <a:r>
              <a:rPr lang="en-US" dirty="0"/>
              <a:t> -q -</a:t>
            </a:r>
            <a:r>
              <a:rPr lang="en-US" dirty="0" err="1"/>
              <a:t>DskipTests</a:t>
            </a:r>
            <a:r>
              <a:rPr lang="en-US" dirty="0"/>
              <a:t> package # Build it!</a:t>
            </a:r>
          </a:p>
          <a:p>
            <a:endParaRPr lang="en-US" dirty="0"/>
          </a:p>
          <a:p>
            <a:r>
              <a:rPr lang="en-US" dirty="0"/>
              <a:t># --- Runtime stage ---</a:t>
            </a:r>
          </a:p>
          <a:p>
            <a:r>
              <a:rPr lang="en-US" dirty="0"/>
              <a:t>FROM eclipse-temurin:21-jre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--from=build /app/target/*.jar app.jar</a:t>
            </a:r>
          </a:p>
          <a:p>
            <a:r>
              <a:rPr lang="en-US" dirty="0"/>
              <a:t>CMD ["java", "-jar", "app.jar"]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60E959-0332-E6AA-BE36-22EA9ED20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 your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9001A-A9BB-2397-4EA7-7157B92539C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build on a base image</a:t>
            </a:r>
          </a:p>
          <a:p>
            <a:pPr lvl="1"/>
            <a:r>
              <a:rPr lang="en-US" dirty="0"/>
              <a:t>maven:3.9.8-eclipse-temurin-21</a:t>
            </a:r>
          </a:p>
          <a:p>
            <a:pPr lvl="1"/>
            <a:r>
              <a:rPr lang="en-US" sz="1050" dirty="0"/>
              <a:t>https://hub.docker.com/layers/library/maven/3.9.8-eclipse-temurin-21/images/sha256-d86bfd73fbfd7e9f0a9554ae23689bd46289f537df4a5aa368fdd1a8c25dd8d0?context=explore</a:t>
            </a:r>
            <a:endParaRPr lang="en-US" dirty="0"/>
          </a:p>
          <a:p>
            <a:pPr lvl="1"/>
            <a:r>
              <a:rPr lang="en-US" dirty="0"/>
              <a:t>eclipse-temurin:21-jre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20413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AE9180-2BC9-8D5E-C34E-A201D8C99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A3ADCBA-86C8-DB8A-DCBB-5109862DFA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architectural styles</a:t>
            </a:r>
          </a:p>
        </p:txBody>
      </p:sp>
    </p:spTree>
    <p:extLst>
      <p:ext uri="{BB962C8B-B14F-4D97-AF65-F5344CB8AC3E}">
        <p14:creationId xmlns:p14="http://schemas.microsoft.com/office/powerpoint/2010/main" val="19407486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D0CEE-2DBC-D9FF-4A35-9D1328EE3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applied to non-web applications</a:t>
            </a:r>
          </a:p>
          <a:p>
            <a:r>
              <a:rPr lang="en-US" dirty="0"/>
              <a:t>Divides an application into three parts: </a:t>
            </a:r>
            <a:r>
              <a:rPr lang="en-US" b="1" dirty="0"/>
              <a:t>Model</a:t>
            </a:r>
            <a:r>
              <a:rPr lang="en-US" dirty="0"/>
              <a:t>, </a:t>
            </a:r>
            <a:r>
              <a:rPr lang="en-US" b="1" dirty="0"/>
              <a:t>View</a:t>
            </a:r>
            <a:r>
              <a:rPr lang="en-US" dirty="0"/>
              <a:t>, and </a:t>
            </a:r>
            <a:r>
              <a:rPr lang="en-US" b="1" dirty="0"/>
              <a:t>Controller</a:t>
            </a:r>
          </a:p>
          <a:p>
            <a:pPr lvl="1"/>
            <a:r>
              <a:rPr lang="en-US" dirty="0"/>
              <a:t>Separate internal logic from the user interface</a:t>
            </a:r>
          </a:p>
          <a:p>
            <a:r>
              <a:rPr lang="en-US" dirty="0"/>
              <a:t>Model: Manages data</a:t>
            </a:r>
          </a:p>
          <a:p>
            <a:r>
              <a:rPr lang="en-US" dirty="0"/>
              <a:t>Controller</a:t>
            </a:r>
            <a:r>
              <a:rPr lang="en-US" b="1" dirty="0"/>
              <a:t>:</a:t>
            </a:r>
            <a:r>
              <a:rPr lang="en-US" dirty="0"/>
              <a:t> Handles input, updates the Model, and decides which View to show</a:t>
            </a:r>
          </a:p>
          <a:p>
            <a:r>
              <a:rPr lang="en-US" dirty="0"/>
              <a:t>View: Displays data to the user (HTML pages, templates, GUI)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F0E4FB-3A42-F9F8-3F2D-A11B746B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4525250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A12E7B-D898-9081-0D82-32BFC11FF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Java, different packages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com.ecs160.model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com.ecs160.controller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com.ecs160.view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066266-3354-229D-AC88-0A2E212D0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architecture</a:t>
            </a:r>
          </a:p>
        </p:txBody>
      </p: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0676DD46-F1B5-557C-B101-F36EA2C1C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807" y="2074789"/>
            <a:ext cx="3398459" cy="3738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BC3F23-F251-084A-FBC9-B18DFE7F33F4}"/>
              </a:ext>
            </a:extLst>
          </p:cNvPr>
          <p:cNvSpPr txBox="1"/>
          <p:nvPr/>
        </p:nvSpPr>
        <p:spPr>
          <a:xfrm>
            <a:off x="6277177" y="2892977"/>
            <a:ext cx="50004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https://en.wikipedia.org/wiki/Model%E2%80%93view%E2%80%93controller</a:t>
            </a:r>
          </a:p>
        </p:txBody>
      </p:sp>
    </p:spTree>
    <p:extLst>
      <p:ext uri="{BB962C8B-B14F-4D97-AF65-F5344CB8AC3E}">
        <p14:creationId xmlns:p14="http://schemas.microsoft.com/office/powerpoint/2010/main" val="30863423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C88985-A007-F02F-6BFF-5E66CE596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layer</a:t>
            </a:r>
          </a:p>
          <a:p>
            <a:pPr lvl="1"/>
            <a:r>
              <a:rPr lang="en-US" dirty="0"/>
              <a:t>Entities</a:t>
            </a:r>
            <a:r>
              <a:rPr lang="en-US" b="1" dirty="0"/>
              <a:t>:</a:t>
            </a:r>
            <a:r>
              <a:rPr lang="en-US" dirty="0"/>
              <a:t> User, Post, Comment, Like, Follow, Message, Notification</a:t>
            </a:r>
          </a:p>
          <a:p>
            <a:pPr lvl="1"/>
            <a:r>
              <a:rPr lang="en-US" dirty="0"/>
              <a:t>Services / Logic</a:t>
            </a:r>
          </a:p>
          <a:p>
            <a:pPr lvl="2"/>
            <a:r>
              <a:rPr lang="en-US" dirty="0" err="1"/>
              <a:t>FeedService</a:t>
            </a:r>
            <a:r>
              <a:rPr lang="en-US" dirty="0"/>
              <a:t>, </a:t>
            </a:r>
            <a:r>
              <a:rPr lang="en-US" dirty="0" err="1"/>
              <a:t>NotificationService</a:t>
            </a:r>
            <a:r>
              <a:rPr lang="en-US" dirty="0"/>
              <a:t>, and so on</a:t>
            </a:r>
          </a:p>
          <a:p>
            <a:r>
              <a:rPr lang="en-US" dirty="0"/>
              <a:t>View layer</a:t>
            </a:r>
          </a:p>
          <a:p>
            <a:pPr lvl="1"/>
            <a:r>
              <a:rPr lang="en-US" dirty="0"/>
              <a:t>Web frontend</a:t>
            </a:r>
          </a:p>
          <a:p>
            <a:pPr lvl="1"/>
            <a:r>
              <a:rPr lang="en-US" dirty="0"/>
              <a:t>Mobile app UI</a:t>
            </a:r>
          </a:p>
          <a:p>
            <a:pPr lvl="1"/>
            <a:r>
              <a:rPr lang="en-US" dirty="0"/>
              <a:t>Public API responses</a:t>
            </a:r>
          </a:p>
          <a:p>
            <a:r>
              <a:rPr lang="en-US" dirty="0"/>
              <a:t>Controller invokes the correct Model and returns the correct View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0077E4-53EF-E30C-2810-B100D1A49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MVC architecture for Social Media Platform</a:t>
            </a:r>
          </a:p>
        </p:txBody>
      </p:sp>
    </p:spTree>
    <p:extLst>
      <p:ext uri="{BB962C8B-B14F-4D97-AF65-F5344CB8AC3E}">
        <p14:creationId xmlns:p14="http://schemas.microsoft.com/office/powerpoint/2010/main" val="384077235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6DA5DD-0F5B-5CFD-3C65-B6F5DFF03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833C9-7656-CAA8-D77A-9B063E8D81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communication styles</a:t>
            </a:r>
          </a:p>
        </p:txBody>
      </p:sp>
    </p:spTree>
    <p:extLst>
      <p:ext uri="{BB962C8B-B14F-4D97-AF65-F5344CB8AC3E}">
        <p14:creationId xmlns:p14="http://schemas.microsoft.com/office/powerpoint/2010/main" val="16119130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C9F03-1D2D-11EB-7CA6-A036BED6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D87E23-B024-7236-FB13-211436EF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AF86E-D240-EB54-6EA6-EC7C8BC9CC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68060815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FC991A-62B5-336E-E666-39899A707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1AC20-6F44-0860-E512-F55E8E6CBC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Function-as-a-Service</a:t>
            </a:r>
          </a:p>
        </p:txBody>
      </p:sp>
    </p:spTree>
    <p:extLst>
      <p:ext uri="{BB962C8B-B14F-4D97-AF65-F5344CB8AC3E}">
        <p14:creationId xmlns:p14="http://schemas.microsoft.com/office/powerpoint/2010/main" val="35677465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351819057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180177058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21106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17060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94551422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63556904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196369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14864</TotalTime>
  <Words>7619</Words>
  <Application>Microsoft Office PowerPoint</Application>
  <PresentationFormat>Widescreen</PresentationFormat>
  <Paragraphs>1483</Paragraphs>
  <Slides>165</Slides>
  <Notes>50</Notes>
  <HiddenSlides>50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165</vt:i4>
      </vt:variant>
    </vt:vector>
  </HeadingPairs>
  <TitlesOfParts>
    <vt:vector size="172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Example cloud setup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Announcements</vt:lpstr>
      <vt:lpstr>Agenda</vt:lpstr>
      <vt:lpstr>Sample midterm question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 (Not in syllabus)</vt:lpstr>
      <vt:lpstr>Java servlet (Not in syllabus)</vt:lpstr>
      <vt:lpstr>Servlet example (Not in syllabus)</vt:lpstr>
      <vt:lpstr>Servlet example (Not in syllabus)</vt:lpstr>
      <vt:lpstr>Servlet example (Not in syllabus)</vt:lpstr>
      <vt:lpstr>Key points (Not in syllabus)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Recap – web servers, application servers</vt:lpstr>
      <vt:lpstr>Recap – web servers, application servers</vt:lpstr>
      <vt:lpstr>Recall: what are microservices?</vt:lpstr>
      <vt:lpstr>Recall: what are microservices?</vt:lpstr>
      <vt:lpstr>Pros and cons</vt:lpstr>
      <vt:lpstr>PowerPoint Presentation</vt:lpstr>
      <vt:lpstr>Announcements</vt:lpstr>
      <vt:lpstr>Agenda</vt:lpstr>
      <vt:lpstr>PowerPoint Presentation</vt:lpstr>
      <vt:lpstr>Questions</vt:lpstr>
      <vt:lpstr>Questions</vt:lpstr>
      <vt:lpstr>Questions</vt:lpstr>
      <vt:lpstr>Questions</vt:lpstr>
      <vt:lpstr>Javassist dynamic proxy review</vt:lpstr>
      <vt:lpstr>Recap – server client architecture</vt:lpstr>
      <vt:lpstr>Recall: what are microservices?</vt:lpstr>
      <vt:lpstr>HTTP GET and POST request</vt:lpstr>
      <vt:lpstr>HTTP GET and POST request</vt:lpstr>
      <vt:lpstr>Servlet recap</vt:lpstr>
      <vt:lpstr>What all do you need to launch a microservice?</vt:lpstr>
      <vt:lpstr>Spring Boot Overview</vt:lpstr>
      <vt:lpstr>Setting up a Spring Boot application</vt:lpstr>
      <vt:lpstr>RESTful microservices with Spring Boot</vt:lpstr>
      <vt:lpstr>Spring Boot Framework</vt:lpstr>
      <vt:lpstr>Spring Boot demo</vt:lpstr>
      <vt:lpstr>HW2 Microservice framework</vt:lpstr>
      <vt:lpstr>Continuous Deployment</vt:lpstr>
      <vt:lpstr>Cloud host integration</vt:lpstr>
      <vt:lpstr>Demo – DigitalOcean integration</vt:lpstr>
      <vt:lpstr>Containerize your app</vt:lpstr>
      <vt:lpstr>PowerPoint Presentation</vt:lpstr>
      <vt:lpstr>Pipeline architecture</vt:lpstr>
      <vt:lpstr>Key characteristics</vt:lpstr>
      <vt:lpstr>Data processing pipeline</vt:lpstr>
      <vt:lpstr>Compiler pipeline</vt:lpstr>
      <vt:lpstr>Model-View-Controller (MVC) architecture</vt:lpstr>
      <vt:lpstr>MVC architecture</vt:lpstr>
      <vt:lpstr>MVC architecture for Social Media Platform</vt:lpstr>
      <vt:lpstr>PowerPoint Presentation</vt:lpstr>
      <vt:lpstr>Remote procedure call (RPC)</vt:lpstr>
      <vt:lpstr>RPC key features</vt:lpstr>
      <vt:lpstr>RPC formats</vt:lpstr>
      <vt:lpstr>JSON and REST APIs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PowerPoint Presentation</vt:lpstr>
      <vt:lpstr>PowerPoint Presentation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  <vt:lpstr>Spring Boot Overview</vt:lpstr>
      <vt:lpstr>Setting up a Spring Boot application</vt:lpstr>
      <vt:lpstr>RESTful microservices</vt:lpstr>
      <vt:lpstr>Abstractions</vt:lpstr>
      <vt:lpstr>Pros and cons</vt:lpstr>
      <vt:lpstr>Microservices at Uber (2019)</vt:lpstr>
      <vt:lpstr>Communication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1414</cp:revision>
  <dcterms:created xsi:type="dcterms:W3CDTF">2019-06-30T03:25:06Z</dcterms:created>
  <dcterms:modified xsi:type="dcterms:W3CDTF">2025-11-04T23:17:30Z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