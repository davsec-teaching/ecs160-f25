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34"/>
  </p:notesMasterIdLst>
  <p:handoutMasterIdLst>
    <p:handoutMasterId r:id="rId135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288" r:id="rId20"/>
    <p:sldId id="289" r:id="rId21"/>
    <p:sldId id="323" r:id="rId22"/>
    <p:sldId id="305" r:id="rId23"/>
    <p:sldId id="329" r:id="rId24"/>
    <p:sldId id="324" r:id="rId25"/>
    <p:sldId id="325" r:id="rId26"/>
    <p:sldId id="326" r:id="rId27"/>
    <p:sldId id="343" r:id="rId28"/>
    <p:sldId id="328" r:id="rId29"/>
    <p:sldId id="344" r:id="rId30"/>
    <p:sldId id="327" r:id="rId31"/>
    <p:sldId id="342" r:id="rId32"/>
    <p:sldId id="345" r:id="rId33"/>
    <p:sldId id="341" r:id="rId34"/>
    <p:sldId id="258" r:id="rId35"/>
    <p:sldId id="359" r:id="rId36"/>
    <p:sldId id="360" r:id="rId37"/>
    <p:sldId id="262" r:id="rId38"/>
    <p:sldId id="356" r:id="rId39"/>
    <p:sldId id="259" r:id="rId40"/>
    <p:sldId id="364" r:id="rId41"/>
    <p:sldId id="365" r:id="rId42"/>
    <p:sldId id="366" r:id="rId43"/>
    <p:sldId id="367" r:id="rId44"/>
    <p:sldId id="368" r:id="rId45"/>
    <p:sldId id="369" r:id="rId46"/>
    <p:sldId id="397" r:id="rId47"/>
    <p:sldId id="363" r:id="rId48"/>
    <p:sldId id="385" r:id="rId49"/>
    <p:sldId id="264" r:id="rId50"/>
    <p:sldId id="263" r:id="rId51"/>
    <p:sldId id="370" r:id="rId52"/>
    <p:sldId id="394" r:id="rId53"/>
    <p:sldId id="395" r:id="rId54"/>
    <p:sldId id="398" r:id="rId55"/>
    <p:sldId id="396" r:id="rId56"/>
    <p:sldId id="399" r:id="rId57"/>
    <p:sldId id="400" r:id="rId58"/>
    <p:sldId id="272" r:id="rId59"/>
    <p:sldId id="274" r:id="rId60"/>
    <p:sldId id="273" r:id="rId61"/>
    <p:sldId id="276" r:id="rId62"/>
    <p:sldId id="275" r:id="rId63"/>
    <p:sldId id="284" r:id="rId64"/>
    <p:sldId id="285" r:id="rId65"/>
    <p:sldId id="373" r:id="rId66"/>
    <p:sldId id="374" r:id="rId67"/>
    <p:sldId id="375" r:id="rId68"/>
    <p:sldId id="261" r:id="rId69"/>
    <p:sldId id="378" r:id="rId70"/>
    <p:sldId id="268" r:id="rId71"/>
    <p:sldId id="393" r:id="rId72"/>
    <p:sldId id="269" r:id="rId73"/>
    <p:sldId id="271" r:id="rId74"/>
    <p:sldId id="270" r:id="rId75"/>
    <p:sldId id="376" r:id="rId76"/>
    <p:sldId id="407" r:id="rId77"/>
    <p:sldId id="401" r:id="rId78"/>
    <p:sldId id="408" r:id="rId79"/>
    <p:sldId id="410" r:id="rId80"/>
    <p:sldId id="411" r:id="rId81"/>
    <p:sldId id="412" r:id="rId82"/>
    <p:sldId id="415" r:id="rId83"/>
    <p:sldId id="402" r:id="rId84"/>
    <p:sldId id="424" r:id="rId85"/>
    <p:sldId id="416" r:id="rId86"/>
    <p:sldId id="417" r:id="rId87"/>
    <p:sldId id="418" r:id="rId88"/>
    <p:sldId id="277" r:id="rId89"/>
    <p:sldId id="296" r:id="rId90"/>
    <p:sldId id="295" r:id="rId91"/>
    <p:sldId id="278" r:id="rId92"/>
    <p:sldId id="404" r:id="rId93"/>
    <p:sldId id="405" r:id="rId94"/>
    <p:sldId id="406" r:id="rId95"/>
    <p:sldId id="420" r:id="rId96"/>
    <p:sldId id="419" r:id="rId97"/>
    <p:sldId id="421" r:id="rId98"/>
    <p:sldId id="279" r:id="rId99"/>
    <p:sldId id="280" r:id="rId100"/>
    <p:sldId id="281" r:id="rId101"/>
    <p:sldId id="297" r:id="rId102"/>
    <p:sldId id="298" r:id="rId103"/>
    <p:sldId id="423" r:id="rId104"/>
    <p:sldId id="422" r:id="rId105"/>
    <p:sldId id="260" r:id="rId106"/>
    <p:sldId id="347" r:id="rId107"/>
    <p:sldId id="349" r:id="rId108"/>
    <p:sldId id="350" r:id="rId109"/>
    <p:sldId id="361" r:id="rId110"/>
    <p:sldId id="381" r:id="rId111"/>
    <p:sldId id="382" r:id="rId112"/>
    <p:sldId id="265" r:id="rId113"/>
    <p:sldId id="266" r:id="rId114"/>
    <p:sldId id="267" r:id="rId115"/>
    <p:sldId id="380" r:id="rId116"/>
    <p:sldId id="300" r:id="rId117"/>
    <p:sldId id="301" r:id="rId118"/>
    <p:sldId id="371" r:id="rId119"/>
    <p:sldId id="387" r:id="rId120"/>
    <p:sldId id="330" r:id="rId121"/>
    <p:sldId id="384" r:id="rId122"/>
    <p:sldId id="331" r:id="rId123"/>
    <p:sldId id="362" r:id="rId124"/>
    <p:sldId id="388" r:id="rId125"/>
    <p:sldId id="352" r:id="rId126"/>
    <p:sldId id="389" r:id="rId127"/>
    <p:sldId id="391" r:id="rId128"/>
    <p:sldId id="390" r:id="rId129"/>
    <p:sldId id="392" r:id="rId130"/>
    <p:sldId id="334" r:id="rId131"/>
    <p:sldId id="353" r:id="rId132"/>
    <p:sldId id="340" r:id="rId133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notesMaster" Target="notesMasters/notesMaster1.xml"/><Relationship Id="rId139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5128537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1006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27751709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6513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jpeg"/><Relationship Id="rId4" Type="http://schemas.openxmlformats.org/officeDocument/2006/relationships/image" Target="../media/image26.jpe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jpe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4.png"/><Relationship Id="rId4" Type="http://schemas.openxmlformats.org/officeDocument/2006/relationships/image" Target="../media/image60.jpe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21.jpe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jpe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jpeg"/><Relationship Id="rId5" Type="http://schemas.openxmlformats.org/officeDocument/2006/relationships/image" Target="../media/image67.png"/><Relationship Id="rId4" Type="http://schemas.openxmlformats.org/officeDocument/2006/relationships/image" Target="../media/image66.jpeg"/><Relationship Id="rId9" Type="http://schemas.openxmlformats.org/officeDocument/2006/relationships/image" Target="../media/image7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24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24.jpe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4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4.png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Quiz on Friday</a:t>
            </a:r>
          </a:p>
          <a:p>
            <a:pPr lvl="1"/>
            <a:r>
              <a:rPr lang="en-US" dirty="0"/>
              <a:t>10 minutes</a:t>
            </a:r>
          </a:p>
          <a:p>
            <a:pPr lvl="1"/>
            <a:r>
              <a:rPr lang="en-US" dirty="0"/>
              <a:t>Will cover reflective programming </a:t>
            </a:r>
          </a:p>
          <a:p>
            <a:pPr lvl="2"/>
            <a:r>
              <a:rPr lang="en-US" dirty="0"/>
              <a:t>Reflection, annotations, and proxies</a:t>
            </a:r>
          </a:p>
          <a:p>
            <a:pPr lvl="1"/>
            <a:r>
              <a:rPr lang="en-US" dirty="0"/>
              <a:t>Will have MCQs and short answers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overview</a:t>
            </a:r>
          </a:p>
          <a:p>
            <a:r>
              <a:rPr lang="en-US" dirty="0"/>
              <a:t>Necessary background</a:t>
            </a:r>
          </a:p>
          <a:p>
            <a:r>
              <a:rPr lang="en-US" dirty="0"/>
              <a:t>HW2 discussion</a:t>
            </a:r>
          </a:p>
          <a:p>
            <a:r>
              <a:rPr lang="en-US" dirty="0"/>
              <a:t>HW1 feedback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152400" y="2907323"/>
            <a:ext cx="11805138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/>
              <a:t>Networking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  <a:p>
            <a:r>
              <a:rPr lang="en-US" dirty="0"/>
              <a:t>Approaches to improve container security and reduce VM overhead</a:t>
            </a:r>
          </a:p>
          <a:p>
            <a:pPr lvl="1"/>
            <a:r>
              <a:rPr lang="en-US" dirty="0"/>
              <a:t>Out of scope of syllabus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>
                <a:solidFill>
                  <a:srgbClr val="B8B8B8"/>
                </a:solidFill>
              </a:rPr>
              <a:t>FaaS</a:t>
            </a:r>
            <a:r>
              <a:rPr lang="en-US" dirty="0">
                <a:solidFill>
                  <a:srgbClr val="B8B8B8"/>
                </a:solidFill>
              </a:rPr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822426" y="4759569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550854" y="9108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23818591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38061171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055881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35572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2044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9869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8412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1569359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23261330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81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</a:t>
            </a:r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Automated deployment </a:t>
            </a:r>
          </a:p>
          <a:p>
            <a:r>
              <a:rPr lang="en-US" dirty="0"/>
              <a:t>E.g., pushing to the main branch in GitHub </a:t>
            </a:r>
            <a:r>
              <a:rPr lang="en-US"/>
              <a:t>triggers GitHub </a:t>
            </a:r>
            <a:r>
              <a:rPr lang="en-US" dirty="0"/>
              <a:t>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15671565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7073970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535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93670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3573472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86A6F3-43D4-0DA2-1096-E131A38DF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create a microservice that processes the social media posts</a:t>
            </a:r>
          </a:p>
          <a:p>
            <a:r>
              <a:rPr lang="en-US" dirty="0"/>
              <a:t>Spring Boot demo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17AE36C-2431-805C-EA52-9E2269A7F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HW3 – create a microservice</a:t>
            </a:r>
          </a:p>
        </p:txBody>
      </p:sp>
    </p:spTree>
    <p:extLst>
      <p:ext uri="{BB962C8B-B14F-4D97-AF65-F5344CB8AC3E}">
        <p14:creationId xmlns:p14="http://schemas.microsoft.com/office/powerpoint/2010/main" val="40278706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137696185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Quick recap – server-client architecture, web servers, application servers, microservices</a:t>
            </a:r>
          </a:p>
          <a:p>
            <a:r>
              <a:rPr lang="en-US" dirty="0"/>
              <a:t>Spring boot microservices</a:t>
            </a:r>
          </a:p>
          <a:p>
            <a:r>
              <a:rPr lang="en-US" dirty="0"/>
              <a:t>Spring boot microservices demo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>
                <a:solidFill>
                  <a:srgbClr val="B8B8B8"/>
                </a:solidFill>
              </a:rPr>
              <a:t>Design patterns</a:t>
            </a:r>
          </a:p>
          <a:p>
            <a:r>
              <a:rPr lang="en-US" dirty="0">
                <a:solidFill>
                  <a:srgbClr val="B8B8B8"/>
                </a:solidFill>
              </a:rPr>
              <a:t>Continuous deployment (during HW3 discussion)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4126524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5239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80433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75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794830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18554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6517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9380725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147966158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51733455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7692790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301529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69763800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05072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474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906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023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391364394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14012</TotalTime>
  <Words>6418</Words>
  <Application>Microsoft Office PowerPoint</Application>
  <PresentationFormat>Widescreen</PresentationFormat>
  <Paragraphs>1318</Paragraphs>
  <Slides>132</Slides>
  <Notes>48</Notes>
  <HiddenSlides>29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132</vt:i4>
      </vt:variant>
    </vt:vector>
  </HeadingPairs>
  <TitlesOfParts>
    <vt:vector size="139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  <vt:lpstr>Pros and cons</vt:lpstr>
      <vt:lpstr>Client-server architecture examples</vt:lpstr>
      <vt:lpstr>Application servers</vt:lpstr>
      <vt:lpstr>Java servlet</vt:lpstr>
      <vt:lpstr>Servlet example</vt:lpstr>
      <vt:lpstr>Servlet example</vt:lpstr>
      <vt:lpstr>Servlet example</vt:lpstr>
      <vt:lpstr>Key points</vt:lpstr>
      <vt:lpstr>Client server architecture</vt:lpstr>
      <vt:lpstr>Microservices</vt:lpstr>
      <vt:lpstr>Microservices overview</vt:lpstr>
      <vt:lpstr>Monolithic to microservices</vt:lpstr>
      <vt:lpstr>Continuous deployment using microservices</vt:lpstr>
      <vt:lpstr>Pros and cons</vt:lpstr>
      <vt:lpstr>Microservices at Uber (2019)</vt:lpstr>
      <vt:lpstr>Microservices at Amazon (2008)</vt:lpstr>
      <vt:lpstr>What all do you need to launch a microservice?</vt:lpstr>
      <vt:lpstr>Spring Boot Overview</vt:lpstr>
      <vt:lpstr>Setting up a Spring Boot application</vt:lpstr>
      <vt:lpstr>RESTful microservices</vt:lpstr>
      <vt:lpstr>Abstractions</vt:lpstr>
      <vt:lpstr>Pipeline architecture</vt:lpstr>
      <vt:lpstr>Key characteristics</vt:lpstr>
      <vt:lpstr>Data processing pipeline</vt:lpstr>
      <vt:lpstr>Compiler pipeline</vt:lpstr>
      <vt:lpstr>Pros and cons</vt:lpstr>
      <vt:lpstr>HW3 – create a microservice</vt:lpstr>
      <vt:lpstr>PowerPoint Presentation</vt:lpstr>
      <vt:lpstr>Agenda</vt:lpstr>
      <vt:lpstr>Recap – server client architecture</vt:lpstr>
      <vt:lpstr>Recap – web servers, application servers</vt:lpstr>
      <vt:lpstr>Recap – web servers, application servers</vt:lpstr>
      <vt:lpstr>HTTP GET and POST request</vt:lpstr>
      <vt:lpstr>HTTP GET and POST request</vt:lpstr>
      <vt:lpstr>Recall: what are microservices?</vt:lpstr>
      <vt:lpstr>Recall: what are microservices?</vt:lpstr>
      <vt:lpstr>Microservices at Uber (2019)</vt:lpstr>
      <vt:lpstr>Pros and cons</vt:lpstr>
      <vt:lpstr>Communication</vt:lpstr>
      <vt:lpstr>Remote procedure call (RPC)</vt:lpstr>
      <vt:lpstr>RPC key features</vt:lpstr>
      <vt:lpstr>RPC formats</vt:lpstr>
      <vt:lpstr>JSON and REST APIs</vt:lpstr>
      <vt:lpstr>Spring Boot Overview</vt:lpstr>
      <vt:lpstr>Setting up a Spring Boot application</vt:lpstr>
      <vt:lpstr>RESTful microservices with Spring Boot</vt:lpstr>
      <vt:lpstr>Servlet recap</vt:lpstr>
      <vt:lpstr>Spring Boot Framework</vt:lpstr>
      <vt:lpstr>Spring Boot demo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1274</cp:revision>
  <dcterms:created xsi:type="dcterms:W3CDTF">2019-06-30T03:25:06Z</dcterms:created>
  <dcterms:modified xsi:type="dcterms:W3CDTF">2025-10-22T05:15:17Z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