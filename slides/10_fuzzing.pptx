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48"/>
  </p:notesMasterIdLst>
  <p:handoutMasterIdLst>
    <p:handoutMasterId r:id="rId49"/>
  </p:handoutMasterIdLst>
  <p:sldIdLst>
    <p:sldId id="256" r:id="rId2"/>
    <p:sldId id="307" r:id="rId3"/>
    <p:sldId id="257" r:id="rId4"/>
    <p:sldId id="276" r:id="rId5"/>
    <p:sldId id="258" r:id="rId6"/>
    <p:sldId id="259" r:id="rId7"/>
    <p:sldId id="260" r:id="rId8"/>
    <p:sldId id="261" r:id="rId9"/>
    <p:sldId id="262" r:id="rId10"/>
    <p:sldId id="263" r:id="rId11"/>
    <p:sldId id="279" r:id="rId12"/>
    <p:sldId id="280" r:id="rId13"/>
    <p:sldId id="281" r:id="rId14"/>
    <p:sldId id="283" r:id="rId15"/>
    <p:sldId id="264" r:id="rId16"/>
    <p:sldId id="265" r:id="rId17"/>
    <p:sldId id="284" r:id="rId18"/>
    <p:sldId id="282" r:id="rId19"/>
    <p:sldId id="267" r:id="rId20"/>
    <p:sldId id="268" r:id="rId21"/>
    <p:sldId id="285" r:id="rId22"/>
    <p:sldId id="270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72" r:id="rId31"/>
    <p:sldId id="299" r:id="rId32"/>
    <p:sldId id="277" r:id="rId33"/>
    <p:sldId id="278" r:id="rId34"/>
    <p:sldId id="305" r:id="rId35"/>
    <p:sldId id="304" r:id="rId36"/>
    <p:sldId id="306" r:id="rId37"/>
    <p:sldId id="308" r:id="rId38"/>
    <p:sldId id="309" r:id="rId39"/>
    <p:sldId id="274" r:id="rId40"/>
    <p:sldId id="275" r:id="rId41"/>
    <p:sldId id="294" r:id="rId42"/>
    <p:sldId id="300" r:id="rId43"/>
    <p:sldId id="301" r:id="rId44"/>
    <p:sldId id="302" r:id="rId45"/>
    <p:sldId id="303" r:id="rId46"/>
    <p:sldId id="273" r:id="rId47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B2936"/>
    <a:srgbClr val="FFFFFF"/>
    <a:srgbClr val="0000FF"/>
    <a:srgbClr val="B9B9FF"/>
    <a:srgbClr val="003399"/>
    <a:srgbClr val="DDDDFF"/>
    <a:srgbClr val="E6E0EC"/>
    <a:srgbClr val="FFD5D5"/>
    <a:srgbClr val="00823B"/>
    <a:srgbClr val="FFB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77378" autoAdjust="0"/>
  </p:normalViewPr>
  <p:slideViewPr>
    <p:cSldViewPr snapToGrid="0">
      <p:cViewPr varScale="1">
        <p:scale>
          <a:sx n="119" d="100"/>
          <a:sy n="119" d="100"/>
        </p:scale>
        <p:origin x="43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These could be SQL commands</a:t>
            </a:r>
          </a:p>
        </p:txBody>
      </p:sp>
    </p:spTree>
    <p:extLst>
      <p:ext uri="{BB962C8B-B14F-4D97-AF65-F5344CB8AC3E}">
        <p14:creationId xmlns:p14="http://schemas.microsoft.com/office/powerpoint/2010/main" val="33217351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24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3123C-B24A-76F7-FF2B-EF3E151F7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7BD6EE-6745-2269-F38E-CAB4CE68E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4B4A9-46D9-87B2-48CE-E1D851C1EB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1454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871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21,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21,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November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Friday, November 21,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olframroesler/afl-demo" TargetMode="Externa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740E6C-C812-8F4B-9197-40807F0C81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Quiz on Friday on software security</a:t>
            </a:r>
          </a:p>
          <a:p>
            <a:r>
              <a:rPr lang="en-US" dirty="0"/>
              <a:t>HW2 questions?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CF4D433-FD79-936F-9FF8-FFB5B1668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627972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B7AC93-49AB-4289-7C62-B4109A5DE8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individual functions</a:t>
            </a:r>
          </a:p>
          <a:p>
            <a:r>
              <a:rPr lang="en-US" dirty="0"/>
              <a:t>Add assertions to check if post-conditions hold</a:t>
            </a:r>
          </a:p>
          <a:p>
            <a:r>
              <a:rPr lang="en-US" dirty="0"/>
              <a:t>Test corner-cases</a:t>
            </a:r>
          </a:p>
          <a:p>
            <a:r>
              <a:rPr lang="en-US" dirty="0"/>
              <a:t>Manually created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A2F5A5-3E27-BA4C-A159-65FD7E26E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unit testing?</a:t>
            </a:r>
          </a:p>
        </p:txBody>
      </p:sp>
    </p:spTree>
    <p:extLst>
      <p:ext uri="{BB962C8B-B14F-4D97-AF65-F5344CB8AC3E}">
        <p14:creationId xmlns:p14="http://schemas.microsoft.com/office/powerpoint/2010/main" val="1986636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5AF1CD-03D1-B61C-D23D-1A7F54EB9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end-to-end functionality</a:t>
            </a:r>
          </a:p>
          <a:p>
            <a:r>
              <a:rPr lang="en-US" dirty="0"/>
              <a:t>Manually created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DC5EDB-FB75-01EC-1763-CD5B5E094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service tests (integration tests)?</a:t>
            </a:r>
          </a:p>
        </p:txBody>
      </p:sp>
    </p:spTree>
    <p:extLst>
      <p:ext uri="{BB962C8B-B14F-4D97-AF65-F5344CB8AC3E}">
        <p14:creationId xmlns:p14="http://schemas.microsoft.com/office/powerpoint/2010/main" val="2065622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C9CAC-0E0C-D476-21AC-37ADE748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DF493-FD00-003C-F5F2-84C8FC8A4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Linux kernel</a:t>
            </a:r>
          </a:p>
          <a:p>
            <a:pPr lvl="1"/>
            <a:r>
              <a:rPr lang="en-US" dirty="0"/>
              <a:t>~30 million lines of code</a:t>
            </a:r>
          </a:p>
          <a:p>
            <a:r>
              <a:rPr lang="en-US" dirty="0"/>
              <a:t>Google’s chromium browser</a:t>
            </a:r>
          </a:p>
          <a:p>
            <a:pPr lvl="1"/>
            <a:r>
              <a:rPr lang="en-US" dirty="0"/>
              <a:t>~28 million lines of code</a:t>
            </a:r>
          </a:p>
          <a:p>
            <a:r>
              <a:rPr lang="en-US" dirty="0"/>
              <a:t>Hard to manually write test-cases to cover all this code</a:t>
            </a:r>
          </a:p>
          <a:p>
            <a:r>
              <a:rPr lang="en-US" b="1" i="1" dirty="0"/>
              <a:t>Need automation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2732DD3-18E7-4413-5BFB-043B55720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Hard to cover all code with manual testing</a:t>
            </a:r>
          </a:p>
        </p:txBody>
      </p:sp>
    </p:spTree>
    <p:extLst>
      <p:ext uri="{BB962C8B-B14F-4D97-AF65-F5344CB8AC3E}">
        <p14:creationId xmlns:p14="http://schemas.microsoft.com/office/powerpoint/2010/main" val="1394926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F266CF-D74E-FB3A-0045-8BC9B3D6FC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to find application inputs that reveal bugs</a:t>
            </a:r>
          </a:p>
          <a:p>
            <a:r>
              <a:rPr lang="en-US" dirty="0"/>
              <a:t>Test the entire application instead of individual functions</a:t>
            </a:r>
          </a:p>
          <a:p>
            <a:r>
              <a:rPr lang="en-US" dirty="0"/>
              <a:t>Generate inputs randomly until an error is uncovered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DA9AC9-3BCD-8C1D-E126-113DE4B9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</p:spTree>
    <p:extLst>
      <p:ext uri="{BB962C8B-B14F-4D97-AF65-F5344CB8AC3E}">
        <p14:creationId xmlns:p14="http://schemas.microsoft.com/office/powerpoint/2010/main" val="2391157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0A80F-F787-02A7-0F56-D1061D3B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A236491-1F5E-43D9-3B3D-E6ADD2897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7BCF4EC-C69C-D4C6-F8A7-5B7C4DDDFBCB}"/>
              </a:ext>
            </a:extLst>
          </p:cNvPr>
          <p:cNvSpPr/>
          <p:nvPr/>
        </p:nvSpPr>
        <p:spPr>
          <a:xfrm>
            <a:off x="1172308" y="2708031"/>
            <a:ext cx="2192215" cy="72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/dev/random</a:t>
            </a:r>
            <a:endParaRPr lang="en-US" sz="28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9A49DA-DA15-395B-5EF8-B05BB699B656}"/>
              </a:ext>
            </a:extLst>
          </p:cNvPr>
          <p:cNvSpPr/>
          <p:nvPr/>
        </p:nvSpPr>
        <p:spPr>
          <a:xfrm>
            <a:off x="5148825" y="2708031"/>
            <a:ext cx="2192215" cy="72096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application</a:t>
            </a:r>
            <a:endParaRPr lang="en-US" sz="28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38BA5F-1D1E-F04D-27D3-167B31968D22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3364523" y="3068516"/>
            <a:ext cx="178430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8026AC5-2A5B-3AA3-F0F9-5577CE7A09C5}"/>
              </a:ext>
            </a:extLst>
          </p:cNvPr>
          <p:cNvSpPr txBox="1"/>
          <p:nvPr/>
        </p:nvSpPr>
        <p:spPr>
          <a:xfrm>
            <a:off x="3717904" y="2483740"/>
            <a:ext cx="10775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input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896C380-81A1-A326-F033-AC52AA77F3A3}"/>
              </a:ext>
            </a:extLst>
          </p:cNvPr>
          <p:cNvCxnSpPr/>
          <p:nvPr/>
        </p:nvCxnSpPr>
        <p:spPr>
          <a:xfrm>
            <a:off x="7341040" y="3065585"/>
            <a:ext cx="178430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87AD22F-BAB5-5308-1EA0-861982795151}"/>
              </a:ext>
            </a:extLst>
          </p:cNvPr>
          <p:cNvSpPr txBox="1"/>
          <p:nvPr/>
        </p:nvSpPr>
        <p:spPr>
          <a:xfrm>
            <a:off x="7483709" y="2409783"/>
            <a:ext cx="14859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execute</a:t>
            </a:r>
          </a:p>
        </p:txBody>
      </p:sp>
      <p:pic>
        <p:nvPicPr>
          <p:cNvPr id="2050" name="Picture 2" descr="Bug Vector Art, Icons, and Graphics for Free Download">
            <a:extLst>
              <a:ext uri="{FF2B5EF4-FFF2-40B4-BE49-F238E27FC236}">
                <a16:creationId xmlns:a16="http://schemas.microsoft.com/office/drawing/2014/main" id="{7593ADCF-3CEE-86C5-96FD-EC83B4BA209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7337" y="2263616"/>
            <a:ext cx="1603937" cy="1603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64178DC8-9684-CA7F-C793-1B0E41D5A6D2}"/>
              </a:ext>
            </a:extLst>
          </p:cNvPr>
          <p:cNvCxnSpPr>
            <a:cxnSpLocks/>
            <a:stCxn id="6" idx="3"/>
            <a:endCxn id="3" idx="2"/>
          </p:cNvCxnSpPr>
          <p:nvPr/>
        </p:nvCxnSpPr>
        <p:spPr>
          <a:xfrm flipH="1">
            <a:off x="2268416" y="3068516"/>
            <a:ext cx="5072624" cy="360484"/>
          </a:xfrm>
          <a:prstGeom prst="bentConnector4">
            <a:avLst>
              <a:gd name="adj1" fmla="val -15138"/>
              <a:gd name="adj2" fmla="val 316261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14991EC-5314-E56E-82BD-A81D933CE5F4}"/>
              </a:ext>
            </a:extLst>
          </p:cNvPr>
          <p:cNvSpPr txBox="1"/>
          <p:nvPr/>
        </p:nvSpPr>
        <p:spPr>
          <a:xfrm>
            <a:off x="946885" y="1756354"/>
            <a:ext cx="33429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Source for random input on *nix systems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A0FBDF-B302-8A96-A57A-401A21E832D4}"/>
              </a:ext>
            </a:extLst>
          </p:cNvPr>
          <p:cNvSpPr txBox="1"/>
          <p:nvPr/>
        </p:nvSpPr>
        <p:spPr>
          <a:xfrm>
            <a:off x="2927684" y="4668253"/>
            <a:ext cx="31043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Black-box testing</a:t>
            </a:r>
          </a:p>
        </p:txBody>
      </p:sp>
    </p:spTree>
    <p:extLst>
      <p:ext uri="{BB962C8B-B14F-4D97-AF65-F5344CB8AC3E}">
        <p14:creationId xmlns:p14="http://schemas.microsoft.com/office/powerpoint/2010/main" val="3213064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64A43CB-256C-C1B8-FEAE-F10E3EF83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Incorrect argument validation, incorrect type casting</a:t>
            </a:r>
          </a:p>
          <a:p>
            <a:r>
              <a:rPr lang="en-US" dirty="0"/>
              <a:t>Buffer overflows, memory leak, div-by-zero, use-after-free, segmentation fault, and so on…</a:t>
            </a:r>
          </a:p>
          <a:p>
            <a:r>
              <a:rPr lang="en-US" dirty="0"/>
              <a:t>Logic errors through assertion failures</a:t>
            </a:r>
          </a:p>
          <a:p>
            <a:r>
              <a:rPr lang="en-US" b="1" i="1" dirty="0"/>
              <a:t>Applications written in any language can be fuzzed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BEFB97-AA84-4D09-4122-D285E09D9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bugs</a:t>
            </a:r>
          </a:p>
        </p:txBody>
      </p:sp>
    </p:spTree>
    <p:extLst>
      <p:ext uri="{BB962C8B-B14F-4D97-AF65-F5344CB8AC3E}">
        <p14:creationId xmlns:p14="http://schemas.microsoft.com/office/powerpoint/2010/main" val="86771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FBE93-664E-9DE5-4768-6C3DDE8B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08DB44-8255-2DB4-73DF-AA0EF75FA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Pros: generating random inputs is simple</a:t>
            </a:r>
          </a:p>
          <a:p>
            <a:r>
              <a:rPr lang="en-US" dirty="0"/>
              <a:t>Cons: random inputs are not good inputs</a:t>
            </a:r>
          </a:p>
          <a:p>
            <a:r>
              <a:rPr lang="en-US" dirty="0"/>
              <a:t>E.g., fuzzing a SQL database software</a:t>
            </a:r>
          </a:p>
          <a:p>
            <a:pPr lvl="1"/>
            <a:r>
              <a:rPr lang="en-US" dirty="0"/>
              <a:t>Real inputs: </a:t>
            </a:r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mytable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Random inputs: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aVkjW3txpLZ044zo5kLdUlsU2MtlLNkhwxI8Aew7c0KPfTS115i2rzfBlgod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database will reject such statements as invalid SQL and not execute the SQL command -&gt; the SQL code will not even be tested</a:t>
            </a:r>
          </a:p>
          <a:p>
            <a:pPr lvl="2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343C86-C735-01C6-18D8-A53CBF0D2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947802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8CBC4B-F214-100A-91BD-E9E13E945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with some known valid inputs called </a:t>
            </a:r>
            <a:r>
              <a:rPr lang="en-US" i="1" dirty="0"/>
              <a:t>“seeds”</a:t>
            </a:r>
          </a:p>
          <a:p>
            <a:r>
              <a:rPr lang="en-US" dirty="0"/>
              <a:t>Keep mutating them based on some “strategy”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D3D1A3-DE35-9A90-E285-94F7E794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</a:t>
            </a:r>
            <a:r>
              <a:rPr lang="en-US" dirty="0" err="1"/>
              <a:t>fuzzer</a:t>
            </a:r>
            <a:r>
              <a:rPr lang="en-US" dirty="0"/>
              <a:t> - generate inputs via mutation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A12D19A-D15A-A2ED-CDFB-ABDD5EAF45E5}"/>
              </a:ext>
            </a:extLst>
          </p:cNvPr>
          <p:cNvSpPr/>
          <p:nvPr/>
        </p:nvSpPr>
        <p:spPr>
          <a:xfrm>
            <a:off x="5169132" y="3226296"/>
            <a:ext cx="1426610" cy="72096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input’</a:t>
            </a:r>
            <a:endParaRPr lang="en-US" sz="28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B46B2D-2E13-1EFF-FC18-F81ABF0D4E03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 flipV="1">
            <a:off x="2366007" y="3590938"/>
            <a:ext cx="762828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3A831E-21C6-2E5E-A545-29978A18E01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595742" y="3586781"/>
            <a:ext cx="372701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9645E2-BBD5-3057-3440-CC5EC7130D23}"/>
              </a:ext>
            </a:extLst>
          </p:cNvPr>
          <p:cNvSpPr txBox="1"/>
          <p:nvPr/>
        </p:nvSpPr>
        <p:spPr>
          <a:xfrm>
            <a:off x="8539521" y="2719293"/>
            <a:ext cx="14859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execute</a:t>
            </a:r>
          </a:p>
        </p:txBody>
      </p:sp>
      <p:pic>
        <p:nvPicPr>
          <p:cNvPr id="12" name="Picture 2" descr="Bug Vector Art, Icons, and Graphics for Free Download">
            <a:extLst>
              <a:ext uri="{FF2B5EF4-FFF2-40B4-BE49-F238E27FC236}">
                <a16:creationId xmlns:a16="http://schemas.microsoft.com/office/drawing/2014/main" id="{1970E00B-667B-6F68-CCEA-0DD42C8366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7456" y="2796534"/>
            <a:ext cx="1603937" cy="1603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1DF5DC9A-2DB0-D57D-BE00-62C75478EFD4}"/>
              </a:ext>
            </a:extLst>
          </p:cNvPr>
          <p:cNvGrpSpPr/>
          <p:nvPr/>
        </p:nvGrpSpPr>
        <p:grpSpPr>
          <a:xfrm>
            <a:off x="616861" y="2739463"/>
            <a:ext cx="1749146" cy="1211960"/>
            <a:chOff x="1058859" y="2964386"/>
            <a:chExt cx="2543474" cy="1211960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852FB30-EBFF-ECA5-8BFA-8EA8DAF2CEF7}"/>
                </a:ext>
              </a:extLst>
            </p:cNvPr>
            <p:cNvSpPr/>
            <p:nvPr/>
          </p:nvSpPr>
          <p:spPr>
            <a:xfrm>
              <a:off x="1058859" y="2964386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D90F5A6-4776-B026-EE9F-7A0E11B73EE3}"/>
                </a:ext>
              </a:extLst>
            </p:cNvPr>
            <p:cNvSpPr/>
            <p:nvPr/>
          </p:nvSpPr>
          <p:spPr>
            <a:xfrm>
              <a:off x="1168337" y="3168507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4FD54A6-DF31-95C4-DDE7-352585BF6DEE}"/>
                </a:ext>
              </a:extLst>
            </p:cNvPr>
            <p:cNvSpPr/>
            <p:nvPr/>
          </p:nvSpPr>
          <p:spPr>
            <a:xfrm>
              <a:off x="1277815" y="3317631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6CAFABF-3FC5-7A6C-3ADB-9442C7DE7524}"/>
                </a:ext>
              </a:extLst>
            </p:cNvPr>
            <p:cNvSpPr/>
            <p:nvPr/>
          </p:nvSpPr>
          <p:spPr>
            <a:xfrm>
              <a:off x="1410118" y="3455377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24F13FD-814D-0237-7787-7EA681808594}"/>
              </a:ext>
            </a:extLst>
          </p:cNvPr>
          <p:cNvSpPr/>
          <p:nvPr/>
        </p:nvSpPr>
        <p:spPr>
          <a:xfrm>
            <a:off x="3128835" y="3230453"/>
            <a:ext cx="1506640" cy="720969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input</a:t>
            </a:r>
            <a:endParaRPr lang="en-US" sz="28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47AD3A9-E74E-9F8B-86B5-F57BC7CAD6F7}"/>
              </a:ext>
            </a:extLst>
          </p:cNvPr>
          <p:cNvCxnSpPr>
            <a:cxnSpLocks/>
            <a:stCxn id="17" idx="3"/>
            <a:endCxn id="7" idx="1"/>
          </p:cNvCxnSpPr>
          <p:nvPr/>
        </p:nvCxnSpPr>
        <p:spPr>
          <a:xfrm flipV="1">
            <a:off x="4635475" y="3586781"/>
            <a:ext cx="533657" cy="4157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710CD67-9A37-99F8-C577-89CAAC11B619}"/>
              </a:ext>
            </a:extLst>
          </p:cNvPr>
          <p:cNvSpPr txBox="1"/>
          <p:nvPr/>
        </p:nvSpPr>
        <p:spPr>
          <a:xfrm>
            <a:off x="2613035" y="4154632"/>
            <a:ext cx="255908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mytable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7862C4-D4D6-1C67-555B-BE51018AB056}"/>
              </a:ext>
            </a:extLst>
          </p:cNvPr>
          <p:cNvSpPr txBox="1"/>
          <p:nvPr/>
        </p:nvSpPr>
        <p:spPr>
          <a:xfrm>
            <a:off x="5016869" y="4176013"/>
            <a:ext cx="23591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Z</a:t>
            </a:r>
            <a:r>
              <a:rPr lang="en-US" dirty="0" err="1">
                <a:latin typeface="Consolas" panose="020B0609020204030204" pitchFamily="49" charset="0"/>
              </a:rPr>
              <a:t>tabl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  <a:endParaRPr lang="en-US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E1FEE090-A2C0-D3E3-2750-464E0A8ACADD}"/>
              </a:ext>
            </a:extLst>
          </p:cNvPr>
          <p:cNvSpPr/>
          <p:nvPr/>
        </p:nvSpPr>
        <p:spPr>
          <a:xfrm>
            <a:off x="6968443" y="3238018"/>
            <a:ext cx="1909716" cy="72096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application</a:t>
            </a:r>
            <a:endParaRPr lang="en-US" sz="28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5BC0C03-29E1-E4A6-0C77-37A372758CA3}"/>
              </a:ext>
            </a:extLst>
          </p:cNvPr>
          <p:cNvCxnSpPr>
            <a:cxnSpLocks/>
            <a:stCxn id="39" idx="3"/>
            <a:endCxn id="12" idx="1"/>
          </p:cNvCxnSpPr>
          <p:nvPr/>
        </p:nvCxnSpPr>
        <p:spPr>
          <a:xfrm>
            <a:off x="8878159" y="3598503"/>
            <a:ext cx="1349297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97F61D1A-32B5-6452-A0A0-4300B4F7B348}"/>
              </a:ext>
            </a:extLst>
          </p:cNvPr>
          <p:cNvGrpSpPr/>
          <p:nvPr/>
        </p:nvGrpSpPr>
        <p:grpSpPr>
          <a:xfrm>
            <a:off x="2351798" y="2236913"/>
            <a:ext cx="867545" cy="1148182"/>
            <a:chOff x="2351798" y="2236913"/>
            <a:chExt cx="867545" cy="114818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F035C5C-58C7-E1B7-2916-48F61E31997B}"/>
                </a:ext>
              </a:extLst>
            </p:cNvPr>
            <p:cNvSpPr txBox="1"/>
            <p:nvPr/>
          </p:nvSpPr>
          <p:spPr>
            <a:xfrm>
              <a:off x="2351798" y="28003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8C8C216-5C64-5F40-2097-084756518014}"/>
                </a:ext>
              </a:extLst>
            </p:cNvPr>
            <p:cNvSpPr/>
            <p:nvPr/>
          </p:nvSpPr>
          <p:spPr>
            <a:xfrm>
              <a:off x="2431511" y="2236913"/>
              <a:ext cx="631820" cy="580872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1</a:t>
              </a:r>
              <a:endParaRPr lang="en-US" sz="2400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E97B814-D6F4-9882-5713-E5F6AE186A73}"/>
              </a:ext>
            </a:extLst>
          </p:cNvPr>
          <p:cNvGrpSpPr/>
          <p:nvPr/>
        </p:nvGrpSpPr>
        <p:grpSpPr>
          <a:xfrm>
            <a:off x="4303565" y="2215485"/>
            <a:ext cx="1426609" cy="1092289"/>
            <a:chOff x="4303565" y="2215485"/>
            <a:chExt cx="1426609" cy="1092289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38624DA-EFF4-8772-BC84-4F59CF0B5B7B}"/>
                </a:ext>
              </a:extLst>
            </p:cNvPr>
            <p:cNvSpPr txBox="1"/>
            <p:nvPr/>
          </p:nvSpPr>
          <p:spPr>
            <a:xfrm>
              <a:off x="4303565" y="27229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713EE3-300B-82CD-7ECA-782117D0130C}"/>
                </a:ext>
              </a:extLst>
            </p:cNvPr>
            <p:cNvSpPr/>
            <p:nvPr/>
          </p:nvSpPr>
          <p:spPr>
            <a:xfrm>
              <a:off x="4586393" y="2215485"/>
              <a:ext cx="631820" cy="580872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2</a:t>
              </a:r>
              <a:endParaRPr lang="en-US" sz="2400" dirty="0"/>
            </a:p>
          </p:txBody>
        </p:sp>
      </p:grp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14901CF0-5A96-EE86-5C7C-8AF8153ABBC2}"/>
              </a:ext>
            </a:extLst>
          </p:cNvPr>
          <p:cNvCxnSpPr>
            <a:cxnSpLocks/>
            <a:endCxn id="15" idx="2"/>
          </p:cNvCxnSpPr>
          <p:nvPr/>
        </p:nvCxnSpPr>
        <p:spPr>
          <a:xfrm rot="10800000" flipV="1">
            <a:off x="1612215" y="3609555"/>
            <a:ext cx="7966750" cy="341867"/>
          </a:xfrm>
          <a:prstGeom prst="bentConnector4">
            <a:avLst>
              <a:gd name="adj1" fmla="val -348"/>
              <a:gd name="adj2" fmla="val 561219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C1BFD9D-C2AE-552F-25E4-3C40253AC45F}"/>
              </a:ext>
            </a:extLst>
          </p:cNvPr>
          <p:cNvSpPr/>
          <p:nvPr/>
        </p:nvSpPr>
        <p:spPr>
          <a:xfrm>
            <a:off x="3903785" y="1992923"/>
            <a:ext cx="2124905" cy="1436077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35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35926-0E03-A3BC-F98A-AD68A3EB5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B16B5-E877-084C-9E26-65ECAAE83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E70A6D-E5F6-1555-8409-16315E38C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2B37001-0FA7-C43A-5FD8-9EB734A03A6D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6E585B4-B8F1-84AB-8702-75341978FB94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7E537C3-35DB-F840-5FE4-23B95F0ADB2C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C3D55B8C-7D5B-B15B-5A6C-1F725094BBF8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A382D595-D2F7-4BAB-52E7-2CCABB216486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C73BCE62-FF4D-8AF7-B616-F898414420D7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3109FB87-430D-CC89-A4BE-4DBA925BB23C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06F152AB-EBE0-D654-E96C-785CC7B22369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AB69529-45F3-33E2-4205-8DAAC83BFB3F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9B21B84B-7955-D49F-8CDB-68EFD9854D70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19D139D-C475-405D-9205-281CEF17E5E1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C298679-8E2C-A05F-E5DE-CE0EA21F31FE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5AED589-F07A-3445-96B8-A35381050AD6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B88E6AE9-8966-B4FD-4945-94169C11DAD5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DF5956D-732B-8B1F-B569-4F340764455A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72335DD-ECC8-B42B-4DE5-B8E8A5C36919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24E67C0F-CF81-0643-2EF4-1EF510C873E1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DC767B80-36C4-AEBA-4DE4-0129C00FF940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A0C03DE-3315-478A-C6B6-47C4C84154E8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AA78C12-4510-6C4A-287A-F3E4C9612F71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E3DF751-F6CC-523B-9DEA-BFC7BE62F180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6FCA304-31C2-135B-2CD7-90B5FE0481EB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0CCCB89-9CA7-65F2-C313-326744B2A22B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5149E3E-A6A9-A6ED-C675-5793C83D6233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153DC5B-B4C7-933A-958C-E01BCC160F59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B2B1B3A-55F2-DCE9-32DE-A9F256AEBF4E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2221335-AEE2-1B9E-E40B-11FBBBA8F663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E310535-FEF5-BAE4-8DA2-58FE02B6AE63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4557114-7757-1630-B140-11EB3B1F40EE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BC2FE3C9-78AE-AEC0-F804-21CB65AFCB44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125EA66-01F2-2084-6079-5B69287CD327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99C0EE6A-7012-8E4A-8184-5ABDD41D8986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E61E8BA-A06E-72F0-C68B-6A1159D9B74D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82AF3B5-5976-2BB7-D643-4DF2EFC71E85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A872B96B-91C6-99F7-EE79-8A3819AC647D}"/>
              </a:ext>
            </a:extLst>
          </p:cNvPr>
          <p:cNvSpPr/>
          <p:nvPr/>
        </p:nvSpPr>
        <p:spPr>
          <a:xfrm>
            <a:off x="5518471" y="3716215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CB5B6F-09FB-D185-298C-0E12147029B8}"/>
              </a:ext>
            </a:extLst>
          </p:cNvPr>
          <p:cNvSpPr/>
          <p:nvPr/>
        </p:nvSpPr>
        <p:spPr>
          <a:xfrm>
            <a:off x="9233638" y="3658287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CA027DAE-D950-CC35-2BC8-14BB4074B66F}"/>
              </a:ext>
            </a:extLst>
          </p:cNvPr>
          <p:cNvCxnSpPr>
            <a:stCxn id="39" idx="0"/>
            <a:endCxn id="40" idx="0"/>
          </p:cNvCxnSpPr>
          <p:nvPr/>
        </p:nvCxnSpPr>
        <p:spPr>
          <a:xfrm rot="5400000" flipH="1" flipV="1">
            <a:off x="8266155" y="1829668"/>
            <a:ext cx="57928" cy="3715167"/>
          </a:xfrm>
          <a:prstGeom prst="curvedConnector3">
            <a:avLst>
              <a:gd name="adj1" fmla="val 1526731"/>
            </a:avLst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C2F8A90A-80CD-2213-353F-5818131C423F}"/>
              </a:ext>
            </a:extLst>
          </p:cNvPr>
          <p:cNvCxnSpPr>
            <a:cxnSpLocks/>
            <a:stCxn id="40" idx="2"/>
            <a:endCxn id="39" idx="2"/>
          </p:cNvCxnSpPr>
          <p:nvPr/>
        </p:nvCxnSpPr>
        <p:spPr>
          <a:xfrm rot="5400000">
            <a:off x="8266156" y="3072315"/>
            <a:ext cx="57928" cy="3715167"/>
          </a:xfrm>
          <a:prstGeom prst="curvedConnector3">
            <a:avLst>
              <a:gd name="adj1" fmla="val 1202935"/>
            </a:avLst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9F3FB04-4CED-F964-071E-492AF47AA336}"/>
              </a:ext>
            </a:extLst>
          </p:cNvPr>
          <p:cNvSpPr txBox="1"/>
          <p:nvPr/>
        </p:nvSpPr>
        <p:spPr>
          <a:xfrm>
            <a:off x="7427950" y="2391508"/>
            <a:ext cx="1074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Shuffle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248659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5A86E-7000-FFDF-900B-5BF96DA46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47E88A-9387-9650-71DB-2E688D965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FA3702-240A-F69D-62A9-F107F7DF8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977A824-0F3D-2471-68E3-AE279489F610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3D54949-C9F7-FA28-1D92-A05FD281F2A9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26C044F-5D22-F602-7EA2-8D1E62135A82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B1B5DC86-BFB1-F2D8-5DC4-BF775D779286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D112CF7-28A9-529F-31B2-DEA3B9321193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73EA85D-D9CD-803E-AC90-148B08381B68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D67315A6-1E29-6A8E-5004-A5C7EBAD3602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AAD4DEBB-0EA1-8F36-558A-A89E03EB3173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219ADE4-CBEB-CE6E-34C4-B2D8A63C66D9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1F1C9FDD-AFE3-1CD1-B32A-1EE16C37F3B7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BBAD356-624D-DE36-C82F-A6719E6F0811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AD4483F5-B741-C2B5-B43C-472D55EF4590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940C4067-3F6A-7AA5-2ECC-C2273F861279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C7E5F169-601C-77A0-38D2-C1490D85A2B4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854521E-77CC-8952-A4D5-0AD585AC0EF1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33604F6-CA24-979C-7F8E-FE678E44B30C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A396E0AF-D598-4EC2-6821-080999CB4E44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62A30281-EE44-5195-653C-C5F27A5DA091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64FE9E6-00FA-4BFA-4865-1F26E19D57F1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02BC78B-ECC2-4679-53F3-C2BD2E55BDC5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B7EDCF7-0D35-9512-D5E3-0451663F9DBA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28E4CC3-5A42-6F67-E165-72F656A0ADDC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BDDD27A-0DCC-F17D-315B-FC4DED092FCF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9F3EB6A-3EA0-0D59-B5C1-848D893004D7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0486A73-AE01-B9FC-9913-DF3D9DD882D4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8EB021C-5011-9916-79D3-9EB17E85EB61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50FC57A-A40E-B663-978B-BDC763A805B0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50154B9-3D79-2FF3-B700-03A47AED77A9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EE794C7-A057-31BC-FC18-B101143D8C0D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0E8A73A-05E2-2CD4-6886-C51CD94D5BA6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23AAF24-5565-63D3-6E80-FAEB656D3ACC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74F8AA2-AFC8-D98E-D7A8-0A6EA325EFA8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2B33661-2E73-2B27-DE31-46D8B323A9C9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BED6D39-60F1-09D0-C87B-22B4583C4C49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7218D67-07E3-329D-031A-9F1EB2E6A69F}"/>
              </a:ext>
            </a:extLst>
          </p:cNvPr>
          <p:cNvSpPr txBox="1"/>
          <p:nvPr/>
        </p:nvSpPr>
        <p:spPr>
          <a:xfrm>
            <a:off x="8181003" y="3357692"/>
            <a:ext cx="17239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New input</a:t>
            </a:r>
          </a:p>
        </p:txBody>
      </p:sp>
    </p:spTree>
    <p:extLst>
      <p:ext uri="{BB962C8B-B14F-4D97-AF65-F5344CB8AC3E}">
        <p14:creationId xmlns:p14="http://schemas.microsoft.com/office/powerpoint/2010/main" val="580146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B828E-EBCB-E07E-B129-BE7E7B3F2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2FADD7-9638-99A8-E079-675EAA53A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82C94F-C639-6E26-31F5-3B37E239B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1544AE3-3F13-EB21-72F9-5C50D585B544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71055F2-7B92-EA53-AA5A-4C81F9AE6C87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D8C95C60-082A-4A19-896A-8A628BDB3625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CCE4D27F-6DEA-5BF9-4994-2A8BDAF59062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B3864ACB-5579-E2B7-4367-F47D423C4B88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65198B7-807D-26D2-9D7B-018A839CA44C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A3A63ED-62C6-B956-FB2F-F32CCD0A17BA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0BDC267B-7866-6492-7212-3EE3E59104C3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587F119-A950-A4AA-EFD4-32CA718F9576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68E618C-E3B7-455B-E623-E36437FADE6E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6940696-B504-C97D-38D3-41E912899BF2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54097CC-6B11-EF7A-9804-432A6CCD7EFE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720CFAD-2EBC-CB04-03A2-F6936C8E286D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F391C02-15E0-DBF1-785D-7D85C71B269B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473CC67-6DCF-EF7D-D789-9BE3ECBD3860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5B68F77B-D905-FEEC-749A-4B138711895A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54A56E8-BB04-6FB9-A3D5-98ED9BA0378E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F6DD3254-A5EA-7FE6-541C-92563DF00FA0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1AA70C7-1E3C-071B-08A7-A33F105D3137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D7B700-CB15-0472-3D16-A4E546F3DA40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38B9EB-7BE2-7638-FADA-A4FEAF337936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9F6EA0C-99C0-6FB5-2E4B-CEEB5F814F25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7B0DCC-1EE7-5B3F-3104-2BBEA7637E3A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6C4065A-4270-B867-43AA-ADCB90B1993B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C4CCA7E-7B33-5E71-5310-E2E6D423468A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34BCF0E-413C-6EDB-D1AB-F2F4766A7089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C43C99F-D79A-2EAF-EF27-6006CD21008B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2855822-8F10-A0CF-FD35-81A6BF5358F7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79F738A-8F5F-EAE3-849F-B83C01FA6B0D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5F44D7C-E3FA-60CB-6B78-8FA80A3F43E4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D61FF4B-B5FE-EE97-6874-3A2C2404FD0B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CDA2316-A134-BA68-0DB5-489EA0F9A460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16AA3-87E3-EF38-1E91-511FE7BE8949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30A0832-049C-3F61-B15B-D5F4BD080C33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9CCC6DBB-79A2-08BB-B72C-3393A5087D46}"/>
              </a:ext>
            </a:extLst>
          </p:cNvPr>
          <p:cNvSpPr/>
          <p:nvPr/>
        </p:nvSpPr>
        <p:spPr>
          <a:xfrm>
            <a:off x="7381623" y="3658287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B51333-A737-C14B-60F4-0CE641EA3475}"/>
              </a:ext>
            </a:extLst>
          </p:cNvPr>
          <p:cNvSpPr txBox="1"/>
          <p:nvPr/>
        </p:nvSpPr>
        <p:spPr>
          <a:xfrm>
            <a:off x="7776878" y="3118536"/>
            <a:ext cx="8772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Erase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207617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0A156-06D6-99FF-D139-09DD73EB6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EB4115-FFBF-0D8E-BD63-6DEC5DACC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1E945D1-A2F2-3AB1-88AF-82A25897D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82DCCDC-5960-89D2-0710-9B6F24345CB5}"/>
              </a:ext>
            </a:extLst>
          </p:cNvPr>
          <p:cNvGrpSpPr/>
          <p:nvPr/>
        </p:nvGrpSpPr>
        <p:grpSpPr>
          <a:xfrm>
            <a:off x="1072662" y="3992397"/>
            <a:ext cx="8144776" cy="613393"/>
            <a:chOff x="703386" y="3898613"/>
            <a:chExt cx="8144776" cy="61339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E81F399-0C38-C1BE-416D-D3D753EF006C}"/>
                </a:ext>
              </a:extLst>
            </p:cNvPr>
            <p:cNvGrpSpPr/>
            <p:nvPr/>
          </p:nvGrpSpPr>
          <p:grpSpPr>
            <a:xfrm>
              <a:off x="703386" y="3927231"/>
              <a:ext cx="8144776" cy="550984"/>
              <a:chOff x="703386" y="3927231"/>
              <a:chExt cx="8144776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2C325A7-C42C-4F27-C9E7-B63E0B346C3C}"/>
                  </a:ext>
                </a:extLst>
              </p:cNvPr>
              <p:cNvSpPr/>
              <p:nvPr/>
            </p:nvSpPr>
            <p:spPr>
              <a:xfrm>
                <a:off x="703386" y="3927231"/>
                <a:ext cx="8144776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4896ED86-943A-65BF-6401-C01E0928AF3E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B52BE87C-650B-8BF0-806F-EDF9A9FDCB7D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BBDFB79C-0311-D967-60DB-48EEB70A7C53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7B9C3F2-9A70-21D1-6951-5819F40D3802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0AFBAFE-0503-7CA2-C52F-EBC5EF3F6CAE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63235B1-BBBA-582A-B6E2-F75D58993DB5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634B2EC8-8A04-D083-CD05-297BEF2B5B67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17952E0-3FE3-7E33-CB1C-27E9131FC0CD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7A15AA06-7E6F-333D-41CA-A8A03704F790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FA1117E-289B-0333-D67B-F4E0D59D6350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DB3CB67-80F7-1CA6-C91B-51D448BD3910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6B60815-699C-872E-6037-A2DB3FA7E8D8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E1683B8D-ACAA-EC54-4826-87E9FD4946DF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68DBA1E-6EB7-A493-EBED-88EC0CAD6339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B8CA0CA-BFEF-289D-E03F-FE5248E7BA5C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357222B-8603-062D-0711-6FD38E22F60D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9195586-6825-C24F-565D-78A80F63FE75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A79147B-82FE-2DE3-4EDD-2C0260258B1B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6FA5EE8-6C7F-3474-BB95-0B491AC3FC54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ADD8F28-C9E8-81BC-863B-07F360C04D9A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00EBBF-4F58-91DF-7C44-FFB721E68C04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4D15CDB-BA66-88A2-9FC4-28274DBD5392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470FBC9-49F7-6B51-BBB7-1336DF72C733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DBA972D0-58EB-65C5-10E2-C84E6288C8DC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D99832-BDD8-EEAB-D853-EC33887302EE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236A3D4-1539-C27A-84FB-29CAD6DD7D6A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4218B2B6-A3D8-226C-5737-E38FC2ED21ED}"/>
              </a:ext>
            </a:extLst>
          </p:cNvPr>
          <p:cNvSpPr txBox="1"/>
          <p:nvPr/>
        </p:nvSpPr>
        <p:spPr>
          <a:xfrm>
            <a:off x="7301013" y="3429000"/>
            <a:ext cx="15161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Next input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390004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FDA50E-8F05-62A5-0793-AA01EA300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Benefits:</a:t>
            </a:r>
          </a:p>
          <a:p>
            <a:pPr lvl="1"/>
            <a:r>
              <a:rPr lang="en-US" dirty="0"/>
              <a:t>Simple to implement</a:t>
            </a:r>
          </a:p>
          <a:p>
            <a:pPr lvl="1"/>
            <a:r>
              <a:rPr lang="en-US" dirty="0"/>
              <a:t>Good for binary inputs and streams</a:t>
            </a:r>
          </a:p>
          <a:p>
            <a:pPr lvl="2"/>
            <a:r>
              <a:rPr lang="en-US" dirty="0"/>
              <a:t>JPEG file encoder/decoder</a:t>
            </a:r>
          </a:p>
          <a:p>
            <a:r>
              <a:rPr lang="en-US" dirty="0"/>
              <a:t>Disadvantages:</a:t>
            </a:r>
          </a:p>
          <a:p>
            <a:pPr lvl="1"/>
            <a:r>
              <a:rPr lang="en-US" dirty="0"/>
              <a:t>Generates many invalid inputs for applications that expect structured inputs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6EAD3D-56D9-DC5B-EC6B-DDD98EF31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</p:spTree>
    <p:extLst>
      <p:ext uri="{BB962C8B-B14F-4D97-AF65-F5344CB8AC3E}">
        <p14:creationId xmlns:p14="http://schemas.microsoft.com/office/powerpoint/2010/main" val="1756520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9B757-781A-A9F5-4B86-6E5FC7C77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3999207-5A07-D3B7-89CF-404A343FF5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Programmer provides a dictionary of “keywords”</a:t>
            </a:r>
          </a:p>
          <a:p>
            <a:pPr lvl="1"/>
            <a:r>
              <a:rPr lang="en-US" dirty="0"/>
              <a:t>For SQL, could include </a:t>
            </a:r>
            <a:r>
              <a:rPr lang="en-US" dirty="0">
                <a:latin typeface="Consolas" panose="020B0609020204030204" pitchFamily="49" charset="0"/>
              </a:rPr>
              <a:t>CREATE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INSERT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INTO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FROM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INTEGER</a:t>
            </a:r>
            <a:r>
              <a:rPr lang="en-US" dirty="0"/>
              <a:t>, and so on…</a:t>
            </a:r>
          </a:p>
          <a:p>
            <a:pPr lvl="1"/>
            <a:r>
              <a:rPr lang="en-US" dirty="0"/>
              <a:t>For HTML, could include HTML tags </a:t>
            </a:r>
            <a:r>
              <a:rPr lang="en-US" dirty="0">
                <a:latin typeface="Consolas" panose="020B0609020204030204" pitchFamily="49" charset="0"/>
              </a:rPr>
              <a:t>&lt;html&gt;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&lt;body&gt;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&lt;p&gt;</a:t>
            </a:r>
            <a:r>
              <a:rPr lang="en-US" dirty="0"/>
              <a:t>, and so on…</a:t>
            </a:r>
          </a:p>
          <a:p>
            <a:r>
              <a:rPr lang="en-US" dirty="0"/>
              <a:t>Mutate the input by replacing or adding a chosen keyword from this dictionary</a:t>
            </a:r>
          </a:p>
          <a:p>
            <a:r>
              <a:rPr lang="en-US" dirty="0"/>
              <a:t>Input - </a:t>
            </a:r>
            <a:r>
              <a:rPr lang="en-US" dirty="0">
                <a:latin typeface="Consolas" panose="020B0609020204030204" pitchFamily="49" charset="0"/>
              </a:rPr>
              <a:t>&lt;html&gt;&lt;body&gt;&lt;p&gt;Hello world &lt;/p&gt;&lt;/body&gt;&lt;/html&gt;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/>
              <a:t>Dictionary - </a:t>
            </a:r>
            <a:r>
              <a:rPr lang="en-US" dirty="0">
                <a:latin typeface="Consolas" panose="020B0609020204030204" pitchFamily="49" charset="0"/>
              </a:rPr>
              <a:t>{&lt;html&gt;, &lt;body&gt;, &lt;p&gt;,…}</a:t>
            </a:r>
            <a:br>
              <a:rPr lang="en-US" dirty="0"/>
            </a:br>
            <a:r>
              <a:rPr lang="en-US" dirty="0"/>
              <a:t>Mutated input –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</a:rPr>
              <a:t>&lt;html&gt;&lt;body&gt;&lt;p&gt; Hello world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&lt;p&gt;, Welcome!&lt;/p&gt; </a:t>
            </a:r>
            <a:r>
              <a:rPr lang="en-US" dirty="0">
                <a:latin typeface="Consolas" panose="020B0609020204030204" pitchFamily="49" charset="0"/>
              </a:rPr>
              <a:t>&lt;/p&gt;&lt;/html&gt;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829491C-2AC3-6247-57B5-D58F65075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dictionaries</a:t>
            </a:r>
          </a:p>
        </p:txBody>
      </p:sp>
    </p:spTree>
    <p:extLst>
      <p:ext uri="{BB962C8B-B14F-4D97-AF65-F5344CB8AC3E}">
        <p14:creationId xmlns:p14="http://schemas.microsoft.com/office/powerpoint/2010/main" val="2055563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13A7D-AFC6-5A83-73DA-6B2175D8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057B42-35CD-DCDA-EB49-7CDC2C581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Benefits:</a:t>
            </a:r>
          </a:p>
          <a:p>
            <a:pPr lvl="1"/>
            <a:r>
              <a:rPr lang="en-US" dirty="0"/>
              <a:t>Still simple to implement</a:t>
            </a:r>
          </a:p>
          <a:p>
            <a:pPr lvl="1"/>
            <a:r>
              <a:rPr lang="en-US" dirty="0"/>
              <a:t>Works reasonably well for structured inputs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Still generates many invalid inputs for applications that expect structured inputs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4BFBE8-5015-B570-2645-101A674B0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dictionaries</a:t>
            </a:r>
          </a:p>
        </p:txBody>
      </p:sp>
    </p:spTree>
    <p:extLst>
      <p:ext uri="{BB962C8B-B14F-4D97-AF65-F5344CB8AC3E}">
        <p14:creationId xmlns:p14="http://schemas.microsoft.com/office/powerpoint/2010/main" val="38505302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DD385A-877A-1063-DA72-4CB7B7936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mutators produce </a:t>
            </a:r>
            <a:r>
              <a:rPr lang="en-US" b="1" i="1" dirty="0"/>
              <a:t>many </a:t>
            </a:r>
            <a:r>
              <a:rPr lang="en-US" dirty="0"/>
              <a:t>invalid inputs</a:t>
            </a:r>
          </a:p>
          <a:p>
            <a:r>
              <a:rPr lang="en-US" dirty="0"/>
              <a:t>E.g. malformed HTML, malformed SQL queries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&lt;html&gt;&lt;body&gt;&lt;/P.&lt;/</a:t>
            </a:r>
            <a:r>
              <a:rPr lang="en-US" dirty="0" err="1">
                <a:latin typeface="Consolas" panose="020B0609020204030204" pitchFamily="49" charset="0"/>
              </a:rPr>
              <a:t>ht~l</a:t>
            </a:r>
            <a:r>
              <a:rPr lang="en-US" dirty="0">
                <a:latin typeface="Consolas" panose="020B0609020204030204" pitchFamily="49" charset="0"/>
              </a:rPr>
              <a:t>&gt;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Still produces enough valid test-cases to be </a:t>
            </a:r>
            <a:r>
              <a:rPr lang="en-US" b="1" i="1" dirty="0">
                <a:latin typeface="Helvetica" panose="020B0604020202020204"/>
                <a:cs typeface="Helvetica" panose="020B0604020202020204"/>
              </a:rPr>
              <a:t>very </a:t>
            </a:r>
            <a:r>
              <a:rPr lang="en-US" dirty="0">
                <a:latin typeface="Helvetica" panose="020B0604020202020204"/>
                <a:cs typeface="Helvetica" panose="020B0604020202020204"/>
              </a:rPr>
              <a:t>effective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DD6AD1-73D9-D702-D801-3D149186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5419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D9263C-3105-7E60-005D-6FA8DC6F3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Fuzzing pipeline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291697D-A3AE-28B6-AFAF-A1C7F2B58D86}"/>
              </a:ext>
            </a:extLst>
          </p:cNvPr>
          <p:cNvGrpSpPr/>
          <p:nvPr/>
        </p:nvGrpSpPr>
        <p:grpSpPr>
          <a:xfrm>
            <a:off x="616861" y="1793173"/>
            <a:ext cx="11214532" cy="2380050"/>
            <a:chOff x="226210" y="2871693"/>
            <a:chExt cx="11214532" cy="238005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42FD3C0-BBBF-62DA-9BD2-52576425862E}"/>
                </a:ext>
              </a:extLst>
            </p:cNvPr>
            <p:cNvSpPr/>
            <p:nvPr/>
          </p:nvSpPr>
          <p:spPr>
            <a:xfrm>
              <a:off x="4778481" y="3378696"/>
              <a:ext cx="1426610" cy="720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Input’</a:t>
              </a:r>
              <a:endParaRPr lang="en-US" sz="280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35282F4-C7F0-5E7E-8532-891C5D4D00B3}"/>
                </a:ext>
              </a:extLst>
            </p:cNvPr>
            <p:cNvCxnSpPr>
              <a:cxnSpLocks/>
              <a:stCxn id="24" idx="3"/>
              <a:endCxn id="14" idx="1"/>
            </p:cNvCxnSpPr>
            <p:nvPr/>
          </p:nvCxnSpPr>
          <p:spPr>
            <a:xfrm flipV="1">
              <a:off x="1975356" y="3743338"/>
              <a:ext cx="762828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BA9196C-04D0-6C62-0D66-02D7C4429B8A}"/>
                </a:ext>
              </a:extLst>
            </p:cNvPr>
            <p:cNvSpPr txBox="1"/>
            <p:nvPr/>
          </p:nvSpPr>
          <p:spPr>
            <a:xfrm>
              <a:off x="1961147" y="29527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B96AD91-9A69-3B0A-A77F-175CE8BEBDBB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6205091" y="3739181"/>
              <a:ext cx="372701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4AB4650-B5AD-068C-BD62-30B4824D3205}"/>
                </a:ext>
              </a:extLst>
            </p:cNvPr>
            <p:cNvSpPr txBox="1"/>
            <p:nvPr/>
          </p:nvSpPr>
          <p:spPr>
            <a:xfrm>
              <a:off x="8148870" y="2871693"/>
              <a:ext cx="14859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execute</a:t>
              </a:r>
            </a:p>
          </p:txBody>
        </p:sp>
        <p:pic>
          <p:nvPicPr>
            <p:cNvPr id="12" name="Picture 2" descr="Bug Vector Art, Icons, and Graphics for Free Download">
              <a:extLst>
                <a:ext uri="{FF2B5EF4-FFF2-40B4-BE49-F238E27FC236}">
                  <a16:creationId xmlns:a16="http://schemas.microsoft.com/office/drawing/2014/main" id="{DA4D4CAE-639D-1EDD-131F-15D007FC49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36805" y="2948934"/>
              <a:ext cx="1603937" cy="1603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D8D8A86-DEB6-FB9F-1747-AAD490E47EB6}"/>
                </a:ext>
              </a:extLst>
            </p:cNvPr>
            <p:cNvGrpSpPr/>
            <p:nvPr/>
          </p:nvGrpSpPr>
          <p:grpSpPr>
            <a:xfrm>
              <a:off x="226210" y="2891863"/>
              <a:ext cx="1749146" cy="1211960"/>
              <a:chOff x="1058859" y="2964386"/>
              <a:chExt cx="2543474" cy="121196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A8D62B9A-4FC9-454B-8426-2DA95F12BDA8}"/>
                  </a:ext>
                </a:extLst>
              </p:cNvPr>
              <p:cNvSpPr/>
              <p:nvPr/>
            </p:nvSpPr>
            <p:spPr>
              <a:xfrm>
                <a:off x="1058859" y="2964386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73E98203-74D8-372C-89FA-658904276FE0}"/>
                  </a:ext>
                </a:extLst>
              </p:cNvPr>
              <p:cNvSpPr/>
              <p:nvPr/>
            </p:nvSpPr>
            <p:spPr>
              <a:xfrm>
                <a:off x="1168337" y="316850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4C98E13A-0089-1917-4816-12C6DDA06589}"/>
                  </a:ext>
                </a:extLst>
              </p:cNvPr>
              <p:cNvSpPr/>
              <p:nvPr/>
            </p:nvSpPr>
            <p:spPr>
              <a:xfrm>
                <a:off x="1277815" y="3317631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7F504DD9-BF13-6E53-DEE8-58858E8E8B4E}"/>
                  </a:ext>
                </a:extLst>
              </p:cNvPr>
              <p:cNvSpPr/>
              <p:nvPr/>
            </p:nvSpPr>
            <p:spPr>
              <a:xfrm>
                <a:off x="1410118" y="345537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</p:grp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75F82053-BAA6-4A6D-4994-11839B7E1D58}"/>
                </a:ext>
              </a:extLst>
            </p:cNvPr>
            <p:cNvSpPr/>
            <p:nvPr/>
          </p:nvSpPr>
          <p:spPr>
            <a:xfrm>
              <a:off x="2738184" y="3382853"/>
              <a:ext cx="1506640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</a:t>
              </a:r>
              <a:endParaRPr lang="en-US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C4F9582-F3E2-0D54-6F0C-09025654DE68}"/>
                </a:ext>
              </a:extLst>
            </p:cNvPr>
            <p:cNvCxnSpPr>
              <a:cxnSpLocks/>
              <a:stCxn id="14" idx="3"/>
              <a:endCxn id="7" idx="1"/>
            </p:cNvCxnSpPr>
            <p:nvPr/>
          </p:nvCxnSpPr>
          <p:spPr>
            <a:xfrm flipV="1">
              <a:off x="4244824" y="3739181"/>
              <a:ext cx="533657" cy="4157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3B82BC3-B2A8-EA2A-AE5F-124ADD559193}"/>
                </a:ext>
              </a:extLst>
            </p:cNvPr>
            <p:cNvSpPr txBox="1"/>
            <p:nvPr/>
          </p:nvSpPr>
          <p:spPr>
            <a:xfrm>
              <a:off x="3912914" y="28753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AFEAB3A-928E-8978-2114-BDAB65DD04C4}"/>
                </a:ext>
              </a:extLst>
            </p:cNvPr>
            <p:cNvSpPr txBox="1"/>
            <p:nvPr/>
          </p:nvSpPr>
          <p:spPr>
            <a:xfrm>
              <a:off x="2222384" y="4307032"/>
              <a:ext cx="2559085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mytable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2766B5-BA25-95E4-7B38-AD1FA1708DD1}"/>
                </a:ext>
              </a:extLst>
            </p:cNvPr>
            <p:cNvSpPr txBox="1"/>
            <p:nvPr/>
          </p:nvSpPr>
          <p:spPr>
            <a:xfrm>
              <a:off x="4626218" y="4328413"/>
              <a:ext cx="2359103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Z</a:t>
              </a:r>
              <a:r>
                <a:rPr lang="en-US" dirty="0" err="1">
                  <a:latin typeface="Consolas" panose="020B0609020204030204" pitchFamily="49" charset="0"/>
                </a:rPr>
                <a:t>tabl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I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DCD2028-7BB5-3A34-5B42-B8F0CD7C5DA5}"/>
                </a:ext>
              </a:extLst>
            </p:cNvPr>
            <p:cNvSpPr/>
            <p:nvPr/>
          </p:nvSpPr>
          <p:spPr>
            <a:xfrm>
              <a:off x="6577792" y="3390418"/>
              <a:ext cx="1909716" cy="72096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application</a:t>
              </a:r>
              <a:endParaRPr lang="en-US" sz="2800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01C1387-C9F7-1DEE-FE0D-038629516449}"/>
                </a:ext>
              </a:extLst>
            </p:cNvPr>
            <p:cNvCxnSpPr>
              <a:cxnSpLocks/>
              <a:stCxn id="19" idx="3"/>
              <a:endCxn id="12" idx="1"/>
            </p:cNvCxnSpPr>
            <p:nvPr/>
          </p:nvCxnSpPr>
          <p:spPr>
            <a:xfrm>
              <a:off x="8487508" y="3750903"/>
              <a:ext cx="1349297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5" name="Oval 24">
            <a:extLst>
              <a:ext uri="{FF2B5EF4-FFF2-40B4-BE49-F238E27FC236}">
                <a16:creationId xmlns:a16="http://schemas.microsoft.com/office/drawing/2014/main" id="{287D09FC-DB53-54B7-1DDA-0E3B75708411}"/>
              </a:ext>
            </a:extLst>
          </p:cNvPr>
          <p:cNvSpPr/>
          <p:nvPr/>
        </p:nvSpPr>
        <p:spPr>
          <a:xfrm>
            <a:off x="2431511" y="1310793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1</a:t>
            </a:r>
            <a:endParaRPr lang="en-US" sz="240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B73F07E-62BE-ACB2-A3D0-47D7866FB3E3}"/>
              </a:ext>
            </a:extLst>
          </p:cNvPr>
          <p:cNvSpPr/>
          <p:nvPr/>
        </p:nvSpPr>
        <p:spPr>
          <a:xfrm>
            <a:off x="4586393" y="1289365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2</a:t>
            </a:r>
            <a:endParaRPr lang="en-US" sz="2400" dirty="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C0229C9-8C83-7AD2-1C47-F5E288C7B244}"/>
              </a:ext>
            </a:extLst>
          </p:cNvPr>
          <p:cNvCxnSpPr>
            <a:cxnSpLocks/>
            <a:endCxn id="24" idx="2"/>
          </p:cNvCxnSpPr>
          <p:nvPr/>
        </p:nvCxnSpPr>
        <p:spPr>
          <a:xfrm rot="10800000" flipV="1">
            <a:off x="1612215" y="2683435"/>
            <a:ext cx="7966750" cy="341867"/>
          </a:xfrm>
          <a:prstGeom prst="bentConnector4">
            <a:avLst>
              <a:gd name="adj1" fmla="val -348"/>
              <a:gd name="adj2" fmla="val 561219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1707E1C4-5C6A-1838-9564-DE11DD6B1725}"/>
              </a:ext>
            </a:extLst>
          </p:cNvPr>
          <p:cNvSpPr/>
          <p:nvPr/>
        </p:nvSpPr>
        <p:spPr>
          <a:xfrm>
            <a:off x="1786839" y="1007037"/>
            <a:ext cx="2124905" cy="1436077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208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54D92DF-A3CD-22CF-CE6B-899594A21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Should pick seeds that are “most promising” and likely to find bugs</a:t>
            </a:r>
          </a:p>
          <a:p>
            <a:r>
              <a:rPr lang="en-US" dirty="0"/>
              <a:t>What is </a:t>
            </a:r>
            <a:r>
              <a:rPr lang="en-US" b="1" i="1" dirty="0"/>
              <a:t>“most promising”? 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DD7704-2FF9-967F-D086-27D36D506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pick which seeds to mutate?</a:t>
            </a:r>
          </a:p>
        </p:txBody>
      </p:sp>
    </p:spTree>
    <p:extLst>
      <p:ext uri="{BB962C8B-B14F-4D97-AF65-F5344CB8AC3E}">
        <p14:creationId xmlns:p14="http://schemas.microsoft.com/office/powerpoint/2010/main" val="916565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3AC5B-FE25-E757-E7F0-A4D1A7DFF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3A540B-7A46-A8F0-2B8F-FF0BE6459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 seeds that increase coverage are “more promising”</a:t>
            </a:r>
          </a:p>
          <a:p>
            <a:pPr lvl="1"/>
            <a:r>
              <a:rPr lang="en-US" dirty="0"/>
              <a:t>Explore new program behaviors</a:t>
            </a:r>
          </a:p>
          <a:p>
            <a:pPr lvl="1"/>
            <a:r>
              <a:rPr lang="en-US" dirty="0"/>
              <a:t>Ensures untested paths are tested</a:t>
            </a:r>
          </a:p>
          <a:p>
            <a:r>
              <a:rPr lang="en-US" dirty="0"/>
              <a:t>High coverage = high bug-finding potential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59848AB-6B1E-C8F2-F958-480641C4F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</p:spTree>
    <p:extLst>
      <p:ext uri="{BB962C8B-B14F-4D97-AF65-F5344CB8AC3E}">
        <p14:creationId xmlns:p14="http://schemas.microsoft.com/office/powerpoint/2010/main" val="4840301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EE676-ECD5-1781-AF26-E88DB4B9D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21E901-F98E-BCE6-D6EA-A6B75FB64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} else {</a:t>
            </a:r>
          </a:p>
          <a:p>
            <a:r>
              <a:rPr lang="en-US" dirty="0"/>
              <a:t>		   </a:t>
            </a:r>
            <a:r>
              <a:rPr lang="en-US" dirty="0" err="1"/>
              <a:t>printf</a:t>
            </a:r>
            <a:r>
              <a:rPr lang="en-US" dirty="0"/>
              <a:t>(“Welcome!\n”);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D3BEAE-5ADD-188A-9F96-C59C4D3A0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A46E47-6E32-5F51-A447-C5BDCEB985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936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2E8F0-4A72-C2AB-31FB-43276115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C2ACAF-5FA3-45A5-115E-9BB680003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F0B722-9DFC-2224-03F8-F6C000EB0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E9AA76-A554-22D6-859B-0DA029E480D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0 -&gt;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0132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ACA2B-54F6-D56B-EFA7-5C4DCD050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04EACE-2135-D66A-E178-D4932AAE4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8811EC0-6306-CD9B-383C-C0D2E7CD3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7CFD5E-ECE9-480C-5CC3-452F848ED1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11, b = 0 -&gt; no new coverage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219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EB59-F313-ADED-D83A-1EC1EEDE1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80092B-00B7-B695-DA20-7104BDB2C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76230F-6453-A416-DE48-6CEA3D33D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9C023F-FD1D-5D27-4540-FD65AB55C8D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1 -&gt;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4085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CE7B1-C525-E6C7-5C6E-B4DF8AE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3C43C2-CD90-3534-5CFA-21AF3E779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7C1679-3521-0123-8450-EE0DC351E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066389-54AF-A4FF-9061-7AA98F22381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2 -&gt; no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28412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2599A-1280-F750-A2C0-55D833106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787861-7371-C626-25B3-9A4C7030B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2C14586-B9C1-8BB7-58D4-ACCE17973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D58262-924B-C4E6-9ABD-D516604F73F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3 -&gt; no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032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1E812-7265-9A74-FF74-53D1A7B69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939BD43-3308-0EBA-9C61-AF26E23DB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</a:t>
            </a:r>
            <a:r>
              <a:rPr lang="en-US" dirty="0">
                <a:highlight>
                  <a:srgbClr val="00FF00"/>
                </a:highlight>
              </a:rPr>
              <a:t>else {</a:t>
            </a:r>
          </a:p>
          <a:p>
            <a:r>
              <a:rPr lang="en-US" dirty="0">
                <a:highlight>
                  <a:srgbClr val="00FF00"/>
                </a:highlight>
              </a:rPr>
              <a:t>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(“Hi!\n”);</a:t>
            </a:r>
          </a:p>
          <a:p>
            <a:r>
              <a:rPr lang="en-US" dirty="0">
                <a:highlight>
                  <a:srgbClr val="00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F2778E-C4DE-BDCB-E9B5-7D068D377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FDB6B3-CA03-D8AE-E318-E6710DDADB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-1, b = 3 -&gt;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1818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17A329-203A-D64B-E0CF-C12695978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Record the coverage</a:t>
            </a:r>
          </a:p>
          <a:p>
            <a:r>
              <a:rPr lang="en-US" dirty="0"/>
              <a:t>Prioritize mutating input seeds which give higher coverage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9DDC961-5A7A-4D18-5C58-0D942EED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 guided fuzzing</a:t>
            </a:r>
          </a:p>
        </p:txBody>
      </p:sp>
    </p:spTree>
    <p:extLst>
      <p:ext uri="{BB962C8B-B14F-4D97-AF65-F5344CB8AC3E}">
        <p14:creationId xmlns:p14="http://schemas.microsoft.com/office/powerpoint/2010/main" val="17992065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ACBCC6-5E0A-EAF7-10F3-E6CA74194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Coverage-guided </a:t>
            </a:r>
            <a:r>
              <a:rPr lang="en-US" dirty="0" err="1"/>
              <a:t>fuzzer</a:t>
            </a:r>
            <a:r>
              <a:rPr lang="en-US" dirty="0"/>
              <a:t> pipeline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D3CD121-1F3C-6716-457F-87AC4B62ACD7}"/>
              </a:ext>
            </a:extLst>
          </p:cNvPr>
          <p:cNvGrpSpPr/>
          <p:nvPr/>
        </p:nvGrpSpPr>
        <p:grpSpPr>
          <a:xfrm>
            <a:off x="616861" y="1793173"/>
            <a:ext cx="11214532" cy="2380050"/>
            <a:chOff x="226210" y="2871693"/>
            <a:chExt cx="11214532" cy="238005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5C0DFCB-18A9-57F0-EC23-582FF88369B5}"/>
                </a:ext>
              </a:extLst>
            </p:cNvPr>
            <p:cNvSpPr/>
            <p:nvPr/>
          </p:nvSpPr>
          <p:spPr>
            <a:xfrm>
              <a:off x="4778481" y="3378696"/>
              <a:ext cx="1426610" cy="720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input’</a:t>
              </a:r>
              <a:endParaRPr lang="en-US" sz="280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55995E1-5556-FF55-509C-27130F66359B}"/>
                </a:ext>
              </a:extLst>
            </p:cNvPr>
            <p:cNvCxnSpPr>
              <a:cxnSpLocks/>
              <a:stCxn id="24" idx="3"/>
              <a:endCxn id="14" idx="1"/>
            </p:cNvCxnSpPr>
            <p:nvPr/>
          </p:nvCxnSpPr>
          <p:spPr>
            <a:xfrm flipV="1">
              <a:off x="1975356" y="3743338"/>
              <a:ext cx="762828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15CD7E-EC15-F452-1258-3EEF67D57EAC}"/>
                </a:ext>
              </a:extLst>
            </p:cNvPr>
            <p:cNvSpPr txBox="1"/>
            <p:nvPr/>
          </p:nvSpPr>
          <p:spPr>
            <a:xfrm>
              <a:off x="1961147" y="29527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A44A672-C60A-ADCD-F518-B76CA2EA633D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6205091" y="3739181"/>
              <a:ext cx="372701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7B3B6BE-96BA-A94A-F304-F5DC6DD85823}"/>
                </a:ext>
              </a:extLst>
            </p:cNvPr>
            <p:cNvSpPr txBox="1"/>
            <p:nvPr/>
          </p:nvSpPr>
          <p:spPr>
            <a:xfrm>
              <a:off x="8148870" y="2871693"/>
              <a:ext cx="14859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execute</a:t>
              </a:r>
            </a:p>
          </p:txBody>
        </p:sp>
        <p:pic>
          <p:nvPicPr>
            <p:cNvPr id="12" name="Picture 2" descr="Bug Vector Art, Icons, and Graphics for Free Download">
              <a:extLst>
                <a:ext uri="{FF2B5EF4-FFF2-40B4-BE49-F238E27FC236}">
                  <a16:creationId xmlns:a16="http://schemas.microsoft.com/office/drawing/2014/main" id="{19EFB74A-5B40-5098-32EF-5395218C0C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36805" y="2948934"/>
              <a:ext cx="1603937" cy="1603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2C3E769-B251-931E-C104-78AC5E7C622B}"/>
                </a:ext>
              </a:extLst>
            </p:cNvPr>
            <p:cNvGrpSpPr/>
            <p:nvPr/>
          </p:nvGrpSpPr>
          <p:grpSpPr>
            <a:xfrm>
              <a:off x="226210" y="2891863"/>
              <a:ext cx="1749146" cy="1211960"/>
              <a:chOff x="1058859" y="2964386"/>
              <a:chExt cx="2543474" cy="121196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EBFC4C92-2743-6C88-F5B2-B10CCF7F65D6}"/>
                  </a:ext>
                </a:extLst>
              </p:cNvPr>
              <p:cNvSpPr/>
              <p:nvPr/>
            </p:nvSpPr>
            <p:spPr>
              <a:xfrm>
                <a:off x="1058859" y="2964386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86D59FD8-4D86-D34E-AF0D-0C5179A9EAC6}"/>
                  </a:ext>
                </a:extLst>
              </p:cNvPr>
              <p:cNvSpPr/>
              <p:nvPr/>
            </p:nvSpPr>
            <p:spPr>
              <a:xfrm>
                <a:off x="1168337" y="316850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C69A736F-3EE8-AC2D-EAAD-1697174D7B90}"/>
                  </a:ext>
                </a:extLst>
              </p:cNvPr>
              <p:cNvSpPr/>
              <p:nvPr/>
            </p:nvSpPr>
            <p:spPr>
              <a:xfrm>
                <a:off x="1277815" y="3317631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5D09DB08-FA78-6D85-40DC-1C5F214126EC}"/>
                  </a:ext>
                </a:extLst>
              </p:cNvPr>
              <p:cNvSpPr/>
              <p:nvPr/>
            </p:nvSpPr>
            <p:spPr>
              <a:xfrm>
                <a:off x="1410118" y="345537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</p:grp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5713684B-374D-EC65-FC57-CB4E6604FF9D}"/>
                </a:ext>
              </a:extLst>
            </p:cNvPr>
            <p:cNvSpPr/>
            <p:nvPr/>
          </p:nvSpPr>
          <p:spPr>
            <a:xfrm>
              <a:off x="2738184" y="3382853"/>
              <a:ext cx="1506640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</a:t>
              </a:r>
              <a:endParaRPr lang="en-US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464D7DE-5F61-0769-0594-6205FF7A0D4E}"/>
                </a:ext>
              </a:extLst>
            </p:cNvPr>
            <p:cNvCxnSpPr>
              <a:cxnSpLocks/>
              <a:stCxn id="14" idx="3"/>
              <a:endCxn id="7" idx="1"/>
            </p:cNvCxnSpPr>
            <p:nvPr/>
          </p:nvCxnSpPr>
          <p:spPr>
            <a:xfrm flipV="1">
              <a:off x="4244824" y="3739181"/>
              <a:ext cx="533657" cy="4157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F13C4EA-53AB-5C79-2C27-1AC80EC7A301}"/>
                </a:ext>
              </a:extLst>
            </p:cNvPr>
            <p:cNvSpPr txBox="1"/>
            <p:nvPr/>
          </p:nvSpPr>
          <p:spPr>
            <a:xfrm>
              <a:off x="3912914" y="28753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9464F52-A91D-BCFA-595F-1D24270A04A0}"/>
                </a:ext>
              </a:extLst>
            </p:cNvPr>
            <p:cNvSpPr txBox="1"/>
            <p:nvPr/>
          </p:nvSpPr>
          <p:spPr>
            <a:xfrm>
              <a:off x="2222384" y="4307032"/>
              <a:ext cx="2559085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mytable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973DF3-ED26-A5F9-D61A-3F85062BBEB3}"/>
                </a:ext>
              </a:extLst>
            </p:cNvPr>
            <p:cNvSpPr txBox="1"/>
            <p:nvPr/>
          </p:nvSpPr>
          <p:spPr>
            <a:xfrm>
              <a:off x="4626218" y="4328413"/>
              <a:ext cx="2359103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Z</a:t>
              </a:r>
              <a:r>
                <a:rPr lang="en-US" dirty="0" err="1">
                  <a:latin typeface="Consolas" panose="020B0609020204030204" pitchFamily="49" charset="0"/>
                </a:rPr>
                <a:t>tabl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I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41C6DA63-202A-2124-76E3-755C87EF65EF}"/>
                </a:ext>
              </a:extLst>
            </p:cNvPr>
            <p:cNvSpPr/>
            <p:nvPr/>
          </p:nvSpPr>
          <p:spPr>
            <a:xfrm>
              <a:off x="6577792" y="3390418"/>
              <a:ext cx="1909716" cy="72096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application</a:t>
              </a:r>
              <a:endParaRPr lang="en-US" sz="2800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EF2BB8E-407D-6E8A-4FE2-20F205D73DA8}"/>
                </a:ext>
              </a:extLst>
            </p:cNvPr>
            <p:cNvCxnSpPr>
              <a:cxnSpLocks/>
              <a:stCxn id="19" idx="3"/>
              <a:endCxn id="12" idx="1"/>
            </p:cNvCxnSpPr>
            <p:nvPr/>
          </p:nvCxnSpPr>
          <p:spPr>
            <a:xfrm>
              <a:off x="8487508" y="3750903"/>
              <a:ext cx="1349297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F40F6800-216B-BD49-D992-597F8A55B8E3}"/>
              </a:ext>
            </a:extLst>
          </p:cNvPr>
          <p:cNvCxnSpPr>
            <a:cxnSpLocks/>
            <a:stCxn id="28" idx="2"/>
            <a:endCxn id="24" idx="2"/>
          </p:cNvCxnSpPr>
          <p:nvPr/>
        </p:nvCxnSpPr>
        <p:spPr>
          <a:xfrm rot="5400000" flipH="1">
            <a:off x="4975417" y="-337898"/>
            <a:ext cx="1441188" cy="8167591"/>
          </a:xfrm>
          <a:prstGeom prst="bentConnector3">
            <a:avLst>
              <a:gd name="adj1" fmla="val -15862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2767B-6053-9503-C7A7-A4802B9C4B0E}"/>
              </a:ext>
            </a:extLst>
          </p:cNvPr>
          <p:cNvSpPr/>
          <p:nvPr/>
        </p:nvSpPr>
        <p:spPr>
          <a:xfrm>
            <a:off x="8824948" y="3657714"/>
            <a:ext cx="1909716" cy="808777"/>
          </a:xfrm>
          <a:prstGeom prst="roundRect">
            <a:avLst/>
          </a:prstGeom>
          <a:solidFill>
            <a:schemeClr val="tx1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Coverage detection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8C73CBB-3ED8-24A2-E72A-8070A6A4F503}"/>
              </a:ext>
            </a:extLst>
          </p:cNvPr>
          <p:cNvCxnSpPr>
            <a:cxnSpLocks/>
            <a:endCxn id="28" idx="0"/>
          </p:cNvCxnSpPr>
          <p:nvPr/>
        </p:nvCxnSpPr>
        <p:spPr>
          <a:xfrm>
            <a:off x="9779806" y="2672383"/>
            <a:ext cx="0" cy="98533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41AE26A-BAA6-7967-8A7E-2F46226DCA28}"/>
              </a:ext>
            </a:extLst>
          </p:cNvPr>
          <p:cNvSpPr txBox="1"/>
          <p:nvPr/>
        </p:nvSpPr>
        <p:spPr>
          <a:xfrm>
            <a:off x="3882155" y="4710407"/>
            <a:ext cx="38262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1" dirty="0"/>
              <a:t>Add </a:t>
            </a:r>
            <a:r>
              <a:rPr lang="en-US" sz="2800" b="1" dirty="0"/>
              <a:t>input’</a:t>
            </a:r>
            <a:r>
              <a:rPr lang="en-US" sz="2800" b="1" i="1" dirty="0"/>
              <a:t> to </a:t>
            </a:r>
            <a:r>
              <a:rPr lang="en-US" sz="2800" b="1" dirty="0"/>
              <a:t>seeds</a:t>
            </a:r>
            <a:r>
              <a:rPr lang="en-US" sz="2800" b="1" i="1" dirty="0"/>
              <a:t> if new coverage observed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F68762D-7C8A-AC63-5BF3-250ABF38246B}"/>
              </a:ext>
            </a:extLst>
          </p:cNvPr>
          <p:cNvSpPr/>
          <p:nvPr/>
        </p:nvSpPr>
        <p:spPr>
          <a:xfrm>
            <a:off x="2431511" y="1310793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1</a:t>
            </a:r>
            <a:endParaRPr lang="en-US" sz="24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6008B1F-55BD-FB63-2D12-D7B957BFB31F}"/>
              </a:ext>
            </a:extLst>
          </p:cNvPr>
          <p:cNvSpPr/>
          <p:nvPr/>
        </p:nvSpPr>
        <p:spPr>
          <a:xfrm>
            <a:off x="4586393" y="1289365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2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3074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CFBBD0-0D13-0DBF-AD80-8EF65AB93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Randomly generate inputs</a:t>
            </a:r>
          </a:p>
          <a:p>
            <a:r>
              <a:rPr lang="en-US" dirty="0"/>
              <a:t>Mutation fuzzing </a:t>
            </a:r>
          </a:p>
          <a:p>
            <a:pPr lvl="1"/>
            <a:r>
              <a:rPr lang="en-US" dirty="0"/>
              <a:t>Start with known valid inputs</a:t>
            </a:r>
          </a:p>
          <a:p>
            <a:pPr lvl="1"/>
            <a:r>
              <a:rPr lang="en-US" dirty="0"/>
              <a:t>Mutate them </a:t>
            </a:r>
          </a:p>
          <a:p>
            <a:pPr lvl="2"/>
            <a:r>
              <a:rPr lang="en-US" dirty="0"/>
              <a:t>Byte-level transformations</a:t>
            </a:r>
          </a:p>
          <a:p>
            <a:pPr lvl="2"/>
            <a:r>
              <a:rPr lang="en-US" dirty="0"/>
              <a:t>Dictionary-based transformations</a:t>
            </a:r>
          </a:p>
          <a:p>
            <a:r>
              <a:rPr lang="en-US" dirty="0"/>
              <a:t>Pick inputs which resulted in new branch coverage for further mutation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2DA4E1-89C9-0769-A6CC-DDEC77ACD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Fuzzing – high level ideas</a:t>
            </a:r>
          </a:p>
        </p:txBody>
      </p:sp>
    </p:spTree>
    <p:extLst>
      <p:ext uri="{BB962C8B-B14F-4D97-AF65-F5344CB8AC3E}">
        <p14:creationId xmlns:p14="http://schemas.microsoft.com/office/powerpoint/2010/main" val="17063854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6B9979-F30B-2344-5324-B3488C1748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American fuzzy lop (AFL)</a:t>
            </a:r>
          </a:p>
          <a:p>
            <a:r>
              <a:rPr lang="en-US" dirty="0" err="1"/>
              <a:t>Fuzzer</a:t>
            </a:r>
            <a:r>
              <a:rPr lang="en-US" dirty="0"/>
              <a:t> for C/C++ applications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9C796F-4C3B-DC39-ACB7-1F0540A88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AFL demo</a:t>
            </a:r>
          </a:p>
        </p:txBody>
      </p:sp>
      <p:pic>
        <p:nvPicPr>
          <p:cNvPr id="1026" name="Picture 2" descr="American Fuzzy Lop Rabbit - Complete Guide">
            <a:extLst>
              <a:ext uri="{FF2B5EF4-FFF2-40B4-BE49-F238E27FC236}">
                <a16:creationId xmlns:a16="http://schemas.microsoft.com/office/drawing/2014/main" id="{CC40A277-5996-9076-2066-F89344586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4445" y="2986857"/>
            <a:ext cx="3346572" cy="220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110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BED51D-D1C4-A351-7B47-2B81C9D14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https://github.com/wolframroesler/afl-demo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077161-280A-1155-75B7-62FFD8835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AFL demo</a:t>
            </a:r>
          </a:p>
        </p:txBody>
      </p:sp>
    </p:spTree>
    <p:extLst>
      <p:ext uri="{BB962C8B-B14F-4D97-AF65-F5344CB8AC3E}">
        <p14:creationId xmlns:p14="http://schemas.microsoft.com/office/powerpoint/2010/main" val="31318065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86E5B-BEEE-9476-E84A-7757E3B86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485DAEC-24BF-F510-8191-8BD69044F6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/>
          <a:lstStyle/>
          <a:p>
            <a:r>
              <a:rPr lang="en-US" dirty="0"/>
              <a:t>Throughput – number of inputs tested per second</a:t>
            </a:r>
          </a:p>
          <a:p>
            <a:r>
              <a:rPr lang="en-US" b="1" i="1" dirty="0"/>
              <a:t>Is higher always better?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99E523-F3E1-F6DF-0348-D2D4FA576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AFL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F8F46D-BCE1-03C0-BCC6-7EFF5AE13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220" y="2180798"/>
            <a:ext cx="6256421" cy="376449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B9BA94C-98A8-8915-C0C8-3381F5145DDB}"/>
              </a:ext>
            </a:extLst>
          </p:cNvPr>
          <p:cNvSpPr/>
          <p:nvPr/>
        </p:nvSpPr>
        <p:spPr>
          <a:xfrm>
            <a:off x="3573493" y="3942347"/>
            <a:ext cx="2330002" cy="461211"/>
          </a:xfrm>
          <a:prstGeom prst="rect">
            <a:avLst/>
          </a:prstGeom>
          <a:noFill/>
          <a:ln w="412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03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C4761-99E6-3A36-FF09-21DCAD1DC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A164D7-C5C8-3C65-A0AC-C8C02AB49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Crashes found by the </a:t>
            </a:r>
            <a:r>
              <a:rPr lang="en-US" dirty="0" err="1"/>
              <a:t>fuzzer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88EDEF-D4E4-968F-B1B5-345B39CA5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AFL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004176-0B48-3FB6-1BCD-C9363093F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458" y="2101516"/>
            <a:ext cx="6388184" cy="384377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E208EF2-182D-0665-F688-C7A002740E9A}"/>
              </a:ext>
            </a:extLst>
          </p:cNvPr>
          <p:cNvSpPr/>
          <p:nvPr/>
        </p:nvSpPr>
        <p:spPr>
          <a:xfrm>
            <a:off x="6019433" y="3897072"/>
            <a:ext cx="3180234" cy="252664"/>
          </a:xfrm>
          <a:prstGeom prst="rect">
            <a:avLst/>
          </a:prstGeom>
          <a:noFill/>
          <a:ln w="412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70A273-2232-43B8-9613-44C03B29B5A6}"/>
              </a:ext>
            </a:extLst>
          </p:cNvPr>
          <p:cNvSpPr txBox="1"/>
          <p:nvPr/>
        </p:nvSpPr>
        <p:spPr>
          <a:xfrm>
            <a:off x="9769642" y="3792571"/>
            <a:ext cx="11721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Crashes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704392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170E-C744-C659-B7CC-A36BDDA00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02750D-DE9F-D996-46B9-129416DC9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Coverage – number of code paths executed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1B27E6C-BB8F-F3E3-BCFE-619AC8552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AFL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45199C-8BD4-F294-D899-6C6E5BA4C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3011" y="2132536"/>
            <a:ext cx="6336631" cy="381275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6091233-4DEF-3D72-7E64-CCBD54B1CED0}"/>
              </a:ext>
            </a:extLst>
          </p:cNvPr>
          <p:cNvSpPr/>
          <p:nvPr/>
        </p:nvSpPr>
        <p:spPr>
          <a:xfrm>
            <a:off x="6019433" y="3721767"/>
            <a:ext cx="3180234" cy="252664"/>
          </a:xfrm>
          <a:prstGeom prst="rect">
            <a:avLst/>
          </a:prstGeom>
          <a:noFill/>
          <a:ln w="412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0BF4D8-99C4-10E7-1E8A-AEB5841F93EB}"/>
              </a:ext>
            </a:extLst>
          </p:cNvPr>
          <p:cNvSpPr txBox="1"/>
          <p:nvPr/>
        </p:nvSpPr>
        <p:spPr>
          <a:xfrm>
            <a:off x="9769642" y="3617266"/>
            <a:ext cx="138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Coverage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21435743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2016A-1FE5-228D-E4BF-9BEAA29D1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AA96-A480-6AFD-9DA1-347754EDCD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Fuzz testing - sanitizers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E6EC5D-45A6-4324-EB36-59977A6A9E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1258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C36BD5A-DA96-CFEA-15EC-5800603E9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Sanitizers</a:t>
            </a:r>
          </a:p>
          <a:p>
            <a:r>
              <a:rPr lang="en-US" dirty="0"/>
              <a:t>Design patterns (intro)</a:t>
            </a:r>
          </a:p>
          <a:p>
            <a:r>
              <a:rPr lang="en-US" dirty="0"/>
              <a:t>Quiz (15 minutes/ 30 minutes)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E537CB-C415-EF3E-323A-DC948DCBB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3303134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FADE8-F1B3-20D5-008F-C6E136616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A8131C-D177-4571-AC9B-6123B8D87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Fuzzers</a:t>
            </a:r>
            <a:r>
              <a:rPr lang="en-US" dirty="0"/>
              <a:t> execute the program with random inputs and look for crashes</a:t>
            </a:r>
          </a:p>
          <a:p>
            <a:r>
              <a:rPr lang="en-US" dirty="0"/>
              <a:t>But memory safety bugs may or may not crash the program</a:t>
            </a:r>
          </a:p>
          <a:p>
            <a:r>
              <a:rPr lang="en-US" b="1" dirty="0"/>
              <a:t>Undefined Behavior (UB)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5B1AAA-D920-5588-4552-E59C0C1A4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memory safety bugs</a:t>
            </a:r>
          </a:p>
        </p:txBody>
      </p:sp>
    </p:spTree>
    <p:extLst>
      <p:ext uri="{BB962C8B-B14F-4D97-AF65-F5344CB8AC3E}">
        <p14:creationId xmlns:p14="http://schemas.microsoft.com/office/powerpoint/2010/main" val="35549588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19BB7C-2F07-89C5-A5BB-F590397CFB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Adds additional compiler instrumentation to record object metadata</a:t>
            </a:r>
          </a:p>
          <a:p>
            <a:r>
              <a:rPr lang="en-US" dirty="0"/>
              <a:t>Turns silent UBs to crashes</a:t>
            </a:r>
          </a:p>
          <a:p>
            <a:r>
              <a:rPr lang="en-US" dirty="0"/>
              <a:t>Popular sanitizers</a:t>
            </a:r>
          </a:p>
          <a:p>
            <a:pPr lvl="1"/>
            <a:r>
              <a:rPr lang="en-US" dirty="0"/>
              <a:t>Address sanitizer (ASAN) –  can detect buffer overflow</a:t>
            </a:r>
          </a:p>
          <a:p>
            <a:pPr lvl="1"/>
            <a:r>
              <a:rPr lang="en-US" dirty="0"/>
              <a:t>Leak sanitizer (LSAN) – can detect memory leak</a:t>
            </a:r>
          </a:p>
          <a:p>
            <a:pPr lvl="1"/>
            <a:r>
              <a:rPr lang="en-US" dirty="0"/>
              <a:t>Thread sanitizer (TSAN) – can detect data races</a:t>
            </a:r>
          </a:p>
          <a:p>
            <a:r>
              <a:rPr lang="en-US" b="1" i="1" dirty="0"/>
              <a:t>Significantly</a:t>
            </a:r>
            <a:r>
              <a:rPr lang="en-US" dirty="0"/>
              <a:t> slows down the application; but can detect memory safety bugs!!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0E70ACF-65AD-1889-FF51-D9FA2CC82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Sanitizers: oracles for memory safety bugs</a:t>
            </a:r>
          </a:p>
        </p:txBody>
      </p:sp>
    </p:spTree>
    <p:extLst>
      <p:ext uri="{BB962C8B-B14F-4D97-AF65-F5344CB8AC3E}">
        <p14:creationId xmlns:p14="http://schemas.microsoft.com/office/powerpoint/2010/main" val="3397396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8377FF-367C-6C18-94E7-7E21AFF5E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 dirty="0"/>
              <a:t>	while(*p != ‘\0’) *p++ = ‘a’;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char* s = malloc(16); // heap object 1</a:t>
            </a:r>
            <a:br>
              <a:rPr lang="en-US" dirty="0"/>
            </a:br>
            <a:r>
              <a:rPr lang="en-US" dirty="0"/>
              <a:t>    char* p = malloc(8); // heap object 2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BA96A3-F9AF-FF2D-F2AC-8C68F9909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sanitizer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0F5691-E11E-58B9-087F-1CEF172D59A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 – detect buffer overflow and UAF</a:t>
            </a:r>
          </a:p>
          <a:p>
            <a:r>
              <a:rPr lang="en-US" dirty="0"/>
              <a:t>Insert “red/poison zones” around memory</a:t>
            </a:r>
          </a:p>
          <a:p>
            <a:r>
              <a:rPr lang="en-US" dirty="0"/>
              <a:t>Updates to red zones indicate buffer overflow</a:t>
            </a:r>
          </a:p>
          <a:p>
            <a:pPr lvl="1"/>
            <a:r>
              <a:rPr lang="en-US" dirty="0"/>
              <a:t>Need to detect writes to red zones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64C4834-DC93-78CF-21C5-F5BF77E3A45D}"/>
              </a:ext>
            </a:extLst>
          </p:cNvPr>
          <p:cNvCxnSpPr>
            <a:cxnSpLocks/>
          </p:cNvCxnSpPr>
          <p:nvPr/>
        </p:nvCxnSpPr>
        <p:spPr>
          <a:xfrm>
            <a:off x="6423378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B3B254A-4DB7-E37C-46FB-B8DC5CDDC623}"/>
              </a:ext>
            </a:extLst>
          </p:cNvPr>
          <p:cNvCxnSpPr>
            <a:cxnSpLocks/>
          </p:cNvCxnSpPr>
          <p:nvPr/>
        </p:nvCxnSpPr>
        <p:spPr>
          <a:xfrm>
            <a:off x="794173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F5F1F9-208B-0659-AF8B-EA19DDA64BBA}"/>
              </a:ext>
            </a:extLst>
          </p:cNvPr>
          <p:cNvCxnSpPr>
            <a:cxnSpLocks/>
          </p:cNvCxnSpPr>
          <p:nvPr/>
        </p:nvCxnSpPr>
        <p:spPr>
          <a:xfrm>
            <a:off x="6423378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4BA097-4502-28DF-2297-197D3FE4F214}"/>
              </a:ext>
            </a:extLst>
          </p:cNvPr>
          <p:cNvCxnSpPr>
            <a:cxnSpLocks/>
          </p:cNvCxnSpPr>
          <p:nvPr/>
        </p:nvCxnSpPr>
        <p:spPr>
          <a:xfrm>
            <a:off x="6423378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0B0EFD-DD2E-F9B8-404A-944E4EC8C3CB}"/>
              </a:ext>
            </a:extLst>
          </p:cNvPr>
          <p:cNvCxnSpPr>
            <a:cxnSpLocks/>
          </p:cNvCxnSpPr>
          <p:nvPr/>
        </p:nvCxnSpPr>
        <p:spPr>
          <a:xfrm>
            <a:off x="6423378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A0AE2FF-F8C4-CE57-067B-C27D5E8A3B45}"/>
              </a:ext>
            </a:extLst>
          </p:cNvPr>
          <p:cNvCxnSpPr>
            <a:cxnSpLocks/>
          </p:cNvCxnSpPr>
          <p:nvPr/>
        </p:nvCxnSpPr>
        <p:spPr>
          <a:xfrm>
            <a:off x="6423378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D8B8632-6FC5-0CB2-FDCA-2DE3328C53C1}"/>
              </a:ext>
            </a:extLst>
          </p:cNvPr>
          <p:cNvCxnSpPr>
            <a:cxnSpLocks/>
          </p:cNvCxnSpPr>
          <p:nvPr/>
        </p:nvCxnSpPr>
        <p:spPr>
          <a:xfrm>
            <a:off x="6423378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712E9F7-2B3E-B553-CDC7-D11CFAF24070}"/>
              </a:ext>
            </a:extLst>
          </p:cNvPr>
          <p:cNvSpPr txBox="1"/>
          <p:nvPr/>
        </p:nvSpPr>
        <p:spPr>
          <a:xfrm>
            <a:off x="5496295" y="5085644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9ADFA8-37BC-F945-E9B4-200B41F548DA}"/>
              </a:ext>
            </a:extLst>
          </p:cNvPr>
          <p:cNvSpPr txBox="1"/>
          <p:nvPr/>
        </p:nvSpPr>
        <p:spPr>
          <a:xfrm>
            <a:off x="5502684" y="4696178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91F08E-40C7-9E59-6EEE-54A6121CCF3D}"/>
              </a:ext>
            </a:extLst>
          </p:cNvPr>
          <p:cNvSpPr txBox="1"/>
          <p:nvPr/>
        </p:nvSpPr>
        <p:spPr>
          <a:xfrm>
            <a:off x="5494852" y="4316779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4C4EFB-7EFE-A0A4-7834-C67D3C501D6A}"/>
              </a:ext>
            </a:extLst>
          </p:cNvPr>
          <p:cNvSpPr txBox="1"/>
          <p:nvPr/>
        </p:nvSpPr>
        <p:spPr>
          <a:xfrm>
            <a:off x="5507607" y="3937380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AF07E9-51FB-1574-7E7E-16A3727EC751}"/>
              </a:ext>
            </a:extLst>
          </p:cNvPr>
          <p:cNvSpPr/>
          <p:nvPr/>
        </p:nvSpPr>
        <p:spPr>
          <a:xfrm>
            <a:off x="6560337" y="4707466"/>
            <a:ext cx="1206420" cy="699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A4D4534-D350-A553-081A-25C1EE20D404}"/>
              </a:ext>
            </a:extLst>
          </p:cNvPr>
          <p:cNvSpPr/>
          <p:nvPr/>
        </p:nvSpPr>
        <p:spPr>
          <a:xfrm>
            <a:off x="6541241" y="3990626"/>
            <a:ext cx="1206420" cy="338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F2A010-0B2E-6083-3BB9-E2CC5D6A586C}"/>
              </a:ext>
            </a:extLst>
          </p:cNvPr>
          <p:cNvSpPr txBox="1"/>
          <p:nvPr/>
        </p:nvSpPr>
        <p:spPr>
          <a:xfrm>
            <a:off x="6436134" y="5622987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Memory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BF4DF36-EF6E-1B3D-30AC-16393D024963}"/>
              </a:ext>
            </a:extLst>
          </p:cNvPr>
          <p:cNvSpPr/>
          <p:nvPr/>
        </p:nvSpPr>
        <p:spPr>
          <a:xfrm>
            <a:off x="6560337" y="2291645"/>
            <a:ext cx="4731080" cy="225778"/>
          </a:xfrm>
          <a:prstGeom prst="rect">
            <a:avLst/>
          </a:prstGeom>
          <a:noFill/>
          <a:ln w="1905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37FE7D2-817B-8D6F-A80F-469D58C26643}"/>
              </a:ext>
            </a:extLst>
          </p:cNvPr>
          <p:cNvSpPr/>
          <p:nvPr/>
        </p:nvSpPr>
        <p:spPr>
          <a:xfrm>
            <a:off x="6560337" y="2541221"/>
            <a:ext cx="4731080" cy="225778"/>
          </a:xfrm>
          <a:prstGeom prst="rect">
            <a:avLst/>
          </a:prstGeom>
          <a:noFill/>
          <a:ln w="1905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6F326FA-DBEA-7A9A-13A4-A2E46C3A1D46}"/>
              </a:ext>
            </a:extLst>
          </p:cNvPr>
          <p:cNvSpPr/>
          <p:nvPr/>
        </p:nvSpPr>
        <p:spPr>
          <a:xfrm>
            <a:off x="6541241" y="4340578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DA3D368-8298-1294-5536-36CABA432939}"/>
              </a:ext>
            </a:extLst>
          </p:cNvPr>
          <p:cNvSpPr/>
          <p:nvPr/>
        </p:nvSpPr>
        <p:spPr>
          <a:xfrm>
            <a:off x="6541240" y="3623733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5199B4-B129-E8C7-CA09-DE001FD999C1}"/>
              </a:ext>
            </a:extLst>
          </p:cNvPr>
          <p:cNvSpPr/>
          <p:nvPr/>
        </p:nvSpPr>
        <p:spPr>
          <a:xfrm>
            <a:off x="6528414" y="5407369"/>
            <a:ext cx="1206420" cy="215607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51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6" grpId="0" animBg="1"/>
      <p:bldP spid="36" grpId="1" animBg="1"/>
      <p:bldP spid="37" grpId="0" animBg="1"/>
      <p:bldP spid="37" grpId="1" animBg="1"/>
      <p:bldP spid="41" grpId="0" animBg="1"/>
      <p:bldP spid="42" grpId="0" animBg="1"/>
      <p:bldP spid="4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81EC2-C2B9-13AD-AAAF-FC0C022AA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09F525-67B0-A7E8-3737-FF684F6CBF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 dirty="0"/>
              <a:t>	 while(*p != ‘\0’) *p++ = ‘a’;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char* s = malloc(16); // heap object 1</a:t>
            </a:r>
            <a:br>
              <a:rPr lang="en-US" dirty="0"/>
            </a:br>
            <a:r>
              <a:rPr lang="en-US" dirty="0"/>
              <a:t>    char* p = malloc(8); // heap object 2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AF0CD4-8FB4-B25E-D989-468CD772B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Shadow memory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946483-395A-B619-113D-0F80906AFDB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Maintains shadow memory to record metadata about red and accessible zones</a:t>
            </a:r>
          </a:p>
          <a:p>
            <a:r>
              <a:rPr lang="en-US" dirty="0"/>
              <a:t>Each </a:t>
            </a:r>
            <a:r>
              <a:rPr lang="en-US" b="1" i="1" dirty="0"/>
              <a:t>byte</a:t>
            </a:r>
            <a:r>
              <a:rPr lang="en-US" dirty="0"/>
              <a:t> in shadow memory represents a corresponding </a:t>
            </a:r>
            <a:r>
              <a:rPr lang="en-US" b="1" i="1" dirty="0"/>
              <a:t>8 bytes </a:t>
            </a:r>
            <a:r>
              <a:rPr lang="en-US" dirty="0"/>
              <a:t>in app</a:t>
            </a:r>
          </a:p>
          <a:p>
            <a:pPr lvl="1"/>
            <a:r>
              <a:rPr lang="en-US" dirty="0"/>
              <a:t>0x00 for valid</a:t>
            </a:r>
          </a:p>
          <a:p>
            <a:pPr lvl="1"/>
            <a:r>
              <a:rPr lang="en-US" dirty="0"/>
              <a:t>0xFF for poisoned range</a:t>
            </a:r>
          </a:p>
          <a:p>
            <a:pPr lvl="1"/>
            <a:r>
              <a:rPr lang="en-US" dirty="0"/>
              <a:t>0x01 – 0x07 – partially poisoned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8281B89-B7E3-DA85-034E-3229EBE600DD}"/>
              </a:ext>
            </a:extLst>
          </p:cNvPr>
          <p:cNvCxnSpPr>
            <a:cxnSpLocks/>
          </p:cNvCxnSpPr>
          <p:nvPr/>
        </p:nvCxnSpPr>
        <p:spPr>
          <a:xfrm>
            <a:off x="6423378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E9CEB1-0911-888F-B53E-B7BEFC75CC80}"/>
              </a:ext>
            </a:extLst>
          </p:cNvPr>
          <p:cNvCxnSpPr>
            <a:cxnSpLocks/>
          </p:cNvCxnSpPr>
          <p:nvPr/>
        </p:nvCxnSpPr>
        <p:spPr>
          <a:xfrm>
            <a:off x="794173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D2D5B6-BAA0-5578-2337-048812EA7B87}"/>
              </a:ext>
            </a:extLst>
          </p:cNvPr>
          <p:cNvCxnSpPr>
            <a:cxnSpLocks/>
          </p:cNvCxnSpPr>
          <p:nvPr/>
        </p:nvCxnSpPr>
        <p:spPr>
          <a:xfrm>
            <a:off x="6423378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616AB1E-6509-9E96-A4B6-9CF1D6BCB758}"/>
              </a:ext>
            </a:extLst>
          </p:cNvPr>
          <p:cNvCxnSpPr>
            <a:cxnSpLocks/>
          </p:cNvCxnSpPr>
          <p:nvPr/>
        </p:nvCxnSpPr>
        <p:spPr>
          <a:xfrm>
            <a:off x="6423378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2E363A8-ED8E-392E-BD91-6E81F5F45CCC}"/>
              </a:ext>
            </a:extLst>
          </p:cNvPr>
          <p:cNvCxnSpPr>
            <a:cxnSpLocks/>
          </p:cNvCxnSpPr>
          <p:nvPr/>
        </p:nvCxnSpPr>
        <p:spPr>
          <a:xfrm>
            <a:off x="6423378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E0F11AD-56EF-4E63-723F-CF8D019C1E51}"/>
              </a:ext>
            </a:extLst>
          </p:cNvPr>
          <p:cNvCxnSpPr>
            <a:cxnSpLocks/>
          </p:cNvCxnSpPr>
          <p:nvPr/>
        </p:nvCxnSpPr>
        <p:spPr>
          <a:xfrm>
            <a:off x="6423378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138CA06-C680-7C29-43F9-D8F9EAE40E79}"/>
              </a:ext>
            </a:extLst>
          </p:cNvPr>
          <p:cNvCxnSpPr>
            <a:cxnSpLocks/>
          </p:cNvCxnSpPr>
          <p:nvPr/>
        </p:nvCxnSpPr>
        <p:spPr>
          <a:xfrm>
            <a:off x="6423378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175CB77-5FDA-34ED-FA06-DBA645094DEB}"/>
              </a:ext>
            </a:extLst>
          </p:cNvPr>
          <p:cNvSpPr txBox="1"/>
          <p:nvPr/>
        </p:nvSpPr>
        <p:spPr>
          <a:xfrm>
            <a:off x="5496295" y="5085644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AFEC6D-A869-374A-A984-A038A52AA521}"/>
              </a:ext>
            </a:extLst>
          </p:cNvPr>
          <p:cNvSpPr txBox="1"/>
          <p:nvPr/>
        </p:nvSpPr>
        <p:spPr>
          <a:xfrm>
            <a:off x="5502684" y="4696178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F27643-44F9-8857-3D01-436D440E90B5}"/>
              </a:ext>
            </a:extLst>
          </p:cNvPr>
          <p:cNvSpPr txBox="1"/>
          <p:nvPr/>
        </p:nvSpPr>
        <p:spPr>
          <a:xfrm>
            <a:off x="5494852" y="4316779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7D51B4-2E05-D79E-CAEE-53E9CACA0AA9}"/>
              </a:ext>
            </a:extLst>
          </p:cNvPr>
          <p:cNvSpPr txBox="1"/>
          <p:nvPr/>
        </p:nvSpPr>
        <p:spPr>
          <a:xfrm>
            <a:off x="5507607" y="3937380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0x1018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EDFAB00-5503-2751-C295-3EEC3D5D060B}"/>
              </a:ext>
            </a:extLst>
          </p:cNvPr>
          <p:cNvCxnSpPr>
            <a:cxnSpLocks/>
          </p:cNvCxnSpPr>
          <p:nvPr/>
        </p:nvCxnSpPr>
        <p:spPr>
          <a:xfrm>
            <a:off x="947284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29CF9F9-9B18-59DD-100E-81813D7AA5D2}"/>
              </a:ext>
            </a:extLst>
          </p:cNvPr>
          <p:cNvCxnSpPr>
            <a:cxnSpLocks/>
          </p:cNvCxnSpPr>
          <p:nvPr/>
        </p:nvCxnSpPr>
        <p:spPr>
          <a:xfrm>
            <a:off x="10991200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F9D6F-82FF-E16B-4203-13D8B0DBE924}"/>
              </a:ext>
            </a:extLst>
          </p:cNvPr>
          <p:cNvCxnSpPr>
            <a:cxnSpLocks/>
          </p:cNvCxnSpPr>
          <p:nvPr/>
        </p:nvCxnSpPr>
        <p:spPr>
          <a:xfrm>
            <a:off x="9472844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27C1676-47A4-37C1-677B-731C95A354F5}"/>
              </a:ext>
            </a:extLst>
          </p:cNvPr>
          <p:cNvCxnSpPr>
            <a:cxnSpLocks/>
          </p:cNvCxnSpPr>
          <p:nvPr/>
        </p:nvCxnSpPr>
        <p:spPr>
          <a:xfrm>
            <a:off x="9472844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AB6B93E-3BF4-684C-F338-A29957BFD210}"/>
              </a:ext>
            </a:extLst>
          </p:cNvPr>
          <p:cNvCxnSpPr>
            <a:cxnSpLocks/>
          </p:cNvCxnSpPr>
          <p:nvPr/>
        </p:nvCxnSpPr>
        <p:spPr>
          <a:xfrm>
            <a:off x="9472844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4341BA0-4CD9-0679-069F-DCC487768E2A}"/>
              </a:ext>
            </a:extLst>
          </p:cNvPr>
          <p:cNvCxnSpPr>
            <a:cxnSpLocks/>
          </p:cNvCxnSpPr>
          <p:nvPr/>
        </p:nvCxnSpPr>
        <p:spPr>
          <a:xfrm>
            <a:off x="9472844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5D96C86-3E3D-4735-39AD-E506DA402A5E}"/>
              </a:ext>
            </a:extLst>
          </p:cNvPr>
          <p:cNvCxnSpPr>
            <a:cxnSpLocks/>
          </p:cNvCxnSpPr>
          <p:nvPr/>
        </p:nvCxnSpPr>
        <p:spPr>
          <a:xfrm>
            <a:off x="9472844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618796B-9588-7600-C82D-03C74A6F6A69}"/>
              </a:ext>
            </a:extLst>
          </p:cNvPr>
          <p:cNvSpPr txBox="1"/>
          <p:nvPr/>
        </p:nvSpPr>
        <p:spPr>
          <a:xfrm>
            <a:off x="8365069" y="5085644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E7F61B-A5A7-DC48-5B67-22BD9DBCE4EF}"/>
              </a:ext>
            </a:extLst>
          </p:cNvPr>
          <p:cNvSpPr txBox="1"/>
          <p:nvPr/>
        </p:nvSpPr>
        <p:spPr>
          <a:xfrm>
            <a:off x="8371458" y="4696178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808A2B-19EB-6E62-DFA3-81D517717521}"/>
              </a:ext>
            </a:extLst>
          </p:cNvPr>
          <p:cNvSpPr txBox="1"/>
          <p:nvPr/>
        </p:nvSpPr>
        <p:spPr>
          <a:xfrm>
            <a:off x="8363626" y="4316779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85529C-708F-E835-099D-403CD5F97674}"/>
              </a:ext>
            </a:extLst>
          </p:cNvPr>
          <p:cNvSpPr txBox="1"/>
          <p:nvPr/>
        </p:nvSpPr>
        <p:spPr>
          <a:xfrm>
            <a:off x="8376381" y="3937380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30A7F6-ADE2-E8CA-3822-D581A6701395}"/>
              </a:ext>
            </a:extLst>
          </p:cNvPr>
          <p:cNvSpPr/>
          <p:nvPr/>
        </p:nvSpPr>
        <p:spPr>
          <a:xfrm>
            <a:off x="6560337" y="4707466"/>
            <a:ext cx="1206420" cy="699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128F7E-410B-1CD3-6126-E5ABFA08136A}"/>
              </a:ext>
            </a:extLst>
          </p:cNvPr>
          <p:cNvSpPr/>
          <p:nvPr/>
        </p:nvSpPr>
        <p:spPr>
          <a:xfrm>
            <a:off x="6541241" y="3990626"/>
            <a:ext cx="1206420" cy="338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787500-A93B-153E-A20D-2BB09E3D613F}"/>
              </a:ext>
            </a:extLst>
          </p:cNvPr>
          <p:cNvSpPr txBox="1"/>
          <p:nvPr/>
        </p:nvSpPr>
        <p:spPr>
          <a:xfrm>
            <a:off x="6436134" y="5622987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Memory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D73F747-7C68-C7D7-5B75-6D00A84CCCF7}"/>
              </a:ext>
            </a:extLst>
          </p:cNvPr>
          <p:cNvSpPr txBox="1"/>
          <p:nvPr/>
        </p:nvSpPr>
        <p:spPr>
          <a:xfrm>
            <a:off x="9472844" y="5575863"/>
            <a:ext cx="1818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Shadow Memory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158A2-213D-AC79-2451-D5ACFCB85A02}"/>
              </a:ext>
            </a:extLst>
          </p:cNvPr>
          <p:cNvSpPr/>
          <p:nvPr/>
        </p:nvSpPr>
        <p:spPr>
          <a:xfrm>
            <a:off x="10808368" y="5065510"/>
            <a:ext cx="165154" cy="34186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7397EB4-4C00-7169-1B31-8349004DCA4D}"/>
              </a:ext>
            </a:extLst>
          </p:cNvPr>
          <p:cNvSpPr/>
          <p:nvPr/>
        </p:nvSpPr>
        <p:spPr>
          <a:xfrm>
            <a:off x="10619145" y="5065510"/>
            <a:ext cx="165155" cy="33377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FA9861D-BB8E-EC17-6A57-FFDFD7A84453}"/>
              </a:ext>
            </a:extLst>
          </p:cNvPr>
          <p:cNvSpPr/>
          <p:nvPr/>
        </p:nvSpPr>
        <p:spPr>
          <a:xfrm>
            <a:off x="10260844" y="5065510"/>
            <a:ext cx="165155" cy="3289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3941CD83-347E-3F4E-73CE-0FC8AB05B9E7}"/>
              </a:ext>
            </a:extLst>
          </p:cNvPr>
          <p:cNvCxnSpPr>
            <a:cxnSpLocks/>
            <a:endCxn id="38" idx="0"/>
          </p:cNvCxnSpPr>
          <p:nvPr/>
        </p:nvCxnSpPr>
        <p:spPr>
          <a:xfrm flipV="1">
            <a:off x="7766757" y="5065510"/>
            <a:ext cx="3124188" cy="164216"/>
          </a:xfrm>
          <a:prstGeom prst="curvedConnector4">
            <a:avLst>
              <a:gd name="adj1" fmla="val 48678"/>
              <a:gd name="adj2" fmla="val 23920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2B2A958A-14A1-E940-BDFC-584DB7F92DFB}"/>
              </a:ext>
            </a:extLst>
          </p:cNvPr>
          <p:cNvSpPr/>
          <p:nvPr/>
        </p:nvSpPr>
        <p:spPr>
          <a:xfrm>
            <a:off x="6541241" y="4340578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4D42192-8094-A5EE-1B94-682C2B1E0A54}"/>
              </a:ext>
            </a:extLst>
          </p:cNvPr>
          <p:cNvSpPr/>
          <p:nvPr/>
        </p:nvSpPr>
        <p:spPr>
          <a:xfrm>
            <a:off x="6541240" y="3623733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D9EA05F-C403-3A03-6ACE-83ED86D03D86}"/>
              </a:ext>
            </a:extLst>
          </p:cNvPr>
          <p:cNvSpPr/>
          <p:nvPr/>
        </p:nvSpPr>
        <p:spPr>
          <a:xfrm>
            <a:off x="6528414" y="5407369"/>
            <a:ext cx="1206420" cy="215607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BCC4542-755E-0E12-4569-50D6497ECCDD}"/>
              </a:ext>
            </a:extLst>
          </p:cNvPr>
          <p:cNvSpPr/>
          <p:nvPr/>
        </p:nvSpPr>
        <p:spPr>
          <a:xfrm>
            <a:off x="10440380" y="5074355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17E4AA9-BED0-844F-E753-B52BE75E8A0B}"/>
              </a:ext>
            </a:extLst>
          </p:cNvPr>
          <p:cNvSpPr/>
          <p:nvPr/>
        </p:nvSpPr>
        <p:spPr>
          <a:xfrm>
            <a:off x="10075287" y="5065509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EE79817-E363-F35D-7FBA-D52087897A9D}"/>
              </a:ext>
            </a:extLst>
          </p:cNvPr>
          <p:cNvSpPr/>
          <p:nvPr/>
        </p:nvSpPr>
        <p:spPr>
          <a:xfrm>
            <a:off x="9472782" y="5419508"/>
            <a:ext cx="154699" cy="270092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DAACF066-AA26-3941-4968-6904E281F55F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7766757" y="4908884"/>
            <a:ext cx="2934966" cy="15662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8E11B770-B0FA-A5EC-81EE-722C5E76FD4E}"/>
              </a:ext>
            </a:extLst>
          </p:cNvPr>
          <p:cNvCxnSpPr>
            <a:cxnSpLocks/>
            <a:stCxn id="33" idx="3"/>
            <a:endCxn id="40" idx="0"/>
          </p:cNvCxnSpPr>
          <p:nvPr/>
        </p:nvCxnSpPr>
        <p:spPr>
          <a:xfrm>
            <a:off x="7747661" y="4159958"/>
            <a:ext cx="2595761" cy="9055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201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212B1-E349-F207-FE02-623DBEABD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1B234E-9F3E-4417-45E5-200A23BB22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/>
              <a:t>	 while(*p != ‘\0’) *p++ = ‘a’;</a:t>
            </a:r>
            <a:endParaRPr lang="en-US" dirty="0"/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char* s = malloc(16); // heap object 1</a:t>
            </a:r>
            <a:br>
              <a:rPr lang="en-US" dirty="0"/>
            </a:br>
            <a:r>
              <a:rPr lang="en-US" dirty="0"/>
              <a:t>    char* p = malloc(8); // heap object 2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107B5EE-033F-946E-73C0-B112726A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checks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553679-2B70-E8AB-0775-9E78AE3569E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Compiler adds instructions before each memory access to first check the shadow memory byte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C612FC-2181-92A0-1168-3A414FA38DA9}"/>
              </a:ext>
            </a:extLst>
          </p:cNvPr>
          <p:cNvCxnSpPr>
            <a:cxnSpLocks/>
          </p:cNvCxnSpPr>
          <p:nvPr/>
        </p:nvCxnSpPr>
        <p:spPr>
          <a:xfrm>
            <a:off x="6423378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6F7D09-609C-BBCE-C6A8-E9155FDA083B}"/>
              </a:ext>
            </a:extLst>
          </p:cNvPr>
          <p:cNvCxnSpPr>
            <a:cxnSpLocks/>
          </p:cNvCxnSpPr>
          <p:nvPr/>
        </p:nvCxnSpPr>
        <p:spPr>
          <a:xfrm>
            <a:off x="794173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6393C71-32AC-3E7A-678C-B155B543C2FC}"/>
              </a:ext>
            </a:extLst>
          </p:cNvPr>
          <p:cNvCxnSpPr>
            <a:cxnSpLocks/>
          </p:cNvCxnSpPr>
          <p:nvPr/>
        </p:nvCxnSpPr>
        <p:spPr>
          <a:xfrm>
            <a:off x="6423378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5ACD9-7A9A-07FB-F570-987B2585659F}"/>
              </a:ext>
            </a:extLst>
          </p:cNvPr>
          <p:cNvCxnSpPr>
            <a:cxnSpLocks/>
          </p:cNvCxnSpPr>
          <p:nvPr/>
        </p:nvCxnSpPr>
        <p:spPr>
          <a:xfrm>
            <a:off x="6423378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DCA0128-DAB6-EA2D-2B04-2BB11F94420E}"/>
              </a:ext>
            </a:extLst>
          </p:cNvPr>
          <p:cNvCxnSpPr>
            <a:cxnSpLocks/>
          </p:cNvCxnSpPr>
          <p:nvPr/>
        </p:nvCxnSpPr>
        <p:spPr>
          <a:xfrm>
            <a:off x="6423378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F2DB412-5DF0-D9E2-1062-B909CFFEC430}"/>
              </a:ext>
            </a:extLst>
          </p:cNvPr>
          <p:cNvCxnSpPr>
            <a:cxnSpLocks/>
          </p:cNvCxnSpPr>
          <p:nvPr/>
        </p:nvCxnSpPr>
        <p:spPr>
          <a:xfrm>
            <a:off x="6423378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4E1D649-E0EF-CD67-9CC6-B26C6D6A27E8}"/>
              </a:ext>
            </a:extLst>
          </p:cNvPr>
          <p:cNvCxnSpPr>
            <a:cxnSpLocks/>
          </p:cNvCxnSpPr>
          <p:nvPr/>
        </p:nvCxnSpPr>
        <p:spPr>
          <a:xfrm>
            <a:off x="6423378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EFF698A-74E7-C431-DEFD-F919B8975C77}"/>
              </a:ext>
            </a:extLst>
          </p:cNvPr>
          <p:cNvSpPr txBox="1"/>
          <p:nvPr/>
        </p:nvSpPr>
        <p:spPr>
          <a:xfrm>
            <a:off x="5496295" y="5085644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EF24CC-583D-7FB0-B8A1-D0640262335E}"/>
              </a:ext>
            </a:extLst>
          </p:cNvPr>
          <p:cNvSpPr txBox="1"/>
          <p:nvPr/>
        </p:nvSpPr>
        <p:spPr>
          <a:xfrm>
            <a:off x="5502684" y="4696178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ADA4D2-EF24-18C0-16B3-740D79B43D01}"/>
              </a:ext>
            </a:extLst>
          </p:cNvPr>
          <p:cNvSpPr txBox="1"/>
          <p:nvPr/>
        </p:nvSpPr>
        <p:spPr>
          <a:xfrm>
            <a:off x="5494852" y="4316779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0F577E-3B86-D299-C340-A93C32713EFC}"/>
              </a:ext>
            </a:extLst>
          </p:cNvPr>
          <p:cNvSpPr txBox="1"/>
          <p:nvPr/>
        </p:nvSpPr>
        <p:spPr>
          <a:xfrm>
            <a:off x="5507607" y="3937380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0x1018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EA55EC3-C91B-DF8E-6313-1B191DC019A0}"/>
              </a:ext>
            </a:extLst>
          </p:cNvPr>
          <p:cNvCxnSpPr>
            <a:cxnSpLocks/>
          </p:cNvCxnSpPr>
          <p:nvPr/>
        </p:nvCxnSpPr>
        <p:spPr>
          <a:xfrm>
            <a:off x="947284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A04FE41-CE8B-0C5F-02D1-C236EA685CD1}"/>
              </a:ext>
            </a:extLst>
          </p:cNvPr>
          <p:cNvCxnSpPr>
            <a:cxnSpLocks/>
          </p:cNvCxnSpPr>
          <p:nvPr/>
        </p:nvCxnSpPr>
        <p:spPr>
          <a:xfrm>
            <a:off x="10991200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1014EC2-A200-C3C1-AC80-8DBD5214A00B}"/>
              </a:ext>
            </a:extLst>
          </p:cNvPr>
          <p:cNvCxnSpPr>
            <a:cxnSpLocks/>
          </p:cNvCxnSpPr>
          <p:nvPr/>
        </p:nvCxnSpPr>
        <p:spPr>
          <a:xfrm>
            <a:off x="9472844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08FD3C5-FBC2-DDA6-8E0E-D6AE40828174}"/>
              </a:ext>
            </a:extLst>
          </p:cNvPr>
          <p:cNvCxnSpPr>
            <a:cxnSpLocks/>
          </p:cNvCxnSpPr>
          <p:nvPr/>
        </p:nvCxnSpPr>
        <p:spPr>
          <a:xfrm>
            <a:off x="9472844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69D09BF-A3B7-9F5D-E04F-F0C8E62501E0}"/>
              </a:ext>
            </a:extLst>
          </p:cNvPr>
          <p:cNvCxnSpPr>
            <a:cxnSpLocks/>
          </p:cNvCxnSpPr>
          <p:nvPr/>
        </p:nvCxnSpPr>
        <p:spPr>
          <a:xfrm>
            <a:off x="9472844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561885-069F-C85A-2F4F-2B0118404DDA}"/>
              </a:ext>
            </a:extLst>
          </p:cNvPr>
          <p:cNvCxnSpPr>
            <a:cxnSpLocks/>
          </p:cNvCxnSpPr>
          <p:nvPr/>
        </p:nvCxnSpPr>
        <p:spPr>
          <a:xfrm>
            <a:off x="9472844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007B0C9-61E0-B68F-4E7B-F177D221EEF9}"/>
              </a:ext>
            </a:extLst>
          </p:cNvPr>
          <p:cNvCxnSpPr>
            <a:cxnSpLocks/>
          </p:cNvCxnSpPr>
          <p:nvPr/>
        </p:nvCxnSpPr>
        <p:spPr>
          <a:xfrm>
            <a:off x="9472844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A57EABB-D3AB-794E-2DBD-03BE1E3E25BC}"/>
              </a:ext>
            </a:extLst>
          </p:cNvPr>
          <p:cNvSpPr txBox="1"/>
          <p:nvPr/>
        </p:nvSpPr>
        <p:spPr>
          <a:xfrm>
            <a:off x="8365069" y="5085644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63A752-2CC4-52F9-8E66-BD7FD2D15AA1}"/>
              </a:ext>
            </a:extLst>
          </p:cNvPr>
          <p:cNvSpPr txBox="1"/>
          <p:nvPr/>
        </p:nvSpPr>
        <p:spPr>
          <a:xfrm>
            <a:off x="8371458" y="4696178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E2A52C-658F-6327-4435-D141DE18041B}"/>
              </a:ext>
            </a:extLst>
          </p:cNvPr>
          <p:cNvSpPr txBox="1"/>
          <p:nvPr/>
        </p:nvSpPr>
        <p:spPr>
          <a:xfrm>
            <a:off x="8363626" y="4316779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8C62A5-1896-1905-1F9A-D3177D5D8E59}"/>
              </a:ext>
            </a:extLst>
          </p:cNvPr>
          <p:cNvSpPr txBox="1"/>
          <p:nvPr/>
        </p:nvSpPr>
        <p:spPr>
          <a:xfrm>
            <a:off x="8376381" y="3937380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E6978D7-DCA6-AF1B-12E5-AF635CF4081B}"/>
              </a:ext>
            </a:extLst>
          </p:cNvPr>
          <p:cNvSpPr/>
          <p:nvPr/>
        </p:nvSpPr>
        <p:spPr>
          <a:xfrm>
            <a:off x="6560337" y="4707466"/>
            <a:ext cx="1206420" cy="699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B05C93-FF65-7741-53EB-566A5EA47DED}"/>
              </a:ext>
            </a:extLst>
          </p:cNvPr>
          <p:cNvSpPr/>
          <p:nvPr/>
        </p:nvSpPr>
        <p:spPr>
          <a:xfrm>
            <a:off x="6541241" y="3990626"/>
            <a:ext cx="1206420" cy="338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A7AE97-C641-52F4-8F10-8C09683DC649}"/>
              </a:ext>
            </a:extLst>
          </p:cNvPr>
          <p:cNvSpPr txBox="1"/>
          <p:nvPr/>
        </p:nvSpPr>
        <p:spPr>
          <a:xfrm>
            <a:off x="6436134" y="5622987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Memory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9A46EF-8054-48AE-6558-3DF4E9D9543D}"/>
              </a:ext>
            </a:extLst>
          </p:cNvPr>
          <p:cNvSpPr txBox="1"/>
          <p:nvPr/>
        </p:nvSpPr>
        <p:spPr>
          <a:xfrm>
            <a:off x="9472844" y="5575863"/>
            <a:ext cx="1818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Shadow Memory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09A1F4C-A4D7-B6A3-681B-B70A4950E972}"/>
              </a:ext>
            </a:extLst>
          </p:cNvPr>
          <p:cNvSpPr/>
          <p:nvPr/>
        </p:nvSpPr>
        <p:spPr>
          <a:xfrm>
            <a:off x="10808368" y="5065510"/>
            <a:ext cx="165154" cy="34186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AD6D151-6569-B38E-5F64-CEA324F23D62}"/>
              </a:ext>
            </a:extLst>
          </p:cNvPr>
          <p:cNvSpPr/>
          <p:nvPr/>
        </p:nvSpPr>
        <p:spPr>
          <a:xfrm>
            <a:off x="10619145" y="5065510"/>
            <a:ext cx="165155" cy="33377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BB3332B-50E6-E44E-93B3-3570564432D3}"/>
              </a:ext>
            </a:extLst>
          </p:cNvPr>
          <p:cNvSpPr/>
          <p:nvPr/>
        </p:nvSpPr>
        <p:spPr>
          <a:xfrm>
            <a:off x="10260844" y="5065510"/>
            <a:ext cx="165155" cy="3289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C5BF679-FACF-675B-A554-70CB9D3F7036}"/>
              </a:ext>
            </a:extLst>
          </p:cNvPr>
          <p:cNvSpPr/>
          <p:nvPr/>
        </p:nvSpPr>
        <p:spPr>
          <a:xfrm>
            <a:off x="6541241" y="4340578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C3FCD26-6263-BCC6-D554-7BECDA59E46F}"/>
              </a:ext>
            </a:extLst>
          </p:cNvPr>
          <p:cNvSpPr/>
          <p:nvPr/>
        </p:nvSpPr>
        <p:spPr>
          <a:xfrm>
            <a:off x="6541240" y="3623733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FD55D0-AE30-E2E0-7C8D-B56B7CB15B07}"/>
              </a:ext>
            </a:extLst>
          </p:cNvPr>
          <p:cNvSpPr/>
          <p:nvPr/>
        </p:nvSpPr>
        <p:spPr>
          <a:xfrm>
            <a:off x="6528414" y="5407369"/>
            <a:ext cx="1206420" cy="215607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750B402-BD73-3ED3-7E19-00000E9F4E1D}"/>
              </a:ext>
            </a:extLst>
          </p:cNvPr>
          <p:cNvSpPr/>
          <p:nvPr/>
        </p:nvSpPr>
        <p:spPr>
          <a:xfrm>
            <a:off x="10440380" y="5074355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E5B7B7C-68E8-51C9-566B-F930EEE934B4}"/>
              </a:ext>
            </a:extLst>
          </p:cNvPr>
          <p:cNvSpPr/>
          <p:nvPr/>
        </p:nvSpPr>
        <p:spPr>
          <a:xfrm>
            <a:off x="10075287" y="5065509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4149255-F902-74D0-C0B4-832FD0D3C506}"/>
              </a:ext>
            </a:extLst>
          </p:cNvPr>
          <p:cNvSpPr/>
          <p:nvPr/>
        </p:nvSpPr>
        <p:spPr>
          <a:xfrm>
            <a:off x="9472782" y="5419508"/>
            <a:ext cx="154699" cy="270092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0251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EA2E6-E907-BABC-0FDD-C5ECBAEA2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F408E7-1161-612D-1405-FCE83BBB1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 dirty="0"/>
              <a:t>	 while(*p != ‘\0’) {</a:t>
            </a:r>
          </a:p>
          <a:p>
            <a:r>
              <a:rPr lang="en-US" dirty="0"/>
              <a:t>		if (</a:t>
            </a:r>
            <a:r>
              <a:rPr lang="en-US" b="1" dirty="0" err="1">
                <a:solidFill>
                  <a:srgbClr val="00B050"/>
                </a:solidFill>
              </a:rPr>
              <a:t>shdw_poisoned</a:t>
            </a:r>
            <a:r>
              <a:rPr lang="en-US" b="1" dirty="0">
                <a:solidFill>
                  <a:srgbClr val="00B050"/>
                </a:solidFill>
              </a:rPr>
              <a:t>(p)</a:t>
            </a:r>
            <a:r>
              <a:rPr lang="en-US" b="1" dirty="0"/>
              <a:t>) </a:t>
            </a:r>
            <a:r>
              <a:rPr lang="en-US" dirty="0"/>
              <a:t>{ assert(false); }</a:t>
            </a:r>
          </a:p>
          <a:p>
            <a:r>
              <a:rPr lang="en-US" dirty="0"/>
              <a:t>		*p++ = ‘a’;</a:t>
            </a:r>
            <a:br>
              <a:rPr lang="en-US" dirty="0"/>
            </a:br>
            <a:r>
              <a:rPr lang="en-US" dirty="0"/>
              <a:t>	 }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char* s = malloc(16); // heap object 1</a:t>
            </a:r>
            <a:br>
              <a:rPr lang="en-US" dirty="0"/>
            </a:br>
            <a:r>
              <a:rPr lang="en-US" dirty="0"/>
              <a:t>    char* p = malloc(8); // heap object 2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35A617-49CA-F87C-2F66-54F3C817A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checks pseudocode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2974C2-FB14-AF99-4152-0DC2D6CEBAD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398657" cy="5046453"/>
          </a:xfrm>
        </p:spPr>
        <p:txBody>
          <a:bodyPr/>
          <a:lstStyle/>
          <a:p>
            <a:r>
              <a:rPr lang="en-US" dirty="0"/>
              <a:t>Compiler adds instructions before each memory access to first check the shadow memory byte</a:t>
            </a:r>
          </a:p>
          <a:p>
            <a:r>
              <a:rPr lang="en-US" dirty="0"/>
              <a:t>Pseudocode</a:t>
            </a:r>
          </a:p>
          <a:p>
            <a:pPr lvl="1"/>
            <a:r>
              <a:rPr lang="en-US" dirty="0" err="1"/>
              <a:t>shdw_poisoned</a:t>
            </a:r>
            <a:r>
              <a:rPr lang="en-US" dirty="0"/>
              <a:t>(void*) computes the address of the shadow byte</a:t>
            </a:r>
          </a:p>
          <a:p>
            <a:pPr lvl="1"/>
            <a:r>
              <a:rPr lang="en-US" dirty="0"/>
              <a:t>Checks if it is fully/partially poisoned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7F5DC32-FD81-99E5-283E-44C8054943E8}"/>
              </a:ext>
            </a:extLst>
          </p:cNvPr>
          <p:cNvCxnSpPr>
            <a:cxnSpLocks/>
          </p:cNvCxnSpPr>
          <p:nvPr/>
        </p:nvCxnSpPr>
        <p:spPr>
          <a:xfrm>
            <a:off x="6423378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C3D6DE-3D1F-1261-E098-5D3FA071F829}"/>
              </a:ext>
            </a:extLst>
          </p:cNvPr>
          <p:cNvCxnSpPr>
            <a:cxnSpLocks/>
          </p:cNvCxnSpPr>
          <p:nvPr/>
        </p:nvCxnSpPr>
        <p:spPr>
          <a:xfrm>
            <a:off x="794173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431DED-1E89-E716-C83A-BE7585B4B8FF}"/>
              </a:ext>
            </a:extLst>
          </p:cNvPr>
          <p:cNvCxnSpPr>
            <a:cxnSpLocks/>
          </p:cNvCxnSpPr>
          <p:nvPr/>
        </p:nvCxnSpPr>
        <p:spPr>
          <a:xfrm>
            <a:off x="6423378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67FB0F-A0D0-82D0-75D0-5D663991C47F}"/>
              </a:ext>
            </a:extLst>
          </p:cNvPr>
          <p:cNvCxnSpPr>
            <a:cxnSpLocks/>
          </p:cNvCxnSpPr>
          <p:nvPr/>
        </p:nvCxnSpPr>
        <p:spPr>
          <a:xfrm>
            <a:off x="6423378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6A6DD21-4CE6-95B5-D663-693338F045A8}"/>
              </a:ext>
            </a:extLst>
          </p:cNvPr>
          <p:cNvCxnSpPr>
            <a:cxnSpLocks/>
          </p:cNvCxnSpPr>
          <p:nvPr/>
        </p:nvCxnSpPr>
        <p:spPr>
          <a:xfrm>
            <a:off x="6423378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E690091-61E1-BC50-0F07-10F858D9C83B}"/>
              </a:ext>
            </a:extLst>
          </p:cNvPr>
          <p:cNvCxnSpPr>
            <a:cxnSpLocks/>
          </p:cNvCxnSpPr>
          <p:nvPr/>
        </p:nvCxnSpPr>
        <p:spPr>
          <a:xfrm>
            <a:off x="6423378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62D25E6-069D-F971-223B-0EC41A7B8E9F}"/>
              </a:ext>
            </a:extLst>
          </p:cNvPr>
          <p:cNvCxnSpPr>
            <a:cxnSpLocks/>
          </p:cNvCxnSpPr>
          <p:nvPr/>
        </p:nvCxnSpPr>
        <p:spPr>
          <a:xfrm>
            <a:off x="6423378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4D77580-1C91-3C3A-DFE0-CB2FAB62856C}"/>
              </a:ext>
            </a:extLst>
          </p:cNvPr>
          <p:cNvSpPr txBox="1"/>
          <p:nvPr/>
        </p:nvSpPr>
        <p:spPr>
          <a:xfrm>
            <a:off x="5496295" y="5085644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DA09EF-9F56-3734-1C20-A404306B43E9}"/>
              </a:ext>
            </a:extLst>
          </p:cNvPr>
          <p:cNvSpPr txBox="1"/>
          <p:nvPr/>
        </p:nvSpPr>
        <p:spPr>
          <a:xfrm>
            <a:off x="5502684" y="4696178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C87293-4356-5C18-CB28-99F468022FF8}"/>
              </a:ext>
            </a:extLst>
          </p:cNvPr>
          <p:cNvSpPr txBox="1"/>
          <p:nvPr/>
        </p:nvSpPr>
        <p:spPr>
          <a:xfrm>
            <a:off x="5494852" y="4316779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D45C57-DAA6-8C08-A7F0-CFF468F83439}"/>
              </a:ext>
            </a:extLst>
          </p:cNvPr>
          <p:cNvSpPr txBox="1"/>
          <p:nvPr/>
        </p:nvSpPr>
        <p:spPr>
          <a:xfrm>
            <a:off x="5507607" y="3937380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0x1018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E90BEB8-C6B6-039D-B435-0436FD446345}"/>
              </a:ext>
            </a:extLst>
          </p:cNvPr>
          <p:cNvCxnSpPr>
            <a:cxnSpLocks/>
          </p:cNvCxnSpPr>
          <p:nvPr/>
        </p:nvCxnSpPr>
        <p:spPr>
          <a:xfrm>
            <a:off x="947284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8DF1E4-E0A6-5B85-47BC-5C186C5D612E}"/>
              </a:ext>
            </a:extLst>
          </p:cNvPr>
          <p:cNvCxnSpPr>
            <a:cxnSpLocks/>
          </p:cNvCxnSpPr>
          <p:nvPr/>
        </p:nvCxnSpPr>
        <p:spPr>
          <a:xfrm>
            <a:off x="10991200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4CAAF21-10B9-BBB9-74E1-5AAB6F730245}"/>
              </a:ext>
            </a:extLst>
          </p:cNvPr>
          <p:cNvCxnSpPr>
            <a:cxnSpLocks/>
          </p:cNvCxnSpPr>
          <p:nvPr/>
        </p:nvCxnSpPr>
        <p:spPr>
          <a:xfrm>
            <a:off x="9472844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CDFACB0-6A02-F102-67FE-785CD946119D}"/>
              </a:ext>
            </a:extLst>
          </p:cNvPr>
          <p:cNvCxnSpPr>
            <a:cxnSpLocks/>
          </p:cNvCxnSpPr>
          <p:nvPr/>
        </p:nvCxnSpPr>
        <p:spPr>
          <a:xfrm>
            <a:off x="9472844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4C265A-BE51-D2FF-DA10-C905770BCEB2}"/>
              </a:ext>
            </a:extLst>
          </p:cNvPr>
          <p:cNvCxnSpPr>
            <a:cxnSpLocks/>
          </p:cNvCxnSpPr>
          <p:nvPr/>
        </p:nvCxnSpPr>
        <p:spPr>
          <a:xfrm>
            <a:off x="9472844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5355839-A0A0-2790-F439-A2D36800ED61}"/>
              </a:ext>
            </a:extLst>
          </p:cNvPr>
          <p:cNvCxnSpPr>
            <a:cxnSpLocks/>
          </p:cNvCxnSpPr>
          <p:nvPr/>
        </p:nvCxnSpPr>
        <p:spPr>
          <a:xfrm>
            <a:off x="9472844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282B75F-BE8E-F3BD-8B7A-019128DF4CF0}"/>
              </a:ext>
            </a:extLst>
          </p:cNvPr>
          <p:cNvCxnSpPr>
            <a:cxnSpLocks/>
          </p:cNvCxnSpPr>
          <p:nvPr/>
        </p:nvCxnSpPr>
        <p:spPr>
          <a:xfrm>
            <a:off x="9472844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4CBE95-C8CD-EF79-3A9A-09B98AA0CE78}"/>
              </a:ext>
            </a:extLst>
          </p:cNvPr>
          <p:cNvSpPr txBox="1"/>
          <p:nvPr/>
        </p:nvSpPr>
        <p:spPr>
          <a:xfrm>
            <a:off x="8365069" y="5085644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021377-0727-0E2B-C16F-1A31DD3E7114}"/>
              </a:ext>
            </a:extLst>
          </p:cNvPr>
          <p:cNvSpPr txBox="1"/>
          <p:nvPr/>
        </p:nvSpPr>
        <p:spPr>
          <a:xfrm>
            <a:off x="8371458" y="4696178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E385FFB-6020-1176-4775-BC6D193E6CAC}"/>
              </a:ext>
            </a:extLst>
          </p:cNvPr>
          <p:cNvSpPr txBox="1"/>
          <p:nvPr/>
        </p:nvSpPr>
        <p:spPr>
          <a:xfrm>
            <a:off x="8363626" y="4316779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196E74-761A-2C39-658D-2BB00D121D50}"/>
              </a:ext>
            </a:extLst>
          </p:cNvPr>
          <p:cNvSpPr txBox="1"/>
          <p:nvPr/>
        </p:nvSpPr>
        <p:spPr>
          <a:xfrm>
            <a:off x="8376381" y="3937380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06236C5-2A98-4EB7-7FCE-2D64CB1F0377}"/>
              </a:ext>
            </a:extLst>
          </p:cNvPr>
          <p:cNvSpPr/>
          <p:nvPr/>
        </p:nvSpPr>
        <p:spPr>
          <a:xfrm>
            <a:off x="6560337" y="4707466"/>
            <a:ext cx="1206420" cy="699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0FCC53A-B758-1BB6-499B-A346B9524239}"/>
              </a:ext>
            </a:extLst>
          </p:cNvPr>
          <p:cNvSpPr/>
          <p:nvPr/>
        </p:nvSpPr>
        <p:spPr>
          <a:xfrm>
            <a:off x="6541241" y="3990626"/>
            <a:ext cx="1206420" cy="338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4C1A44-1CC3-34EE-C1C3-FC5CB0E8CEF9}"/>
              </a:ext>
            </a:extLst>
          </p:cNvPr>
          <p:cNvSpPr txBox="1"/>
          <p:nvPr/>
        </p:nvSpPr>
        <p:spPr>
          <a:xfrm>
            <a:off x="6436134" y="5622987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Memory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C6347D-B961-5967-DC67-FE75352C4A60}"/>
              </a:ext>
            </a:extLst>
          </p:cNvPr>
          <p:cNvSpPr txBox="1"/>
          <p:nvPr/>
        </p:nvSpPr>
        <p:spPr>
          <a:xfrm>
            <a:off x="9472844" y="5575863"/>
            <a:ext cx="1818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Shadow Memory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70A70E4-9426-B2B1-055D-83F98F75DA28}"/>
              </a:ext>
            </a:extLst>
          </p:cNvPr>
          <p:cNvSpPr/>
          <p:nvPr/>
        </p:nvSpPr>
        <p:spPr>
          <a:xfrm>
            <a:off x="10808368" y="5065510"/>
            <a:ext cx="165154" cy="34186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BC2A1DB-26CB-01EF-F500-824281168F46}"/>
              </a:ext>
            </a:extLst>
          </p:cNvPr>
          <p:cNvSpPr/>
          <p:nvPr/>
        </p:nvSpPr>
        <p:spPr>
          <a:xfrm>
            <a:off x="10619145" y="5065510"/>
            <a:ext cx="165155" cy="33377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CA2E56B-520B-ADC6-4A7C-DF45A494B87C}"/>
              </a:ext>
            </a:extLst>
          </p:cNvPr>
          <p:cNvSpPr/>
          <p:nvPr/>
        </p:nvSpPr>
        <p:spPr>
          <a:xfrm>
            <a:off x="10260844" y="5065510"/>
            <a:ext cx="165155" cy="3289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944DDF6-0967-BEAE-1CB4-3D7C28615B1A}"/>
              </a:ext>
            </a:extLst>
          </p:cNvPr>
          <p:cNvSpPr/>
          <p:nvPr/>
        </p:nvSpPr>
        <p:spPr>
          <a:xfrm>
            <a:off x="6541241" y="4340578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65240EC-06A5-2E39-A1B2-A95BD897E8A0}"/>
              </a:ext>
            </a:extLst>
          </p:cNvPr>
          <p:cNvSpPr/>
          <p:nvPr/>
        </p:nvSpPr>
        <p:spPr>
          <a:xfrm>
            <a:off x="6541240" y="3623733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FCED2F5-112F-ACC5-C761-A17FB94F0629}"/>
              </a:ext>
            </a:extLst>
          </p:cNvPr>
          <p:cNvSpPr/>
          <p:nvPr/>
        </p:nvSpPr>
        <p:spPr>
          <a:xfrm>
            <a:off x="6528414" y="5407369"/>
            <a:ext cx="1206420" cy="215607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CCB0604-BDCA-14DB-D10B-4F2FFA46D9EE}"/>
              </a:ext>
            </a:extLst>
          </p:cNvPr>
          <p:cNvSpPr/>
          <p:nvPr/>
        </p:nvSpPr>
        <p:spPr>
          <a:xfrm>
            <a:off x="10440380" y="5074355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363F93E-87F3-BE2A-1D09-246DE2D5F58C}"/>
              </a:ext>
            </a:extLst>
          </p:cNvPr>
          <p:cNvSpPr/>
          <p:nvPr/>
        </p:nvSpPr>
        <p:spPr>
          <a:xfrm>
            <a:off x="10075287" y="5065509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1685A02-40BC-A508-9EF1-CF4EA88DB493}"/>
              </a:ext>
            </a:extLst>
          </p:cNvPr>
          <p:cNvSpPr/>
          <p:nvPr/>
        </p:nvSpPr>
        <p:spPr>
          <a:xfrm>
            <a:off x="9472782" y="5419508"/>
            <a:ext cx="154699" cy="270092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30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F940AF-0E05-27FF-46C5-750428CA3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Shadow memory stores metadata about the 8-byte memory range</a:t>
            </a:r>
          </a:p>
          <a:p>
            <a:r>
              <a:rPr lang="en-US" dirty="0"/>
              <a:t>Fast computation of shadow byte address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shadow = (address &gt;&gt; 3) + SHADOW_OFFSET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Fast checks of shadow byte value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shadow_value</a:t>
            </a:r>
            <a:r>
              <a:rPr lang="en-US" dirty="0">
                <a:latin typeface="Consolas" panose="020B0609020204030204" pitchFamily="49" charset="0"/>
              </a:rPr>
              <a:t> = *shadow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A058AEA-32A7-8E19-CBCA-FD19CF860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shadow memory?</a:t>
            </a:r>
          </a:p>
        </p:txBody>
      </p:sp>
    </p:spTree>
    <p:extLst>
      <p:ext uri="{BB962C8B-B14F-4D97-AF65-F5344CB8AC3E}">
        <p14:creationId xmlns:p14="http://schemas.microsoft.com/office/powerpoint/2010/main" val="31810639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54201C-4534-BFB5-2BFD-C6A2ADFA8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Fuzzing is an effective testing mechanism </a:t>
            </a:r>
          </a:p>
          <a:p>
            <a:r>
              <a:rPr lang="en-US" dirty="0"/>
              <a:t>Unlike other testing approaches it can </a:t>
            </a:r>
            <a:r>
              <a:rPr lang="en-US" b="1" i="1" dirty="0"/>
              <a:t>find new inputs </a:t>
            </a:r>
            <a:r>
              <a:rPr lang="en-US" dirty="0"/>
              <a:t>that cause program misbehavior</a:t>
            </a:r>
          </a:p>
          <a:p>
            <a:r>
              <a:rPr lang="en-US" dirty="0"/>
              <a:t>Mutation and coverage are important for generating effective </a:t>
            </a:r>
            <a:r>
              <a:rPr lang="en-US" dirty="0" err="1"/>
              <a:t>fuzzers</a:t>
            </a:r>
            <a:endParaRPr lang="en-US" dirty="0"/>
          </a:p>
          <a:p>
            <a:r>
              <a:rPr lang="en-US" dirty="0"/>
              <a:t>Sanitizers provide additional information needed to find </a:t>
            </a:r>
            <a:r>
              <a:rPr lang="en-US" i="1" dirty="0"/>
              <a:t>silent UB </a:t>
            </a:r>
            <a:r>
              <a:rPr lang="en-US" dirty="0"/>
              <a:t>bugs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2DE685-2ED8-5802-DE72-5E2ACA657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673972288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8552</TotalTime>
  <Words>2460</Words>
  <Application>Microsoft Office PowerPoint</Application>
  <PresentationFormat>Widescreen</PresentationFormat>
  <Paragraphs>474</Paragraphs>
  <Slides>46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Arial</vt:lpstr>
      <vt:lpstr>Calibri</vt:lpstr>
      <vt:lpstr>Consolas</vt:lpstr>
      <vt:lpstr>Helvetica</vt:lpstr>
      <vt:lpstr>Preso 2022 Watertower Stats</vt:lpstr>
      <vt:lpstr>PowerPoint Presentation</vt:lpstr>
      <vt:lpstr>Announcements</vt:lpstr>
      <vt:lpstr>What is unit testing?</vt:lpstr>
      <vt:lpstr>What is service tests (integration tests)?</vt:lpstr>
      <vt:lpstr>Hard to cover all code with manual testing</vt:lpstr>
      <vt:lpstr>Fuzz testing</vt:lpstr>
      <vt:lpstr>Fuzz testing</vt:lpstr>
      <vt:lpstr>Types of bugs</vt:lpstr>
      <vt:lpstr>Pros and cons</vt:lpstr>
      <vt:lpstr>Mutation fuzzer - generate inputs via mutation</vt:lpstr>
      <vt:lpstr>Mutation strategy – byte-level transformations</vt:lpstr>
      <vt:lpstr>Mutation strategy – byte-level transformations</vt:lpstr>
      <vt:lpstr>Mutation strategy – byte-level transformations</vt:lpstr>
      <vt:lpstr>Mutation strategy – byte-level transformations</vt:lpstr>
      <vt:lpstr>Mutation strategy – byte-level transformations</vt:lpstr>
      <vt:lpstr>Mutation strategy – dictionaries</vt:lpstr>
      <vt:lpstr>Mutation strategy – dictionaries</vt:lpstr>
      <vt:lpstr>Characteristics</vt:lpstr>
      <vt:lpstr>Fuzzing pipeline</vt:lpstr>
      <vt:lpstr>How to pick which seeds to mutate?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Coverage guided fuzzing</vt:lpstr>
      <vt:lpstr>Coverage-guided fuzzer pipeline</vt:lpstr>
      <vt:lpstr>Fuzzing – high level ideas</vt:lpstr>
      <vt:lpstr>AFL demo</vt:lpstr>
      <vt:lpstr>AFL demo</vt:lpstr>
      <vt:lpstr>AFL demo</vt:lpstr>
      <vt:lpstr>AFL demo</vt:lpstr>
      <vt:lpstr>AFL demo</vt:lpstr>
      <vt:lpstr>PowerPoint Presentation</vt:lpstr>
      <vt:lpstr>Agenda</vt:lpstr>
      <vt:lpstr>Recall: memory safety bugs</vt:lpstr>
      <vt:lpstr>Sanitizers: oracles for memory safety bugs</vt:lpstr>
      <vt:lpstr>Address sanitizer</vt:lpstr>
      <vt:lpstr>Shadow memory</vt:lpstr>
      <vt:lpstr>Compiler checks</vt:lpstr>
      <vt:lpstr>Compiler checks pseudocode</vt:lpstr>
      <vt:lpstr>Why shadow memory?</vt:lpstr>
      <vt:lpstr>Summary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1024</cp:revision>
  <dcterms:created xsi:type="dcterms:W3CDTF">2019-06-30T03:25:06Z</dcterms:created>
  <dcterms:modified xsi:type="dcterms:W3CDTF">2025-11-21T19:41:29Z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