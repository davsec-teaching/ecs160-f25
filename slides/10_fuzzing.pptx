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42"/>
  </p:notesMasterIdLst>
  <p:handoutMasterIdLst>
    <p:handoutMasterId r:id="rId43"/>
  </p:handoutMasterIdLst>
  <p:sldIdLst>
    <p:sldId id="256" r:id="rId2"/>
    <p:sldId id="257" r:id="rId3"/>
    <p:sldId id="276" r:id="rId4"/>
    <p:sldId id="258" r:id="rId5"/>
    <p:sldId id="259" r:id="rId6"/>
    <p:sldId id="260" r:id="rId7"/>
    <p:sldId id="261" r:id="rId8"/>
    <p:sldId id="277" r:id="rId9"/>
    <p:sldId id="278" r:id="rId10"/>
    <p:sldId id="262" r:id="rId11"/>
    <p:sldId id="263" r:id="rId12"/>
    <p:sldId id="279" r:id="rId13"/>
    <p:sldId id="280" r:id="rId14"/>
    <p:sldId id="281" r:id="rId15"/>
    <p:sldId id="283" r:id="rId16"/>
    <p:sldId id="264" r:id="rId17"/>
    <p:sldId id="265" r:id="rId18"/>
    <p:sldId id="284" r:id="rId19"/>
    <p:sldId id="282" r:id="rId20"/>
    <p:sldId id="267" r:id="rId21"/>
    <p:sldId id="268" r:id="rId22"/>
    <p:sldId id="285" r:id="rId23"/>
    <p:sldId id="270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72" r:id="rId32"/>
    <p:sldId id="299" r:id="rId33"/>
    <p:sldId id="274" r:id="rId34"/>
    <p:sldId id="275" r:id="rId35"/>
    <p:sldId id="294" r:id="rId36"/>
    <p:sldId id="295" r:id="rId37"/>
    <p:sldId id="296" r:id="rId38"/>
    <p:sldId id="297" r:id="rId39"/>
    <p:sldId id="298" r:id="rId40"/>
    <p:sldId id="273" r:id="rId41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B2936"/>
    <a:srgbClr val="FFFFFF"/>
    <a:srgbClr val="0000FF"/>
    <a:srgbClr val="B9B9FF"/>
    <a:srgbClr val="003399"/>
    <a:srgbClr val="DDDDFF"/>
    <a:srgbClr val="E6E0EC"/>
    <a:srgbClr val="FFD5D5"/>
    <a:srgbClr val="00823B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78" autoAdjust="0"/>
  </p:normalViewPr>
  <p:slideViewPr>
    <p:cSldViewPr snapToGrid="0">
      <p:cViewPr varScale="1">
        <p:scale>
          <a:sx n="119" d="100"/>
          <a:sy n="119" d="100"/>
        </p:scale>
        <p:origin x="43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871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lframroesler/afl-demo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B7AC93-49AB-4289-7C62-B4109A5DE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individual functions</a:t>
            </a:r>
          </a:p>
          <a:p>
            <a:r>
              <a:rPr lang="en-US" dirty="0"/>
              <a:t>Add assertions to check if post-conditions hold</a:t>
            </a:r>
          </a:p>
          <a:p>
            <a:r>
              <a:rPr lang="en-US" dirty="0"/>
              <a:t>Test corner-cases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A2F5A5-3E27-BA4C-A159-65FD7E26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unit testing?</a:t>
            </a:r>
          </a:p>
        </p:txBody>
      </p:sp>
    </p:spTree>
    <p:extLst>
      <p:ext uri="{BB962C8B-B14F-4D97-AF65-F5344CB8AC3E}">
        <p14:creationId xmlns:p14="http://schemas.microsoft.com/office/powerpoint/2010/main" val="1986636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AF1CD-03D1-B61C-D23D-1A7F54EB9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end-to-end functionality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DC5EDB-FB75-01EC-1763-CD5B5E094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service tests (integration tests)?</a:t>
            </a:r>
          </a:p>
        </p:txBody>
      </p:sp>
    </p:spTree>
    <p:extLst>
      <p:ext uri="{BB962C8B-B14F-4D97-AF65-F5344CB8AC3E}">
        <p14:creationId xmlns:p14="http://schemas.microsoft.com/office/powerpoint/2010/main" val="2065622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C9CAC-0E0C-D476-21AC-37ADE748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DF493-FD00-003C-F5F2-84C8FC8A4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Linux kernel</a:t>
            </a:r>
          </a:p>
          <a:p>
            <a:pPr lvl="1"/>
            <a:r>
              <a:rPr lang="en-US" dirty="0"/>
              <a:t>~30 million lines of code</a:t>
            </a:r>
          </a:p>
          <a:p>
            <a:r>
              <a:rPr lang="en-US" dirty="0"/>
              <a:t>Google’s chromium browser</a:t>
            </a:r>
          </a:p>
          <a:p>
            <a:pPr lvl="1"/>
            <a:r>
              <a:rPr lang="en-US" dirty="0"/>
              <a:t>~28 million lines of code</a:t>
            </a:r>
          </a:p>
          <a:p>
            <a:r>
              <a:rPr lang="en-US" dirty="0"/>
              <a:t>Hard to manually write test-cases to cover all this code</a:t>
            </a:r>
          </a:p>
          <a:p>
            <a:r>
              <a:rPr lang="en-US" b="1" i="1" dirty="0"/>
              <a:t>Need automation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732DD3-18E7-4413-5BFB-043B55720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Hard to cover all code with manual testing</a:t>
            </a:r>
          </a:p>
        </p:txBody>
      </p:sp>
    </p:spTree>
    <p:extLst>
      <p:ext uri="{BB962C8B-B14F-4D97-AF65-F5344CB8AC3E}">
        <p14:creationId xmlns:p14="http://schemas.microsoft.com/office/powerpoint/2010/main" val="139492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F266CF-D74E-FB3A-0045-8BC9B3D6F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find application inputs that reveal bugs</a:t>
            </a:r>
          </a:p>
          <a:p>
            <a:r>
              <a:rPr lang="en-US" dirty="0"/>
              <a:t>Test the entire application instead of individual functions</a:t>
            </a:r>
          </a:p>
          <a:p>
            <a:r>
              <a:rPr lang="en-US" dirty="0"/>
              <a:t>Generate inputs randomly until an error is uncovered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DA9AC9-3BCD-8C1D-E126-113DE4B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</p:spTree>
    <p:extLst>
      <p:ext uri="{BB962C8B-B14F-4D97-AF65-F5344CB8AC3E}">
        <p14:creationId xmlns:p14="http://schemas.microsoft.com/office/powerpoint/2010/main" val="2391157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0A80F-F787-02A7-0F56-D1061D3B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236491-1F5E-43D9-3B3D-E6ADD289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7BCF4EC-C69C-D4C6-F8A7-5B7C4DDDFBCB}"/>
              </a:ext>
            </a:extLst>
          </p:cNvPr>
          <p:cNvSpPr/>
          <p:nvPr/>
        </p:nvSpPr>
        <p:spPr>
          <a:xfrm>
            <a:off x="1172308" y="2708031"/>
            <a:ext cx="2192215" cy="72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/dev/random</a:t>
            </a:r>
            <a:endParaRPr lang="en-US" sz="28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9A49DA-DA15-395B-5EF8-B05BB699B656}"/>
              </a:ext>
            </a:extLst>
          </p:cNvPr>
          <p:cNvSpPr/>
          <p:nvPr/>
        </p:nvSpPr>
        <p:spPr>
          <a:xfrm>
            <a:off x="5148825" y="2708031"/>
            <a:ext cx="2192215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38BA5F-1D1E-F04D-27D3-167B31968D22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64523" y="3068516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8026AC5-2A5B-3AA3-F0F9-5577CE7A09C5}"/>
              </a:ext>
            </a:extLst>
          </p:cNvPr>
          <p:cNvSpPr txBox="1"/>
          <p:nvPr/>
        </p:nvSpPr>
        <p:spPr>
          <a:xfrm>
            <a:off x="3717904" y="2483740"/>
            <a:ext cx="1077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input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96C380-81A1-A326-F033-AC52AA77F3A3}"/>
              </a:ext>
            </a:extLst>
          </p:cNvPr>
          <p:cNvCxnSpPr/>
          <p:nvPr/>
        </p:nvCxnSpPr>
        <p:spPr>
          <a:xfrm>
            <a:off x="7341040" y="3065585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7AD22F-BAB5-5308-1EA0-861982795151}"/>
              </a:ext>
            </a:extLst>
          </p:cNvPr>
          <p:cNvSpPr txBox="1"/>
          <p:nvPr/>
        </p:nvSpPr>
        <p:spPr>
          <a:xfrm>
            <a:off x="7483709" y="240978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2050" name="Picture 2" descr="Bug Vector Art, Icons, and Graphics for Free Download">
            <a:extLst>
              <a:ext uri="{FF2B5EF4-FFF2-40B4-BE49-F238E27FC236}">
                <a16:creationId xmlns:a16="http://schemas.microsoft.com/office/drawing/2014/main" id="{7593ADCF-3CEE-86C5-96FD-EC83B4BA209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7337" y="2263616"/>
            <a:ext cx="1603937" cy="1603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4178DC8-9684-CA7F-C793-1B0E41D5A6D2}"/>
              </a:ext>
            </a:extLst>
          </p:cNvPr>
          <p:cNvCxnSpPr>
            <a:cxnSpLocks/>
            <a:stCxn id="6" idx="3"/>
            <a:endCxn id="3" idx="2"/>
          </p:cNvCxnSpPr>
          <p:nvPr/>
        </p:nvCxnSpPr>
        <p:spPr>
          <a:xfrm flipH="1">
            <a:off x="2268416" y="3068516"/>
            <a:ext cx="5072624" cy="360484"/>
          </a:xfrm>
          <a:prstGeom prst="bentConnector4">
            <a:avLst>
              <a:gd name="adj1" fmla="val -15138"/>
              <a:gd name="adj2" fmla="val 316261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14991EC-5314-E56E-82BD-A81D933CE5F4}"/>
              </a:ext>
            </a:extLst>
          </p:cNvPr>
          <p:cNvSpPr txBox="1"/>
          <p:nvPr/>
        </p:nvSpPr>
        <p:spPr>
          <a:xfrm>
            <a:off x="946885" y="1756354"/>
            <a:ext cx="33429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Source for random input on *nix systems</a:t>
            </a:r>
          </a:p>
        </p:txBody>
      </p:sp>
    </p:spTree>
    <p:extLst>
      <p:ext uri="{BB962C8B-B14F-4D97-AF65-F5344CB8AC3E}">
        <p14:creationId xmlns:p14="http://schemas.microsoft.com/office/powerpoint/2010/main" val="3213064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4A43CB-256C-C1B8-FEAE-F10E3EF8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Incorrect argument validation, incorrect type casting, executing untrusted code, etc.</a:t>
            </a:r>
          </a:p>
          <a:p>
            <a:r>
              <a:rPr lang="en-US" dirty="0"/>
              <a:t>Buffer overflows, memory leak, div-by-zero, use-after-free, segmentation fault, and so on…</a:t>
            </a:r>
          </a:p>
          <a:p>
            <a:r>
              <a:rPr lang="en-US" b="1" i="1" dirty="0"/>
              <a:t>Applications written in any language can be fuzzed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BEFB97-AA84-4D09-4122-D285E09D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bugs</a:t>
            </a:r>
          </a:p>
        </p:txBody>
      </p:sp>
    </p:spTree>
    <p:extLst>
      <p:ext uri="{BB962C8B-B14F-4D97-AF65-F5344CB8AC3E}">
        <p14:creationId xmlns:p14="http://schemas.microsoft.com/office/powerpoint/2010/main" val="86771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B9979-F30B-2344-5324-B3488C174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American fuzzy lop (AFL)</a:t>
            </a:r>
          </a:p>
          <a:p>
            <a:r>
              <a:rPr lang="en-US" dirty="0" err="1"/>
              <a:t>Fuzzer</a:t>
            </a:r>
            <a:r>
              <a:rPr lang="en-US" dirty="0"/>
              <a:t> for C/C++ applications</a:t>
            </a:r>
          </a:p>
          <a:p>
            <a:r>
              <a:rPr lang="en-US" b="1" i="1" dirty="0"/>
              <a:t>Does more than just generate random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9C796F-4C3B-DC39-ACB7-1F0540A8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1026" name="Picture 2" descr="American Fuzzy Lop Rabbit - Complete Guide">
            <a:extLst>
              <a:ext uri="{FF2B5EF4-FFF2-40B4-BE49-F238E27FC236}">
                <a16:creationId xmlns:a16="http://schemas.microsoft.com/office/drawing/2014/main" id="{CC40A277-5996-9076-2066-F89344586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4445" y="2986857"/>
            <a:ext cx="3346572" cy="220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994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BED51D-D1C4-A351-7B47-2B81C9D14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https://github.com/wolframroesler/afl-demo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077161-280A-1155-75B7-62FFD8835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</p:spTree>
    <p:extLst>
      <p:ext uri="{BB962C8B-B14F-4D97-AF65-F5344CB8AC3E}">
        <p14:creationId xmlns:p14="http://schemas.microsoft.com/office/powerpoint/2010/main" val="3589284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FBE93-664E-9DE5-4768-6C3DDE8B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08DB44-8255-2DB4-73DF-AA0EF75FA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Pros: generating random inputs is simple</a:t>
            </a:r>
          </a:p>
          <a:p>
            <a:r>
              <a:rPr lang="en-US" dirty="0"/>
              <a:t>Cons: random inputs are not good inputs</a:t>
            </a:r>
          </a:p>
          <a:p>
            <a:r>
              <a:rPr lang="en-US" dirty="0"/>
              <a:t>E.g., fuzzing a SQL database software</a:t>
            </a:r>
          </a:p>
          <a:p>
            <a:pPr lvl="1"/>
            <a:r>
              <a:rPr lang="en-US" dirty="0"/>
              <a:t>Real inputs: </a:t>
            </a:r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Random inputs: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aVkjW3txpLZ044zo5kLdUlsU2MtlLNkhwxI8Aew7c0KPfTS115i2rzfBlgod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database will reject such statements as invalid SQL and not execute the SQL command -&gt; the SQL code will not even be tested</a:t>
            </a:r>
          </a:p>
          <a:p>
            <a:pPr lvl="2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343C86-C735-01C6-18D8-A53CBF0D2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947802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8CBC4B-F214-100A-91BD-E9E13E945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some known valid inputs called </a:t>
            </a:r>
            <a:r>
              <a:rPr lang="en-US" i="1" dirty="0"/>
              <a:t>“seeds”</a:t>
            </a:r>
          </a:p>
          <a:p>
            <a:r>
              <a:rPr lang="en-US" dirty="0"/>
              <a:t>Keep mutating them based on some “strategy”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D1A3-DE35-9A90-E285-94F7E794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</a:t>
            </a:r>
            <a:r>
              <a:rPr lang="en-US" dirty="0" err="1"/>
              <a:t>fuzzer</a:t>
            </a:r>
            <a:r>
              <a:rPr lang="en-US" dirty="0"/>
              <a:t> - generate inputs via mutation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12D19A-D15A-A2ED-CDFB-ABDD5EAF45E5}"/>
              </a:ext>
            </a:extLst>
          </p:cNvPr>
          <p:cNvSpPr/>
          <p:nvPr/>
        </p:nvSpPr>
        <p:spPr>
          <a:xfrm>
            <a:off x="5169132" y="3226296"/>
            <a:ext cx="1426610" cy="72096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input’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B46B2D-2E13-1EFF-FC18-F81ABF0D4E03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 flipV="1">
            <a:off x="2366007" y="3590938"/>
            <a:ext cx="762828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3A831E-21C6-2E5E-A545-29978A18E01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595742" y="3586781"/>
            <a:ext cx="372701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9645E2-BBD5-3057-3440-CC5EC7130D23}"/>
              </a:ext>
            </a:extLst>
          </p:cNvPr>
          <p:cNvSpPr txBox="1"/>
          <p:nvPr/>
        </p:nvSpPr>
        <p:spPr>
          <a:xfrm>
            <a:off x="8539521" y="271929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12" name="Picture 2" descr="Bug Vector Art, Icons, and Graphics for Free Download">
            <a:extLst>
              <a:ext uri="{FF2B5EF4-FFF2-40B4-BE49-F238E27FC236}">
                <a16:creationId xmlns:a16="http://schemas.microsoft.com/office/drawing/2014/main" id="{1970E00B-667B-6F68-CCEA-0DD42C836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7456" y="2796534"/>
            <a:ext cx="1603937" cy="1603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DF5DC9A-2DB0-D57D-BE00-62C75478EFD4}"/>
              </a:ext>
            </a:extLst>
          </p:cNvPr>
          <p:cNvGrpSpPr/>
          <p:nvPr/>
        </p:nvGrpSpPr>
        <p:grpSpPr>
          <a:xfrm>
            <a:off x="616861" y="2739463"/>
            <a:ext cx="1749146" cy="1211960"/>
            <a:chOff x="1058859" y="2964386"/>
            <a:chExt cx="2543474" cy="1211960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852FB30-EBFF-ECA5-8BFA-8EA8DAF2CEF7}"/>
                </a:ext>
              </a:extLst>
            </p:cNvPr>
            <p:cNvSpPr/>
            <p:nvPr/>
          </p:nvSpPr>
          <p:spPr>
            <a:xfrm>
              <a:off x="1058859" y="2964386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D90F5A6-4776-B026-EE9F-7A0E11B73EE3}"/>
                </a:ext>
              </a:extLst>
            </p:cNvPr>
            <p:cNvSpPr/>
            <p:nvPr/>
          </p:nvSpPr>
          <p:spPr>
            <a:xfrm>
              <a:off x="1168337" y="316850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4FD54A6-DF31-95C4-DDE7-352585BF6DEE}"/>
                </a:ext>
              </a:extLst>
            </p:cNvPr>
            <p:cNvSpPr/>
            <p:nvPr/>
          </p:nvSpPr>
          <p:spPr>
            <a:xfrm>
              <a:off x="1277815" y="3317631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6CAFABF-3FC5-7A6C-3ADB-9442C7DE7524}"/>
                </a:ext>
              </a:extLst>
            </p:cNvPr>
            <p:cNvSpPr/>
            <p:nvPr/>
          </p:nvSpPr>
          <p:spPr>
            <a:xfrm>
              <a:off x="1410118" y="345537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24F13FD-814D-0237-7787-7EA681808594}"/>
              </a:ext>
            </a:extLst>
          </p:cNvPr>
          <p:cNvSpPr/>
          <p:nvPr/>
        </p:nvSpPr>
        <p:spPr>
          <a:xfrm>
            <a:off x="3128835" y="3230453"/>
            <a:ext cx="1506640" cy="720969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</a:t>
            </a:r>
            <a:endParaRPr lang="en-US" sz="28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47AD3A9-E74E-9F8B-86B5-F57BC7CAD6F7}"/>
              </a:ext>
            </a:extLst>
          </p:cNvPr>
          <p:cNvCxnSpPr>
            <a:cxnSpLocks/>
            <a:stCxn id="17" idx="3"/>
            <a:endCxn id="7" idx="1"/>
          </p:cNvCxnSpPr>
          <p:nvPr/>
        </p:nvCxnSpPr>
        <p:spPr>
          <a:xfrm flipV="1">
            <a:off x="4635475" y="3586781"/>
            <a:ext cx="533657" cy="4157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10CD67-9A37-99F8-C577-89CAAC11B619}"/>
              </a:ext>
            </a:extLst>
          </p:cNvPr>
          <p:cNvSpPr txBox="1"/>
          <p:nvPr/>
        </p:nvSpPr>
        <p:spPr>
          <a:xfrm>
            <a:off x="2613035" y="4154632"/>
            <a:ext cx="25590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7862C4-D4D6-1C67-555B-BE51018AB056}"/>
              </a:ext>
            </a:extLst>
          </p:cNvPr>
          <p:cNvSpPr txBox="1"/>
          <p:nvPr/>
        </p:nvSpPr>
        <p:spPr>
          <a:xfrm>
            <a:off x="5016869" y="4176013"/>
            <a:ext cx="23591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Z</a:t>
            </a:r>
            <a:r>
              <a:rPr lang="en-US" dirty="0" err="1">
                <a:latin typeface="Consolas" panose="020B0609020204030204" pitchFamily="49" charset="0"/>
              </a:rPr>
              <a:t>tabl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E1FEE090-A2C0-D3E3-2750-464E0A8ACADD}"/>
              </a:ext>
            </a:extLst>
          </p:cNvPr>
          <p:cNvSpPr/>
          <p:nvPr/>
        </p:nvSpPr>
        <p:spPr>
          <a:xfrm>
            <a:off x="6968443" y="3238018"/>
            <a:ext cx="1909716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5BC0C03-29E1-E4A6-0C77-37A372758CA3}"/>
              </a:ext>
            </a:extLst>
          </p:cNvPr>
          <p:cNvCxnSpPr>
            <a:cxnSpLocks/>
            <a:stCxn id="39" idx="3"/>
            <a:endCxn id="12" idx="1"/>
          </p:cNvCxnSpPr>
          <p:nvPr/>
        </p:nvCxnSpPr>
        <p:spPr>
          <a:xfrm>
            <a:off x="8878159" y="3598503"/>
            <a:ext cx="1349297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97F61D1A-32B5-6452-A0A0-4300B4F7B348}"/>
              </a:ext>
            </a:extLst>
          </p:cNvPr>
          <p:cNvGrpSpPr/>
          <p:nvPr/>
        </p:nvGrpSpPr>
        <p:grpSpPr>
          <a:xfrm>
            <a:off x="2351798" y="2236913"/>
            <a:ext cx="867545" cy="1148182"/>
            <a:chOff x="2351798" y="2236913"/>
            <a:chExt cx="867545" cy="11481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F035C5C-58C7-E1B7-2916-48F61E31997B}"/>
                </a:ext>
              </a:extLst>
            </p:cNvPr>
            <p:cNvSpPr txBox="1"/>
            <p:nvPr/>
          </p:nvSpPr>
          <p:spPr>
            <a:xfrm>
              <a:off x="2351798" y="28003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8C8C216-5C64-5F40-2097-084756518014}"/>
                </a:ext>
              </a:extLst>
            </p:cNvPr>
            <p:cNvSpPr/>
            <p:nvPr/>
          </p:nvSpPr>
          <p:spPr>
            <a:xfrm>
              <a:off x="2431511" y="2236913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1</a:t>
              </a:r>
              <a:endParaRPr lang="en-US" sz="24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E97B814-D6F4-9882-5713-E5F6AE186A73}"/>
              </a:ext>
            </a:extLst>
          </p:cNvPr>
          <p:cNvGrpSpPr/>
          <p:nvPr/>
        </p:nvGrpSpPr>
        <p:grpSpPr>
          <a:xfrm>
            <a:off x="4303565" y="2215485"/>
            <a:ext cx="1426609" cy="1092289"/>
            <a:chOff x="4303565" y="2215485"/>
            <a:chExt cx="1426609" cy="1092289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38624DA-EFF4-8772-BC84-4F59CF0B5B7B}"/>
                </a:ext>
              </a:extLst>
            </p:cNvPr>
            <p:cNvSpPr txBox="1"/>
            <p:nvPr/>
          </p:nvSpPr>
          <p:spPr>
            <a:xfrm>
              <a:off x="4303565" y="27229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713EE3-300B-82CD-7ECA-782117D0130C}"/>
                </a:ext>
              </a:extLst>
            </p:cNvPr>
            <p:cNvSpPr/>
            <p:nvPr/>
          </p:nvSpPr>
          <p:spPr>
            <a:xfrm>
              <a:off x="4586393" y="2215485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2</a:t>
              </a:r>
              <a:endParaRPr lang="en-US" sz="2400" dirty="0"/>
            </a:p>
          </p:txBody>
        </p:sp>
      </p:grp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4901CF0-5A96-EE86-5C7C-8AF8153ABBC2}"/>
              </a:ext>
            </a:extLst>
          </p:cNvPr>
          <p:cNvCxnSpPr>
            <a:cxnSpLocks/>
            <a:endCxn id="15" idx="2"/>
          </p:cNvCxnSpPr>
          <p:nvPr/>
        </p:nvCxnSpPr>
        <p:spPr>
          <a:xfrm rot="10800000" flipV="1">
            <a:off x="1612215" y="360955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C1BFD9D-C2AE-552F-25E4-3C40253AC45F}"/>
              </a:ext>
            </a:extLst>
          </p:cNvPr>
          <p:cNvSpPr/>
          <p:nvPr/>
        </p:nvSpPr>
        <p:spPr>
          <a:xfrm>
            <a:off x="3903785" y="1992923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35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35926-0E03-A3BC-F98A-AD68A3EB5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B16B5-E877-084C-9E26-65ECAAE83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E70A6D-E5F6-1555-8409-16315E38C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B37001-0FA7-C43A-5FD8-9EB734A03A6D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6E585B4-B8F1-84AB-8702-75341978FB94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7E537C3-35DB-F840-5FE4-23B95F0ADB2C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3D55B8C-7D5B-B15B-5A6C-1F725094BBF8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382D595-D2F7-4BAB-52E7-2CCABB216486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C73BCE62-FF4D-8AF7-B616-F898414420D7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109FB87-430D-CC89-A4BE-4DBA925BB23C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6F152AB-EBE0-D654-E96C-785CC7B22369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AB69529-45F3-33E2-4205-8DAAC83BFB3F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B21B84B-7955-D49F-8CDB-68EFD9854D70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19D139D-C475-405D-9205-281CEF17E5E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C298679-8E2C-A05F-E5DE-CE0EA21F31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5AED589-F07A-3445-96B8-A35381050AD6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88E6AE9-8966-B4FD-4945-94169C11DAD5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DF5956D-732B-8B1F-B569-4F340764455A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72335DD-ECC8-B42B-4DE5-B8E8A5C36919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24E67C0F-CF81-0643-2EF4-1EF510C873E1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C767B80-36C4-AEBA-4DE4-0129C00FF94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A0C03DE-3315-478A-C6B6-47C4C84154E8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AA78C12-4510-6C4A-287A-F3E4C9612F71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3DF751-F6CC-523B-9DEA-BFC7BE62F180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6FCA304-31C2-135B-2CD7-90B5FE0481EB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0CCCB89-9CA7-65F2-C313-326744B2A22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5149E3E-A6A9-A6ED-C675-5793C83D6233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153DC5B-B4C7-933A-958C-E01BCC160F59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B2B1B3A-55F2-DCE9-32DE-A9F256AEBF4E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2221335-AEE2-1B9E-E40B-11FBBBA8F663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E310535-FEF5-BAE4-8DA2-58FE02B6AE63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4557114-7757-1630-B140-11EB3B1F40EE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C2FE3C9-78AE-AEC0-F804-21CB65AFCB4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125EA66-01F2-2084-6079-5B69287CD327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9C0EE6A-7012-8E4A-8184-5ABDD41D8986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E61E8BA-A06E-72F0-C68B-6A1159D9B74D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82AF3B5-5976-2BB7-D643-4DF2EFC71E85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A872B96B-91C6-99F7-EE79-8A3819AC647D}"/>
              </a:ext>
            </a:extLst>
          </p:cNvPr>
          <p:cNvSpPr/>
          <p:nvPr/>
        </p:nvSpPr>
        <p:spPr>
          <a:xfrm>
            <a:off x="5518471" y="3716215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CB5B6F-09FB-D185-298C-0E12147029B8}"/>
              </a:ext>
            </a:extLst>
          </p:cNvPr>
          <p:cNvSpPr/>
          <p:nvPr/>
        </p:nvSpPr>
        <p:spPr>
          <a:xfrm>
            <a:off x="9233638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CA027DAE-D950-CC35-2BC8-14BB4074B66F}"/>
              </a:ext>
            </a:extLst>
          </p:cNvPr>
          <p:cNvCxnSpPr>
            <a:stCxn id="39" idx="0"/>
            <a:endCxn id="40" idx="0"/>
          </p:cNvCxnSpPr>
          <p:nvPr/>
        </p:nvCxnSpPr>
        <p:spPr>
          <a:xfrm rot="5400000" flipH="1" flipV="1">
            <a:off x="8266155" y="1829668"/>
            <a:ext cx="57928" cy="3715167"/>
          </a:xfrm>
          <a:prstGeom prst="curvedConnector3">
            <a:avLst>
              <a:gd name="adj1" fmla="val 1526731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C2F8A90A-80CD-2213-353F-5818131C423F}"/>
              </a:ext>
            </a:extLst>
          </p:cNvPr>
          <p:cNvCxnSpPr>
            <a:cxnSpLocks/>
            <a:stCxn id="40" idx="2"/>
            <a:endCxn id="39" idx="2"/>
          </p:cNvCxnSpPr>
          <p:nvPr/>
        </p:nvCxnSpPr>
        <p:spPr>
          <a:xfrm rot="5400000">
            <a:off x="8266156" y="3072315"/>
            <a:ext cx="57928" cy="3715167"/>
          </a:xfrm>
          <a:prstGeom prst="curvedConnector3">
            <a:avLst>
              <a:gd name="adj1" fmla="val 1202935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9F3FB04-4CED-F964-071E-492AF47AA336}"/>
              </a:ext>
            </a:extLst>
          </p:cNvPr>
          <p:cNvSpPr txBox="1"/>
          <p:nvPr/>
        </p:nvSpPr>
        <p:spPr>
          <a:xfrm>
            <a:off x="7427950" y="2391508"/>
            <a:ext cx="1074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Shuffle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4865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5A86E-7000-FFDF-900B-5BF96DA46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47E88A-9387-9650-71DB-2E688D965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FA3702-240A-F69D-62A9-F107F7DF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977A824-0F3D-2471-68E3-AE279489F610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D54949-C9F7-FA28-1D92-A05FD281F2A9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6C044F-5D22-F602-7EA2-8D1E62135A82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B5DC86-BFB1-F2D8-5DC4-BF775D779286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D112CF7-28A9-529F-31B2-DEA3B9321193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73EA85D-D9CD-803E-AC90-148B08381B68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67315A6-1E29-6A8E-5004-A5C7EBAD36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AD4DEBB-0EA1-8F36-558A-A89E03EB317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219ADE4-CBEB-CE6E-34C4-B2D8A63C66D9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1F1C9FDD-AFE3-1CD1-B32A-1EE16C37F3B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BBAD356-624D-DE36-C82F-A6719E6F081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AD4483F5-B741-C2B5-B43C-472D55EF45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940C4067-3F6A-7AA5-2ECC-C2273F861279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C7E5F169-601C-77A0-38D2-C1490D85A2B4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854521E-77CC-8952-A4D5-0AD585AC0EF1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33604F6-CA24-979C-7F8E-FE678E44B30C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A396E0AF-D598-4EC2-6821-080999CB4E44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2A30281-EE44-5195-653C-C5F27A5DA091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64FE9E6-00FA-4BFA-4865-1F26E19D57F1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02BC78B-ECC2-4679-53F3-C2BD2E55BDC5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B7EDCF7-0D35-9512-D5E3-0451663F9DBA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28E4CC3-5A42-6F67-E165-72F656A0ADDC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BDDD27A-0DCC-F17D-315B-FC4DED092FCF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F3EB6A-3EA0-0D59-B5C1-848D893004D7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486A73-AE01-B9FC-9913-DF3D9DD882D4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8EB021C-5011-9916-79D3-9EB17E85EB61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50FC57A-A40E-B663-978B-BDC763A805B0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50154B9-3D79-2FF3-B700-03A47AED77A9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EE794C7-A057-31BC-FC18-B101143D8C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E8A73A-05E2-2CD4-6886-C51CD94D5BA6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23AAF24-5565-63D3-6E80-FAEB656D3ACC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74F8AA2-AFC8-D98E-D7A8-0A6EA325EFA8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2B33661-2E73-2B27-DE31-46D8B323A9C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BED6D39-60F1-09D0-C87B-22B4583C4C49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7218D67-07E3-329D-031A-9F1EB2E6A69F}"/>
              </a:ext>
            </a:extLst>
          </p:cNvPr>
          <p:cNvSpPr txBox="1"/>
          <p:nvPr/>
        </p:nvSpPr>
        <p:spPr>
          <a:xfrm>
            <a:off x="8181003" y="3357692"/>
            <a:ext cx="1723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New input</a:t>
            </a:r>
          </a:p>
        </p:txBody>
      </p:sp>
    </p:spTree>
    <p:extLst>
      <p:ext uri="{BB962C8B-B14F-4D97-AF65-F5344CB8AC3E}">
        <p14:creationId xmlns:p14="http://schemas.microsoft.com/office/powerpoint/2010/main" val="58014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828E-EBCB-E07E-B129-BE7E7B3F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2FADD7-9638-99A8-E079-675EAA53A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82C94F-C639-6E26-31F5-3B37E239B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1544AE3-3F13-EB21-72F9-5C50D585B544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71055F2-7B92-EA53-AA5A-4C81F9AE6C87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D8C95C60-082A-4A19-896A-8A628BDB3625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CE4D27F-6DEA-5BF9-4994-2A8BDAF59062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3864ACB-5579-E2B7-4367-F47D423C4B88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65198B7-807D-26D2-9D7B-018A839CA44C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A3A63ED-62C6-B956-FB2F-F32CCD0A17BA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BDC267B-7866-6492-7212-3EE3E59104C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587F119-A950-A4AA-EFD4-32CA718F9576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68E618C-E3B7-455B-E623-E36437FADE6E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6940696-B504-C97D-38D3-41E912899BF2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54097CC-6B11-EF7A-9804-432A6CCD7E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720CFAD-2EBC-CB04-03A2-F6936C8E286D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F391C02-15E0-DBF1-785D-7D85C71B269B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473CC67-6DCF-EF7D-D789-9BE3ECBD3860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5B68F77B-D905-FEEC-749A-4B138711895A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54A56E8-BB04-6FB9-A3D5-98ED9BA0378E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F6DD3254-A5EA-7FE6-541C-92563DF00FA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1AA70C7-1E3C-071B-08A7-A33F105D3137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D7B700-CB15-0472-3D16-A4E546F3DA40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38B9EB-7BE2-7638-FADA-A4FEAF337936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9F6EA0C-99C0-6FB5-2E4B-CEEB5F814F2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7B0DCC-1EE7-5B3F-3104-2BBEA7637E3A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6C4065A-4270-B867-43AA-ADCB90B1993B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C4CCA7E-7B33-5E71-5310-E2E6D423468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34BCF0E-413C-6EDB-D1AB-F2F4766A7089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C43C99F-D79A-2EAF-EF27-6006CD21008B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855822-8F10-A0CF-FD35-81A6BF5358F7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79F738A-8F5F-EAE3-849F-B83C01FA6B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5F44D7C-E3FA-60CB-6B78-8FA80A3F43E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D61FF4B-B5FE-EE97-6874-3A2C2404FD0B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CDA2316-A134-BA68-0DB5-489EA0F9A460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16AA3-87E3-EF38-1E91-511FE7BE894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30A0832-049C-3F61-B15B-D5F4BD080C33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9CCC6DBB-79A2-08BB-B72C-3393A5087D46}"/>
              </a:ext>
            </a:extLst>
          </p:cNvPr>
          <p:cNvSpPr/>
          <p:nvPr/>
        </p:nvSpPr>
        <p:spPr>
          <a:xfrm>
            <a:off x="7381623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B51333-A737-C14B-60F4-0CE641EA3475}"/>
              </a:ext>
            </a:extLst>
          </p:cNvPr>
          <p:cNvSpPr txBox="1"/>
          <p:nvPr/>
        </p:nvSpPr>
        <p:spPr>
          <a:xfrm>
            <a:off x="7776878" y="3118536"/>
            <a:ext cx="877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Erase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0761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0A156-06D6-99FF-D139-09DD73EB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EB4115-FFBF-0D8E-BD63-6DEC5DACC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E945D1-A2F2-3AB1-88AF-82A25897D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82DCCDC-5960-89D2-0710-9B6F24345CB5}"/>
              </a:ext>
            </a:extLst>
          </p:cNvPr>
          <p:cNvGrpSpPr/>
          <p:nvPr/>
        </p:nvGrpSpPr>
        <p:grpSpPr>
          <a:xfrm>
            <a:off x="1072662" y="3992397"/>
            <a:ext cx="8144776" cy="613393"/>
            <a:chOff x="703386" y="3898613"/>
            <a:chExt cx="8144776" cy="61339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E81F399-0C38-C1BE-416D-D3D753EF006C}"/>
                </a:ext>
              </a:extLst>
            </p:cNvPr>
            <p:cNvGrpSpPr/>
            <p:nvPr/>
          </p:nvGrpSpPr>
          <p:grpSpPr>
            <a:xfrm>
              <a:off x="703386" y="3927231"/>
              <a:ext cx="8144776" cy="550984"/>
              <a:chOff x="703386" y="3927231"/>
              <a:chExt cx="8144776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C325A7-C42C-4F27-C9E7-B63E0B346C3C}"/>
                  </a:ext>
                </a:extLst>
              </p:cNvPr>
              <p:cNvSpPr/>
              <p:nvPr/>
            </p:nvSpPr>
            <p:spPr>
              <a:xfrm>
                <a:off x="703386" y="3927231"/>
                <a:ext cx="8144776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4896ED86-943A-65BF-6401-C01E0928AF3E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52BE87C-650B-8BF0-806F-EDF9A9FDCB7D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BDFB79C-0311-D967-60DB-48EEB70A7C53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7B9C3F2-9A70-21D1-6951-5819F40D38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0AFBAFE-0503-7CA2-C52F-EBC5EF3F6CAE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63235B1-BBBA-582A-B6E2-F75D58993DB5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634B2EC8-8A04-D083-CD05-297BEF2B5B6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17952E0-3FE3-7E33-CB1C-27E9131FC0CD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7A15AA06-7E6F-333D-41CA-A8A03704F7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FA1117E-289B-0333-D67B-F4E0D59D6350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DB3CB67-80F7-1CA6-C91B-51D448BD3910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B60815-699C-872E-6037-A2DB3FA7E8D8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1683B8D-ACAA-EC54-4826-87E9FD4946DF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68DBA1E-6EB7-A493-EBED-88EC0CAD6339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B8CA0CA-BFEF-289D-E03F-FE5248E7BA5C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357222B-8603-062D-0711-6FD38E22F60D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9195586-6825-C24F-565D-78A80F63FE7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79147B-82FE-2DE3-4EDD-2C0260258B1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6FA5EE8-6C7F-3474-BB95-0B491AC3FC54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ADD8F28-C9E8-81BC-863B-07F360C04D9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00EBBF-4F58-91DF-7C44-FFB721E68C04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4D15CDB-BA66-88A2-9FC4-28274DBD5392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470FBC9-49F7-6B51-BBB7-1336DF72C733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BA972D0-58EB-65C5-10E2-C84E6288C8DC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D99832-BDD8-EEAB-D853-EC33887302EE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236A3D4-1539-C27A-84FB-29CAD6DD7D6A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218B2B6-A3D8-226C-5737-E38FC2ED21ED}"/>
              </a:ext>
            </a:extLst>
          </p:cNvPr>
          <p:cNvSpPr txBox="1"/>
          <p:nvPr/>
        </p:nvSpPr>
        <p:spPr>
          <a:xfrm>
            <a:off x="7301013" y="3429000"/>
            <a:ext cx="15161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Next input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39000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DA50E-8F05-62A5-0793-AA01EA300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Simple to implement</a:t>
            </a:r>
          </a:p>
          <a:p>
            <a:pPr lvl="1"/>
            <a:r>
              <a:rPr lang="en-US" dirty="0"/>
              <a:t>Good for binary inputs and streams</a:t>
            </a:r>
          </a:p>
          <a:p>
            <a:pPr lvl="2"/>
            <a:r>
              <a:rPr lang="en-US" dirty="0"/>
              <a:t>JPEG file encoder/decoder</a:t>
            </a:r>
          </a:p>
          <a:p>
            <a:r>
              <a:rPr lang="en-US" dirty="0"/>
              <a:t>Disadvantages:</a:t>
            </a:r>
          </a:p>
          <a:p>
            <a:pPr lvl="1"/>
            <a:r>
              <a:rPr lang="en-US" dirty="0"/>
              <a:t>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6EAD3D-56D9-DC5B-EC6B-DDD98EF31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</p:spTree>
    <p:extLst>
      <p:ext uri="{BB962C8B-B14F-4D97-AF65-F5344CB8AC3E}">
        <p14:creationId xmlns:p14="http://schemas.microsoft.com/office/powerpoint/2010/main" val="175652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9B757-781A-A9F5-4B86-6E5FC7C77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999207-5A07-D3B7-89CF-404A343FF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Programmer provides a dictionary of “keywords”</a:t>
            </a:r>
          </a:p>
          <a:p>
            <a:pPr lvl="1"/>
            <a:r>
              <a:rPr lang="en-US" dirty="0"/>
              <a:t>For SQL, could include </a:t>
            </a:r>
            <a:r>
              <a:rPr lang="en-US" dirty="0">
                <a:latin typeface="Consolas" panose="020B0609020204030204" pitchFamily="49" charset="0"/>
              </a:rPr>
              <a:t>CREATE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INSERT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INTO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FROM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INTEGER</a:t>
            </a:r>
            <a:r>
              <a:rPr lang="en-US" dirty="0"/>
              <a:t>, and so on…</a:t>
            </a:r>
          </a:p>
          <a:p>
            <a:pPr lvl="1"/>
            <a:r>
              <a:rPr lang="en-US" dirty="0"/>
              <a:t>For HTML, could include HTML tags </a:t>
            </a:r>
            <a:r>
              <a:rPr lang="en-US" dirty="0">
                <a:latin typeface="Consolas" panose="020B0609020204030204" pitchFamily="49" charset="0"/>
              </a:rPr>
              <a:t>&lt;html&gt;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&lt;body&gt;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&lt;p&gt;</a:t>
            </a:r>
            <a:r>
              <a:rPr lang="en-US" dirty="0"/>
              <a:t>, and so on…</a:t>
            </a:r>
          </a:p>
          <a:p>
            <a:r>
              <a:rPr lang="en-US" dirty="0"/>
              <a:t>Mutate the input by replacing or adding a chosen keyword from this dictionary</a:t>
            </a:r>
          </a:p>
          <a:p>
            <a:r>
              <a:rPr lang="en-US" dirty="0"/>
              <a:t>Input - </a:t>
            </a:r>
            <a:r>
              <a:rPr lang="en-US" dirty="0">
                <a:latin typeface="Consolas" panose="020B0609020204030204" pitchFamily="49" charset="0"/>
              </a:rPr>
              <a:t>&lt;html&gt;&lt;body&gt;&lt;p&gt;Hello world &lt;/p&gt;&lt;/body&gt;&lt;/html&gt;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/>
              <a:t>Dictionary - </a:t>
            </a:r>
            <a:r>
              <a:rPr lang="en-US" dirty="0">
                <a:latin typeface="Consolas" panose="020B0609020204030204" pitchFamily="49" charset="0"/>
              </a:rPr>
              <a:t>{&lt;html&gt;, &lt;body&gt;, &lt;p&gt;,…}</a:t>
            </a:r>
            <a:br>
              <a:rPr lang="en-US" dirty="0"/>
            </a:br>
            <a:r>
              <a:rPr lang="en-US" dirty="0"/>
              <a:t>Mutated input –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</a:rPr>
              <a:t>&lt;html&gt;&lt;body&gt;&lt;p&gt; Hello world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&lt;p&gt;, Welcome!&lt;/p&gt; </a:t>
            </a:r>
            <a:r>
              <a:rPr lang="en-US" dirty="0">
                <a:latin typeface="Consolas" panose="020B0609020204030204" pitchFamily="49" charset="0"/>
              </a:rPr>
              <a:t>&lt;/p&gt;&lt;/html&gt;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829491C-2AC3-6247-57B5-D58F65075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2055563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13A7D-AFC6-5A83-73DA-6B2175D8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57B42-35CD-DCDA-EB49-7CDC2C58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Still simple to implement</a:t>
            </a:r>
          </a:p>
          <a:p>
            <a:pPr lvl="1"/>
            <a:r>
              <a:rPr lang="en-US" dirty="0"/>
              <a:t>Works reasonably well for structured inputs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Still 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4BFBE8-5015-B570-2645-101A674B0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3850530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DD385A-877A-1063-DA72-4CB7B7936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mutators produce </a:t>
            </a:r>
            <a:r>
              <a:rPr lang="en-US" b="1" i="1" dirty="0"/>
              <a:t>many </a:t>
            </a:r>
            <a:r>
              <a:rPr lang="en-US" dirty="0"/>
              <a:t>invalid inputs</a:t>
            </a:r>
          </a:p>
          <a:p>
            <a:r>
              <a:rPr lang="en-US" dirty="0"/>
              <a:t>E.g. malformed HTML, malformed SQL queries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&lt;html&gt;&lt;body&gt;&lt;/P.&lt;/</a:t>
            </a:r>
            <a:r>
              <a:rPr lang="en-US" dirty="0" err="1">
                <a:latin typeface="Consolas" panose="020B0609020204030204" pitchFamily="49" charset="0"/>
              </a:rPr>
              <a:t>ht~l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Still produces enough valid test-cases to be </a:t>
            </a:r>
            <a:r>
              <a:rPr lang="en-US" b="1" i="1" dirty="0">
                <a:latin typeface="Helvetica" panose="020B0604020202020204"/>
                <a:cs typeface="Helvetica" panose="020B0604020202020204"/>
              </a:rPr>
              <a:t>very </a:t>
            </a:r>
            <a:r>
              <a:rPr lang="en-US" dirty="0">
                <a:latin typeface="Helvetica" panose="020B0604020202020204"/>
                <a:cs typeface="Helvetica" panose="020B0604020202020204"/>
              </a:rPr>
              <a:t>effective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DD6AD1-73D9-D702-D801-3D149186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5419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D9263C-3105-7E60-005D-6FA8DC6F3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91697D-A3AE-28B6-AFAF-A1C7F2B58D86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42FD3C0-BBBF-62DA-9BD2-52576425862E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35282F4-C7F0-5E7E-8532-891C5D4D00B3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A9196C-04D0-6C62-0D66-02D7C4429B8A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B96AD91-9A69-3B0A-A77F-175CE8BEBDB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4AB4650-B5AD-068C-BD62-30B4824D3205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DA4D4CAE-639D-1EDD-131F-15D007FC49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8D8A86-DEB6-FB9F-1747-AAD490E47EB6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A8D62B9A-4FC9-454B-8426-2DA95F12BDA8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3E98203-74D8-372C-89FA-658904276FE0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4C98E13A-0089-1917-4816-12C6DDA06589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7F504DD9-BF13-6E53-DEE8-58858E8E8B4E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5F82053-BAA6-4A6D-4994-11839B7E1D58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C4F9582-F3E2-0D54-6F0C-09025654DE68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3B82BC3-B2A8-EA2A-AE5F-124ADD559193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AFEAB3A-928E-8978-2114-BDAB65DD04C4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2766B5-BA25-95E4-7B38-AD1FA1708DD1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DCD2028-7BB5-3A34-5B42-B8F0CD7C5DA5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01C1387-C9F7-1DEE-FE0D-038629516449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287D09FC-DB53-54B7-1DDA-0E3B75708411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73F07E-62BE-ACB2-A3D0-47D7866FB3E3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C0229C9-8C83-7AD2-1C47-F5E288C7B244}"/>
              </a:ext>
            </a:extLst>
          </p:cNvPr>
          <p:cNvCxnSpPr>
            <a:cxnSpLocks/>
            <a:endCxn id="24" idx="2"/>
          </p:cNvCxnSpPr>
          <p:nvPr/>
        </p:nvCxnSpPr>
        <p:spPr>
          <a:xfrm rot="10800000" flipV="1">
            <a:off x="1612215" y="268343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707E1C4-5C6A-1838-9564-DE11DD6B1725}"/>
              </a:ext>
            </a:extLst>
          </p:cNvPr>
          <p:cNvSpPr/>
          <p:nvPr/>
        </p:nvSpPr>
        <p:spPr>
          <a:xfrm>
            <a:off x="1786839" y="1007037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08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4D92DF-A3CD-22CF-CE6B-899594A21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Should pick seeds that are “most promising” and likely to find bugs</a:t>
            </a:r>
          </a:p>
          <a:p>
            <a:r>
              <a:rPr lang="en-US" dirty="0"/>
              <a:t>What is </a:t>
            </a:r>
            <a:r>
              <a:rPr lang="en-US" b="1" i="1" dirty="0"/>
              <a:t>“most promising”? 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DD7704-2FF9-967F-D086-27D36D506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pick which seeds to mutate?</a:t>
            </a:r>
          </a:p>
        </p:txBody>
      </p:sp>
    </p:spTree>
    <p:extLst>
      <p:ext uri="{BB962C8B-B14F-4D97-AF65-F5344CB8AC3E}">
        <p14:creationId xmlns:p14="http://schemas.microsoft.com/office/powerpoint/2010/main" val="916565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3AC5B-FE25-E757-E7F0-A4D1A7DFF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3A540B-7A46-A8F0-2B8F-FF0BE6459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 seeds that increase coverage are “more promising”</a:t>
            </a:r>
          </a:p>
          <a:p>
            <a:pPr lvl="1"/>
            <a:r>
              <a:rPr lang="en-US" dirty="0"/>
              <a:t>Explore new program behaviors</a:t>
            </a:r>
          </a:p>
          <a:p>
            <a:pPr lvl="1"/>
            <a:r>
              <a:rPr lang="en-US" dirty="0"/>
              <a:t>Ensures untested paths are tested</a:t>
            </a:r>
          </a:p>
          <a:p>
            <a:r>
              <a:rPr lang="en-US" dirty="0"/>
              <a:t>High coverage = high bug-finding potential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59848AB-6B1E-C8F2-F958-480641C4F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</p:spTree>
    <p:extLst>
      <p:ext uri="{BB962C8B-B14F-4D97-AF65-F5344CB8AC3E}">
        <p14:creationId xmlns:p14="http://schemas.microsoft.com/office/powerpoint/2010/main" val="484030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E676-ECD5-1781-AF26-E88DB4B9D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21E901-F98E-BCE6-D6EA-A6B75FB64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} else {</a:t>
            </a:r>
          </a:p>
          <a:p>
            <a:r>
              <a:rPr lang="en-US" dirty="0"/>
              <a:t>		   </a:t>
            </a:r>
            <a:r>
              <a:rPr lang="en-US" dirty="0" err="1"/>
              <a:t>printf</a:t>
            </a:r>
            <a:r>
              <a:rPr lang="en-US" dirty="0"/>
              <a:t>(“Welcome!\n”);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BEAE-5ADD-188A-9F96-C59C4D3A0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A46E47-6E32-5F51-A447-C5BDCEB985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9366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2E8F0-4A72-C2AB-31FB-43276115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C2ACAF-5FA3-45A5-115E-9BB680003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F0B722-9DFC-2224-03F8-F6C000EB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E9AA76-A554-22D6-859B-0DA029E480D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0 -&gt;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013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ACA2B-54F6-D56B-EFA7-5C4DCD050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04EACE-2135-D66A-E178-D4932AAE4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811EC0-6306-CD9B-383C-C0D2E7CD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7CFD5E-ECE9-480C-5CC3-452F848ED1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11, b = 0 -&gt; no new coverage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219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EB59-F313-ADED-D83A-1EC1EEDE1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0092B-00B7-B695-DA20-7104BDB2C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76230F-6453-A416-DE48-6CEA3D33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9C023F-FD1D-5D27-4540-FD65AB55C8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1 -&gt;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4085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CE7B1-C525-E6C7-5C6E-B4DF8AE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3C43C2-CD90-3534-5CFA-21AF3E779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7C1679-3521-0123-8450-EE0DC351E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066389-54AF-A4FF-9061-7AA98F22381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2 -&gt;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8412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2599A-1280-F750-A2C0-55D833106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787861-7371-C626-25B3-9A4C7030B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C14586-B9C1-8BB7-58D4-ACCE17973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D58262-924B-C4E6-9ABD-D516604F73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3 -&gt;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032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E812-7265-9A74-FF74-53D1A7B69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39BD43-3308-0EBA-9C61-AF26E23DB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</a:t>
            </a:r>
            <a:r>
              <a:rPr lang="en-US" dirty="0">
                <a:highlight>
                  <a:srgbClr val="00FF00"/>
                </a:highlight>
              </a:rPr>
              <a:t>else {</a:t>
            </a:r>
          </a:p>
          <a:p>
            <a:r>
              <a:rPr lang="en-US" dirty="0">
                <a:highlight>
                  <a:srgbClr val="00FF00"/>
                </a:highlight>
              </a:rPr>
              <a:t>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(“Hi!\n”);</a:t>
            </a:r>
          </a:p>
          <a:p>
            <a:r>
              <a:rPr lang="en-US" dirty="0">
                <a:highlight>
                  <a:srgbClr val="00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2778E-C4DE-BDCB-E9B5-7D068D377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FDB6B3-CA03-D8AE-E318-E6710DDADB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-1, b = 3 -&gt;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181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17A329-203A-D64B-E0CF-C12695978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Record the coverage</a:t>
            </a:r>
          </a:p>
          <a:p>
            <a:r>
              <a:rPr lang="en-US" dirty="0"/>
              <a:t>Prioritize mutating input seeds which give higher coverage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9DDC961-5A7A-4D18-5C58-0D942EED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 guided fuzzing</a:t>
            </a:r>
          </a:p>
        </p:txBody>
      </p:sp>
    </p:spTree>
    <p:extLst>
      <p:ext uri="{BB962C8B-B14F-4D97-AF65-F5344CB8AC3E}">
        <p14:creationId xmlns:p14="http://schemas.microsoft.com/office/powerpoint/2010/main" val="17992065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ACBCC6-5E0A-EAF7-10F3-E6CA74194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Coverage-guided </a:t>
            </a:r>
            <a:r>
              <a:rPr lang="en-US" dirty="0" err="1"/>
              <a:t>fuzzer</a:t>
            </a:r>
            <a:r>
              <a:rPr lang="en-US" dirty="0"/>
              <a:t>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3CD121-1F3C-6716-457F-87AC4B62ACD7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5C0DFCB-18A9-57F0-EC23-582FF88369B5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55995E1-5556-FF55-509C-27130F66359B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15CD7E-EC15-F452-1258-3EEF67D57EAC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A44A672-C60A-ADCD-F518-B76CA2EA633D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7B3B6BE-96BA-A94A-F304-F5DC6DD85823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19EFB74A-5B40-5098-32EF-5395218C0C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2C3E769-B251-931E-C104-78AC5E7C622B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EBFC4C92-2743-6C88-F5B2-B10CCF7F65D6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86D59FD8-4D86-D34E-AF0D-0C5179A9EAC6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C69A736F-3EE8-AC2D-EAAD-1697174D7B90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5D09DB08-FA78-6D85-40DC-1C5F214126EC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713684B-374D-EC65-FC57-CB4E6604FF9D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464D7DE-5F61-0769-0594-6205FF7A0D4E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F13C4EA-53AB-5C79-2C27-1AC80EC7A301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464F52-A91D-BCFA-595F-1D24270A04A0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973DF3-ED26-A5F9-D61A-3F85062BBEB3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41C6DA63-202A-2124-76E3-755C87EF65EF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EF2BB8E-407D-6E8A-4FE2-20F205D73DA8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F40F6800-216B-BD49-D992-597F8A55B8E3}"/>
              </a:ext>
            </a:extLst>
          </p:cNvPr>
          <p:cNvCxnSpPr>
            <a:cxnSpLocks/>
            <a:stCxn id="28" idx="2"/>
            <a:endCxn id="24" idx="2"/>
          </p:cNvCxnSpPr>
          <p:nvPr/>
        </p:nvCxnSpPr>
        <p:spPr>
          <a:xfrm rot="5400000" flipH="1">
            <a:off x="4975417" y="-337898"/>
            <a:ext cx="1441188" cy="8167591"/>
          </a:xfrm>
          <a:prstGeom prst="bentConnector3">
            <a:avLst>
              <a:gd name="adj1" fmla="val -15862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2767B-6053-9503-C7A7-A4802B9C4B0E}"/>
              </a:ext>
            </a:extLst>
          </p:cNvPr>
          <p:cNvSpPr/>
          <p:nvPr/>
        </p:nvSpPr>
        <p:spPr>
          <a:xfrm>
            <a:off x="8824948" y="3657714"/>
            <a:ext cx="1909716" cy="808777"/>
          </a:xfrm>
          <a:prstGeom prst="roundRect">
            <a:avLst/>
          </a:prstGeom>
          <a:solidFill>
            <a:schemeClr val="tx1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Coverage detection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C73CBB-3ED8-24A2-E72A-8070A6A4F503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9779806" y="2672383"/>
            <a:ext cx="0" cy="98533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41AE26A-BAA6-7967-8A7E-2F46226DCA28}"/>
              </a:ext>
            </a:extLst>
          </p:cNvPr>
          <p:cNvSpPr txBox="1"/>
          <p:nvPr/>
        </p:nvSpPr>
        <p:spPr>
          <a:xfrm>
            <a:off x="3882155" y="4710407"/>
            <a:ext cx="38262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1" dirty="0"/>
              <a:t>Add </a:t>
            </a:r>
            <a:r>
              <a:rPr lang="en-US" sz="2800" b="1" dirty="0"/>
              <a:t>input’</a:t>
            </a:r>
            <a:r>
              <a:rPr lang="en-US" sz="2800" b="1" i="1" dirty="0"/>
              <a:t> to </a:t>
            </a:r>
            <a:r>
              <a:rPr lang="en-US" sz="2800" b="1" dirty="0"/>
              <a:t>seeds</a:t>
            </a:r>
            <a:r>
              <a:rPr lang="en-US" sz="2800" b="1" i="1" dirty="0"/>
              <a:t> if new coverage observed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F68762D-7C8A-AC63-5BF3-250ABF38246B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008B1F-55BD-FB63-2D12-D7B957BFB31F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3074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CFBBD0-0D13-0DBF-AD80-8EF65AB93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Randomly generate inputs</a:t>
            </a:r>
          </a:p>
          <a:p>
            <a:r>
              <a:rPr lang="en-US" dirty="0"/>
              <a:t>Mutation fuzzing </a:t>
            </a:r>
          </a:p>
          <a:p>
            <a:pPr lvl="1"/>
            <a:r>
              <a:rPr lang="en-US" dirty="0"/>
              <a:t>Start with known valid inputs</a:t>
            </a:r>
          </a:p>
          <a:p>
            <a:pPr lvl="1"/>
            <a:r>
              <a:rPr lang="en-US" dirty="0"/>
              <a:t>Mutate them </a:t>
            </a:r>
          </a:p>
          <a:p>
            <a:pPr lvl="2"/>
            <a:r>
              <a:rPr lang="en-US" dirty="0"/>
              <a:t>Byte-level transformations</a:t>
            </a:r>
          </a:p>
          <a:p>
            <a:pPr lvl="2"/>
            <a:r>
              <a:rPr lang="en-US" dirty="0"/>
              <a:t>Dictionary-based transformations</a:t>
            </a:r>
          </a:p>
          <a:p>
            <a:r>
              <a:rPr lang="en-US" dirty="0"/>
              <a:t>Pick inputs which resulted in new branch coverage for further mutation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2DA4E1-89C9-0769-A6CC-DDEC77AC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– high level ideas</a:t>
            </a:r>
          </a:p>
        </p:txBody>
      </p:sp>
    </p:spTree>
    <p:extLst>
      <p:ext uri="{BB962C8B-B14F-4D97-AF65-F5344CB8AC3E}">
        <p14:creationId xmlns:p14="http://schemas.microsoft.com/office/powerpoint/2010/main" val="17063854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FADE8-F1B3-20D5-008F-C6E136616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8131C-D177-4571-AC9B-6123B8D87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or may not crash the program</a:t>
            </a:r>
          </a:p>
          <a:p>
            <a:r>
              <a:rPr lang="en-US" b="1" dirty="0"/>
              <a:t>Undefined Behavior (UB)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5B1AAA-D920-5588-4552-E59C0C1A4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5549588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19BB7C-2F07-89C5-A5BB-F590397CFB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Adds additional instrumentation to record object metadata</a:t>
            </a:r>
          </a:p>
          <a:p>
            <a:r>
              <a:rPr lang="en-US" dirty="0"/>
              <a:t>Popular sanitizers</a:t>
            </a:r>
          </a:p>
          <a:p>
            <a:pPr lvl="1"/>
            <a:r>
              <a:rPr lang="en-US" dirty="0"/>
              <a:t>Address sanitizer (ASAN) –  can detect buffer overflow</a:t>
            </a:r>
          </a:p>
          <a:p>
            <a:pPr lvl="1"/>
            <a:r>
              <a:rPr lang="en-US" dirty="0"/>
              <a:t>Leak sanitizer (LSAN) – can detect memory leak</a:t>
            </a:r>
          </a:p>
          <a:p>
            <a:pPr lvl="1"/>
            <a:r>
              <a:rPr lang="en-US" dirty="0"/>
              <a:t>Thread sanitizer (TSAN) – can detect data races</a:t>
            </a:r>
          </a:p>
          <a:p>
            <a:r>
              <a:rPr lang="en-US" b="1" i="1" dirty="0"/>
              <a:t>Significantly</a:t>
            </a:r>
            <a:r>
              <a:rPr lang="en-US" dirty="0"/>
              <a:t> slows down the application; but can detect memory safety bugs!!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E70ACF-65AD-1889-FF51-D9FA2CC82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Sanitizers: oracles for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3973960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377FF-367C-6C18-94E7-7E21AFF5E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p[0] = ‘h’;</a:t>
            </a:r>
          </a:p>
          <a:p>
            <a:r>
              <a:rPr lang="en-US" dirty="0"/>
              <a:t>	p[1] = ‘e’;</a:t>
            </a:r>
          </a:p>
          <a:p>
            <a:r>
              <a:rPr lang="en-US" dirty="0"/>
              <a:t>	p[2] = ‘l’;</a:t>
            </a:r>
          </a:p>
          <a:p>
            <a:r>
              <a:rPr lang="en-US" dirty="0"/>
              <a:t>	p[3] = ‘l’;</a:t>
            </a:r>
          </a:p>
          <a:p>
            <a:r>
              <a:rPr lang="en-US" dirty="0"/>
              <a:t>	p[4] = ‘o’;</a:t>
            </a:r>
          </a:p>
          <a:p>
            <a:r>
              <a:rPr lang="en-US" dirty="0"/>
              <a:t>	p[5] = ‘\n’;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BA96A3-F9AF-FF2D-F2AC-8C68F9909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0F5691-E11E-58B9-087F-1CEF172D59A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 – detect buffer overflow</a:t>
            </a:r>
          </a:p>
          <a:p>
            <a:r>
              <a:rPr lang="en-US" dirty="0"/>
              <a:t>During program execution, what information is needed to determine if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causes a buffer overflow?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519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9CE40-DD8C-79D3-ED7A-9B32A49F0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72FE0A-4A9B-937A-CA63-E3184BD58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p[0] = ‘h’;</a:t>
            </a:r>
          </a:p>
          <a:p>
            <a:r>
              <a:rPr lang="en-US" dirty="0"/>
              <a:t>	p[1] = ‘e’;</a:t>
            </a:r>
          </a:p>
          <a:p>
            <a:r>
              <a:rPr lang="en-US" dirty="0"/>
              <a:t>	p[2] = ‘l’;</a:t>
            </a:r>
          </a:p>
          <a:p>
            <a:r>
              <a:rPr lang="en-US" dirty="0"/>
              <a:t>	p[3] = ‘l’;</a:t>
            </a:r>
          </a:p>
          <a:p>
            <a:r>
              <a:rPr lang="en-US" dirty="0"/>
              <a:t>	p[4] = ‘o’;</a:t>
            </a:r>
          </a:p>
          <a:p>
            <a:r>
              <a:rPr lang="en-US" dirty="0"/>
              <a:t>	p[5] = ‘\n’;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char* s = malloc(5); // needs to be recorded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78B742-742C-A30A-5E1F-4A4B907CA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F0FB38-CEA9-26BA-CBB2-C13926C7467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 – detect buffer overflow</a:t>
            </a:r>
          </a:p>
          <a:p>
            <a:r>
              <a:rPr lang="en-US" dirty="0"/>
              <a:t>During program execution, what information is needed to determine if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causes a buffer overflow?</a:t>
            </a:r>
          </a:p>
          <a:p>
            <a:r>
              <a:rPr lang="en-US" dirty="0"/>
              <a:t>The size of the buffer </a:t>
            </a:r>
            <a:r>
              <a:rPr lang="en-US" dirty="0">
                <a:latin typeface="Consolas" panose="020B0609020204030204" pitchFamily="49" charset="0"/>
              </a:rPr>
              <a:t>p</a:t>
            </a:r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3BC4E7-5DAA-6DC9-BFA1-0767170E44E0}"/>
              </a:ext>
            </a:extLst>
          </p:cNvPr>
          <p:cNvSpPr/>
          <p:nvPr/>
        </p:nvSpPr>
        <p:spPr>
          <a:xfrm>
            <a:off x="6414213" y="3250609"/>
            <a:ext cx="5158009" cy="356781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52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0E2E7-1844-4614-60B1-F8F82C1CE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B83B52-7601-7F0F-5DE8-93AB81D9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p[0] = ‘h’;</a:t>
            </a:r>
          </a:p>
          <a:p>
            <a:r>
              <a:rPr lang="en-US" dirty="0"/>
              <a:t>	p[1] = ‘e’;</a:t>
            </a:r>
          </a:p>
          <a:p>
            <a:r>
              <a:rPr lang="en-US" dirty="0"/>
              <a:t>	p[2] = ‘l’;</a:t>
            </a:r>
          </a:p>
          <a:p>
            <a:r>
              <a:rPr lang="en-US" dirty="0"/>
              <a:t>	p[3] = ‘l’;</a:t>
            </a:r>
          </a:p>
          <a:p>
            <a:r>
              <a:rPr lang="en-US" dirty="0"/>
              <a:t>	p[4] = ‘o’;</a:t>
            </a:r>
          </a:p>
          <a:p>
            <a:r>
              <a:rPr lang="en-US" dirty="0"/>
              <a:t>	p[5] = ‘\n’;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char* s = malloc(5); 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D00219-69C0-A16D-3FF2-16C30457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15618D-3346-ED7E-85D4-767F43EF8BA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/>
                <a:cs typeface="Helvetica" panose="020B0604020202020204"/>
              </a:rPr>
              <a:t>Address sanitizer is a compiler tool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When compiling the program, it adds code to 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Record the size of heap buffers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Check if an OOB access occurs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75981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0F01B-417A-48EB-6A0F-C8CFE948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C743B6-2A68-8CD1-2802-FDBF1E544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std::map&lt;void*, </a:t>
            </a:r>
            <a:r>
              <a:rPr lang="en-US" b="1" dirty="0" err="1">
                <a:solidFill>
                  <a:srgbClr val="C00000"/>
                </a:solidFill>
              </a:rPr>
              <a:t>size_t</a:t>
            </a:r>
            <a:r>
              <a:rPr lang="en-US" b="1" dirty="0">
                <a:solidFill>
                  <a:srgbClr val="C00000"/>
                </a:solidFill>
              </a:rPr>
              <a:t>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;</a:t>
            </a:r>
          </a:p>
          <a:p>
            <a:endParaRPr lang="en-US" dirty="0"/>
          </a:p>
          <a:p>
            <a:r>
              <a:rPr lang="en-US" dirty="0"/>
              <a:t>void function(char* p) {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(0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p[0] = ‘h’;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(1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p[1] = ‘e’;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(2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p[2] = ‘l’;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(3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p[3] = ‘l’;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(4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p[4] = ‘o’;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(5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p[5] = ‘\n’;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char* s = malloc(5); </a:t>
            </a:r>
          </a:p>
          <a:p>
            <a:r>
              <a:rPr lang="en-US" dirty="0"/>
              <a:t>	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[s] = 5;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D5AED2-D9F1-8F8D-0774-FFBA5F136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194971-76A6-40A0-B35A-2E3B69C8177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/>
                <a:cs typeface="Helvetica" panose="020B0604020202020204"/>
              </a:rPr>
              <a:t>Address sanitizer is a compiler tool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When compiling the program, it adds code to 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Record the size of heap buffers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Check if an OOB access occurs</a:t>
            </a:r>
          </a:p>
          <a:p>
            <a:r>
              <a:rPr lang="en-US" dirty="0" err="1">
                <a:latin typeface="Helvetica" panose="020B0604020202020204"/>
                <a:cs typeface="Helvetica" panose="020B0604020202020204"/>
              </a:rPr>
              <a:t>Psuedo</a:t>
            </a:r>
            <a:r>
              <a:rPr lang="en-US" dirty="0">
                <a:latin typeface="Helvetica" panose="020B0604020202020204"/>
                <a:cs typeface="Helvetica" panose="020B0604020202020204"/>
              </a:rPr>
              <a:t>-code</a:t>
            </a:r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D48C72-0592-DF9F-3D10-25578D37054A}"/>
              </a:ext>
            </a:extLst>
          </p:cNvPr>
          <p:cNvSpPr/>
          <p:nvPr/>
        </p:nvSpPr>
        <p:spPr>
          <a:xfrm>
            <a:off x="6365631" y="4950456"/>
            <a:ext cx="2895600" cy="356781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B2D30F-48E7-DB1E-5112-FAC425707FE4}"/>
              </a:ext>
            </a:extLst>
          </p:cNvPr>
          <p:cNvSpPr txBox="1"/>
          <p:nvPr/>
        </p:nvSpPr>
        <p:spPr>
          <a:xfrm>
            <a:off x="9422256" y="4898013"/>
            <a:ext cx="2084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Record the size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3038B0-117F-668F-FEF6-53CBAC5ED053}"/>
              </a:ext>
            </a:extLst>
          </p:cNvPr>
          <p:cNvSpPr/>
          <p:nvPr/>
        </p:nvSpPr>
        <p:spPr>
          <a:xfrm>
            <a:off x="6526655" y="1372372"/>
            <a:ext cx="4434421" cy="2906551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20BBDC-416E-CC69-4421-7EC9C9ADD839}"/>
              </a:ext>
            </a:extLst>
          </p:cNvPr>
          <p:cNvSpPr txBox="1"/>
          <p:nvPr/>
        </p:nvSpPr>
        <p:spPr>
          <a:xfrm>
            <a:off x="9536388" y="4278923"/>
            <a:ext cx="1595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Add checks</a:t>
            </a:r>
          </a:p>
        </p:txBody>
      </p:sp>
    </p:spTree>
    <p:extLst>
      <p:ext uri="{BB962C8B-B14F-4D97-AF65-F5344CB8AC3E}">
        <p14:creationId xmlns:p14="http://schemas.microsoft.com/office/powerpoint/2010/main" val="3231546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7" grpId="0" animBg="1"/>
      <p:bldP spid="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823BC-718B-B411-1F30-423FA128B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312CF9-CF7C-98FB-3FB0-F11F9A48C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std::map&lt;void*, </a:t>
            </a:r>
            <a:r>
              <a:rPr lang="en-US" b="1" dirty="0" err="1">
                <a:solidFill>
                  <a:srgbClr val="C00000"/>
                </a:solidFill>
              </a:rPr>
              <a:t>size_t</a:t>
            </a:r>
            <a:r>
              <a:rPr lang="en-US" b="1" dirty="0">
                <a:solidFill>
                  <a:srgbClr val="C00000"/>
                </a:solidFill>
              </a:rPr>
              <a:t>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;</a:t>
            </a:r>
          </a:p>
          <a:p>
            <a:endParaRPr lang="en-US" dirty="0"/>
          </a:p>
          <a:p>
            <a:r>
              <a:rPr lang="en-US" dirty="0"/>
              <a:t>void function(char* p) {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(0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p[0] = ‘h’;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(1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p[1] = ‘e’;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(2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p[2] = ‘l’;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(3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p[3] = ‘l’;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(4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p[4] = ‘o’;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if (5 &gt; 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[p]) assert(false);</a:t>
            </a:r>
          </a:p>
          <a:p>
            <a:r>
              <a:rPr lang="en-US" dirty="0"/>
              <a:t>	p[5] = ‘\n’;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char* s = malloc(5); </a:t>
            </a:r>
          </a:p>
          <a:p>
            <a:r>
              <a:rPr lang="en-US" dirty="0"/>
              <a:t>	</a:t>
            </a:r>
            <a:r>
              <a:rPr lang="en-US" b="1" dirty="0" err="1">
                <a:solidFill>
                  <a:srgbClr val="C00000"/>
                </a:solidFill>
              </a:rPr>
              <a:t>bufferMap</a:t>
            </a:r>
            <a:r>
              <a:rPr lang="en-US" b="1" dirty="0">
                <a:solidFill>
                  <a:srgbClr val="C00000"/>
                </a:solidFill>
              </a:rPr>
              <a:t>[s] = 5;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262E1F-5D08-A738-09E1-DE826119B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A60FC9-3ED1-0B9A-C330-C05E3885EB1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/>
                <a:cs typeface="Helvetica" panose="020B0604020202020204"/>
              </a:rPr>
              <a:t>At runtime, any violation is detected</a:t>
            </a:r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1E80E1-8411-F221-3A3B-4BA1FFD5F5C0}"/>
              </a:ext>
            </a:extLst>
          </p:cNvPr>
          <p:cNvSpPr/>
          <p:nvPr/>
        </p:nvSpPr>
        <p:spPr>
          <a:xfrm>
            <a:off x="6365631" y="4950456"/>
            <a:ext cx="2895600" cy="356781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66EF63-DCCE-8CD8-1B07-2C629CD556CC}"/>
              </a:ext>
            </a:extLst>
          </p:cNvPr>
          <p:cNvSpPr txBox="1"/>
          <p:nvPr/>
        </p:nvSpPr>
        <p:spPr>
          <a:xfrm>
            <a:off x="9422256" y="4898013"/>
            <a:ext cx="2084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Record the size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17779F-A21D-6BCF-EB97-84F62EAFF899}"/>
              </a:ext>
            </a:extLst>
          </p:cNvPr>
          <p:cNvSpPr/>
          <p:nvPr/>
        </p:nvSpPr>
        <p:spPr>
          <a:xfrm>
            <a:off x="6526655" y="1372372"/>
            <a:ext cx="4434421" cy="2906551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12CAA8-AB9F-4ABC-A5C7-658BD89E4C4F}"/>
              </a:ext>
            </a:extLst>
          </p:cNvPr>
          <p:cNvSpPr txBox="1"/>
          <p:nvPr/>
        </p:nvSpPr>
        <p:spPr>
          <a:xfrm>
            <a:off x="9536388" y="4278923"/>
            <a:ext cx="1595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Add checks</a:t>
            </a:r>
          </a:p>
        </p:txBody>
      </p:sp>
    </p:spTree>
    <p:extLst>
      <p:ext uri="{BB962C8B-B14F-4D97-AF65-F5344CB8AC3E}">
        <p14:creationId xmlns:p14="http://schemas.microsoft.com/office/powerpoint/2010/main" val="11865342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54201C-4534-BFB5-2BFD-C6A2ADFA8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Fuzzing is an effective testing mechanism </a:t>
            </a:r>
          </a:p>
          <a:p>
            <a:r>
              <a:rPr lang="en-US" dirty="0"/>
              <a:t>Unlike other testing approaches it can </a:t>
            </a:r>
            <a:r>
              <a:rPr lang="en-US" b="1" i="1" dirty="0"/>
              <a:t>find new inputs </a:t>
            </a:r>
            <a:r>
              <a:rPr lang="en-US" dirty="0"/>
              <a:t>that cause program misbehavior</a:t>
            </a:r>
          </a:p>
          <a:p>
            <a:r>
              <a:rPr lang="en-US" dirty="0"/>
              <a:t>Mutation and coverage are important for generating effective </a:t>
            </a:r>
            <a:r>
              <a:rPr lang="en-US" dirty="0" err="1"/>
              <a:t>fuzzers</a:t>
            </a:r>
            <a:endParaRPr lang="en-US" dirty="0"/>
          </a:p>
          <a:p>
            <a:r>
              <a:rPr lang="en-US" dirty="0"/>
              <a:t>Sanitizers provide additional information needed to find </a:t>
            </a:r>
            <a:r>
              <a:rPr lang="en-US" i="1" dirty="0"/>
              <a:t>silent UB </a:t>
            </a:r>
            <a:r>
              <a:rPr lang="en-US" dirty="0"/>
              <a:t>bugs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2DE685-2ED8-5802-DE72-5E2ACA657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73972288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8213</TotalTime>
  <Words>2597</Words>
  <Application>Microsoft Office PowerPoint</Application>
  <PresentationFormat>Widescreen</PresentationFormat>
  <Paragraphs>459</Paragraphs>
  <Slides>40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What is unit testing?</vt:lpstr>
      <vt:lpstr>What is service tests (integration tests)?</vt:lpstr>
      <vt:lpstr>Hard to cover all code with manual testing</vt:lpstr>
      <vt:lpstr>Fuzz testing</vt:lpstr>
      <vt:lpstr>Fuzz testing</vt:lpstr>
      <vt:lpstr>Types of bugs</vt:lpstr>
      <vt:lpstr>AFL demo</vt:lpstr>
      <vt:lpstr>AFL demo</vt:lpstr>
      <vt:lpstr>Pros and cons</vt:lpstr>
      <vt:lpstr>Mutation fuzzer - generate inputs via mutation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dictionaries</vt:lpstr>
      <vt:lpstr>Mutation strategy – dictionaries</vt:lpstr>
      <vt:lpstr>Characteristics</vt:lpstr>
      <vt:lpstr>Fuzzing pipeline</vt:lpstr>
      <vt:lpstr>How to pick which seeds to mutate?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Coverage guided fuzzing</vt:lpstr>
      <vt:lpstr>Coverage-guided fuzzer pipeline</vt:lpstr>
      <vt:lpstr>Fuzzing – high level ideas</vt:lpstr>
      <vt:lpstr>Recall: memory safety bugs</vt:lpstr>
      <vt:lpstr>Sanitizers: oracles for memory safety bugs</vt:lpstr>
      <vt:lpstr>Address sanitizer</vt:lpstr>
      <vt:lpstr>Address sanitizer</vt:lpstr>
      <vt:lpstr>Address sanitizer</vt:lpstr>
      <vt:lpstr>Address sanitizer</vt:lpstr>
      <vt:lpstr>Address sanitizer</vt:lpstr>
      <vt:lpstr>Summary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931</cp:revision>
  <dcterms:created xsi:type="dcterms:W3CDTF">2019-06-30T03:25:06Z</dcterms:created>
  <dcterms:modified xsi:type="dcterms:W3CDTF">2025-11-17T19:47:57Z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