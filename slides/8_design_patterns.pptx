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5"/>
  </p:notesMasterIdLst>
  <p:handoutMasterIdLst>
    <p:handoutMasterId r:id="rId136"/>
  </p:handoutMasterIdLst>
  <p:sldIdLst>
    <p:sldId id="256" r:id="rId2"/>
    <p:sldId id="257" r:id="rId3"/>
    <p:sldId id="344" r:id="rId4"/>
    <p:sldId id="326" r:id="rId5"/>
    <p:sldId id="327" r:id="rId6"/>
    <p:sldId id="328" r:id="rId7"/>
    <p:sldId id="329" r:id="rId8"/>
    <p:sldId id="258" r:id="rId9"/>
    <p:sldId id="263" r:id="rId10"/>
    <p:sldId id="338" r:id="rId11"/>
    <p:sldId id="264" r:id="rId12"/>
    <p:sldId id="1215" r:id="rId13"/>
    <p:sldId id="330" r:id="rId14"/>
    <p:sldId id="267" r:id="rId15"/>
    <p:sldId id="268" r:id="rId16"/>
    <p:sldId id="259" r:id="rId17"/>
    <p:sldId id="325" r:id="rId18"/>
    <p:sldId id="333" r:id="rId19"/>
    <p:sldId id="262" r:id="rId20"/>
    <p:sldId id="340" r:id="rId21"/>
    <p:sldId id="270" r:id="rId22"/>
    <p:sldId id="272" r:id="rId23"/>
    <p:sldId id="271" r:id="rId24"/>
    <p:sldId id="269" r:id="rId25"/>
    <p:sldId id="273" r:id="rId26"/>
    <p:sldId id="331" r:id="rId27"/>
    <p:sldId id="332" r:id="rId28"/>
    <p:sldId id="345" r:id="rId29"/>
    <p:sldId id="274" r:id="rId30"/>
    <p:sldId id="341" r:id="rId31"/>
    <p:sldId id="275" r:id="rId32"/>
    <p:sldId id="335" r:id="rId33"/>
    <p:sldId id="276" r:id="rId34"/>
    <p:sldId id="334" r:id="rId35"/>
    <p:sldId id="277" r:id="rId36"/>
    <p:sldId id="339" r:id="rId37"/>
    <p:sldId id="336" r:id="rId38"/>
    <p:sldId id="337" r:id="rId39"/>
    <p:sldId id="287" r:id="rId40"/>
    <p:sldId id="342" r:id="rId41"/>
    <p:sldId id="284" r:id="rId42"/>
    <p:sldId id="285" r:id="rId43"/>
    <p:sldId id="347" r:id="rId44"/>
    <p:sldId id="348" r:id="rId45"/>
    <p:sldId id="349" r:id="rId46"/>
    <p:sldId id="283" r:id="rId47"/>
    <p:sldId id="286" r:id="rId48"/>
    <p:sldId id="343" r:id="rId49"/>
    <p:sldId id="289" r:id="rId50"/>
    <p:sldId id="351" r:id="rId51"/>
    <p:sldId id="352" r:id="rId52"/>
    <p:sldId id="353" r:id="rId53"/>
    <p:sldId id="354" r:id="rId54"/>
    <p:sldId id="291" r:id="rId55"/>
    <p:sldId id="292" r:id="rId56"/>
    <p:sldId id="293" r:id="rId57"/>
    <p:sldId id="294" r:id="rId58"/>
    <p:sldId id="355" r:id="rId59"/>
    <p:sldId id="368" r:id="rId60"/>
    <p:sldId id="350" r:id="rId61"/>
    <p:sldId id="290" r:id="rId62"/>
    <p:sldId id="295" r:id="rId63"/>
    <p:sldId id="358" r:id="rId64"/>
    <p:sldId id="279" r:id="rId65"/>
    <p:sldId id="280" r:id="rId66"/>
    <p:sldId id="281" r:id="rId67"/>
    <p:sldId id="282" r:id="rId68"/>
    <p:sldId id="361" r:id="rId69"/>
    <p:sldId id="278" r:id="rId70"/>
    <p:sldId id="288" r:id="rId71"/>
    <p:sldId id="369" r:id="rId72"/>
    <p:sldId id="370" r:id="rId73"/>
    <p:sldId id="371" r:id="rId74"/>
    <p:sldId id="372" r:id="rId75"/>
    <p:sldId id="374" r:id="rId76"/>
    <p:sldId id="375" r:id="rId77"/>
    <p:sldId id="377" r:id="rId78"/>
    <p:sldId id="376" r:id="rId79"/>
    <p:sldId id="378" r:id="rId80"/>
    <p:sldId id="379" r:id="rId81"/>
    <p:sldId id="380" r:id="rId82"/>
    <p:sldId id="381" r:id="rId83"/>
    <p:sldId id="382" r:id="rId84"/>
    <p:sldId id="385" r:id="rId85"/>
    <p:sldId id="296" r:id="rId86"/>
    <p:sldId id="364" r:id="rId87"/>
    <p:sldId id="298" r:id="rId88"/>
    <p:sldId id="297" r:id="rId89"/>
    <p:sldId id="383" r:id="rId90"/>
    <p:sldId id="299" r:id="rId91"/>
    <p:sldId id="300" r:id="rId92"/>
    <p:sldId id="301" r:id="rId93"/>
    <p:sldId id="302" r:id="rId94"/>
    <p:sldId id="365" r:id="rId95"/>
    <p:sldId id="367" r:id="rId96"/>
    <p:sldId id="305" r:id="rId97"/>
    <p:sldId id="306" r:id="rId98"/>
    <p:sldId id="307" r:id="rId99"/>
    <p:sldId id="308" r:id="rId100"/>
    <p:sldId id="303" r:id="rId101"/>
    <p:sldId id="309" r:id="rId102"/>
    <p:sldId id="366" r:id="rId103"/>
    <p:sldId id="311" r:id="rId104"/>
    <p:sldId id="312" r:id="rId105"/>
    <p:sldId id="313" r:id="rId106"/>
    <p:sldId id="310" r:id="rId107"/>
    <p:sldId id="314" r:id="rId108"/>
    <p:sldId id="401" r:id="rId109"/>
    <p:sldId id="402" r:id="rId110"/>
    <p:sldId id="384" r:id="rId111"/>
    <p:sldId id="386" r:id="rId112"/>
    <p:sldId id="387" r:id="rId113"/>
    <p:sldId id="388" r:id="rId114"/>
    <p:sldId id="389" r:id="rId115"/>
    <p:sldId id="390" r:id="rId116"/>
    <p:sldId id="391" r:id="rId117"/>
    <p:sldId id="392" r:id="rId118"/>
    <p:sldId id="393" r:id="rId119"/>
    <p:sldId id="394" r:id="rId120"/>
    <p:sldId id="395" r:id="rId121"/>
    <p:sldId id="399" r:id="rId122"/>
    <p:sldId id="396" r:id="rId123"/>
    <p:sldId id="315" r:id="rId124"/>
    <p:sldId id="397" r:id="rId125"/>
    <p:sldId id="398" r:id="rId126"/>
    <p:sldId id="400" r:id="rId127"/>
    <p:sldId id="1211" r:id="rId128"/>
    <p:sldId id="1212" r:id="rId129"/>
    <p:sldId id="1213" r:id="rId130"/>
    <p:sldId id="1214" r:id="rId131"/>
    <p:sldId id="319" r:id="rId132"/>
    <p:sldId id="321" r:id="rId133"/>
    <p:sldId id="323" r:id="rId134"/>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85" d="100"/>
          <a:sy n="85" d="100"/>
        </p:scale>
        <p:origin x="1752"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microsoft.com/office/2015/10/relationships/revisionInfo" Target="revisionInfo.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11/23/2025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597422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233576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425731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8755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108620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F7A44-A6DB-4E1B-BDC1-925D142B11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29A59-E7E7-AEB2-478D-38544D28C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93C59-E154-338B-E4E0-3CF0918F027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511939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160312714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B018-CE0E-B69A-21D4-6734A3D68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ED12A-AF9A-D263-D56B-EACB23B1A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D1CD9D-6590-E2EB-67F1-863BF0E6FAB8}"/>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6889393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23,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23,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23,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23,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23,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23,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Sunday, November 23,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a:bodyPr>
          <a:lstStyle/>
          <a:p>
            <a:r>
              <a:rPr lang="en-US" dirty="0"/>
              <a:t>A </a:t>
            </a:r>
            <a:r>
              <a:rPr lang="en-US" dirty="0">
                <a:latin typeface="Consolas" panose="020B0609020204030204" pitchFamily="49" charset="0"/>
              </a:rPr>
              <a:t>Post</a:t>
            </a:r>
            <a:r>
              <a:rPr lang="en-US" dirty="0"/>
              <a:t> is an individual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635262" y="696277"/>
            <a:ext cx="5267607" cy="696277"/>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1403835"/>
            <a:ext cx="5619178" cy="4295153"/>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grpSp>
        <p:nvGrpSpPr>
          <p:cNvPr id="14" name="Group 13">
            <a:extLst>
              <a:ext uri="{FF2B5EF4-FFF2-40B4-BE49-F238E27FC236}">
                <a16:creationId xmlns:a16="http://schemas.microsoft.com/office/drawing/2014/main" id="{31BBF05A-036B-105F-782D-63CE8FABF8CC}"/>
              </a:ext>
            </a:extLst>
          </p:cNvPr>
          <p:cNvGrpSpPr/>
          <p:nvPr/>
        </p:nvGrpSpPr>
        <p:grpSpPr>
          <a:xfrm>
            <a:off x="6787662" y="2215662"/>
            <a:ext cx="5619178" cy="3635726"/>
            <a:chOff x="6635262" y="696277"/>
            <a:chExt cx="5619178" cy="696277"/>
          </a:xfrm>
        </p:grpSpPr>
        <p:sp>
          <p:nvSpPr>
            <p:cNvPr id="15" name="Rectangle 14">
              <a:extLst>
                <a:ext uri="{FF2B5EF4-FFF2-40B4-BE49-F238E27FC236}">
                  <a16:creationId xmlns:a16="http://schemas.microsoft.com/office/drawing/2014/main" id="{40A548EA-FFA3-5EAD-F780-88B8ED061A6B}"/>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F19350F-AAB8-3FF1-ECF0-FFA614F1E5D0}"/>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3075442"/>
            <a:ext cx="5633412" cy="241095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390185" y="2661747"/>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What is the benefit?</a:t>
            </a:r>
          </a:p>
          <a:p>
            <a:r>
              <a:rPr lang="en-US" dirty="0">
                <a:latin typeface="Helvetica" panose="020B0604020202020204" pitchFamily="34" charset="0"/>
                <a:cs typeface="Helvetica" panose="020B0604020202020204" pitchFamily="34" charset="0"/>
              </a:rPr>
              <a:t>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 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2003865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38382078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2205880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7177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4249610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61094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1375658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2877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751384"/>
            <a:ext cx="5633412" cy="19694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771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419600"/>
            <a:ext cx="5633412" cy="1301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70240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232873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3732728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a:bodyPr>
          <a:lstStyle/>
          <a:p>
            <a:r>
              <a:rPr lang="en-US" dirty="0"/>
              <a:t>Although decorators can have similar implementations as proxies, decorators have a different purpose. A decorator adds one or more responsibilities to an object, whereas a proxy controls access to an object.</a:t>
            </a:r>
          </a:p>
          <a:p>
            <a:r>
              <a:rPr lang="en-US" dirty="0"/>
              <a:t>Proxies vary in the degree to which they are implemented like a decorator. 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303785433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A9276-4621-930C-83CF-30F9137AEC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F890EAD-2143-AB62-6BAB-07ABD478AA3D}"/>
              </a:ext>
            </a:extLst>
          </p:cNvPr>
          <p:cNvSpPr>
            <a:spLocks noGrp="1"/>
          </p:cNvSpPr>
          <p:nvPr>
            <p:ph idx="1"/>
          </p:nvPr>
        </p:nvSpPr>
        <p:spPr/>
        <p:txBody>
          <a:bodyPr/>
          <a:lstStyle/>
          <a:p>
            <a:r>
              <a:rPr lang="en-US" dirty="0"/>
              <a:t>Add additional functionality </a:t>
            </a:r>
            <a:r>
              <a:rPr lang="en-US" dirty="0" err="1"/>
              <a:t>getTag</a:t>
            </a:r>
            <a:r>
              <a:rPr lang="en-US" dirty="0"/>
              <a:t>() to </a:t>
            </a:r>
            <a:r>
              <a:rPr lang="en-US" dirty="0" err="1"/>
              <a:t>SocialMediaContent</a:t>
            </a:r>
            <a:endParaRPr lang="en-US" dirty="0"/>
          </a:p>
          <a:p>
            <a:pPr lvl="1"/>
            <a:r>
              <a:rPr lang="en-US" dirty="0" err="1"/>
              <a:t>getTag</a:t>
            </a:r>
            <a:r>
              <a:rPr lang="en-US" dirty="0"/>
              <a:t>() will consult a locally running LLM instance to get the tag for every social media post</a:t>
            </a:r>
          </a:p>
        </p:txBody>
      </p:sp>
      <p:sp>
        <p:nvSpPr>
          <p:cNvPr id="4" name="Title 3">
            <a:extLst>
              <a:ext uri="{FF2B5EF4-FFF2-40B4-BE49-F238E27FC236}">
                <a16:creationId xmlns:a16="http://schemas.microsoft.com/office/drawing/2014/main" id="{FBDB0B8F-E6E2-CB1C-181D-F78BB006F567}"/>
              </a:ext>
            </a:extLst>
          </p:cNvPr>
          <p:cNvSpPr>
            <a:spLocks noGrp="1"/>
          </p:cNvSpPr>
          <p:nvPr>
            <p:ph type="title"/>
          </p:nvPr>
        </p:nvSpPr>
        <p:spPr/>
        <p:txBody>
          <a:bodyPr/>
          <a:lstStyle/>
          <a:p>
            <a:r>
              <a:rPr lang="en-US" dirty="0"/>
              <a:t>HW4: decorator pattern for social media content </a:t>
            </a:r>
          </a:p>
        </p:txBody>
      </p:sp>
    </p:spTree>
    <p:extLst>
      <p:ext uri="{BB962C8B-B14F-4D97-AF65-F5344CB8AC3E}">
        <p14:creationId xmlns:p14="http://schemas.microsoft.com/office/powerpoint/2010/main" val="24962395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lnSpcReduction="10000"/>
          </a:bodyPr>
          <a:lstStyle/>
          <a:p>
            <a:r>
              <a:rPr lang="en-US" dirty="0"/>
              <a:t>More flexible than subclassing (inheritance)</a:t>
            </a:r>
          </a:p>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4703667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0FDA-6722-D0D5-57F2-8636C6823FF8}"/>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745AC56-0CD8-A8F2-A5AC-F8BD3A449B23}"/>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104FC79F-1ED4-5D73-207E-35B2ED2CB121}"/>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159037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278851" cy="1800202"/>
              <a:chOff x="2073583" y="1661658"/>
              <a:chExt cx="3278851"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278851" cy="1800202"/>
                <a:chOff x="2073583" y="1661658"/>
                <a:chExt cx="3278851"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4501662" y="2520462"/>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896264"/>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592542"/>
            <a:ext cx="7688" cy="575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405427" y="2784877"/>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12937</TotalTime>
  <Words>10441</Words>
  <Application>Microsoft Office PowerPoint</Application>
  <PresentationFormat>Widescreen</PresentationFormat>
  <Paragraphs>1895</Paragraphs>
  <Slides>133</Slides>
  <Notes>71</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133</vt:i4>
      </vt:variant>
    </vt:vector>
  </HeadingPairs>
  <TitlesOfParts>
    <vt:vector size="139" baseType="lpstr">
      <vt:lpstr>Arial</vt:lpstr>
      <vt:lpstr>Calibri</vt:lpstr>
      <vt:lpstr>Consolas</vt:lpstr>
      <vt:lpstr>Helvetica</vt:lpstr>
      <vt:lpstr>Wingdings</vt:lpstr>
      <vt:lpstr>Preso 2022 Watertower Stats</vt:lpstr>
      <vt:lpstr>PowerPoint Presentation</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Case study: social media posts</vt:lpstr>
      <vt:lpstr>Composite design pattern for social media post</vt:lpstr>
      <vt:lpstr>Benefits</vt:lpstr>
      <vt:lpstr>Benefits</vt:lpstr>
      <vt:lpstr>Benefits</vt:lpstr>
      <vt:lpstr>Composite design pattern</vt:lpstr>
      <vt:lpstr>Characteristics</vt:lpstr>
      <vt:lpstr>PowerPoint Presentation</vt:lpstr>
      <vt:lpstr>Decorator design pattern</vt:lpstr>
      <vt:lpstr>Case study – fraud detecting payment processor</vt:lpstr>
      <vt:lpstr>Subclass?</vt:lpstr>
      <vt:lpstr>Problem 1: breaks SRP</vt:lpstr>
      <vt:lpstr>Problem 2: class explosion</vt:lpstr>
      <vt:lpstr>Fraud detection decorator for payment processor</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HW4: decorator pattern for social media content </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1422</cp:revision>
  <dcterms:created xsi:type="dcterms:W3CDTF">2019-06-30T03:25:06Z</dcterms:created>
  <dcterms:modified xsi:type="dcterms:W3CDTF">2025-11-24T06:21:45Z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