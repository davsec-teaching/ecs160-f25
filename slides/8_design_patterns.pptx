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56"/>
  </p:notesMasterIdLst>
  <p:handoutMasterIdLst>
    <p:handoutMasterId r:id="rId157"/>
  </p:handoutMasterIdLst>
  <p:sldIdLst>
    <p:sldId id="256" r:id="rId2"/>
    <p:sldId id="1216" r:id="rId3"/>
    <p:sldId id="257" r:id="rId4"/>
    <p:sldId id="344" r:id="rId5"/>
    <p:sldId id="326" r:id="rId6"/>
    <p:sldId id="327" r:id="rId7"/>
    <p:sldId id="328" r:id="rId8"/>
    <p:sldId id="329" r:id="rId9"/>
    <p:sldId id="258" r:id="rId10"/>
    <p:sldId id="263" r:id="rId11"/>
    <p:sldId id="338" r:id="rId12"/>
    <p:sldId id="264" r:id="rId13"/>
    <p:sldId id="1215" r:id="rId14"/>
    <p:sldId id="330" r:id="rId15"/>
    <p:sldId id="267" r:id="rId16"/>
    <p:sldId id="268" r:id="rId17"/>
    <p:sldId id="259" r:id="rId18"/>
    <p:sldId id="325" r:id="rId19"/>
    <p:sldId id="333" r:id="rId20"/>
    <p:sldId id="262" r:id="rId21"/>
    <p:sldId id="340" r:id="rId22"/>
    <p:sldId id="270" r:id="rId23"/>
    <p:sldId id="272" r:id="rId24"/>
    <p:sldId id="271" r:id="rId25"/>
    <p:sldId id="269" r:id="rId26"/>
    <p:sldId id="273" r:id="rId27"/>
    <p:sldId id="331" r:id="rId28"/>
    <p:sldId id="332" r:id="rId29"/>
    <p:sldId id="345" r:id="rId30"/>
    <p:sldId id="274" r:id="rId31"/>
    <p:sldId id="341" r:id="rId32"/>
    <p:sldId id="275" r:id="rId33"/>
    <p:sldId id="335" r:id="rId34"/>
    <p:sldId id="276" r:id="rId35"/>
    <p:sldId id="334" r:id="rId36"/>
    <p:sldId id="277" r:id="rId37"/>
    <p:sldId id="339" r:id="rId38"/>
    <p:sldId id="336" r:id="rId39"/>
    <p:sldId id="337" r:id="rId40"/>
    <p:sldId id="287" r:id="rId41"/>
    <p:sldId id="1220" r:id="rId42"/>
    <p:sldId id="1221" r:id="rId43"/>
    <p:sldId id="1222" r:id="rId44"/>
    <p:sldId id="1219" r:id="rId45"/>
    <p:sldId id="1224" r:id="rId46"/>
    <p:sldId id="1225" r:id="rId47"/>
    <p:sldId id="1223" r:id="rId48"/>
    <p:sldId id="342" r:id="rId49"/>
    <p:sldId id="284" r:id="rId50"/>
    <p:sldId id="285" r:id="rId51"/>
    <p:sldId id="347" r:id="rId52"/>
    <p:sldId id="1217" r:id="rId53"/>
    <p:sldId id="348" r:id="rId54"/>
    <p:sldId id="349" r:id="rId55"/>
    <p:sldId id="283" r:id="rId56"/>
    <p:sldId id="286" r:id="rId57"/>
    <p:sldId id="358" r:id="rId58"/>
    <p:sldId id="279" r:id="rId59"/>
    <p:sldId id="280" r:id="rId60"/>
    <p:sldId id="281" r:id="rId61"/>
    <p:sldId id="282" r:id="rId62"/>
    <p:sldId id="361" r:id="rId63"/>
    <p:sldId id="278" r:id="rId64"/>
    <p:sldId id="288" r:id="rId65"/>
    <p:sldId id="370" r:id="rId66"/>
    <p:sldId id="371" r:id="rId67"/>
    <p:sldId id="372" r:id="rId68"/>
    <p:sldId id="374" r:id="rId69"/>
    <p:sldId id="375" r:id="rId70"/>
    <p:sldId id="377" r:id="rId71"/>
    <p:sldId id="1226" r:id="rId72"/>
    <p:sldId id="1231" r:id="rId73"/>
    <p:sldId id="1232" r:id="rId74"/>
    <p:sldId id="1227" r:id="rId75"/>
    <p:sldId id="343" r:id="rId76"/>
    <p:sldId id="289" r:id="rId77"/>
    <p:sldId id="351" r:id="rId78"/>
    <p:sldId id="291" r:id="rId79"/>
    <p:sldId id="1218" r:id="rId80"/>
    <p:sldId id="292" r:id="rId81"/>
    <p:sldId id="293" r:id="rId82"/>
    <p:sldId id="294" r:id="rId83"/>
    <p:sldId id="355" r:id="rId84"/>
    <p:sldId id="368" r:id="rId85"/>
    <p:sldId id="350" r:id="rId86"/>
    <p:sldId id="352" r:id="rId87"/>
    <p:sldId id="353" r:id="rId88"/>
    <p:sldId id="354" r:id="rId89"/>
    <p:sldId id="295" r:id="rId90"/>
    <p:sldId id="376" r:id="rId91"/>
    <p:sldId id="378" r:id="rId92"/>
    <p:sldId id="379" r:id="rId93"/>
    <p:sldId id="380" r:id="rId94"/>
    <p:sldId id="381" r:id="rId95"/>
    <p:sldId id="382" r:id="rId96"/>
    <p:sldId id="1229" r:id="rId97"/>
    <p:sldId id="385" r:id="rId98"/>
    <p:sldId id="296" r:id="rId99"/>
    <p:sldId id="364" r:id="rId100"/>
    <p:sldId id="298" r:id="rId101"/>
    <p:sldId id="297" r:id="rId102"/>
    <p:sldId id="383" r:id="rId103"/>
    <p:sldId id="299" r:id="rId104"/>
    <p:sldId id="300" r:id="rId105"/>
    <p:sldId id="301" r:id="rId106"/>
    <p:sldId id="302" r:id="rId107"/>
    <p:sldId id="1233" r:id="rId108"/>
    <p:sldId id="1234" r:id="rId109"/>
    <p:sldId id="1240" r:id="rId110"/>
    <p:sldId id="365" r:id="rId111"/>
    <p:sldId id="367" r:id="rId112"/>
    <p:sldId id="305" r:id="rId113"/>
    <p:sldId id="306" r:id="rId114"/>
    <p:sldId id="307" r:id="rId115"/>
    <p:sldId id="308" r:id="rId116"/>
    <p:sldId id="303" r:id="rId117"/>
    <p:sldId id="309" r:id="rId118"/>
    <p:sldId id="366" r:id="rId119"/>
    <p:sldId id="311" r:id="rId120"/>
    <p:sldId id="312" r:id="rId121"/>
    <p:sldId id="313" r:id="rId122"/>
    <p:sldId id="310" r:id="rId123"/>
    <p:sldId id="314" r:id="rId124"/>
    <p:sldId id="1228" r:id="rId125"/>
    <p:sldId id="1230" r:id="rId126"/>
    <p:sldId id="384" r:id="rId127"/>
    <p:sldId id="386" r:id="rId128"/>
    <p:sldId id="387" r:id="rId129"/>
    <p:sldId id="388" r:id="rId130"/>
    <p:sldId id="389" r:id="rId131"/>
    <p:sldId id="390" r:id="rId132"/>
    <p:sldId id="391" r:id="rId133"/>
    <p:sldId id="1235" r:id="rId134"/>
    <p:sldId id="1236" r:id="rId135"/>
    <p:sldId id="392" r:id="rId136"/>
    <p:sldId id="1238" r:id="rId137"/>
    <p:sldId id="1239" r:id="rId138"/>
    <p:sldId id="399" r:id="rId139"/>
    <p:sldId id="1237" r:id="rId140"/>
    <p:sldId id="396" r:id="rId141"/>
    <p:sldId id="315" r:id="rId142"/>
    <p:sldId id="397" r:id="rId143"/>
    <p:sldId id="398" r:id="rId144"/>
    <p:sldId id="400" r:id="rId145"/>
    <p:sldId id="1211" r:id="rId146"/>
    <p:sldId id="1212" r:id="rId147"/>
    <p:sldId id="1213" r:id="rId148"/>
    <p:sldId id="1214" r:id="rId149"/>
    <p:sldId id="319" r:id="rId150"/>
    <p:sldId id="321" r:id="rId151"/>
    <p:sldId id="323" r:id="rId152"/>
    <p:sldId id="393" r:id="rId153"/>
    <p:sldId id="394" r:id="rId154"/>
    <p:sldId id="395" r:id="rId155"/>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B3B3"/>
    <a:srgbClr val="E6E0EC"/>
    <a:srgbClr val="003399"/>
    <a:srgbClr val="FFFFFF"/>
    <a:srgbClr val="B9B9FF"/>
    <a:srgbClr val="0000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77378" autoAdjust="0"/>
  </p:normalViewPr>
  <p:slideViewPr>
    <p:cSldViewPr snapToGrid="0">
      <p:cViewPr varScale="1">
        <p:scale>
          <a:sx n="85" d="100"/>
          <a:sy n="85" d="100"/>
        </p:scale>
        <p:origin x="1176" y="96"/>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viewProps" Target="view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theme" Target="theme/theme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notesMaster" Target="notesMasters/notes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microsoft.com/office/2016/11/relationships/changesInfo" Target="changesInfos/changesInfo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handoutMaster" Target="handoutMasters/handoutMaster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microsoft.com/office/2015/10/relationships/revisionInfo" Target="revisionInfo.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12/2/2025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12/2/2025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Where do design patterns fit in our journey through software engine</a:t>
            </a:r>
          </a:p>
        </p:txBody>
      </p:sp>
    </p:spTree>
    <p:extLst>
      <p:ext uri="{BB962C8B-B14F-4D97-AF65-F5344CB8AC3E}">
        <p14:creationId xmlns:p14="http://schemas.microsoft.com/office/powerpoint/2010/main" val="733057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EDA0B-1F0C-0338-0E28-0E35765E3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03790-60FA-0750-028F-FB5ECA61B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F6D32-2E11-AA8C-E3B6-197CD8D026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724091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83D3-A526-A3F9-7826-4358F3925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338B7-FDD6-D2E0-0643-299D06641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88EF2-1A11-62C8-53C1-D676BED2FEE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810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7C80-B1BD-96F2-4C6F-39CA3B44E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34B616-7197-257F-3C1A-0C5C690BA1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2EB3E-DFBB-ED1C-2EFE-2DB48DA4F974}"/>
              </a:ext>
            </a:extLst>
          </p:cNvPr>
          <p:cNvSpPr>
            <a:spLocks noGrp="1"/>
          </p:cNvSpPr>
          <p:nvPr>
            <p:ph type="body" idx="1"/>
          </p:nvPr>
        </p:nvSpPr>
        <p:spPr/>
        <p:txBody>
          <a:bodyPr/>
          <a:lstStyle/>
          <a:p>
            <a:pPr marL="171450" indent="-171450">
              <a:buFontTx/>
              <a:buChar char="-"/>
            </a:pPr>
            <a:r>
              <a:rPr lang="en-US" dirty="0"/>
              <a:t>In this module, we will pop out a bit</a:t>
            </a:r>
          </a:p>
          <a:p>
            <a:pPr marL="171450" indent="-171450">
              <a:buFontTx/>
              <a:buChar char="-"/>
            </a:pPr>
            <a:r>
              <a:rPr lang="en-US" dirty="0"/>
              <a:t>Look at entire system</a:t>
            </a:r>
          </a:p>
          <a:p>
            <a:pPr marL="171450" indent="-171450">
              <a:buFontTx/>
              <a:buChar char="-"/>
            </a:pPr>
            <a:r>
              <a:rPr lang="en-US" dirty="0"/>
              <a:t>Design these complex systems</a:t>
            </a:r>
          </a:p>
          <a:p>
            <a:pPr marL="0" indent="0">
              <a:buFontTx/>
              <a:buNone/>
            </a:pPr>
            <a:endParaRPr lang="en-US" dirty="0"/>
          </a:p>
        </p:txBody>
      </p:sp>
    </p:spTree>
    <p:extLst>
      <p:ext uri="{BB962C8B-B14F-4D97-AF65-F5344CB8AC3E}">
        <p14:creationId xmlns:p14="http://schemas.microsoft.com/office/powerpoint/2010/main" val="15075143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5DD41-5300-72D6-0225-2B181D159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5F694-41FD-3D1D-E5D1-44824A012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950417-97F3-398C-E6BD-0CB7F1EDC72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60289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Really make you fast in reading the code</a:t>
            </a:r>
          </a:p>
          <a:p>
            <a:pPr marL="171450" indent="-171450">
              <a:buFontTx/>
              <a:buChar char="-"/>
            </a:pPr>
            <a:r>
              <a:rPr lang="en-US" dirty="0"/>
              <a:t>Otherwise spend a lot of time trying to trace what it’s doing</a:t>
            </a:r>
          </a:p>
        </p:txBody>
      </p:sp>
    </p:spTree>
    <p:extLst>
      <p:ext uri="{BB962C8B-B14F-4D97-AF65-F5344CB8AC3E}">
        <p14:creationId xmlns:p14="http://schemas.microsoft.com/office/powerpoint/2010/main" val="2862225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7658E-D2D7-7BD5-D912-84D3C2E72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59422-34C2-BA83-851C-BCBABD6C2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3A89D-7F0F-2122-47BF-C8927B85AF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153970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85B53-1232-03F9-693C-BF0E0369A0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40C68-A92D-4271-4EF7-1A69260A8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80D7CF-A49A-1F76-D0C6-EA3A078219A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256144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C0CDE-963B-B899-2121-127DD8784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3B08F-495D-8EAB-B5B4-5F39A8BCA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7468B-9B46-B2D2-4A83-BF8D73C8AD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84282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71453-65AA-8288-9B47-203808FDA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1E07E7-E138-87AB-C827-F2F6F6C18D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3ECC5A-0B0B-6110-093A-365B7CED344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070504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F63E8-359E-4442-4A1B-12E285C4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95442-60E9-9B87-040C-2C1F5E3E5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E7F9D-2BCC-BCD8-C968-1E0CCA5EE4A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6758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237EA-09CF-11BB-E915-A547D86FA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5FF-03CA-A8B1-5305-C93B1FEFD4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C90AD-CFC4-673D-038C-00388014C4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23828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2C1B2-02CE-9DA5-5C6E-D5D2FF23D9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AE6F5-273C-56E5-A8E7-4F0DFB9ECD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7A78E-DD06-3E8C-4EBC-7072858B3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479273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EB6AA-0866-F9F9-89E7-576735DFA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6F779-FAB6-1100-34BA-BB6A1A73A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0A7DC-13C7-A265-CDE0-BFEA6E697C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577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388994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A7259-A459-CCEE-EC35-90F92C7485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5B4CD2-931A-8B21-B345-F6121BD8B4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4E8B16-317E-AC47-38E3-EB0560F0917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143095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34305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1B65F-45AA-AC0C-458B-E08A6B20A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9998C-9485-1A7B-481A-E728F83F6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A860E-AB2C-D31A-A832-2B1DF73DE88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843789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3211381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016911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8587352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26523611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053BC-1E48-E753-F58E-E380DABE75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CF7913-ED81-6A48-EEAD-180CD49BCE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3C5FD8-B6B1-A858-3C77-F95C42C4692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4998131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64CC9-E972-9688-526A-7E6465388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AF3C4-45C4-9E9F-6E34-2937CFA9E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022C8A-2B49-A33A-BD4E-DBE2EA5587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8374654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CF6DB-0C9A-6D02-40D7-04A9783C3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EE4CA-EB1E-8750-ADA6-F85D763751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6D377-EF70-27B1-CE02-08415155E6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4008224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4343E-F9E4-B171-61A0-F3E68F414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A207B5-201E-4933-02D0-9E9BCB715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57FEC0-5A1A-7A68-9F77-F9F8A1DED8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417238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AD028-2D50-BE82-F7A4-8E561497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514C2-BEFB-A973-D947-4BC038DF2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80A17-A8AD-21D1-8249-5DFFC8A8EA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9086237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AF35-C224-4B14-5EEE-DD629DE80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C544DF-F92B-ECF1-CC4C-EE1F75FCC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38E87F-FD2A-F1D5-B59A-8FD089DD0F4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748571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FED8F-BD96-4865-EE48-64BFA485B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B78DD0-EE29-2945-C64B-32776E81D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30EFE-0440-96DC-2BEF-C690CD4D43F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556543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December 2,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December 2,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December 2,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December 2,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December 2,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December 2,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Tuesday, December 2,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D186415-4B8E-5341-EFF6-0BA04978345A}"/>
              </a:ext>
            </a:extLst>
          </p:cNvPr>
          <p:cNvSpPr>
            <a:spLocks noGrp="1"/>
          </p:cNvSpPr>
          <p:nvPr>
            <p:ph idx="1"/>
          </p:nvPr>
        </p:nvSpPr>
        <p:spPr/>
        <p:txBody>
          <a:bodyPr>
            <a:normAutofit/>
          </a:bodyPr>
          <a:lstStyle/>
          <a:p>
            <a:r>
              <a:rPr lang="en-US" dirty="0"/>
              <a:t>Quiz 4 was more difficult than other quizzes</a:t>
            </a:r>
          </a:p>
          <a:p>
            <a:pPr lvl="1"/>
            <a:r>
              <a:rPr lang="en-US" dirty="0"/>
              <a:t>Feedback: explain each step</a:t>
            </a:r>
          </a:p>
          <a:p>
            <a:pPr lvl="1"/>
            <a:r>
              <a:rPr lang="en-US" dirty="0"/>
              <a:t>“If </a:t>
            </a:r>
            <a:r>
              <a:rPr lang="en-US" dirty="0" err="1">
                <a:latin typeface="Consolas" panose="020B0609020204030204" pitchFamily="49" charset="0"/>
              </a:rPr>
              <a:t>fptr</a:t>
            </a:r>
            <a:r>
              <a:rPr lang="en-US" dirty="0"/>
              <a:t> can be leaked…” =&gt; How can </a:t>
            </a:r>
            <a:r>
              <a:rPr lang="en-US" dirty="0" err="1">
                <a:latin typeface="Consolas" panose="020B0609020204030204" pitchFamily="49" charset="0"/>
              </a:rPr>
              <a:t>fptr</a:t>
            </a:r>
            <a:r>
              <a:rPr lang="en-US" dirty="0"/>
              <a:t> be leaked?</a:t>
            </a:r>
          </a:p>
          <a:p>
            <a:pPr lvl="1"/>
            <a:r>
              <a:rPr lang="en-US" dirty="0"/>
              <a:t>Explain each step using the code provided</a:t>
            </a:r>
          </a:p>
          <a:p>
            <a:r>
              <a:rPr lang="en-US" dirty="0"/>
              <a:t>Quiz 5 will be a take-home quiz on Dec 5</a:t>
            </a:r>
          </a:p>
          <a:p>
            <a:r>
              <a:rPr lang="en-US" dirty="0"/>
              <a:t>No office hours on 11/26; we will have class though</a:t>
            </a:r>
          </a:p>
          <a:p>
            <a:r>
              <a:rPr lang="en-US" dirty="0"/>
              <a:t>HW3 will be released tonight – deadline Dec 12</a:t>
            </a:r>
            <a:br>
              <a:rPr lang="en-US" dirty="0"/>
            </a:br>
            <a:endParaRPr lang="en-US" dirty="0"/>
          </a:p>
        </p:txBody>
      </p:sp>
      <p:sp>
        <p:nvSpPr>
          <p:cNvPr id="4" name="Title 3">
            <a:extLst>
              <a:ext uri="{FF2B5EF4-FFF2-40B4-BE49-F238E27FC236}">
                <a16:creationId xmlns:a16="http://schemas.microsoft.com/office/drawing/2014/main" id="{99B42F82-2925-06A7-B05B-F6E2AD4F20C7}"/>
              </a:ext>
            </a:extLst>
          </p:cNvPr>
          <p:cNvSpPr>
            <a:spLocks noGrp="1"/>
          </p:cNvSpPr>
          <p:nvPr>
            <p:ph type="title"/>
          </p:nvPr>
        </p:nvSpPr>
        <p:spPr/>
        <p:txBody>
          <a:bodyPr/>
          <a:lstStyle/>
          <a:p>
            <a:r>
              <a:rPr lang="en-US" dirty="0"/>
              <a:t>Announcements</a:t>
            </a:r>
          </a:p>
        </p:txBody>
      </p:sp>
      <p:graphicFrame>
        <p:nvGraphicFramePr>
          <p:cNvPr id="6" name="Table 5">
            <a:extLst>
              <a:ext uri="{FF2B5EF4-FFF2-40B4-BE49-F238E27FC236}">
                <a16:creationId xmlns:a16="http://schemas.microsoft.com/office/drawing/2014/main" id="{F4AEFEFA-EC40-121B-295D-7742460FF5F4}"/>
              </a:ext>
            </a:extLst>
          </p:cNvPr>
          <p:cNvGraphicFramePr>
            <a:graphicFrameLocks noGrp="1"/>
          </p:cNvGraphicFramePr>
          <p:nvPr>
            <p:extLst>
              <p:ext uri="{D42A27DB-BD31-4B8C-83A1-F6EECF244321}">
                <p14:modId xmlns:p14="http://schemas.microsoft.com/office/powerpoint/2010/main" val="1712872376"/>
              </p:ext>
            </p:extLst>
          </p:nvPr>
        </p:nvGraphicFramePr>
        <p:xfrm>
          <a:off x="8649369" y="808008"/>
          <a:ext cx="2884906" cy="1879155"/>
        </p:xfrm>
        <a:graphic>
          <a:graphicData uri="http://schemas.openxmlformats.org/drawingml/2006/table">
            <a:tbl>
              <a:tblPr firstRow="1" bandRow="1">
                <a:tableStyleId>{073A0DAA-6AF3-43AB-8588-CEC1D06C72B9}</a:tableStyleId>
              </a:tblPr>
              <a:tblGrid>
                <a:gridCol w="1442453">
                  <a:extLst>
                    <a:ext uri="{9D8B030D-6E8A-4147-A177-3AD203B41FA5}">
                      <a16:colId xmlns:a16="http://schemas.microsoft.com/office/drawing/2014/main" val="3956407124"/>
                    </a:ext>
                  </a:extLst>
                </a:gridCol>
                <a:gridCol w="1442453">
                  <a:extLst>
                    <a:ext uri="{9D8B030D-6E8A-4147-A177-3AD203B41FA5}">
                      <a16:colId xmlns:a16="http://schemas.microsoft.com/office/drawing/2014/main" val="3439681437"/>
                    </a:ext>
                  </a:extLst>
                </a:gridCol>
              </a:tblGrid>
              <a:tr h="375831">
                <a:tc>
                  <a:txBody>
                    <a:bodyPr/>
                    <a:lstStyle/>
                    <a:p>
                      <a:r>
                        <a:rPr lang="en-US" dirty="0"/>
                        <a:t>Quiz</a:t>
                      </a:r>
                    </a:p>
                  </a:txBody>
                  <a:tcPr/>
                </a:tc>
                <a:tc>
                  <a:txBody>
                    <a:bodyPr/>
                    <a:lstStyle/>
                    <a:p>
                      <a:r>
                        <a:rPr lang="en-US" dirty="0"/>
                        <a:t>Avg score</a:t>
                      </a:r>
                    </a:p>
                  </a:txBody>
                  <a:tcPr/>
                </a:tc>
                <a:extLst>
                  <a:ext uri="{0D108BD9-81ED-4DB2-BD59-A6C34878D82A}">
                    <a16:rowId xmlns:a16="http://schemas.microsoft.com/office/drawing/2014/main" val="952738593"/>
                  </a:ext>
                </a:extLst>
              </a:tr>
              <a:tr h="375831">
                <a:tc>
                  <a:txBody>
                    <a:bodyPr/>
                    <a:lstStyle/>
                    <a:p>
                      <a:r>
                        <a:rPr lang="en-US" dirty="0"/>
                        <a:t>Quiz 1</a:t>
                      </a:r>
                    </a:p>
                  </a:txBody>
                  <a:tcPr/>
                </a:tc>
                <a:tc>
                  <a:txBody>
                    <a:bodyPr/>
                    <a:lstStyle/>
                    <a:p>
                      <a:r>
                        <a:rPr lang="en-US" dirty="0"/>
                        <a:t>83%</a:t>
                      </a:r>
                    </a:p>
                  </a:txBody>
                  <a:tcPr/>
                </a:tc>
                <a:extLst>
                  <a:ext uri="{0D108BD9-81ED-4DB2-BD59-A6C34878D82A}">
                    <a16:rowId xmlns:a16="http://schemas.microsoft.com/office/drawing/2014/main" val="1958718066"/>
                  </a:ext>
                </a:extLst>
              </a:tr>
              <a:tr h="375831">
                <a:tc>
                  <a:txBody>
                    <a:bodyPr/>
                    <a:lstStyle/>
                    <a:p>
                      <a:r>
                        <a:rPr lang="en-US" dirty="0"/>
                        <a:t>Quiz 2</a:t>
                      </a:r>
                    </a:p>
                  </a:txBody>
                  <a:tcPr/>
                </a:tc>
                <a:tc>
                  <a:txBody>
                    <a:bodyPr/>
                    <a:lstStyle/>
                    <a:p>
                      <a:r>
                        <a:rPr lang="en-US" dirty="0"/>
                        <a:t>70%</a:t>
                      </a:r>
                    </a:p>
                  </a:txBody>
                  <a:tcPr/>
                </a:tc>
                <a:extLst>
                  <a:ext uri="{0D108BD9-81ED-4DB2-BD59-A6C34878D82A}">
                    <a16:rowId xmlns:a16="http://schemas.microsoft.com/office/drawing/2014/main" val="2631434036"/>
                  </a:ext>
                </a:extLst>
              </a:tr>
              <a:tr h="375831">
                <a:tc>
                  <a:txBody>
                    <a:bodyPr/>
                    <a:lstStyle/>
                    <a:p>
                      <a:r>
                        <a:rPr lang="en-US" dirty="0"/>
                        <a:t>Quiz 3</a:t>
                      </a:r>
                    </a:p>
                  </a:txBody>
                  <a:tcPr/>
                </a:tc>
                <a:tc>
                  <a:txBody>
                    <a:bodyPr/>
                    <a:lstStyle/>
                    <a:p>
                      <a:r>
                        <a:rPr lang="en-US" dirty="0"/>
                        <a:t>95%</a:t>
                      </a:r>
                    </a:p>
                  </a:txBody>
                  <a:tcPr/>
                </a:tc>
                <a:extLst>
                  <a:ext uri="{0D108BD9-81ED-4DB2-BD59-A6C34878D82A}">
                    <a16:rowId xmlns:a16="http://schemas.microsoft.com/office/drawing/2014/main" val="4082474393"/>
                  </a:ext>
                </a:extLst>
              </a:tr>
              <a:tr h="375831">
                <a:tc>
                  <a:txBody>
                    <a:bodyPr/>
                    <a:lstStyle/>
                    <a:p>
                      <a:r>
                        <a:rPr lang="en-US" dirty="0"/>
                        <a:t>Quiz 4</a:t>
                      </a:r>
                    </a:p>
                  </a:txBody>
                  <a:tcPr/>
                </a:tc>
                <a:tc>
                  <a:txBody>
                    <a:bodyPr/>
                    <a:lstStyle/>
                    <a:p>
                      <a:r>
                        <a:rPr lang="en-US" dirty="0"/>
                        <a:t>63%</a:t>
                      </a:r>
                    </a:p>
                  </a:txBody>
                  <a:tcPr/>
                </a:tc>
                <a:extLst>
                  <a:ext uri="{0D108BD9-81ED-4DB2-BD59-A6C34878D82A}">
                    <a16:rowId xmlns:a16="http://schemas.microsoft.com/office/drawing/2014/main" val="2898835715"/>
                  </a:ext>
                </a:extLst>
              </a:tr>
            </a:tbl>
          </a:graphicData>
        </a:graphic>
      </p:graphicFrame>
    </p:spTree>
    <p:extLst>
      <p:ext uri="{BB962C8B-B14F-4D97-AF65-F5344CB8AC3E}">
        <p14:creationId xmlns:p14="http://schemas.microsoft.com/office/powerpoint/2010/main" val="605618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8199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Some design patterns are so useful that languages support them</a:t>
            </a:r>
          </a:p>
          <a:p>
            <a:pPr lvl="1"/>
            <a:r>
              <a:rPr lang="en-US" dirty="0"/>
              <a:t>Proxy design pattern supported by Java</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75764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D2F94-6FCF-7EBE-CFE6-E749D1E116E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C3F6E86-7975-B930-B497-69115EE1D395}"/>
              </a:ext>
            </a:extLst>
          </p:cNvPr>
          <p:cNvSpPr>
            <a:spLocks noGrp="1"/>
          </p:cNvSpPr>
          <p:nvPr>
            <p:ph type="title"/>
          </p:nvPr>
        </p:nvSpPr>
        <p:spPr/>
        <p:txBody>
          <a:bodyPr/>
          <a:lstStyle/>
          <a:p>
            <a:r>
              <a:rPr lang="en-US" dirty="0"/>
              <a:t>Social media platform</a:t>
            </a:r>
          </a:p>
        </p:txBody>
      </p:sp>
      <p:sp>
        <p:nvSpPr>
          <p:cNvPr id="2" name="Rectangle: Rounded Corners 1">
            <a:extLst>
              <a:ext uri="{FF2B5EF4-FFF2-40B4-BE49-F238E27FC236}">
                <a16:creationId xmlns:a16="http://schemas.microsoft.com/office/drawing/2014/main" id="{680A378F-ECD9-C170-C529-4D4F1E651026}"/>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11751D54-3BA6-D00B-AED2-0069CCB6F642}"/>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BC188F48-9BD6-106F-FC37-0C33A864EA57}"/>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E706CDEB-4785-D52E-E4D1-E112D636843B}"/>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8DE3CDA5-1511-666F-D417-A2B8FEA6FDB3}"/>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941AA0C1-43C7-DBBD-5AD1-DA7F43B2D2B7}"/>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09EF6F9-E90D-916F-B1AB-BA2FE5D08028}"/>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E5BABD66-5093-901F-C229-40C696307C6D}"/>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1CDF64D9-0BF3-66DD-1E93-533BFA8DE86C}"/>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57E3FBEE-5B45-17F0-FC26-5F010F05157C}"/>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B6A93A38-6A07-04B0-3479-7AB421FF7267}"/>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10363C5C-5083-CD7F-3D28-7A1DF6EF88DD}"/>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3C72F7BE-6DFB-052E-4BC9-5A0D4B360358}"/>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F9B7959-A50F-608D-796C-99DBBB3729A0}"/>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7C093F80-7BF8-EF40-4654-4D52BBCCD4AC}"/>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31CF91B3-24BF-4CC6-7070-2D6C6E5AD749}"/>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2BD68DED-064A-8BD4-4C5B-C8C3B439E11B}"/>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6E9C1117-7648-13A5-2BEF-D7F61B684B49}"/>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F11FBB7-1D6C-98FF-E310-C8E9FBD2E185}"/>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917A0B50-3478-A935-2B6A-42FC4263CAE9}"/>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DE822C58-A220-B7D8-9C1E-9E5A484E1322}"/>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01FFAFC5-D0B1-F8C0-0686-B12F71E22CB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8CB1417D-291B-8FFD-B6E0-2CEB3E372265}"/>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218CE2DA-F026-F0E7-D21D-B3BFA3C60DDB}"/>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12DD4A04-6519-538B-A3C8-A7D3D633154D}"/>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1C014E90-C4E8-983F-25D9-82B66F7717DB}"/>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E7E2D4DC-6412-309C-38C0-233B4C9F95BC}"/>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B850E369-08BE-E47C-EABF-72B46194A83E}"/>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806151DF-576D-FE7B-39E3-BEB9C73D37D2}"/>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31A0A280-5115-C44E-6B74-B02EE64A305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4257879F-468A-10A0-1BED-428200D5F32E}"/>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3ED06F55-4B19-9B66-7AAB-91ED0F568011}"/>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151553D3-956C-CCF9-5C9F-A390BF50D02E}"/>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658156BA-A111-B1EA-A85F-BB66ACF8BD31}"/>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FA78926-2475-1839-CC1F-0DE2FA2ABAF6}"/>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6A92C78-2038-726F-E4D8-76FD9855128F}"/>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79A0A8C0-0552-BD73-3279-0D43EC47F292}"/>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ACDF28B-084F-634A-3B14-D12A636A61E9}"/>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20D0864-DD9A-A39F-E542-377DBC075803}"/>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79674045-C1CB-16C0-0E5C-F0337D4A3B8A}"/>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DAAA755C-EF46-85EA-5227-C5DDAA8AB60B}"/>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67A8DF45-AFD4-ACEF-C55C-A4975C432ABF}"/>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02D0B9EB-C3FE-A91C-0C30-1C19D0541BCA}"/>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DE13A4AC-A844-E555-1C9B-91D8D46CB2DA}"/>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1CEFB15D-B721-00B6-43CA-D06AC082420A}"/>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FE28D401-C713-BEF2-278F-E1A7A8627D2B}"/>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671DC276-2A9F-7EF5-3464-7C1410431AD6}"/>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12CB8FC7-F0FE-D86C-AB34-1D5D1E28359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1894A399-56F8-35A6-D62A-7C698D1BABFA}"/>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361A0ADE-492B-3DED-66F4-6F758B66FDEB}"/>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E3ADC7C4-F2FC-E176-4228-2B93DF735901}"/>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56F32BBD-1083-D09E-239F-87C928D89021}"/>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26CA2728-4DCF-6DB0-61B9-CDAAA474F1F2}"/>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13E5944C-C527-2B6E-BABE-98B2353C5E28}"/>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0924524E-A2A3-7564-3ECC-3B07634DE330}"/>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81BED55A-CF6E-7CC0-1FD7-6782997D1D74}"/>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91C9AB10-5A24-4B90-2F79-521B424E69A8}"/>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B759DC36-0343-4AA8-4E86-BB1515758578}"/>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DD032A81-97E1-56A5-535A-D36E0DAB9DD8}"/>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6C9695AA-88C5-BAED-62F9-F1620096CC0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CD44E3DB-261E-4CBB-1CA4-838569B78CB9}"/>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2134E18C-67C6-1699-DA30-F21EB38B8C6D}"/>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A9245098-B0B0-4750-5BC0-BC1D5385F1F9}"/>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FB63A0F6-6809-3EC1-8DF2-0098C4691A9E}"/>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D1F4824-5620-6BBD-228B-BE8069C3D265}"/>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7EEE151B-24C4-007F-9EC6-4184216E12BC}"/>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DAB1095F-4229-5752-5520-459417381E36}"/>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53B93CAB-550E-32FE-D78D-480273D5F2FD}"/>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6B810224-FE2D-F4BC-171A-E8B59A35A60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D80FB16B-1555-FAA7-1F0E-5C1A715B191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257966A5-6D4E-DF7D-154C-F7054377AD10}"/>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17F81078-0D49-721E-1F80-0F1C6438D158}"/>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563072ED-1DAB-6389-AD3E-1B64629EF2EF}"/>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C6FC003C-779D-5074-8864-14FC3E637DCE}"/>
              </a:ext>
            </a:extLst>
          </p:cNvPr>
          <p:cNvSpPr/>
          <p:nvPr/>
        </p:nvSpPr>
        <p:spPr>
          <a:xfrm>
            <a:off x="5287114" y="3586868"/>
            <a:ext cx="1987071" cy="784582"/>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08941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B7634D-F2BA-A166-AC5B-4CBB5F7ECED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F70FCC2-C395-7A99-0BD4-D7647B748798}"/>
              </a:ext>
            </a:extLst>
          </p:cNvPr>
          <p:cNvSpPr>
            <a:spLocks noGrp="1"/>
          </p:cNvSpPr>
          <p:nvPr>
            <p:ph type="title"/>
          </p:nvPr>
        </p:nvSpPr>
        <p:spPr/>
        <p:txBody>
          <a:bodyPr/>
          <a:lstStyle/>
          <a:p>
            <a:r>
              <a:rPr lang="en-US" dirty="0"/>
              <a:t>OO, testing, reflection – single component focus</a:t>
            </a:r>
          </a:p>
        </p:txBody>
      </p:sp>
      <p:sp>
        <p:nvSpPr>
          <p:cNvPr id="25" name="Rectangle: Rounded Corners 24">
            <a:extLst>
              <a:ext uri="{FF2B5EF4-FFF2-40B4-BE49-F238E27FC236}">
                <a16:creationId xmlns:a16="http://schemas.microsoft.com/office/drawing/2014/main" id="{95A6895C-A406-2087-EC15-293160E61AF4}"/>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8C4FE6D-3BCC-8E28-6637-612C4AF7132C}"/>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772BBF84-FDBE-4BC4-BA90-CA5A4A6A14F2}"/>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9DCAF342-FA34-C2FC-6393-72B9D42AAB0A}"/>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F365035C-5CA1-82EE-3EB9-FBA4AC17123F}"/>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29EF85C5-607D-A831-1B4A-9D2237BA450C}"/>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5BD1A808-9A55-37D9-E2AE-3D8F45A362DE}"/>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549059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5492B0-3BD6-3CEC-B0DF-730FD5773F3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BC12AD-84F5-110E-1666-5750879E2224}"/>
              </a:ext>
            </a:extLst>
          </p:cNvPr>
          <p:cNvSpPr>
            <a:spLocks noGrp="1"/>
          </p:cNvSpPr>
          <p:nvPr>
            <p:ph type="title"/>
          </p:nvPr>
        </p:nvSpPr>
        <p:spPr/>
        <p:txBody>
          <a:bodyPr/>
          <a:lstStyle/>
          <a:p>
            <a:r>
              <a:rPr lang="en-US" dirty="0"/>
              <a:t>Software architecture</a:t>
            </a:r>
          </a:p>
        </p:txBody>
      </p:sp>
      <p:sp>
        <p:nvSpPr>
          <p:cNvPr id="2" name="Rectangle: Rounded Corners 1">
            <a:extLst>
              <a:ext uri="{FF2B5EF4-FFF2-40B4-BE49-F238E27FC236}">
                <a16:creationId xmlns:a16="http://schemas.microsoft.com/office/drawing/2014/main" id="{2E716B01-555D-070D-75BE-D4BAEB70BB08}"/>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42228462-BD0D-792D-7B50-CFEF44C0D299}"/>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5DD7D132-B832-0B2B-4881-860F82187BAD}"/>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49C33840-8D51-A541-C3CA-7AF33E1A5276}"/>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5A28129D-0DE3-EFD6-7DC6-70CE716AFDD5}"/>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6284E446-748F-0F6E-7F2C-EFCAC3F4309E}"/>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40BC189-0DDB-8E8B-6BE6-F2947CC1E28E}"/>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24471DF3-F3DF-A4AD-60C8-3D114F785A00}"/>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B6446299-EE4E-10C4-6C7D-17CBC4089A94}"/>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19A4E326-DF76-4182-F691-95A8B8E435C0}"/>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DFB9BAEB-6870-B417-CE5E-7251118AF915}"/>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7A4495DF-36F6-0E8E-9303-80FF8D3F00BC}"/>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50CE9F9D-EAB9-861F-E69E-DBBB05031A39}"/>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B149E8B-3ECB-EA42-48BD-F4B60C77E333}"/>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2FB4A9A8-FE25-12FC-330E-618DBDC1618B}"/>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0A1210D4-C099-156B-9712-0EFC97403C57}"/>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ACB570CE-86F3-6A20-CD80-5038367FDB5C}"/>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CDA779CF-7C69-8174-9292-E19A1E335498}"/>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98B325A-0696-E811-DC3D-D08E85DE61EA}"/>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61769CD1-0B06-F70D-CB00-F8E72E100A96}"/>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AA1F0DE5-0BD4-AA87-7049-6CA1DE77DFBC}"/>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7391515C-9555-84F1-96C6-6AC4296A74A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0F412C97-3CBF-5EDA-0FA7-89C67F524262}"/>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E1E32789-6EAD-36EB-5E56-CDE856749F8F}"/>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EF6B1CB9-0C76-E7E0-777D-DFFAA7F784AB}"/>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F3B7803C-07F2-D2BB-9CDC-E7333770071D}"/>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80CFE8BB-B2CA-5395-3553-48DB1FB5FFDD}"/>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293C4D5A-83B4-C94E-FE12-637CC90935DA}"/>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BD5B22B7-404A-EB06-F2B7-5992CA527764}"/>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6DC4FCEC-E725-65D0-A57F-DE8DEE78C41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74A6122F-B3F5-EBE7-06FD-E13564762DDD}"/>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8C2BA776-076C-AC08-90F6-8BAE92B86F37}"/>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B59A432D-02B2-2634-0E45-373A98E07EEB}"/>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D8CC424-CE27-E217-EAD5-CA6D350BD82D}"/>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AC24AA3-4F86-FCE2-9E0E-D9831DD3C892}"/>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019B8F-6467-9EE9-EB6A-7714FA18F204}"/>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487B55CE-1FE7-2D68-6E32-7430F827845F}"/>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DA1906C6-9ED9-BEFB-2C49-591A080A2147}"/>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043467B-291B-365F-A436-B4EB08C8A8FA}"/>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26870189-06F2-8DD4-3163-482724438EF1}"/>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74227C5C-E8D8-5ADD-BD34-2758BE38DACC}"/>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58A57E30-8252-023F-5A70-DFBAF7221C71}"/>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DA3EA4C9-954E-162E-AD68-EE280619C6ED}"/>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FE35DF5B-FEC2-0620-89E8-2A4654D79858}"/>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E18A6757-B181-3CC9-5129-A0F5F7687D29}"/>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B8BC5F6A-8D72-4E96-C615-59C1EFD7996D}"/>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58D02E9F-960F-274E-F47E-E097A94571D4}"/>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AE4B18DF-06DC-187E-7001-F148F3FDA85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F1BBAE24-A33E-F9A5-0543-B9A5BD70CDC0}"/>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71A87E0C-A57B-EFC8-CD7B-7826F974F9FE}"/>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96823AAF-A411-311B-1ADB-236B28C0988E}"/>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233889CC-B073-F78F-BE3A-AF20AE3A7E9C}"/>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7F92CE7B-7175-7B2E-C216-F17276B399C4}"/>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346D5D6B-3FBD-1C63-DA6F-FE2D267A6F9D}"/>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F6AD76AD-F559-D6F1-58F6-3BE7828BFFAE}"/>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D7FB22D7-2CB1-D21F-FA85-3987FF2BD315}"/>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E68398C7-3634-DBB5-0FE5-565B164D9CA6}"/>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F5B0B4DF-55B3-277B-F36F-79EB3004EA7F}"/>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AC13801E-B0DC-E381-EE74-51BB56739E0D}"/>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1EF3DBCD-2C08-7B19-B322-2D35E2A8802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8EAF61D6-3E30-EEB7-3F56-A1B9A0B55145}"/>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A9109CE6-D6F8-BACC-A0F0-C495316ADA07}"/>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876525F8-D7D5-35CE-213B-A1683AF7D07B}"/>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9CCEA774-713F-7F25-9290-0B04A4C82BF6}"/>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063A2CE-C4FD-E25E-E120-08C7DBBB5377}"/>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3C576BC2-1D52-FDB2-3394-4DF66F93B8E3}"/>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6EB02EDA-9DBD-9E54-E26D-0A918CE9C73A}"/>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4366E92E-1849-3768-0BD1-15E91027BD24}"/>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E8A86DEB-D42D-799D-2986-749ABD7AFFA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1144E78F-08AC-E6BD-0023-C6163B84473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31BC1E5D-07CF-F818-5AE2-4F66E89F1A14}"/>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CF338640-C7A5-7CE1-FC27-5B772645FDF0}"/>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75320C85-373A-07DA-F455-95636EAD58E4}"/>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50D37713-FE73-318A-49C2-DABE950DD1F7}"/>
              </a:ext>
            </a:extLst>
          </p:cNvPr>
          <p:cNvSpPr/>
          <p:nvPr/>
        </p:nvSpPr>
        <p:spPr>
          <a:xfrm>
            <a:off x="0" y="539066"/>
            <a:ext cx="11871580" cy="5320167"/>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Rectangle 15">
            <a:extLst>
              <a:ext uri="{FF2B5EF4-FFF2-40B4-BE49-F238E27FC236}">
                <a16:creationId xmlns:a16="http://schemas.microsoft.com/office/drawing/2014/main" id="{3408EB7A-6EC7-FB35-ED8B-18B83E7D251C}"/>
              </a:ext>
            </a:extLst>
          </p:cNvPr>
          <p:cNvSpPr/>
          <p:nvPr/>
        </p:nvSpPr>
        <p:spPr>
          <a:xfrm>
            <a:off x="2042645" y="1266731"/>
            <a:ext cx="8009501" cy="646331"/>
          </a:xfrm>
          <a:prstGeom prst="rect">
            <a:avLst/>
          </a:prstGeom>
          <a:solidFill>
            <a:srgbClr val="FFFFFF"/>
          </a:solidFill>
        </p:spPr>
        <p:txBody>
          <a:bodyPr wrap="non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Software architecture - system as a whole</a:t>
            </a:r>
          </a:p>
        </p:txBody>
      </p:sp>
    </p:spTree>
    <p:extLst>
      <p:ext uri="{BB962C8B-B14F-4D97-AF65-F5344CB8AC3E}">
        <p14:creationId xmlns:p14="http://schemas.microsoft.com/office/powerpoint/2010/main" val="116285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8A250-9D33-6774-DFC8-01FC136966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45DCA9-2E41-6CA5-EFEF-E87A220BEB6A}"/>
              </a:ext>
            </a:extLst>
          </p:cNvPr>
          <p:cNvSpPr>
            <a:spLocks noGrp="1"/>
          </p:cNvSpPr>
          <p:nvPr>
            <p:ph type="title"/>
          </p:nvPr>
        </p:nvSpPr>
        <p:spPr/>
        <p:txBody>
          <a:bodyPr/>
          <a:lstStyle/>
          <a:p>
            <a:r>
              <a:rPr lang="en-US" dirty="0"/>
              <a:t>Design patterns – single component focus</a:t>
            </a:r>
          </a:p>
        </p:txBody>
      </p:sp>
      <p:sp>
        <p:nvSpPr>
          <p:cNvPr id="25" name="Rectangle: Rounded Corners 24">
            <a:extLst>
              <a:ext uri="{FF2B5EF4-FFF2-40B4-BE49-F238E27FC236}">
                <a16:creationId xmlns:a16="http://schemas.microsoft.com/office/drawing/2014/main" id="{73BCC5D8-A4D0-D2A2-9515-0BBC5EA48425}"/>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683F3C8-61F1-6ED4-FC86-60FC2C860D34}"/>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F3456C61-6629-DC74-D9C3-0F8598636E77}"/>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62C87673-52DB-87E2-F822-F1E84A75EF49}"/>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87F5F6F1-E69F-3E81-8A25-D99C0FACC69A}"/>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7929D3F1-F12B-A10A-65FF-7C6A1DFB4C79}"/>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E711AE96-35D3-CA4D-3C5B-565CCF7A2DE4}"/>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 name="Connector: Curved 1">
            <a:extLst>
              <a:ext uri="{FF2B5EF4-FFF2-40B4-BE49-F238E27FC236}">
                <a16:creationId xmlns:a16="http://schemas.microsoft.com/office/drawing/2014/main" id="{9BAB6FBB-265E-8F54-C333-E11C39B9A2B6}"/>
              </a:ext>
            </a:extLst>
          </p:cNvPr>
          <p:cNvCxnSpPr>
            <a:cxnSpLocks/>
            <a:endCxn id="25" idx="3"/>
          </p:cNvCxnSpPr>
          <p:nvPr/>
        </p:nvCxnSpPr>
        <p:spPr>
          <a:xfrm rot="10800000">
            <a:off x="7878882" y="4191073"/>
            <a:ext cx="1347182" cy="1119487"/>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039B92E8-2FB5-B877-160D-8FE30F4998B7}"/>
              </a:ext>
            </a:extLst>
          </p:cNvPr>
          <p:cNvSpPr/>
          <p:nvPr/>
        </p:nvSpPr>
        <p:spPr>
          <a:xfrm>
            <a:off x="9221804" y="5079728"/>
            <a:ext cx="2147255"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Design patterns</a:t>
            </a:r>
          </a:p>
        </p:txBody>
      </p:sp>
      <p:sp>
        <p:nvSpPr>
          <p:cNvPr id="7" name="Rectangle 6">
            <a:extLst>
              <a:ext uri="{FF2B5EF4-FFF2-40B4-BE49-F238E27FC236}">
                <a16:creationId xmlns:a16="http://schemas.microsoft.com/office/drawing/2014/main" id="{5D9E0C2D-2216-5478-C96D-33E34F8BC803}"/>
              </a:ext>
            </a:extLst>
          </p:cNvPr>
          <p:cNvSpPr/>
          <p:nvPr/>
        </p:nvSpPr>
        <p:spPr>
          <a:xfrm>
            <a:off x="8039688" y="4953144"/>
            <a:ext cx="3953019" cy="642196"/>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200204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7"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lstStyle/>
          <a:p>
            <a:r>
              <a:rPr lang="en-US" dirty="0"/>
              <a:t>Example: design a </a:t>
            </a:r>
            <a:r>
              <a:rPr lang="en-US" dirty="0">
                <a:latin typeface="Consolas" panose="020B0609020204030204" pitchFamily="49" charset="0"/>
              </a:rPr>
              <a:t>Logger</a:t>
            </a:r>
            <a:r>
              <a:rPr lang="en-US" dirty="0"/>
              <a:t> class for an application consisting of hundreds of classes</a:t>
            </a:r>
          </a:p>
          <a:p>
            <a:pPr lvl="1"/>
            <a:r>
              <a:rPr lang="en-US" dirty="0"/>
              <a:t>The logger creates a log file with name as the current date-time, say – </a:t>
            </a:r>
            <a:r>
              <a:rPr lang="en-US" dirty="0">
                <a:latin typeface="Consolas" panose="020B0609020204030204" pitchFamily="49" charset="0"/>
              </a:rPr>
              <a:t>log_11_21_2025_12_00_01.txt</a:t>
            </a:r>
            <a:r>
              <a:rPr lang="en-US" dirty="0">
                <a:latin typeface="Helvetica" panose="020B0604020202020204" pitchFamily="34" charset="0"/>
                <a:cs typeface="Helvetica" panose="020B0604020202020204" pitchFamily="34" charset="0"/>
              </a:rPr>
              <a:t>, and logs events in it</a:t>
            </a:r>
          </a:p>
          <a:p>
            <a:r>
              <a:rPr lang="en-US" dirty="0"/>
              <a:t>To ensure uniformity</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r>
              <a:rPr lang="en-US" dirty="0"/>
              <a:t>How would you design it?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Why do we need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How would you use this </a:t>
            </a:r>
            <a:r>
              <a:rPr lang="en-US" dirty="0">
                <a:latin typeface="Consolas" panose="020B0609020204030204" pitchFamily="49" charset="0"/>
              </a:rPr>
              <a:t>Logger</a:t>
            </a:r>
            <a:r>
              <a:rPr lang="en-US" dirty="0"/>
              <a:t> class?</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t>… very ugly </a:t>
            </a:r>
            <a:r>
              <a:rPr lang="en-US" dirty="0">
                <a:sym typeface="Wingdings" panose="05000000000000000000" pitchFamily="2" charset="2"/>
              </a:rPr>
              <a:t></a:t>
            </a:r>
          </a:p>
          <a:p>
            <a:pPr lvl="1"/>
            <a:r>
              <a:rPr lang="en-US" dirty="0">
                <a:sym typeface="Wingdings" panose="05000000000000000000" pitchFamily="2" charset="2"/>
              </a:rPr>
              <a:t>Also, how would you ensure that a future programmer does not accidentally create a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a:t>
            </a:r>
            <a:endParaRPr lang="en-US" dirty="0"/>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160979"/>
            <a:ext cx="5261762" cy="445477"/>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How to ensure a single object of the Logger class is accessible from many parts of the application?</a:t>
            </a:r>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4054428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The usage site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pass the logger object as an argument to callee methods</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048375"/>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76512" y="4680173"/>
            <a:ext cx="5261762" cy="693338"/>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Write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p>
          <a:p>
            <a:r>
              <a:rPr lang="en-US" dirty="0"/>
              <a:t>Turn the constructor </a:t>
            </a:r>
            <a:r>
              <a:rPr lang="en-US" dirty="0">
                <a:latin typeface="Consolas" panose="020B0609020204030204" pitchFamily="49" charset="0"/>
              </a:rPr>
              <a:t>private</a:t>
            </a:r>
          </a:p>
          <a:p>
            <a:pPr lvl="1"/>
            <a:r>
              <a:rPr lang="en-US" dirty="0"/>
              <a:t>All object creation goes through </a:t>
            </a:r>
            <a:r>
              <a:rPr lang="en-US" dirty="0" err="1">
                <a:latin typeface="Consolas" panose="020B0609020204030204" pitchFamily="49" charset="0"/>
              </a:rPr>
              <a:t>getLogger</a:t>
            </a:r>
            <a:r>
              <a:rPr lang="en-US" dirty="0">
                <a:latin typeface="Consolas" panose="020B0609020204030204" pitchFamily="49" charset="0"/>
              </a:rPr>
              <a:t>()</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548163" y="1322132"/>
            <a:ext cx="5261762" cy="712595"/>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4844143"/>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CC684A-DD8E-DE94-852D-FC506D2B7D95}"/>
              </a:ext>
            </a:extLst>
          </p:cNvPr>
          <p:cNvSpPr>
            <a:spLocks noGrp="1"/>
          </p:cNvSpPr>
          <p:nvPr>
            <p:ph idx="1"/>
          </p:nvPr>
        </p:nvSpPr>
        <p:spPr/>
        <p:txBody>
          <a:bodyPr/>
          <a:lstStyle/>
          <a:p>
            <a:r>
              <a:rPr lang="en-US" dirty="0"/>
              <a:t>class A {</a:t>
            </a:r>
          </a:p>
          <a:p>
            <a:r>
              <a:rPr lang="en-US" dirty="0"/>
              <a:t>	// Some fields</a:t>
            </a:r>
          </a:p>
          <a:p>
            <a:r>
              <a:rPr lang="en-US" dirty="0"/>
              <a:t>	// Some methods</a:t>
            </a:r>
          </a:p>
          <a:p>
            <a:r>
              <a:rPr lang="en-US" dirty="0"/>
              <a:t>}</a:t>
            </a:r>
          </a:p>
          <a:p>
            <a:endParaRPr lang="en-US" dirty="0"/>
          </a:p>
          <a:p>
            <a:r>
              <a:rPr lang="en-US" dirty="0"/>
              <a:t>class B extends A {</a:t>
            </a:r>
          </a:p>
          <a:p>
            <a:r>
              <a:rPr lang="en-US" dirty="0"/>
              <a:t>	private A </a:t>
            </a:r>
            <a:r>
              <a:rPr lang="en-US" dirty="0" err="1"/>
              <a:t>objA</a:t>
            </a:r>
            <a:r>
              <a:rPr lang="en-US" dirty="0"/>
              <a:t>;</a:t>
            </a:r>
          </a:p>
          <a:p>
            <a:endParaRPr lang="en-US" dirty="0"/>
          </a:p>
          <a:p>
            <a:r>
              <a:rPr lang="en-US" dirty="0"/>
              <a:t>	// Some fields</a:t>
            </a:r>
          </a:p>
          <a:p>
            <a:r>
              <a:rPr lang="en-US" dirty="0"/>
              <a:t>	// Some methods</a:t>
            </a:r>
          </a:p>
          <a:p>
            <a:r>
              <a:rPr lang="en-US" dirty="0"/>
              <a:t>}</a:t>
            </a:r>
          </a:p>
        </p:txBody>
      </p:sp>
      <p:sp>
        <p:nvSpPr>
          <p:cNvPr id="4" name="Title 3">
            <a:extLst>
              <a:ext uri="{FF2B5EF4-FFF2-40B4-BE49-F238E27FC236}">
                <a16:creationId xmlns:a16="http://schemas.microsoft.com/office/drawing/2014/main" id="{628D96B9-CB15-7516-4E67-2891CED60556}"/>
              </a:ext>
            </a:extLst>
          </p:cNvPr>
          <p:cNvSpPr>
            <a:spLocks noGrp="1"/>
          </p:cNvSpPr>
          <p:nvPr>
            <p:ph type="title"/>
          </p:nvPr>
        </p:nvSpPr>
        <p:spPr>
          <a:xfrm>
            <a:off x="0" y="0"/>
            <a:ext cx="12192000" cy="696277"/>
          </a:xfrm>
        </p:spPr>
        <p:txBody>
          <a:bodyPr/>
          <a:lstStyle/>
          <a:p>
            <a:r>
              <a:rPr lang="en-US" dirty="0"/>
              <a:t>Why should we study design patterns?</a:t>
            </a:r>
          </a:p>
        </p:txBody>
      </p:sp>
      <p:sp>
        <p:nvSpPr>
          <p:cNvPr id="2" name="Content Placeholder 1">
            <a:extLst>
              <a:ext uri="{FF2B5EF4-FFF2-40B4-BE49-F238E27FC236}">
                <a16:creationId xmlns:a16="http://schemas.microsoft.com/office/drawing/2014/main" id="{38F196BB-F530-ED5B-6F55-77E6F212186F}"/>
              </a:ext>
            </a:extLst>
          </p:cNvPr>
          <p:cNvSpPr>
            <a:spLocks noGrp="1"/>
          </p:cNvSpPr>
          <p:nvPr>
            <p:ph idx="13"/>
          </p:nvPr>
        </p:nvSpPr>
        <p:spPr>
          <a:xfrm>
            <a:off x="382074" y="785004"/>
            <a:ext cx="5633413" cy="5046453"/>
          </a:xfrm>
        </p:spPr>
        <p:txBody>
          <a:bodyPr>
            <a:normAutofit fontScale="92500" lnSpcReduction="10000"/>
          </a:bodyPr>
          <a:lstStyle/>
          <a:p>
            <a:r>
              <a:rPr lang="en-US" dirty="0"/>
              <a:t>Important to quickly recognize common requirements </a:t>
            </a:r>
          </a:p>
          <a:p>
            <a:r>
              <a:rPr lang="en-US" dirty="0"/>
              <a:t>Important for reading large codebases</a:t>
            </a:r>
          </a:p>
          <a:p>
            <a:pPr lvl="1"/>
            <a:r>
              <a:rPr lang="en-US" dirty="0"/>
              <a:t>Class B extends class A and also contains an object of class A </a:t>
            </a:r>
          </a:p>
          <a:p>
            <a:pPr lvl="1"/>
            <a:r>
              <a:rPr lang="en-US" dirty="0"/>
              <a:t>What’s </a:t>
            </a:r>
            <a:r>
              <a:rPr lang="en-US" b="1" dirty="0"/>
              <a:t>one</a:t>
            </a:r>
            <a:r>
              <a:rPr lang="en-US" dirty="0"/>
              <a:t> possible reason? </a:t>
            </a:r>
          </a:p>
          <a:p>
            <a:pPr lvl="1"/>
            <a:r>
              <a:rPr lang="en-US" dirty="0"/>
              <a:t>Could be many reasons, but one reason could be they are implementing the </a:t>
            </a:r>
            <a:r>
              <a:rPr lang="en-US" b="1" i="1" dirty="0"/>
              <a:t>proxy pattern</a:t>
            </a:r>
          </a:p>
          <a:p>
            <a:endParaRPr lang="en-US" dirty="0"/>
          </a:p>
        </p:txBody>
      </p:sp>
    </p:spTree>
    <p:extLst>
      <p:ext uri="{BB962C8B-B14F-4D97-AF65-F5344CB8AC3E}">
        <p14:creationId xmlns:p14="http://schemas.microsoft.com/office/powerpoint/2010/main" val="278621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i="1" dirty="0"/>
              <a:t>What </a:t>
            </a:r>
            <a:r>
              <a:rPr lang="en-US" dirty="0"/>
              <a:t>gets created</a:t>
            </a:r>
          </a:p>
          <a:p>
            <a:pPr lvl="1"/>
            <a:r>
              <a:rPr lang="en-US" i="1" dirty="0"/>
              <a:t>Who </a:t>
            </a:r>
            <a:r>
              <a:rPr lang="en-US" dirty="0"/>
              <a:t>creates it</a:t>
            </a:r>
          </a:p>
          <a:p>
            <a:pPr lvl="1"/>
            <a:r>
              <a:rPr lang="en-US" i="1" dirty="0"/>
              <a:t>How </a:t>
            </a:r>
            <a:r>
              <a:rPr lang="en-US" dirty="0"/>
              <a:t>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lnSpcReduction="10000"/>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 // </a:t>
            </a:r>
            <a:r>
              <a:rPr lang="en-US" sz="1600" dirty="0" err="1">
                <a:latin typeface="Consolas" panose="020B0609020204030204" pitchFamily="49" charset="0"/>
              </a:rPr>
              <a:t>WinButton</a:t>
            </a:r>
            <a:r>
              <a:rPr lang="en-US" sz="1600" dirty="0">
                <a:latin typeface="Consolas" panose="020B0609020204030204" pitchFamily="49" charset="0"/>
              </a:rPr>
              <a:t> extends Button</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 // Extends Button</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Very ugly </a:t>
            </a:r>
            <a:r>
              <a:rPr lang="en-US" dirty="0">
                <a:latin typeface="Helvetica" panose="020B0604020202020204" pitchFamily="34" charset="0"/>
                <a:cs typeface="Helvetica" panose="020B0604020202020204" pitchFamily="34" charset="0"/>
                <a:sym typeface="Wingdings" panose="05000000000000000000" pitchFamily="2" charset="2"/>
              </a:rPr>
              <a:t></a:t>
            </a:r>
            <a:endParaRPr lang="en-US" dirty="0">
              <a:latin typeface="Helvetica" panose="020B0604020202020204" pitchFamily="34" charset="0"/>
              <a:cs typeface="Helvetica" panose="020B0604020202020204" pitchFamily="34" charset="0"/>
            </a:endParaRPr>
          </a:p>
          <a:p>
            <a:endParaRPr lang="en-US" dirty="0"/>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Concreate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Isolates concrete classes</a:t>
            </a:r>
          </a:p>
          <a:p>
            <a:pPr lvl="1"/>
            <a:r>
              <a:rPr lang="en-US" dirty="0"/>
              <a:t>Objects are created through the interface / abstract classes</a:t>
            </a:r>
          </a:p>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	public void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void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8912704" y="5247472"/>
            <a:ext cx="2829621" cy="461665"/>
          </a:xfrm>
          <a:prstGeom prst="rect">
            <a:avLst/>
          </a:prstGeom>
          <a:noFill/>
        </p:spPr>
        <p:txBody>
          <a:bodyPr wrap="none" rtlCol="0">
            <a:spAutoFit/>
          </a:bodyPr>
          <a:lstStyle/>
          <a:p>
            <a:r>
              <a:rPr lang="en-US" sz="2400" b="1" i="1" dirty="0"/>
              <a:t>What happens here?</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414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r>
              <a:rPr lang="en-US" dirty="0"/>
              <a:t>How classes and objects compose to form larger structures</a:t>
            </a:r>
          </a:p>
          <a:p>
            <a:r>
              <a:rPr lang="en-US" dirty="0"/>
              <a:t>Structural patterns can be applied at</a:t>
            </a:r>
          </a:p>
          <a:p>
            <a:pPr lvl="1"/>
            <a:r>
              <a:rPr lang="en-US" dirty="0"/>
              <a:t>Class level</a:t>
            </a:r>
          </a:p>
          <a:p>
            <a:pPr lvl="1"/>
            <a:r>
              <a:rPr lang="en-US" dirty="0"/>
              <a:t>Object level</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848533C3-6979-4AF6-61D1-44C0E4291708}"/>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B979EF-25AC-CB22-E597-8572AE1D8116}"/>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8C15CDA-8389-9C81-5D76-FC48734B42E4}"/>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83638817-7DFE-A2C5-3634-C35BC8536F66}"/>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00D95292-4032-F1D4-3EA8-D81B6567B624}"/>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6A14BF0F-3206-35D9-BC9F-E414F0AC5924}"/>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D9512AB7-72D1-0602-D0F8-5E8F2D4A7854}"/>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0970A4C7-0DB8-E1DF-014D-C5F2F8953EBB}"/>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5" name="TextBox 24">
            <a:extLst>
              <a:ext uri="{FF2B5EF4-FFF2-40B4-BE49-F238E27FC236}">
                <a16:creationId xmlns:a16="http://schemas.microsoft.com/office/drawing/2014/main" id="{13B903FB-1A1E-A118-AB1F-6F0AE9F8AE30}"/>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1" name="TextBox 20">
            <a:extLst>
              <a:ext uri="{FF2B5EF4-FFF2-40B4-BE49-F238E27FC236}">
                <a16:creationId xmlns:a16="http://schemas.microsoft.com/office/drawing/2014/main" id="{B145B955-BA2A-896F-398E-6181726F0F23}"/>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r>
              <a:rPr lang="en-US" dirty="0"/>
              <a:t>Also known as </a:t>
            </a:r>
            <a:r>
              <a:rPr lang="en-US" i="1" dirty="0"/>
              <a:t>wrapper</a:t>
            </a:r>
            <a:endParaRPr lang="en-US" dirty="0"/>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584859" y="3050875"/>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1718740" cy="369332"/>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584859" y="3050875"/>
              <a:ext cx="705642" cy="362577"/>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189286" y="1507802"/>
                <a:ext cx="2690225"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JedisProxy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Jedis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grpSp>
      <p:grpSp>
        <p:nvGrpSpPr>
          <p:cNvPr id="64" name="Group 63">
            <a:extLst>
              <a:ext uri="{FF2B5EF4-FFF2-40B4-BE49-F238E27FC236}">
                <a16:creationId xmlns:a16="http://schemas.microsoft.com/office/drawing/2014/main" id="{544546B2-1D66-2EAA-17BD-8AFE5D4CC96E}"/>
              </a:ext>
            </a:extLst>
          </p:cNvPr>
          <p:cNvGrpSpPr/>
          <p:nvPr/>
        </p:nvGrpSpPr>
        <p:grpSpPr>
          <a:xfrm>
            <a:off x="1154545" y="3063944"/>
            <a:ext cx="9671527" cy="2178083"/>
            <a:chOff x="1154545" y="3063944"/>
            <a:chExt cx="9671527" cy="2178083"/>
          </a:xfrm>
        </p:grpSpPr>
        <p:sp>
          <p:nvSpPr>
            <p:cNvPr id="62" name="Rectangle 61">
              <a:extLst>
                <a:ext uri="{FF2B5EF4-FFF2-40B4-BE49-F238E27FC236}">
                  <a16:creationId xmlns:a16="http://schemas.microsoft.com/office/drawing/2014/main" id="{8A3101F2-38AE-E4DE-7346-E8D88D1BF366}"/>
                </a:ext>
              </a:extLst>
            </p:cNvPr>
            <p:cNvSpPr/>
            <p:nvPr/>
          </p:nvSpPr>
          <p:spPr>
            <a:xfrm>
              <a:off x="1154545" y="3461411"/>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3" name="Rectangle 62">
              <a:extLst>
                <a:ext uri="{FF2B5EF4-FFF2-40B4-BE49-F238E27FC236}">
                  <a16:creationId xmlns:a16="http://schemas.microsoft.com/office/drawing/2014/main" id="{2EB92F61-EC52-5F22-5631-594D82E4D808}"/>
                </a:ext>
              </a:extLst>
            </p:cNvPr>
            <p:cNvSpPr/>
            <p:nvPr/>
          </p:nvSpPr>
          <p:spPr>
            <a:xfrm>
              <a:off x="6863681" y="3063944"/>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903667" cy="461665"/>
          </a:xfrm>
          <a:prstGeom prst="rect">
            <a:avLst/>
          </a:prstGeom>
          <a:noFill/>
        </p:spPr>
        <p:txBody>
          <a:bodyPr wrap="none" rtlCol="0">
            <a:spAutoFit/>
          </a:bodyPr>
          <a:lstStyle/>
          <a:p>
            <a:r>
              <a:rPr lang="en-US" sz="2400" b="1" i="1" dirty="0"/>
              <a:t>Implements/extends common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b="1" i="1" dirty="0"/>
              <a:t>Implements/extends interface/class of inner obj</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A95A4FD-EE9E-947A-38AA-64AE1360B0B8}"/>
              </a:ext>
            </a:extLst>
          </p:cNvPr>
          <p:cNvSpPr>
            <a:spLocks noGrp="1"/>
          </p:cNvSpPr>
          <p:nvPr>
            <p:ph idx="1"/>
          </p:nvPr>
        </p:nvSpPr>
        <p:spPr/>
        <p:txBody>
          <a:bodyPr/>
          <a:lstStyle/>
          <a:p>
            <a:r>
              <a:rPr lang="en-US" dirty="0"/>
              <a:t>A single adapter can work with many </a:t>
            </a:r>
            <a:r>
              <a:rPr lang="en-US" dirty="0" err="1"/>
              <a:t>adaptees</a:t>
            </a:r>
            <a:r>
              <a:rPr lang="en-US" dirty="0"/>
              <a:t> – that is, the </a:t>
            </a:r>
            <a:r>
              <a:rPr lang="en-US" dirty="0" err="1"/>
              <a:t>Adaptee</a:t>
            </a:r>
            <a:r>
              <a:rPr lang="en-US" dirty="0"/>
              <a:t> itself and all of its subclasses (any subclass of </a:t>
            </a:r>
            <a:r>
              <a:rPr lang="en-US" dirty="0" err="1">
                <a:latin typeface="Consolas" panose="020B0609020204030204" pitchFamily="49" charset="0"/>
              </a:rPr>
              <a:t>StripeProcessor</a:t>
            </a:r>
            <a:r>
              <a:rPr lang="en-US" dirty="0"/>
              <a:t> in the previous example)</a:t>
            </a:r>
          </a:p>
          <a:p>
            <a:r>
              <a:rPr lang="en-US" dirty="0"/>
              <a:t>Makes it harder to override </a:t>
            </a:r>
            <a:r>
              <a:rPr lang="en-US" dirty="0" err="1"/>
              <a:t>Adaptee</a:t>
            </a:r>
            <a:r>
              <a:rPr lang="en-US" dirty="0"/>
              <a:t> behavior</a:t>
            </a:r>
          </a:p>
          <a:p>
            <a:pPr lvl="1"/>
            <a:r>
              <a:rPr lang="en-US" dirty="0"/>
              <a:t>Must subclass the </a:t>
            </a:r>
            <a:r>
              <a:rPr lang="en-US" dirty="0" err="1"/>
              <a:t>Adaptee</a:t>
            </a:r>
            <a:r>
              <a:rPr lang="en-US" dirty="0"/>
              <a:t> and make Adapter refer to the subclass object</a:t>
            </a:r>
          </a:p>
        </p:txBody>
      </p:sp>
      <p:sp>
        <p:nvSpPr>
          <p:cNvPr id="5" name="Title 4">
            <a:extLst>
              <a:ext uri="{FF2B5EF4-FFF2-40B4-BE49-F238E27FC236}">
                <a16:creationId xmlns:a16="http://schemas.microsoft.com/office/drawing/2014/main" id="{FFF01EA9-E485-2691-F400-C187B85D7C4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463730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5CD7228-F96E-3B29-3AD0-46815D02264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765F51ED-8528-7B10-84BF-BA7E1900AEF1}"/>
              </a:ext>
            </a:extLst>
          </p:cNvPr>
          <p:cNvSpPr>
            <a:spLocks noGrp="1"/>
          </p:cNvSpPr>
          <p:nvPr>
            <p:ph type="body" sz="quarter" idx="13"/>
          </p:nvPr>
        </p:nvSpPr>
        <p:spPr/>
        <p:txBody>
          <a:bodyPr/>
          <a:lstStyle/>
          <a:p>
            <a:r>
              <a:rPr lang="en-US" dirty="0"/>
              <a:t>Design patterns</a:t>
            </a:r>
          </a:p>
        </p:txBody>
      </p:sp>
    </p:spTree>
    <p:extLst>
      <p:ext uri="{BB962C8B-B14F-4D97-AF65-F5344CB8AC3E}">
        <p14:creationId xmlns:p14="http://schemas.microsoft.com/office/powerpoint/2010/main" val="31204172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0FFA9DB-D120-76AD-D05D-0B75487B0C3E}"/>
              </a:ext>
            </a:extLst>
          </p:cNvPr>
          <p:cNvSpPr>
            <a:spLocks noGrp="1"/>
          </p:cNvSpPr>
          <p:nvPr>
            <p:ph idx="1"/>
          </p:nvPr>
        </p:nvSpPr>
        <p:spPr/>
        <p:txBody>
          <a:bodyPr/>
          <a:lstStyle/>
          <a:p>
            <a:r>
              <a:rPr lang="en-US" dirty="0"/>
              <a:t>Late day count pauses tonight at 11:59 PM and resumes on 12/1 at 12:00 AM</a:t>
            </a:r>
          </a:p>
        </p:txBody>
      </p:sp>
      <p:sp>
        <p:nvSpPr>
          <p:cNvPr id="4" name="Title 3">
            <a:extLst>
              <a:ext uri="{FF2B5EF4-FFF2-40B4-BE49-F238E27FC236}">
                <a16:creationId xmlns:a16="http://schemas.microsoft.com/office/drawing/2014/main" id="{A2778FD1-A4F5-0B04-DFDA-B51847FB0CF5}"/>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21315788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4C20D4-74A4-6080-30B7-A67DAAFCBBBD}"/>
              </a:ext>
            </a:extLst>
          </p:cNvPr>
          <p:cNvSpPr>
            <a:spLocks noGrp="1"/>
          </p:cNvSpPr>
          <p:nvPr>
            <p:ph idx="1"/>
          </p:nvPr>
        </p:nvSpPr>
        <p:spPr/>
        <p:txBody>
          <a:bodyPr/>
          <a:lstStyle/>
          <a:p>
            <a:r>
              <a:rPr lang="en-US" dirty="0"/>
              <a:t>Sample questions</a:t>
            </a:r>
          </a:p>
          <a:p>
            <a:r>
              <a:rPr lang="en-US" dirty="0"/>
              <a:t>Composite pattern</a:t>
            </a:r>
          </a:p>
          <a:p>
            <a:r>
              <a:rPr lang="en-US" dirty="0"/>
              <a:t>Bridge pattern</a:t>
            </a:r>
          </a:p>
          <a:p>
            <a:r>
              <a:rPr lang="en-US" dirty="0"/>
              <a:t>Façade pattern</a:t>
            </a:r>
          </a:p>
          <a:p>
            <a:r>
              <a:rPr lang="en-US" dirty="0"/>
              <a:t>Decorator pattern</a:t>
            </a:r>
          </a:p>
        </p:txBody>
      </p:sp>
      <p:sp>
        <p:nvSpPr>
          <p:cNvPr id="4" name="Title 3">
            <a:extLst>
              <a:ext uri="{FF2B5EF4-FFF2-40B4-BE49-F238E27FC236}">
                <a16:creationId xmlns:a16="http://schemas.microsoft.com/office/drawing/2014/main" id="{2794FD43-6F40-29BF-5BCF-F38D8BD109ED}"/>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538F96ED-FD4D-DBF9-63AB-4594813C43A6}"/>
              </a:ext>
            </a:extLst>
          </p:cNvPr>
          <p:cNvCxnSpPr/>
          <p:nvPr/>
        </p:nvCxnSpPr>
        <p:spPr>
          <a:xfrm>
            <a:off x="0" y="3681663"/>
            <a:ext cx="12192000" cy="0"/>
          </a:xfrm>
          <a:prstGeom prst="line">
            <a:avLst/>
          </a:prstGeom>
          <a:ln>
            <a:prstDash val="sysDot"/>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527455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2F2B5-6A42-24A9-03E3-198C2183404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1B9CC5-8517-4702-28A9-1C6AE542FA73}"/>
              </a:ext>
            </a:extLst>
          </p:cNvPr>
          <p:cNvSpPr>
            <a:spLocks noGrp="1"/>
          </p:cNvSpPr>
          <p:nvPr>
            <p:ph idx="1"/>
          </p:nvPr>
        </p:nvSpPr>
        <p:spPr/>
        <p:txBody>
          <a:bodyPr>
            <a:normAutofit lnSpcReduction="10000"/>
          </a:bodyPr>
          <a:lstStyle/>
          <a:p>
            <a:pPr>
              <a:spcBef>
                <a:spcPct val="50000"/>
              </a:spcBef>
            </a:pPr>
            <a:r>
              <a:rPr lang="en-US" altLang="en-US" dirty="0">
                <a:latin typeface="Helvetica" panose="020B0604020202020204" pitchFamily="34" charset="0"/>
                <a:cs typeface="Helvetica" panose="020B0604020202020204" pitchFamily="34" charset="0"/>
              </a:rPr>
              <a:t>Design patterns: singleton pattern, abstract factory pattern, adapter pattern, proxy pattern </a:t>
            </a:r>
          </a:p>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5C7127F8-0147-23E3-141C-DCE863876644}"/>
              </a:ext>
            </a:extLst>
          </p:cNvPr>
          <p:cNvSpPr>
            <a:spLocks noGrp="1"/>
          </p:cNvSpPr>
          <p:nvPr>
            <p:ph type="title"/>
          </p:nvPr>
        </p:nvSpPr>
        <p:spPr/>
        <p:txBody>
          <a:bodyPr/>
          <a:lstStyle/>
          <a:p>
            <a:r>
              <a:rPr lang="en-US" dirty="0"/>
              <a:t>Sample question 1</a:t>
            </a:r>
          </a:p>
        </p:txBody>
      </p:sp>
    </p:spTree>
    <p:extLst>
      <p:ext uri="{BB962C8B-B14F-4D97-AF65-F5344CB8AC3E}">
        <p14:creationId xmlns:p14="http://schemas.microsoft.com/office/powerpoint/2010/main" val="3133067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EF6EB27-19E3-5031-55DB-79E91D48F275}"/>
              </a:ext>
            </a:extLst>
          </p:cNvPr>
          <p:cNvSpPr>
            <a:spLocks noGrp="1"/>
          </p:cNvSpPr>
          <p:nvPr>
            <p:ph idx="1"/>
          </p:nvPr>
        </p:nvSpPr>
        <p:spPr/>
        <p:txBody>
          <a:bodyPr/>
          <a:lstStyle/>
          <a:p>
            <a:r>
              <a:rPr lang="en-US" dirty="0"/>
              <a:t>I have a </a:t>
            </a:r>
            <a:r>
              <a:rPr lang="en-US" dirty="0" err="1">
                <a:latin typeface="Consolas" panose="020B0609020204030204" pitchFamily="49" charset="0"/>
              </a:rPr>
              <a:t>GitHubRepo</a:t>
            </a:r>
            <a:r>
              <a:rPr lang="en-US" dirty="0"/>
              <a:t> class with fields for – </a:t>
            </a:r>
            <a:r>
              <a:rPr lang="en-US" dirty="0">
                <a:latin typeface="Consolas" panose="020B0609020204030204" pitchFamily="49" charset="0"/>
              </a:rPr>
              <a:t>author</a:t>
            </a:r>
            <a:r>
              <a:rPr lang="en-US" dirty="0"/>
              <a:t>, </a:t>
            </a:r>
            <a:r>
              <a:rPr lang="en-US" dirty="0" err="1">
                <a:latin typeface="Consolas" panose="020B0609020204030204" pitchFamily="49" charset="0"/>
              </a:rPr>
              <a:t>url</a:t>
            </a:r>
            <a:r>
              <a:rPr lang="en-US" dirty="0"/>
              <a:t>, </a:t>
            </a:r>
            <a:r>
              <a:rPr lang="en-US" dirty="0" err="1">
                <a:latin typeface="Consolas" panose="020B0609020204030204" pitchFamily="49" charset="0"/>
              </a:rPr>
              <a:t>creationDate</a:t>
            </a:r>
            <a:r>
              <a:rPr lang="en-US" dirty="0"/>
              <a:t>, and </a:t>
            </a:r>
            <a:r>
              <a:rPr lang="en-US" dirty="0" err="1">
                <a:latin typeface="Consolas" panose="020B0609020204030204" pitchFamily="49" charset="0"/>
              </a:rPr>
              <a:t>lastTenCommitList</a:t>
            </a:r>
            <a:r>
              <a:rPr lang="en-US" dirty="0"/>
              <a:t>. The </a:t>
            </a:r>
            <a:r>
              <a:rPr lang="en-US" dirty="0" err="1">
                <a:latin typeface="Consolas" panose="020B0609020204030204" pitchFamily="49" charset="0"/>
              </a:rPr>
              <a:t>lastTenCommitList</a:t>
            </a:r>
            <a:r>
              <a:rPr lang="en-US" dirty="0"/>
              <a:t> contains a list of the last ten commits – the code diffs, the file names – everything. </a:t>
            </a:r>
          </a:p>
          <a:p>
            <a:pPr lvl="1"/>
            <a:r>
              <a:rPr lang="en-US" dirty="0"/>
              <a:t>The details of the </a:t>
            </a:r>
            <a:r>
              <a:rPr lang="en-US" dirty="0" err="1"/>
              <a:t>GitHubRepo</a:t>
            </a:r>
            <a:r>
              <a:rPr lang="en-US" dirty="0"/>
              <a:t> class is fetched using API calls </a:t>
            </a:r>
          </a:p>
          <a:p>
            <a:pPr lvl="2"/>
            <a:r>
              <a:rPr lang="en-US" dirty="0">
                <a:latin typeface="Consolas" panose="020B0609020204030204" pitchFamily="49" charset="0"/>
              </a:rPr>
              <a:t>https://api.github.com/repo?name=&lt;repo_name&gt;</a:t>
            </a:r>
          </a:p>
          <a:p>
            <a:pPr lvl="2"/>
            <a:r>
              <a:rPr lang="en-US" dirty="0">
                <a:latin typeface="Consolas" panose="020B0609020204030204" pitchFamily="49" charset="0"/>
              </a:rPr>
              <a:t>https://api.github.com/repo_commits?name=&lt;repo_name&gt;&amp;limit=&lt;num_commits&gt;</a:t>
            </a:r>
          </a:p>
          <a:p>
            <a:pPr lvl="1"/>
            <a:r>
              <a:rPr lang="en-US" dirty="0"/>
              <a:t>I want the </a:t>
            </a:r>
            <a:r>
              <a:rPr lang="en-US" dirty="0" err="1">
                <a:latin typeface="Consolas" panose="020B0609020204030204" pitchFamily="49" charset="0"/>
              </a:rPr>
              <a:t>lastTenCommitList</a:t>
            </a:r>
            <a:r>
              <a:rPr lang="en-US" dirty="0"/>
              <a:t> field, which is a List object, to be lazy-loaded. Only when the user performs a call to </a:t>
            </a:r>
            <a:r>
              <a:rPr lang="en-US" dirty="0" err="1">
                <a:latin typeface="Consolas" panose="020B0609020204030204" pitchFamily="49" charset="0"/>
              </a:rPr>
              <a:t>getLastTenCommitlist</a:t>
            </a:r>
            <a:r>
              <a:rPr lang="en-US" dirty="0">
                <a:latin typeface="Consolas" panose="020B0609020204030204" pitchFamily="49" charset="0"/>
              </a:rPr>
              <a:t>()</a:t>
            </a:r>
            <a:r>
              <a:rPr lang="en-US" dirty="0"/>
              <a:t> should the commits be fetched. How should I design this?</a:t>
            </a:r>
          </a:p>
        </p:txBody>
      </p:sp>
      <p:sp>
        <p:nvSpPr>
          <p:cNvPr id="4" name="Title 3">
            <a:extLst>
              <a:ext uri="{FF2B5EF4-FFF2-40B4-BE49-F238E27FC236}">
                <a16:creationId xmlns:a16="http://schemas.microsoft.com/office/drawing/2014/main" id="{D4E6D1E7-D3EE-8D44-E451-0B464CA5BFC6}"/>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25406738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A0BD6-0B9E-07A2-A3DC-4C49CE7CF2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FBBDFA3-5218-4FFC-13B4-7EF217A115D3}"/>
              </a:ext>
            </a:extLst>
          </p:cNvPr>
          <p:cNvSpPr>
            <a:spLocks noGrp="1"/>
          </p:cNvSpPr>
          <p:nvPr>
            <p:ph idx="1"/>
          </p:nvPr>
        </p:nvSpPr>
        <p:spPr/>
        <p:txBody>
          <a:bodyPr>
            <a:normAutofit fontScale="92500" lnSpcReduction="10000"/>
          </a:bodyPr>
          <a:lstStyle/>
          <a:p>
            <a:r>
              <a:rPr lang="en-US" dirty="0"/>
              <a:t>I want to design a framework that supports lazy loading from an API. The framework should support a class-level annotation </a:t>
            </a:r>
            <a:r>
              <a:rPr lang="en-US" dirty="0">
                <a:latin typeface="Consolas" panose="020B0609020204030204" pitchFamily="49" charset="0"/>
              </a:rPr>
              <a:t>@Remote</a:t>
            </a:r>
            <a:r>
              <a:rPr lang="en-US" dirty="0"/>
              <a:t> and a method-level annotation </a:t>
            </a:r>
            <a:r>
              <a:rPr lang="en-US" dirty="0">
                <a:latin typeface="Consolas" panose="020B0609020204030204" pitchFamily="49" charset="0"/>
              </a:rPr>
              <a:t>@RemoteField(url = “/</a:t>
            </a:r>
            <a:r>
              <a:rPr lang="en-US" dirty="0" err="1">
                <a:latin typeface="Consolas" panose="020B0609020204030204" pitchFamily="49" charset="0"/>
              </a:rPr>
              <a:t>api</a:t>
            </a:r>
            <a:r>
              <a:rPr lang="en-US" dirty="0">
                <a:latin typeface="Consolas" panose="020B0609020204030204" pitchFamily="49" charset="0"/>
              </a:rPr>
              <a:t>/endpoint”)</a:t>
            </a:r>
            <a:r>
              <a:rPr lang="en-US" dirty="0"/>
              <a:t>. When the getter of a field annotated with </a:t>
            </a:r>
            <a:r>
              <a:rPr lang="en-US" dirty="0">
                <a:latin typeface="Consolas" panose="020B0609020204030204" pitchFamily="49" charset="0"/>
              </a:rPr>
              <a:t>@RemoteField </a:t>
            </a:r>
            <a:r>
              <a:rPr lang="en-US" dirty="0"/>
              <a:t>is invoked, the </a:t>
            </a:r>
            <a:r>
              <a:rPr lang="en-US" dirty="0" err="1"/>
              <a:t>url</a:t>
            </a:r>
            <a:r>
              <a:rPr lang="en-US" dirty="0"/>
              <a:t> endpoint should be invoked, which would return a JSON array object. This JSON array object should be deserialized into a Java </a:t>
            </a:r>
            <a:r>
              <a:rPr lang="en-US" dirty="0">
                <a:latin typeface="Consolas" panose="020B0609020204030204" pitchFamily="49" charset="0"/>
              </a:rPr>
              <a:t>List</a:t>
            </a:r>
            <a:r>
              <a:rPr lang="en-US" dirty="0"/>
              <a:t> and stored to the field annotated with the </a:t>
            </a:r>
            <a:r>
              <a:rPr lang="en-US" dirty="0">
                <a:latin typeface="Consolas" panose="020B0609020204030204" pitchFamily="49" charset="0"/>
              </a:rPr>
              <a:t>@RemoteField</a:t>
            </a:r>
            <a:r>
              <a:rPr lang="en-US" dirty="0"/>
              <a:t> annotation. </a:t>
            </a:r>
          </a:p>
          <a:p>
            <a:r>
              <a:rPr lang="en-US" dirty="0"/>
              <a:t>How should I design this framework? Assume that fields annotated with </a:t>
            </a:r>
            <a:r>
              <a:rPr lang="en-US" dirty="0">
                <a:latin typeface="Consolas" panose="020B0609020204030204" pitchFamily="49" charset="0"/>
              </a:rPr>
              <a:t>@RemoteField </a:t>
            </a:r>
            <a:r>
              <a:rPr lang="en-US" dirty="0"/>
              <a:t>are only accessed by their getters and that a getter named </a:t>
            </a:r>
            <a:r>
              <a:rPr lang="en-US" dirty="0">
                <a:latin typeface="Consolas" panose="020B0609020204030204" pitchFamily="49" charset="0"/>
              </a:rPr>
              <a:t>get&lt;Field&gt;</a:t>
            </a:r>
            <a:r>
              <a:rPr lang="en-US" dirty="0"/>
              <a:t> is always present for that field. Also, assume that only fields of type </a:t>
            </a:r>
            <a:r>
              <a:rPr lang="en-US" dirty="0">
                <a:latin typeface="Consolas" panose="020B0609020204030204" pitchFamily="49" charset="0"/>
              </a:rPr>
              <a:t>List</a:t>
            </a:r>
            <a:r>
              <a:rPr lang="en-US" dirty="0"/>
              <a:t> are annotated with the </a:t>
            </a:r>
            <a:r>
              <a:rPr lang="en-US" dirty="0" err="1">
                <a:latin typeface="Consolas" panose="020B0609020204030204" pitchFamily="49" charset="0"/>
              </a:rPr>
              <a:t>RemoteField</a:t>
            </a:r>
            <a:r>
              <a:rPr lang="en-US" dirty="0"/>
              <a:t> annotation</a:t>
            </a:r>
          </a:p>
        </p:txBody>
      </p:sp>
      <p:sp>
        <p:nvSpPr>
          <p:cNvPr id="4" name="Title 3">
            <a:extLst>
              <a:ext uri="{FF2B5EF4-FFF2-40B4-BE49-F238E27FC236}">
                <a16:creationId xmlns:a16="http://schemas.microsoft.com/office/drawing/2014/main" id="{6E98A586-00B1-A299-1442-AB17088800D7}"/>
              </a:ext>
            </a:extLst>
          </p:cNvPr>
          <p:cNvSpPr>
            <a:spLocks noGrp="1"/>
          </p:cNvSpPr>
          <p:nvPr>
            <p:ph type="title"/>
          </p:nvPr>
        </p:nvSpPr>
        <p:spPr/>
        <p:txBody>
          <a:bodyPr/>
          <a:lstStyle/>
          <a:p>
            <a:r>
              <a:rPr lang="en-US" dirty="0"/>
              <a:t>Sample question 2</a:t>
            </a:r>
          </a:p>
        </p:txBody>
      </p:sp>
    </p:spTree>
    <p:extLst>
      <p:ext uri="{BB962C8B-B14F-4D97-AF65-F5344CB8AC3E}">
        <p14:creationId xmlns:p14="http://schemas.microsoft.com/office/powerpoint/2010/main" val="18794403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43838-EEFE-24AF-1D4F-7D1AB8C7A1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52CE6C9-1FCC-DD40-7EA4-ABAA1CC37E1C}"/>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6BB9B28-1E7D-1716-EAE5-3B1331A89B8A}"/>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1CB8DF37-E7B9-E74E-060F-ED59C9302429}"/>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a:t>
            </a:r>
            <a:r>
              <a:rPr lang="en-US" b="1" dirty="0"/>
              <a:t>Composite</a:t>
            </a:r>
            <a:r>
              <a:rPr lang="en-US" dirty="0"/>
              <a:t>, Bridge, Façade, Decorator</a:t>
            </a:r>
          </a:p>
        </p:txBody>
      </p:sp>
      <p:sp>
        <p:nvSpPr>
          <p:cNvPr id="6" name="Content Placeholder 4">
            <a:extLst>
              <a:ext uri="{FF2B5EF4-FFF2-40B4-BE49-F238E27FC236}">
                <a16:creationId xmlns:a16="http://schemas.microsoft.com/office/drawing/2014/main" id="{B705B6CE-61AF-8839-FE88-3A5FA6EED45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942D88DF-6AC3-625C-55FA-A2BD76DD8978}"/>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74330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8F21F-EC84-3680-D06E-7E96C5D58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B109D9-83E0-B896-CD3C-9C412572AAB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BE741535-73FC-5A3D-B86E-ECBEA5C69A46}"/>
              </a:ext>
            </a:extLst>
          </p:cNvPr>
          <p:cNvSpPr>
            <a:spLocks noGrp="1"/>
          </p:cNvSpPr>
          <p:nvPr>
            <p:ph type="body" sz="quarter" idx="13"/>
          </p:nvPr>
        </p:nvSpPr>
        <p:spPr/>
        <p:txBody>
          <a:bodyPr/>
          <a:lstStyle/>
          <a:p>
            <a:r>
              <a:rPr lang="en-US" sz="3200" dirty="0"/>
              <a:t>Composite design pattern</a:t>
            </a:r>
          </a:p>
        </p:txBody>
      </p:sp>
    </p:spTree>
    <p:extLst>
      <p:ext uri="{BB962C8B-B14F-4D97-AF65-F5344CB8AC3E}">
        <p14:creationId xmlns:p14="http://schemas.microsoft.com/office/powerpoint/2010/main" val="22970492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FF56C-4D31-BB15-7442-7174815D530E}"/>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7D4BE7A-F0B0-9497-CBEE-66A692DB0466}"/>
              </a:ext>
            </a:extLst>
          </p:cNvPr>
          <p:cNvSpPr>
            <a:spLocks noGrp="1"/>
          </p:cNvSpPr>
          <p:nvPr>
            <p:ph idx="1"/>
          </p:nvPr>
        </p:nvSpPr>
        <p:spPr>
          <a:xfrm>
            <a:off x="360607" y="785004"/>
            <a:ext cx="5735393" cy="5218981"/>
          </a:xfrm>
        </p:spPr>
        <p:txBody>
          <a:bodyPr>
            <a:normAutofit lnSpcReduction="10000"/>
          </a:bodyPr>
          <a:lstStyle/>
          <a:p>
            <a:r>
              <a:rPr lang="en-US" dirty="0"/>
              <a:t>A </a:t>
            </a:r>
            <a:r>
              <a:rPr lang="en-US" dirty="0">
                <a:latin typeface="Consolas" panose="020B0609020204030204" pitchFamily="49" charset="0"/>
              </a:rPr>
              <a:t>Post</a:t>
            </a:r>
            <a:r>
              <a:rPr lang="en-US" dirty="0"/>
              <a:t> is a leaf social media entry</a:t>
            </a:r>
          </a:p>
          <a:p>
            <a:r>
              <a:rPr lang="en-US" dirty="0"/>
              <a:t>A </a:t>
            </a:r>
            <a:r>
              <a:rPr lang="en-US" dirty="0">
                <a:latin typeface="Consolas" panose="020B0609020204030204" pitchFamily="49" charset="0"/>
              </a:rPr>
              <a:t>Thread</a:t>
            </a:r>
            <a:r>
              <a:rPr lang="en-US" dirty="0"/>
              <a:t> is a collection of posts and/or threads</a:t>
            </a:r>
          </a:p>
          <a:p>
            <a:r>
              <a:rPr lang="en-US" dirty="0"/>
              <a:t>Both </a:t>
            </a:r>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should have similar operations such as </a:t>
            </a:r>
            <a:r>
              <a:rPr lang="en-US" dirty="0" err="1">
                <a:latin typeface="Consolas" panose="020B0609020204030204" pitchFamily="49" charset="0"/>
              </a:rPr>
              <a:t>show,hide</a:t>
            </a:r>
            <a:r>
              <a:rPr lang="en-US" dirty="0">
                <a:latin typeface="Consolas" panose="020B0609020204030204" pitchFamily="49" charset="0"/>
              </a:rPr>
              <a:t>,</a:t>
            </a:r>
            <a:r>
              <a:rPr lang="en-US" dirty="0"/>
              <a:t> </a:t>
            </a:r>
            <a:r>
              <a:rPr lang="en-US" dirty="0">
                <a:latin typeface="Consolas" panose="020B0609020204030204" pitchFamily="49" charset="0"/>
              </a:rPr>
              <a:t>report</a:t>
            </a:r>
            <a:r>
              <a:rPr lang="en-US" dirty="0"/>
              <a:t>, etc.</a:t>
            </a:r>
          </a:p>
          <a:p>
            <a:r>
              <a:rPr lang="en-US" b="1" i="1" dirty="0"/>
              <a:t>… bring them under same type hierarchy</a:t>
            </a:r>
          </a:p>
          <a:p>
            <a:endParaRPr lang="en-US" dirty="0"/>
          </a:p>
        </p:txBody>
      </p:sp>
      <p:sp>
        <p:nvSpPr>
          <p:cNvPr id="3" name="Title 2">
            <a:extLst>
              <a:ext uri="{FF2B5EF4-FFF2-40B4-BE49-F238E27FC236}">
                <a16:creationId xmlns:a16="http://schemas.microsoft.com/office/drawing/2014/main" id="{492343A9-75DE-EF04-D389-2492EF4B74C1}"/>
              </a:ext>
            </a:extLst>
          </p:cNvPr>
          <p:cNvSpPr>
            <a:spLocks noGrp="1"/>
          </p:cNvSpPr>
          <p:nvPr>
            <p:ph type="title"/>
          </p:nvPr>
        </p:nvSpPr>
        <p:spPr>
          <a:xfrm>
            <a:off x="0" y="0"/>
            <a:ext cx="12192000" cy="696277"/>
          </a:xfrm>
        </p:spPr>
        <p:txBody>
          <a:bodyPr/>
          <a:lstStyle/>
          <a:p>
            <a:r>
              <a:rPr lang="en-US" dirty="0"/>
              <a:t>Case study: social media posts</a:t>
            </a:r>
          </a:p>
        </p:txBody>
      </p:sp>
      <p:pic>
        <p:nvPicPr>
          <p:cNvPr id="5" name="Picture 4">
            <a:extLst>
              <a:ext uri="{FF2B5EF4-FFF2-40B4-BE49-F238E27FC236}">
                <a16:creationId xmlns:a16="http://schemas.microsoft.com/office/drawing/2014/main" id="{55BC4AD0-824C-53EB-B07A-2FF3AE4673A8}"/>
              </a:ext>
            </a:extLst>
          </p:cNvPr>
          <p:cNvPicPr>
            <a:picLocks noChangeAspect="1"/>
          </p:cNvPicPr>
          <p:nvPr/>
        </p:nvPicPr>
        <p:blipFill>
          <a:blip r:embed="rId3"/>
          <a:stretch>
            <a:fillRect/>
          </a:stretch>
        </p:blipFill>
        <p:spPr>
          <a:xfrm>
            <a:off x="6689153" y="696277"/>
            <a:ext cx="4693955" cy="4913984"/>
          </a:xfrm>
          <a:prstGeom prst="rect">
            <a:avLst/>
          </a:prstGeom>
        </p:spPr>
      </p:pic>
      <p:grpSp>
        <p:nvGrpSpPr>
          <p:cNvPr id="8" name="Group 7">
            <a:extLst>
              <a:ext uri="{FF2B5EF4-FFF2-40B4-BE49-F238E27FC236}">
                <a16:creationId xmlns:a16="http://schemas.microsoft.com/office/drawing/2014/main" id="{4FD501CE-4735-BA2D-FDAB-E799B83728CA}"/>
              </a:ext>
            </a:extLst>
          </p:cNvPr>
          <p:cNvGrpSpPr/>
          <p:nvPr/>
        </p:nvGrpSpPr>
        <p:grpSpPr>
          <a:xfrm>
            <a:off x="6986833" y="4445170"/>
            <a:ext cx="5267607" cy="928341"/>
            <a:chOff x="6635262" y="696277"/>
            <a:chExt cx="5267607" cy="696277"/>
          </a:xfrm>
        </p:grpSpPr>
        <p:sp>
          <p:nvSpPr>
            <p:cNvPr id="6" name="Rectangle 5">
              <a:extLst>
                <a:ext uri="{FF2B5EF4-FFF2-40B4-BE49-F238E27FC236}">
                  <a16:creationId xmlns:a16="http://schemas.microsoft.com/office/drawing/2014/main" id="{CC5E49EB-AA6C-0771-CBFD-14CE529736BC}"/>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EE7DD562-E00A-BB02-B66B-446A007E2CBF}"/>
                </a:ext>
              </a:extLst>
            </p:cNvPr>
            <p:cNvSpPr txBox="1"/>
            <p:nvPr/>
          </p:nvSpPr>
          <p:spPr>
            <a:xfrm>
              <a:off x="11172092" y="785004"/>
              <a:ext cx="730777" cy="461665"/>
            </a:xfrm>
            <a:prstGeom prst="rect">
              <a:avLst/>
            </a:prstGeom>
            <a:noFill/>
          </p:spPr>
          <p:txBody>
            <a:bodyPr wrap="none" rtlCol="0">
              <a:spAutoFit/>
            </a:bodyPr>
            <a:lstStyle/>
            <a:p>
              <a:r>
                <a:rPr lang="en-US" sz="2400" b="1" i="1" dirty="0"/>
                <a:t>Post</a:t>
              </a:r>
              <a:endParaRPr lang="en-US" b="1" i="1" dirty="0"/>
            </a:p>
          </p:txBody>
        </p:sp>
      </p:grpSp>
      <p:grpSp>
        <p:nvGrpSpPr>
          <p:cNvPr id="11" name="Group 10">
            <a:extLst>
              <a:ext uri="{FF2B5EF4-FFF2-40B4-BE49-F238E27FC236}">
                <a16:creationId xmlns:a16="http://schemas.microsoft.com/office/drawing/2014/main" id="{40AF79D4-AB40-BF75-1E7D-F19767A1B9E3}"/>
              </a:ext>
            </a:extLst>
          </p:cNvPr>
          <p:cNvGrpSpPr/>
          <p:nvPr/>
        </p:nvGrpSpPr>
        <p:grpSpPr>
          <a:xfrm>
            <a:off x="6635262" y="696277"/>
            <a:ext cx="5619178" cy="5002711"/>
            <a:chOff x="6635262" y="696277"/>
            <a:chExt cx="5619178" cy="696277"/>
          </a:xfrm>
        </p:grpSpPr>
        <p:sp>
          <p:nvSpPr>
            <p:cNvPr id="12" name="Rectangle 11">
              <a:extLst>
                <a:ext uri="{FF2B5EF4-FFF2-40B4-BE49-F238E27FC236}">
                  <a16:creationId xmlns:a16="http://schemas.microsoft.com/office/drawing/2014/main" id="{A80BF9DE-78D6-CB1F-08BA-1E72CF629CDE}"/>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3" name="TextBox 12">
              <a:extLst>
                <a:ext uri="{FF2B5EF4-FFF2-40B4-BE49-F238E27FC236}">
                  <a16:creationId xmlns:a16="http://schemas.microsoft.com/office/drawing/2014/main" id="{6F7460FE-23D3-02A3-E3CD-0D7369DA3ED6}"/>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spTree>
    <p:extLst>
      <p:ext uri="{BB962C8B-B14F-4D97-AF65-F5344CB8AC3E}">
        <p14:creationId xmlns:p14="http://schemas.microsoft.com/office/powerpoint/2010/main" val="392985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8454F-C78E-330E-A3A9-F12154B9873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9AFC691-B1DB-33B4-AC6D-EA9A17BC76ED}"/>
              </a:ext>
            </a:extLst>
          </p:cNvPr>
          <p:cNvSpPr>
            <a:spLocks noGrp="1"/>
          </p:cNvSpPr>
          <p:nvPr>
            <p:ph idx="1"/>
          </p:nvPr>
        </p:nvSpPr>
        <p:spPr/>
        <p:txBody>
          <a:bodyPr>
            <a:normAutofit fontScale="92500"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extends </a:t>
            </a:r>
            <a:r>
              <a:rPr lang="en-US" dirty="0" err="1"/>
              <a:t>SocialMediaComponent</a:t>
            </a:r>
            <a:r>
              <a:rPr lang="en-US" dirty="0"/>
              <a:t> {</a:t>
            </a:r>
          </a:p>
          <a:p>
            <a:r>
              <a:rPr lang="en-US" dirty="0"/>
              <a:t>	private List&lt;</a:t>
            </a:r>
            <a:r>
              <a:rPr lang="en-US" dirty="0" err="1"/>
              <a:t>SocialMediaComponent</a:t>
            </a:r>
            <a:r>
              <a:rPr lang="en-US" dirty="0"/>
              <a:t>&gt; components = …; </a:t>
            </a:r>
          </a:p>
          <a:p>
            <a:r>
              <a:rPr lang="en-US" dirty="0"/>
              <a:t>	public void show() {</a:t>
            </a:r>
          </a:p>
          <a:p>
            <a:r>
              <a:rPr lang="en-US" dirty="0"/>
              <a:t>		for (</a:t>
            </a:r>
            <a:r>
              <a:rPr lang="en-US" dirty="0" err="1"/>
              <a:t>SocialMediaComponent</a:t>
            </a:r>
            <a:r>
              <a:rPr lang="en-US" dirty="0"/>
              <a:t> c: components) {</a:t>
            </a:r>
          </a:p>
          <a:p>
            <a:r>
              <a:rPr lang="en-US" dirty="0"/>
              <a:t>		  </a:t>
            </a:r>
            <a:r>
              <a:rPr lang="en-US" dirty="0" err="1"/>
              <a:t>c.show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03B4EF75-C122-583A-A593-98C4AB47706B}"/>
              </a:ext>
            </a:extLst>
          </p:cNvPr>
          <p:cNvSpPr>
            <a:spLocks noGrp="1"/>
          </p:cNvSpPr>
          <p:nvPr>
            <p:ph type="title"/>
          </p:nvPr>
        </p:nvSpPr>
        <p:spPr/>
        <p:txBody>
          <a:bodyPr/>
          <a:lstStyle/>
          <a:p>
            <a:r>
              <a:rPr lang="en-US" dirty="0"/>
              <a:t>Composite design pattern for social media post</a:t>
            </a:r>
          </a:p>
        </p:txBody>
      </p:sp>
      <p:sp>
        <p:nvSpPr>
          <p:cNvPr id="17" name="Content Placeholder 16">
            <a:extLst>
              <a:ext uri="{FF2B5EF4-FFF2-40B4-BE49-F238E27FC236}">
                <a16:creationId xmlns:a16="http://schemas.microsoft.com/office/drawing/2014/main" id="{6DC32977-5105-B129-C7D6-86F87B6419E2}"/>
              </a:ext>
            </a:extLst>
          </p:cNvPr>
          <p:cNvSpPr>
            <a:spLocks noGrp="1"/>
          </p:cNvSpPr>
          <p:nvPr>
            <p:ph idx="13"/>
          </p:nvPr>
        </p:nvSpPr>
        <p:spPr/>
        <p:txBody>
          <a:bodyPr>
            <a:normAutofit lnSpcReduction="10000"/>
          </a:bodyPr>
          <a:lstStyle/>
          <a:p>
            <a:r>
              <a:rPr lang="en-US" dirty="0"/>
              <a:t>Create abstract class </a:t>
            </a:r>
            <a:r>
              <a:rPr lang="en-US" dirty="0" err="1">
                <a:latin typeface="Consolas" panose="020B0609020204030204" pitchFamily="49" charset="0"/>
              </a:rPr>
              <a:t>SocialMediaContent</a:t>
            </a:r>
            <a:r>
              <a:rPr lang="en-US" dirty="0"/>
              <a:t> that supports the </a:t>
            </a:r>
            <a:r>
              <a:rPr lang="en-US" dirty="0">
                <a:latin typeface="Consolas" panose="020B0609020204030204" pitchFamily="49" charset="0"/>
              </a:rPr>
              <a:t>display</a:t>
            </a:r>
            <a:r>
              <a:rPr lang="en-US" dirty="0"/>
              <a:t>, </a:t>
            </a:r>
            <a:r>
              <a:rPr lang="en-US" dirty="0">
                <a:latin typeface="Consolas" panose="020B0609020204030204" pitchFamily="49" charset="0"/>
              </a:rPr>
              <a:t>hide</a:t>
            </a:r>
            <a:r>
              <a:rPr lang="en-US" dirty="0"/>
              <a:t>, </a:t>
            </a:r>
            <a:r>
              <a:rPr lang="en-US" dirty="0">
                <a:latin typeface="Consolas" panose="020B0609020204030204" pitchFamily="49" charset="0"/>
              </a:rPr>
              <a:t>report</a:t>
            </a:r>
            <a:r>
              <a:rPr lang="en-US" dirty="0"/>
              <a:t> functionalities</a:t>
            </a:r>
          </a:p>
          <a:p>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are subclasses</a:t>
            </a:r>
          </a:p>
          <a:p>
            <a:pPr lvl="1"/>
            <a:r>
              <a:rPr lang="en-US" dirty="0">
                <a:latin typeface="Consolas" panose="020B0609020204030204" pitchFamily="49" charset="0"/>
              </a:rPr>
              <a:t>Post</a:t>
            </a:r>
            <a:r>
              <a:rPr lang="en-US" dirty="0"/>
              <a:t> is the “leaf”</a:t>
            </a:r>
          </a:p>
          <a:p>
            <a:pPr lvl="1"/>
            <a:r>
              <a:rPr lang="en-US" dirty="0">
                <a:latin typeface="Consolas" panose="020B0609020204030204" pitchFamily="49" charset="0"/>
              </a:rPr>
              <a:t>Thread</a:t>
            </a:r>
            <a:r>
              <a:rPr lang="en-US" dirty="0"/>
              <a:t> is the “composite” composed of a </a:t>
            </a:r>
            <a:r>
              <a:rPr lang="en-US" dirty="0">
                <a:latin typeface="Consolas" panose="020B0609020204030204" pitchFamily="49" charset="0"/>
              </a:rPr>
              <a:t>List</a:t>
            </a:r>
            <a:r>
              <a:rPr lang="en-US" dirty="0"/>
              <a:t> of </a:t>
            </a:r>
            <a:r>
              <a:rPr lang="en-US" dirty="0" err="1">
                <a:latin typeface="Consolas" panose="020B0609020204030204" pitchFamily="49" charset="0"/>
              </a:rPr>
              <a:t>SocialMediaContent</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What is the benefit?</a:t>
            </a:r>
          </a:p>
          <a:p>
            <a:endParaRPr lang="en-US" dirty="0"/>
          </a:p>
        </p:txBody>
      </p:sp>
      <p:sp>
        <p:nvSpPr>
          <p:cNvPr id="2" name="Rectangle 1">
            <a:extLst>
              <a:ext uri="{FF2B5EF4-FFF2-40B4-BE49-F238E27FC236}">
                <a16:creationId xmlns:a16="http://schemas.microsoft.com/office/drawing/2014/main" id="{A3C0E32E-0005-83C8-870E-6449BBE13DC5}"/>
              </a:ext>
            </a:extLst>
          </p:cNvPr>
          <p:cNvSpPr/>
          <p:nvPr/>
        </p:nvSpPr>
        <p:spPr>
          <a:xfrm>
            <a:off x="5920154" y="696277"/>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C6A83B1-E387-41E8-9978-C41CA2B3E140}"/>
              </a:ext>
            </a:extLst>
          </p:cNvPr>
          <p:cNvSpPr/>
          <p:nvPr/>
        </p:nvSpPr>
        <p:spPr>
          <a:xfrm>
            <a:off x="5920154" y="1922585"/>
            <a:ext cx="5633412" cy="175073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C5801D7E-E8E2-F18F-A882-14DBC98E5EB4}"/>
              </a:ext>
            </a:extLst>
          </p:cNvPr>
          <p:cNvSpPr/>
          <p:nvPr/>
        </p:nvSpPr>
        <p:spPr>
          <a:xfrm>
            <a:off x="5920154" y="3673319"/>
            <a:ext cx="5633412" cy="197720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67938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P spid="7" grpId="0" animBg="1"/>
      <p:bldP spid="7" grpId="1"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962AF-2D57-BD0A-606A-DCB7880F12C2}"/>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C8AD61D7-853F-FA26-3441-EA3794FF748E}"/>
              </a:ext>
            </a:extLst>
          </p:cNvPr>
          <p:cNvSpPr>
            <a:spLocks noGrp="1"/>
          </p:cNvSpPr>
          <p:nvPr>
            <p:ph idx="1"/>
          </p:nvPr>
        </p:nvSpPr>
        <p:spPr/>
        <p:txBody>
          <a:bodyPr>
            <a:normAutofit lnSpcReduction="10000"/>
          </a:bodyPr>
          <a:lstStyle/>
          <a:p>
            <a:r>
              <a:rPr lang="en-US" b="1" dirty="0"/>
              <a:t>// Without composite design pattern</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List&lt;Post&gt; </a:t>
            </a:r>
            <a:r>
              <a:rPr lang="en-US" dirty="0" err="1"/>
              <a:t>leafPosts</a:t>
            </a:r>
            <a:r>
              <a:rPr lang="en-US" dirty="0"/>
              <a:t> = …; </a:t>
            </a:r>
          </a:p>
          <a:p>
            <a:r>
              <a:rPr lang="en-US" dirty="0"/>
              <a:t>	private List&lt;Thread&gt; </a:t>
            </a:r>
            <a:r>
              <a:rPr lang="en-US" dirty="0" err="1"/>
              <a:t>subThreads</a:t>
            </a:r>
            <a:r>
              <a:rPr lang="en-US" dirty="0"/>
              <a:t> = …;</a:t>
            </a:r>
          </a:p>
          <a:p>
            <a:r>
              <a:rPr lang="en-US" dirty="0"/>
              <a:t>	public void show() {</a:t>
            </a:r>
          </a:p>
          <a:p>
            <a:r>
              <a:rPr lang="en-US" dirty="0"/>
              <a:t>		for (Post p: </a:t>
            </a:r>
            <a:r>
              <a:rPr lang="en-US" dirty="0" err="1"/>
              <a:t>leafPosts</a:t>
            </a:r>
            <a:r>
              <a:rPr lang="en-US" dirty="0"/>
              <a:t>) {</a:t>
            </a:r>
          </a:p>
          <a:p>
            <a:r>
              <a:rPr lang="en-US" dirty="0"/>
              <a:t>		  </a:t>
            </a:r>
            <a:r>
              <a:rPr lang="en-US" dirty="0" err="1"/>
              <a:t>p.show</a:t>
            </a:r>
            <a:r>
              <a:rPr lang="en-US" dirty="0"/>
              <a:t>();</a:t>
            </a:r>
          </a:p>
          <a:p>
            <a:r>
              <a:rPr lang="en-US" dirty="0"/>
              <a:t>		}</a:t>
            </a:r>
          </a:p>
          <a:p>
            <a:r>
              <a:rPr lang="en-US" dirty="0"/>
              <a:t>		for (Thread t: </a:t>
            </a:r>
            <a:r>
              <a:rPr lang="en-US" dirty="0" err="1"/>
              <a:t>subThreads</a:t>
            </a:r>
            <a:r>
              <a:rPr lang="en-US" dirty="0"/>
              <a:t>) {</a:t>
            </a:r>
          </a:p>
          <a:p>
            <a:r>
              <a:rPr lang="en-US" dirty="0"/>
              <a:t>		  </a:t>
            </a:r>
            <a:r>
              <a:rPr lang="en-US" dirty="0" err="1"/>
              <a:t>t.show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832A32-0D0B-E04F-C942-99118524B5ED}"/>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A6CB982-C363-5414-CD60-71DE7B67963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p>
        </p:txBody>
      </p:sp>
      <p:sp>
        <p:nvSpPr>
          <p:cNvPr id="2" name="Rectangle 1">
            <a:extLst>
              <a:ext uri="{FF2B5EF4-FFF2-40B4-BE49-F238E27FC236}">
                <a16:creationId xmlns:a16="http://schemas.microsoft.com/office/drawing/2014/main" id="{AD0AD560-F439-1B03-A00D-F64562F69511}"/>
              </a:ext>
            </a:extLst>
          </p:cNvPr>
          <p:cNvSpPr/>
          <p:nvPr/>
        </p:nvSpPr>
        <p:spPr>
          <a:xfrm>
            <a:off x="6096000" y="2980267"/>
            <a:ext cx="5633412" cy="250613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08157FA3-353F-908B-5674-DFC3E6A9C660}"/>
              </a:ext>
            </a:extLst>
          </p:cNvPr>
          <p:cNvSpPr txBox="1"/>
          <p:nvPr/>
        </p:nvSpPr>
        <p:spPr>
          <a:xfrm>
            <a:off x="9411983" y="2518602"/>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1587118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7CFE5-E4B0-E798-1A67-F32912B28BD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BBF9A764-028F-11C7-4570-CA0DEABAC8F5}"/>
              </a:ext>
            </a:extLst>
          </p:cNvPr>
          <p:cNvSpPr>
            <a:spLocks noGrp="1"/>
          </p:cNvSpPr>
          <p:nvPr>
            <p:ph idx="1"/>
          </p:nvPr>
        </p:nvSpPr>
        <p:spPr>
          <a:xfrm>
            <a:off x="6176512" y="785004"/>
            <a:ext cx="6015488" cy="5046453"/>
          </a:xfrm>
        </p:spPr>
        <p:txBody>
          <a:bodyPr>
            <a:normAutofit lnSpcReduction="10000"/>
          </a:bodyPr>
          <a:lstStyle/>
          <a:p>
            <a:r>
              <a:rPr lang="en-US" b="1" dirty="0"/>
              <a:t>// With composite design pattern</a:t>
            </a:r>
          </a:p>
          <a:p>
            <a:r>
              <a:rPr lang="en-US" dirty="0"/>
              <a:t>public abstract class </a:t>
            </a:r>
            <a:r>
              <a:rPr lang="en-US" dirty="0" err="1"/>
              <a:t>SocialMediaComponent</a:t>
            </a:r>
            <a:r>
              <a:rPr lang="en-US" dirty="0"/>
              <a:t> {</a:t>
            </a:r>
            <a:br>
              <a:rPr lang="en-US" dirty="0"/>
            </a:br>
            <a:r>
              <a:rPr lang="en-US" dirty="0"/>
              <a:t>    public void show(); </a:t>
            </a:r>
            <a:br>
              <a:rPr lang="en-US" dirty="0"/>
            </a:br>
            <a:r>
              <a:rPr lang="en-US" dirty="0"/>
              <a:t>    // other methods</a:t>
            </a:r>
            <a:br>
              <a:rPr lang="en-US" dirty="0"/>
            </a:br>
            <a:r>
              <a:rPr lang="en-US" dirty="0"/>
              <a:t>}</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a:t>
            </a:r>
            <a:r>
              <a:rPr lang="en-US" dirty="0" err="1"/>
              <a:t>SocialMediaContent</a:t>
            </a:r>
            <a:r>
              <a:rPr lang="en-US" dirty="0"/>
              <a:t>&gt; children; </a:t>
            </a:r>
          </a:p>
          <a:p>
            <a:r>
              <a:rPr lang="en-US" dirty="0"/>
              <a:t>	public void show() {</a:t>
            </a:r>
          </a:p>
          <a:p>
            <a:r>
              <a:rPr lang="en-US" dirty="0"/>
              <a:t>		for (</a:t>
            </a:r>
            <a:r>
              <a:rPr lang="en-US" dirty="0" err="1"/>
              <a:t>SocialMediaContent</a:t>
            </a:r>
            <a:r>
              <a:rPr lang="en-US" dirty="0"/>
              <a:t> child: children) {</a:t>
            </a:r>
          </a:p>
          <a:p>
            <a:r>
              <a:rPr lang="en-US" dirty="0"/>
              <a:t>		  </a:t>
            </a:r>
            <a:r>
              <a:rPr lang="en-US" dirty="0" err="1"/>
              <a:t>child.show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341E90-7D69-6F1F-CC55-3FD834B8AFE8}"/>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0762206-145A-000F-356C-4D337B1CEDD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r>
              <a:rPr lang="en-US" dirty="0">
                <a:latin typeface="Helvetica" panose="020B0604020202020204" pitchFamily="34" charset="0"/>
                <a:cs typeface="Helvetica" panose="020B0604020202020204" pitchFamily="34" charset="0"/>
              </a:rPr>
              <a:t>No need to have distinct code for posts and threads</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5B360C48-41E0-366B-A83C-2B09578B7DBA}"/>
              </a:ext>
            </a:extLst>
          </p:cNvPr>
          <p:cNvSpPr/>
          <p:nvPr/>
        </p:nvSpPr>
        <p:spPr>
          <a:xfrm>
            <a:off x="6479822" y="3826934"/>
            <a:ext cx="5429956" cy="14449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810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151CD-733C-DCE9-66AF-7CA4C9B5E14F}"/>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E51CC7D-D2DB-48F3-E5CF-C83E7AC3A79F}"/>
              </a:ext>
            </a:extLst>
          </p:cNvPr>
          <p:cNvSpPr>
            <a:spLocks noGrp="1"/>
          </p:cNvSpPr>
          <p:nvPr>
            <p:ph idx="1"/>
          </p:nvPr>
        </p:nvSpPr>
        <p:spPr/>
        <p:txBody>
          <a:bodyPr>
            <a:normAutofit/>
          </a:bodyPr>
          <a:lstStyle/>
          <a:p>
            <a:r>
              <a:rPr lang="en-US" b="1" dirty="0"/>
              <a:t>// Without composite design pattern</a:t>
            </a:r>
            <a:endParaRPr lang="en-US" dirty="0"/>
          </a:p>
          <a:p>
            <a:r>
              <a:rPr lang="en-US" dirty="0"/>
              <a:t>class </a:t>
            </a:r>
            <a:r>
              <a:rPr lang="en-US" dirty="0" err="1"/>
              <a:t>PostShowButton</a:t>
            </a:r>
            <a:r>
              <a:rPr lang="en-US" dirty="0"/>
              <a:t> {</a:t>
            </a:r>
          </a:p>
          <a:p>
            <a:r>
              <a:rPr lang="en-US" dirty="0"/>
              <a:t>	Post </a:t>
            </a:r>
            <a:r>
              <a:rPr lang="en-US" dirty="0" err="1"/>
              <a:t>post</a:t>
            </a:r>
            <a:r>
              <a:rPr lang="en-US" dirty="0"/>
              <a:t>;</a:t>
            </a:r>
          </a:p>
          <a:p>
            <a:r>
              <a:rPr lang="en-US" dirty="0"/>
              <a:t>	void </a:t>
            </a:r>
            <a:r>
              <a:rPr lang="en-US" dirty="0" err="1"/>
              <a:t>getString</a:t>
            </a:r>
            <a:r>
              <a:rPr lang="en-US" dirty="0"/>
              <a:t>() {</a:t>
            </a:r>
          </a:p>
          <a:p>
            <a:r>
              <a:rPr lang="en-US" dirty="0"/>
              <a:t>		</a:t>
            </a:r>
            <a:r>
              <a:rPr lang="en-US" dirty="0" err="1"/>
              <a:t>post.getString</a:t>
            </a:r>
            <a:r>
              <a:rPr lang="en-US" dirty="0"/>
              <a:t>();</a:t>
            </a:r>
          </a:p>
          <a:p>
            <a:r>
              <a:rPr lang="en-US" dirty="0"/>
              <a:t>	}</a:t>
            </a:r>
          </a:p>
          <a:p>
            <a:r>
              <a:rPr lang="en-US" dirty="0"/>
              <a:t>}</a:t>
            </a:r>
          </a:p>
          <a:p>
            <a:endParaRPr lang="en-US" dirty="0"/>
          </a:p>
          <a:p>
            <a:r>
              <a:rPr lang="en-US" dirty="0"/>
              <a:t>class </a:t>
            </a:r>
            <a:r>
              <a:rPr lang="en-US" dirty="0" err="1"/>
              <a:t>ThreadShowButton</a:t>
            </a:r>
            <a:r>
              <a:rPr lang="en-US" dirty="0"/>
              <a:t> {</a:t>
            </a:r>
          </a:p>
          <a:p>
            <a:r>
              <a:rPr lang="en-US" dirty="0"/>
              <a:t>	Thread </a:t>
            </a:r>
            <a:r>
              <a:rPr lang="en-US" dirty="0" err="1"/>
              <a:t>thread</a:t>
            </a:r>
            <a:r>
              <a:rPr lang="en-US" dirty="0"/>
              <a:t>;</a:t>
            </a:r>
          </a:p>
          <a:p>
            <a:r>
              <a:rPr lang="en-US" dirty="0"/>
              <a:t>	void </a:t>
            </a:r>
            <a:r>
              <a:rPr lang="en-US" dirty="0" err="1"/>
              <a:t>getString</a:t>
            </a:r>
            <a:r>
              <a:rPr lang="en-US" dirty="0"/>
              <a:t>() {</a:t>
            </a:r>
          </a:p>
          <a:p>
            <a:r>
              <a:rPr lang="en-US" dirty="0"/>
              <a:t>		</a:t>
            </a:r>
            <a:r>
              <a:rPr lang="en-US" dirty="0" err="1"/>
              <a:t>thread.getString</a:t>
            </a:r>
            <a:r>
              <a:rPr lang="en-US" dirty="0"/>
              <a:t>();</a:t>
            </a:r>
          </a:p>
          <a:p>
            <a:r>
              <a:rPr lang="en-US" dirty="0"/>
              <a:t>	}</a:t>
            </a:r>
          </a:p>
          <a:p>
            <a:r>
              <a:rPr lang="en-US" dirty="0"/>
              <a:t>}</a:t>
            </a:r>
          </a:p>
          <a:p>
            <a:endParaRPr lang="en-US" dirty="0"/>
          </a:p>
          <a:p>
            <a:r>
              <a:rPr lang="en-US" b="1" dirty="0"/>
              <a:t>// With composite design pattern</a:t>
            </a:r>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getString</a:t>
            </a:r>
            <a:r>
              <a:rPr lang="en-US" dirty="0"/>
              <a:t> () { </a:t>
            </a:r>
            <a:r>
              <a:rPr lang="en-US" dirty="0" err="1"/>
              <a:t>content.getString</a:t>
            </a:r>
            <a:r>
              <a:rPr lang="en-US" dirty="0"/>
              <a:t>(); }</a:t>
            </a:r>
          </a:p>
          <a:p>
            <a:r>
              <a:rPr lang="en-US" dirty="0"/>
              <a:t>}</a:t>
            </a:r>
          </a:p>
        </p:txBody>
      </p:sp>
      <p:sp>
        <p:nvSpPr>
          <p:cNvPr id="3" name="Title 2">
            <a:extLst>
              <a:ext uri="{FF2B5EF4-FFF2-40B4-BE49-F238E27FC236}">
                <a16:creationId xmlns:a16="http://schemas.microsoft.com/office/drawing/2014/main" id="{1DD6B45B-3B1B-9517-2151-5923C83F1162}"/>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5639A848-15BC-C602-835D-772A828EF467}"/>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Prevents code duplication in </a:t>
            </a:r>
            <a:r>
              <a:rPr lang="en-US" b="1" i="1" dirty="0">
                <a:latin typeface="Helvetica" panose="020B0604020202020204" pitchFamily="34" charset="0"/>
                <a:cs typeface="Helvetica" panose="020B0604020202020204" pitchFamily="34" charset="0"/>
              </a:rPr>
              <a:t>users </a:t>
            </a:r>
            <a:r>
              <a:rPr lang="en-US" dirty="0">
                <a:latin typeface="Helvetica" panose="020B0604020202020204" pitchFamily="34" charset="0"/>
                <a:cs typeface="Helvetica" panose="020B0604020202020204" pitchFamily="34" charset="0"/>
              </a:rPr>
              <a:t>of Thread and Post class</a:t>
            </a:r>
          </a:p>
          <a:p>
            <a:pPr lvl="1"/>
            <a:r>
              <a:rPr lang="en-US" dirty="0">
                <a:latin typeface="Helvetica" panose="020B0604020202020204" pitchFamily="34" charset="0"/>
                <a:cs typeface="Helvetica" panose="020B0604020202020204" pitchFamily="34" charset="0"/>
              </a:rPr>
              <a:t>E.g., UI components for post and threads can have unified handling</a:t>
            </a:r>
          </a:p>
          <a:p>
            <a:pPr marL="0" indent="0">
              <a:buNone/>
            </a:pPr>
            <a:endParaRPr lang="en-US" dirty="0"/>
          </a:p>
        </p:txBody>
      </p:sp>
      <p:sp>
        <p:nvSpPr>
          <p:cNvPr id="2" name="Rectangle 1">
            <a:extLst>
              <a:ext uri="{FF2B5EF4-FFF2-40B4-BE49-F238E27FC236}">
                <a16:creationId xmlns:a16="http://schemas.microsoft.com/office/drawing/2014/main" id="{0C3605E0-71C0-6532-1EBA-2BBAE13AE177}"/>
              </a:ext>
            </a:extLst>
          </p:cNvPr>
          <p:cNvSpPr/>
          <p:nvPr/>
        </p:nvSpPr>
        <p:spPr>
          <a:xfrm>
            <a:off x="6096000" y="785004"/>
            <a:ext cx="5633412" cy="349391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41C7CDE8-7E60-B182-F718-0D9A937621FC}"/>
              </a:ext>
            </a:extLst>
          </p:cNvPr>
          <p:cNvSpPr txBox="1"/>
          <p:nvPr/>
        </p:nvSpPr>
        <p:spPr>
          <a:xfrm>
            <a:off x="9293203" y="334620"/>
            <a:ext cx="2317429" cy="461665"/>
          </a:xfrm>
          <a:prstGeom prst="rect">
            <a:avLst/>
          </a:prstGeom>
          <a:noFill/>
        </p:spPr>
        <p:txBody>
          <a:bodyPr wrap="none" rtlCol="0">
            <a:spAutoFit/>
          </a:bodyPr>
          <a:lstStyle/>
          <a:p>
            <a:r>
              <a:rPr lang="en-US" sz="2400" b="1" i="1" dirty="0"/>
              <a:t>Code duplication</a:t>
            </a:r>
          </a:p>
        </p:txBody>
      </p:sp>
      <p:sp>
        <p:nvSpPr>
          <p:cNvPr id="6" name="Rectangle 5">
            <a:extLst>
              <a:ext uri="{FF2B5EF4-FFF2-40B4-BE49-F238E27FC236}">
                <a16:creationId xmlns:a16="http://schemas.microsoft.com/office/drawing/2014/main" id="{5C745F70-2044-DE3B-5541-7E44D630DBE0}"/>
              </a:ext>
            </a:extLst>
          </p:cNvPr>
          <p:cNvSpPr/>
          <p:nvPr/>
        </p:nvSpPr>
        <p:spPr>
          <a:xfrm>
            <a:off x="6095999" y="4378932"/>
            <a:ext cx="5633412" cy="145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23883DEA-7AC1-0B32-7FD2-F764B57C2E89}"/>
              </a:ext>
            </a:extLst>
          </p:cNvPr>
          <p:cNvSpPr txBox="1"/>
          <p:nvPr/>
        </p:nvSpPr>
        <p:spPr>
          <a:xfrm>
            <a:off x="9095071" y="3917266"/>
            <a:ext cx="2713692" cy="461665"/>
          </a:xfrm>
          <a:prstGeom prst="rect">
            <a:avLst/>
          </a:prstGeom>
          <a:noFill/>
        </p:spPr>
        <p:txBody>
          <a:bodyPr wrap="none" rtlCol="0">
            <a:spAutoFit/>
          </a:bodyPr>
          <a:lstStyle/>
          <a:p>
            <a:r>
              <a:rPr lang="en-US" sz="2400" b="1" i="1" dirty="0"/>
              <a:t>No code duplication</a:t>
            </a:r>
          </a:p>
        </p:txBody>
      </p:sp>
    </p:spTree>
    <p:extLst>
      <p:ext uri="{BB962C8B-B14F-4D97-AF65-F5344CB8AC3E}">
        <p14:creationId xmlns:p14="http://schemas.microsoft.com/office/powerpoint/2010/main" val="2856940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5" grpId="0"/>
      <p:bldP spid="5" grpId="1"/>
      <p:bldP spid="6" grpId="0" animBg="1"/>
      <p:bldP spid="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8C6F-30EF-FCFC-8C9D-4667AF441A6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DD32E0C-D679-FBD7-A124-73066005605A}"/>
              </a:ext>
            </a:extLst>
          </p:cNvPr>
          <p:cNvSpPr>
            <a:spLocks noGrp="1"/>
          </p:cNvSpPr>
          <p:nvPr>
            <p:ph idx="1"/>
          </p:nvPr>
        </p:nvSpPr>
        <p:spPr/>
        <p:txBody>
          <a:bodyPr>
            <a:normAutofit fontScale="925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a:t>
            </a:r>
          </a:p>
          <a:p>
            <a:endParaRPr lang="en-US" dirty="0"/>
          </a:p>
          <a:p>
            <a:r>
              <a:rPr lang="en-US" dirty="0"/>
              <a:t>public class Thread extends </a:t>
            </a:r>
            <a:r>
              <a:rPr lang="en-US" dirty="0" err="1"/>
              <a:t>SocialMediaComponent</a:t>
            </a:r>
            <a:r>
              <a:rPr lang="en-US" dirty="0"/>
              <a:t> {}</a:t>
            </a:r>
          </a:p>
          <a:p>
            <a:endParaRPr lang="en-US" dirty="0"/>
          </a:p>
          <a:p>
            <a:r>
              <a:rPr lang="en-US" dirty="0"/>
              <a:t>public class Spaces extends </a:t>
            </a:r>
            <a:r>
              <a:rPr lang="en-US" dirty="0" err="1"/>
              <a:t>SocialMediaComponent</a:t>
            </a:r>
            <a:r>
              <a:rPr lang="en-US" dirty="0"/>
              <a:t> {</a:t>
            </a:r>
          </a:p>
          <a:p>
            <a:r>
              <a:rPr lang="en-US" dirty="0"/>
              <a:t>	public void show() { // show livestream }</a:t>
            </a:r>
          </a:p>
          <a:p>
            <a:r>
              <a:rPr lang="en-US" dirty="0"/>
              <a:t>	public void hide() { // hide livestream }</a:t>
            </a:r>
          </a:p>
          <a:p>
            <a:r>
              <a:rPr lang="en-US" dirty="0"/>
              <a:t>	public void report() { // report livestream}</a:t>
            </a:r>
          </a:p>
          <a:p>
            <a:r>
              <a:rPr lang="en-US" dirty="0"/>
              <a:t>}</a:t>
            </a:r>
          </a:p>
          <a:p>
            <a:endParaRPr lang="en-US" dirty="0"/>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3155696C-A6B8-54B3-E0BE-7D6CE0BEE4EA}"/>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C48B8708-8065-26D8-72DE-DB07C6AE9FC6}"/>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Easy to add another </a:t>
            </a:r>
            <a:r>
              <a:rPr lang="en-US" dirty="0" err="1">
                <a:latin typeface="Helvetica" panose="020B0604020202020204" pitchFamily="34" charset="0"/>
                <a:cs typeface="Helvetica" panose="020B0604020202020204" pitchFamily="34" charset="0"/>
              </a:rPr>
              <a:t>SocialMediaComponent</a:t>
            </a: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06B838F1-73A4-80BB-A9FF-5A15E025C3EB}"/>
              </a:ext>
            </a:extLst>
          </p:cNvPr>
          <p:cNvSpPr/>
          <p:nvPr/>
        </p:nvSpPr>
        <p:spPr>
          <a:xfrm>
            <a:off x="6096000" y="3282462"/>
            <a:ext cx="5633412" cy="15240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01771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6A316-EA19-2A45-B61B-7B43FAE98273}"/>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C58E2E4-61F6-8E82-32B0-15D57DFC77F0}"/>
              </a:ext>
            </a:extLst>
          </p:cNvPr>
          <p:cNvSpPr>
            <a:spLocks noGrp="1"/>
          </p:cNvSpPr>
          <p:nvPr>
            <p:ph idx="1"/>
          </p:nvPr>
        </p:nvSpPr>
        <p:spPr>
          <a:xfrm>
            <a:off x="360607" y="785004"/>
            <a:ext cx="11449319" cy="5218981"/>
          </a:xfrm>
        </p:spPr>
        <p:txBody>
          <a:bodyPr>
            <a:normAutofit/>
          </a:bodyPr>
          <a:lstStyle/>
          <a:p>
            <a:r>
              <a:rPr lang="en-US" dirty="0"/>
              <a:t>Ideal for representing hierarchical structures where an object can contain other objects from the same class hierarchy</a:t>
            </a:r>
          </a:p>
          <a:p>
            <a:r>
              <a:rPr lang="en-US" dirty="0"/>
              <a:t>Composite pattern allows clients to treat individual objects and compositions of objects uniformly</a:t>
            </a:r>
          </a:p>
          <a:p>
            <a:pPr marL="0" indent="0">
              <a:buNone/>
            </a:pPr>
            <a:endParaRPr lang="en-US" dirty="0"/>
          </a:p>
        </p:txBody>
      </p:sp>
      <p:sp>
        <p:nvSpPr>
          <p:cNvPr id="3" name="Title 2">
            <a:extLst>
              <a:ext uri="{FF2B5EF4-FFF2-40B4-BE49-F238E27FC236}">
                <a16:creationId xmlns:a16="http://schemas.microsoft.com/office/drawing/2014/main" id="{E6480789-A339-5542-C677-9A40D322BE7D}"/>
              </a:ext>
            </a:extLst>
          </p:cNvPr>
          <p:cNvSpPr>
            <a:spLocks noGrp="1"/>
          </p:cNvSpPr>
          <p:nvPr>
            <p:ph type="title"/>
          </p:nvPr>
        </p:nvSpPr>
        <p:spPr>
          <a:xfrm>
            <a:off x="0" y="0"/>
            <a:ext cx="12192000" cy="696277"/>
          </a:xfrm>
        </p:spPr>
        <p:txBody>
          <a:bodyPr/>
          <a:lstStyle/>
          <a:p>
            <a:r>
              <a:rPr lang="en-US" dirty="0"/>
              <a:t>Composite design pattern</a:t>
            </a:r>
          </a:p>
        </p:txBody>
      </p:sp>
    </p:spTree>
    <p:extLst>
      <p:ext uri="{BB962C8B-B14F-4D97-AF65-F5344CB8AC3E}">
        <p14:creationId xmlns:p14="http://schemas.microsoft.com/office/powerpoint/2010/main" val="36941015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07C36-CB4F-1D56-7086-14780A3411E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EEB66DC-80E9-8FB9-0E4D-D4E2CBB94F57}"/>
              </a:ext>
            </a:extLst>
          </p:cNvPr>
          <p:cNvSpPr>
            <a:spLocks noGrp="1"/>
          </p:cNvSpPr>
          <p:nvPr>
            <p:ph idx="1"/>
          </p:nvPr>
        </p:nvSpPr>
        <p:spPr/>
        <p:txBody>
          <a:bodyPr/>
          <a:lstStyle/>
          <a:p>
            <a:r>
              <a:rPr lang="en-US" dirty="0"/>
              <a:t>Simplifies the client</a:t>
            </a:r>
          </a:p>
          <a:p>
            <a:r>
              <a:rPr lang="en-US" dirty="0"/>
              <a:t>Clients can treat leaf and composite objects uniformly</a:t>
            </a:r>
          </a:p>
          <a:p>
            <a:r>
              <a:rPr lang="en-US" dirty="0"/>
              <a:t>Makes it easier to add new kinds of components</a:t>
            </a:r>
          </a:p>
        </p:txBody>
      </p:sp>
      <p:sp>
        <p:nvSpPr>
          <p:cNvPr id="5" name="Title 4">
            <a:extLst>
              <a:ext uri="{FF2B5EF4-FFF2-40B4-BE49-F238E27FC236}">
                <a16:creationId xmlns:a16="http://schemas.microsoft.com/office/drawing/2014/main" id="{5DBD05CC-C6A8-2A5D-E4B9-B7E50914121B}"/>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6486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r>
              <a:rPr lang="en-US" dirty="0"/>
              <a:t>SRP maintained</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96140-7524-01A1-0CC4-EBB2FDEBE3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9AA4E0C-2549-1B16-C72C-6F657412BA1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B28399B5-443B-B1BD-6EFF-588723DB732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95E1EE0E-6EC8-889B-2F1D-F25684A323C7}"/>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Bridge, </a:t>
            </a:r>
            <a:r>
              <a:rPr lang="en-US" u="sng" dirty="0"/>
              <a:t>Façade, </a:t>
            </a:r>
            <a:r>
              <a:rPr lang="en-US" dirty="0"/>
              <a:t>Decorator</a:t>
            </a:r>
            <a:endParaRPr lang="en-US" u="sng" dirty="0"/>
          </a:p>
          <a:p>
            <a:pPr lvl="1"/>
            <a:endParaRPr lang="en-US" dirty="0"/>
          </a:p>
        </p:txBody>
      </p:sp>
      <p:sp>
        <p:nvSpPr>
          <p:cNvPr id="6" name="Content Placeholder 4">
            <a:extLst>
              <a:ext uri="{FF2B5EF4-FFF2-40B4-BE49-F238E27FC236}">
                <a16:creationId xmlns:a16="http://schemas.microsoft.com/office/drawing/2014/main" id="{5024ABDE-5C87-2E57-E3FF-41D55E618E19}"/>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FF6082A8-4ACE-D1EE-25C9-0D2041F4B117}"/>
              </a:ext>
            </a:extLst>
          </p:cNvPr>
          <p:cNvSpPr/>
          <p:nvPr/>
        </p:nvSpPr>
        <p:spPr>
          <a:xfrm>
            <a:off x="4223988" y="4712677"/>
            <a:ext cx="3980160" cy="106856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0403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Compiler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compiler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compiler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837717" cy="1800202"/>
              <a:chOff x="2073583" y="1661658"/>
              <a:chExt cx="3837717"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837717" cy="1800202"/>
                <a:chOff x="2073583" y="1661658"/>
                <a:chExt cx="3837717"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5170392" y="2356418"/>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compiler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compiler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582980"/>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279258"/>
            <a:ext cx="7688" cy="88916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512637" y="2277022"/>
            <a:ext cx="1572738" cy="523220"/>
          </a:xfrm>
          <a:prstGeom prst="rect">
            <a:avLst/>
          </a:prstGeom>
          <a:noFill/>
        </p:spPr>
        <p:txBody>
          <a:bodyPr wrap="none" rtlCol="0">
            <a:spAutoFit/>
          </a:bodyPr>
          <a:lstStyle/>
          <a:p>
            <a:r>
              <a:rPr lang="en-US" sz="2800" b="1" i="1" dirty="0"/>
              <a:t>compile()</a:t>
            </a:r>
          </a:p>
        </p:txBody>
      </p:sp>
    </p:spTree>
    <p:extLst>
      <p:ext uri="{BB962C8B-B14F-4D97-AF65-F5344CB8AC3E}">
        <p14:creationId xmlns:p14="http://schemas.microsoft.com/office/powerpoint/2010/main" val="334879259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8F31D4-943B-68B2-2C23-BAD8BBDB4C8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01F5768-3AED-0F33-CAC7-909DF379F895}"/>
              </a:ext>
            </a:extLst>
          </p:cNvPr>
          <p:cNvSpPr>
            <a:spLocks noGrp="1"/>
          </p:cNvSpPr>
          <p:nvPr>
            <p:ph type="body" sz="quarter" idx="13"/>
          </p:nvPr>
        </p:nvSpPr>
        <p:spPr/>
        <p:txBody>
          <a:bodyPr/>
          <a:lstStyle/>
          <a:p>
            <a:r>
              <a:rPr lang="en-US" dirty="0"/>
              <a:t>Design patterns</a:t>
            </a:r>
          </a:p>
        </p:txBody>
      </p:sp>
    </p:spTree>
    <p:extLst>
      <p:ext uri="{BB962C8B-B14F-4D97-AF65-F5344CB8AC3E}">
        <p14:creationId xmlns:p14="http://schemas.microsoft.com/office/powerpoint/2010/main" val="290718441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A8C0055-A2EF-91DD-73C3-4752EEED6ADE}"/>
              </a:ext>
            </a:extLst>
          </p:cNvPr>
          <p:cNvSpPr>
            <a:spLocks noGrp="1"/>
          </p:cNvSpPr>
          <p:nvPr>
            <p:ph idx="1"/>
          </p:nvPr>
        </p:nvSpPr>
        <p:spPr/>
        <p:txBody>
          <a:bodyPr/>
          <a:lstStyle/>
          <a:p>
            <a:r>
              <a:rPr lang="en-US" dirty="0"/>
              <a:t>HW2 grades should be out by next Sunday</a:t>
            </a:r>
          </a:p>
          <a:p>
            <a:r>
              <a:rPr lang="en-US" dirty="0"/>
              <a:t>Extra Zoom office hours 12/4 from 11 AM – 12:30 PM</a:t>
            </a:r>
          </a:p>
          <a:p>
            <a:r>
              <a:rPr lang="en-US" dirty="0"/>
              <a:t>Next class: sample software security and design pattern questions</a:t>
            </a:r>
          </a:p>
          <a:p>
            <a:r>
              <a:rPr lang="en-US" dirty="0"/>
              <a:t>Final lecture: revision</a:t>
            </a:r>
          </a:p>
          <a:p>
            <a:pPr marL="0" indent="0">
              <a:buNone/>
            </a:pPr>
            <a:endParaRPr lang="en-US" dirty="0"/>
          </a:p>
        </p:txBody>
      </p:sp>
      <p:sp>
        <p:nvSpPr>
          <p:cNvPr id="6" name="Title 5">
            <a:extLst>
              <a:ext uri="{FF2B5EF4-FFF2-40B4-BE49-F238E27FC236}">
                <a16:creationId xmlns:a16="http://schemas.microsoft.com/office/drawing/2014/main" id="{119D7FF9-6187-D527-6073-ACCC36B99D3C}"/>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44773471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EC64041-FF27-B102-390E-870A9BE1511B}"/>
              </a:ext>
            </a:extLst>
          </p:cNvPr>
          <p:cNvSpPr>
            <a:spLocks noGrp="1"/>
          </p:cNvSpPr>
          <p:nvPr>
            <p:ph idx="1"/>
          </p:nvPr>
        </p:nvSpPr>
        <p:spPr/>
        <p:txBody>
          <a:bodyPr>
            <a:normAutofit fontScale="92500" lnSpcReduction="10000"/>
          </a:bodyPr>
          <a:lstStyle/>
          <a:p>
            <a:r>
              <a:rPr lang="en-US" dirty="0"/>
              <a:t>Structural design patterns</a:t>
            </a:r>
          </a:p>
          <a:p>
            <a:pPr lvl="1"/>
            <a:r>
              <a:rPr lang="en-US" dirty="0"/>
              <a:t>Decorator pattern</a:t>
            </a:r>
          </a:p>
          <a:p>
            <a:pPr lvl="1"/>
            <a:r>
              <a:rPr lang="en-US" dirty="0"/>
              <a:t>Flyweight pattern</a:t>
            </a:r>
          </a:p>
          <a:p>
            <a:r>
              <a:rPr lang="en-US" dirty="0"/>
              <a:t>Behavioral design pattern</a:t>
            </a:r>
          </a:p>
          <a:p>
            <a:pPr lvl="1"/>
            <a:r>
              <a:rPr lang="en-US" dirty="0"/>
              <a:t>Observer pattern</a:t>
            </a:r>
          </a:p>
          <a:p>
            <a:pPr lvl="1"/>
            <a:r>
              <a:rPr lang="en-US" dirty="0"/>
              <a:t>State pattern</a:t>
            </a:r>
          </a:p>
          <a:p>
            <a:pPr lvl="1"/>
            <a:r>
              <a:rPr lang="en-US" dirty="0"/>
              <a:t>Template method pattern</a:t>
            </a:r>
          </a:p>
          <a:p>
            <a:r>
              <a:rPr lang="en-US" dirty="0"/>
              <a:t>Sample design pattern questions</a:t>
            </a:r>
          </a:p>
          <a:p>
            <a:r>
              <a:rPr lang="en-US" dirty="0"/>
              <a:t>Behavioral design pattern – Visitor pattern</a:t>
            </a:r>
          </a:p>
        </p:txBody>
      </p:sp>
      <p:sp>
        <p:nvSpPr>
          <p:cNvPr id="4" name="Title 3">
            <a:extLst>
              <a:ext uri="{FF2B5EF4-FFF2-40B4-BE49-F238E27FC236}">
                <a16:creationId xmlns:a16="http://schemas.microsoft.com/office/drawing/2014/main" id="{F4B32381-F078-29B1-40DB-52B21DF62712}"/>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ED942B02-2599-649A-C669-FEA09849750C}"/>
              </a:ext>
            </a:extLst>
          </p:cNvPr>
          <p:cNvCxnSpPr/>
          <p:nvPr/>
        </p:nvCxnSpPr>
        <p:spPr>
          <a:xfrm>
            <a:off x="0" y="5197642"/>
            <a:ext cx="12192000"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2037730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11F9C-A8F7-E2E5-D6FA-7FDADD4051C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F54FA7E-5DAB-726A-B488-7B76E3A550CA}"/>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ED9ED130-FC92-4348-CF88-D5D0089E91BF}"/>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71ABD2D-F459-BDC8-799B-6C9597B1DC71}"/>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Bridge, Façade, </a:t>
            </a:r>
            <a:r>
              <a:rPr lang="en-US" b="1" dirty="0"/>
              <a:t>Decorator, Flyweight</a:t>
            </a:r>
          </a:p>
          <a:p>
            <a:pPr lvl="1"/>
            <a:endParaRPr lang="en-US" dirty="0"/>
          </a:p>
        </p:txBody>
      </p:sp>
      <p:sp>
        <p:nvSpPr>
          <p:cNvPr id="6" name="Content Placeholder 4">
            <a:extLst>
              <a:ext uri="{FF2B5EF4-FFF2-40B4-BE49-F238E27FC236}">
                <a16:creationId xmlns:a16="http://schemas.microsoft.com/office/drawing/2014/main" id="{BBFF2212-84AD-2E96-6970-5690E7E79396}"/>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35938677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333020635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in another object (the decorator) that adds the additional functionality</a:t>
            </a:r>
          </a:p>
          <a:p>
            <a:r>
              <a:rPr lang="en-US" dirty="0"/>
              <a:t>Implementation can look the same as a proxy</a:t>
            </a:r>
          </a:p>
          <a:p>
            <a:pPr lvl="1"/>
            <a:r>
              <a:rPr lang="en-US" dirty="0"/>
              <a:t>Intent is somewhat different</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125911452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Tree>
    <p:extLst>
      <p:ext uri="{BB962C8B-B14F-4D97-AF65-F5344CB8AC3E}">
        <p14:creationId xmlns:p14="http://schemas.microsoft.com/office/powerpoint/2010/main" val="3770986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328C9-08F1-61B0-B68E-5DCD3D7986E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6AF7576-9759-FD20-0CA1-4DB213996FB7}"/>
              </a:ext>
            </a:extLst>
          </p:cNvPr>
          <p:cNvSpPr>
            <a:spLocks noGrp="1"/>
          </p:cNvSpPr>
          <p:nvPr>
            <p:ph idx="1"/>
          </p:nvPr>
        </p:nvSpPr>
        <p:spPr/>
        <p:txBody>
          <a:bodyPr>
            <a:normAutofit/>
          </a:bodyPr>
          <a:lstStyle/>
          <a:p>
            <a:r>
              <a:rPr lang="en-US" dirty="0"/>
              <a:t>Create an abstract class for the decorator that wraps the inner payment processor</a:t>
            </a:r>
          </a:p>
          <a:p>
            <a:r>
              <a:rPr lang="en-US" dirty="0"/>
              <a:t>Extend the abstract decorator as the </a:t>
            </a:r>
            <a:r>
              <a:rPr lang="en-US" dirty="0" err="1">
                <a:latin typeface="Consolas" panose="020B0609020204030204" pitchFamily="49" charset="0"/>
              </a:rPr>
              <a:t>FraudDetectionProcessor</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p:txBody>
      </p:sp>
      <p:sp>
        <p:nvSpPr>
          <p:cNvPr id="5" name="Title 4">
            <a:extLst>
              <a:ext uri="{FF2B5EF4-FFF2-40B4-BE49-F238E27FC236}">
                <a16:creationId xmlns:a16="http://schemas.microsoft.com/office/drawing/2014/main" id="{53E0CD13-3C23-74C7-8973-8C625B50A9D4}"/>
              </a:ext>
            </a:extLst>
          </p:cNvPr>
          <p:cNvSpPr>
            <a:spLocks noGrp="1"/>
          </p:cNvSpPr>
          <p:nvPr>
            <p:ph type="title"/>
          </p:nvPr>
        </p:nvSpPr>
        <p:spPr/>
        <p:txBody>
          <a:bodyPr/>
          <a:lstStyle/>
          <a:p>
            <a:r>
              <a:rPr lang="en-US" dirty="0"/>
              <a:t>Fraud detection decorator for payment processor</a:t>
            </a:r>
          </a:p>
        </p:txBody>
      </p:sp>
    </p:spTree>
    <p:extLst>
      <p:ext uri="{BB962C8B-B14F-4D97-AF65-F5344CB8AC3E}">
        <p14:creationId xmlns:p14="http://schemas.microsoft.com/office/powerpoint/2010/main" val="370967072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0C691-7082-0AB9-A617-2970A194EA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2674FB-DB87-A501-A6A9-F1AEEA375F3B}"/>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6C3AF032-0407-1616-E8A6-19C92ED05EBC}"/>
              </a:ext>
            </a:extLst>
          </p:cNvPr>
          <p:cNvGrpSpPr/>
          <p:nvPr/>
        </p:nvGrpSpPr>
        <p:grpSpPr>
          <a:xfrm>
            <a:off x="3649593" y="1457568"/>
            <a:ext cx="4892814" cy="3697333"/>
            <a:chOff x="6087997" y="1477107"/>
            <a:chExt cx="4892814" cy="3697333"/>
          </a:xfrm>
        </p:grpSpPr>
        <p:grpSp>
          <p:nvGrpSpPr>
            <p:cNvPr id="22" name="Group 21">
              <a:extLst>
                <a:ext uri="{FF2B5EF4-FFF2-40B4-BE49-F238E27FC236}">
                  <a16:creationId xmlns:a16="http://schemas.microsoft.com/office/drawing/2014/main" id="{BEE175AA-BED6-3CFF-D106-940699A90ED2}"/>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DFE5C92-669C-BD35-CCD1-0C8692A3529B}"/>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4ECB297D-8BCD-C432-6155-7B64285DE3AE}"/>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7F46D36-F320-B461-6D25-1B94175E38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AC2DE84F-A62D-6D34-7726-6772F41534C1}"/>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56E6BB0F-4012-EAEC-C4B4-58632F891952}"/>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0A94A388-9833-0FD1-6D13-5B54A8D411AA}"/>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A915E84B-AE83-7B0E-143A-62CFD9C93A2B}"/>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7E3E7FD9-2B6C-E53B-AF4E-772AD5436D2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3AC35E44-CA7C-5432-6EA3-9D3A0E4F3A3B}"/>
              </a:ext>
            </a:extLst>
          </p:cNvPr>
          <p:cNvGrpSpPr/>
          <p:nvPr/>
        </p:nvGrpSpPr>
        <p:grpSpPr>
          <a:xfrm>
            <a:off x="4894380" y="2020276"/>
            <a:ext cx="2403231" cy="1582615"/>
            <a:chOff x="7332784" y="2039815"/>
            <a:chExt cx="2403231" cy="1582615"/>
          </a:xfrm>
        </p:grpSpPr>
        <p:sp>
          <p:nvSpPr>
            <p:cNvPr id="38" name="Rectangle 37">
              <a:extLst>
                <a:ext uri="{FF2B5EF4-FFF2-40B4-BE49-F238E27FC236}">
                  <a16:creationId xmlns:a16="http://schemas.microsoft.com/office/drawing/2014/main" id="{950EB267-54DF-0295-D5AC-6BA292035D5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3B960BD3-ADDF-0F39-2EC0-AD401F48E2BE}"/>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DB628E62-DBAD-3201-0B21-F15FA797C4A9}"/>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194923430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a:t>
            </a:r>
            <a:r>
              <a:rPr lang="en-US" dirty="0" err="1"/>
              <a:t>processPayment</a:t>
            </a:r>
            <a:r>
              <a:rPr lang="en-US" dirty="0"/>
              <a:t>(double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a:t>
            </a:r>
            <a:r>
              <a:rPr lang="en-US" dirty="0" err="1"/>
              <a:t>processPayment</a:t>
            </a:r>
            <a:r>
              <a:rPr lang="en-US" dirty="0"/>
              <a:t>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905143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fontScale="92500"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429000"/>
            <a:ext cx="5633412" cy="22918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09216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fontScale="85000" lnSpcReduction="2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PaypapProcessor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fraudProc.processPayment</a:t>
            </a:r>
            <a:r>
              <a:rPr lang="en-US" dirty="0"/>
              <a:t>(200.0);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3" name="Rectangle 2">
            <a:extLst>
              <a:ext uri="{FF2B5EF4-FFF2-40B4-BE49-F238E27FC236}">
                <a16:creationId xmlns:a16="http://schemas.microsoft.com/office/drawing/2014/main" id="{77FB3F6D-37A6-31A3-3434-4579B4E76491}"/>
              </a:ext>
            </a:extLst>
          </p:cNvPr>
          <p:cNvSpPr/>
          <p:nvPr/>
        </p:nvSpPr>
        <p:spPr>
          <a:xfrm>
            <a:off x="6176512" y="4617156"/>
            <a:ext cx="5633412" cy="11037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B3D1E1D3-8837-82A5-E449-A22A2F89431C}"/>
              </a:ext>
            </a:extLst>
          </p:cNvPr>
          <p:cNvSpPr/>
          <p:nvPr/>
        </p:nvSpPr>
        <p:spPr>
          <a:xfrm>
            <a:off x="6096000" y="3328339"/>
            <a:ext cx="5633412" cy="9275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08332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4020560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Combining adapter and decorator patters</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1" name="Group 20">
            <a:extLst>
              <a:ext uri="{FF2B5EF4-FFF2-40B4-BE49-F238E27FC236}">
                <a16:creationId xmlns:a16="http://schemas.microsoft.com/office/drawing/2014/main" id="{5A92B337-9A51-7DDA-4FB7-8479F434A6F0}"/>
              </a:ext>
            </a:extLst>
          </p:cNvPr>
          <p:cNvGrpSpPr/>
          <p:nvPr/>
        </p:nvGrpSpPr>
        <p:grpSpPr>
          <a:xfrm>
            <a:off x="7767898" y="1897006"/>
            <a:ext cx="2483228" cy="1135138"/>
            <a:chOff x="7097010" y="2039815"/>
            <a:chExt cx="3688834" cy="1593279"/>
          </a:xfrm>
        </p:grpSpPr>
        <p:sp>
          <p:nvSpPr>
            <p:cNvPr id="22" name="Rectangle 21">
              <a:extLst>
                <a:ext uri="{FF2B5EF4-FFF2-40B4-BE49-F238E27FC236}">
                  <a16:creationId xmlns:a16="http://schemas.microsoft.com/office/drawing/2014/main" id="{30E13742-BF18-4621-6278-0F0FB7A56D13}"/>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err="1">
                  <a:ln w="0"/>
                  <a:solidFill>
                    <a:schemeClr val="tx1"/>
                  </a:solidFill>
                  <a:effectLst>
                    <a:outerShdw blurRad="38100" dist="19050" dir="2700000" algn="tl" rotWithShape="0">
                      <a:schemeClr val="dk1">
                        <a:alpha val="40000"/>
                      </a:schemeClr>
                    </a:outerShdw>
                  </a:effectLst>
                </a:rPr>
                <a:t>StripeProcessor</a:t>
              </a:r>
              <a:r>
                <a:rPr lang="en-US" dirty="0">
                  <a:ln w="0"/>
                  <a:solidFill>
                    <a:schemeClr val="tx1"/>
                  </a:solidFill>
                  <a:effectLst>
                    <a:outerShdw blurRad="38100" dist="19050" dir="2700000" algn="tl" rotWithShape="0">
                      <a:schemeClr val="dk1">
                        <a:alpha val="40000"/>
                      </a:schemeClr>
                    </a:outerShdw>
                  </a:effectLst>
                </a:rPr>
                <a:t> object</a:t>
              </a:r>
              <a:endParaRPr lang="en-US" dirty="0"/>
            </a:p>
          </p:txBody>
        </p:sp>
        <p:sp>
          <p:nvSpPr>
            <p:cNvPr id="23" name="Rectangle 22">
              <a:extLst>
                <a:ext uri="{FF2B5EF4-FFF2-40B4-BE49-F238E27FC236}">
                  <a16:creationId xmlns:a16="http://schemas.microsoft.com/office/drawing/2014/main" id="{7F926F37-5E80-2E9B-41F3-6D84D4C98087}"/>
                </a:ext>
              </a:extLst>
            </p:cNvPr>
            <p:cNvSpPr/>
            <p:nvPr/>
          </p:nvSpPr>
          <p:spPr>
            <a:xfrm>
              <a:off x="7566738" y="3420205"/>
              <a:ext cx="662862" cy="202224"/>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CD83F2D2-AD1A-94C5-4C95-75FE2AB4C13E}"/>
                </a:ext>
              </a:extLst>
            </p:cNvPr>
            <p:cNvSpPr txBox="1"/>
            <p:nvPr/>
          </p:nvSpPr>
          <p:spPr>
            <a:xfrm>
              <a:off x="8210738" y="3201098"/>
              <a:ext cx="2575106" cy="431996"/>
            </a:xfrm>
            <a:prstGeom prst="rect">
              <a:avLst/>
            </a:prstGeom>
            <a:noFill/>
          </p:spPr>
          <p:txBody>
            <a:bodyPr wrap="square" rtlCol="0">
              <a:spAutoFit/>
            </a:bodyPr>
            <a:lstStyle/>
            <a:p>
              <a:r>
                <a:rPr lang="en-US" sz="1400" dirty="0" err="1">
                  <a:latin typeface="Consolas" panose="020B0609020204030204" pitchFamily="49" charset="0"/>
                </a:rPr>
                <a:t>makePayment</a:t>
              </a:r>
              <a:r>
                <a:rPr lang="en-US" sz="1400" dirty="0"/>
                <a:t>()</a:t>
              </a:r>
            </a:p>
          </p:txBody>
        </p:sp>
      </p:grpSp>
      <p:cxnSp>
        <p:nvCxnSpPr>
          <p:cNvPr id="26" name="Straight Arrow Connector 25">
            <a:extLst>
              <a:ext uri="{FF2B5EF4-FFF2-40B4-BE49-F238E27FC236}">
                <a16:creationId xmlns:a16="http://schemas.microsoft.com/office/drawing/2014/main" id="{2C85EB03-115F-CAD0-1F4B-C6CCD35FA5CF}"/>
              </a:ext>
            </a:extLst>
          </p:cNvPr>
          <p:cNvCxnSpPr>
            <a:cxnSpLocks/>
            <a:stCxn id="57" idx="0"/>
            <a:endCxn id="23" idx="2"/>
          </p:cNvCxnSpPr>
          <p:nvPr/>
        </p:nvCxnSpPr>
        <p:spPr>
          <a:xfrm flipV="1">
            <a:off x="8305793" y="3024545"/>
            <a:ext cx="1425" cy="172923"/>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06049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lnSpcReduction="10000"/>
          </a:bodyPr>
          <a:lstStyle/>
          <a:p>
            <a:r>
              <a:rPr lang="en-US" dirty="0"/>
              <a:t>Although decorators can have similar implementations as proxies, decorators have a different purpose. </a:t>
            </a:r>
            <a:r>
              <a:rPr lang="en-US" b="1" dirty="0"/>
              <a:t>A decorator adds one or more responsibilities to an object, whereas a proxy controls access to an object.</a:t>
            </a:r>
          </a:p>
          <a:p>
            <a:r>
              <a:rPr lang="en-US" b="1" dirty="0"/>
              <a:t>Proxies vary in the degree to which they are implemented like a decorator. </a:t>
            </a:r>
            <a:r>
              <a:rPr lang="en-US" dirty="0"/>
              <a:t>A protection proxy might be implemented exactly like a decorator. On the other hand</a:t>
            </a:r>
            <a:r>
              <a:rPr lang="en-US" b="1" dirty="0"/>
              <a:t>, a remote proxy will not contain a direct reference to its real subject but only an indirect reference</a:t>
            </a:r>
            <a:r>
              <a:rPr lang="en-US" dirty="0"/>
              <a:t>,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192445296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Non-ideal alternate implementations: 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983394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78151077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925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158876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a:bodyPr>
          <a:lstStyle/>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63134780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2DA3A-B0AD-E945-E6C7-21BD55AC10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A33CFB-D03A-18A9-AAD9-B4B8AB00F2F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91074BB-E011-C240-C8D3-AEDADE8E7083}"/>
              </a:ext>
            </a:extLst>
          </p:cNvPr>
          <p:cNvSpPr>
            <a:spLocks noGrp="1"/>
          </p:cNvSpPr>
          <p:nvPr>
            <p:ph type="body" sz="quarter" idx="13"/>
          </p:nvPr>
        </p:nvSpPr>
        <p:spPr/>
        <p:txBody>
          <a:bodyPr/>
          <a:lstStyle/>
          <a:p>
            <a:r>
              <a:rPr lang="en-US" sz="3200" dirty="0"/>
              <a:t>Flyweight design pattern</a:t>
            </a:r>
          </a:p>
        </p:txBody>
      </p:sp>
    </p:spTree>
    <p:extLst>
      <p:ext uri="{BB962C8B-B14F-4D97-AF65-F5344CB8AC3E}">
        <p14:creationId xmlns:p14="http://schemas.microsoft.com/office/powerpoint/2010/main" val="120935117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E99FA5E-984E-F7AB-8B14-99A822695BFD}"/>
              </a:ext>
            </a:extLst>
          </p:cNvPr>
          <p:cNvSpPr>
            <a:spLocks noGrp="1"/>
          </p:cNvSpPr>
          <p:nvPr>
            <p:ph idx="1"/>
          </p:nvPr>
        </p:nvSpPr>
        <p:spPr/>
        <p:txBody>
          <a:bodyPr>
            <a:normAutofit fontScale="92500" lnSpcReduction="20000"/>
          </a:bodyPr>
          <a:lstStyle/>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endParaRPr lang="en-US" sz="1400" dirty="0"/>
          </a:p>
          <a:p>
            <a:r>
              <a:rPr lang="en-US" sz="1400" dirty="0"/>
              <a:t>class </a:t>
            </a:r>
            <a:r>
              <a:rPr lang="en-US" sz="1400" dirty="0" err="1"/>
              <a:t>IndoorTerrainTile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super(“sprites/indoor/”);</a:t>
            </a:r>
          </a:p>
          <a:p>
            <a:r>
              <a:rPr lang="en-US" sz="1400" dirty="0"/>
              <a:t>	}</a:t>
            </a:r>
          </a:p>
          <a:p>
            <a:r>
              <a:rPr lang="en-US" sz="1400" dirty="0"/>
              <a:t>}</a:t>
            </a:r>
          </a:p>
          <a:p>
            <a:endParaRPr lang="en-US" sz="1400" dirty="0"/>
          </a:p>
          <a:p>
            <a:r>
              <a:rPr lang="en-US" sz="1400" dirty="0"/>
              <a:t>class </a:t>
            </a:r>
            <a:r>
              <a:rPr lang="en-US" sz="1400" dirty="0" err="1"/>
              <a:t>OutdoorTerrainTile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super(“sprites/outdoor/”);</a:t>
            </a:r>
          </a:p>
          <a:p>
            <a:r>
              <a:rPr lang="en-US" sz="1400" dirty="0"/>
              <a:t>	}</a:t>
            </a:r>
          </a:p>
          <a:p>
            <a:r>
              <a:rPr lang="en-US" sz="1400" dirty="0"/>
              <a:t>}</a:t>
            </a:r>
            <a:br>
              <a:rPr lang="en-US" sz="1400" dirty="0"/>
            </a:br>
            <a:endParaRPr lang="en-US" sz="1400" dirty="0"/>
          </a:p>
          <a:p>
            <a:r>
              <a:rPr lang="en-US" sz="1400" dirty="0"/>
              <a:t>class Sprite {</a:t>
            </a:r>
          </a:p>
          <a:p>
            <a:r>
              <a:rPr lang="en-US" sz="1400" dirty="0"/>
              <a:t>	private Image </a:t>
            </a:r>
            <a:r>
              <a:rPr lang="en-US" sz="1400" dirty="0" err="1"/>
              <a:t>spriteImage</a:t>
            </a:r>
            <a:r>
              <a:rPr lang="en-US" sz="1400" dirty="0"/>
              <a:t>; // 4 KB</a:t>
            </a:r>
          </a:p>
          <a:p>
            <a:r>
              <a:rPr lang="en-US" sz="1400" dirty="0"/>
              <a:t>	private Image </a:t>
            </a:r>
            <a:r>
              <a:rPr lang="en-US" sz="1400" dirty="0" err="1"/>
              <a:t>closeUpSpriteImage</a:t>
            </a:r>
            <a:r>
              <a:rPr lang="en-US" sz="1400" dirty="0"/>
              <a:t>; // 4 KB</a:t>
            </a:r>
          </a:p>
          <a:p>
            <a:r>
              <a:rPr lang="en-US" sz="1400" dirty="0"/>
              <a:t>	// getters and setters</a:t>
            </a:r>
          </a:p>
          <a:p>
            <a:r>
              <a:rPr lang="en-US" sz="1400" dirty="0"/>
              <a:t>	static Sprite </a:t>
            </a:r>
            <a:r>
              <a:rPr lang="en-US" sz="1400" dirty="0" err="1"/>
              <a:t>loadSprite</a:t>
            </a:r>
            <a:r>
              <a:rPr lang="en-US" sz="1400" dirty="0"/>
              <a:t>(String path) {</a:t>
            </a:r>
          </a:p>
          <a:p>
            <a:r>
              <a:rPr lang="en-US" sz="1400" dirty="0"/>
              <a:t>		// Load both images</a:t>
            </a:r>
          </a:p>
          <a:p>
            <a:r>
              <a:rPr lang="en-US" sz="1400" dirty="0"/>
              <a:t>	}</a:t>
            </a:r>
          </a:p>
          <a:p>
            <a:r>
              <a:rPr lang="en-US" sz="1400" dirty="0"/>
              <a:t>}</a:t>
            </a:r>
          </a:p>
        </p:txBody>
      </p:sp>
      <p:sp>
        <p:nvSpPr>
          <p:cNvPr id="4" name="Title 3">
            <a:extLst>
              <a:ext uri="{FF2B5EF4-FFF2-40B4-BE49-F238E27FC236}">
                <a16:creationId xmlns:a16="http://schemas.microsoft.com/office/drawing/2014/main" id="{98BF1121-1CC2-524E-34D5-CC0DB24652A5}"/>
              </a:ext>
            </a:extLst>
          </p:cNvPr>
          <p:cNvSpPr>
            <a:spLocks noGrp="1"/>
          </p:cNvSpPr>
          <p:nvPr>
            <p:ph type="title"/>
          </p:nvPr>
        </p:nvSpPr>
        <p:spPr/>
        <p:txBody>
          <a:bodyPr/>
          <a:lstStyle/>
          <a:p>
            <a:r>
              <a:rPr lang="en-US" dirty="0"/>
              <a:t>Case study – game system</a:t>
            </a:r>
          </a:p>
        </p:txBody>
      </p:sp>
      <p:sp>
        <p:nvSpPr>
          <p:cNvPr id="7" name="Content Placeholder 6">
            <a:extLst>
              <a:ext uri="{FF2B5EF4-FFF2-40B4-BE49-F238E27FC236}">
                <a16:creationId xmlns:a16="http://schemas.microsoft.com/office/drawing/2014/main" id="{B2B20D66-7323-4B83-B8C4-9FFBB6005C3B}"/>
              </a:ext>
            </a:extLst>
          </p:cNvPr>
          <p:cNvSpPr>
            <a:spLocks noGrp="1"/>
          </p:cNvSpPr>
          <p:nvPr>
            <p:ph idx="13"/>
          </p:nvPr>
        </p:nvSpPr>
        <p:spPr/>
        <p:txBody>
          <a:bodyPr/>
          <a:lstStyle/>
          <a:p>
            <a:r>
              <a:rPr lang="en-US" dirty="0"/>
              <a:t>Two types of terrain tiles</a:t>
            </a:r>
          </a:p>
          <a:p>
            <a:r>
              <a:rPr lang="en-US" dirty="0"/>
              <a:t>Each tile contains a sprite</a:t>
            </a:r>
          </a:p>
          <a:p>
            <a:r>
              <a:rPr lang="en-US" dirty="0"/>
              <a:t>Each sprite consists of two images of 4 KB</a:t>
            </a:r>
          </a:p>
          <a:p>
            <a:r>
              <a:rPr lang="en-US" b="1" i="1" dirty="0"/>
              <a:t>What happens if there are thousands of tiles</a:t>
            </a:r>
          </a:p>
        </p:txBody>
      </p:sp>
      <p:sp>
        <p:nvSpPr>
          <p:cNvPr id="8" name="Rectangle 7">
            <a:extLst>
              <a:ext uri="{FF2B5EF4-FFF2-40B4-BE49-F238E27FC236}">
                <a16:creationId xmlns:a16="http://schemas.microsoft.com/office/drawing/2014/main" id="{7F45FF45-9ED4-D624-DA4F-6CB4A110145F}"/>
              </a:ext>
            </a:extLst>
          </p:cNvPr>
          <p:cNvSpPr/>
          <p:nvPr/>
        </p:nvSpPr>
        <p:spPr>
          <a:xfrm>
            <a:off x="6095999" y="689168"/>
            <a:ext cx="5633413" cy="163200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7589F1E9-9721-BEC5-186B-43FD9144E8E4}"/>
              </a:ext>
            </a:extLst>
          </p:cNvPr>
          <p:cNvSpPr/>
          <p:nvPr/>
        </p:nvSpPr>
        <p:spPr>
          <a:xfrm>
            <a:off x="6095998" y="2321169"/>
            <a:ext cx="5633413" cy="19108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C15262CB-5B36-DFE1-DA0E-CA9B1F5C3614}"/>
              </a:ext>
            </a:extLst>
          </p:cNvPr>
          <p:cNvSpPr/>
          <p:nvPr/>
        </p:nvSpPr>
        <p:spPr>
          <a:xfrm>
            <a:off x="6095998" y="4257970"/>
            <a:ext cx="5633413" cy="15102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A40C42BD-97B0-178A-9259-FD54A7F7BCB9}"/>
              </a:ext>
            </a:extLst>
          </p:cNvPr>
          <p:cNvSpPr/>
          <p:nvPr/>
        </p:nvSpPr>
        <p:spPr>
          <a:xfrm>
            <a:off x="6095998" y="1089804"/>
            <a:ext cx="5633413" cy="54182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51375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9B8E4D-23FA-35A9-4AED-55586DFB27BD}"/>
              </a:ext>
            </a:extLst>
          </p:cNvPr>
          <p:cNvSpPr>
            <a:spLocks noGrp="1"/>
          </p:cNvSpPr>
          <p:nvPr>
            <p:ph idx="1"/>
          </p:nvPr>
        </p:nvSpPr>
        <p:spPr/>
        <p:txBody>
          <a:bodyPr>
            <a:noAutofit/>
          </a:bodyPr>
          <a:lstStyle/>
          <a:p>
            <a:r>
              <a:rPr lang="en-US" sz="1400" b="1" i="1" dirty="0"/>
              <a:t>// Without flyweight design pattern -&gt; memory wastage</a:t>
            </a:r>
          </a:p>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r>
              <a:rPr lang="en-US" sz="1400" dirty="0"/>
              <a:t>class </a:t>
            </a:r>
            <a:r>
              <a:rPr lang="en-US" sz="1400" dirty="0" err="1"/>
              <a:t>IndoorTerrainTile</a:t>
            </a:r>
            <a:r>
              <a:rPr lang="en-US" sz="1400" dirty="0"/>
              <a:t> extends Terrain {}</a:t>
            </a:r>
          </a:p>
          <a:p>
            <a:r>
              <a:rPr lang="en-US" sz="1400" dirty="0"/>
              <a:t>class </a:t>
            </a:r>
            <a:r>
              <a:rPr lang="en-US" sz="1400" dirty="0" err="1"/>
              <a:t>OutdoorTerrainTile</a:t>
            </a:r>
            <a:r>
              <a:rPr lang="en-US" sz="1400" dirty="0"/>
              <a:t> extends Terrain {}</a:t>
            </a:r>
          </a:p>
          <a:p>
            <a:endParaRPr lang="en-US" sz="1400" dirty="0"/>
          </a:p>
          <a:p>
            <a:endParaRPr lang="en-US" sz="1400" dirty="0"/>
          </a:p>
          <a:p>
            <a:r>
              <a:rPr lang="en-US" sz="1400" b="1" i="1" dirty="0"/>
              <a:t>// With flyweight design pattern</a:t>
            </a:r>
          </a:p>
          <a:p>
            <a:r>
              <a:rPr lang="en-US" sz="1400" dirty="0"/>
              <a:t>class Flyweight {</a:t>
            </a:r>
          </a:p>
          <a:p>
            <a:r>
              <a:rPr lang="en-US" sz="1400" dirty="0"/>
              <a:t>	private Sprite </a:t>
            </a:r>
            <a:r>
              <a:rPr lang="en-US" sz="1400" dirty="0" err="1"/>
              <a:t>terrainSprite</a:t>
            </a:r>
            <a:r>
              <a:rPr lang="en-US" sz="1400" dirty="0"/>
              <a:t>;</a:t>
            </a:r>
          </a:p>
          <a:p>
            <a:r>
              <a:rPr lang="en-US" sz="1400" dirty="0"/>
              <a:t>	public </a:t>
            </a:r>
            <a:r>
              <a:rPr lang="en-US" sz="1400" dirty="0" err="1"/>
              <a:t>FlyWeight</a:t>
            </a:r>
            <a:r>
              <a:rPr lang="en-US" sz="1400" dirty="0"/>
              <a:t>(String key) { </a:t>
            </a:r>
            <a:br>
              <a:rPr lang="en-US" sz="1400" dirty="0"/>
            </a:br>
            <a:r>
              <a:rPr lang="en-US" sz="1400" dirty="0"/>
              <a:t>	 if (key == “indoor”) {</a:t>
            </a:r>
          </a:p>
          <a:p>
            <a:r>
              <a:rPr lang="en-US" sz="1400" dirty="0"/>
              <a:t>		</a:t>
            </a:r>
            <a:r>
              <a:rPr lang="en-US" sz="1400" dirty="0" err="1"/>
              <a:t>terrainSprite</a:t>
            </a:r>
            <a:r>
              <a:rPr lang="en-US" sz="1400" dirty="0"/>
              <a:t> = </a:t>
            </a:r>
            <a:r>
              <a:rPr lang="en-US" sz="1400" dirty="0" err="1"/>
              <a:t>Sprite.load</a:t>
            </a:r>
            <a:r>
              <a:rPr lang="en-US" sz="1400" dirty="0"/>
              <a:t>(“sprites/indoor”);</a:t>
            </a:r>
          </a:p>
          <a:p>
            <a:r>
              <a:rPr lang="en-US" sz="1400" dirty="0"/>
              <a:t>	 } else { </a:t>
            </a:r>
            <a:r>
              <a:rPr lang="en-US" sz="1400" dirty="0" err="1"/>
              <a:t>terrainSprite</a:t>
            </a:r>
            <a:r>
              <a:rPr lang="en-US" sz="1400" dirty="0"/>
              <a:t> = </a:t>
            </a:r>
            <a:r>
              <a:rPr lang="en-US" sz="1400" dirty="0" err="1"/>
              <a:t>Sprite.load</a:t>
            </a:r>
            <a:r>
              <a:rPr lang="en-US" sz="1400" dirty="0"/>
              <a:t>(“sprites/outdoor”); }</a:t>
            </a:r>
            <a:br>
              <a:rPr lang="en-US" sz="1400" dirty="0"/>
            </a:br>
            <a:r>
              <a:rPr lang="en-US" sz="1400" dirty="0"/>
              <a:t>     public void render(</a:t>
            </a:r>
            <a:r>
              <a:rPr lang="en-US" sz="1400" dirty="0" err="1"/>
              <a:t>TerrainTile</a:t>
            </a:r>
            <a:r>
              <a:rPr lang="en-US" sz="1400" dirty="0"/>
              <a:t> tile) { ..}</a:t>
            </a:r>
          </a:p>
          <a:p>
            <a:r>
              <a:rPr lang="en-US" sz="1400" dirty="0"/>
              <a:t>	// getters and setters</a:t>
            </a:r>
          </a:p>
          <a:p>
            <a:r>
              <a:rPr lang="en-US" sz="1400" dirty="0"/>
              <a:t>}</a:t>
            </a:r>
          </a:p>
          <a:p>
            <a:endParaRPr lang="en-US" sz="1400" dirty="0"/>
          </a:p>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a:t>
            </a:r>
            <a:br>
              <a:rPr lang="en-US" sz="1400" dirty="0"/>
            </a:br>
            <a:r>
              <a:rPr lang="en-US" sz="1400" dirty="0"/>
              <a:t>class </a:t>
            </a:r>
            <a:r>
              <a:rPr lang="en-US" sz="1400" dirty="0" err="1"/>
              <a:t>IndoorTerrainTile</a:t>
            </a:r>
            <a:r>
              <a:rPr lang="en-US" sz="1400" dirty="0"/>
              <a:t> extends Terrain {}</a:t>
            </a:r>
          </a:p>
          <a:p>
            <a:r>
              <a:rPr lang="en-US" sz="1400" dirty="0"/>
              <a:t>class </a:t>
            </a:r>
            <a:r>
              <a:rPr lang="en-US" sz="1400" dirty="0" err="1"/>
              <a:t>OutdoorTerrainTile</a:t>
            </a:r>
            <a:r>
              <a:rPr lang="en-US" sz="1400" dirty="0"/>
              <a:t> extends Terrain {}</a:t>
            </a:r>
          </a:p>
        </p:txBody>
      </p:sp>
      <p:sp>
        <p:nvSpPr>
          <p:cNvPr id="3" name="Title 2">
            <a:extLst>
              <a:ext uri="{FF2B5EF4-FFF2-40B4-BE49-F238E27FC236}">
                <a16:creationId xmlns:a16="http://schemas.microsoft.com/office/drawing/2014/main" id="{BC24FFA3-DEDB-F272-4847-24BE40015085}"/>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3D5EB2D2-3C93-B411-F678-9B9A949BC1E7}"/>
              </a:ext>
            </a:extLst>
          </p:cNvPr>
          <p:cNvSpPr>
            <a:spLocks noGrp="1"/>
          </p:cNvSpPr>
          <p:nvPr>
            <p:ph idx="13"/>
          </p:nvPr>
        </p:nvSpPr>
        <p:spPr/>
        <p:txBody>
          <a:bodyPr>
            <a:normAutofit lnSpcReduction="10000"/>
          </a:bodyPr>
          <a:lstStyle/>
          <a:p>
            <a:r>
              <a:rPr lang="en-US" dirty="0"/>
              <a:t>Aims to reduce memory consumption</a:t>
            </a:r>
          </a:p>
          <a:p>
            <a:r>
              <a:rPr lang="en-US" dirty="0"/>
              <a:t>Separate </a:t>
            </a:r>
            <a:r>
              <a:rPr lang="en-US" b="1" i="1" dirty="0"/>
              <a:t>shared </a:t>
            </a:r>
            <a:r>
              <a:rPr lang="en-US" dirty="0"/>
              <a:t>and </a:t>
            </a:r>
            <a:r>
              <a:rPr lang="en-US" b="1" i="1" dirty="0"/>
              <a:t>unique </a:t>
            </a:r>
            <a:r>
              <a:rPr lang="en-US" dirty="0"/>
              <a:t>state</a:t>
            </a:r>
          </a:p>
          <a:p>
            <a:r>
              <a:rPr lang="en-US" dirty="0"/>
              <a:t>Shared state goes into a Flyweight object and is shared by all objects of the same type</a:t>
            </a:r>
          </a:p>
          <a:p>
            <a:pPr lvl="1"/>
            <a:r>
              <a:rPr lang="en-US" dirty="0"/>
              <a:t>Constructor that creates the terrain sprites from the images</a:t>
            </a:r>
          </a:p>
        </p:txBody>
      </p:sp>
      <p:sp>
        <p:nvSpPr>
          <p:cNvPr id="5" name="Rectangle 4">
            <a:extLst>
              <a:ext uri="{FF2B5EF4-FFF2-40B4-BE49-F238E27FC236}">
                <a16:creationId xmlns:a16="http://schemas.microsoft.com/office/drawing/2014/main" id="{9149179F-EA94-9EC9-1C2D-9F1F73BA58A7}"/>
              </a:ext>
            </a:extLst>
          </p:cNvPr>
          <p:cNvSpPr/>
          <p:nvPr/>
        </p:nvSpPr>
        <p:spPr>
          <a:xfrm>
            <a:off x="6015487" y="2942492"/>
            <a:ext cx="5633413" cy="12598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13001CA0-7278-D54C-F80F-415448A5A4CA}"/>
              </a:ext>
            </a:extLst>
          </p:cNvPr>
          <p:cNvSpPr/>
          <p:nvPr/>
        </p:nvSpPr>
        <p:spPr>
          <a:xfrm>
            <a:off x="6015487" y="4202361"/>
            <a:ext cx="5633413" cy="183291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grpSp>
        <p:nvGrpSpPr>
          <p:cNvPr id="9" name="Group 8">
            <a:extLst>
              <a:ext uri="{FF2B5EF4-FFF2-40B4-BE49-F238E27FC236}">
                <a16:creationId xmlns:a16="http://schemas.microsoft.com/office/drawing/2014/main" id="{D09BDC5C-D55C-0FDE-3890-073276BE45C0}"/>
              </a:ext>
            </a:extLst>
          </p:cNvPr>
          <p:cNvGrpSpPr/>
          <p:nvPr/>
        </p:nvGrpSpPr>
        <p:grpSpPr>
          <a:xfrm>
            <a:off x="6188534" y="969301"/>
            <a:ext cx="5674613" cy="679744"/>
            <a:chOff x="6176512" y="1055272"/>
            <a:chExt cx="5674613" cy="679744"/>
          </a:xfrm>
        </p:grpSpPr>
        <p:sp>
          <p:nvSpPr>
            <p:cNvPr id="7" name="Rectangle 6">
              <a:extLst>
                <a:ext uri="{FF2B5EF4-FFF2-40B4-BE49-F238E27FC236}">
                  <a16:creationId xmlns:a16="http://schemas.microsoft.com/office/drawing/2014/main" id="{CD1DD0FD-4AD9-635E-0334-2DA766572D80}"/>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TextBox 7">
              <a:extLst>
                <a:ext uri="{FF2B5EF4-FFF2-40B4-BE49-F238E27FC236}">
                  <a16:creationId xmlns:a16="http://schemas.microsoft.com/office/drawing/2014/main" id="{871CC412-2E5C-E286-C9F7-184603BA6230}"/>
                </a:ext>
              </a:extLst>
            </p:cNvPr>
            <p:cNvSpPr txBox="1"/>
            <p:nvPr/>
          </p:nvSpPr>
          <p:spPr>
            <a:xfrm>
              <a:off x="10070125" y="1055272"/>
              <a:ext cx="1781000" cy="461665"/>
            </a:xfrm>
            <a:prstGeom prst="rect">
              <a:avLst/>
            </a:prstGeom>
            <a:noFill/>
          </p:spPr>
          <p:txBody>
            <a:bodyPr wrap="none" rtlCol="0">
              <a:spAutoFit/>
            </a:bodyPr>
            <a:lstStyle/>
            <a:p>
              <a:r>
                <a:rPr lang="en-US" sz="2400" b="1" i="1" dirty="0"/>
                <a:t>Shared state</a:t>
              </a:r>
            </a:p>
          </p:txBody>
        </p:sp>
      </p:grpSp>
      <p:grpSp>
        <p:nvGrpSpPr>
          <p:cNvPr id="10" name="Group 9">
            <a:extLst>
              <a:ext uri="{FF2B5EF4-FFF2-40B4-BE49-F238E27FC236}">
                <a16:creationId xmlns:a16="http://schemas.microsoft.com/office/drawing/2014/main" id="{4EA65A2A-1C4D-B6B8-CB0B-3721ECB4FFC9}"/>
              </a:ext>
            </a:extLst>
          </p:cNvPr>
          <p:cNvGrpSpPr/>
          <p:nvPr/>
        </p:nvGrpSpPr>
        <p:grpSpPr>
          <a:xfrm>
            <a:off x="6209134" y="476203"/>
            <a:ext cx="5761816" cy="1019795"/>
            <a:chOff x="6209134" y="951850"/>
            <a:chExt cx="5761816" cy="708029"/>
          </a:xfrm>
        </p:grpSpPr>
        <p:sp>
          <p:nvSpPr>
            <p:cNvPr id="11" name="Rectangle 10">
              <a:extLst>
                <a:ext uri="{FF2B5EF4-FFF2-40B4-BE49-F238E27FC236}">
                  <a16:creationId xmlns:a16="http://schemas.microsoft.com/office/drawing/2014/main" id="{31F3A1E3-22AA-94A9-C7EA-6F5C024EAE9E}"/>
                </a:ext>
              </a:extLst>
            </p:cNvPr>
            <p:cNvSpPr/>
            <p:nvPr/>
          </p:nvSpPr>
          <p:spPr>
            <a:xfrm>
              <a:off x="6209134" y="1355803"/>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TextBox 11">
              <a:extLst>
                <a:ext uri="{FF2B5EF4-FFF2-40B4-BE49-F238E27FC236}">
                  <a16:creationId xmlns:a16="http://schemas.microsoft.com/office/drawing/2014/main" id="{49F3E7C7-D762-3721-0AA4-F6ECB8B131F9}"/>
                </a:ext>
              </a:extLst>
            </p:cNvPr>
            <p:cNvSpPr txBox="1"/>
            <p:nvPr/>
          </p:nvSpPr>
          <p:spPr>
            <a:xfrm>
              <a:off x="10165904" y="951850"/>
              <a:ext cx="1805046" cy="461665"/>
            </a:xfrm>
            <a:prstGeom prst="rect">
              <a:avLst/>
            </a:prstGeom>
            <a:noFill/>
          </p:spPr>
          <p:txBody>
            <a:bodyPr wrap="none" rtlCol="0">
              <a:spAutoFit/>
            </a:bodyPr>
            <a:lstStyle/>
            <a:p>
              <a:r>
                <a:rPr lang="en-US" sz="2400" b="1" i="1" dirty="0"/>
                <a:t>Unique state</a:t>
              </a:r>
            </a:p>
          </p:txBody>
        </p:sp>
      </p:grpSp>
    </p:spTree>
    <p:extLst>
      <p:ext uri="{BB962C8B-B14F-4D97-AF65-F5344CB8AC3E}">
        <p14:creationId xmlns:p14="http://schemas.microsoft.com/office/powerpoint/2010/main" val="3213263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16" end="1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17" end="1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20" end="20"/>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22" end="2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
                                            <p:txEl>
                                              <p:pRg st="23" end="2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
                                            <p:txEl>
                                              <p:pRg st="24" end="24"/>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
                                            <p:txEl>
                                              <p:pRg st="25" end="25"/>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
                                            <p:txEl>
                                              <p:pRg st="26" end="26"/>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B7266-9BF3-4ACC-DC84-52D9F70AF8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D0B07C2-968C-CD39-9215-099D3A6D9A74}"/>
              </a:ext>
            </a:extLst>
          </p:cNvPr>
          <p:cNvSpPr>
            <a:spLocks noGrp="1"/>
          </p:cNvSpPr>
          <p:nvPr>
            <p:ph idx="1"/>
          </p:nvPr>
        </p:nvSpPr>
        <p:spPr/>
        <p:txBody>
          <a:bodyPr>
            <a:normAutofit fontScale="92500" lnSpcReduction="20000"/>
          </a:bodyPr>
          <a:lstStyle/>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public void render(</a:t>
            </a:r>
            <a:r>
              <a:rPr lang="en-US" dirty="0" err="1"/>
              <a:t>TerrainTile</a:t>
            </a:r>
            <a:r>
              <a:rPr lang="en-US" dirty="0"/>
              <a:t> tile) { ..}	</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3" name="Title 2">
            <a:extLst>
              <a:ext uri="{FF2B5EF4-FFF2-40B4-BE49-F238E27FC236}">
                <a16:creationId xmlns:a16="http://schemas.microsoft.com/office/drawing/2014/main" id="{AE2F1DB4-4783-9391-71A4-10C02242827C}"/>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CAE14E91-063B-D823-2F07-45C33124F52C}"/>
              </a:ext>
            </a:extLst>
          </p:cNvPr>
          <p:cNvSpPr>
            <a:spLocks noGrp="1"/>
          </p:cNvSpPr>
          <p:nvPr>
            <p:ph idx="13"/>
          </p:nvPr>
        </p:nvSpPr>
        <p:spPr/>
        <p:txBody>
          <a:bodyPr/>
          <a:lstStyle/>
          <a:p>
            <a:r>
              <a:rPr lang="en-US" dirty="0"/>
              <a:t>How does the original object access the shared state?</a:t>
            </a:r>
          </a:p>
          <a:p>
            <a:r>
              <a:rPr lang="en-US" dirty="0" err="1">
                <a:latin typeface="Consolas" panose="020B0609020204030204" pitchFamily="49" charset="0"/>
              </a:rPr>
              <a:t>FlyweightFactory</a:t>
            </a:r>
            <a:r>
              <a:rPr lang="en-US" dirty="0"/>
              <a:t> class creates flyweight objects only if it already isn’t created</a:t>
            </a:r>
          </a:p>
          <a:p>
            <a:r>
              <a:rPr lang="en-US" dirty="0"/>
              <a:t>Maintains a map of terrain type vs. flyweight object</a:t>
            </a:r>
          </a:p>
        </p:txBody>
      </p:sp>
      <p:sp>
        <p:nvSpPr>
          <p:cNvPr id="5" name="Rectangle 4">
            <a:extLst>
              <a:ext uri="{FF2B5EF4-FFF2-40B4-BE49-F238E27FC236}">
                <a16:creationId xmlns:a16="http://schemas.microsoft.com/office/drawing/2014/main" id="{53F1842F-46BB-8E36-C79D-FB8B5F2D0A66}"/>
              </a:ext>
            </a:extLst>
          </p:cNvPr>
          <p:cNvSpPr/>
          <p:nvPr/>
        </p:nvSpPr>
        <p:spPr>
          <a:xfrm>
            <a:off x="6176511" y="3552092"/>
            <a:ext cx="5633413" cy="51581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2120DB85-6D52-B31F-B852-346A3E874BD7}"/>
              </a:ext>
            </a:extLst>
          </p:cNvPr>
          <p:cNvSpPr/>
          <p:nvPr/>
        </p:nvSpPr>
        <p:spPr>
          <a:xfrm>
            <a:off x="6176510" y="4103076"/>
            <a:ext cx="5633413" cy="12778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35332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97FDB-BD36-EA2A-C2F7-294E1ECB31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5643E3-B07D-DC0A-75AD-9CBD3F5BE0BB}"/>
              </a:ext>
            </a:extLst>
          </p:cNvPr>
          <p:cNvSpPr>
            <a:spLocks noGrp="1"/>
          </p:cNvSpPr>
          <p:nvPr>
            <p:ph idx="1"/>
          </p:nvPr>
        </p:nvSpPr>
        <p:spPr/>
        <p:txBody>
          <a:bodyPr>
            <a:normAutofit/>
          </a:bodyPr>
          <a:lstStyle/>
          <a:p>
            <a:r>
              <a:rPr lang="en-US" dirty="0"/>
              <a:t>int main(void) {</a:t>
            </a:r>
          </a:p>
          <a:p>
            <a:r>
              <a:rPr lang="en-US" dirty="0"/>
              <a:t>	// Place an indoor tile</a:t>
            </a:r>
          </a:p>
          <a:p>
            <a:r>
              <a:rPr lang="en-US" dirty="0"/>
              <a:t>	</a:t>
            </a:r>
            <a:r>
              <a:rPr lang="en-US" dirty="0" err="1"/>
              <a:t>IndoorTerrainTile</a:t>
            </a:r>
            <a:r>
              <a:rPr lang="en-US" dirty="0"/>
              <a:t> </a:t>
            </a:r>
            <a:r>
              <a:rPr lang="en-US" dirty="0" err="1"/>
              <a:t>indoorTile</a:t>
            </a:r>
            <a:r>
              <a:rPr lang="en-US" dirty="0"/>
              <a:t> = new </a:t>
            </a:r>
            <a:r>
              <a:rPr lang="en-US" dirty="0" err="1"/>
              <a:t>IndoorTerrainTile</a:t>
            </a:r>
            <a:r>
              <a:rPr lang="en-US" dirty="0"/>
              <a:t>();</a:t>
            </a:r>
          </a:p>
          <a:p>
            <a:r>
              <a:rPr lang="en-US" dirty="0"/>
              <a:t>	</a:t>
            </a:r>
            <a:r>
              <a:rPr lang="en-US" dirty="0" err="1"/>
              <a:t>indoorTile.setX</a:t>
            </a:r>
            <a:r>
              <a:rPr lang="en-US" dirty="0"/>
              <a:t>(10);</a:t>
            </a:r>
          </a:p>
          <a:p>
            <a:r>
              <a:rPr lang="en-US" dirty="0"/>
              <a:t>	</a:t>
            </a:r>
            <a:r>
              <a:rPr lang="en-US" dirty="0" err="1"/>
              <a:t>indoorTile.setY</a:t>
            </a:r>
            <a:r>
              <a:rPr lang="en-US" dirty="0"/>
              <a:t>(10);</a:t>
            </a:r>
          </a:p>
          <a:p>
            <a:r>
              <a:rPr lang="en-US" dirty="0"/>
              <a:t>	</a:t>
            </a:r>
          </a:p>
          <a:p>
            <a:r>
              <a:rPr lang="en-US" dirty="0"/>
              <a:t>	Flyweight </a:t>
            </a:r>
            <a:r>
              <a:rPr lang="en-US" dirty="0" err="1"/>
              <a:t>indoorTileIcon</a:t>
            </a:r>
            <a:r>
              <a:rPr lang="en-US" dirty="0"/>
              <a:t> = </a:t>
            </a:r>
            <a:r>
              <a:rPr lang="en-US" dirty="0" err="1"/>
              <a:t>FlyweightFactory.getFlyweight</a:t>
            </a:r>
            <a:r>
              <a:rPr lang="en-US" dirty="0"/>
              <a:t>(“indoor”);</a:t>
            </a:r>
          </a:p>
          <a:p>
            <a:r>
              <a:rPr lang="en-US" dirty="0"/>
              <a:t>	</a:t>
            </a:r>
          </a:p>
          <a:p>
            <a:r>
              <a:rPr lang="en-US" dirty="0"/>
              <a:t>	</a:t>
            </a:r>
            <a:r>
              <a:rPr lang="en-US" dirty="0" err="1"/>
              <a:t>indoorTileIcon.render</a:t>
            </a:r>
            <a:r>
              <a:rPr lang="en-US" dirty="0"/>
              <a:t>();</a:t>
            </a:r>
          </a:p>
          <a:p>
            <a:endParaRPr lang="en-US" dirty="0"/>
          </a:p>
          <a:p>
            <a:r>
              <a:rPr lang="en-US" dirty="0"/>
              <a:t>	// Place outdoor tile</a:t>
            </a:r>
          </a:p>
          <a:p>
            <a:r>
              <a:rPr lang="en-US" dirty="0"/>
              <a:t>	</a:t>
            </a:r>
            <a:r>
              <a:rPr lang="en-US" dirty="0" err="1"/>
              <a:t>OutdoorTerrainTile</a:t>
            </a:r>
            <a:r>
              <a:rPr lang="en-US" dirty="0"/>
              <a:t> </a:t>
            </a:r>
            <a:r>
              <a:rPr lang="en-US" dirty="0" err="1"/>
              <a:t>outdoorTile</a:t>
            </a:r>
            <a:r>
              <a:rPr lang="en-US" dirty="0"/>
              <a:t> = new </a:t>
            </a:r>
            <a:r>
              <a:rPr lang="en-US" dirty="0" err="1"/>
              <a:t>OutdoorTerrainTile</a:t>
            </a:r>
            <a:r>
              <a:rPr lang="en-US" dirty="0"/>
              <a:t>();</a:t>
            </a:r>
          </a:p>
          <a:p>
            <a:r>
              <a:rPr lang="en-US" dirty="0"/>
              <a:t>	// set X and Y</a:t>
            </a:r>
          </a:p>
          <a:p>
            <a:r>
              <a:rPr lang="en-US" dirty="0"/>
              <a:t>	Flyweight </a:t>
            </a:r>
            <a:r>
              <a:rPr lang="en-US" dirty="0" err="1"/>
              <a:t>outdoorTileIcon</a:t>
            </a:r>
            <a:r>
              <a:rPr lang="en-US" dirty="0"/>
              <a:t> = </a:t>
            </a:r>
            <a:r>
              <a:rPr lang="en-US" dirty="0" err="1"/>
              <a:t>FlyweightFactory.getFlyweight</a:t>
            </a:r>
            <a:r>
              <a:rPr lang="en-US" dirty="0"/>
              <a:t>(“outdoor”);</a:t>
            </a:r>
          </a:p>
          <a:p>
            <a:r>
              <a:rPr lang="en-US" dirty="0"/>
              <a:t>	 </a:t>
            </a:r>
            <a:r>
              <a:rPr lang="en-US" dirty="0" err="1"/>
              <a:t>outdoorTileIcon.render</a:t>
            </a:r>
            <a:r>
              <a:rPr lang="en-US" dirty="0"/>
              <a:t>(</a:t>
            </a:r>
            <a:r>
              <a:rPr lang="en-US" dirty="0" err="1"/>
              <a:t>outdoorTile</a:t>
            </a:r>
            <a:r>
              <a:rPr lang="en-US" dirty="0"/>
              <a:t>);</a:t>
            </a:r>
          </a:p>
          <a:p>
            <a:r>
              <a:rPr lang="en-US" dirty="0"/>
              <a:t>}</a:t>
            </a:r>
          </a:p>
        </p:txBody>
      </p:sp>
      <p:sp>
        <p:nvSpPr>
          <p:cNvPr id="3" name="Title 2">
            <a:extLst>
              <a:ext uri="{FF2B5EF4-FFF2-40B4-BE49-F238E27FC236}">
                <a16:creationId xmlns:a16="http://schemas.microsoft.com/office/drawing/2014/main" id="{B0659663-C8D9-76B4-33C6-99AE051FB388}"/>
              </a:ext>
            </a:extLst>
          </p:cNvPr>
          <p:cNvSpPr>
            <a:spLocks noGrp="1"/>
          </p:cNvSpPr>
          <p:nvPr>
            <p:ph type="title"/>
          </p:nvPr>
        </p:nvSpPr>
        <p:spPr/>
        <p:txBody>
          <a:bodyPr/>
          <a:lstStyle/>
          <a:p>
            <a:r>
              <a:rPr lang="en-US" dirty="0"/>
              <a:t>Putting it all together</a:t>
            </a:r>
          </a:p>
        </p:txBody>
      </p:sp>
      <p:sp>
        <p:nvSpPr>
          <p:cNvPr id="7" name="Content Placeholder 1">
            <a:extLst>
              <a:ext uri="{FF2B5EF4-FFF2-40B4-BE49-F238E27FC236}">
                <a16:creationId xmlns:a16="http://schemas.microsoft.com/office/drawing/2014/main" id="{678F99A1-7B29-820E-866F-CCFA2C3D4978}"/>
              </a:ext>
            </a:extLst>
          </p:cNvPr>
          <p:cNvSpPr txBox="1">
            <a:spLocks/>
          </p:cNvSpPr>
          <p:nvPr/>
        </p:nvSpPr>
        <p:spPr bwMode="auto">
          <a:xfrm>
            <a:off x="382075" y="785004"/>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8" name="Rectangle 7">
            <a:extLst>
              <a:ext uri="{FF2B5EF4-FFF2-40B4-BE49-F238E27FC236}">
                <a16:creationId xmlns:a16="http://schemas.microsoft.com/office/drawing/2014/main" id="{9E3894DA-F926-4D04-51A8-9846F07A3C8F}"/>
              </a:ext>
            </a:extLst>
          </p:cNvPr>
          <p:cNvSpPr/>
          <p:nvPr/>
        </p:nvSpPr>
        <p:spPr>
          <a:xfrm>
            <a:off x="6096000" y="125436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35D44A16-3A92-6279-AC28-4878F2F0ADC9}"/>
              </a:ext>
            </a:extLst>
          </p:cNvPr>
          <p:cNvSpPr/>
          <p:nvPr/>
        </p:nvSpPr>
        <p:spPr>
          <a:xfrm>
            <a:off x="6096000" y="356635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15536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07C1026-EBE1-6030-41A8-6F591A484399}"/>
              </a:ext>
            </a:extLst>
          </p:cNvPr>
          <p:cNvSpPr>
            <a:spLocks noGrp="1"/>
          </p:cNvSpPr>
          <p:nvPr>
            <p:ph idx="1"/>
          </p:nvPr>
        </p:nvSpPr>
        <p:spPr/>
        <p:txBody>
          <a:bodyPr/>
          <a:lstStyle/>
          <a:p>
            <a:r>
              <a:rPr lang="en-US" dirty="0"/>
              <a:t>Prevent duplication of state</a:t>
            </a:r>
          </a:p>
          <a:p>
            <a:r>
              <a:rPr lang="en-US" dirty="0"/>
              <a:t>Shared state </a:t>
            </a:r>
            <a:r>
              <a:rPr lang="en-US" b="1" i="1" dirty="0"/>
              <a:t>must </a:t>
            </a:r>
            <a:r>
              <a:rPr lang="en-US" dirty="0"/>
              <a:t>be immutable</a:t>
            </a:r>
          </a:p>
          <a:p>
            <a:r>
              <a:rPr lang="en-US" dirty="0"/>
              <a:t>May introduce runtime costs from indirection</a:t>
            </a:r>
          </a:p>
        </p:txBody>
      </p:sp>
      <p:sp>
        <p:nvSpPr>
          <p:cNvPr id="5" name="Title 4">
            <a:extLst>
              <a:ext uri="{FF2B5EF4-FFF2-40B4-BE49-F238E27FC236}">
                <a16:creationId xmlns:a16="http://schemas.microsoft.com/office/drawing/2014/main" id="{CD48D845-54E3-1EEA-43ED-9FB3AEBFFCB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203894077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6C239DE-6777-AB94-F069-61E774C9A7E7}"/>
              </a:ext>
            </a:extLst>
          </p:cNvPr>
          <p:cNvSpPr>
            <a:spLocks noGrp="1"/>
          </p:cNvSpPr>
          <p:nvPr>
            <p:ph idx="1"/>
          </p:nvPr>
        </p:nvSpPr>
        <p:spPr>
          <a:xfrm>
            <a:off x="360607" y="785004"/>
            <a:ext cx="11449319" cy="5218981"/>
          </a:xfrm>
        </p:spPr>
        <p:txBody>
          <a:bodyPr>
            <a:normAutofit lnSpcReduction="10000"/>
          </a:bodyPr>
          <a:lstStyle/>
          <a:p>
            <a:r>
              <a:rPr lang="en-US" dirty="0"/>
              <a:t>You are designing an email system for your company. The email system automatically must insert the company header and footer images to each email that is being sent. The company header and footer images are 16 KB each. You expect the email system to store tens of thousands of emails. Moreover, some users can enable optional features such as spell-check annotations and keyword highlighting that stores additional metadata with the email and influences how the email is rendered on the email screen (spell-check feature highlights misspelled words in red, for example). You want future developers to be able to easily add new optional features as well. How would you design this system?</a:t>
            </a:r>
          </a:p>
        </p:txBody>
      </p:sp>
      <p:sp>
        <p:nvSpPr>
          <p:cNvPr id="4" name="Title 3">
            <a:extLst>
              <a:ext uri="{FF2B5EF4-FFF2-40B4-BE49-F238E27FC236}">
                <a16:creationId xmlns:a16="http://schemas.microsoft.com/office/drawing/2014/main" id="{805E4ED4-98AC-D27F-EC34-65DEB19C2AE9}"/>
              </a:ext>
            </a:extLst>
          </p:cNvPr>
          <p:cNvSpPr>
            <a:spLocks noGrp="1"/>
          </p:cNvSpPr>
          <p:nvPr>
            <p:ph type="title"/>
          </p:nvPr>
        </p:nvSpPr>
        <p:spPr>
          <a:xfrm>
            <a:off x="0" y="0"/>
            <a:ext cx="12192000" cy="696277"/>
          </a:xfrm>
        </p:spPr>
        <p:txBody>
          <a:bodyPr/>
          <a:lstStyle/>
          <a:p>
            <a:r>
              <a:rPr lang="en-US" dirty="0"/>
              <a:t>Sample design pattern question</a:t>
            </a:r>
          </a:p>
        </p:txBody>
      </p:sp>
    </p:spTree>
    <p:extLst>
      <p:ext uri="{BB962C8B-B14F-4D97-AF65-F5344CB8AC3E}">
        <p14:creationId xmlns:p14="http://schemas.microsoft.com/office/powerpoint/2010/main" val="32487307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 Flyweight</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class patterns use inheritance to distribute behavior between classes</a:t>
            </a:r>
          </a:p>
          <a:p>
            <a:r>
              <a:rPr lang="en-US" dirty="0"/>
              <a:t>Behavioral object patterns use object composition </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31F57-2FC8-4D87-05B0-CCBA931753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478A716-1DFF-84A8-2ADA-B0D144D8974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B44EB15-E3E8-921B-0522-F18E0361A61E}"/>
              </a:ext>
            </a:extLst>
          </p:cNvPr>
          <p:cNvSpPr>
            <a:spLocks noGrp="1"/>
          </p:cNvSpPr>
          <p:nvPr>
            <p:ph type="body" sz="quarter" idx="13"/>
          </p:nvPr>
        </p:nvSpPr>
        <p:spPr/>
        <p:txBody>
          <a:bodyPr/>
          <a:lstStyle/>
          <a:p>
            <a:r>
              <a:rPr lang="en-US" sz="3200" dirty="0"/>
              <a:t>Design patterns</a:t>
            </a:r>
          </a:p>
        </p:txBody>
      </p:sp>
    </p:spTree>
    <p:extLst>
      <p:ext uri="{BB962C8B-B14F-4D97-AF65-F5344CB8AC3E}">
        <p14:creationId xmlns:p14="http://schemas.microsoft.com/office/powerpoint/2010/main" val="108421248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DF13D8-6296-2C5D-AF8F-DE236933CEBE}"/>
              </a:ext>
            </a:extLst>
          </p:cNvPr>
          <p:cNvSpPr>
            <a:spLocks noGrp="1"/>
          </p:cNvSpPr>
          <p:nvPr>
            <p:ph idx="1"/>
          </p:nvPr>
        </p:nvSpPr>
        <p:spPr/>
        <p:txBody>
          <a:bodyPr/>
          <a:lstStyle/>
          <a:p>
            <a:r>
              <a:rPr lang="en-US" dirty="0"/>
              <a:t>Design patterns quiz will close on Friday EOD</a:t>
            </a:r>
          </a:p>
          <a:p>
            <a:r>
              <a:rPr lang="en-US" dirty="0" err="1"/>
              <a:t>Xingming</a:t>
            </a:r>
            <a:r>
              <a:rPr lang="en-US" dirty="0"/>
              <a:t> will conduct the revision lecture</a:t>
            </a:r>
          </a:p>
          <a:p>
            <a:r>
              <a:rPr lang="en-US" dirty="0"/>
              <a:t>Final will have 2 design/security questions and 2-3 smaller questions</a:t>
            </a:r>
          </a:p>
        </p:txBody>
      </p:sp>
      <p:sp>
        <p:nvSpPr>
          <p:cNvPr id="4" name="Title 3">
            <a:extLst>
              <a:ext uri="{FF2B5EF4-FFF2-40B4-BE49-F238E27FC236}">
                <a16:creationId xmlns:a16="http://schemas.microsoft.com/office/drawing/2014/main" id="{920AC614-0F7C-CCB7-6164-975EDB65A778}"/>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274919159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64854-D128-1DEF-F6CF-53CB4A39A2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9035728-71A5-2A49-5D81-6C4A08E064EF}"/>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ABF77AF1-2C3A-65B2-61C4-2D553BB6616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F68EDB2D-89FF-B3BD-B72C-E316579432D3}"/>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 Flyweight</a:t>
            </a:r>
          </a:p>
          <a:p>
            <a:pPr lvl="1"/>
            <a:endParaRPr lang="en-US" dirty="0"/>
          </a:p>
        </p:txBody>
      </p:sp>
      <p:sp>
        <p:nvSpPr>
          <p:cNvPr id="6" name="Content Placeholder 4">
            <a:extLst>
              <a:ext uri="{FF2B5EF4-FFF2-40B4-BE49-F238E27FC236}">
                <a16:creationId xmlns:a16="http://schemas.microsoft.com/office/drawing/2014/main" id="{DB3046BA-2D24-5C07-5F26-36B9663D31A3}"/>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Observer, </a:t>
            </a:r>
            <a:r>
              <a:rPr lang="en-US" b="1" dirty="0"/>
              <a:t>Template method, State, Visitor</a:t>
            </a:r>
          </a:p>
          <a:p>
            <a:pPr lvl="1"/>
            <a:endParaRPr lang="en-US" dirty="0"/>
          </a:p>
        </p:txBody>
      </p:sp>
      <p:sp>
        <p:nvSpPr>
          <p:cNvPr id="2" name="Rectangle 1">
            <a:extLst>
              <a:ext uri="{FF2B5EF4-FFF2-40B4-BE49-F238E27FC236}">
                <a16:creationId xmlns:a16="http://schemas.microsoft.com/office/drawing/2014/main" id="{45929B6C-E17B-CF4E-A151-63D19CBE0DF3}"/>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291243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77500" lnSpcReduction="20000"/>
          </a:bodyPr>
          <a:lstStyle/>
          <a:p>
            <a:r>
              <a:rPr lang="en-US" dirty="0"/>
              <a:t>abstract class </a:t>
            </a:r>
            <a:r>
              <a:rPr lang="en-US" dirty="0" err="1"/>
              <a:t>GraphPathFinder</a:t>
            </a:r>
            <a:r>
              <a:rPr lang="en-US" dirty="0"/>
              <a:t> {</a:t>
            </a:r>
          </a:p>
          <a:p>
            <a:r>
              <a:rPr lang="en-US" dirty="0"/>
              <a:t>    protected Map&lt;Integer, List&lt;Integer&gt;&gt; graph = new HashMap&lt;&gt;();</a:t>
            </a:r>
          </a:p>
          <a:p>
            <a:r>
              <a:rPr lang="en-US" dirty="0"/>
              <a:t>    protected List&lt;List&lt;Integer&gt;&gt; </a:t>
            </a:r>
            <a:r>
              <a:rPr lang="en-US" dirty="0" err="1"/>
              <a:t>allPaths</a:t>
            </a:r>
            <a:r>
              <a:rPr lang="en-US" dirty="0"/>
              <a:t> = new </a:t>
            </a:r>
            <a:r>
              <a:rPr lang="en-US" dirty="0" err="1"/>
              <a:t>ArrayList</a:t>
            </a:r>
            <a:r>
              <a:rPr lang="en-US" dirty="0"/>
              <a:t>&lt;&gt;();</a:t>
            </a:r>
          </a:p>
          <a:p>
            <a:r>
              <a:rPr lang="en-US" dirty="0"/>
              <a:t>    protected int source, destination;</a:t>
            </a:r>
          </a:p>
          <a:p>
            <a:endParaRPr lang="en-US" dirty="0"/>
          </a:p>
          <a:p>
            <a:r>
              <a:rPr lang="en-US" dirty="0"/>
              <a:t>    // Template method</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a:t>
            </a:r>
            <a:r>
              <a:rPr lang="en-US" dirty="0" err="1"/>
              <a:t>System.out.println</a:t>
            </a:r>
            <a:r>
              <a:rPr lang="en-US" dirty="0"/>
              <a:t>("Initializing graph...");</a:t>
            </a:r>
          </a:p>
          <a:p>
            <a:r>
              <a:rPr lang="en-US" dirty="0"/>
              <a:t>	   graph = </a:t>
            </a:r>
            <a:r>
              <a:rPr lang="en-US" dirty="0" err="1"/>
              <a:t>readFile</a:t>
            </a:r>
            <a:r>
              <a:rPr lang="en-US" dirty="0"/>
              <a:t>();</a:t>
            </a:r>
          </a:p>
          <a:p>
            <a:r>
              <a:rPr lang="en-US" dirty="0"/>
              <a:t>	  // more initialization</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for (List&lt;Integer&gt; path : </a:t>
            </a:r>
            <a:r>
              <a:rPr lang="en-US" dirty="0" err="1"/>
              <a:t>allPaths</a:t>
            </a:r>
            <a:r>
              <a:rPr lang="en-US" dirty="0"/>
              <a:t>) {</a:t>
            </a:r>
          </a:p>
          <a:p>
            <a:r>
              <a:rPr lang="en-US" dirty="0"/>
              <a:t>            </a:t>
            </a:r>
            <a:r>
              <a:rPr lang="en-US" dirty="0" err="1"/>
              <a:t>System.out.println</a:t>
            </a:r>
            <a:r>
              <a:rPr lang="en-US" dirty="0"/>
              <a:t>(path);</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087029"/>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2800680"/>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360416"/>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fontScale="85000" lnSpcReduction="10000"/>
          </a:bodyPr>
          <a:lstStyle/>
          <a:p>
            <a:r>
              <a:rPr lang="en-US" dirty="0"/>
              <a:t>class </a:t>
            </a:r>
            <a:r>
              <a:rPr lang="en-US" dirty="0" err="1"/>
              <a:t>BFSPathFinder</a:t>
            </a:r>
            <a:r>
              <a:rPr lang="en-US" dirty="0"/>
              <a:t> extends </a:t>
            </a:r>
            <a:r>
              <a:rPr lang="en-US" dirty="0" err="1"/>
              <a:t>GraphPathFinder</a:t>
            </a:r>
            <a:r>
              <a:rPr lang="en-US" dirty="0"/>
              <a:t> {</a:t>
            </a:r>
          </a:p>
          <a:p>
            <a:r>
              <a:rPr lang="en-US" dirty="0"/>
              <a:t>    @Override</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List&lt;Integer&gt; path = </a:t>
            </a:r>
            <a:r>
              <a:rPr lang="en-US" dirty="0" err="1"/>
              <a:t>queue.poll</a:t>
            </a:r>
            <a:r>
              <a:rPr lang="en-US" dirty="0"/>
              <a:t>();</a:t>
            </a:r>
          </a:p>
          <a:p>
            <a:r>
              <a:rPr lang="en-US" dirty="0"/>
              <a:t>            int </a:t>
            </a:r>
            <a:r>
              <a:rPr lang="en-US" dirty="0" err="1"/>
              <a:t>currentNode</a:t>
            </a:r>
            <a:r>
              <a:rPr lang="en-US" dirty="0"/>
              <a:t> = </a:t>
            </a:r>
            <a:r>
              <a:rPr lang="en-US" dirty="0" err="1"/>
              <a:t>path.get</a:t>
            </a:r>
            <a:r>
              <a:rPr lang="en-US" dirty="0"/>
              <a:t>(</a:t>
            </a:r>
            <a:r>
              <a:rPr lang="en-US" dirty="0" err="1"/>
              <a:t>path.size</a:t>
            </a:r>
            <a:r>
              <a:rPr lang="en-US" dirty="0"/>
              <a:t>() - 1);</a:t>
            </a:r>
          </a:p>
          <a:p>
            <a:endParaRPr lang="en-US" dirty="0"/>
          </a:p>
          <a:p>
            <a:r>
              <a:rPr lang="en-US" dirty="0"/>
              <a:t>            if (</a:t>
            </a:r>
            <a:r>
              <a:rPr lang="en-US" dirty="0" err="1"/>
              <a:t>currentNode</a:t>
            </a:r>
            <a:r>
              <a:rPr lang="en-US" dirty="0"/>
              <a:t> == destination) {</a:t>
            </a:r>
          </a:p>
          <a:p>
            <a:r>
              <a:rPr lang="en-US" dirty="0"/>
              <a:t>                </a:t>
            </a:r>
            <a:r>
              <a:rPr lang="en-US" dirty="0" err="1"/>
              <a:t>allPaths.add</a:t>
            </a:r>
            <a:r>
              <a:rPr lang="en-US" dirty="0"/>
              <a:t>(new </a:t>
            </a:r>
            <a:r>
              <a:rPr lang="en-US" dirty="0" err="1"/>
              <a:t>ArrayList</a:t>
            </a:r>
            <a:r>
              <a:rPr lang="en-US" dirty="0"/>
              <a:t>&lt;&gt;(path));</a:t>
            </a:r>
          </a:p>
          <a:p>
            <a:r>
              <a:rPr lang="en-US" dirty="0"/>
              <a:t>            } else {</a:t>
            </a:r>
          </a:p>
          <a:p>
            <a:r>
              <a:rPr lang="en-US" dirty="0"/>
              <a:t>                for (int neighbor : </a:t>
            </a:r>
            <a:r>
              <a:rPr lang="en-US" dirty="0" err="1"/>
              <a:t>graph.getOrDefault</a:t>
            </a:r>
            <a:r>
              <a:rPr lang="en-US" dirty="0"/>
              <a:t>(</a:t>
            </a:r>
            <a:r>
              <a:rPr lang="en-US" dirty="0" err="1"/>
              <a:t>currentNode</a:t>
            </a:r>
            <a:r>
              <a:rPr lang="en-US" dirty="0"/>
              <a:t>, new </a:t>
            </a:r>
            <a:r>
              <a:rPr lang="en-US" dirty="0" err="1"/>
              <a:t>ArrayList</a:t>
            </a:r>
            <a:r>
              <a:rPr lang="en-US" dirty="0"/>
              <a:t>&lt;&gt;())) {</a:t>
            </a:r>
          </a:p>
          <a:p>
            <a:r>
              <a:rPr lang="en-US" dirty="0"/>
              <a:t>                    List&lt;Integer&gt; </a:t>
            </a:r>
            <a:r>
              <a:rPr lang="en-US" dirty="0" err="1"/>
              <a:t>newPath</a:t>
            </a:r>
            <a:r>
              <a:rPr lang="en-US" dirty="0"/>
              <a:t> = new </a:t>
            </a:r>
            <a:r>
              <a:rPr lang="en-US" dirty="0" err="1"/>
              <a:t>ArrayList</a:t>
            </a:r>
            <a:r>
              <a:rPr lang="en-US" dirty="0"/>
              <a:t>&lt;&gt;(path);</a:t>
            </a:r>
          </a:p>
          <a:p>
            <a:r>
              <a:rPr lang="en-US" dirty="0"/>
              <a:t>                    </a:t>
            </a:r>
            <a:r>
              <a:rPr lang="en-US" dirty="0" err="1"/>
              <a:t>newPath.add</a:t>
            </a:r>
            <a:r>
              <a:rPr lang="en-US" dirty="0"/>
              <a:t>(neighbor);</a:t>
            </a:r>
          </a:p>
          <a:p>
            <a:r>
              <a:rPr lang="en-US" dirty="0"/>
              <a:t>                    </a:t>
            </a:r>
            <a:r>
              <a:rPr lang="en-US" dirty="0" err="1"/>
              <a:t>queue.add</a:t>
            </a:r>
            <a:r>
              <a:rPr lang="en-US" dirty="0"/>
              <a:t>(</a:t>
            </a:r>
            <a:r>
              <a:rPr lang="en-US" dirty="0" err="1"/>
              <a:t>newPath</a:t>
            </a:r>
            <a:r>
              <a:rPr lang="en-US" dirty="0"/>
              <a:t>);</a:t>
            </a:r>
          </a:p>
          <a:p>
            <a:r>
              <a:rPr lang="en-US" dirty="0"/>
              <a:t>                }</a:t>
            </a:r>
          </a:p>
          <a:p>
            <a:r>
              <a:rPr lang="en-US" dirty="0"/>
              <a:t>            }</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203158"/>
            <a:ext cx="5871110" cy="42672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C8A6CA-1CB8-C944-B9A4-BE232C1E37A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260E37-1D46-520A-BAC2-5D654F5A5BC8}"/>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B7E274BA-1C90-3039-0AC0-0EEA1F2D8517}"/>
              </a:ext>
            </a:extLst>
          </p:cNvPr>
          <p:cNvSpPr>
            <a:spLocks noGrp="1"/>
          </p:cNvSpPr>
          <p:nvPr>
            <p:ph type="title"/>
          </p:nvPr>
        </p:nvSpPr>
        <p:spPr/>
        <p:txBody>
          <a:bodyPr/>
          <a:lstStyle/>
          <a:p>
            <a:r>
              <a:rPr lang="en-US" dirty="0"/>
              <a:t>Sample design pattern question</a:t>
            </a:r>
          </a:p>
        </p:txBody>
      </p:sp>
    </p:spTree>
    <p:extLst>
      <p:ext uri="{BB962C8B-B14F-4D97-AF65-F5344CB8AC3E}">
        <p14:creationId xmlns:p14="http://schemas.microsoft.com/office/powerpoint/2010/main" val="144449804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F3AE43A5-73C4-3E15-4398-306518F3B640}"/>
              </a:ext>
            </a:extLst>
          </p:cNvPr>
          <p:cNvPicPr>
            <a:picLocks noGrp="1" noChangeAspect="1"/>
          </p:cNvPicPr>
          <p:nvPr>
            <p:ph idx="1"/>
          </p:nvPr>
        </p:nvPicPr>
        <p:blipFill>
          <a:blip r:embed="rId2"/>
          <a:stretch>
            <a:fillRect/>
          </a:stretch>
        </p:blipFill>
        <p:spPr bwMode="auto">
          <a:xfrm>
            <a:off x="4324839" y="254834"/>
            <a:ext cx="5346023" cy="6603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itle 3">
            <a:extLst>
              <a:ext uri="{FF2B5EF4-FFF2-40B4-BE49-F238E27FC236}">
                <a16:creationId xmlns:a16="http://schemas.microsoft.com/office/drawing/2014/main" id="{9CEB8FD2-A1D0-3717-3180-E9FEA362F79E}"/>
              </a:ext>
            </a:extLst>
          </p:cNvPr>
          <p:cNvSpPr>
            <a:spLocks noGrp="1"/>
          </p:cNvSpPr>
          <p:nvPr>
            <p:ph type="title"/>
          </p:nvPr>
        </p:nvSpPr>
        <p:spPr/>
        <p:txBody>
          <a:bodyPr/>
          <a:lstStyle/>
          <a:p>
            <a:endParaRPr lang="en-US" dirty="0"/>
          </a:p>
        </p:txBody>
      </p:sp>
    </p:spTree>
    <p:extLst>
      <p:ext uri="{BB962C8B-B14F-4D97-AF65-F5344CB8AC3E}">
        <p14:creationId xmlns:p14="http://schemas.microsoft.com/office/powerpoint/2010/main" val="415790224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b="1" i="1" dirty="0">
                <a:latin typeface="Helvetica" panose="020B0604020202020204"/>
                <a:cs typeface="Helvetica" panose="020B0604020202020204"/>
              </a:rPr>
              <a:t>Translate</a:t>
            </a:r>
          </a:p>
          <a:p>
            <a:pPr lvl="1"/>
            <a:r>
              <a:rPr lang="en-US" b="1" i="1"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EE97DE-475C-1638-C178-EACF13EAAF68}"/>
              </a:ext>
            </a:extLst>
          </p:cNvPr>
          <p:cNvSpPr>
            <a:spLocks noGrp="1"/>
          </p:cNvSpPr>
          <p:nvPr>
            <p:ph idx="1"/>
          </p:nvPr>
        </p:nvSpPr>
        <p:spPr/>
        <p:txBody>
          <a:bodyPr>
            <a:normAutofit fontScale="92500" lnSpcReduction="1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private Point p1; </a:t>
            </a:r>
          </a:p>
          <a:p>
            <a:r>
              <a:rPr lang="en-US" dirty="0"/>
              <a:t>	private Point p2;</a:t>
            </a:r>
          </a:p>
          <a:p>
            <a:r>
              <a:rPr lang="en-US" dirty="0"/>
              <a:t>	private Point p3;</a:t>
            </a:r>
          </a:p>
          <a:p>
            <a:r>
              <a:rPr lang="en-US" dirty="0"/>
              <a:t>	</a:t>
            </a:r>
          </a:p>
          <a:p>
            <a:r>
              <a:rPr lang="en-US" dirty="0"/>
              <a:t>	public void translate(int x, int y) {</a:t>
            </a:r>
          </a:p>
          <a:p>
            <a:r>
              <a:rPr lang="en-US" dirty="0"/>
              <a:t>		p1.setX(p1.getX() + x, p1.getY() + y);</a:t>
            </a:r>
          </a:p>
          <a:p>
            <a:r>
              <a:rPr lang="en-US" dirty="0"/>
              <a:t>		// for p2 and p3</a:t>
            </a:r>
          </a:p>
          <a:p>
            <a:r>
              <a:rPr lang="en-US" dirty="0"/>
              <a:t>	}</a:t>
            </a:r>
          </a:p>
          <a:p>
            <a:r>
              <a:rPr lang="en-US" dirty="0"/>
              <a:t>}</a:t>
            </a:r>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endParaRPr lang="en-US" dirty="0"/>
          </a:p>
          <a:p>
            <a:endParaRPr lang="en-US" dirty="0"/>
          </a:p>
        </p:txBody>
      </p:sp>
      <p:sp>
        <p:nvSpPr>
          <p:cNvPr id="3" name="Title 2">
            <a:extLst>
              <a:ext uri="{FF2B5EF4-FFF2-40B4-BE49-F238E27FC236}">
                <a16:creationId xmlns:a16="http://schemas.microsoft.com/office/drawing/2014/main" id="{75484F31-8BAD-ECB0-3B0B-7615BA75EA09}"/>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DB184649-BBDD-68AA-5373-4E57F6FD6EC1}"/>
              </a:ext>
            </a:extLst>
          </p:cNvPr>
          <p:cNvSpPr>
            <a:spLocks noGrp="1"/>
          </p:cNvSpPr>
          <p:nvPr>
            <p:ph idx="13"/>
          </p:nvPr>
        </p:nvSpPr>
        <p:spPr/>
        <p:txBody>
          <a:bodyPr/>
          <a:lstStyle/>
          <a:p>
            <a:r>
              <a:rPr lang="en-US" dirty="0"/>
              <a:t>Each shape has a </a:t>
            </a:r>
            <a:r>
              <a:rPr lang="en-US" dirty="0">
                <a:latin typeface="Consolas" panose="020B0609020204030204" pitchFamily="49" charset="0"/>
              </a:rPr>
              <a:t>translate</a:t>
            </a:r>
            <a:r>
              <a:rPr lang="en-US" dirty="0"/>
              <a:t> method</a:t>
            </a:r>
          </a:p>
        </p:txBody>
      </p:sp>
      <p:sp>
        <p:nvSpPr>
          <p:cNvPr id="5" name="Rectangle 4">
            <a:extLst>
              <a:ext uri="{FF2B5EF4-FFF2-40B4-BE49-F238E27FC236}">
                <a16:creationId xmlns:a16="http://schemas.microsoft.com/office/drawing/2014/main" id="{CDFE716A-5F5A-455B-CFB5-E4022765B3B0}"/>
              </a:ext>
            </a:extLst>
          </p:cNvPr>
          <p:cNvSpPr/>
          <p:nvPr/>
        </p:nvSpPr>
        <p:spPr>
          <a:xfrm>
            <a:off x="6176511" y="2590800"/>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E36A4498-50AE-EC3C-D655-EDD5F5B4B809}"/>
              </a:ext>
            </a:extLst>
          </p:cNvPr>
          <p:cNvSpPr/>
          <p:nvPr/>
        </p:nvSpPr>
        <p:spPr>
          <a:xfrm>
            <a:off x="6320890" y="4066673"/>
            <a:ext cx="5871110" cy="115503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E6C2A3FA-B72C-48F0-EA12-5AE987A5FCBC}"/>
              </a:ext>
            </a:extLst>
          </p:cNvPr>
          <p:cNvSpPr/>
          <p:nvPr/>
        </p:nvSpPr>
        <p:spPr>
          <a:xfrm>
            <a:off x="6128385" y="5221705"/>
            <a:ext cx="5871110" cy="6962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87395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0BA51-33C0-C6C0-A56D-A505ADDB3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EAFD3F-7191-4AA3-FAAA-203D5007211F}"/>
              </a:ext>
            </a:extLst>
          </p:cNvPr>
          <p:cNvSpPr>
            <a:spLocks noGrp="1"/>
          </p:cNvSpPr>
          <p:nvPr>
            <p:ph idx="1"/>
          </p:nvPr>
        </p:nvSpPr>
        <p:spPr/>
        <p:txBody>
          <a:bodyPr>
            <a:normAutofit fontScale="92500" lnSpcReduction="2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 …	</a:t>
            </a:r>
          </a:p>
          <a:p>
            <a:r>
              <a:rPr lang="en-US" dirty="0"/>
              <a:t>	public void translate(int x, int y) { // …}</a:t>
            </a:r>
          </a:p>
          <a:p>
            <a:r>
              <a:rPr lang="en-US" dirty="0"/>
              <a:t>	public void scale(int x, int y) { //… }</a:t>
            </a:r>
          </a:p>
          <a:p>
            <a:r>
              <a:rPr lang="en-US" dirty="0"/>
              <a:t>}</a:t>
            </a:r>
            <a:br>
              <a:rPr lang="en-US" dirty="0"/>
            </a:br>
            <a:endParaRPr lang="en-US" dirty="0"/>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	public void scale(int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shape.scale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r>
              <a:rPr lang="en-US" dirty="0" err="1"/>
              <a:t>someShape.scale</a:t>
            </a:r>
            <a:r>
              <a:rPr lang="en-US" dirty="0"/>
              <a:t>(2, 2);</a:t>
            </a:r>
          </a:p>
          <a:p>
            <a:endParaRPr lang="en-US" dirty="0"/>
          </a:p>
          <a:p>
            <a:endParaRPr lang="en-US" dirty="0"/>
          </a:p>
        </p:txBody>
      </p:sp>
      <p:sp>
        <p:nvSpPr>
          <p:cNvPr id="3" name="Title 2">
            <a:extLst>
              <a:ext uri="{FF2B5EF4-FFF2-40B4-BE49-F238E27FC236}">
                <a16:creationId xmlns:a16="http://schemas.microsoft.com/office/drawing/2014/main" id="{B93E82D0-E6F2-1E67-0521-54B8BD0E599B}"/>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BCDA289D-C0D7-ABF8-8DCF-DA9F5F78B21E}"/>
              </a:ext>
            </a:extLst>
          </p:cNvPr>
          <p:cNvSpPr>
            <a:spLocks noGrp="1"/>
          </p:cNvSpPr>
          <p:nvPr>
            <p:ph idx="13"/>
          </p:nvPr>
        </p:nvSpPr>
        <p:spPr/>
        <p:txBody>
          <a:bodyPr/>
          <a:lstStyle/>
          <a:p>
            <a:r>
              <a:rPr lang="en-US" dirty="0"/>
              <a:t>Each shape has a </a:t>
            </a:r>
            <a:r>
              <a:rPr lang="en-US" dirty="0">
                <a:latin typeface="Consolas" panose="020B0609020204030204" pitchFamily="49" charset="0"/>
              </a:rPr>
              <a:t>scale</a:t>
            </a:r>
            <a:r>
              <a:rPr lang="en-US" dirty="0"/>
              <a:t> method</a:t>
            </a:r>
          </a:p>
        </p:txBody>
      </p:sp>
      <p:sp>
        <p:nvSpPr>
          <p:cNvPr id="6" name="Rectangle 5">
            <a:extLst>
              <a:ext uri="{FF2B5EF4-FFF2-40B4-BE49-F238E27FC236}">
                <a16:creationId xmlns:a16="http://schemas.microsoft.com/office/drawing/2014/main" id="{4208F959-5612-C1B9-6296-FD033BA9B642}"/>
              </a:ext>
            </a:extLst>
          </p:cNvPr>
          <p:cNvSpPr/>
          <p:nvPr/>
        </p:nvSpPr>
        <p:spPr>
          <a:xfrm>
            <a:off x="6176512" y="2110801"/>
            <a:ext cx="5871110" cy="32886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254A924D-5D26-A2FA-7E19-46C4A2857C54}"/>
              </a:ext>
            </a:extLst>
          </p:cNvPr>
          <p:cNvSpPr/>
          <p:nvPr/>
        </p:nvSpPr>
        <p:spPr>
          <a:xfrm>
            <a:off x="6320890" y="3854190"/>
            <a:ext cx="5871110" cy="107073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D9497827-B2A7-611B-EB8E-D301F71017D2}"/>
              </a:ext>
            </a:extLst>
          </p:cNvPr>
          <p:cNvSpPr/>
          <p:nvPr/>
        </p:nvSpPr>
        <p:spPr>
          <a:xfrm>
            <a:off x="6176512" y="5358063"/>
            <a:ext cx="5871110" cy="2395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99539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7B5495A-7200-BF15-549F-748B6BA4C672}"/>
              </a:ext>
            </a:extLst>
          </p:cNvPr>
          <p:cNvSpPr>
            <a:spLocks noGrp="1"/>
          </p:cNvSpPr>
          <p:nvPr>
            <p:ph idx="1"/>
          </p:nvPr>
        </p:nvSpPr>
        <p:spPr/>
        <p:txBody>
          <a:bodyPr/>
          <a:lstStyle/>
          <a:p>
            <a:r>
              <a:rPr lang="en-US" dirty="0"/>
              <a:t>The logic for the </a:t>
            </a:r>
            <a:r>
              <a:rPr lang="en-US" dirty="0">
                <a:latin typeface="Consolas" panose="020B0609020204030204" pitchFamily="49" charset="0"/>
              </a:rPr>
              <a:t>translate</a:t>
            </a:r>
            <a:r>
              <a:rPr lang="en-US" dirty="0"/>
              <a:t>, </a:t>
            </a:r>
            <a:r>
              <a:rPr lang="en-US" dirty="0">
                <a:latin typeface="Consolas" panose="020B0609020204030204" pitchFamily="49" charset="0"/>
              </a:rPr>
              <a:t>scale</a:t>
            </a:r>
            <a:r>
              <a:rPr lang="en-US" dirty="0"/>
              <a:t>, and any other operations are spread across many shape classes</a:t>
            </a:r>
          </a:p>
          <a:p>
            <a:r>
              <a:rPr lang="en-US" dirty="0"/>
              <a:t>Changing how translation works needs to update </a:t>
            </a:r>
            <a:r>
              <a:rPr lang="en-US" b="1" i="1" dirty="0"/>
              <a:t>all </a:t>
            </a:r>
            <a:r>
              <a:rPr lang="en-US" dirty="0"/>
              <a:t>shape classes</a:t>
            </a:r>
          </a:p>
          <a:p>
            <a:r>
              <a:rPr lang="en-US" dirty="0"/>
              <a:t>What if you want to add a new operation but can’t modify the </a:t>
            </a:r>
            <a:r>
              <a:rPr lang="en-US" dirty="0">
                <a:latin typeface="Consolas" panose="020B0609020204030204" pitchFamily="49" charset="0"/>
              </a:rPr>
              <a:t>Shape</a:t>
            </a:r>
            <a:r>
              <a:rPr lang="en-US" dirty="0"/>
              <a:t> class?</a:t>
            </a:r>
          </a:p>
          <a:p>
            <a:pPr lvl="1"/>
            <a:r>
              <a:rPr lang="en-US" dirty="0">
                <a:latin typeface="Consolas" panose="020B0609020204030204" pitchFamily="49" charset="0"/>
              </a:rPr>
              <a:t>Shape</a:t>
            </a:r>
            <a:r>
              <a:rPr lang="en-US" dirty="0"/>
              <a:t> class must envision all possible operations when being designed</a:t>
            </a:r>
          </a:p>
        </p:txBody>
      </p:sp>
      <p:sp>
        <p:nvSpPr>
          <p:cNvPr id="3" name="Title 2">
            <a:extLst>
              <a:ext uri="{FF2B5EF4-FFF2-40B4-BE49-F238E27FC236}">
                <a16:creationId xmlns:a16="http://schemas.microsoft.com/office/drawing/2014/main" id="{175587BC-7BE2-BAC3-3CF2-6E2167FDDC2D}"/>
              </a:ext>
            </a:extLst>
          </p:cNvPr>
          <p:cNvSpPr>
            <a:spLocks noGrp="1"/>
          </p:cNvSpPr>
          <p:nvPr>
            <p:ph type="title"/>
          </p:nvPr>
        </p:nvSpPr>
        <p:spPr/>
        <p:txBody>
          <a:bodyPr/>
          <a:lstStyle/>
          <a:p>
            <a:r>
              <a:rPr lang="en-US" dirty="0"/>
              <a:t>Disadvantages</a:t>
            </a:r>
          </a:p>
        </p:txBody>
      </p:sp>
    </p:spTree>
    <p:extLst>
      <p:ext uri="{BB962C8B-B14F-4D97-AF65-F5344CB8AC3E}">
        <p14:creationId xmlns:p14="http://schemas.microsoft.com/office/powerpoint/2010/main" val="78148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3B342-E5CC-0ED5-1A9E-D7B6E787BEF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DE6B621-26A9-37AB-BC8A-518299188860}"/>
              </a:ext>
            </a:extLst>
          </p:cNvPr>
          <p:cNvSpPr>
            <a:spLocks noGrp="1"/>
          </p:cNvSpPr>
          <p:nvPr>
            <p:ph idx="1"/>
          </p:nvPr>
        </p:nvSpPr>
        <p:spPr/>
        <p:txBody>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t>
            </a:r>
            <a:r>
              <a:rPr lang="en-US" b="1" dirty="0" err="1"/>
              <a:t>accept</a:t>
            </a:r>
            <a:r>
              <a:rPr lang="en-US" dirty="0"/>
              <a:t>(this);</a:t>
            </a:r>
          </a:p>
          <a:p>
            <a:r>
              <a:rPr lang="en-US" dirty="0"/>
              <a:t>		}</a:t>
            </a:r>
          </a:p>
          <a:p>
            <a:r>
              <a:rPr lang="en-US" dirty="0"/>
              <a:t>	}</a:t>
            </a:r>
          </a:p>
          <a:p>
            <a:endParaRPr lang="en-US" dirty="0"/>
          </a:p>
          <a:p>
            <a:r>
              <a:rPr lang="en-US" dirty="0"/>
              <a:t>}</a:t>
            </a:r>
          </a:p>
        </p:txBody>
      </p:sp>
      <p:sp>
        <p:nvSpPr>
          <p:cNvPr id="4" name="Title 3">
            <a:extLst>
              <a:ext uri="{FF2B5EF4-FFF2-40B4-BE49-F238E27FC236}">
                <a16:creationId xmlns:a16="http://schemas.microsoft.com/office/drawing/2014/main" id="{2B6A9B61-F123-2B1C-15FF-536C6EAC4F69}"/>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3621BF1-9DD5-B205-6CF4-90E1F1ACB3D9}"/>
              </a:ext>
            </a:extLst>
          </p:cNvPr>
          <p:cNvSpPr>
            <a:spLocks noGrp="1"/>
          </p:cNvSpPr>
          <p:nvPr>
            <p:ph idx="13"/>
          </p:nvPr>
        </p:nvSpPr>
        <p:spPr/>
        <p:txBody>
          <a:bodyPr>
            <a:normAutofit lnSpcReduction="10000"/>
          </a:bodyPr>
          <a:lstStyle/>
          <a:p>
            <a:r>
              <a:rPr lang="en-US" dirty="0"/>
              <a:t>Encapsulate the operational logic in a “Visitor” class</a:t>
            </a:r>
          </a:p>
          <a:p>
            <a:r>
              <a:rPr lang="en-US" dirty="0"/>
              <a:t>Abstract visitor class provides concrete implementation for </a:t>
            </a:r>
            <a:r>
              <a:rPr lang="en-US" dirty="0" err="1"/>
              <a:t>CompoundShape</a:t>
            </a:r>
            <a:endParaRPr lang="en-US" dirty="0"/>
          </a:p>
          <a:p>
            <a:r>
              <a:rPr lang="en-US" dirty="0">
                <a:latin typeface="Consolas" panose="020B0609020204030204" pitchFamily="49" charset="0"/>
              </a:rPr>
              <a:t>accept</a:t>
            </a:r>
            <a:r>
              <a:rPr lang="en-US" dirty="0"/>
              <a:t> method is the “glue” that holds this design pattern together</a:t>
            </a:r>
          </a:p>
          <a:p>
            <a:pPr lvl="1"/>
            <a:r>
              <a:rPr lang="en-US" dirty="0"/>
              <a:t>Ensures the </a:t>
            </a:r>
            <a:r>
              <a:rPr lang="en-US" dirty="0">
                <a:latin typeface="Consolas" panose="020B0609020204030204" pitchFamily="49" charset="0"/>
              </a:rPr>
              <a:t>Visitor</a:t>
            </a:r>
            <a:r>
              <a:rPr lang="en-US" dirty="0"/>
              <a:t> object visits each </a:t>
            </a:r>
            <a:r>
              <a:rPr lang="en-US" dirty="0">
                <a:latin typeface="Consolas" panose="020B0609020204030204" pitchFamily="49" charset="0"/>
              </a:rPr>
              <a:t>Shape</a:t>
            </a:r>
            <a:r>
              <a:rPr lang="en-US" dirty="0"/>
              <a:t> object</a:t>
            </a:r>
          </a:p>
          <a:p>
            <a:pPr marL="0" indent="0">
              <a:buNone/>
            </a:pPr>
            <a:endParaRPr lang="en-US" dirty="0"/>
          </a:p>
        </p:txBody>
      </p:sp>
      <p:sp>
        <p:nvSpPr>
          <p:cNvPr id="2" name="Rectangle 1">
            <a:extLst>
              <a:ext uri="{FF2B5EF4-FFF2-40B4-BE49-F238E27FC236}">
                <a16:creationId xmlns:a16="http://schemas.microsoft.com/office/drawing/2014/main" id="{10EE4D3A-73AF-37AB-3C4F-4A7600490C7C}"/>
              </a:ext>
            </a:extLst>
          </p:cNvPr>
          <p:cNvSpPr/>
          <p:nvPr/>
        </p:nvSpPr>
        <p:spPr>
          <a:xfrm>
            <a:off x="7823199" y="2291644"/>
            <a:ext cx="2596445" cy="349957"/>
          </a:xfrm>
          <a:prstGeom prst="rect">
            <a:avLst/>
          </a:prstGeom>
          <a:no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C8868C43-1913-2D58-B60C-5B106934A1A2}"/>
              </a:ext>
            </a:extLst>
          </p:cNvPr>
          <p:cNvSpPr txBox="1"/>
          <p:nvPr/>
        </p:nvSpPr>
        <p:spPr>
          <a:xfrm>
            <a:off x="7620000" y="2730328"/>
            <a:ext cx="3934410" cy="369332"/>
          </a:xfrm>
          <a:prstGeom prst="rect">
            <a:avLst/>
          </a:prstGeom>
          <a:noFill/>
        </p:spPr>
        <p:txBody>
          <a:bodyPr wrap="none" rtlCol="0">
            <a:spAutoFit/>
          </a:bodyPr>
          <a:lstStyle/>
          <a:p>
            <a:r>
              <a:rPr lang="en-US" b="1" i="1" dirty="0"/>
              <a:t>We will discuss this in a couple of slides</a:t>
            </a:r>
          </a:p>
        </p:txBody>
      </p:sp>
    </p:spTree>
    <p:extLst>
      <p:ext uri="{BB962C8B-B14F-4D97-AF65-F5344CB8AC3E}">
        <p14:creationId xmlns:p14="http://schemas.microsoft.com/office/powerpoint/2010/main" val="4211864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7F391-9105-71A2-85E9-70999727D3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F6E47FA-FD4B-2B3A-F901-306DAA3F3AC3}"/>
              </a:ext>
            </a:extLst>
          </p:cNvPr>
          <p:cNvSpPr>
            <a:spLocks noGrp="1"/>
          </p:cNvSpPr>
          <p:nvPr>
            <p:ph idx="1"/>
          </p:nvPr>
        </p:nvSpPr>
        <p:spPr/>
        <p:txBody>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a:t>
            </a:r>
            <a:r>
              <a:rPr lang="en-US" dirty="0" err="1"/>
              <a:t>x_off</a:t>
            </a:r>
            <a:r>
              <a:rPr lang="en-US" dirty="0"/>
              <a:t>; int </a:t>
            </a:r>
            <a:r>
              <a:rPr lang="en-US" dirty="0" err="1"/>
              <a:t>y_off</a:t>
            </a:r>
            <a:r>
              <a:rPr lang="en-US" dirty="0"/>
              <a:t>;</a:t>
            </a:r>
            <a:br>
              <a:rPr lang="en-US" dirty="0"/>
            </a:br>
            <a:r>
              <a:rPr lang="en-US" dirty="0"/>
              <a:t>	</a:t>
            </a:r>
            <a:r>
              <a:rPr lang="en-US" dirty="0" err="1"/>
              <a:t>TranslationVisitor</a:t>
            </a:r>
            <a:r>
              <a:rPr lang="en-US" dirty="0"/>
              <a:t>(int x, int y) {</a:t>
            </a:r>
          </a:p>
          <a:p>
            <a:r>
              <a:rPr lang="en-US" dirty="0"/>
              <a:t>		</a:t>
            </a:r>
            <a:r>
              <a:rPr lang="en-US" dirty="0" err="1"/>
              <a:t>this.x_off</a:t>
            </a:r>
            <a:r>
              <a:rPr lang="en-US" dirty="0"/>
              <a:t> = x; </a:t>
            </a:r>
            <a:r>
              <a:rPr lang="en-US" dirty="0" err="1"/>
              <a:t>this.y_off</a:t>
            </a:r>
            <a:r>
              <a:rPr lang="en-US" dirty="0"/>
              <a:t> = y;</a:t>
            </a:r>
          </a:p>
          <a:p>
            <a:r>
              <a:rPr lang="en-US" dirty="0"/>
              <a:t>	}</a:t>
            </a:r>
          </a:p>
          <a:p>
            <a:r>
              <a:rPr lang="en-US" dirty="0"/>
              <a:t>    	@Override</a:t>
            </a:r>
          </a:p>
          <a:p>
            <a:r>
              <a:rPr lang="en-US" dirty="0"/>
              <a:t>    	public void visit(Triangle t) {</a:t>
            </a:r>
          </a:p>
          <a:p>
            <a:r>
              <a:rPr lang="en-US" dirty="0"/>
              <a:t>        </a:t>
            </a:r>
            <a:r>
              <a:rPr lang="en-US" b="1" dirty="0"/>
              <a:t>	/// translate 3 points</a:t>
            </a:r>
            <a:r>
              <a:rPr lang="en-US" dirty="0"/>
              <a:t>		</a:t>
            </a:r>
          </a:p>
          <a:p>
            <a:r>
              <a:rPr lang="en-US" dirty="0"/>
              <a:t>    	}</a:t>
            </a:r>
          </a:p>
          <a:p>
            <a:endParaRPr lang="en-US" dirty="0"/>
          </a:p>
          <a:p>
            <a:r>
              <a:rPr lang="en-US" dirty="0"/>
              <a:t>    	@Override</a:t>
            </a:r>
          </a:p>
          <a:p>
            <a:r>
              <a:rPr lang="en-US" dirty="0"/>
              <a:t>    	public void visit(Rectangle rectangle) {</a:t>
            </a:r>
          </a:p>
          <a:p>
            <a:r>
              <a:rPr lang="en-US" dirty="0"/>
              <a:t>		</a:t>
            </a:r>
            <a:r>
              <a:rPr lang="en-US" b="1" dirty="0"/>
              <a:t>//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4" name="Title 3">
            <a:extLst>
              <a:ext uri="{FF2B5EF4-FFF2-40B4-BE49-F238E27FC236}">
                <a16:creationId xmlns:a16="http://schemas.microsoft.com/office/drawing/2014/main" id="{910A8D81-258B-7564-5EB0-B89AD67595C0}"/>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E3A3FF57-75AB-0F0A-4522-D3E3F94106D4}"/>
              </a:ext>
            </a:extLst>
          </p:cNvPr>
          <p:cNvSpPr>
            <a:spLocks noGrp="1"/>
          </p:cNvSpPr>
          <p:nvPr>
            <p:ph idx="13"/>
          </p:nvPr>
        </p:nvSpPr>
        <p:spPr/>
        <p:txBody>
          <a:bodyPr/>
          <a:lstStyle/>
          <a:p>
            <a:r>
              <a:rPr lang="en-US" dirty="0"/>
              <a:t>Concrete visitor subclasses implement the particular visitor logic</a:t>
            </a:r>
          </a:p>
          <a:p>
            <a:r>
              <a:rPr lang="en-US" dirty="0"/>
              <a:t>The visitor logic is encapsulated in its own visitor class</a:t>
            </a:r>
          </a:p>
          <a:p>
            <a:r>
              <a:rPr lang="en-US" dirty="0"/>
              <a:t>Now, all we have to do is ensure the </a:t>
            </a:r>
            <a:r>
              <a:rPr lang="en-US" dirty="0">
                <a:latin typeface="Consolas" panose="020B0609020204030204" pitchFamily="49" charset="0"/>
              </a:rPr>
              <a:t>Shape</a:t>
            </a:r>
            <a:r>
              <a:rPr lang="en-US" dirty="0"/>
              <a:t> objects “accept” a </a:t>
            </a:r>
            <a:r>
              <a:rPr lang="en-US" dirty="0">
                <a:latin typeface="Consolas" panose="020B0609020204030204" pitchFamily="49" charset="0"/>
              </a:rPr>
              <a:t>Visitor</a:t>
            </a:r>
            <a:r>
              <a:rPr lang="en-US" dirty="0"/>
              <a:t> object</a:t>
            </a:r>
          </a:p>
          <a:p>
            <a:endParaRPr lang="en-US" dirty="0"/>
          </a:p>
          <a:p>
            <a:pPr marL="0" indent="0">
              <a:buNone/>
            </a:pPr>
            <a:endParaRPr lang="en-US" b="1" i="1" dirty="0"/>
          </a:p>
          <a:p>
            <a:pPr marL="0" indent="0">
              <a:buNone/>
            </a:pPr>
            <a:endParaRPr lang="en-US" dirty="0"/>
          </a:p>
        </p:txBody>
      </p:sp>
    </p:spTree>
    <p:extLst>
      <p:ext uri="{BB962C8B-B14F-4D97-AF65-F5344CB8AC3E}">
        <p14:creationId xmlns:p14="http://schemas.microsoft.com/office/powerpoint/2010/main" val="3717407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normAutofit fontScale="92500" lnSpcReduction="10000"/>
          </a:bodyPr>
          <a:lstStyle/>
          <a:p>
            <a:r>
              <a:rPr lang="en-US" dirty="0"/>
              <a:t>Allow the parent class for all nodes to </a:t>
            </a:r>
            <a:r>
              <a:rPr lang="en-US" b="1" i="1" dirty="0"/>
              <a:t>accept</a:t>
            </a:r>
            <a:r>
              <a:rPr lang="en-US" dirty="0"/>
              <a:t> a Visitor</a:t>
            </a:r>
          </a:p>
          <a:p>
            <a:r>
              <a:rPr lang="en-US" dirty="0"/>
              <a:t>Provide concrete implementations of the </a:t>
            </a:r>
            <a:r>
              <a:rPr lang="en-US" dirty="0">
                <a:latin typeface="Consolas" panose="020B0609020204030204" pitchFamily="49" charset="0"/>
              </a:rPr>
              <a:t>accept</a:t>
            </a:r>
            <a:r>
              <a:rPr lang="en-US" dirty="0"/>
              <a:t> method for each type</a:t>
            </a:r>
          </a:p>
          <a:p>
            <a:pPr lvl="1"/>
            <a:r>
              <a:rPr lang="en-US" dirty="0"/>
              <a:t>Just invoke </a:t>
            </a:r>
            <a:r>
              <a:rPr lang="en-US" dirty="0">
                <a:latin typeface="Consolas" panose="020B0609020204030204" pitchFamily="49" charset="0"/>
              </a:rPr>
              <a:t>visit</a:t>
            </a:r>
            <a:r>
              <a:rPr lang="en-US" dirty="0"/>
              <a:t> on the Visitor</a:t>
            </a:r>
          </a:p>
          <a:p>
            <a:r>
              <a:rPr lang="en-US" dirty="0"/>
              <a:t>The </a:t>
            </a:r>
            <a:r>
              <a:rPr lang="en-US" dirty="0">
                <a:latin typeface="Consolas" panose="020B0609020204030204" pitchFamily="49" charset="0"/>
              </a:rPr>
              <a:t>accept</a:t>
            </a:r>
            <a:r>
              <a:rPr lang="en-US" dirty="0"/>
              <a:t> method invokes the visitor on the shape object</a:t>
            </a:r>
          </a:p>
          <a:p>
            <a:r>
              <a:rPr lang="en-US" dirty="0"/>
              <a:t>Note: it accepts an abstract </a:t>
            </a:r>
            <a:r>
              <a:rPr lang="en-US" dirty="0">
                <a:latin typeface="Consolas" panose="020B0609020204030204" pitchFamily="49" charset="0"/>
              </a:rPr>
              <a:t>Visitor</a:t>
            </a:r>
            <a:r>
              <a:rPr lang="en-US" dirty="0"/>
              <a:t> type object</a:t>
            </a:r>
          </a:p>
          <a:p>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7421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1780921"/>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4F9CCCC-B0C8-5F3C-0D38-43979E03F48A}"/>
              </a:ext>
            </a:extLst>
          </p:cNvPr>
          <p:cNvSpPr>
            <a:spLocks noGrp="1"/>
          </p:cNvSpPr>
          <p:nvPr>
            <p:ph idx="1"/>
          </p:nvPr>
        </p:nvSpPr>
        <p:spPr/>
        <p:txBody>
          <a:bodyPr>
            <a:normAutofit/>
          </a:bodyPr>
          <a:lstStyle/>
          <a:p>
            <a:r>
              <a:rPr lang="en-US" sz="1400" dirty="0"/>
              <a:t>abstract class Shape {</a:t>
            </a:r>
          </a:p>
          <a:p>
            <a:r>
              <a:rPr lang="en-US" sz="1400" dirty="0"/>
              <a:t>	void </a:t>
            </a:r>
            <a:r>
              <a:rPr lang="en-US" sz="1400" b="1" dirty="0"/>
              <a:t>accept</a:t>
            </a:r>
            <a:r>
              <a:rPr lang="en-US" sz="1400" dirty="0"/>
              <a:t>(</a:t>
            </a:r>
            <a:r>
              <a:rPr lang="en-US" sz="1400" b="1" dirty="0" err="1"/>
              <a:t>ShapeVisitor</a:t>
            </a:r>
            <a:r>
              <a:rPr lang="en-US" sz="1400" dirty="0"/>
              <a:t> visitor);</a:t>
            </a:r>
          </a:p>
          <a:p>
            <a:r>
              <a:rPr lang="en-US" sz="1400" dirty="0"/>
              <a:t>}</a:t>
            </a:r>
            <a:br>
              <a:rPr lang="en-US" sz="1400" dirty="0"/>
            </a:br>
            <a:br>
              <a:rPr lang="en-US" sz="1400" dirty="0"/>
            </a:br>
            <a:r>
              <a:rPr lang="en-US" sz="1400" dirty="0"/>
              <a:t>class Circle extends Shape {</a:t>
            </a:r>
          </a:p>
          <a:p>
            <a:r>
              <a:rPr lang="en-US" sz="1400" dirty="0"/>
              <a:t>	/// … fields and getters/setters</a:t>
            </a:r>
          </a:p>
          <a:p>
            <a:r>
              <a:rPr lang="en-US" sz="1400" dirty="0"/>
              <a:t>	void </a:t>
            </a:r>
            <a:r>
              <a:rPr lang="en-US" sz="1400" b="1" dirty="0"/>
              <a:t>accept</a:t>
            </a:r>
            <a:r>
              <a:rPr lang="en-US" sz="1400" dirty="0"/>
              <a:t>(</a:t>
            </a:r>
            <a:r>
              <a:rPr lang="en-US" sz="1400" b="1" dirty="0" err="1"/>
              <a:t>ShapeVisitor</a:t>
            </a:r>
            <a:r>
              <a:rPr lang="en-US" sz="1400" dirty="0"/>
              <a:t> visitor) {</a:t>
            </a:r>
          </a:p>
          <a:p>
            <a:r>
              <a:rPr lang="en-US" sz="1400" dirty="0"/>
              <a:t>		</a:t>
            </a:r>
            <a:r>
              <a:rPr lang="en-US" sz="1400" dirty="0" err="1"/>
              <a:t>visitor.visit</a:t>
            </a:r>
            <a:r>
              <a:rPr lang="en-US" sz="1400" dirty="0"/>
              <a:t>(this);</a:t>
            </a:r>
          </a:p>
          <a:p>
            <a:r>
              <a:rPr lang="en-US" sz="1400" dirty="0"/>
              <a:t>	}</a:t>
            </a:r>
          </a:p>
          <a:p>
            <a:r>
              <a:rPr lang="en-US" sz="1400" dirty="0"/>
              <a:t>}</a:t>
            </a:r>
          </a:p>
          <a:p>
            <a:endParaRPr lang="en-US" sz="1400" dirty="0"/>
          </a:p>
          <a:p>
            <a:r>
              <a:rPr lang="en-US" sz="1400" dirty="0"/>
              <a:t>class Rectangle extends Shape {</a:t>
            </a:r>
          </a:p>
          <a:p>
            <a:r>
              <a:rPr lang="en-US" sz="1400" dirty="0"/>
              <a:t>	/// … </a:t>
            </a:r>
          </a:p>
          <a:p>
            <a:r>
              <a:rPr lang="en-US" sz="1400" dirty="0"/>
              <a:t>	void </a:t>
            </a:r>
            <a:r>
              <a:rPr lang="en-US" sz="1400" b="1" dirty="0"/>
              <a:t>accept</a:t>
            </a:r>
            <a:r>
              <a:rPr lang="en-US" sz="1400" dirty="0"/>
              <a:t>(</a:t>
            </a:r>
            <a:r>
              <a:rPr lang="en-US" sz="1400" b="1" dirty="0" err="1"/>
              <a:t>ShapeVisitor</a:t>
            </a:r>
            <a:r>
              <a:rPr lang="en-US" sz="1400" dirty="0"/>
              <a:t> visitor) {</a:t>
            </a:r>
          </a:p>
          <a:p>
            <a:r>
              <a:rPr lang="en-US" sz="1400" dirty="0"/>
              <a:t>		</a:t>
            </a:r>
            <a:r>
              <a:rPr lang="en-US" sz="1400" dirty="0" err="1"/>
              <a:t>visitor.visit</a:t>
            </a:r>
            <a:r>
              <a:rPr lang="en-US" sz="1400" dirty="0"/>
              <a:t>(this);</a:t>
            </a:r>
          </a:p>
          <a:p>
            <a:r>
              <a:rPr lang="en-US" sz="1400" dirty="0"/>
              <a:t>	}</a:t>
            </a:r>
          </a:p>
          <a:p>
            <a:r>
              <a:rPr lang="en-US" sz="1400" dirty="0"/>
              <a:t>}</a:t>
            </a:r>
          </a:p>
        </p:txBody>
      </p:sp>
      <p:sp>
        <p:nvSpPr>
          <p:cNvPr id="5" name="Title 4">
            <a:extLst>
              <a:ext uri="{FF2B5EF4-FFF2-40B4-BE49-F238E27FC236}">
                <a16:creationId xmlns:a16="http://schemas.microsoft.com/office/drawing/2014/main" id="{F509E971-9715-6F98-7EA0-B82F694EE417}"/>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209F2420-A4E4-7E64-B021-1EB356D2BB24}"/>
              </a:ext>
            </a:extLst>
          </p:cNvPr>
          <p:cNvSpPr>
            <a:spLocks noGrp="1"/>
          </p:cNvSpPr>
          <p:nvPr>
            <p:ph idx="13"/>
          </p:nvPr>
        </p:nvSpPr>
        <p:spPr/>
        <p:txBody>
          <a:bodyPr>
            <a:noAutofit/>
          </a:bodyPr>
          <a:lstStyle/>
          <a:p>
            <a:pPr marL="0" indent="0">
              <a:spcBef>
                <a:spcPts val="0"/>
              </a:spcBef>
              <a:spcAft>
                <a:spcPts val="0"/>
              </a:spcAft>
              <a:buNone/>
              <a:tabLst>
                <a:tab pos="461963" algn="l"/>
              </a:tabLst>
            </a:pPr>
            <a:r>
              <a:rPr lang="en-US" sz="1400" dirty="0">
                <a:latin typeface="Consolas" panose="020B0609020204030204" pitchFamily="49" charset="0"/>
              </a:rPr>
              <a:t>abstract class </a:t>
            </a:r>
            <a:r>
              <a:rPr lang="en-US" sz="1400" dirty="0" err="1">
                <a:latin typeface="Consolas" panose="020B0609020204030204" pitchFamily="49" charset="0"/>
              </a:rPr>
              <a:t>ShapeVisitor</a:t>
            </a: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void visit(Circle circle) {}</a:t>
            </a:r>
          </a:p>
          <a:p>
            <a:pPr marL="0" indent="0">
              <a:spcBef>
                <a:spcPts val="0"/>
              </a:spcBef>
              <a:spcAft>
                <a:spcPts val="0"/>
              </a:spcAft>
              <a:buNone/>
              <a:tabLst>
                <a:tab pos="461963" algn="l"/>
              </a:tabLst>
            </a:pPr>
            <a:r>
              <a:rPr lang="en-US" sz="1400" dirty="0">
                <a:latin typeface="Consolas" panose="020B0609020204030204" pitchFamily="49" charset="0"/>
              </a:rPr>
              <a:t>    void visit(Rectangle rectangle) {}</a:t>
            </a:r>
          </a:p>
          <a:p>
            <a:pPr marL="0" indent="0">
              <a:spcBef>
                <a:spcPts val="0"/>
              </a:spcBef>
              <a:spcAft>
                <a:spcPts val="0"/>
              </a:spcAft>
              <a:buNone/>
              <a:tabLst>
                <a:tab pos="461963" algn="l"/>
              </a:tabLst>
            </a:pPr>
            <a:r>
              <a:rPr lang="en-US" sz="1400" dirty="0">
                <a:latin typeface="Consolas" panose="020B0609020204030204" pitchFamily="49" charset="0"/>
              </a:rPr>
              <a:t>    void visit(</a:t>
            </a:r>
            <a:r>
              <a:rPr lang="en-US" sz="1400" dirty="0" err="1">
                <a:latin typeface="Consolas" panose="020B0609020204030204" pitchFamily="49" charset="0"/>
              </a:rPr>
              <a:t>CompoundShape</a:t>
            </a:r>
            <a:r>
              <a:rPr lang="en-US" sz="1400" dirty="0">
                <a:latin typeface="Consolas" panose="020B0609020204030204" pitchFamily="49" charset="0"/>
              </a:rPr>
              <a:t> c) {</a:t>
            </a:r>
          </a:p>
          <a:p>
            <a:pPr marL="0" indent="0">
              <a:spcBef>
                <a:spcPts val="0"/>
              </a:spcBef>
              <a:spcAft>
                <a:spcPts val="0"/>
              </a:spcAft>
              <a:buNone/>
              <a:tabLst>
                <a:tab pos="461963" algn="l"/>
              </a:tabLst>
            </a:pPr>
            <a:r>
              <a:rPr lang="en-US" sz="1400" dirty="0">
                <a:latin typeface="Consolas" panose="020B0609020204030204" pitchFamily="49" charset="0"/>
              </a:rPr>
              <a:t>		for (Shape </a:t>
            </a:r>
            <a:r>
              <a:rPr lang="en-US" sz="1400" dirty="0" err="1">
                <a:latin typeface="Consolas" panose="020B0609020204030204" pitchFamily="49" charset="0"/>
              </a:rPr>
              <a:t>shape</a:t>
            </a:r>
            <a:r>
              <a:rPr lang="en-US" sz="1400" dirty="0">
                <a:latin typeface="Consolas" panose="020B0609020204030204" pitchFamily="49" charset="0"/>
              </a:rPr>
              <a:t>: </a:t>
            </a:r>
            <a:r>
              <a:rPr lang="en-US" sz="1400" dirty="0" err="1">
                <a:latin typeface="Consolas" panose="020B0609020204030204" pitchFamily="49" charset="0"/>
              </a:rPr>
              <a:t>c.getShapeList</a:t>
            </a: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a:t>
            </a:r>
            <a:r>
              <a:rPr lang="en-US" sz="1400" dirty="0" err="1">
                <a:latin typeface="Consolas" panose="020B0609020204030204" pitchFamily="49" charset="0"/>
              </a:rPr>
              <a:t>shape.</a:t>
            </a:r>
            <a:r>
              <a:rPr lang="en-US" sz="1400" b="1" dirty="0" err="1">
                <a:latin typeface="Consolas" panose="020B0609020204030204" pitchFamily="49" charset="0"/>
              </a:rPr>
              <a:t>accept</a:t>
            </a:r>
            <a:r>
              <a:rPr lang="en-US" sz="1400" dirty="0">
                <a:latin typeface="Consolas" panose="020B0609020204030204" pitchFamily="49" charset="0"/>
              </a:rPr>
              <a:t>(this);</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a:t>
            </a:r>
          </a:p>
          <a:p>
            <a:pPr marL="0" indent="0">
              <a:spcBef>
                <a:spcPts val="0"/>
              </a:spcBef>
              <a:spcAft>
                <a:spcPts val="0"/>
              </a:spcAft>
              <a:buNone/>
              <a:tabLst>
                <a:tab pos="461963" algn="l"/>
              </a:tabLst>
            </a:pPr>
            <a:endParaRPr lang="en-US" sz="1400" dirty="0">
              <a:latin typeface="Consolas" panose="020B0609020204030204" pitchFamily="49" charset="0"/>
            </a:endParaRPr>
          </a:p>
          <a:p>
            <a:pPr marL="0" indent="0">
              <a:spcBef>
                <a:spcPts val="0"/>
              </a:spcBef>
              <a:spcAft>
                <a:spcPts val="0"/>
              </a:spcAft>
              <a:buNone/>
              <a:tabLst>
                <a:tab pos="461963" algn="l"/>
              </a:tabLst>
            </a:pPr>
            <a:r>
              <a:rPr lang="en-US" sz="1400" dirty="0">
                <a:latin typeface="Consolas" panose="020B0609020204030204" pitchFamily="49" charset="0"/>
              </a:rPr>
              <a:t>class </a:t>
            </a:r>
            <a:r>
              <a:rPr lang="en-US" sz="1400" dirty="0" err="1">
                <a:latin typeface="Consolas" panose="020B0609020204030204" pitchFamily="49" charset="0"/>
              </a:rPr>
              <a:t>TranslationVisitor</a:t>
            </a:r>
            <a:r>
              <a:rPr lang="en-US" sz="1400" dirty="0">
                <a:latin typeface="Consolas" panose="020B0609020204030204" pitchFamily="49" charset="0"/>
              </a:rPr>
              <a:t> extends </a:t>
            </a:r>
            <a:r>
              <a:rPr lang="en-US" sz="1400" dirty="0" err="1">
                <a:latin typeface="Consolas" panose="020B0609020204030204" pitchFamily="49" charset="0"/>
              </a:rPr>
              <a:t>ShapeVisitor</a:t>
            </a:r>
            <a:r>
              <a:rPr lang="en-US" sz="1400" dirty="0">
                <a:latin typeface="Consolas" panose="020B0609020204030204" pitchFamily="49" charset="0"/>
              </a:rPr>
              <a:t> {</a:t>
            </a:r>
            <a:br>
              <a:rPr lang="en-US" sz="1400" dirty="0">
                <a:latin typeface="Consolas" panose="020B0609020204030204" pitchFamily="49" charset="0"/>
              </a:rPr>
            </a:br>
            <a:r>
              <a:rPr lang="en-US" sz="1400" dirty="0">
                <a:latin typeface="Consolas" panose="020B0609020204030204" pitchFamily="49" charset="0"/>
              </a:rPr>
              <a:t>	</a:t>
            </a:r>
            <a:r>
              <a:rPr lang="en-US" sz="1400" dirty="0" err="1">
                <a:latin typeface="Consolas" panose="020B0609020204030204" pitchFamily="49" charset="0"/>
              </a:rPr>
              <a:t>TranslationVisitor</a:t>
            </a:r>
            <a:r>
              <a:rPr lang="en-US" sz="1400" dirty="0">
                <a:latin typeface="Consolas" panose="020B0609020204030204" pitchFamily="49" charset="0"/>
              </a:rPr>
              <a:t>(int x, int y) { //.. }</a:t>
            </a:r>
          </a:p>
          <a:p>
            <a:pPr marL="0" indent="0">
              <a:spcBef>
                <a:spcPts val="0"/>
              </a:spcBef>
              <a:spcAft>
                <a:spcPts val="0"/>
              </a:spcAft>
              <a:buNone/>
              <a:tabLst>
                <a:tab pos="461963" algn="l"/>
              </a:tabLst>
            </a:pPr>
            <a:r>
              <a:rPr lang="en-US" sz="1400" dirty="0">
                <a:latin typeface="Consolas" panose="020B0609020204030204" pitchFamily="49" charset="0"/>
              </a:rPr>
              <a:t>    	public void visit(Triangle t) {</a:t>
            </a:r>
          </a:p>
          <a:p>
            <a:pPr marL="0" indent="0">
              <a:spcBef>
                <a:spcPts val="0"/>
              </a:spcBef>
              <a:spcAft>
                <a:spcPts val="0"/>
              </a:spcAft>
              <a:buNone/>
              <a:tabLst>
                <a:tab pos="461963" algn="l"/>
              </a:tabLst>
            </a:pPr>
            <a:r>
              <a:rPr lang="en-US" sz="1400" dirty="0">
                <a:latin typeface="Consolas" panose="020B0609020204030204" pitchFamily="49" charset="0"/>
              </a:rPr>
              <a:t>        	/// translate 3 points		</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public void visit(Rectangle rectangle) {</a:t>
            </a:r>
          </a:p>
          <a:p>
            <a:pPr marL="0" indent="0">
              <a:spcBef>
                <a:spcPts val="0"/>
              </a:spcBef>
              <a:spcAft>
                <a:spcPts val="0"/>
              </a:spcAft>
              <a:buNone/>
              <a:tabLst>
                <a:tab pos="461963" algn="l"/>
              </a:tabLst>
            </a:pPr>
            <a:r>
              <a:rPr lang="en-US" sz="1400" dirty="0">
                <a:latin typeface="Consolas" panose="020B0609020204030204" pitchFamily="49" charset="0"/>
              </a:rPr>
              <a:t>		// translate 4 points</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a:t>
            </a:r>
          </a:p>
          <a:p>
            <a:pPr marL="0" indent="0">
              <a:buNone/>
            </a:pPr>
            <a:endParaRPr lang="en-US" sz="200" dirty="0"/>
          </a:p>
        </p:txBody>
      </p:sp>
      <p:sp>
        <p:nvSpPr>
          <p:cNvPr id="8" name="TextBox 7">
            <a:extLst>
              <a:ext uri="{FF2B5EF4-FFF2-40B4-BE49-F238E27FC236}">
                <a16:creationId xmlns:a16="http://schemas.microsoft.com/office/drawing/2014/main" id="{60800C92-B66D-6DAD-1C90-89C6C8A5243A}"/>
              </a:ext>
            </a:extLst>
          </p:cNvPr>
          <p:cNvSpPr txBox="1"/>
          <p:nvPr/>
        </p:nvSpPr>
        <p:spPr>
          <a:xfrm>
            <a:off x="894768" y="2908120"/>
            <a:ext cx="5201232" cy="400110"/>
          </a:xfrm>
          <a:prstGeom prst="rect">
            <a:avLst/>
          </a:prstGeom>
          <a:noFill/>
        </p:spPr>
        <p:txBody>
          <a:bodyPr wrap="square" rtlCol="0">
            <a:spAutoFit/>
          </a:bodyPr>
          <a:lstStyle/>
          <a:p>
            <a:r>
              <a:rPr lang="en-US" sz="2000" b="1" i="1" dirty="0"/>
              <a:t>Visitors encapsulate the operation logic</a:t>
            </a:r>
          </a:p>
        </p:txBody>
      </p:sp>
      <p:sp>
        <p:nvSpPr>
          <p:cNvPr id="9" name="TextBox 8">
            <a:extLst>
              <a:ext uri="{FF2B5EF4-FFF2-40B4-BE49-F238E27FC236}">
                <a16:creationId xmlns:a16="http://schemas.microsoft.com/office/drawing/2014/main" id="{5F4A4D6B-8C6B-7423-4516-20BCFF84DA6A}"/>
              </a:ext>
            </a:extLst>
          </p:cNvPr>
          <p:cNvSpPr txBox="1"/>
          <p:nvPr/>
        </p:nvSpPr>
        <p:spPr>
          <a:xfrm>
            <a:off x="6392602" y="4663542"/>
            <a:ext cx="5201232" cy="707886"/>
          </a:xfrm>
          <a:prstGeom prst="rect">
            <a:avLst/>
          </a:prstGeom>
          <a:noFill/>
        </p:spPr>
        <p:txBody>
          <a:bodyPr wrap="square" rtlCol="0">
            <a:spAutoFit/>
          </a:bodyPr>
          <a:lstStyle/>
          <a:p>
            <a:r>
              <a:rPr lang="en-US" sz="2000" b="1" i="1" dirty="0"/>
              <a:t>Shapes provide an accept method to accept a visitor and invoke it</a:t>
            </a:r>
          </a:p>
        </p:txBody>
      </p:sp>
    </p:spTree>
    <p:extLst>
      <p:ext uri="{BB962C8B-B14F-4D97-AF65-F5344CB8AC3E}">
        <p14:creationId xmlns:p14="http://schemas.microsoft.com/office/powerpoint/2010/main" val="1866438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xit" presetSubtype="0" fill="hold" grpId="1" nodeType="withEffect">
                                  <p:stCondLst>
                                    <p:cond delay="0"/>
                                  </p:stCondLst>
                                  <p:childTnLst>
                                    <p:set>
                                      <p:cBhvr>
                                        <p:cTn id="8" dur="1" fill="hold">
                                          <p:stCondLst>
                                            <p:cond delay="0"/>
                                          </p:stCondLst>
                                        </p:cTn>
                                        <p:tgtEl>
                                          <p:spTgt spid="8"/>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xit" presetSubtype="0" fill="hold" grpId="1" nodeType="with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8" grpId="1"/>
      <p:bldP spid="9" grpId="0"/>
      <p:bldP spid="9" grpId="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E1247-DFFA-4A9D-8C3C-3A5E26945546}"/>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1BEE49D9-96D8-ED49-3C17-9C44B279E0DE}"/>
              </a:ext>
            </a:extLst>
          </p:cNvPr>
          <p:cNvSpPr>
            <a:spLocks noGrp="1"/>
          </p:cNvSpPr>
          <p:nvPr>
            <p:ph idx="1"/>
          </p:nvPr>
        </p:nvSpPr>
        <p:spPr/>
        <p:txBody>
          <a:bodyPr>
            <a:normAutofit/>
          </a:bodyPr>
          <a:lstStyle/>
          <a:p>
            <a:r>
              <a:rPr lang="en-US" sz="1400" dirty="0"/>
              <a:t>abstract class Shape {</a:t>
            </a:r>
          </a:p>
          <a:p>
            <a:r>
              <a:rPr lang="en-US" sz="1400" dirty="0"/>
              <a:t>	void </a:t>
            </a:r>
            <a:r>
              <a:rPr lang="en-US" sz="1400" b="1" dirty="0"/>
              <a:t>accept</a:t>
            </a:r>
            <a:r>
              <a:rPr lang="en-US" sz="1400" dirty="0"/>
              <a:t>(</a:t>
            </a:r>
            <a:r>
              <a:rPr lang="en-US" sz="1400" b="1" dirty="0" err="1"/>
              <a:t>ShapeVisitor</a:t>
            </a:r>
            <a:r>
              <a:rPr lang="en-US" sz="1400" dirty="0"/>
              <a:t> visitor);</a:t>
            </a:r>
          </a:p>
          <a:p>
            <a:r>
              <a:rPr lang="en-US" sz="1400" dirty="0"/>
              <a:t>}</a:t>
            </a:r>
            <a:br>
              <a:rPr lang="en-US" sz="1400" dirty="0"/>
            </a:br>
            <a:br>
              <a:rPr lang="en-US" sz="1400" dirty="0"/>
            </a:br>
            <a:r>
              <a:rPr lang="en-US" sz="1400" dirty="0"/>
              <a:t>class Circle extends Shape {</a:t>
            </a:r>
          </a:p>
          <a:p>
            <a:r>
              <a:rPr lang="en-US" sz="1400" dirty="0"/>
              <a:t>	/// … fields and getters/setters</a:t>
            </a:r>
          </a:p>
          <a:p>
            <a:r>
              <a:rPr lang="en-US" sz="1400" dirty="0"/>
              <a:t>	void </a:t>
            </a:r>
            <a:r>
              <a:rPr lang="en-US" sz="1400" b="1" dirty="0"/>
              <a:t>accept</a:t>
            </a:r>
            <a:r>
              <a:rPr lang="en-US" sz="1400" dirty="0"/>
              <a:t>(</a:t>
            </a:r>
            <a:r>
              <a:rPr lang="en-US" sz="1400" b="1" dirty="0" err="1"/>
              <a:t>ShapeVisitor</a:t>
            </a:r>
            <a:r>
              <a:rPr lang="en-US" sz="1400" dirty="0"/>
              <a:t> visitor) {</a:t>
            </a:r>
          </a:p>
          <a:p>
            <a:r>
              <a:rPr lang="en-US" sz="1400" dirty="0"/>
              <a:t>		</a:t>
            </a:r>
            <a:r>
              <a:rPr lang="en-US" sz="1400" dirty="0" err="1"/>
              <a:t>visitor.visit</a:t>
            </a:r>
            <a:r>
              <a:rPr lang="en-US" sz="1400" dirty="0"/>
              <a:t>(this);</a:t>
            </a:r>
          </a:p>
          <a:p>
            <a:r>
              <a:rPr lang="en-US" sz="1400" dirty="0"/>
              <a:t>	}</a:t>
            </a:r>
          </a:p>
          <a:p>
            <a:r>
              <a:rPr lang="en-US" sz="1400" dirty="0"/>
              <a:t>}</a:t>
            </a:r>
          </a:p>
          <a:p>
            <a:endParaRPr lang="en-US" sz="1400" dirty="0"/>
          </a:p>
          <a:p>
            <a:r>
              <a:rPr lang="en-US" sz="1400" dirty="0"/>
              <a:t>class Rectangle extends Shape {</a:t>
            </a:r>
          </a:p>
          <a:p>
            <a:r>
              <a:rPr lang="en-US" sz="1400" dirty="0"/>
              <a:t>	/// … </a:t>
            </a:r>
          </a:p>
          <a:p>
            <a:r>
              <a:rPr lang="en-US" sz="1400" dirty="0"/>
              <a:t>	void </a:t>
            </a:r>
            <a:r>
              <a:rPr lang="en-US" sz="1400" b="1" dirty="0"/>
              <a:t>accept</a:t>
            </a:r>
            <a:r>
              <a:rPr lang="en-US" sz="1400" dirty="0"/>
              <a:t>(</a:t>
            </a:r>
            <a:r>
              <a:rPr lang="en-US" sz="1400" b="1" dirty="0" err="1"/>
              <a:t>ShapeVisitor</a:t>
            </a:r>
            <a:r>
              <a:rPr lang="en-US" sz="1400" dirty="0"/>
              <a:t> visitor) {</a:t>
            </a:r>
          </a:p>
          <a:p>
            <a:r>
              <a:rPr lang="en-US" sz="1400" dirty="0"/>
              <a:t>		</a:t>
            </a:r>
            <a:r>
              <a:rPr lang="en-US" sz="1400" dirty="0" err="1"/>
              <a:t>visitor.visit</a:t>
            </a:r>
            <a:r>
              <a:rPr lang="en-US" sz="1400" dirty="0"/>
              <a:t>(this);</a:t>
            </a:r>
          </a:p>
          <a:p>
            <a:r>
              <a:rPr lang="en-US" sz="1400" dirty="0"/>
              <a:t>	}</a:t>
            </a:r>
          </a:p>
          <a:p>
            <a:r>
              <a:rPr lang="en-US" sz="1400" dirty="0"/>
              <a:t>}</a:t>
            </a:r>
          </a:p>
        </p:txBody>
      </p:sp>
      <p:sp>
        <p:nvSpPr>
          <p:cNvPr id="5" name="Title 4">
            <a:extLst>
              <a:ext uri="{FF2B5EF4-FFF2-40B4-BE49-F238E27FC236}">
                <a16:creationId xmlns:a16="http://schemas.microsoft.com/office/drawing/2014/main" id="{E3084EA2-A2CF-8F2F-C89C-1BE9078B05F0}"/>
              </a:ext>
            </a:extLst>
          </p:cNvPr>
          <p:cNvSpPr>
            <a:spLocks noGrp="1"/>
          </p:cNvSpPr>
          <p:nvPr>
            <p:ph type="title"/>
          </p:nvPr>
        </p:nvSpPr>
        <p:spPr/>
        <p:txBody>
          <a:bodyPr/>
          <a:lstStyle/>
          <a:p>
            <a:r>
              <a:rPr lang="en-US" dirty="0"/>
              <a:t>Visitor design pattern – putting it all together</a:t>
            </a:r>
          </a:p>
        </p:txBody>
      </p:sp>
      <p:sp>
        <p:nvSpPr>
          <p:cNvPr id="7" name="Content Placeholder 6">
            <a:extLst>
              <a:ext uri="{FF2B5EF4-FFF2-40B4-BE49-F238E27FC236}">
                <a16:creationId xmlns:a16="http://schemas.microsoft.com/office/drawing/2014/main" id="{C8D59AAA-842B-DB97-D096-DDBED2FF5285}"/>
              </a:ext>
            </a:extLst>
          </p:cNvPr>
          <p:cNvSpPr>
            <a:spLocks noGrp="1"/>
          </p:cNvSpPr>
          <p:nvPr>
            <p:ph idx="13"/>
          </p:nvPr>
        </p:nvSpPr>
        <p:spPr/>
        <p:txBody>
          <a:bodyPr>
            <a:noAutofit/>
          </a:bodyPr>
          <a:lstStyle/>
          <a:p>
            <a:pPr marL="0" indent="0">
              <a:spcBef>
                <a:spcPts val="0"/>
              </a:spcBef>
              <a:spcAft>
                <a:spcPts val="0"/>
              </a:spcAft>
              <a:buNone/>
              <a:tabLst>
                <a:tab pos="461963" algn="l"/>
              </a:tabLst>
            </a:pPr>
            <a:r>
              <a:rPr lang="en-US" sz="1400" dirty="0">
                <a:latin typeface="Consolas" panose="020B0609020204030204" pitchFamily="49" charset="0"/>
              </a:rPr>
              <a:t>abstract class </a:t>
            </a:r>
            <a:r>
              <a:rPr lang="en-US" sz="1400" dirty="0" err="1">
                <a:latin typeface="Consolas" panose="020B0609020204030204" pitchFamily="49" charset="0"/>
              </a:rPr>
              <a:t>ShapeVisitor</a:t>
            </a: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void visit(Circle circle) {}</a:t>
            </a:r>
          </a:p>
          <a:p>
            <a:pPr marL="0" indent="0">
              <a:spcBef>
                <a:spcPts val="0"/>
              </a:spcBef>
              <a:spcAft>
                <a:spcPts val="0"/>
              </a:spcAft>
              <a:buNone/>
              <a:tabLst>
                <a:tab pos="461963" algn="l"/>
              </a:tabLst>
            </a:pPr>
            <a:r>
              <a:rPr lang="en-US" sz="1400" dirty="0">
                <a:latin typeface="Consolas" panose="020B0609020204030204" pitchFamily="49" charset="0"/>
              </a:rPr>
              <a:t>    void visit(Rectangle rectangle) {}</a:t>
            </a:r>
          </a:p>
          <a:p>
            <a:pPr marL="0" indent="0">
              <a:spcBef>
                <a:spcPts val="0"/>
              </a:spcBef>
              <a:spcAft>
                <a:spcPts val="0"/>
              </a:spcAft>
              <a:buNone/>
              <a:tabLst>
                <a:tab pos="461963" algn="l"/>
              </a:tabLst>
            </a:pPr>
            <a:r>
              <a:rPr lang="en-US" sz="1400" dirty="0">
                <a:latin typeface="Consolas" panose="020B0609020204030204" pitchFamily="49" charset="0"/>
              </a:rPr>
              <a:t>    void visit(</a:t>
            </a:r>
            <a:r>
              <a:rPr lang="en-US" sz="1400" dirty="0" err="1">
                <a:latin typeface="Consolas" panose="020B0609020204030204" pitchFamily="49" charset="0"/>
              </a:rPr>
              <a:t>CompoundShape</a:t>
            </a:r>
            <a:r>
              <a:rPr lang="en-US" sz="1400" dirty="0">
                <a:latin typeface="Consolas" panose="020B0609020204030204" pitchFamily="49" charset="0"/>
              </a:rPr>
              <a:t> c) {</a:t>
            </a:r>
          </a:p>
          <a:p>
            <a:pPr marL="0" indent="0">
              <a:spcBef>
                <a:spcPts val="0"/>
              </a:spcBef>
              <a:spcAft>
                <a:spcPts val="0"/>
              </a:spcAft>
              <a:buNone/>
              <a:tabLst>
                <a:tab pos="461963" algn="l"/>
              </a:tabLst>
            </a:pPr>
            <a:r>
              <a:rPr lang="en-US" sz="1400" dirty="0">
                <a:latin typeface="Consolas" panose="020B0609020204030204" pitchFamily="49" charset="0"/>
              </a:rPr>
              <a:t>		for (Shape </a:t>
            </a:r>
            <a:r>
              <a:rPr lang="en-US" sz="1400" dirty="0" err="1">
                <a:latin typeface="Consolas" panose="020B0609020204030204" pitchFamily="49" charset="0"/>
              </a:rPr>
              <a:t>shape</a:t>
            </a:r>
            <a:r>
              <a:rPr lang="en-US" sz="1400" dirty="0">
                <a:latin typeface="Consolas" panose="020B0609020204030204" pitchFamily="49" charset="0"/>
              </a:rPr>
              <a:t>: </a:t>
            </a:r>
            <a:r>
              <a:rPr lang="en-US" sz="1400" dirty="0" err="1">
                <a:latin typeface="Consolas" panose="020B0609020204030204" pitchFamily="49" charset="0"/>
              </a:rPr>
              <a:t>c.getShapeList</a:t>
            </a: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a:t>
            </a:r>
            <a:r>
              <a:rPr lang="en-US" sz="1400" dirty="0" err="1">
                <a:latin typeface="Consolas" panose="020B0609020204030204" pitchFamily="49" charset="0"/>
              </a:rPr>
              <a:t>shape.</a:t>
            </a:r>
            <a:r>
              <a:rPr lang="en-US" sz="1400" b="1" dirty="0" err="1">
                <a:latin typeface="Consolas" panose="020B0609020204030204" pitchFamily="49" charset="0"/>
              </a:rPr>
              <a:t>accept</a:t>
            </a:r>
            <a:r>
              <a:rPr lang="en-US" sz="1400" dirty="0">
                <a:latin typeface="Consolas" panose="020B0609020204030204" pitchFamily="49" charset="0"/>
              </a:rPr>
              <a:t>(this);</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a:t>
            </a:r>
          </a:p>
          <a:p>
            <a:pPr marL="0" indent="0">
              <a:spcBef>
                <a:spcPts val="0"/>
              </a:spcBef>
              <a:spcAft>
                <a:spcPts val="0"/>
              </a:spcAft>
              <a:buNone/>
              <a:tabLst>
                <a:tab pos="461963" algn="l"/>
              </a:tabLst>
            </a:pPr>
            <a:endParaRPr lang="en-US" sz="1400" dirty="0">
              <a:latin typeface="Consolas" panose="020B0609020204030204" pitchFamily="49" charset="0"/>
            </a:endParaRPr>
          </a:p>
          <a:p>
            <a:pPr marL="0" indent="0">
              <a:spcBef>
                <a:spcPts val="0"/>
              </a:spcBef>
              <a:spcAft>
                <a:spcPts val="0"/>
              </a:spcAft>
              <a:buNone/>
              <a:tabLst>
                <a:tab pos="461963" algn="l"/>
              </a:tabLst>
            </a:pPr>
            <a:r>
              <a:rPr lang="en-US" sz="1400" dirty="0">
                <a:latin typeface="Consolas" panose="020B0609020204030204" pitchFamily="49" charset="0"/>
              </a:rPr>
              <a:t>class </a:t>
            </a:r>
            <a:r>
              <a:rPr lang="en-US" sz="1400" dirty="0" err="1">
                <a:latin typeface="Consolas" panose="020B0609020204030204" pitchFamily="49" charset="0"/>
              </a:rPr>
              <a:t>TranslationVisitor</a:t>
            </a:r>
            <a:r>
              <a:rPr lang="en-US" sz="1400" dirty="0">
                <a:latin typeface="Consolas" panose="020B0609020204030204" pitchFamily="49" charset="0"/>
              </a:rPr>
              <a:t> extends </a:t>
            </a:r>
            <a:r>
              <a:rPr lang="en-US" sz="1400" dirty="0" err="1">
                <a:latin typeface="Consolas" panose="020B0609020204030204" pitchFamily="49" charset="0"/>
              </a:rPr>
              <a:t>ShapeVisitor</a:t>
            </a:r>
            <a:r>
              <a:rPr lang="en-US" sz="1400" dirty="0">
                <a:latin typeface="Consolas" panose="020B0609020204030204" pitchFamily="49" charset="0"/>
              </a:rPr>
              <a:t> {</a:t>
            </a:r>
            <a:br>
              <a:rPr lang="en-US" sz="1400" dirty="0">
                <a:latin typeface="Consolas" panose="020B0609020204030204" pitchFamily="49" charset="0"/>
              </a:rPr>
            </a:br>
            <a:r>
              <a:rPr lang="en-US" sz="1400" dirty="0">
                <a:latin typeface="Consolas" panose="020B0609020204030204" pitchFamily="49" charset="0"/>
              </a:rPr>
              <a:t>	</a:t>
            </a:r>
            <a:r>
              <a:rPr lang="en-US" sz="1400" dirty="0" err="1">
                <a:latin typeface="Consolas" panose="020B0609020204030204" pitchFamily="49" charset="0"/>
              </a:rPr>
              <a:t>TranslationVisitor</a:t>
            </a:r>
            <a:r>
              <a:rPr lang="en-US" sz="1400" dirty="0">
                <a:latin typeface="Consolas" panose="020B0609020204030204" pitchFamily="49" charset="0"/>
              </a:rPr>
              <a:t>(int x, int y) { //.. }</a:t>
            </a:r>
          </a:p>
          <a:p>
            <a:pPr marL="0" indent="0">
              <a:spcBef>
                <a:spcPts val="0"/>
              </a:spcBef>
              <a:spcAft>
                <a:spcPts val="0"/>
              </a:spcAft>
              <a:buNone/>
              <a:tabLst>
                <a:tab pos="461963" algn="l"/>
              </a:tabLst>
            </a:pPr>
            <a:r>
              <a:rPr lang="en-US" sz="1400" dirty="0">
                <a:latin typeface="Consolas" panose="020B0609020204030204" pitchFamily="49" charset="0"/>
              </a:rPr>
              <a:t>    	public void visit(Triangle t) {</a:t>
            </a:r>
          </a:p>
          <a:p>
            <a:pPr marL="0" indent="0">
              <a:spcBef>
                <a:spcPts val="0"/>
              </a:spcBef>
              <a:spcAft>
                <a:spcPts val="0"/>
              </a:spcAft>
              <a:buNone/>
              <a:tabLst>
                <a:tab pos="461963" algn="l"/>
              </a:tabLst>
            </a:pPr>
            <a:r>
              <a:rPr lang="en-US" sz="1400" dirty="0">
                <a:latin typeface="Consolas" panose="020B0609020204030204" pitchFamily="49" charset="0"/>
              </a:rPr>
              <a:t>        	/// translate 3 points		</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    	public void visit(Rectangle rectangle) {</a:t>
            </a:r>
          </a:p>
          <a:p>
            <a:pPr marL="0" indent="0">
              <a:spcBef>
                <a:spcPts val="0"/>
              </a:spcBef>
              <a:spcAft>
                <a:spcPts val="0"/>
              </a:spcAft>
              <a:buNone/>
              <a:tabLst>
                <a:tab pos="461963" algn="l"/>
              </a:tabLst>
            </a:pPr>
            <a:r>
              <a:rPr lang="en-US" sz="1400" dirty="0">
                <a:latin typeface="Consolas" panose="020B0609020204030204" pitchFamily="49" charset="0"/>
              </a:rPr>
              <a:t>		// translate 4 points</a:t>
            </a:r>
          </a:p>
          <a:p>
            <a:pPr marL="0" indent="0">
              <a:spcBef>
                <a:spcPts val="0"/>
              </a:spcBef>
              <a:spcAft>
                <a:spcPts val="0"/>
              </a:spcAft>
              <a:buNone/>
              <a:tabLst>
                <a:tab pos="461963" algn="l"/>
              </a:tabLst>
            </a:pPr>
            <a:r>
              <a:rPr lang="en-US" sz="1400" dirty="0">
                <a:latin typeface="Consolas" panose="020B0609020204030204" pitchFamily="49" charset="0"/>
              </a:rPr>
              <a:t>    	}</a:t>
            </a:r>
          </a:p>
          <a:p>
            <a:pPr marL="0" indent="0">
              <a:spcBef>
                <a:spcPts val="0"/>
              </a:spcBef>
              <a:spcAft>
                <a:spcPts val="0"/>
              </a:spcAft>
              <a:buNone/>
              <a:tabLst>
                <a:tab pos="461963" algn="l"/>
              </a:tabLst>
            </a:pPr>
            <a:r>
              <a:rPr lang="en-US" sz="1400" dirty="0">
                <a:latin typeface="Consolas" panose="020B0609020204030204" pitchFamily="49" charset="0"/>
              </a:rPr>
              <a:t>}</a:t>
            </a:r>
          </a:p>
          <a:p>
            <a:pPr marL="0" indent="0">
              <a:buNone/>
            </a:pPr>
            <a:endParaRPr lang="en-US" sz="200" dirty="0"/>
          </a:p>
        </p:txBody>
      </p:sp>
      <p:sp>
        <p:nvSpPr>
          <p:cNvPr id="8" name="TextBox 7">
            <a:extLst>
              <a:ext uri="{FF2B5EF4-FFF2-40B4-BE49-F238E27FC236}">
                <a16:creationId xmlns:a16="http://schemas.microsoft.com/office/drawing/2014/main" id="{64B2DB72-CB13-10F7-AE67-4ACCEDED8E80}"/>
              </a:ext>
            </a:extLst>
          </p:cNvPr>
          <p:cNvSpPr txBox="1"/>
          <p:nvPr/>
        </p:nvSpPr>
        <p:spPr>
          <a:xfrm>
            <a:off x="894768" y="2908120"/>
            <a:ext cx="5201232" cy="400110"/>
          </a:xfrm>
          <a:prstGeom prst="rect">
            <a:avLst/>
          </a:prstGeom>
          <a:noFill/>
        </p:spPr>
        <p:txBody>
          <a:bodyPr wrap="square" rtlCol="0">
            <a:spAutoFit/>
          </a:bodyPr>
          <a:lstStyle/>
          <a:p>
            <a:r>
              <a:rPr lang="en-US" sz="2000" b="1" i="1" dirty="0"/>
              <a:t>Visitors encapsulate the operation logic</a:t>
            </a:r>
          </a:p>
        </p:txBody>
      </p:sp>
      <p:sp>
        <p:nvSpPr>
          <p:cNvPr id="9" name="TextBox 8">
            <a:extLst>
              <a:ext uri="{FF2B5EF4-FFF2-40B4-BE49-F238E27FC236}">
                <a16:creationId xmlns:a16="http://schemas.microsoft.com/office/drawing/2014/main" id="{8617A6DF-77EA-AD22-C865-2BC439B5A0A8}"/>
              </a:ext>
            </a:extLst>
          </p:cNvPr>
          <p:cNvSpPr txBox="1"/>
          <p:nvPr/>
        </p:nvSpPr>
        <p:spPr>
          <a:xfrm>
            <a:off x="6392602" y="4663542"/>
            <a:ext cx="5201232" cy="707886"/>
          </a:xfrm>
          <a:prstGeom prst="rect">
            <a:avLst/>
          </a:prstGeom>
          <a:noFill/>
        </p:spPr>
        <p:txBody>
          <a:bodyPr wrap="square" rtlCol="0">
            <a:spAutoFit/>
          </a:bodyPr>
          <a:lstStyle/>
          <a:p>
            <a:r>
              <a:rPr lang="en-US" sz="2000" b="1" i="1" dirty="0"/>
              <a:t>Shapes provide an accept method to accept a visitor and invoke it</a:t>
            </a:r>
          </a:p>
        </p:txBody>
      </p:sp>
    </p:spTree>
    <p:extLst>
      <p:ext uri="{BB962C8B-B14F-4D97-AF65-F5344CB8AC3E}">
        <p14:creationId xmlns:p14="http://schemas.microsoft.com/office/powerpoint/2010/main" val="3512343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xit" presetSubtype="0" fill="hold" grpId="1" nodeType="withEffect">
                                  <p:stCondLst>
                                    <p:cond delay="0"/>
                                  </p:stCondLst>
                                  <p:childTnLst>
                                    <p:set>
                                      <p:cBhvr>
                                        <p:cTn id="8" dur="1" fill="hold">
                                          <p:stCondLst>
                                            <p:cond delay="0"/>
                                          </p:stCondLst>
                                        </p:cTn>
                                        <p:tgtEl>
                                          <p:spTgt spid="8"/>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xit" presetSubtype="0" fill="hold" grpId="1" nodeType="with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8" grpId="1"/>
      <p:bldP spid="9" grpId="0"/>
      <p:bldP spid="9" grpId="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D6866D56-3C3A-5D0A-BEE9-CF4178229849}"/>
              </a:ext>
            </a:extLst>
          </p:cNvPr>
          <p:cNvSpPr>
            <a:spLocks noGrp="1"/>
          </p:cNvSpPr>
          <p:nvPr>
            <p:ph idx="1"/>
          </p:nvPr>
        </p:nvSpPr>
        <p:spPr>
          <a:xfrm>
            <a:off x="6176512" y="785004"/>
            <a:ext cx="5633413" cy="5046453"/>
          </a:xfrm>
        </p:spPr>
        <p:txBody>
          <a:bodyPr>
            <a:normAutofit fontScale="92500" lnSpcReduction="10000"/>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public void visit(Rectangle rectangle) {</a:t>
            </a:r>
          </a:p>
          <a:p>
            <a:r>
              <a:rPr lang="en-US" dirty="0"/>
              <a:t>		// translate 4 points</a:t>
            </a:r>
          </a:p>
          <a:p>
            <a:r>
              <a:rPr lang="en-US" dirty="0"/>
              <a:t>    	}</a:t>
            </a:r>
          </a:p>
          <a:p>
            <a:endParaRPr lang="en-US" dirty="0"/>
          </a:p>
          <a:p>
            <a:r>
              <a:rPr lang="en-US" dirty="0"/>
              <a:t>}</a:t>
            </a:r>
          </a:p>
          <a:p>
            <a:endParaRPr lang="en-US" dirty="0"/>
          </a:p>
          <a:p>
            <a:r>
              <a:rPr lang="en-US" dirty="0"/>
              <a:t>Rectangle </a:t>
            </a:r>
            <a:r>
              <a:rPr lang="en-US" dirty="0" err="1"/>
              <a:t>rect</a:t>
            </a:r>
            <a:r>
              <a:rPr lang="en-US" dirty="0"/>
              <a:t> = new …; </a:t>
            </a:r>
          </a:p>
          <a:p>
            <a:r>
              <a:rPr lang="en-US" dirty="0"/>
              <a:t>Triangle </a:t>
            </a:r>
            <a:r>
              <a:rPr lang="en-US" dirty="0" err="1"/>
              <a:t>tria</a:t>
            </a:r>
            <a:r>
              <a:rPr lang="en-US" dirty="0"/>
              <a:t> = new …;</a:t>
            </a:r>
          </a:p>
          <a:p>
            <a:r>
              <a:rPr lang="en-US" dirty="0" err="1"/>
              <a:t>CompoundShape</a:t>
            </a:r>
            <a:r>
              <a:rPr lang="en-US" dirty="0"/>
              <a:t> </a:t>
            </a:r>
            <a:r>
              <a:rPr lang="en-US" dirty="0" err="1"/>
              <a:t>cShape</a:t>
            </a:r>
            <a:r>
              <a:rPr lang="en-US" dirty="0"/>
              <a:t> = new ...;</a:t>
            </a:r>
          </a:p>
          <a:p>
            <a:r>
              <a:rPr lang="en-US" dirty="0" err="1"/>
              <a:t>cShape.setShapeList</a:t>
            </a:r>
            <a:r>
              <a:rPr lang="en-US" dirty="0"/>
              <a:t>(new </a:t>
            </a:r>
            <a:r>
              <a:rPr lang="en-US" dirty="0" err="1"/>
              <a:t>ArrayList</a:t>
            </a:r>
            <a:r>
              <a:rPr lang="en-US" dirty="0"/>
              <a:t>(</a:t>
            </a:r>
            <a:r>
              <a:rPr lang="en-US" dirty="0" err="1"/>
              <a:t>rect</a:t>
            </a:r>
            <a:r>
              <a:rPr lang="en-US" dirty="0"/>
              <a:t>, </a:t>
            </a:r>
            <a:r>
              <a:rPr lang="en-US" dirty="0" err="1"/>
              <a:t>tria</a:t>
            </a:r>
            <a:r>
              <a:rPr lang="en-US" dirty="0"/>
              <a:t>));</a:t>
            </a:r>
          </a:p>
          <a:p>
            <a:r>
              <a:rPr lang="en-US" dirty="0"/>
              <a:t>Visitor </a:t>
            </a:r>
            <a:r>
              <a:rPr lang="en-US" dirty="0" err="1"/>
              <a:t>translationVisitor</a:t>
            </a:r>
            <a:r>
              <a:rPr lang="en-US" dirty="0"/>
              <a:t> = new </a:t>
            </a:r>
            <a:r>
              <a:rPr lang="en-US" dirty="0" err="1"/>
              <a:t>TranslationVisitor</a:t>
            </a:r>
            <a:r>
              <a:rPr lang="en-US" dirty="0"/>
              <a:t>();</a:t>
            </a:r>
          </a:p>
          <a:p>
            <a:r>
              <a:rPr lang="en-US" dirty="0" err="1"/>
              <a:t>translationVisitor.visit</a:t>
            </a:r>
            <a:r>
              <a:rPr lang="en-US" dirty="0"/>
              <a:t>(</a:t>
            </a:r>
            <a:r>
              <a:rPr lang="en-US" dirty="0" err="1"/>
              <a:t>cShape</a:t>
            </a:r>
            <a:r>
              <a:rPr lang="en-US" dirty="0"/>
              <a:t>);</a:t>
            </a:r>
          </a:p>
          <a:p>
            <a:endParaRPr lang="en-US" dirty="0"/>
          </a:p>
        </p:txBody>
      </p:sp>
      <p:sp>
        <p:nvSpPr>
          <p:cNvPr id="3" name="Title 2">
            <a:extLst>
              <a:ext uri="{FF2B5EF4-FFF2-40B4-BE49-F238E27FC236}">
                <a16:creationId xmlns:a16="http://schemas.microsoft.com/office/drawing/2014/main" id="{C2D34B80-F500-EC19-ACFF-5836BFA205D0}"/>
              </a:ext>
            </a:extLst>
          </p:cNvPr>
          <p:cNvSpPr>
            <a:spLocks noGrp="1"/>
          </p:cNvSpPr>
          <p:nvPr>
            <p:ph type="title"/>
          </p:nvPr>
        </p:nvSpPr>
        <p:spPr>
          <a:xfrm>
            <a:off x="0" y="0"/>
            <a:ext cx="12192000" cy="696277"/>
          </a:xfrm>
        </p:spPr>
        <p:txBody>
          <a:bodyPr wrap="square" anchor="b">
            <a:normAutofit/>
          </a:bodyPr>
          <a:lstStyle/>
          <a:p>
            <a:r>
              <a:rPr lang="en-US" dirty="0"/>
              <a:t>Visitor pattern – full code</a:t>
            </a:r>
          </a:p>
        </p:txBody>
      </p:sp>
      <p:sp>
        <p:nvSpPr>
          <p:cNvPr id="10" name="Content Placeholder 3">
            <a:extLst>
              <a:ext uri="{FF2B5EF4-FFF2-40B4-BE49-F238E27FC236}">
                <a16:creationId xmlns:a16="http://schemas.microsoft.com/office/drawing/2014/main" id="{B69274DA-0B7C-A30D-A4DF-CDB1A3368F52}"/>
              </a:ext>
            </a:extLst>
          </p:cNvPr>
          <p:cNvSpPr>
            <a:spLocks noGrp="1"/>
          </p:cNvSpPr>
          <p:nvPr>
            <p:ph idx="14"/>
          </p:nvPr>
        </p:nvSpPr>
        <p:spPr>
          <a:xfrm>
            <a:off x="369276" y="785004"/>
            <a:ext cx="5633413" cy="5046453"/>
          </a:xfrm>
        </p:spPr>
        <p:txBody>
          <a:bodyPr>
            <a:normAutofit fontScale="77500" lnSpcReduction="20000"/>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6" name="Rectangle 5">
            <a:extLst>
              <a:ext uri="{FF2B5EF4-FFF2-40B4-BE49-F238E27FC236}">
                <a16:creationId xmlns:a16="http://schemas.microsoft.com/office/drawing/2014/main" id="{123B9559-BCB0-1042-40FB-1010F205970F}"/>
              </a:ext>
            </a:extLst>
          </p:cNvPr>
          <p:cNvSpPr/>
          <p:nvPr/>
        </p:nvSpPr>
        <p:spPr>
          <a:xfrm>
            <a:off x="0" y="1014750"/>
            <a:ext cx="5871110" cy="56786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CC3A39EC-792B-9752-1EED-B789017BEA5F}"/>
              </a:ext>
            </a:extLst>
          </p:cNvPr>
          <p:cNvSpPr txBox="1"/>
          <p:nvPr/>
        </p:nvSpPr>
        <p:spPr>
          <a:xfrm>
            <a:off x="27284" y="2220764"/>
            <a:ext cx="5116593" cy="400110"/>
          </a:xfrm>
          <a:prstGeom prst="rect">
            <a:avLst/>
          </a:prstGeom>
          <a:noFill/>
        </p:spPr>
        <p:txBody>
          <a:bodyPr wrap="none" rtlCol="0">
            <a:spAutoFit/>
          </a:bodyPr>
          <a:lstStyle/>
          <a:p>
            <a:r>
              <a:rPr lang="en-US" sz="2000" b="1" i="1" dirty="0"/>
              <a:t>accept invokes the visitor on the current object</a:t>
            </a:r>
          </a:p>
        </p:txBody>
      </p:sp>
      <p:sp>
        <p:nvSpPr>
          <p:cNvPr id="9" name="Rectangle 8">
            <a:extLst>
              <a:ext uri="{FF2B5EF4-FFF2-40B4-BE49-F238E27FC236}">
                <a16:creationId xmlns:a16="http://schemas.microsoft.com/office/drawing/2014/main" id="{9C8D9F0C-211B-99D2-4CF5-E2337B2CE579}"/>
              </a:ext>
            </a:extLst>
          </p:cNvPr>
          <p:cNvSpPr/>
          <p:nvPr/>
        </p:nvSpPr>
        <p:spPr>
          <a:xfrm>
            <a:off x="36334" y="3701412"/>
            <a:ext cx="5871110" cy="213004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6AD060DE-DC58-0F26-D822-505DC8813356}"/>
              </a:ext>
            </a:extLst>
          </p:cNvPr>
          <p:cNvSpPr txBox="1"/>
          <p:nvPr/>
        </p:nvSpPr>
        <p:spPr>
          <a:xfrm>
            <a:off x="549027" y="5089187"/>
            <a:ext cx="5201232" cy="707886"/>
          </a:xfrm>
          <a:prstGeom prst="rect">
            <a:avLst/>
          </a:prstGeom>
          <a:noFill/>
        </p:spPr>
        <p:txBody>
          <a:bodyPr wrap="square" rtlCol="0">
            <a:spAutoFit/>
          </a:bodyPr>
          <a:lstStyle/>
          <a:p>
            <a:r>
              <a:rPr lang="en-US" sz="2000" b="1" i="1" dirty="0"/>
              <a:t>Abstract visitor defines overloaded visit method for each shape. Abstracts the visiting logic</a:t>
            </a:r>
          </a:p>
        </p:txBody>
      </p:sp>
      <p:sp>
        <p:nvSpPr>
          <p:cNvPr id="12" name="Rectangle 11">
            <a:extLst>
              <a:ext uri="{FF2B5EF4-FFF2-40B4-BE49-F238E27FC236}">
                <a16:creationId xmlns:a16="http://schemas.microsoft.com/office/drawing/2014/main" id="{F3456103-4D06-8FD4-9CDD-56A4E4ADB1C1}"/>
              </a:ext>
            </a:extLst>
          </p:cNvPr>
          <p:cNvSpPr/>
          <p:nvPr/>
        </p:nvSpPr>
        <p:spPr>
          <a:xfrm>
            <a:off x="6096000" y="696276"/>
            <a:ext cx="5871110" cy="288434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3" name="TextBox 12">
            <a:extLst>
              <a:ext uri="{FF2B5EF4-FFF2-40B4-BE49-F238E27FC236}">
                <a16:creationId xmlns:a16="http://schemas.microsoft.com/office/drawing/2014/main" id="{D7DE0BCC-7DDB-F823-F41C-D233BA3925B5}"/>
              </a:ext>
            </a:extLst>
          </p:cNvPr>
          <p:cNvSpPr txBox="1"/>
          <p:nvPr/>
        </p:nvSpPr>
        <p:spPr>
          <a:xfrm>
            <a:off x="6608693" y="3528638"/>
            <a:ext cx="5201232" cy="707886"/>
          </a:xfrm>
          <a:prstGeom prst="rect">
            <a:avLst/>
          </a:prstGeom>
          <a:noFill/>
        </p:spPr>
        <p:txBody>
          <a:bodyPr wrap="square" rtlCol="0">
            <a:spAutoFit/>
          </a:bodyPr>
          <a:lstStyle/>
          <a:p>
            <a:r>
              <a:rPr lang="en-US" sz="2000" b="1" i="1" dirty="0"/>
              <a:t>Concrete visitor defines behavior of visitor for each shape</a:t>
            </a:r>
          </a:p>
        </p:txBody>
      </p:sp>
      <p:sp>
        <p:nvSpPr>
          <p:cNvPr id="14" name="Rectangle 13">
            <a:extLst>
              <a:ext uri="{FF2B5EF4-FFF2-40B4-BE49-F238E27FC236}">
                <a16:creationId xmlns:a16="http://schemas.microsoft.com/office/drawing/2014/main" id="{54C627D9-FE09-B6CA-F065-D7B79A9E1261}"/>
              </a:ext>
            </a:extLst>
          </p:cNvPr>
          <p:cNvSpPr/>
          <p:nvPr/>
        </p:nvSpPr>
        <p:spPr>
          <a:xfrm>
            <a:off x="6002689" y="4236525"/>
            <a:ext cx="5871110" cy="168366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240106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p:bldP spid="7" grpId="1"/>
      <p:bldP spid="9" grpId="0" animBg="1"/>
      <p:bldP spid="9" grpId="1" animBg="1"/>
      <p:bldP spid="11" grpId="0"/>
      <p:bldP spid="11" grpId="1"/>
      <p:bldP spid="12" grpId="0" animBg="1"/>
      <p:bldP spid="12" grpId="1" animBg="1"/>
      <p:bldP spid="13" grpId="0"/>
      <p:bldP spid="13" grpId="1"/>
      <p:bldP spid="14" grpId="0" animBg="1"/>
      <p:bldP spid="14" grpId="1"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68F409A-3FF6-206D-6779-158FB7939CA3}"/>
              </a:ext>
            </a:extLst>
          </p:cNvPr>
          <p:cNvSpPr>
            <a:spLocks noGrp="1"/>
          </p:cNvSpPr>
          <p:nvPr>
            <p:ph idx="1"/>
          </p:nvPr>
        </p:nvSpPr>
        <p:spPr/>
        <p:txBody>
          <a:bodyPr/>
          <a:lstStyle/>
          <a:p>
            <a:endParaRPr lang="en-US"/>
          </a:p>
        </p:txBody>
      </p:sp>
      <p:sp>
        <p:nvSpPr>
          <p:cNvPr id="3" name="Title 2">
            <a:extLst>
              <a:ext uri="{FF2B5EF4-FFF2-40B4-BE49-F238E27FC236}">
                <a16:creationId xmlns:a16="http://schemas.microsoft.com/office/drawing/2014/main" id="{D9CE910B-CD22-E569-F702-CD6D0FF96577}"/>
              </a:ext>
            </a:extLst>
          </p:cNvPr>
          <p:cNvSpPr>
            <a:spLocks noGrp="1"/>
          </p:cNvSpPr>
          <p:nvPr>
            <p:ph type="title"/>
          </p:nvPr>
        </p:nvSpPr>
        <p:spPr/>
        <p:txBody>
          <a:bodyPr/>
          <a:lstStyle/>
          <a:p>
            <a:r>
              <a:rPr lang="en-US" dirty="0"/>
              <a:t>Visitor design pattern</a:t>
            </a:r>
          </a:p>
        </p:txBody>
      </p:sp>
      <p:sp>
        <p:nvSpPr>
          <p:cNvPr id="4" name="Content Placeholder 3">
            <a:extLst>
              <a:ext uri="{FF2B5EF4-FFF2-40B4-BE49-F238E27FC236}">
                <a16:creationId xmlns:a16="http://schemas.microsoft.com/office/drawing/2014/main" id="{FCB7495C-D9EE-84FC-A650-DB256E0E9799}"/>
              </a:ext>
            </a:extLst>
          </p:cNvPr>
          <p:cNvSpPr>
            <a:spLocks noGrp="1"/>
          </p:cNvSpPr>
          <p:nvPr>
            <p:ph idx="14"/>
          </p:nvPr>
        </p:nvSpPr>
        <p:spPr/>
        <p:txBody>
          <a:bodyPr/>
          <a:lstStyle/>
          <a:p>
            <a:endParaRPr lang="en-US"/>
          </a:p>
        </p:txBody>
      </p:sp>
    </p:spTree>
    <p:extLst>
      <p:ext uri="{BB962C8B-B14F-4D97-AF65-F5344CB8AC3E}">
        <p14:creationId xmlns:p14="http://schemas.microsoft.com/office/powerpoint/2010/main" val="333975006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lnSpcReduction="10000"/>
          </a:bodyPr>
          <a:lstStyle/>
          <a:p>
            <a:r>
              <a:rPr lang="en-US" dirty="0"/>
              <a:t>Allows adding new operations to a group of related objects without modifying their structure</a:t>
            </a:r>
          </a:p>
          <a:p>
            <a:r>
              <a:rPr lang="en-US" dirty="0"/>
              <a:t>Separates operations (behavior) from the object structure (elements) they act upon</a:t>
            </a:r>
          </a:p>
          <a:p>
            <a:r>
              <a:rPr lang="en-US" dirty="0"/>
              <a:t>Makes it easy to add operations after class is created</a:t>
            </a:r>
            <a:endParaRPr lang="en-US" b="1" i="1" dirty="0"/>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D2BAA-B31A-88DA-8D84-A2EA9ED39733}"/>
              </a:ext>
            </a:extLst>
          </p:cNvPr>
          <p:cNvSpPr>
            <a:spLocks noGrp="1"/>
          </p:cNvSpPr>
          <p:nvPr>
            <p:ph idx="1"/>
          </p:nvPr>
        </p:nvSpPr>
        <p:spPr/>
        <p:txBody>
          <a:bodyPr/>
          <a:lstStyle/>
          <a:p>
            <a:r>
              <a:rPr lang="en-US" dirty="0"/>
              <a:t>abstract class </a:t>
            </a:r>
            <a:r>
              <a:rPr lang="en-US" dirty="0" err="1"/>
              <a:t>ASTNode</a:t>
            </a:r>
            <a:r>
              <a:rPr lang="en-US" dirty="0"/>
              <a:t> {</a:t>
            </a:r>
          </a:p>
          <a:p>
            <a:r>
              <a:rPr lang="en-US" dirty="0"/>
              <a:t>	void accept(</a:t>
            </a:r>
            <a:r>
              <a:rPr lang="en-US" dirty="0" err="1"/>
              <a:t>ASTVisitor</a:t>
            </a:r>
            <a:r>
              <a:rPr lang="en-US" dirty="0"/>
              <a:t> visitor);</a:t>
            </a:r>
          </a:p>
          <a:p>
            <a:r>
              <a:rPr lang="en-US" dirty="0"/>
              <a:t>}</a:t>
            </a:r>
            <a:br>
              <a:rPr lang="en-US" dirty="0"/>
            </a:br>
            <a:br>
              <a:rPr lang="en-US" dirty="0"/>
            </a:br>
            <a:r>
              <a:rPr lang="en-US" dirty="0"/>
              <a:t>class </a:t>
            </a:r>
            <a:r>
              <a:rPr lang="en-US" dirty="0" err="1"/>
              <a:t>DeclStmt</a:t>
            </a:r>
            <a:r>
              <a:rPr lang="en-US" dirty="0"/>
              <a:t> extends </a:t>
            </a:r>
            <a:r>
              <a:rPr lang="en-US" dirty="0" err="1"/>
              <a:t>ASTNode</a:t>
            </a:r>
            <a:r>
              <a:rPr lang="en-US" dirty="0"/>
              <a:t> {</a:t>
            </a:r>
          </a:p>
          <a:p>
            <a:r>
              <a:rPr lang="en-US" dirty="0"/>
              <a:t>	/// … fields and getters/setters</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a:t>
            </a:r>
            <a:r>
              <a:rPr lang="en-US" dirty="0" err="1"/>
              <a:t>BinaryOperator</a:t>
            </a:r>
            <a:r>
              <a:rPr lang="en-US" dirty="0"/>
              <a:t> extends </a:t>
            </a:r>
            <a:r>
              <a:rPr lang="en-US" dirty="0" err="1"/>
              <a:t>ASTNode</a:t>
            </a:r>
            <a:r>
              <a:rPr lang="en-US" dirty="0"/>
              <a:t> {</a:t>
            </a:r>
          </a:p>
          <a:p>
            <a:r>
              <a:rPr lang="en-US" dirty="0"/>
              <a:t>	private </a:t>
            </a:r>
            <a:r>
              <a:rPr lang="en-US" dirty="0" err="1"/>
              <a:t>ASTNode</a:t>
            </a:r>
            <a:r>
              <a:rPr lang="en-US" dirty="0"/>
              <a:t> </a:t>
            </a:r>
            <a:r>
              <a:rPr lang="en-US" dirty="0" err="1"/>
              <a:t>leftNode</a:t>
            </a:r>
            <a:r>
              <a:rPr lang="en-US" dirty="0"/>
              <a:t>;</a:t>
            </a:r>
          </a:p>
          <a:p>
            <a:r>
              <a:rPr lang="en-US" dirty="0"/>
              <a:t>	private </a:t>
            </a:r>
            <a:r>
              <a:rPr lang="en-US" dirty="0" err="1"/>
              <a:t>ASTNode</a:t>
            </a:r>
            <a:r>
              <a:rPr lang="en-US" dirty="0"/>
              <a:t> </a:t>
            </a:r>
            <a:r>
              <a:rPr lang="en-US" dirty="0" err="1"/>
              <a:t>rightNode</a:t>
            </a:r>
            <a:r>
              <a:rPr lang="en-US" dirty="0"/>
              <a:t>;</a:t>
            </a:r>
          </a:p>
          <a:p>
            <a:endParaRPr lang="en-US" dirty="0"/>
          </a:p>
          <a:p>
            <a:r>
              <a:rPr lang="en-US" dirty="0"/>
              <a:t>	void accept(</a:t>
            </a:r>
            <a:r>
              <a:rPr lang="en-US" dirty="0" err="1"/>
              <a:t>ASTVisitor</a:t>
            </a:r>
            <a:r>
              <a:rPr lang="en-US" dirty="0"/>
              <a:t> visitor) {</a:t>
            </a:r>
          </a:p>
          <a:p>
            <a:r>
              <a:rPr lang="en-US" dirty="0"/>
              <a:t>		</a:t>
            </a:r>
            <a:r>
              <a:rPr lang="en-US" dirty="0" err="1"/>
              <a:t>visitor.visit</a:t>
            </a:r>
            <a:r>
              <a:rPr lang="en-US" dirty="0"/>
              <a:t>(</a:t>
            </a:r>
            <a:r>
              <a:rPr lang="en-US" dirty="0" err="1"/>
              <a:t>this.leftNode</a:t>
            </a:r>
            <a:r>
              <a:rPr lang="en-US" dirty="0"/>
              <a:t>);</a:t>
            </a:r>
          </a:p>
          <a:p>
            <a:r>
              <a:rPr lang="en-US" dirty="0"/>
              <a:t>		</a:t>
            </a:r>
            <a:r>
              <a:rPr lang="en-US" dirty="0" err="1"/>
              <a:t>visitor.visit</a:t>
            </a:r>
            <a:r>
              <a:rPr lang="en-US" dirty="0"/>
              <a:t>(</a:t>
            </a:r>
            <a:r>
              <a:rPr lang="en-US" dirty="0" err="1"/>
              <a:t>this.rightNode</a:t>
            </a:r>
            <a:r>
              <a:rPr lang="en-US" dirty="0"/>
              <a:t>);</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717EBCB-2841-939E-EE16-1EEBE2258C7D}"/>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3DCDE81A-B316-F22E-49F7-2B50C820728B}"/>
              </a:ext>
            </a:extLst>
          </p:cNvPr>
          <p:cNvSpPr>
            <a:spLocks noGrp="1"/>
          </p:cNvSpPr>
          <p:nvPr>
            <p:ph idx="13"/>
          </p:nvPr>
        </p:nvSpPr>
        <p:spPr/>
        <p:txBody>
          <a:bodyPr/>
          <a:lstStyle/>
          <a:p>
            <a:r>
              <a:rPr lang="en-US" dirty="0"/>
              <a:t>Create an abstract class to represent an AST node with an abstract </a:t>
            </a:r>
            <a:r>
              <a:rPr lang="en-US" dirty="0">
                <a:latin typeface="Consolas" panose="020B0609020204030204" pitchFamily="49" charset="0"/>
              </a:rPr>
              <a:t>accept</a:t>
            </a:r>
            <a:r>
              <a:rPr lang="en-US" dirty="0"/>
              <a:t> method</a:t>
            </a:r>
          </a:p>
          <a:p>
            <a:r>
              <a:rPr lang="en-US" dirty="0"/>
              <a:t>Create concrete subclasses with concrete </a:t>
            </a:r>
            <a:r>
              <a:rPr lang="en-US" dirty="0">
                <a:latin typeface="Consolas" panose="020B0609020204030204" pitchFamily="49" charset="0"/>
              </a:rPr>
              <a:t>accept</a:t>
            </a:r>
            <a:r>
              <a:rPr lang="en-US" dirty="0"/>
              <a:t> methods</a:t>
            </a:r>
          </a:p>
        </p:txBody>
      </p:sp>
    </p:spTree>
    <p:extLst>
      <p:ext uri="{BB962C8B-B14F-4D97-AF65-F5344CB8AC3E}">
        <p14:creationId xmlns:p14="http://schemas.microsoft.com/office/powerpoint/2010/main" val="44363313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2FBAB-6334-5C5D-DACD-E24597BB7A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64AB71-7940-7BAA-E9FD-D2121027356C}"/>
              </a:ext>
            </a:extLst>
          </p:cNvPr>
          <p:cNvSpPr>
            <a:spLocks noGrp="1"/>
          </p:cNvSpPr>
          <p:nvPr>
            <p:ph idx="1"/>
          </p:nvPr>
        </p:nvSpPr>
        <p:spPr/>
        <p:txBody>
          <a:bodyPr>
            <a:normAutofit fontScale="92500" lnSpcReduction="20000"/>
          </a:bodyPr>
          <a:lstStyle/>
          <a:p>
            <a:r>
              <a:rPr lang="en-US" dirty="0"/>
              <a:t>abstract class </a:t>
            </a:r>
            <a:r>
              <a:rPr lang="en-US" dirty="0" err="1"/>
              <a:t>ASTVisitor</a:t>
            </a:r>
            <a:r>
              <a:rPr lang="en-US" dirty="0"/>
              <a:t> {</a:t>
            </a:r>
            <a:br>
              <a:rPr lang="en-US" dirty="0"/>
            </a:br>
            <a:r>
              <a:rPr lang="en-US" dirty="0"/>
              <a:t> void visit(</a:t>
            </a:r>
            <a:r>
              <a:rPr lang="en-US" dirty="0" err="1"/>
              <a:t>DeclStmt</a:t>
            </a:r>
            <a:r>
              <a:rPr lang="en-US" dirty="0"/>
              <a:t> </a:t>
            </a:r>
            <a:r>
              <a:rPr lang="en-US" dirty="0" err="1"/>
              <a:t>stmt</a:t>
            </a:r>
            <a:r>
              <a:rPr lang="en-US" dirty="0"/>
              <a:t>);</a:t>
            </a:r>
            <a:br>
              <a:rPr lang="en-US" dirty="0"/>
            </a:br>
            <a:r>
              <a:rPr lang="en-US" dirty="0"/>
              <a:t> void visit(</a:t>
            </a:r>
            <a:r>
              <a:rPr lang="en-US" dirty="0" err="1"/>
              <a:t>BinaryOperator</a:t>
            </a:r>
            <a:r>
              <a:rPr lang="en-US" dirty="0"/>
              <a:t> op);</a:t>
            </a:r>
          </a:p>
          <a:p>
            <a:r>
              <a:rPr lang="en-US" dirty="0"/>
              <a:t> void visit(</a:t>
            </a:r>
            <a:r>
              <a:rPr lang="en-US" dirty="0" err="1"/>
              <a:t>BinaryOperator</a:t>
            </a:r>
            <a:r>
              <a:rPr lang="en-US" dirty="0"/>
              <a:t> op) {</a:t>
            </a:r>
          </a:p>
          <a:p>
            <a:r>
              <a:rPr lang="en-US" dirty="0"/>
              <a:t>	</a:t>
            </a:r>
            <a:r>
              <a:rPr lang="en-US" dirty="0" err="1"/>
              <a:t>op.getLeft</a:t>
            </a:r>
            <a:r>
              <a:rPr lang="en-US" dirty="0"/>
              <a:t>().accept(this);</a:t>
            </a:r>
          </a:p>
          <a:p>
            <a:r>
              <a:rPr lang="en-US" dirty="0"/>
              <a:t>	</a:t>
            </a:r>
            <a:r>
              <a:rPr lang="en-US" dirty="0" err="1"/>
              <a:t>op.getRight</a:t>
            </a:r>
            <a:r>
              <a:rPr lang="en-US" dirty="0"/>
              <a:t>().accept(this);</a:t>
            </a:r>
          </a:p>
          <a:p>
            <a:r>
              <a:rPr lang="en-US" dirty="0"/>
              <a:t> }</a:t>
            </a:r>
          </a:p>
          <a:p>
            <a:r>
              <a:rPr lang="en-US" dirty="0"/>
              <a:t>}</a:t>
            </a:r>
          </a:p>
          <a:p>
            <a:endParaRPr lang="en-US" dirty="0"/>
          </a:p>
          <a:p>
            <a:r>
              <a:rPr lang="en-US" dirty="0"/>
              <a:t>class </a:t>
            </a:r>
            <a:r>
              <a:rPr lang="en-US" dirty="0" err="1"/>
              <a:t>CodeGenVisitor</a:t>
            </a:r>
            <a:r>
              <a:rPr lang="en-US" dirty="0"/>
              <a:t> extends </a:t>
            </a:r>
            <a:r>
              <a:rPr lang="en-US" dirty="0" err="1"/>
              <a:t>ASTVisitor</a:t>
            </a:r>
            <a:r>
              <a:rPr lang="en-US" dirty="0"/>
              <a:t> {</a:t>
            </a:r>
          </a:p>
          <a:p>
            <a:r>
              <a:rPr lang="en-US" dirty="0"/>
              <a:t> private String </a:t>
            </a:r>
            <a:r>
              <a:rPr lang="en-US" dirty="0" err="1"/>
              <a:t>generatedBinaryCode</a:t>
            </a:r>
            <a:r>
              <a:rPr lang="en-US" dirty="0"/>
              <a:t>;</a:t>
            </a:r>
          </a:p>
          <a:p>
            <a:endParaRPr lang="en-US" dirty="0"/>
          </a:p>
          <a:p>
            <a:r>
              <a:rPr lang="en-US" dirty="0"/>
              <a:t> void visit(</a:t>
            </a:r>
            <a:r>
              <a:rPr lang="en-US" dirty="0" err="1"/>
              <a:t>DeclStmt</a:t>
            </a:r>
            <a:r>
              <a:rPr lang="en-US" dirty="0"/>
              <a:t> </a:t>
            </a:r>
            <a:r>
              <a:rPr lang="en-US" dirty="0" err="1"/>
              <a:t>declStmt</a:t>
            </a:r>
            <a:r>
              <a:rPr lang="en-US" dirty="0"/>
              <a:t>) {</a:t>
            </a:r>
          </a:p>
          <a:p>
            <a:r>
              <a:rPr lang="en-US" dirty="0"/>
              <a:t>	// Create space on the stack</a:t>
            </a:r>
          </a:p>
          <a:p>
            <a:r>
              <a:rPr lang="en-US" dirty="0"/>
              <a:t>	</a:t>
            </a:r>
            <a:r>
              <a:rPr lang="en-US" dirty="0" err="1"/>
              <a:t>generatedBinaryCode.append</a:t>
            </a:r>
            <a:r>
              <a:rPr lang="en-US" dirty="0"/>
              <a:t>(“sub </a:t>
            </a:r>
            <a:r>
              <a:rPr lang="en-US" dirty="0" err="1"/>
              <a:t>rsp</a:t>
            </a:r>
            <a:r>
              <a:rPr lang="en-US" dirty="0"/>
              <a:t>,” + </a:t>
            </a:r>
            <a:r>
              <a:rPr lang="en-US" dirty="0" err="1"/>
              <a:t>declStmt.getSize</a:t>
            </a:r>
            <a:r>
              <a:rPr lang="en-US" dirty="0"/>
              <a:t>());		</a:t>
            </a:r>
          </a:p>
          <a:p>
            <a:r>
              <a:rPr lang="en-US" dirty="0"/>
              <a:t> }</a:t>
            </a:r>
          </a:p>
          <a:p>
            <a:endParaRPr lang="en-US" dirty="0"/>
          </a:p>
          <a:p>
            <a:r>
              <a:rPr lang="en-US" dirty="0"/>
              <a:t> void visit(</a:t>
            </a:r>
            <a:r>
              <a:rPr lang="en-US" dirty="0" err="1"/>
              <a:t>BinaryOperator</a:t>
            </a:r>
            <a:r>
              <a:rPr lang="en-US" dirty="0"/>
              <a:t> op) {</a:t>
            </a:r>
          </a:p>
          <a:p>
            <a:r>
              <a:rPr lang="en-US" dirty="0"/>
              <a:t>	</a:t>
            </a:r>
            <a:r>
              <a:rPr lang="en-US" dirty="0" err="1"/>
              <a:t>super.visit</a:t>
            </a:r>
            <a:r>
              <a:rPr lang="en-US" dirty="0"/>
              <a:t>(op);</a:t>
            </a:r>
          </a:p>
          <a:p>
            <a:r>
              <a:rPr lang="en-US" dirty="0"/>
              <a:t>	switch(</a:t>
            </a:r>
            <a:r>
              <a:rPr lang="en-US" dirty="0" err="1"/>
              <a:t>op.getKind</a:t>
            </a:r>
            <a:r>
              <a:rPr lang="en-US" dirty="0"/>
              <a:t>()) {</a:t>
            </a:r>
          </a:p>
          <a:p>
            <a:r>
              <a:rPr lang="en-US" dirty="0"/>
              <a:t>		case “+”: ///; </a:t>
            </a:r>
          </a:p>
          <a:p>
            <a:r>
              <a:rPr lang="en-US" dirty="0"/>
              <a:t>		case “-”: ///;</a:t>
            </a:r>
          </a:p>
          <a:p>
            <a:r>
              <a:rPr lang="en-US" dirty="0"/>
              <a:t>	}</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250C009-2447-C8BF-7C6E-E60107AABE58}"/>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FC7CC83C-025D-4991-B73C-76CD5FFED4CC}"/>
              </a:ext>
            </a:extLst>
          </p:cNvPr>
          <p:cNvSpPr>
            <a:spLocks noGrp="1"/>
          </p:cNvSpPr>
          <p:nvPr>
            <p:ph idx="13"/>
          </p:nvPr>
        </p:nvSpPr>
        <p:spPr/>
        <p:txBody>
          <a:bodyPr/>
          <a:lstStyle/>
          <a:p>
            <a:r>
              <a:rPr lang="en-US" dirty="0"/>
              <a:t>Define an abstract class </a:t>
            </a:r>
            <a:r>
              <a:rPr lang="en-US" dirty="0" err="1">
                <a:latin typeface="Consolas" panose="020B0609020204030204" pitchFamily="49" charset="0"/>
              </a:rPr>
              <a:t>ASTVisitor</a:t>
            </a:r>
            <a:endParaRPr lang="en-US" dirty="0">
              <a:latin typeface="Consolas" panose="020B0609020204030204" pitchFamily="49" charset="0"/>
            </a:endParaRPr>
          </a:p>
          <a:p>
            <a:r>
              <a:rPr lang="en-US" dirty="0"/>
              <a:t>Define concrete visitors subclasses </a:t>
            </a:r>
            <a:r>
              <a:rPr lang="en-US" dirty="0" err="1">
                <a:latin typeface="Consolas" panose="020B0609020204030204" pitchFamily="49" charset="0"/>
              </a:rPr>
              <a:t>ASTVisitor</a:t>
            </a:r>
            <a:endParaRPr lang="en-US" dirty="0">
              <a:latin typeface="Consolas" panose="020B0609020204030204" pitchFamily="49" charset="0"/>
            </a:endParaRPr>
          </a:p>
        </p:txBody>
      </p:sp>
    </p:spTree>
    <p:extLst>
      <p:ext uri="{BB962C8B-B14F-4D97-AF65-F5344CB8AC3E}">
        <p14:creationId xmlns:p14="http://schemas.microsoft.com/office/powerpoint/2010/main" val="46036642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Composite, Decorator, Bridge, Facade, Flyweight</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828AE5-AC81-B8D1-913E-02591C7E82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D95FF0-F82E-A398-C93E-376D7A7F342A}"/>
              </a:ext>
            </a:extLst>
          </p:cNvPr>
          <p:cNvSpPr>
            <a:spLocks noGrp="1"/>
          </p:cNvSpPr>
          <p:nvPr>
            <p:ph idx="1"/>
          </p:nvPr>
        </p:nvSpPr>
        <p:spPr/>
        <p:txBody>
          <a:bodyPr>
            <a:normAutofit fontScale="85000" lnSpcReduction="20000"/>
          </a:bodyPr>
          <a:lstStyle/>
          <a:p>
            <a:r>
              <a:rPr lang="en-US" dirty="0"/>
              <a:t>abstract class </a:t>
            </a:r>
            <a:r>
              <a:rPr lang="en-US" dirty="0" err="1"/>
              <a:t>TreeNode</a:t>
            </a:r>
            <a:r>
              <a:rPr lang="en-US" dirty="0"/>
              <a:t> {</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 concrete subclasses for AST nodes</a:t>
            </a:r>
          </a:p>
          <a:p>
            <a:r>
              <a:rPr lang="en-US" dirty="0"/>
              <a:t>class Literal extends </a:t>
            </a:r>
            <a:r>
              <a:rPr lang="en-US" dirty="0" err="1"/>
              <a:t>TreeNode</a:t>
            </a:r>
            <a:r>
              <a:rPr lang="en-US" dirty="0"/>
              <a:t> {</a:t>
            </a:r>
          </a:p>
          <a:p>
            <a:r>
              <a:rPr lang="en-US" dirty="0"/>
              <a:t>	private final int value;</a:t>
            </a:r>
          </a:p>
          <a:p>
            <a:r>
              <a:rPr lang="en-US" dirty="0"/>
              <a:t>	public Literal(int value) {</a:t>
            </a:r>
          </a:p>
          <a:p>
            <a:r>
              <a:rPr lang="en-US" dirty="0"/>
              <a:t>		</a:t>
            </a:r>
            <a:r>
              <a:rPr lang="en-US" dirty="0" err="1"/>
              <a:t>this.value</a:t>
            </a:r>
            <a:r>
              <a:rPr lang="en-US" dirty="0"/>
              <a:t> = value;</a:t>
            </a:r>
          </a:p>
          <a:p>
            <a:r>
              <a:rPr lang="en-US" dirty="0"/>
              <a:t>	}</a:t>
            </a:r>
          </a:p>
          <a:p>
            <a:r>
              <a:rPr lang="en-US" dirty="0"/>
              <a:t>}</a:t>
            </a:r>
          </a:p>
          <a:p>
            <a:r>
              <a:rPr lang="en-US" dirty="0"/>
              <a:t>class Variable extends </a:t>
            </a:r>
            <a:r>
              <a:rPr lang="en-US" dirty="0" err="1"/>
              <a:t>TreeNode</a:t>
            </a:r>
            <a:r>
              <a:rPr lang="en-US" dirty="0"/>
              <a:t> {</a:t>
            </a:r>
          </a:p>
          <a:p>
            <a:r>
              <a:rPr lang="en-US" dirty="0"/>
              <a:t>	private final name; </a:t>
            </a:r>
          </a:p>
          <a:p>
            <a:r>
              <a:rPr lang="en-US" dirty="0"/>
              <a:t>	...</a:t>
            </a:r>
          </a:p>
          <a:p>
            <a:r>
              <a:rPr lang="en-US" dirty="0"/>
              <a:t>}</a:t>
            </a:r>
          </a:p>
          <a:p>
            <a:r>
              <a:rPr lang="en-US" dirty="0"/>
              <a:t>class </a:t>
            </a:r>
            <a:r>
              <a:rPr lang="en-US" dirty="0" err="1"/>
              <a:t>BinaryOperator</a:t>
            </a:r>
            <a:r>
              <a:rPr lang="en-US" dirty="0"/>
              <a:t> extends </a:t>
            </a:r>
            <a:r>
              <a:rPr lang="en-US" dirty="0" err="1"/>
              <a:t>TreeNode</a:t>
            </a:r>
            <a:r>
              <a:rPr lang="en-US" dirty="0"/>
              <a:t> {</a:t>
            </a:r>
          </a:p>
          <a:p>
            <a:r>
              <a:rPr lang="en-US" dirty="0"/>
              <a:t>	private final String operator;</a:t>
            </a:r>
          </a:p>
          <a:p>
            <a:r>
              <a:rPr lang="en-US" dirty="0"/>
              <a:t>	private final </a:t>
            </a:r>
            <a:r>
              <a:rPr lang="en-US" dirty="0" err="1"/>
              <a:t>TreeNode</a:t>
            </a:r>
            <a:r>
              <a:rPr lang="en-US" dirty="0"/>
              <a:t> left, right;</a:t>
            </a:r>
          </a:p>
          <a:p>
            <a:endParaRPr lang="en-US" dirty="0"/>
          </a:p>
          <a:p>
            <a:r>
              <a:rPr lang="en-US" dirty="0"/>
              <a:t>	public </a:t>
            </a:r>
            <a:r>
              <a:rPr lang="en-US" dirty="0" err="1"/>
              <a:t>BinaryOperator</a:t>
            </a:r>
            <a:r>
              <a:rPr lang="en-US" dirty="0"/>
              <a:t>(String operator, </a:t>
            </a:r>
            <a:r>
              <a:rPr lang="en-US" dirty="0" err="1"/>
              <a:t>TreeNode</a:t>
            </a:r>
            <a:r>
              <a:rPr lang="en-US" dirty="0"/>
              <a:t> left, </a:t>
            </a:r>
            <a:r>
              <a:rPr lang="en-US" dirty="0" err="1"/>
              <a:t>TreeNode</a:t>
            </a:r>
            <a:r>
              <a:rPr lang="en-US" dirty="0"/>
              <a:t> right) {</a:t>
            </a:r>
          </a:p>
          <a:p>
            <a:r>
              <a:rPr lang="en-US" dirty="0"/>
              <a:t>		</a:t>
            </a:r>
            <a:r>
              <a:rPr lang="en-US" dirty="0" err="1"/>
              <a:t>this.operator</a:t>
            </a:r>
            <a:r>
              <a:rPr lang="en-US" dirty="0"/>
              <a:t> = operator;</a:t>
            </a:r>
          </a:p>
          <a:p>
            <a:r>
              <a:rPr lang="en-US" dirty="0"/>
              <a:t>		</a:t>
            </a:r>
            <a:r>
              <a:rPr lang="en-US" dirty="0" err="1"/>
              <a:t>this.left</a:t>
            </a:r>
            <a:r>
              <a:rPr lang="en-US" dirty="0"/>
              <a:t> = left;</a:t>
            </a:r>
          </a:p>
          <a:p>
            <a:r>
              <a:rPr lang="en-US" dirty="0"/>
              <a:t>		</a:t>
            </a:r>
            <a:r>
              <a:rPr lang="en-US" dirty="0" err="1"/>
              <a:t>this.right</a:t>
            </a:r>
            <a:r>
              <a:rPr lang="en-US" dirty="0"/>
              <a:t> = right;</a:t>
            </a:r>
          </a:p>
          <a:p>
            <a:r>
              <a:rPr lang="en-US" dirty="0"/>
              <a:t>	}</a:t>
            </a:r>
          </a:p>
          <a:p>
            <a:r>
              <a:rPr lang="en-US" dirty="0"/>
              <a:t>}</a:t>
            </a:r>
          </a:p>
        </p:txBody>
      </p:sp>
      <p:sp>
        <p:nvSpPr>
          <p:cNvPr id="5" name="Title 4">
            <a:extLst>
              <a:ext uri="{FF2B5EF4-FFF2-40B4-BE49-F238E27FC236}">
                <a16:creationId xmlns:a16="http://schemas.microsoft.com/office/drawing/2014/main" id="{A2C9229E-DECD-3D1F-BF78-FA052D69AF3B}"/>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9EBEE4E5-2525-9E82-E72C-E9A85C1BD382}"/>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p:txBody>
      </p:sp>
      <p:sp>
        <p:nvSpPr>
          <p:cNvPr id="8" name="Rectangle 7">
            <a:extLst>
              <a:ext uri="{FF2B5EF4-FFF2-40B4-BE49-F238E27FC236}">
                <a16:creationId xmlns:a16="http://schemas.microsoft.com/office/drawing/2014/main" id="{4579FD81-3DD5-71BE-FD22-1569556141E4}"/>
              </a:ext>
            </a:extLst>
          </p:cNvPr>
          <p:cNvSpPr/>
          <p:nvPr/>
        </p:nvSpPr>
        <p:spPr>
          <a:xfrm>
            <a:off x="6330461" y="991374"/>
            <a:ext cx="3950677" cy="497457"/>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1173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7E21C40-8956-0925-430E-79BBD8772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8E36FA-E88B-9875-1378-5C3BD42ED4CF}"/>
              </a:ext>
            </a:extLst>
          </p:cNvPr>
          <p:cNvSpPr>
            <a:spLocks noGrp="1"/>
          </p:cNvSpPr>
          <p:nvPr>
            <p:ph idx="1"/>
          </p:nvPr>
        </p:nvSpPr>
        <p:spPr/>
        <p:txBody>
          <a:bodyPr>
            <a:normAutofit/>
          </a:bodyPr>
          <a:lstStyle/>
          <a:p>
            <a:r>
              <a:rPr lang="en-US" dirty="0"/>
              <a:t>abstract class </a:t>
            </a:r>
            <a:r>
              <a:rPr lang="en-US" dirty="0" err="1"/>
              <a:t>ASTVisitor</a:t>
            </a:r>
            <a:r>
              <a:rPr lang="en-US" dirty="0"/>
              <a:t> {</a:t>
            </a:r>
          </a:p>
          <a:p>
            <a:r>
              <a:rPr lang="en-US" dirty="0"/>
              <a:t>    void visit(Literal literal) {}</a:t>
            </a:r>
          </a:p>
          <a:p>
            <a:r>
              <a:rPr lang="en-US" dirty="0"/>
              <a:t>    void visit(Variable variable) {}</a:t>
            </a:r>
          </a:p>
          <a:p>
            <a:endParaRPr lang="en-US" dirty="0"/>
          </a:p>
          <a:p>
            <a:r>
              <a:rPr lang="en-US" dirty="0"/>
              <a:t>    void visit(</a:t>
            </a:r>
            <a:r>
              <a:rPr lang="en-US" dirty="0" err="1"/>
              <a:t>BinaryOperator</a:t>
            </a:r>
            <a:r>
              <a:rPr lang="en-US" dirty="0"/>
              <a:t> </a:t>
            </a:r>
            <a:r>
              <a:rPr lang="en-US" dirty="0" err="1"/>
              <a:t>binaryOperator</a:t>
            </a:r>
            <a:r>
              <a:rPr lang="en-US" dirty="0"/>
              <a:t>) {</a:t>
            </a:r>
          </a:p>
          <a:p>
            <a:r>
              <a:rPr lang="en-US" dirty="0"/>
              <a:t>		</a:t>
            </a:r>
            <a:r>
              <a:rPr lang="en-US" dirty="0" err="1"/>
              <a:t>this.left.accept</a:t>
            </a:r>
            <a:r>
              <a:rPr lang="en-US" dirty="0"/>
              <a:t>(this);</a:t>
            </a:r>
          </a:p>
          <a:p>
            <a:r>
              <a:rPr lang="en-US" dirty="0"/>
              <a:t>		</a:t>
            </a:r>
            <a:r>
              <a:rPr lang="en-US" dirty="0" err="1"/>
              <a:t>this.right.accept</a:t>
            </a:r>
            <a:r>
              <a:rPr lang="en-US" dirty="0"/>
              <a:t>(this);</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972E57B2-8A7F-C759-2D21-7762AA7CA680}"/>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4A7C435D-CE8F-D59C-015D-FECA2C418BF5}"/>
              </a:ext>
            </a:extLst>
          </p:cNvPr>
          <p:cNvSpPr>
            <a:spLocks noGrp="1"/>
          </p:cNvSpPr>
          <p:nvPr>
            <p:ph idx="13"/>
          </p:nvPr>
        </p:nvSpPr>
        <p:spPr/>
        <p:txBody>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err="1">
                <a:latin typeface="Consolas" panose="020B0609020204030204" pitchFamily="49" charset="0"/>
              </a:rPr>
              <a:t>TreeNode</a:t>
            </a:r>
            <a:endParaRPr lang="en-US" dirty="0">
              <a:latin typeface="Consolas" panose="020B0609020204030204" pitchFamily="49" charset="0"/>
            </a:endParaRPr>
          </a:p>
        </p:txBody>
      </p:sp>
    </p:spTree>
    <p:extLst>
      <p:ext uri="{BB962C8B-B14F-4D97-AF65-F5344CB8AC3E}">
        <p14:creationId xmlns:p14="http://schemas.microsoft.com/office/powerpoint/2010/main" val="2083494873"/>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FCEDA6-BE1F-0040-2624-5321D8882A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C23379-E726-121A-137E-E60B817DD8F9}"/>
              </a:ext>
            </a:extLst>
          </p:cNvPr>
          <p:cNvSpPr>
            <a:spLocks noGrp="1"/>
          </p:cNvSpPr>
          <p:nvPr>
            <p:ph idx="1"/>
          </p:nvPr>
        </p:nvSpPr>
        <p:spPr/>
        <p:txBody>
          <a:bodyPr>
            <a:normAutofit fontScale="85000" lnSpcReduction="20000"/>
          </a:bodyPr>
          <a:lstStyle/>
          <a:p>
            <a:r>
              <a:rPr lang="en-US" dirty="0"/>
              <a:t>class </a:t>
            </a:r>
            <a:r>
              <a:rPr lang="en-US" dirty="0" err="1"/>
              <a:t>CodeGeneratorVisitor</a:t>
            </a:r>
            <a:r>
              <a:rPr lang="en-US" dirty="0"/>
              <a:t> extends </a:t>
            </a:r>
            <a:r>
              <a:rPr lang="en-US" dirty="0" err="1"/>
              <a:t>ASTVisitor</a:t>
            </a:r>
            <a:r>
              <a:rPr lang="en-US" dirty="0"/>
              <a:t> {</a:t>
            </a:r>
          </a:p>
          <a:p>
            <a:r>
              <a:rPr lang="en-US" dirty="0"/>
              <a:t>    private final StringBuilder code = new StringBuilder();</a:t>
            </a:r>
          </a:p>
          <a:p>
            <a:endParaRPr lang="en-US" dirty="0"/>
          </a:p>
          <a:p>
            <a:r>
              <a:rPr lang="en-US" dirty="0"/>
              <a:t>    public String </a:t>
            </a:r>
            <a:r>
              <a:rPr lang="en-US" dirty="0" err="1"/>
              <a:t>getCode</a:t>
            </a:r>
            <a:r>
              <a:rPr lang="en-US" dirty="0"/>
              <a:t>() {</a:t>
            </a:r>
          </a:p>
          <a:p>
            <a:r>
              <a:rPr lang="en-US" dirty="0"/>
              <a:t>        return </a:t>
            </a:r>
            <a:r>
              <a:rPr lang="en-US" dirty="0" err="1"/>
              <a:t>code.toString</a:t>
            </a:r>
            <a:r>
              <a:rPr lang="en-US" dirty="0"/>
              <a:t>();</a:t>
            </a:r>
          </a:p>
          <a:p>
            <a:r>
              <a:rPr lang="en-US" dirty="0"/>
              <a:t>    }</a:t>
            </a:r>
          </a:p>
          <a:p>
            <a:endParaRPr lang="en-US" dirty="0"/>
          </a:p>
          <a:p>
            <a:r>
              <a:rPr lang="en-US" dirty="0"/>
              <a:t>    @Override</a:t>
            </a:r>
          </a:p>
          <a:p>
            <a:r>
              <a:rPr lang="en-US" dirty="0"/>
              <a:t>    public void visit(Literal literal) {</a:t>
            </a:r>
          </a:p>
          <a:p>
            <a:r>
              <a:rPr lang="en-US" dirty="0"/>
              <a:t>        </a:t>
            </a:r>
            <a:r>
              <a:rPr lang="en-US" dirty="0" err="1"/>
              <a:t>code.append</a:t>
            </a:r>
            <a:r>
              <a:rPr lang="en-US" dirty="0"/>
              <a:t>(</a:t>
            </a:r>
            <a:r>
              <a:rPr lang="en-US" dirty="0" err="1"/>
              <a:t>literal.getValue</a:t>
            </a:r>
            <a:r>
              <a:rPr lang="en-US" dirty="0"/>
              <a:t>());</a:t>
            </a:r>
          </a:p>
          <a:p>
            <a:r>
              <a:rPr lang="en-US" dirty="0"/>
              <a:t>    }</a:t>
            </a:r>
          </a:p>
          <a:p>
            <a:endParaRPr lang="en-US" dirty="0"/>
          </a:p>
          <a:p>
            <a:r>
              <a:rPr lang="en-US" dirty="0"/>
              <a:t>    @Override</a:t>
            </a:r>
          </a:p>
          <a:p>
            <a:r>
              <a:rPr lang="en-US" dirty="0"/>
              <a:t>    public void visit(Variable variable) {</a:t>
            </a:r>
          </a:p>
          <a:p>
            <a:r>
              <a:rPr lang="en-US" dirty="0"/>
              <a:t>        </a:t>
            </a:r>
            <a:r>
              <a:rPr lang="en-US" dirty="0" err="1"/>
              <a:t>code.append</a:t>
            </a:r>
            <a:r>
              <a:rPr lang="en-US" dirty="0"/>
              <a:t>(</a:t>
            </a:r>
            <a:r>
              <a:rPr lang="en-US" dirty="0" err="1"/>
              <a:t>variable.getName</a:t>
            </a:r>
            <a:r>
              <a:rPr lang="en-US" dirty="0"/>
              <a:t>());</a:t>
            </a:r>
          </a:p>
          <a:p>
            <a:r>
              <a:rPr lang="en-US" dirty="0"/>
              <a:t>    }</a:t>
            </a:r>
          </a:p>
          <a:p>
            <a:endParaRPr lang="en-US" dirty="0"/>
          </a:p>
          <a:p>
            <a:r>
              <a:rPr lang="en-US" dirty="0"/>
              <a:t>    @Override</a:t>
            </a:r>
          </a:p>
          <a:p>
            <a:r>
              <a:rPr lang="en-US" dirty="0"/>
              <a:t>    public void visit(</a:t>
            </a:r>
            <a:r>
              <a:rPr lang="en-US" dirty="0" err="1"/>
              <a:t>BinaryExpression</a:t>
            </a:r>
            <a:r>
              <a:rPr lang="en-US" dirty="0"/>
              <a:t> </a:t>
            </a:r>
            <a:r>
              <a:rPr lang="en-US" dirty="0" err="1"/>
              <a:t>binaryExpression</a:t>
            </a:r>
            <a:r>
              <a:rPr lang="en-US" dirty="0"/>
              <a:t>) {</a:t>
            </a:r>
          </a:p>
          <a:p>
            <a:r>
              <a:rPr lang="en-US" dirty="0"/>
              <a:t>        </a:t>
            </a:r>
            <a:r>
              <a:rPr lang="en-US" dirty="0" err="1"/>
              <a:t>code.append</a:t>
            </a:r>
            <a:r>
              <a:rPr lang="en-US" dirty="0"/>
              <a:t>("(");</a:t>
            </a:r>
          </a:p>
          <a:p>
            <a:r>
              <a:rPr lang="en-US" dirty="0"/>
              <a:t>        </a:t>
            </a:r>
            <a:r>
              <a:rPr lang="en-US" dirty="0" err="1"/>
              <a:t>binaryExpression.getLeft</a:t>
            </a:r>
            <a:r>
              <a:rPr lang="en-US" dirty="0"/>
              <a:t>().accept(this);</a:t>
            </a:r>
          </a:p>
          <a:p>
            <a:r>
              <a:rPr lang="en-US" dirty="0"/>
              <a:t>        </a:t>
            </a:r>
            <a:r>
              <a:rPr lang="en-US" dirty="0" err="1"/>
              <a:t>code.append</a:t>
            </a:r>
            <a:r>
              <a:rPr lang="en-US" dirty="0"/>
              <a:t>(" ").append(</a:t>
            </a:r>
            <a:r>
              <a:rPr lang="en-US" dirty="0" err="1"/>
              <a:t>binaryExpression.getOperator</a:t>
            </a:r>
            <a:r>
              <a:rPr lang="en-US" dirty="0"/>
              <a:t>()).append(" ");</a:t>
            </a:r>
          </a:p>
          <a:p>
            <a:r>
              <a:rPr lang="en-US" dirty="0"/>
              <a:t>        </a:t>
            </a:r>
            <a:r>
              <a:rPr lang="en-US" dirty="0" err="1"/>
              <a:t>binaryExpression.getRight</a:t>
            </a:r>
            <a:r>
              <a:rPr lang="en-US" dirty="0"/>
              <a:t>().accept(this);</a:t>
            </a:r>
          </a:p>
          <a:p>
            <a:r>
              <a:rPr lang="en-US" dirty="0"/>
              <a:t>        </a:t>
            </a:r>
            <a:r>
              <a:rPr lang="en-US" dirty="0" err="1"/>
              <a:t>code.append</a:t>
            </a:r>
            <a:r>
              <a:rPr lang="en-US" dirty="0"/>
              <a:t>(")");</a:t>
            </a:r>
          </a:p>
          <a:p>
            <a:r>
              <a:rPr lang="en-US" dirty="0"/>
              <a:t>    }</a:t>
            </a:r>
          </a:p>
          <a:p>
            <a:r>
              <a:rPr lang="en-US" dirty="0"/>
              <a:t>}</a:t>
            </a:r>
          </a:p>
        </p:txBody>
      </p:sp>
      <p:sp>
        <p:nvSpPr>
          <p:cNvPr id="5" name="Title 4">
            <a:extLst>
              <a:ext uri="{FF2B5EF4-FFF2-40B4-BE49-F238E27FC236}">
                <a16:creationId xmlns:a16="http://schemas.microsoft.com/office/drawing/2014/main" id="{2C63EBB8-1429-8623-8BCF-8636B1B6B5A8}"/>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F57F20B3-87A3-5DE1-B120-647BB13F08EA}"/>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ASTVisitor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97622248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7E6046-A7F2-4D6B-E4EA-1108AA3CBA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40313-9974-C21F-2CC9-A863664B3082}"/>
              </a:ext>
            </a:extLst>
          </p:cNvPr>
          <p:cNvSpPr>
            <a:spLocks noGrp="1"/>
          </p:cNvSpPr>
          <p:nvPr>
            <p:ph idx="1"/>
          </p:nvPr>
        </p:nvSpPr>
        <p:spPr/>
        <p:txBody>
          <a:bodyPr>
            <a:normAutofit/>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83B5E36A-01FF-2841-745F-3FE83730E578}"/>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898151AA-98F6-EE9E-ACE3-586BD77444C5}"/>
              </a:ext>
            </a:extLst>
          </p:cNvPr>
          <p:cNvSpPr>
            <a:spLocks noGrp="1"/>
          </p:cNvSpPr>
          <p:nvPr>
            <p:ph idx="13"/>
          </p:nvPr>
        </p:nvSpPr>
        <p:spPr/>
        <p:txBody>
          <a:bodyPr>
            <a:normAutofit lnSpcReduction="10000"/>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a:latin typeface="Consolas" panose="020B0609020204030204" pitchFamily="49" charset="0"/>
              </a:rPr>
              <a:t>Shape</a:t>
            </a:r>
          </a:p>
          <a:p>
            <a:r>
              <a:rPr lang="en-US" dirty="0">
                <a:latin typeface="Helvetica" panose="020B0604020202020204"/>
                <a:cs typeface="Helvetica" panose="020B0604020202020204"/>
              </a:rPr>
              <a:t>Provide a concrete default implementation of </a:t>
            </a:r>
            <a:r>
              <a:rPr lang="en-US" dirty="0">
                <a:latin typeface="Consolas" panose="020B0609020204030204" pitchFamily="49" charset="0"/>
                <a:cs typeface="Helvetica" panose="020B0604020202020204"/>
              </a:rPr>
              <a:t>visit(</a:t>
            </a:r>
            <a:r>
              <a:rPr lang="en-US" dirty="0" err="1">
                <a:latin typeface="Consolas" panose="020B0609020204030204" pitchFamily="49" charset="0"/>
                <a:cs typeface="Helvetica" panose="020B0604020202020204"/>
              </a:rPr>
              <a:t>CompoundShape</a:t>
            </a:r>
            <a:r>
              <a:rPr lang="en-US" dirty="0">
                <a:latin typeface="Consolas" panose="020B0609020204030204" pitchFamily="49" charset="0"/>
                <a:cs typeface="Helvetica" panose="020B0604020202020204"/>
              </a:rPr>
              <a:t> c)</a:t>
            </a:r>
            <a:endParaRPr lang="en-US" b="1" i="1" dirty="0">
              <a:latin typeface="Consolas" panose="020B0609020204030204" pitchFamily="49" charset="0"/>
              <a:cs typeface="Helvetica" panose="020B0604020202020204"/>
            </a:endParaRPr>
          </a:p>
        </p:txBody>
      </p:sp>
      <p:sp>
        <p:nvSpPr>
          <p:cNvPr id="2" name="Rectangle 1">
            <a:extLst>
              <a:ext uri="{FF2B5EF4-FFF2-40B4-BE49-F238E27FC236}">
                <a16:creationId xmlns:a16="http://schemas.microsoft.com/office/drawing/2014/main" id="{7EC8B33E-D944-3AE9-0141-96E24B61DC56}"/>
              </a:ext>
            </a:extLst>
          </p:cNvPr>
          <p:cNvSpPr/>
          <p:nvPr/>
        </p:nvSpPr>
        <p:spPr>
          <a:xfrm>
            <a:off x="6096000" y="1026543"/>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BBDADD4-5D8C-8111-3C67-1FE0F00F9898}"/>
              </a:ext>
            </a:extLst>
          </p:cNvPr>
          <p:cNvSpPr/>
          <p:nvPr/>
        </p:nvSpPr>
        <p:spPr>
          <a:xfrm>
            <a:off x="6096000" y="1348154"/>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A5850E56-3C0A-53B6-8CF0-F2B592A0C158}"/>
              </a:ext>
            </a:extLst>
          </p:cNvPr>
          <p:cNvSpPr/>
          <p:nvPr/>
        </p:nvSpPr>
        <p:spPr>
          <a:xfrm>
            <a:off x="6096000" y="1689893"/>
            <a:ext cx="5871110" cy="420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EF12ECC-99AB-9727-3DBD-3EF07703D346}"/>
              </a:ext>
            </a:extLst>
          </p:cNvPr>
          <p:cNvSpPr/>
          <p:nvPr/>
        </p:nvSpPr>
        <p:spPr>
          <a:xfrm>
            <a:off x="6096000" y="1778620"/>
            <a:ext cx="5871110" cy="12928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878873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6" grpId="0" animBg="1"/>
      <p:bldP spid="6" grpId="1" animBg="1"/>
      <p:bldP spid="8"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8BA876-1710-AC94-41A4-17714B0EFE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5F92D3-EE67-456B-53E0-C38677DD65CA}"/>
              </a:ext>
            </a:extLst>
          </p:cNvPr>
          <p:cNvSpPr>
            <a:spLocks noGrp="1"/>
          </p:cNvSpPr>
          <p:nvPr>
            <p:ph idx="1"/>
          </p:nvPr>
        </p:nvSpPr>
        <p:spPr/>
        <p:txBody>
          <a:bodyPr>
            <a:normAutofit/>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@Override</a:t>
            </a:r>
          </a:p>
          <a:p>
            <a:r>
              <a:rPr lang="en-US" dirty="0"/>
              <a:t>    	public void visit(Rectangle rectangle) {</a:t>
            </a:r>
          </a:p>
          <a:p>
            <a:r>
              <a:rPr lang="en-US" dirty="0"/>
              <a:t>		//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1AB9A579-C67D-137A-CC0E-48997392C4F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5244C4C3-6384-AC34-42EC-D1A51CA4BF1B}"/>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ShapeVisitor</a:t>
            </a:r>
            <a:endParaRPr lang="en-US" dirty="0">
              <a:latin typeface="Consolas" panose="020B0609020204030204" pitchFamily="49" charset="0"/>
            </a:endParaRPr>
          </a:p>
          <a:p>
            <a:r>
              <a:rPr lang="en-US" dirty="0">
                <a:latin typeface="Helvetica" panose="020B0604020202020204"/>
                <a:cs typeface="Helvetica" panose="020B0604020202020204"/>
              </a:rPr>
              <a:t>Implement the </a:t>
            </a:r>
            <a:r>
              <a:rPr lang="en-US" dirty="0">
                <a:latin typeface="Consolas" panose="020B0609020204030204" pitchFamily="49" charset="0"/>
                <a:cs typeface="Helvetica" panose="020B0604020202020204"/>
              </a:rPr>
              <a:t>visit</a:t>
            </a:r>
            <a:r>
              <a:rPr lang="en-US" dirty="0">
                <a:latin typeface="Helvetica" panose="020B0604020202020204"/>
                <a:cs typeface="Helvetica" panose="020B0604020202020204"/>
              </a:rPr>
              <a:t> method for each shape</a:t>
            </a:r>
          </a:p>
          <a:p>
            <a:r>
              <a:rPr lang="en-US" dirty="0" err="1">
                <a:latin typeface="Consolas" panose="020B0609020204030204" pitchFamily="49" charset="0"/>
              </a:rPr>
              <a:t>TranslationVisitor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110B8713-CE21-84BB-81A3-9942450FA302}"/>
              </a:ext>
            </a:extLst>
          </p:cNvPr>
          <p:cNvSpPr/>
          <p:nvPr/>
        </p:nvSpPr>
        <p:spPr>
          <a:xfrm>
            <a:off x="6424862" y="2277979"/>
            <a:ext cx="5542247" cy="24785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8367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5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ECAEC57-CB25-0A29-E350-8B127A62A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E38B1B-A3CC-E961-DDBF-57CA93367519}"/>
              </a:ext>
            </a:extLst>
          </p:cNvPr>
          <p:cNvSpPr>
            <a:spLocks noGrp="1"/>
          </p:cNvSpPr>
          <p:nvPr>
            <p:ph idx="1"/>
          </p:nvPr>
        </p:nvSpPr>
        <p:spPr/>
        <p:txBody>
          <a:bodyPr>
            <a:normAutofit/>
          </a:bodyPr>
          <a:lstStyle/>
          <a:p>
            <a:r>
              <a:rPr lang="en-US" dirty="0"/>
              <a:t>class </a:t>
            </a:r>
            <a:r>
              <a:rPr lang="en-US" dirty="0" err="1"/>
              <a:t>ScalingVisitor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ScalingVisitor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 do scaling</a:t>
            </a:r>
          </a:p>
          <a:p>
            <a:r>
              <a:rPr lang="en-US" dirty="0"/>
              <a:t>	}</a:t>
            </a:r>
          </a:p>
          <a:p>
            <a:endParaRPr lang="en-US" dirty="0"/>
          </a:p>
          <a:p>
            <a:r>
              <a:rPr lang="en-US" dirty="0"/>
              <a:t>    	@Override</a:t>
            </a:r>
          </a:p>
          <a:p>
            <a:r>
              <a:rPr lang="en-US" dirty="0"/>
              <a:t>    	public void visit(Rectangle rectangle) {</a:t>
            </a:r>
          </a:p>
          <a:p>
            <a:r>
              <a:rPr lang="en-US" dirty="0"/>
              <a:t>		// scale!!!</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0BD98798-05F6-F07D-61B3-A9A880AB116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380F4B8F-FC0A-D802-41C3-AC921BBA39C1}"/>
              </a:ext>
            </a:extLst>
          </p:cNvPr>
          <p:cNvSpPr>
            <a:spLocks noGrp="1"/>
          </p:cNvSpPr>
          <p:nvPr>
            <p:ph idx="13"/>
          </p:nvPr>
        </p:nvSpPr>
        <p:spPr/>
        <p:txBody>
          <a:bodyPr/>
          <a:lstStyle/>
          <a:p>
            <a:r>
              <a:rPr lang="en-US" dirty="0" err="1">
                <a:latin typeface="Consolas" panose="020B0609020204030204" pitchFamily="49" charset="0"/>
              </a:rPr>
              <a:t>ScalingVisitor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BCB6D458-74D7-AB6B-8284-DE952792D18C}"/>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8079939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14585</TotalTime>
  <Words>12330</Words>
  <Application>Microsoft Office PowerPoint</Application>
  <PresentationFormat>Widescreen</PresentationFormat>
  <Paragraphs>2121</Paragraphs>
  <Slides>154</Slides>
  <Notes>71</Notes>
  <HiddenSlides>9</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154</vt:i4>
      </vt:variant>
    </vt:vector>
  </HeadingPairs>
  <TitlesOfParts>
    <vt:vector size="160" baseType="lpstr">
      <vt:lpstr>Arial</vt:lpstr>
      <vt:lpstr>Calibri</vt:lpstr>
      <vt:lpstr>Consolas</vt:lpstr>
      <vt:lpstr>Helvetica</vt:lpstr>
      <vt:lpstr>Wingdings</vt:lpstr>
      <vt:lpstr>Preso 2022 Watertower Stats</vt:lpstr>
      <vt:lpstr>PowerPoint Presentation</vt:lpstr>
      <vt:lpstr>Announcements</vt:lpstr>
      <vt:lpstr>What are design patterns?</vt:lpstr>
      <vt:lpstr>What are design patterns?</vt:lpstr>
      <vt:lpstr>Social media platform</vt:lpstr>
      <vt:lpstr>OO, testing, reflection – single component focus</vt:lpstr>
      <vt:lpstr>Software architecture</vt:lpstr>
      <vt:lpstr>Design patterns – single component focus</vt:lpstr>
      <vt:lpstr>Why do we need design patterns?</vt:lpstr>
      <vt:lpstr>Why do we need design patterns?</vt:lpstr>
      <vt:lpstr>Question</vt:lpstr>
      <vt:lpstr>static field</vt:lpstr>
      <vt:lpstr>static field</vt:lpstr>
      <vt:lpstr>Preventing misuse</vt:lpstr>
      <vt:lpstr>Solution: singleton design pattern</vt:lpstr>
      <vt:lpstr>Solution: singleton design pattern</vt:lpstr>
      <vt:lpstr>Why do we need design patterns?</vt:lpstr>
      <vt:lpstr>Why should we study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Design pattern classification</vt:lpstr>
      <vt:lpstr>Structural patterns</vt:lpstr>
      <vt:lpstr>PowerPoint Presentation</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Adapter vs. proxy design pattern</vt:lpstr>
      <vt:lpstr>Characteristics</vt:lpstr>
      <vt:lpstr>PowerPoint Presentation</vt:lpstr>
      <vt:lpstr>Announcements</vt:lpstr>
      <vt:lpstr>Agenda</vt:lpstr>
      <vt:lpstr>Sample question 1</vt:lpstr>
      <vt:lpstr>Sample question 2</vt:lpstr>
      <vt:lpstr>Sample question 2</vt:lpstr>
      <vt:lpstr>Design pattern classification</vt:lpstr>
      <vt:lpstr>PowerPoint Presentation</vt:lpstr>
      <vt:lpstr>Case study: social media posts</vt:lpstr>
      <vt:lpstr>Composite design pattern for social media post</vt:lpstr>
      <vt:lpstr>Benefits</vt:lpstr>
      <vt:lpstr>Benefits</vt:lpstr>
      <vt:lpstr>Benefits</vt:lpstr>
      <vt:lpstr>Benefits</vt:lpstr>
      <vt:lpstr>Composite design pattern</vt:lpstr>
      <vt:lpstr>Characteristics</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Design pattern classification</vt:lpstr>
      <vt:lpstr>PowerPoint Presentation</vt:lpstr>
      <vt:lpstr>Case study – compiler library</vt:lpstr>
      <vt:lpstr>Case study – compiler library</vt:lpstr>
      <vt:lpstr>Case study – compiler library</vt:lpstr>
      <vt:lpstr>Characteristics</vt:lpstr>
      <vt:lpstr>PowerPoint Presentation</vt:lpstr>
      <vt:lpstr>Announcements</vt:lpstr>
      <vt:lpstr>Agenda</vt:lpstr>
      <vt:lpstr>Design pattern classification</vt:lpstr>
      <vt:lpstr>PowerPoint Presentation</vt:lpstr>
      <vt:lpstr>Decorator design pattern</vt:lpstr>
      <vt:lpstr>Case study – fraud detecting payment processor</vt:lpstr>
      <vt:lpstr>Fraud detection decorator for payment processor</vt:lpstr>
      <vt:lpstr>Decorators visually</vt:lpstr>
      <vt:lpstr>Fraud detection decorator for payment processor</vt:lpstr>
      <vt:lpstr>Fraud detection decorator for payment processor</vt:lpstr>
      <vt:lpstr>Fraud detection decorator for payment processor</vt:lpstr>
      <vt:lpstr>Decorators visually</vt:lpstr>
      <vt:lpstr>Combining adapter and decorator patters</vt:lpstr>
      <vt:lpstr>Isn’t this a proxy??</vt:lpstr>
      <vt:lpstr>Non-ideal alternate implementations: subclass?</vt:lpstr>
      <vt:lpstr>Problem 1: breaks SRP</vt:lpstr>
      <vt:lpstr>Problem 2: class explosion</vt:lpstr>
      <vt:lpstr>Characteristics</vt:lpstr>
      <vt:lpstr>PowerPoint Presentation</vt:lpstr>
      <vt:lpstr>Case study – game system</vt:lpstr>
      <vt:lpstr>Flyweight design pattern</vt:lpstr>
      <vt:lpstr>Flyweight design pattern</vt:lpstr>
      <vt:lpstr>Putting it all together</vt:lpstr>
      <vt:lpstr>Characteristics</vt:lpstr>
      <vt:lpstr>Sample design pattern question</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Announcements</vt:lpstr>
      <vt:lpstr>Design pattern classification</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Sample design pattern question</vt:lpstr>
      <vt:lpstr>PowerPoint Presentation</vt:lpstr>
      <vt:lpstr>PowerPoint Presentation</vt:lpstr>
      <vt:lpstr>Case study – transform nested shapes</vt:lpstr>
      <vt:lpstr>Case study – transform nested shapes</vt:lpstr>
      <vt:lpstr>Case study – transform nested shapes</vt:lpstr>
      <vt:lpstr>Design option 1</vt:lpstr>
      <vt:lpstr>Design option 1</vt:lpstr>
      <vt:lpstr>Disadvantages</vt:lpstr>
      <vt:lpstr>Visitor design pattern</vt:lpstr>
      <vt:lpstr>Visitor design pattern</vt:lpstr>
      <vt:lpstr>Visitor design pattern</vt:lpstr>
      <vt:lpstr>Visitor design pattern</vt:lpstr>
      <vt:lpstr>Visitor design pattern – putting it all together</vt:lpstr>
      <vt:lpstr>Visitor pattern – full code</vt:lpstr>
      <vt:lpstr>Visitor design pattern</vt:lpstr>
      <vt:lpstr>Visitor design pattern</vt:lpstr>
      <vt:lpstr>High-level case study – compiler code generation</vt:lpstr>
      <vt:lpstr>ASTVisitor</vt:lpstr>
      <vt:lpstr>ASTVisitor</vt:lpstr>
      <vt:lpstr>Summary</vt:lpstr>
      <vt:lpstr>PowerPoint Presentation</vt:lpstr>
      <vt:lpstr>Question 1</vt:lpstr>
      <vt:lpstr>Question 2</vt:lpstr>
      <vt:lpstr>Question 3</vt:lpstr>
      <vt:lpstr>With visitor design pattern</vt:lpstr>
      <vt:lpstr>With visitor design pattern</vt:lpstr>
      <vt:lpstr>With visitor design pattern</vt:lpstr>
      <vt:lpstr>Visitor design pattern</vt:lpstr>
      <vt:lpstr>Visitor design pattern</vt:lpstr>
      <vt:lpstr>Visitor design pattern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1582</cp:revision>
  <dcterms:created xsi:type="dcterms:W3CDTF">2019-06-30T03:25:06Z</dcterms:created>
  <dcterms:modified xsi:type="dcterms:W3CDTF">2025-12-03T06:06:33Z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