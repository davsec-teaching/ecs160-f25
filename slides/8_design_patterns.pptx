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43"/>
  </p:notesMasterIdLst>
  <p:handoutMasterIdLst>
    <p:handoutMasterId r:id="rId144"/>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1220" r:id="rId42"/>
    <p:sldId id="1221" r:id="rId43"/>
    <p:sldId id="1222" r:id="rId44"/>
    <p:sldId id="1219" r:id="rId45"/>
    <p:sldId id="1224" r:id="rId46"/>
    <p:sldId id="1225" r:id="rId47"/>
    <p:sldId id="1223" r:id="rId48"/>
    <p:sldId id="342" r:id="rId49"/>
    <p:sldId id="284" r:id="rId50"/>
    <p:sldId id="285" r:id="rId51"/>
    <p:sldId id="347" r:id="rId52"/>
    <p:sldId id="1217" r:id="rId53"/>
    <p:sldId id="348" r:id="rId54"/>
    <p:sldId id="349" r:id="rId55"/>
    <p:sldId id="283" r:id="rId56"/>
    <p:sldId id="286" r:id="rId57"/>
    <p:sldId id="358" r:id="rId58"/>
    <p:sldId id="279" r:id="rId59"/>
    <p:sldId id="280" r:id="rId60"/>
    <p:sldId id="281" r:id="rId61"/>
    <p:sldId id="282" r:id="rId62"/>
    <p:sldId id="361" r:id="rId63"/>
    <p:sldId id="278" r:id="rId64"/>
    <p:sldId id="288" r:id="rId65"/>
    <p:sldId id="370" r:id="rId66"/>
    <p:sldId id="371" r:id="rId67"/>
    <p:sldId id="372" r:id="rId68"/>
    <p:sldId id="374" r:id="rId69"/>
    <p:sldId id="375" r:id="rId70"/>
    <p:sldId id="377" r:id="rId71"/>
    <p:sldId id="343" r:id="rId72"/>
    <p:sldId id="289" r:id="rId73"/>
    <p:sldId id="351" r:id="rId74"/>
    <p:sldId id="291" r:id="rId75"/>
    <p:sldId id="1218" r:id="rId76"/>
    <p:sldId id="292" r:id="rId77"/>
    <p:sldId id="293" r:id="rId78"/>
    <p:sldId id="294" r:id="rId79"/>
    <p:sldId id="355" r:id="rId80"/>
    <p:sldId id="368" r:id="rId81"/>
    <p:sldId id="350" r:id="rId82"/>
    <p:sldId id="352" r:id="rId83"/>
    <p:sldId id="353" r:id="rId84"/>
    <p:sldId id="354" r:id="rId85"/>
    <p:sldId id="295" r:id="rId86"/>
    <p:sldId id="376" r:id="rId87"/>
    <p:sldId id="378" r:id="rId88"/>
    <p:sldId id="379" r:id="rId89"/>
    <p:sldId id="380" r:id="rId90"/>
    <p:sldId id="381" r:id="rId91"/>
    <p:sldId id="382" r:id="rId92"/>
    <p:sldId id="385" r:id="rId93"/>
    <p:sldId id="296" r:id="rId94"/>
    <p:sldId id="364" r:id="rId95"/>
    <p:sldId id="298" r:id="rId96"/>
    <p:sldId id="297" r:id="rId97"/>
    <p:sldId id="383" r:id="rId98"/>
    <p:sldId id="299" r:id="rId99"/>
    <p:sldId id="300" r:id="rId100"/>
    <p:sldId id="301" r:id="rId101"/>
    <p:sldId id="302" r:id="rId102"/>
    <p:sldId id="365" r:id="rId103"/>
    <p:sldId id="367" r:id="rId104"/>
    <p:sldId id="305" r:id="rId105"/>
    <p:sldId id="306" r:id="rId106"/>
    <p:sldId id="307" r:id="rId107"/>
    <p:sldId id="308" r:id="rId108"/>
    <p:sldId id="303" r:id="rId109"/>
    <p:sldId id="309" r:id="rId110"/>
    <p:sldId id="366" r:id="rId111"/>
    <p:sldId id="311" r:id="rId112"/>
    <p:sldId id="312" r:id="rId113"/>
    <p:sldId id="313" r:id="rId114"/>
    <p:sldId id="310" r:id="rId115"/>
    <p:sldId id="314" r:id="rId116"/>
    <p:sldId id="401" r:id="rId117"/>
    <p:sldId id="402" r:id="rId118"/>
    <p:sldId id="384" r:id="rId119"/>
    <p:sldId id="386" r:id="rId120"/>
    <p:sldId id="387" r:id="rId121"/>
    <p:sldId id="388" r:id="rId122"/>
    <p:sldId id="389" r:id="rId123"/>
    <p:sldId id="390" r:id="rId124"/>
    <p:sldId id="391" r:id="rId125"/>
    <p:sldId id="392" r:id="rId126"/>
    <p:sldId id="393" r:id="rId127"/>
    <p:sldId id="394" r:id="rId128"/>
    <p:sldId id="395" r:id="rId129"/>
    <p:sldId id="399" r:id="rId130"/>
    <p:sldId id="396" r:id="rId131"/>
    <p:sldId id="315" r:id="rId132"/>
    <p:sldId id="397" r:id="rId133"/>
    <p:sldId id="398" r:id="rId134"/>
    <p:sldId id="400" r:id="rId135"/>
    <p:sldId id="1211" r:id="rId136"/>
    <p:sldId id="1212" r:id="rId137"/>
    <p:sldId id="1213" r:id="rId138"/>
    <p:sldId id="1214" r:id="rId139"/>
    <p:sldId id="319" r:id="rId140"/>
    <p:sldId id="321" r:id="rId141"/>
    <p:sldId id="323" r:id="rId142"/>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77378" autoAdjust="0"/>
  </p:normalViewPr>
  <p:slideViewPr>
    <p:cSldViewPr snapToGrid="0">
      <p:cViewPr varScale="1">
        <p:scale>
          <a:sx n="85" d="100"/>
          <a:sy n="85" d="100"/>
        </p:scale>
        <p:origin x="1176" y="96"/>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microsoft.com/office/2016/11/relationships/changesInfo" Target="changesInfos/changesInfo1.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microsoft.com/office/2015/10/relationships/revisionInfo" Target="revisionInfo.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microsoft.com/office/2018/10/relationships/authors" Target="author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notesMaster" Target="notesMasters/notesMaster1.xml"/><Relationship Id="rId14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handoutMaster" Target="handoutMasters/handoutMaster1.xml"/><Relationship Id="rId9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11/25/2025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1453-65AA-8288-9B47-203808FDA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E07E7-E138-87AB-C827-F2F6F6C18D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ECC5A-0B0B-6110-093A-365B7CED34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7050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843789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321138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48D-0813-2461-734B-9F0302CA0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C007F-DE83-A823-08F2-C6006298A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E322-DAA3-504A-9FD9-7AF57C1E4D9A}"/>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77722688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Tuesday, November 25,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have class though</a:t>
            </a:r>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lnSpcReduction="10000"/>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 // </a:t>
            </a:r>
            <a:r>
              <a:rPr lang="en-US" sz="1600" dirty="0" err="1">
                <a:latin typeface="Consolas" panose="020B0609020204030204" pitchFamily="49" charset="0"/>
              </a:rPr>
              <a:t>WinButton</a:t>
            </a:r>
            <a:r>
              <a:rPr lang="en-US" sz="1600" dirty="0">
                <a:latin typeface="Consolas" panose="020B0609020204030204" pitchFamily="49" charset="0"/>
              </a:rPr>
              <a:t> extends Button</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 // Extends Button</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CD7228-F96E-3B29-3AD0-46815D02264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765F51ED-8528-7B10-84BF-BA7E1900AEF1}"/>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31204172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0FFA9DB-D120-76AD-D05D-0B75487B0C3E}"/>
              </a:ext>
            </a:extLst>
          </p:cNvPr>
          <p:cNvSpPr>
            <a:spLocks noGrp="1"/>
          </p:cNvSpPr>
          <p:nvPr>
            <p:ph idx="1"/>
          </p:nvPr>
        </p:nvSpPr>
        <p:spPr/>
        <p:txBody>
          <a:bodyPr/>
          <a:lstStyle/>
          <a:p>
            <a:r>
              <a:rPr lang="en-US" dirty="0"/>
              <a:t>Please submit HW2 by Dec 1, 11:59 PM</a:t>
            </a:r>
          </a:p>
        </p:txBody>
      </p:sp>
      <p:sp>
        <p:nvSpPr>
          <p:cNvPr id="4" name="Title 3">
            <a:extLst>
              <a:ext uri="{FF2B5EF4-FFF2-40B4-BE49-F238E27FC236}">
                <a16:creationId xmlns:a16="http://schemas.microsoft.com/office/drawing/2014/main" id="{A2778FD1-A4F5-0B04-DFDA-B51847FB0CF5}"/>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31578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4C20D4-74A4-6080-30B7-A67DAAFCBBBD}"/>
              </a:ext>
            </a:extLst>
          </p:cNvPr>
          <p:cNvSpPr>
            <a:spLocks noGrp="1"/>
          </p:cNvSpPr>
          <p:nvPr>
            <p:ph idx="1"/>
          </p:nvPr>
        </p:nvSpPr>
        <p:spPr/>
        <p:txBody>
          <a:bodyPr/>
          <a:lstStyle/>
          <a:p>
            <a:r>
              <a:rPr lang="en-US" dirty="0"/>
              <a:t>Sample design patterns questions</a:t>
            </a:r>
          </a:p>
          <a:p>
            <a:r>
              <a:rPr lang="en-US" dirty="0"/>
              <a:t>Composite pattern</a:t>
            </a:r>
          </a:p>
          <a:p>
            <a:r>
              <a:rPr lang="en-US" dirty="0"/>
              <a:t>Bridge pattern</a:t>
            </a:r>
          </a:p>
          <a:p>
            <a:r>
              <a:rPr lang="en-US" dirty="0"/>
              <a:t>Façade pattern</a:t>
            </a:r>
          </a:p>
          <a:p>
            <a:r>
              <a:rPr lang="en-US" dirty="0"/>
              <a:t>Decorator pattern</a:t>
            </a:r>
          </a:p>
        </p:txBody>
      </p:sp>
      <p:sp>
        <p:nvSpPr>
          <p:cNvPr id="4" name="Title 3">
            <a:extLst>
              <a:ext uri="{FF2B5EF4-FFF2-40B4-BE49-F238E27FC236}">
                <a16:creationId xmlns:a16="http://schemas.microsoft.com/office/drawing/2014/main" id="{2794FD43-6F40-29BF-5BCF-F38D8BD109ED}"/>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652745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F2B5-6A42-24A9-03E3-198C2183404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1B9CC5-8517-4702-28A9-1C6AE542FA73}"/>
              </a:ext>
            </a:extLst>
          </p:cNvPr>
          <p:cNvSpPr>
            <a:spLocks noGrp="1"/>
          </p:cNvSpPr>
          <p:nvPr>
            <p:ph idx="1"/>
          </p:nvPr>
        </p:nvSpPr>
        <p:spPr/>
        <p:txBody>
          <a:bodyPr>
            <a:normAutofit lnSpcReduction="10000"/>
          </a:bodyPr>
          <a:lstStyle/>
          <a:p>
            <a:pPr>
              <a:spcBef>
                <a:spcPct val="50000"/>
              </a:spcBef>
            </a:pPr>
            <a:r>
              <a:rPr lang="en-US" altLang="en-US" dirty="0">
                <a:latin typeface="Helvetica" panose="020B0604020202020204" pitchFamily="34" charset="0"/>
                <a:cs typeface="Helvetica" panose="020B0604020202020204" pitchFamily="34" charset="0"/>
              </a:rPr>
              <a:t>Design patterns: singleton pattern, abstract factory pattern, adapter pattern, proxy pattern (during reflection)</a:t>
            </a:r>
          </a:p>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5C7127F8-0147-23E3-141C-DCE863876644}"/>
              </a:ext>
            </a:extLst>
          </p:cNvPr>
          <p:cNvSpPr>
            <a:spLocks noGrp="1"/>
          </p:cNvSpPr>
          <p:nvPr>
            <p:ph type="title"/>
          </p:nvPr>
        </p:nvSpPr>
        <p:spPr/>
        <p:txBody>
          <a:bodyPr/>
          <a:lstStyle/>
          <a:p>
            <a:r>
              <a:rPr lang="en-US" dirty="0"/>
              <a:t>Sample question 1</a:t>
            </a:r>
          </a:p>
        </p:txBody>
      </p:sp>
    </p:spTree>
    <p:extLst>
      <p:ext uri="{BB962C8B-B14F-4D97-AF65-F5344CB8AC3E}">
        <p14:creationId xmlns:p14="http://schemas.microsoft.com/office/powerpoint/2010/main" val="313306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EF6EB27-19E3-5031-55DB-79E91D48F275}"/>
              </a:ext>
            </a:extLst>
          </p:cNvPr>
          <p:cNvSpPr>
            <a:spLocks noGrp="1"/>
          </p:cNvSpPr>
          <p:nvPr>
            <p:ph idx="1"/>
          </p:nvPr>
        </p:nvSpPr>
        <p:spPr/>
        <p:txBody>
          <a:bodyPr/>
          <a:lstStyle/>
          <a:p>
            <a:r>
              <a:rPr lang="en-US" dirty="0"/>
              <a:t>I have a </a:t>
            </a:r>
            <a:r>
              <a:rPr lang="en-US" dirty="0" err="1">
                <a:latin typeface="Consolas" panose="020B0609020204030204" pitchFamily="49" charset="0"/>
              </a:rPr>
              <a:t>GitHubRepo</a:t>
            </a:r>
            <a:r>
              <a:rPr lang="en-US" dirty="0"/>
              <a:t> class with fields for – </a:t>
            </a:r>
            <a:r>
              <a:rPr lang="en-US" dirty="0">
                <a:latin typeface="Consolas" panose="020B0609020204030204" pitchFamily="49" charset="0"/>
              </a:rPr>
              <a:t>author</a:t>
            </a:r>
            <a:r>
              <a:rPr lang="en-US" dirty="0"/>
              <a:t>, </a:t>
            </a:r>
            <a:r>
              <a:rPr lang="en-US" dirty="0" err="1">
                <a:latin typeface="Consolas" panose="020B0609020204030204" pitchFamily="49" charset="0"/>
              </a:rPr>
              <a:t>url</a:t>
            </a:r>
            <a:r>
              <a:rPr lang="en-US" dirty="0"/>
              <a:t>, </a:t>
            </a:r>
            <a:r>
              <a:rPr lang="en-US" dirty="0" err="1">
                <a:latin typeface="Consolas" panose="020B0609020204030204" pitchFamily="49" charset="0"/>
              </a:rPr>
              <a:t>creationDate</a:t>
            </a:r>
            <a:r>
              <a:rPr lang="en-US" dirty="0"/>
              <a:t>, </a:t>
            </a:r>
            <a:r>
              <a:rPr lang="en-US" dirty="0" err="1">
                <a:latin typeface="Consolas" panose="020B0609020204030204" pitchFamily="49" charset="0"/>
              </a:rPr>
              <a:t>lastTenCommitList</a:t>
            </a:r>
            <a:r>
              <a:rPr lang="en-US" dirty="0"/>
              <a:t>, </a:t>
            </a:r>
            <a:r>
              <a:rPr lang="en-US" dirty="0" err="1">
                <a:latin typeface="Consolas" panose="020B0609020204030204" pitchFamily="49" charset="0"/>
              </a:rPr>
              <a:t>issueList</a:t>
            </a:r>
            <a:r>
              <a:rPr lang="en-US" dirty="0"/>
              <a:t>. The </a:t>
            </a:r>
            <a:r>
              <a:rPr lang="en-US" dirty="0" err="1">
                <a:latin typeface="Consolas" panose="020B0609020204030204" pitchFamily="49" charset="0"/>
              </a:rPr>
              <a:t>lastTenCommitList</a:t>
            </a:r>
            <a:r>
              <a:rPr lang="en-US" dirty="0"/>
              <a:t> contains a list of all commits. I want the </a:t>
            </a:r>
            <a:r>
              <a:rPr lang="en-US" dirty="0" err="1">
                <a:latin typeface="Consolas" panose="020B0609020204030204" pitchFamily="49" charset="0"/>
              </a:rPr>
              <a:t>lastTenCommitList</a:t>
            </a:r>
            <a:r>
              <a:rPr lang="en-US" dirty="0"/>
              <a:t> field, which is a List object, to be lazy-loaded. Only when the user performs a call to </a:t>
            </a:r>
            <a:r>
              <a:rPr lang="en-US" dirty="0" err="1">
                <a:latin typeface="Consolas" panose="020B0609020204030204" pitchFamily="49" charset="0"/>
              </a:rPr>
              <a:t>getLastTenCommitlist</a:t>
            </a:r>
            <a:r>
              <a:rPr lang="en-US" dirty="0">
                <a:latin typeface="Consolas" panose="020B0609020204030204" pitchFamily="49" charset="0"/>
              </a:rPr>
              <a:t>()</a:t>
            </a:r>
            <a:r>
              <a:rPr lang="en-US" dirty="0"/>
              <a:t> should the commits be fetched. How should I design this?</a:t>
            </a:r>
          </a:p>
        </p:txBody>
      </p:sp>
      <p:sp>
        <p:nvSpPr>
          <p:cNvPr id="4" name="Title 3">
            <a:extLst>
              <a:ext uri="{FF2B5EF4-FFF2-40B4-BE49-F238E27FC236}">
                <a16:creationId xmlns:a16="http://schemas.microsoft.com/office/drawing/2014/main" id="{D4E6D1E7-D3EE-8D44-E451-0B464CA5BFC6}"/>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2540673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A0BD6-0B9E-07A2-A3DC-4C49CE7CF2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BBDFA3-5218-4FFC-13B4-7EF217A115D3}"/>
              </a:ext>
            </a:extLst>
          </p:cNvPr>
          <p:cNvSpPr>
            <a:spLocks noGrp="1"/>
          </p:cNvSpPr>
          <p:nvPr>
            <p:ph idx="1"/>
          </p:nvPr>
        </p:nvSpPr>
        <p:spPr/>
        <p:txBody>
          <a:bodyPr>
            <a:normAutofit fontScale="92500" lnSpcReduction="10000"/>
          </a:bodyPr>
          <a:lstStyle/>
          <a:p>
            <a:r>
              <a:rPr lang="en-US" dirty="0"/>
              <a:t>I want to design a framework that supports lazy loading from an API. The framework should support a class-level annotation </a:t>
            </a:r>
            <a:r>
              <a:rPr lang="en-US" dirty="0">
                <a:latin typeface="Consolas" panose="020B0609020204030204" pitchFamily="49" charset="0"/>
              </a:rPr>
              <a:t>@Remote</a:t>
            </a:r>
            <a:r>
              <a:rPr lang="en-US" dirty="0"/>
              <a:t> and a method-level annotation </a:t>
            </a:r>
            <a:r>
              <a:rPr lang="en-US" dirty="0">
                <a:latin typeface="Consolas" panose="020B0609020204030204" pitchFamily="49" charset="0"/>
              </a:rPr>
              <a:t>@RemoteField(url = “/</a:t>
            </a:r>
            <a:r>
              <a:rPr lang="en-US" dirty="0" err="1">
                <a:latin typeface="Consolas" panose="020B0609020204030204" pitchFamily="49" charset="0"/>
              </a:rPr>
              <a:t>api</a:t>
            </a:r>
            <a:r>
              <a:rPr lang="en-US" dirty="0">
                <a:latin typeface="Consolas" panose="020B0609020204030204" pitchFamily="49" charset="0"/>
              </a:rPr>
              <a:t>/endpoint”)</a:t>
            </a:r>
            <a:r>
              <a:rPr lang="en-US" dirty="0"/>
              <a:t>. When the getter of a field annotated with </a:t>
            </a:r>
            <a:r>
              <a:rPr lang="en-US" dirty="0">
                <a:latin typeface="Consolas" panose="020B0609020204030204" pitchFamily="49" charset="0"/>
              </a:rPr>
              <a:t>@RemoteField </a:t>
            </a:r>
            <a:r>
              <a:rPr lang="en-US" dirty="0"/>
              <a:t>is invoked, the </a:t>
            </a:r>
            <a:r>
              <a:rPr lang="en-US" dirty="0" err="1"/>
              <a:t>url</a:t>
            </a:r>
            <a:r>
              <a:rPr lang="en-US" dirty="0"/>
              <a:t> endpoint should be invoked, which would return a JSON array object. This JSON array object should be deserialized into a Java </a:t>
            </a:r>
            <a:r>
              <a:rPr lang="en-US" dirty="0">
                <a:latin typeface="Consolas" panose="020B0609020204030204" pitchFamily="49" charset="0"/>
              </a:rPr>
              <a:t>List</a:t>
            </a:r>
            <a:r>
              <a:rPr lang="en-US" dirty="0"/>
              <a:t> and stored to the field annotated with the </a:t>
            </a:r>
            <a:r>
              <a:rPr lang="en-US" dirty="0">
                <a:latin typeface="Consolas" panose="020B0609020204030204" pitchFamily="49" charset="0"/>
              </a:rPr>
              <a:t>@RemoteField</a:t>
            </a:r>
            <a:r>
              <a:rPr lang="en-US" dirty="0"/>
              <a:t> annotation. How should I design this framework? Assume that fields annotated with </a:t>
            </a:r>
            <a:r>
              <a:rPr lang="en-US" dirty="0">
                <a:latin typeface="Consolas" panose="020B0609020204030204" pitchFamily="49" charset="0"/>
              </a:rPr>
              <a:t>@RemoteField </a:t>
            </a:r>
            <a:r>
              <a:rPr lang="en-US" dirty="0"/>
              <a:t>are only accessed by their getters and that a getter named </a:t>
            </a:r>
            <a:r>
              <a:rPr lang="en-US" dirty="0">
                <a:latin typeface="Consolas" panose="020B0609020204030204" pitchFamily="49" charset="0"/>
              </a:rPr>
              <a:t>get&lt;Field&gt;</a:t>
            </a:r>
            <a:r>
              <a:rPr lang="en-US" dirty="0"/>
              <a:t> is always present for that field. Also, assume that only fields of type </a:t>
            </a:r>
            <a:r>
              <a:rPr lang="en-US" dirty="0">
                <a:latin typeface="Consolas" panose="020B0609020204030204" pitchFamily="49" charset="0"/>
              </a:rPr>
              <a:t>List</a:t>
            </a:r>
            <a:r>
              <a:rPr lang="en-US" dirty="0"/>
              <a:t> are annotated with the </a:t>
            </a:r>
            <a:r>
              <a:rPr lang="en-US" dirty="0" err="1">
                <a:latin typeface="Consolas" panose="020B0609020204030204" pitchFamily="49" charset="0"/>
              </a:rPr>
              <a:t>RemoteField</a:t>
            </a:r>
            <a:r>
              <a:rPr lang="en-US" dirty="0"/>
              <a:t> annotation</a:t>
            </a:r>
          </a:p>
        </p:txBody>
      </p:sp>
      <p:sp>
        <p:nvSpPr>
          <p:cNvPr id="4" name="Title 3">
            <a:extLst>
              <a:ext uri="{FF2B5EF4-FFF2-40B4-BE49-F238E27FC236}">
                <a16:creationId xmlns:a16="http://schemas.microsoft.com/office/drawing/2014/main" id="{6E98A586-00B1-A299-1442-AB17088800D7}"/>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18794403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43838-EEFE-24AF-1D4F-7D1AB8C7A1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52CE6C9-1FCC-DD40-7EA4-ABAA1CC37E1C}"/>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6BB9B28-1E7D-1716-EAE5-3B1331A89B8A}"/>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1CB8DF37-E7B9-E74E-060F-ED59C9302429}"/>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a:t>
            </a:r>
            <a:r>
              <a:rPr lang="en-US" b="1" dirty="0"/>
              <a:t>Composite</a:t>
            </a:r>
            <a:r>
              <a:rPr lang="en-US" dirty="0"/>
              <a:t>, Bridge, Façade, Decorator</a:t>
            </a:r>
          </a:p>
        </p:txBody>
      </p:sp>
      <p:sp>
        <p:nvSpPr>
          <p:cNvPr id="6" name="Content Placeholder 4">
            <a:extLst>
              <a:ext uri="{FF2B5EF4-FFF2-40B4-BE49-F238E27FC236}">
                <a16:creationId xmlns:a16="http://schemas.microsoft.com/office/drawing/2014/main" id="{B705B6CE-61AF-8839-FE88-3A5FA6EED45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942D88DF-6AC3-625C-55FA-A2BD76DD8978}"/>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743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lnSpcReduction="10000"/>
          </a:bodyPr>
          <a:lstStyle/>
          <a:p>
            <a:r>
              <a:rPr lang="en-US" dirty="0"/>
              <a:t>A </a:t>
            </a:r>
            <a:r>
              <a:rPr lang="en-US" dirty="0">
                <a:latin typeface="Consolas" panose="020B0609020204030204" pitchFamily="49" charset="0"/>
              </a:rPr>
              <a:t>Post</a:t>
            </a:r>
            <a:r>
              <a:rPr lang="en-US" dirty="0"/>
              <a:t> is a leaf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r>
              <a:rPr lang="en-US" b="1" i="1" dirty="0"/>
              <a:t>… bring them under same type hierarchy?</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986833" y="4445170"/>
            <a:ext cx="5267607" cy="928341"/>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696277"/>
            <a:ext cx="5619178" cy="5002711"/>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75073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2980267"/>
            <a:ext cx="5633412" cy="250613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411983" y="2518602"/>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7CFE5-E4B0-E798-1A67-F32912B28BD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BF9A764-028F-11C7-4570-CA0DEABAC8F5}"/>
              </a:ext>
            </a:extLst>
          </p:cNvPr>
          <p:cNvSpPr>
            <a:spLocks noGrp="1"/>
          </p:cNvSpPr>
          <p:nvPr>
            <p:ph idx="1"/>
          </p:nvPr>
        </p:nvSpPr>
        <p:spPr>
          <a:xfrm>
            <a:off x="6176512" y="785004"/>
            <a:ext cx="6015488" cy="5046453"/>
          </a:xfrm>
        </p:spPr>
        <p:txBody>
          <a:bodyPr>
            <a:normAutofit lnSpcReduction="10000"/>
          </a:bodyPr>
          <a:lstStyle/>
          <a:p>
            <a:r>
              <a:rPr lang="en-US" b="1" dirty="0"/>
              <a:t>// With composite design pattern</a:t>
            </a:r>
          </a:p>
          <a:p>
            <a:r>
              <a:rPr lang="en-US" dirty="0"/>
              <a:t>public abstract class </a:t>
            </a:r>
            <a:r>
              <a:rPr lang="en-US" dirty="0" err="1"/>
              <a:t>SocialMediaComponent</a:t>
            </a:r>
            <a:r>
              <a:rPr lang="en-US" dirty="0"/>
              <a:t> {</a:t>
            </a:r>
            <a:br>
              <a:rPr lang="en-US" dirty="0"/>
            </a:br>
            <a:r>
              <a:rPr lang="en-US" dirty="0"/>
              <a:t>    public void show(); </a:t>
            </a:r>
            <a:br>
              <a:rPr lang="en-US" dirty="0"/>
            </a:br>
            <a:r>
              <a:rPr lang="en-US" dirty="0"/>
              <a:t>    // other methods</a:t>
            </a:r>
            <a:br>
              <a:rPr lang="en-US" dirty="0"/>
            </a:br>
            <a:r>
              <a:rPr lang="en-US" dirty="0"/>
              <a:t>}</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a:t>
            </a:r>
            <a:r>
              <a:rPr lang="en-US" dirty="0" err="1"/>
              <a:t>SocialMediaContent</a:t>
            </a:r>
            <a:r>
              <a:rPr lang="en-US" dirty="0"/>
              <a:t>&gt; children; </a:t>
            </a:r>
          </a:p>
          <a:p>
            <a:r>
              <a:rPr lang="en-US" dirty="0"/>
              <a:t>	public void show() {</a:t>
            </a:r>
          </a:p>
          <a:p>
            <a:r>
              <a:rPr lang="en-US" dirty="0"/>
              <a:t>		for (</a:t>
            </a:r>
            <a:r>
              <a:rPr lang="en-US" dirty="0" err="1"/>
              <a:t>SocialMediaContent</a:t>
            </a:r>
            <a:r>
              <a:rPr lang="en-US" dirty="0"/>
              <a:t> child: children) {</a:t>
            </a:r>
          </a:p>
          <a:p>
            <a:r>
              <a:rPr lang="en-US" dirty="0"/>
              <a:t>		  </a:t>
            </a:r>
            <a:r>
              <a:rPr lang="en-US" dirty="0" err="1"/>
              <a:t>child.show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341E90-7D69-6F1F-CC55-3FD834B8AFE8}"/>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0762206-145A-000F-356C-4D337B1CEDD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5B360C48-41E0-366B-A83C-2B09578B7DBA}"/>
              </a:ext>
            </a:extLst>
          </p:cNvPr>
          <p:cNvSpPr/>
          <p:nvPr/>
        </p:nvSpPr>
        <p:spPr>
          <a:xfrm>
            <a:off x="6479822" y="3826934"/>
            <a:ext cx="5429956" cy="14449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810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onClick</a:t>
            </a:r>
            <a:r>
              <a:rPr lang="en-US" dirty="0"/>
              <a:t>() {</a:t>
            </a:r>
          </a:p>
          <a:p>
            <a:r>
              <a:rPr lang="en-US" dirty="0"/>
              <a:t>		</a:t>
            </a:r>
            <a:r>
              <a:rPr lang="en-US" dirty="0" err="1"/>
              <a:t>post.show</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onClick</a:t>
            </a:r>
            <a:r>
              <a:rPr lang="en-US" dirty="0"/>
              <a:t>() {</a:t>
            </a:r>
          </a:p>
          <a:p>
            <a:r>
              <a:rPr lang="en-US" dirty="0"/>
              <a:t>		</a:t>
            </a:r>
            <a:r>
              <a:rPr lang="en-US" dirty="0" err="1"/>
              <a:t>thread.show</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Prevents 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lvl="1"/>
            <a:r>
              <a:rPr lang="en-US" dirty="0">
                <a:latin typeface="Helvetica" panose="020B0604020202020204" pitchFamily="34" charset="0"/>
                <a:cs typeface="Helvetica" panose="020B0604020202020204" pitchFamily="34" charset="0"/>
              </a:rPr>
              <a:t>E.g., UI components for post and threads can have unified handling</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fontScale="925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Spaces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a:t>
            </a:r>
          </a:p>
          <a:p>
            <a:r>
              <a:rPr lang="en-US" dirty="0"/>
              <a:t>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a:t>
            </a:r>
            <a:r>
              <a:rPr lang="en-US" u="sng" dirty="0"/>
              <a:t>Façade, </a:t>
            </a:r>
            <a:r>
              <a:rPr lang="en-US" dirty="0"/>
              <a:t>Decorator</a:t>
            </a:r>
            <a:endParaRPr lang="en-US" u="sng" dirty="0"/>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70967072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49593" y="1457568"/>
            <a:ext cx="4892814" cy="3697333"/>
            <a:chOff x="6087997" y="1477107"/>
            <a:chExt cx="4892814" cy="3697333"/>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94923430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617156"/>
            <a:ext cx="5633412" cy="11037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2" y="2006954"/>
            <a:ext cx="5633412" cy="7596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Decorators visually</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StripeProcessor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 a remote proxy will not contain a direct reference to its real subject but only an indirect reference,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pPr lvl="1"/>
            <a:r>
              <a:rPr lang="en-US" dirty="0"/>
              <a:t>No longer necessary to anticipate all possible functionalities during class creation</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image is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76512" y="1142555"/>
            <a:ext cx="5674612" cy="592461"/>
            <a:chOff x="6176512" y="1142555"/>
            <a:chExt cx="5674612" cy="592461"/>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4" y="1142555"/>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176512" y="918634"/>
            <a:ext cx="5686635" cy="685585"/>
            <a:chOff x="6176512" y="1259024"/>
            <a:chExt cx="5686635" cy="475992"/>
          </a:xfrm>
        </p:grpSpPr>
        <p:sp>
          <p:nvSpPr>
            <p:cNvPr id="11" name="Rectangle 10">
              <a:extLst>
                <a:ext uri="{FF2B5EF4-FFF2-40B4-BE49-F238E27FC236}">
                  <a16:creationId xmlns:a16="http://schemas.microsoft.com/office/drawing/2014/main" id="{31F3A1E3-22AA-94A9-C7EA-6F5C024EAE9E}"/>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058101" y="1259024"/>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68F69-B24B-D9B2-DC39-FEA7EDDDFAAE}"/>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84BD36B2-F888-8E6D-D1BC-E3C0BC31A064}"/>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AA0BC4A7-D5D1-6F8C-5904-3BDA70FD7E52}"/>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2665233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7D2D7F-2FE3-3104-5BB6-946C4AC58B2F}"/>
              </a:ext>
            </a:extLst>
          </p:cNvPr>
          <p:cNvSpPr>
            <a:spLocks noGrp="1"/>
          </p:cNvSpPr>
          <p:nvPr>
            <p:ph idx="1"/>
          </p:nvPr>
        </p:nvSpPr>
        <p:spPr/>
        <p:txBody>
          <a:bodyPr/>
          <a:lstStyle/>
          <a:p>
            <a:r>
              <a:rPr lang="en-US" dirty="0"/>
              <a:t>Visitor design pattern</a:t>
            </a:r>
          </a:p>
          <a:p>
            <a:r>
              <a:rPr lang="en-US" dirty="0"/>
              <a:t>Software security</a:t>
            </a:r>
          </a:p>
        </p:txBody>
      </p:sp>
      <p:sp>
        <p:nvSpPr>
          <p:cNvPr id="4" name="Title 3">
            <a:extLst>
              <a:ext uri="{FF2B5EF4-FFF2-40B4-BE49-F238E27FC236}">
                <a16:creationId xmlns:a16="http://schemas.microsoft.com/office/drawing/2014/main" id="{9FAD9294-10C5-1C46-AB8C-7C73E3F2AC6F}"/>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97883565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14143</TotalTime>
  <Words>11088</Words>
  <Application>Microsoft Office PowerPoint</Application>
  <PresentationFormat>Widescreen</PresentationFormat>
  <Paragraphs>1962</Paragraphs>
  <Slides>141</Slides>
  <Notes>70</Notes>
  <HiddenSlides>12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141</vt:i4>
      </vt:variant>
    </vt:vector>
  </HeadingPairs>
  <TitlesOfParts>
    <vt:vector size="147"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Sample question 1</vt:lpstr>
      <vt:lpstr>Sample question 2</vt:lpstr>
      <vt:lpstr>Sample question 2</vt:lpstr>
      <vt:lpstr>Design pattern classification</vt:lpstr>
      <vt:lpstr>PowerPoint Presentation</vt:lpstr>
      <vt:lpstr>Case study: social media posts</vt:lpstr>
      <vt:lpstr>Composite design pattern for social media post</vt:lpstr>
      <vt:lpstr>Benefits</vt:lpstr>
      <vt:lpstr>Benefits</vt:lpstr>
      <vt:lpstr>Benefits</vt:lpstr>
      <vt:lpstr>Benefits</vt:lpstr>
      <vt:lpstr>Composite design pattern</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Decorator design pattern</vt:lpstr>
      <vt:lpstr>Case study – fraud detecting payment processor</vt:lpstr>
      <vt:lpstr>Fraud detection decorator for payment processor</vt:lpstr>
      <vt:lpstr>Decorators visually</vt:lpstr>
      <vt:lpstr>Fraud detection decorator for payment processor</vt:lpstr>
      <vt:lpstr>Fraud detection decorator for payment processor</vt:lpstr>
      <vt:lpstr>Fraud detection decorator for payment processor</vt:lpstr>
      <vt:lpstr>Decorators visually</vt:lpstr>
      <vt:lpstr>Decorators visually</vt:lpstr>
      <vt:lpstr>Isn’t this a proxy??</vt:lpstr>
      <vt:lpstr>Non-ideal alternate implementations: subclass?</vt:lpstr>
      <vt:lpstr>Problem 1: breaks SRP</vt:lpstr>
      <vt:lpstr>Problem 2: class explosion</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Agenda</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1500</cp:revision>
  <dcterms:created xsi:type="dcterms:W3CDTF">2019-06-30T03:25:06Z</dcterms:created>
  <dcterms:modified xsi:type="dcterms:W3CDTF">2025-11-26T17:25:04Z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