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43"/>
  </p:notesMasterIdLst>
  <p:handoutMasterIdLst>
    <p:handoutMasterId r:id="rId144"/>
  </p:handoutMasterIdLst>
  <p:sldIdLst>
    <p:sldId id="256" r:id="rId2"/>
    <p:sldId id="1216" r:id="rId3"/>
    <p:sldId id="257" r:id="rId4"/>
    <p:sldId id="344" r:id="rId5"/>
    <p:sldId id="326" r:id="rId6"/>
    <p:sldId id="327" r:id="rId7"/>
    <p:sldId id="328" r:id="rId8"/>
    <p:sldId id="329" r:id="rId9"/>
    <p:sldId id="258" r:id="rId10"/>
    <p:sldId id="263" r:id="rId11"/>
    <p:sldId id="338" r:id="rId12"/>
    <p:sldId id="264" r:id="rId13"/>
    <p:sldId id="1215" r:id="rId14"/>
    <p:sldId id="330" r:id="rId15"/>
    <p:sldId id="267" r:id="rId16"/>
    <p:sldId id="268" r:id="rId17"/>
    <p:sldId id="259" r:id="rId18"/>
    <p:sldId id="325" r:id="rId19"/>
    <p:sldId id="333" r:id="rId20"/>
    <p:sldId id="262" r:id="rId21"/>
    <p:sldId id="340" r:id="rId22"/>
    <p:sldId id="270" r:id="rId23"/>
    <p:sldId id="272" r:id="rId24"/>
    <p:sldId id="271" r:id="rId25"/>
    <p:sldId id="269" r:id="rId26"/>
    <p:sldId id="273" r:id="rId27"/>
    <p:sldId id="331" r:id="rId28"/>
    <p:sldId id="332" r:id="rId29"/>
    <p:sldId id="345" r:id="rId30"/>
    <p:sldId id="274" r:id="rId31"/>
    <p:sldId id="341" r:id="rId32"/>
    <p:sldId id="275" r:id="rId33"/>
    <p:sldId id="335" r:id="rId34"/>
    <p:sldId id="276" r:id="rId35"/>
    <p:sldId id="334" r:id="rId36"/>
    <p:sldId id="277" r:id="rId37"/>
    <p:sldId id="339" r:id="rId38"/>
    <p:sldId id="336" r:id="rId39"/>
    <p:sldId id="337" r:id="rId40"/>
    <p:sldId id="287" r:id="rId41"/>
    <p:sldId id="1220" r:id="rId42"/>
    <p:sldId id="1221" r:id="rId43"/>
    <p:sldId id="1222" r:id="rId44"/>
    <p:sldId id="1219" r:id="rId45"/>
    <p:sldId id="1224" r:id="rId46"/>
    <p:sldId id="1225" r:id="rId47"/>
    <p:sldId id="1223" r:id="rId48"/>
    <p:sldId id="342" r:id="rId49"/>
    <p:sldId id="284" r:id="rId50"/>
    <p:sldId id="285" r:id="rId51"/>
    <p:sldId id="347" r:id="rId52"/>
    <p:sldId id="1217" r:id="rId53"/>
    <p:sldId id="348" r:id="rId54"/>
    <p:sldId id="349" r:id="rId55"/>
    <p:sldId id="283" r:id="rId56"/>
    <p:sldId id="286" r:id="rId57"/>
    <p:sldId id="358" r:id="rId58"/>
    <p:sldId id="279" r:id="rId59"/>
    <p:sldId id="280" r:id="rId60"/>
    <p:sldId id="281" r:id="rId61"/>
    <p:sldId id="282" r:id="rId62"/>
    <p:sldId id="361" r:id="rId63"/>
    <p:sldId id="278" r:id="rId64"/>
    <p:sldId id="288" r:id="rId65"/>
    <p:sldId id="370" r:id="rId66"/>
    <p:sldId id="371" r:id="rId67"/>
    <p:sldId id="372" r:id="rId68"/>
    <p:sldId id="374" r:id="rId69"/>
    <p:sldId id="375" r:id="rId70"/>
    <p:sldId id="377" r:id="rId71"/>
    <p:sldId id="343" r:id="rId72"/>
    <p:sldId id="289" r:id="rId73"/>
    <p:sldId id="351" r:id="rId74"/>
    <p:sldId id="291" r:id="rId75"/>
    <p:sldId id="1218" r:id="rId76"/>
    <p:sldId id="292" r:id="rId77"/>
    <p:sldId id="293" r:id="rId78"/>
    <p:sldId id="294" r:id="rId79"/>
    <p:sldId id="355" r:id="rId80"/>
    <p:sldId id="368" r:id="rId81"/>
    <p:sldId id="350" r:id="rId82"/>
    <p:sldId id="352" r:id="rId83"/>
    <p:sldId id="353" r:id="rId84"/>
    <p:sldId id="354" r:id="rId85"/>
    <p:sldId id="295" r:id="rId86"/>
    <p:sldId id="376" r:id="rId87"/>
    <p:sldId id="378" r:id="rId88"/>
    <p:sldId id="379" r:id="rId89"/>
    <p:sldId id="380" r:id="rId90"/>
    <p:sldId id="381" r:id="rId91"/>
    <p:sldId id="382" r:id="rId92"/>
    <p:sldId id="385" r:id="rId93"/>
    <p:sldId id="296" r:id="rId94"/>
    <p:sldId id="364" r:id="rId95"/>
    <p:sldId id="298" r:id="rId96"/>
    <p:sldId id="297" r:id="rId97"/>
    <p:sldId id="383" r:id="rId98"/>
    <p:sldId id="299" r:id="rId99"/>
    <p:sldId id="300" r:id="rId100"/>
    <p:sldId id="301" r:id="rId101"/>
    <p:sldId id="302" r:id="rId102"/>
    <p:sldId id="365" r:id="rId103"/>
    <p:sldId id="367" r:id="rId104"/>
    <p:sldId id="305" r:id="rId105"/>
    <p:sldId id="306" r:id="rId106"/>
    <p:sldId id="307" r:id="rId107"/>
    <p:sldId id="308" r:id="rId108"/>
    <p:sldId id="303" r:id="rId109"/>
    <p:sldId id="309" r:id="rId110"/>
    <p:sldId id="366" r:id="rId111"/>
    <p:sldId id="311" r:id="rId112"/>
    <p:sldId id="312" r:id="rId113"/>
    <p:sldId id="313" r:id="rId114"/>
    <p:sldId id="310" r:id="rId115"/>
    <p:sldId id="314" r:id="rId116"/>
    <p:sldId id="401" r:id="rId117"/>
    <p:sldId id="402" r:id="rId118"/>
    <p:sldId id="384" r:id="rId119"/>
    <p:sldId id="386" r:id="rId120"/>
    <p:sldId id="387" r:id="rId121"/>
    <p:sldId id="388" r:id="rId122"/>
    <p:sldId id="389" r:id="rId123"/>
    <p:sldId id="390" r:id="rId124"/>
    <p:sldId id="391" r:id="rId125"/>
    <p:sldId id="392" r:id="rId126"/>
    <p:sldId id="393" r:id="rId127"/>
    <p:sldId id="394" r:id="rId128"/>
    <p:sldId id="395" r:id="rId129"/>
    <p:sldId id="399" r:id="rId130"/>
    <p:sldId id="396" r:id="rId131"/>
    <p:sldId id="315" r:id="rId132"/>
    <p:sldId id="397" r:id="rId133"/>
    <p:sldId id="398" r:id="rId134"/>
    <p:sldId id="400" r:id="rId135"/>
    <p:sldId id="1211" r:id="rId136"/>
    <p:sldId id="1212" r:id="rId137"/>
    <p:sldId id="1213" r:id="rId138"/>
    <p:sldId id="1214" r:id="rId139"/>
    <p:sldId id="319" r:id="rId140"/>
    <p:sldId id="321" r:id="rId141"/>
    <p:sldId id="323" r:id="rId142"/>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B3B3"/>
    <a:srgbClr val="E6E0EC"/>
    <a:srgbClr val="003399"/>
    <a:srgbClr val="FFFFFF"/>
    <a:srgbClr val="B9B9FF"/>
    <a:srgbClr val="0000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73" autoAdjust="0"/>
    <p:restoredTop sz="77378" autoAdjust="0"/>
  </p:normalViewPr>
  <p:slideViewPr>
    <p:cSldViewPr snapToGrid="0">
      <p:cViewPr varScale="1">
        <p:scale>
          <a:sx n="119" d="100"/>
          <a:sy n="119" d="100"/>
        </p:scale>
        <p:origin x="4356" y="114"/>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microsoft.com/office/2016/11/relationships/changesInfo" Target="changesInfos/changesInfo1.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microsoft.com/office/2015/10/relationships/revisionInfo" Target="revisionInfo.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microsoft.com/office/2018/10/relationships/authors" Target="author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notesMaster" Target="notesMasters/notesMaster1.xml"/><Relationship Id="rId14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handoutMaster" Target="handoutMasters/handoutMaster1.xml"/><Relationship Id="rId90" Type="http://schemas.openxmlformats.org/officeDocument/2006/relationships/slide" Target="slides/slide8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11/26/2025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11/26/2025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Where do design patterns fit in our journey through software engine</a:t>
            </a:r>
          </a:p>
        </p:txBody>
      </p:sp>
    </p:spTree>
    <p:extLst>
      <p:ext uri="{BB962C8B-B14F-4D97-AF65-F5344CB8AC3E}">
        <p14:creationId xmlns:p14="http://schemas.microsoft.com/office/powerpoint/2010/main" val="733057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EDA0B-1F0C-0338-0E28-0E35765E3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03790-60FA-0750-028F-FB5ECA61B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F6D32-2E11-AA8C-E3B6-197CD8D026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724091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83D3-A526-A3F9-7826-4358F3925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338B7-FDD6-D2E0-0643-299D06641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88EF2-1A11-62C8-53C1-D676BED2FEE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810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7C80-B1BD-96F2-4C6F-39CA3B44E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34B616-7197-257F-3C1A-0C5C690BA1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2EB3E-DFBB-ED1C-2EFE-2DB48DA4F974}"/>
              </a:ext>
            </a:extLst>
          </p:cNvPr>
          <p:cNvSpPr>
            <a:spLocks noGrp="1"/>
          </p:cNvSpPr>
          <p:nvPr>
            <p:ph type="body" idx="1"/>
          </p:nvPr>
        </p:nvSpPr>
        <p:spPr/>
        <p:txBody>
          <a:bodyPr/>
          <a:lstStyle/>
          <a:p>
            <a:pPr marL="171450" indent="-171450">
              <a:buFontTx/>
              <a:buChar char="-"/>
            </a:pPr>
            <a:r>
              <a:rPr lang="en-US" dirty="0"/>
              <a:t>In this module, we will pop out a bit</a:t>
            </a:r>
          </a:p>
          <a:p>
            <a:pPr marL="171450" indent="-171450">
              <a:buFontTx/>
              <a:buChar char="-"/>
            </a:pPr>
            <a:r>
              <a:rPr lang="en-US" dirty="0"/>
              <a:t>Look at entire system</a:t>
            </a:r>
          </a:p>
          <a:p>
            <a:pPr marL="171450" indent="-171450">
              <a:buFontTx/>
              <a:buChar char="-"/>
            </a:pPr>
            <a:r>
              <a:rPr lang="en-US" dirty="0"/>
              <a:t>Design these complex systems</a:t>
            </a:r>
          </a:p>
          <a:p>
            <a:pPr marL="0" indent="0">
              <a:buFontTx/>
              <a:buNone/>
            </a:pPr>
            <a:endParaRPr lang="en-US" dirty="0"/>
          </a:p>
        </p:txBody>
      </p:sp>
    </p:spTree>
    <p:extLst>
      <p:ext uri="{BB962C8B-B14F-4D97-AF65-F5344CB8AC3E}">
        <p14:creationId xmlns:p14="http://schemas.microsoft.com/office/powerpoint/2010/main" val="15075143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5DD41-5300-72D6-0225-2B181D159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5F694-41FD-3D1D-E5D1-44824A012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950417-97F3-398C-E6BD-0CB7F1EDC72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60289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Really make you fast in reading the code</a:t>
            </a:r>
          </a:p>
          <a:p>
            <a:pPr marL="171450" indent="-171450">
              <a:buFontTx/>
              <a:buChar char="-"/>
            </a:pPr>
            <a:r>
              <a:rPr lang="en-US" dirty="0"/>
              <a:t>Otherwise spend a lot of time trying to trace what it’s doing</a:t>
            </a:r>
          </a:p>
        </p:txBody>
      </p:sp>
    </p:spTree>
    <p:extLst>
      <p:ext uri="{BB962C8B-B14F-4D97-AF65-F5344CB8AC3E}">
        <p14:creationId xmlns:p14="http://schemas.microsoft.com/office/powerpoint/2010/main" val="2862225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7658E-D2D7-7BD5-D912-84D3C2E72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59422-34C2-BA83-851C-BCBABD6C2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3A89D-7F0F-2122-47BF-C8927B85AF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153970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85B53-1232-03F9-693C-BF0E0369A0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40C68-A92D-4271-4EF7-1A69260A8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80D7CF-A49A-1F76-D0C6-EA3A078219A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256144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C0CDE-963B-B899-2121-127DD8784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3B08F-495D-8EAB-B5B4-5F39A8BCA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7468B-9B46-B2D2-4A83-BF8D73C8AD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84282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71453-65AA-8288-9B47-203808FDA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1E07E7-E138-87AB-C827-F2F6F6C18D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3ECC5A-0B0B-6110-093A-365B7CED344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070504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F63E8-359E-4442-4A1B-12E285C4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95442-60E9-9B87-040C-2C1F5E3E5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E7F9D-2BCC-BCD8-C968-1E0CCA5EE4A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6758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237EA-09CF-11BB-E915-A547D86FA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5FF-03CA-A8B1-5305-C93B1FEFD4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C90AD-CFC4-673D-038C-00388014C4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23828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2C1B2-02CE-9DA5-5C6E-D5D2FF23D9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AE6F5-273C-56E5-A8E7-4F0DFB9ECD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7A78E-DD06-3E8C-4EBC-7072858B3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479273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EB6AA-0866-F9F9-89E7-576735DFA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6F779-FAB6-1100-34BA-BB6A1A73A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0A7DC-13C7-A265-CDE0-BFEA6E697C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577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388994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34305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1B65F-45AA-AC0C-458B-E08A6B20A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9998C-9485-1A7B-481A-E728F83F6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A860E-AB2C-D31A-A832-2B1DF73DE88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8437898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321138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01691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8587352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26523611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CA48D-0813-2461-734B-9F0302CA07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6C007F-DE83-A823-08F2-C6006298AF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AE322-DAA3-504A-9FD9-7AF57C1E4D9A}"/>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77722688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AD028-2D50-BE82-F7A4-8E561497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514C2-BEFB-A973-D947-4BC038DF2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80A17-A8AD-21D1-8249-5DFFC8A8EA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4715945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AF35-C224-4B14-5EEE-DD629DE80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C544DF-F92B-ECF1-CC4C-EE1F75FCC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38E87F-FD2A-F1D5-B59A-8FD089DD0F4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312619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FED8F-BD96-4865-EE48-64BFA485B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B78DD0-EE29-2945-C64B-32776E81D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30EFE-0440-96DC-2BEF-C690CD4D43F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4902924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64CC9-E972-9688-526A-7E6465388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AF3C4-45C4-9E9F-6E34-2937CFA9E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022C8A-2B49-A33A-BD4E-DBE2EA5587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8374654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CF6DB-0C9A-6D02-40D7-04A9783C3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EE4CA-EB1E-8750-ADA6-F85D763751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6D377-EF70-27B1-CE02-08415155E6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4008224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4343E-F9E4-B171-61A0-F3E68F414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A207B5-201E-4933-02D0-9E9BCB715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57FEC0-5A1A-7A68-9F77-F9F8A1DED8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4172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November 26,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November 26,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November 26,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November 26,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November 26,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November 26,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Wednesday, November 26,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D186415-4B8E-5341-EFF6-0BA04978345A}"/>
              </a:ext>
            </a:extLst>
          </p:cNvPr>
          <p:cNvSpPr>
            <a:spLocks noGrp="1"/>
          </p:cNvSpPr>
          <p:nvPr>
            <p:ph idx="1"/>
          </p:nvPr>
        </p:nvSpPr>
        <p:spPr/>
        <p:txBody>
          <a:bodyPr>
            <a:normAutofit/>
          </a:bodyPr>
          <a:lstStyle/>
          <a:p>
            <a:r>
              <a:rPr lang="en-US" dirty="0"/>
              <a:t>Quiz 4 was more difficult than other quizzes</a:t>
            </a:r>
          </a:p>
          <a:p>
            <a:pPr lvl="1"/>
            <a:r>
              <a:rPr lang="en-US" dirty="0"/>
              <a:t>Feedback: explain each step</a:t>
            </a:r>
          </a:p>
          <a:p>
            <a:pPr lvl="1"/>
            <a:r>
              <a:rPr lang="en-US" dirty="0"/>
              <a:t>“If </a:t>
            </a:r>
            <a:r>
              <a:rPr lang="en-US" dirty="0" err="1">
                <a:latin typeface="Consolas" panose="020B0609020204030204" pitchFamily="49" charset="0"/>
              </a:rPr>
              <a:t>fptr</a:t>
            </a:r>
            <a:r>
              <a:rPr lang="en-US" dirty="0"/>
              <a:t> can be leaked…” =&gt; How can </a:t>
            </a:r>
            <a:r>
              <a:rPr lang="en-US" dirty="0" err="1">
                <a:latin typeface="Consolas" panose="020B0609020204030204" pitchFamily="49" charset="0"/>
              </a:rPr>
              <a:t>fptr</a:t>
            </a:r>
            <a:r>
              <a:rPr lang="en-US" dirty="0"/>
              <a:t> be leaked?</a:t>
            </a:r>
          </a:p>
          <a:p>
            <a:pPr lvl="1"/>
            <a:r>
              <a:rPr lang="en-US" dirty="0"/>
              <a:t>Explain each step using the code provided</a:t>
            </a:r>
          </a:p>
          <a:p>
            <a:r>
              <a:rPr lang="en-US" dirty="0"/>
              <a:t>Quiz 5 will be a take-home quiz on Dec 5</a:t>
            </a:r>
          </a:p>
          <a:p>
            <a:r>
              <a:rPr lang="en-US" dirty="0"/>
              <a:t>No office hours on 11/26; we will have class though</a:t>
            </a:r>
          </a:p>
          <a:p>
            <a:r>
              <a:rPr lang="en-US" dirty="0"/>
              <a:t>HW3 will be released tonight – deadline Dec 12</a:t>
            </a:r>
            <a:br>
              <a:rPr lang="en-US" dirty="0"/>
            </a:br>
            <a:endParaRPr lang="en-US" dirty="0"/>
          </a:p>
        </p:txBody>
      </p:sp>
      <p:sp>
        <p:nvSpPr>
          <p:cNvPr id="4" name="Title 3">
            <a:extLst>
              <a:ext uri="{FF2B5EF4-FFF2-40B4-BE49-F238E27FC236}">
                <a16:creationId xmlns:a16="http://schemas.microsoft.com/office/drawing/2014/main" id="{99B42F82-2925-06A7-B05B-F6E2AD4F20C7}"/>
              </a:ext>
            </a:extLst>
          </p:cNvPr>
          <p:cNvSpPr>
            <a:spLocks noGrp="1"/>
          </p:cNvSpPr>
          <p:nvPr>
            <p:ph type="title"/>
          </p:nvPr>
        </p:nvSpPr>
        <p:spPr/>
        <p:txBody>
          <a:bodyPr/>
          <a:lstStyle/>
          <a:p>
            <a:r>
              <a:rPr lang="en-US" dirty="0"/>
              <a:t>Announcements</a:t>
            </a:r>
          </a:p>
        </p:txBody>
      </p:sp>
      <p:graphicFrame>
        <p:nvGraphicFramePr>
          <p:cNvPr id="6" name="Table 5">
            <a:extLst>
              <a:ext uri="{FF2B5EF4-FFF2-40B4-BE49-F238E27FC236}">
                <a16:creationId xmlns:a16="http://schemas.microsoft.com/office/drawing/2014/main" id="{F4AEFEFA-EC40-121B-295D-7742460FF5F4}"/>
              </a:ext>
            </a:extLst>
          </p:cNvPr>
          <p:cNvGraphicFramePr>
            <a:graphicFrameLocks noGrp="1"/>
          </p:cNvGraphicFramePr>
          <p:nvPr>
            <p:extLst>
              <p:ext uri="{D42A27DB-BD31-4B8C-83A1-F6EECF244321}">
                <p14:modId xmlns:p14="http://schemas.microsoft.com/office/powerpoint/2010/main" val="1712872376"/>
              </p:ext>
            </p:extLst>
          </p:nvPr>
        </p:nvGraphicFramePr>
        <p:xfrm>
          <a:off x="8649369" y="808008"/>
          <a:ext cx="2884906" cy="1879155"/>
        </p:xfrm>
        <a:graphic>
          <a:graphicData uri="http://schemas.openxmlformats.org/drawingml/2006/table">
            <a:tbl>
              <a:tblPr firstRow="1" bandRow="1">
                <a:tableStyleId>{073A0DAA-6AF3-43AB-8588-CEC1D06C72B9}</a:tableStyleId>
              </a:tblPr>
              <a:tblGrid>
                <a:gridCol w="1442453">
                  <a:extLst>
                    <a:ext uri="{9D8B030D-6E8A-4147-A177-3AD203B41FA5}">
                      <a16:colId xmlns:a16="http://schemas.microsoft.com/office/drawing/2014/main" val="3956407124"/>
                    </a:ext>
                  </a:extLst>
                </a:gridCol>
                <a:gridCol w="1442453">
                  <a:extLst>
                    <a:ext uri="{9D8B030D-6E8A-4147-A177-3AD203B41FA5}">
                      <a16:colId xmlns:a16="http://schemas.microsoft.com/office/drawing/2014/main" val="3439681437"/>
                    </a:ext>
                  </a:extLst>
                </a:gridCol>
              </a:tblGrid>
              <a:tr h="375831">
                <a:tc>
                  <a:txBody>
                    <a:bodyPr/>
                    <a:lstStyle/>
                    <a:p>
                      <a:r>
                        <a:rPr lang="en-US" dirty="0"/>
                        <a:t>Quiz</a:t>
                      </a:r>
                    </a:p>
                  </a:txBody>
                  <a:tcPr/>
                </a:tc>
                <a:tc>
                  <a:txBody>
                    <a:bodyPr/>
                    <a:lstStyle/>
                    <a:p>
                      <a:r>
                        <a:rPr lang="en-US" dirty="0"/>
                        <a:t>Avg score</a:t>
                      </a:r>
                    </a:p>
                  </a:txBody>
                  <a:tcPr/>
                </a:tc>
                <a:extLst>
                  <a:ext uri="{0D108BD9-81ED-4DB2-BD59-A6C34878D82A}">
                    <a16:rowId xmlns:a16="http://schemas.microsoft.com/office/drawing/2014/main" val="952738593"/>
                  </a:ext>
                </a:extLst>
              </a:tr>
              <a:tr h="375831">
                <a:tc>
                  <a:txBody>
                    <a:bodyPr/>
                    <a:lstStyle/>
                    <a:p>
                      <a:r>
                        <a:rPr lang="en-US" dirty="0"/>
                        <a:t>Quiz 1</a:t>
                      </a:r>
                    </a:p>
                  </a:txBody>
                  <a:tcPr/>
                </a:tc>
                <a:tc>
                  <a:txBody>
                    <a:bodyPr/>
                    <a:lstStyle/>
                    <a:p>
                      <a:r>
                        <a:rPr lang="en-US" dirty="0"/>
                        <a:t>83%</a:t>
                      </a:r>
                    </a:p>
                  </a:txBody>
                  <a:tcPr/>
                </a:tc>
                <a:extLst>
                  <a:ext uri="{0D108BD9-81ED-4DB2-BD59-A6C34878D82A}">
                    <a16:rowId xmlns:a16="http://schemas.microsoft.com/office/drawing/2014/main" val="1958718066"/>
                  </a:ext>
                </a:extLst>
              </a:tr>
              <a:tr h="375831">
                <a:tc>
                  <a:txBody>
                    <a:bodyPr/>
                    <a:lstStyle/>
                    <a:p>
                      <a:r>
                        <a:rPr lang="en-US" dirty="0"/>
                        <a:t>Quiz 2</a:t>
                      </a:r>
                    </a:p>
                  </a:txBody>
                  <a:tcPr/>
                </a:tc>
                <a:tc>
                  <a:txBody>
                    <a:bodyPr/>
                    <a:lstStyle/>
                    <a:p>
                      <a:r>
                        <a:rPr lang="en-US" dirty="0"/>
                        <a:t>70%</a:t>
                      </a:r>
                    </a:p>
                  </a:txBody>
                  <a:tcPr/>
                </a:tc>
                <a:extLst>
                  <a:ext uri="{0D108BD9-81ED-4DB2-BD59-A6C34878D82A}">
                    <a16:rowId xmlns:a16="http://schemas.microsoft.com/office/drawing/2014/main" val="2631434036"/>
                  </a:ext>
                </a:extLst>
              </a:tr>
              <a:tr h="375831">
                <a:tc>
                  <a:txBody>
                    <a:bodyPr/>
                    <a:lstStyle/>
                    <a:p>
                      <a:r>
                        <a:rPr lang="en-US" dirty="0"/>
                        <a:t>Quiz 3</a:t>
                      </a:r>
                    </a:p>
                  </a:txBody>
                  <a:tcPr/>
                </a:tc>
                <a:tc>
                  <a:txBody>
                    <a:bodyPr/>
                    <a:lstStyle/>
                    <a:p>
                      <a:r>
                        <a:rPr lang="en-US" dirty="0"/>
                        <a:t>95%</a:t>
                      </a:r>
                    </a:p>
                  </a:txBody>
                  <a:tcPr/>
                </a:tc>
                <a:extLst>
                  <a:ext uri="{0D108BD9-81ED-4DB2-BD59-A6C34878D82A}">
                    <a16:rowId xmlns:a16="http://schemas.microsoft.com/office/drawing/2014/main" val="4082474393"/>
                  </a:ext>
                </a:extLst>
              </a:tr>
              <a:tr h="375831">
                <a:tc>
                  <a:txBody>
                    <a:bodyPr/>
                    <a:lstStyle/>
                    <a:p>
                      <a:r>
                        <a:rPr lang="en-US" dirty="0"/>
                        <a:t>Quiz 4</a:t>
                      </a:r>
                    </a:p>
                  </a:txBody>
                  <a:tcPr/>
                </a:tc>
                <a:tc>
                  <a:txBody>
                    <a:bodyPr/>
                    <a:lstStyle/>
                    <a:p>
                      <a:r>
                        <a:rPr lang="en-US" dirty="0"/>
                        <a:t>63%</a:t>
                      </a:r>
                    </a:p>
                  </a:txBody>
                  <a:tcPr/>
                </a:tc>
                <a:extLst>
                  <a:ext uri="{0D108BD9-81ED-4DB2-BD59-A6C34878D82A}">
                    <a16:rowId xmlns:a16="http://schemas.microsoft.com/office/drawing/2014/main" val="2898835715"/>
                  </a:ext>
                </a:extLst>
              </a:tr>
            </a:tbl>
          </a:graphicData>
        </a:graphic>
      </p:graphicFrame>
    </p:spTree>
    <p:extLst>
      <p:ext uri="{BB962C8B-B14F-4D97-AF65-F5344CB8AC3E}">
        <p14:creationId xmlns:p14="http://schemas.microsoft.com/office/powerpoint/2010/main" val="605618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8199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Some design patterns are so useful that languages support them</a:t>
            </a:r>
          </a:p>
          <a:p>
            <a:pPr lvl="1"/>
            <a:r>
              <a:rPr lang="en-US" dirty="0"/>
              <a:t>Proxy design pattern supported by Java</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75764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D2F94-6FCF-7EBE-CFE6-E749D1E116E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C3F6E86-7975-B930-B497-69115EE1D395}"/>
              </a:ext>
            </a:extLst>
          </p:cNvPr>
          <p:cNvSpPr>
            <a:spLocks noGrp="1"/>
          </p:cNvSpPr>
          <p:nvPr>
            <p:ph type="title"/>
          </p:nvPr>
        </p:nvSpPr>
        <p:spPr/>
        <p:txBody>
          <a:bodyPr/>
          <a:lstStyle/>
          <a:p>
            <a:r>
              <a:rPr lang="en-US" dirty="0"/>
              <a:t>Social media platform</a:t>
            </a:r>
          </a:p>
        </p:txBody>
      </p:sp>
      <p:sp>
        <p:nvSpPr>
          <p:cNvPr id="2" name="Rectangle: Rounded Corners 1">
            <a:extLst>
              <a:ext uri="{FF2B5EF4-FFF2-40B4-BE49-F238E27FC236}">
                <a16:creationId xmlns:a16="http://schemas.microsoft.com/office/drawing/2014/main" id="{680A378F-ECD9-C170-C529-4D4F1E651026}"/>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11751D54-3BA6-D00B-AED2-0069CCB6F642}"/>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BC188F48-9BD6-106F-FC37-0C33A864EA57}"/>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E706CDEB-4785-D52E-E4D1-E112D636843B}"/>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8DE3CDA5-1511-666F-D417-A2B8FEA6FDB3}"/>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941AA0C1-43C7-DBBD-5AD1-DA7F43B2D2B7}"/>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09EF6F9-E90D-916F-B1AB-BA2FE5D08028}"/>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E5BABD66-5093-901F-C229-40C696307C6D}"/>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1CDF64D9-0BF3-66DD-1E93-533BFA8DE86C}"/>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57E3FBEE-5B45-17F0-FC26-5F010F05157C}"/>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B6A93A38-6A07-04B0-3479-7AB421FF7267}"/>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10363C5C-5083-CD7F-3D28-7A1DF6EF88DD}"/>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3C72F7BE-6DFB-052E-4BC9-5A0D4B360358}"/>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F9B7959-A50F-608D-796C-99DBBB3729A0}"/>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7C093F80-7BF8-EF40-4654-4D52BBCCD4AC}"/>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31CF91B3-24BF-4CC6-7070-2D6C6E5AD749}"/>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2BD68DED-064A-8BD4-4C5B-C8C3B439E11B}"/>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6E9C1117-7648-13A5-2BEF-D7F61B684B49}"/>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F11FBB7-1D6C-98FF-E310-C8E9FBD2E185}"/>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917A0B50-3478-A935-2B6A-42FC4263CAE9}"/>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DE822C58-A220-B7D8-9C1E-9E5A484E1322}"/>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01FFAFC5-D0B1-F8C0-0686-B12F71E22CB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8CB1417D-291B-8FFD-B6E0-2CEB3E372265}"/>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218CE2DA-F026-F0E7-D21D-B3BFA3C60DDB}"/>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12DD4A04-6519-538B-A3C8-A7D3D633154D}"/>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1C014E90-C4E8-983F-25D9-82B66F7717DB}"/>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E7E2D4DC-6412-309C-38C0-233B4C9F95BC}"/>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B850E369-08BE-E47C-EABF-72B46194A83E}"/>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806151DF-576D-FE7B-39E3-BEB9C73D37D2}"/>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31A0A280-5115-C44E-6B74-B02EE64A305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4257879F-468A-10A0-1BED-428200D5F32E}"/>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3ED06F55-4B19-9B66-7AAB-91ED0F568011}"/>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151553D3-956C-CCF9-5C9F-A390BF50D02E}"/>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658156BA-A111-B1EA-A85F-BB66ACF8BD31}"/>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FA78926-2475-1839-CC1F-0DE2FA2ABAF6}"/>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6A92C78-2038-726F-E4D8-76FD9855128F}"/>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79A0A8C0-0552-BD73-3279-0D43EC47F292}"/>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ACDF28B-084F-634A-3B14-D12A636A61E9}"/>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20D0864-DD9A-A39F-E542-377DBC075803}"/>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79674045-C1CB-16C0-0E5C-F0337D4A3B8A}"/>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DAAA755C-EF46-85EA-5227-C5DDAA8AB60B}"/>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67A8DF45-AFD4-ACEF-C55C-A4975C432ABF}"/>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02D0B9EB-C3FE-A91C-0C30-1C19D0541BCA}"/>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DE13A4AC-A844-E555-1C9B-91D8D46CB2DA}"/>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1CEFB15D-B721-00B6-43CA-D06AC082420A}"/>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FE28D401-C713-BEF2-278F-E1A7A8627D2B}"/>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671DC276-2A9F-7EF5-3464-7C1410431AD6}"/>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12CB8FC7-F0FE-D86C-AB34-1D5D1E28359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1894A399-56F8-35A6-D62A-7C698D1BABFA}"/>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361A0ADE-492B-3DED-66F4-6F758B66FDEB}"/>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E3ADC7C4-F2FC-E176-4228-2B93DF735901}"/>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56F32BBD-1083-D09E-239F-87C928D89021}"/>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26CA2728-4DCF-6DB0-61B9-CDAAA474F1F2}"/>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13E5944C-C527-2B6E-BABE-98B2353C5E28}"/>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0924524E-A2A3-7564-3ECC-3B07634DE330}"/>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81BED55A-CF6E-7CC0-1FD7-6782997D1D74}"/>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91C9AB10-5A24-4B90-2F79-521B424E69A8}"/>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B759DC36-0343-4AA8-4E86-BB1515758578}"/>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DD032A81-97E1-56A5-535A-D36E0DAB9DD8}"/>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6C9695AA-88C5-BAED-62F9-F1620096CC0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CD44E3DB-261E-4CBB-1CA4-838569B78CB9}"/>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2134E18C-67C6-1699-DA30-F21EB38B8C6D}"/>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A9245098-B0B0-4750-5BC0-BC1D5385F1F9}"/>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FB63A0F6-6809-3EC1-8DF2-0098C4691A9E}"/>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D1F4824-5620-6BBD-228B-BE8069C3D265}"/>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7EEE151B-24C4-007F-9EC6-4184216E12BC}"/>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DAB1095F-4229-5752-5520-459417381E36}"/>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53B93CAB-550E-32FE-D78D-480273D5F2FD}"/>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6B810224-FE2D-F4BC-171A-E8B59A35A60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D80FB16B-1555-FAA7-1F0E-5C1A715B191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257966A5-6D4E-DF7D-154C-F7054377AD10}"/>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17F81078-0D49-721E-1F80-0F1C6438D158}"/>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563072ED-1DAB-6389-AD3E-1B64629EF2EF}"/>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C6FC003C-779D-5074-8864-14FC3E637DCE}"/>
              </a:ext>
            </a:extLst>
          </p:cNvPr>
          <p:cNvSpPr/>
          <p:nvPr/>
        </p:nvSpPr>
        <p:spPr>
          <a:xfrm>
            <a:off x="5287114" y="3586868"/>
            <a:ext cx="1987071" cy="784582"/>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08941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B7634D-F2BA-A166-AC5B-4CBB5F7ECED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F70FCC2-C395-7A99-0BD4-D7647B748798}"/>
              </a:ext>
            </a:extLst>
          </p:cNvPr>
          <p:cNvSpPr>
            <a:spLocks noGrp="1"/>
          </p:cNvSpPr>
          <p:nvPr>
            <p:ph type="title"/>
          </p:nvPr>
        </p:nvSpPr>
        <p:spPr/>
        <p:txBody>
          <a:bodyPr/>
          <a:lstStyle/>
          <a:p>
            <a:r>
              <a:rPr lang="en-US" dirty="0"/>
              <a:t>OO, testing, reflection – single component focus</a:t>
            </a:r>
          </a:p>
        </p:txBody>
      </p:sp>
      <p:sp>
        <p:nvSpPr>
          <p:cNvPr id="25" name="Rectangle: Rounded Corners 24">
            <a:extLst>
              <a:ext uri="{FF2B5EF4-FFF2-40B4-BE49-F238E27FC236}">
                <a16:creationId xmlns:a16="http://schemas.microsoft.com/office/drawing/2014/main" id="{95A6895C-A406-2087-EC15-293160E61AF4}"/>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8C4FE6D-3BCC-8E28-6637-612C4AF7132C}"/>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772BBF84-FDBE-4BC4-BA90-CA5A4A6A14F2}"/>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9DCAF342-FA34-C2FC-6393-72B9D42AAB0A}"/>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F365035C-5CA1-82EE-3EB9-FBA4AC17123F}"/>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29EF85C5-607D-A831-1B4A-9D2237BA450C}"/>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5BD1A808-9A55-37D9-E2AE-3D8F45A362DE}"/>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549059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5492B0-3BD6-3CEC-B0DF-730FD5773F3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BC12AD-84F5-110E-1666-5750879E2224}"/>
              </a:ext>
            </a:extLst>
          </p:cNvPr>
          <p:cNvSpPr>
            <a:spLocks noGrp="1"/>
          </p:cNvSpPr>
          <p:nvPr>
            <p:ph type="title"/>
          </p:nvPr>
        </p:nvSpPr>
        <p:spPr/>
        <p:txBody>
          <a:bodyPr/>
          <a:lstStyle/>
          <a:p>
            <a:r>
              <a:rPr lang="en-US" dirty="0"/>
              <a:t>Software architecture</a:t>
            </a:r>
          </a:p>
        </p:txBody>
      </p:sp>
      <p:sp>
        <p:nvSpPr>
          <p:cNvPr id="2" name="Rectangle: Rounded Corners 1">
            <a:extLst>
              <a:ext uri="{FF2B5EF4-FFF2-40B4-BE49-F238E27FC236}">
                <a16:creationId xmlns:a16="http://schemas.microsoft.com/office/drawing/2014/main" id="{2E716B01-555D-070D-75BE-D4BAEB70BB08}"/>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42228462-BD0D-792D-7B50-CFEF44C0D299}"/>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5DD7D132-B832-0B2B-4881-860F82187BAD}"/>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49C33840-8D51-A541-C3CA-7AF33E1A5276}"/>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5A28129D-0DE3-EFD6-7DC6-70CE716AFDD5}"/>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6284E446-748F-0F6E-7F2C-EFCAC3F4309E}"/>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40BC189-0DDB-8E8B-6BE6-F2947CC1E28E}"/>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24471DF3-F3DF-A4AD-60C8-3D114F785A00}"/>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B6446299-EE4E-10C4-6C7D-17CBC4089A94}"/>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19A4E326-DF76-4182-F691-95A8B8E435C0}"/>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DFB9BAEB-6870-B417-CE5E-7251118AF915}"/>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7A4495DF-36F6-0E8E-9303-80FF8D3F00BC}"/>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50CE9F9D-EAB9-861F-E69E-DBBB05031A39}"/>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B149E8B-3ECB-EA42-48BD-F4B60C77E333}"/>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2FB4A9A8-FE25-12FC-330E-618DBDC1618B}"/>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0A1210D4-C099-156B-9712-0EFC97403C57}"/>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ACB570CE-86F3-6A20-CD80-5038367FDB5C}"/>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CDA779CF-7C69-8174-9292-E19A1E335498}"/>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98B325A-0696-E811-DC3D-D08E85DE61EA}"/>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61769CD1-0B06-F70D-CB00-F8E72E100A96}"/>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AA1F0DE5-0BD4-AA87-7049-6CA1DE77DFBC}"/>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7391515C-9555-84F1-96C6-6AC4296A74A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0F412C97-3CBF-5EDA-0FA7-89C67F524262}"/>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E1E32789-6EAD-36EB-5E56-CDE856749F8F}"/>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EF6B1CB9-0C76-E7E0-777D-DFFAA7F784AB}"/>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F3B7803C-07F2-D2BB-9CDC-E7333770071D}"/>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80CFE8BB-B2CA-5395-3553-48DB1FB5FFDD}"/>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293C4D5A-83B4-C94E-FE12-637CC90935DA}"/>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BD5B22B7-404A-EB06-F2B7-5992CA527764}"/>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6DC4FCEC-E725-65D0-A57F-DE8DEE78C41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74A6122F-B3F5-EBE7-06FD-E13564762DDD}"/>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8C2BA776-076C-AC08-90F6-8BAE92B86F37}"/>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B59A432D-02B2-2634-0E45-373A98E07EEB}"/>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D8CC424-CE27-E217-EAD5-CA6D350BD82D}"/>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AC24AA3-4F86-FCE2-9E0E-D9831DD3C892}"/>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019B8F-6467-9EE9-EB6A-7714FA18F204}"/>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487B55CE-1FE7-2D68-6E32-7430F827845F}"/>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DA1906C6-9ED9-BEFB-2C49-591A080A2147}"/>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043467B-291B-365F-A436-B4EB08C8A8FA}"/>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26870189-06F2-8DD4-3163-482724438EF1}"/>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74227C5C-E8D8-5ADD-BD34-2758BE38DACC}"/>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58A57E30-8252-023F-5A70-DFBAF7221C71}"/>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DA3EA4C9-954E-162E-AD68-EE280619C6ED}"/>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FE35DF5B-FEC2-0620-89E8-2A4654D79858}"/>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E18A6757-B181-3CC9-5129-A0F5F7687D29}"/>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B8BC5F6A-8D72-4E96-C615-59C1EFD7996D}"/>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58D02E9F-960F-274E-F47E-E097A94571D4}"/>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AE4B18DF-06DC-187E-7001-F148F3FDA85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F1BBAE24-A33E-F9A5-0543-B9A5BD70CDC0}"/>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71A87E0C-A57B-EFC8-CD7B-7826F974F9FE}"/>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96823AAF-A411-311B-1ADB-236B28C0988E}"/>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233889CC-B073-F78F-BE3A-AF20AE3A7E9C}"/>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7F92CE7B-7175-7B2E-C216-F17276B399C4}"/>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346D5D6B-3FBD-1C63-DA6F-FE2D267A6F9D}"/>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F6AD76AD-F559-D6F1-58F6-3BE7828BFFAE}"/>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D7FB22D7-2CB1-D21F-FA85-3987FF2BD315}"/>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E68398C7-3634-DBB5-0FE5-565B164D9CA6}"/>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F5B0B4DF-55B3-277B-F36F-79EB3004EA7F}"/>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AC13801E-B0DC-E381-EE74-51BB56739E0D}"/>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1EF3DBCD-2C08-7B19-B322-2D35E2A8802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8EAF61D6-3E30-EEB7-3F56-A1B9A0B55145}"/>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A9109CE6-D6F8-BACC-A0F0-C495316ADA07}"/>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876525F8-D7D5-35CE-213B-A1683AF7D07B}"/>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9CCEA774-713F-7F25-9290-0B04A4C82BF6}"/>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063A2CE-C4FD-E25E-E120-08C7DBBB5377}"/>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3C576BC2-1D52-FDB2-3394-4DF66F93B8E3}"/>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6EB02EDA-9DBD-9E54-E26D-0A918CE9C73A}"/>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4366E92E-1849-3768-0BD1-15E91027BD24}"/>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E8A86DEB-D42D-799D-2986-749ABD7AFFA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1144E78F-08AC-E6BD-0023-C6163B84473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31BC1E5D-07CF-F818-5AE2-4F66E89F1A14}"/>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CF338640-C7A5-7CE1-FC27-5B772645FDF0}"/>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75320C85-373A-07DA-F455-95636EAD58E4}"/>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50D37713-FE73-318A-49C2-DABE950DD1F7}"/>
              </a:ext>
            </a:extLst>
          </p:cNvPr>
          <p:cNvSpPr/>
          <p:nvPr/>
        </p:nvSpPr>
        <p:spPr>
          <a:xfrm>
            <a:off x="0" y="539066"/>
            <a:ext cx="11871580" cy="5320167"/>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Rectangle 15">
            <a:extLst>
              <a:ext uri="{FF2B5EF4-FFF2-40B4-BE49-F238E27FC236}">
                <a16:creationId xmlns:a16="http://schemas.microsoft.com/office/drawing/2014/main" id="{3408EB7A-6EC7-FB35-ED8B-18B83E7D251C}"/>
              </a:ext>
            </a:extLst>
          </p:cNvPr>
          <p:cNvSpPr/>
          <p:nvPr/>
        </p:nvSpPr>
        <p:spPr>
          <a:xfrm>
            <a:off x="2042645" y="1266731"/>
            <a:ext cx="8009501" cy="646331"/>
          </a:xfrm>
          <a:prstGeom prst="rect">
            <a:avLst/>
          </a:prstGeom>
          <a:solidFill>
            <a:srgbClr val="FFFFFF"/>
          </a:solidFill>
        </p:spPr>
        <p:txBody>
          <a:bodyPr wrap="non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Software architecture - system as a whole</a:t>
            </a:r>
          </a:p>
        </p:txBody>
      </p:sp>
    </p:spTree>
    <p:extLst>
      <p:ext uri="{BB962C8B-B14F-4D97-AF65-F5344CB8AC3E}">
        <p14:creationId xmlns:p14="http://schemas.microsoft.com/office/powerpoint/2010/main" val="116285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8A250-9D33-6774-DFC8-01FC136966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45DCA9-2E41-6CA5-EFEF-E87A220BEB6A}"/>
              </a:ext>
            </a:extLst>
          </p:cNvPr>
          <p:cNvSpPr>
            <a:spLocks noGrp="1"/>
          </p:cNvSpPr>
          <p:nvPr>
            <p:ph type="title"/>
          </p:nvPr>
        </p:nvSpPr>
        <p:spPr/>
        <p:txBody>
          <a:bodyPr/>
          <a:lstStyle/>
          <a:p>
            <a:r>
              <a:rPr lang="en-US" dirty="0"/>
              <a:t>Design patterns – single component focus</a:t>
            </a:r>
          </a:p>
        </p:txBody>
      </p:sp>
      <p:sp>
        <p:nvSpPr>
          <p:cNvPr id="25" name="Rectangle: Rounded Corners 24">
            <a:extLst>
              <a:ext uri="{FF2B5EF4-FFF2-40B4-BE49-F238E27FC236}">
                <a16:creationId xmlns:a16="http://schemas.microsoft.com/office/drawing/2014/main" id="{73BCC5D8-A4D0-D2A2-9515-0BBC5EA48425}"/>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683F3C8-61F1-6ED4-FC86-60FC2C860D34}"/>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F3456C61-6629-DC74-D9C3-0F8598636E77}"/>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62C87673-52DB-87E2-F822-F1E84A75EF49}"/>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87F5F6F1-E69F-3E81-8A25-D99C0FACC69A}"/>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7929D3F1-F12B-A10A-65FF-7C6A1DFB4C79}"/>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E711AE96-35D3-CA4D-3C5B-565CCF7A2DE4}"/>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 name="Connector: Curved 1">
            <a:extLst>
              <a:ext uri="{FF2B5EF4-FFF2-40B4-BE49-F238E27FC236}">
                <a16:creationId xmlns:a16="http://schemas.microsoft.com/office/drawing/2014/main" id="{9BAB6FBB-265E-8F54-C333-E11C39B9A2B6}"/>
              </a:ext>
            </a:extLst>
          </p:cNvPr>
          <p:cNvCxnSpPr>
            <a:cxnSpLocks/>
            <a:endCxn id="25" idx="3"/>
          </p:cNvCxnSpPr>
          <p:nvPr/>
        </p:nvCxnSpPr>
        <p:spPr>
          <a:xfrm rot="10800000">
            <a:off x="7878882" y="4191073"/>
            <a:ext cx="1347182" cy="1119487"/>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039B92E8-2FB5-B877-160D-8FE30F4998B7}"/>
              </a:ext>
            </a:extLst>
          </p:cNvPr>
          <p:cNvSpPr/>
          <p:nvPr/>
        </p:nvSpPr>
        <p:spPr>
          <a:xfrm>
            <a:off x="9221804" y="5079728"/>
            <a:ext cx="2147255"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Design patterns</a:t>
            </a:r>
          </a:p>
        </p:txBody>
      </p:sp>
      <p:sp>
        <p:nvSpPr>
          <p:cNvPr id="7" name="Rectangle 6">
            <a:extLst>
              <a:ext uri="{FF2B5EF4-FFF2-40B4-BE49-F238E27FC236}">
                <a16:creationId xmlns:a16="http://schemas.microsoft.com/office/drawing/2014/main" id="{5D9E0C2D-2216-5478-C96D-33E34F8BC803}"/>
              </a:ext>
            </a:extLst>
          </p:cNvPr>
          <p:cNvSpPr/>
          <p:nvPr/>
        </p:nvSpPr>
        <p:spPr>
          <a:xfrm>
            <a:off x="8039688" y="4953144"/>
            <a:ext cx="3953019" cy="642196"/>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200204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7"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lstStyle/>
          <a:p>
            <a:r>
              <a:rPr lang="en-US" dirty="0"/>
              <a:t>Example: design a </a:t>
            </a:r>
            <a:r>
              <a:rPr lang="en-US" dirty="0">
                <a:latin typeface="Consolas" panose="020B0609020204030204" pitchFamily="49" charset="0"/>
              </a:rPr>
              <a:t>Logger</a:t>
            </a:r>
            <a:r>
              <a:rPr lang="en-US" dirty="0"/>
              <a:t> class for an application consisting of hundreds of classes</a:t>
            </a:r>
          </a:p>
          <a:p>
            <a:pPr lvl="1"/>
            <a:r>
              <a:rPr lang="en-US" dirty="0"/>
              <a:t>The logger creates a log file with name as the current date-time, say – </a:t>
            </a:r>
            <a:r>
              <a:rPr lang="en-US" dirty="0">
                <a:latin typeface="Consolas" panose="020B0609020204030204" pitchFamily="49" charset="0"/>
              </a:rPr>
              <a:t>log_11_21_2025_12_00_01.txt</a:t>
            </a:r>
            <a:r>
              <a:rPr lang="en-US" dirty="0">
                <a:latin typeface="Helvetica" panose="020B0604020202020204" pitchFamily="34" charset="0"/>
                <a:cs typeface="Helvetica" panose="020B0604020202020204" pitchFamily="34" charset="0"/>
              </a:rPr>
              <a:t>, and logs events in it</a:t>
            </a:r>
          </a:p>
          <a:p>
            <a:r>
              <a:rPr lang="en-US" dirty="0"/>
              <a:t>To ensure uniformity</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r>
              <a:rPr lang="en-US" dirty="0"/>
              <a:t>How would you design it?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Why do we need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How would you use this </a:t>
            </a:r>
            <a:r>
              <a:rPr lang="en-US" dirty="0">
                <a:latin typeface="Consolas" panose="020B0609020204030204" pitchFamily="49" charset="0"/>
              </a:rPr>
              <a:t>Logger</a:t>
            </a:r>
            <a:r>
              <a:rPr lang="en-US" dirty="0"/>
              <a:t> class?</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t>… very ugly </a:t>
            </a:r>
            <a:r>
              <a:rPr lang="en-US" dirty="0">
                <a:sym typeface="Wingdings" panose="05000000000000000000" pitchFamily="2" charset="2"/>
              </a:rPr>
              <a:t></a:t>
            </a:r>
          </a:p>
          <a:p>
            <a:pPr lvl="1"/>
            <a:r>
              <a:rPr lang="en-US" dirty="0">
                <a:sym typeface="Wingdings" panose="05000000000000000000" pitchFamily="2" charset="2"/>
              </a:rPr>
              <a:t>Also, how would you ensure that a future programmer does not accidentally create a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a:t>
            </a:r>
            <a:endParaRPr lang="en-US" dirty="0"/>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160979"/>
            <a:ext cx="5261762" cy="445477"/>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How to ensure a single object of the Logger class is accessible from many parts of the application?</a:t>
            </a:r>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4054428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The usage site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pass the logger object as an argument to callee methods</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048375"/>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76512" y="4680173"/>
            <a:ext cx="5261762" cy="693338"/>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Write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p>
          <a:p>
            <a:r>
              <a:rPr lang="en-US" dirty="0"/>
              <a:t>Turn the constructor </a:t>
            </a:r>
            <a:r>
              <a:rPr lang="en-US" dirty="0">
                <a:latin typeface="Consolas" panose="020B0609020204030204" pitchFamily="49" charset="0"/>
              </a:rPr>
              <a:t>private</a:t>
            </a:r>
          </a:p>
          <a:p>
            <a:pPr lvl="1"/>
            <a:r>
              <a:rPr lang="en-US" dirty="0"/>
              <a:t>All object creation goes through </a:t>
            </a:r>
            <a:r>
              <a:rPr lang="en-US" dirty="0" err="1">
                <a:latin typeface="Consolas" panose="020B0609020204030204" pitchFamily="49" charset="0"/>
              </a:rPr>
              <a:t>getLogger</a:t>
            </a:r>
            <a:r>
              <a:rPr lang="en-US" dirty="0">
                <a:latin typeface="Consolas" panose="020B0609020204030204" pitchFamily="49" charset="0"/>
              </a:rPr>
              <a:t>()</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548163" y="1322132"/>
            <a:ext cx="5261762" cy="712595"/>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4844143"/>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CC684A-DD8E-DE94-852D-FC506D2B7D95}"/>
              </a:ext>
            </a:extLst>
          </p:cNvPr>
          <p:cNvSpPr>
            <a:spLocks noGrp="1"/>
          </p:cNvSpPr>
          <p:nvPr>
            <p:ph idx="1"/>
          </p:nvPr>
        </p:nvSpPr>
        <p:spPr/>
        <p:txBody>
          <a:bodyPr/>
          <a:lstStyle/>
          <a:p>
            <a:r>
              <a:rPr lang="en-US" dirty="0"/>
              <a:t>class A {</a:t>
            </a:r>
          </a:p>
          <a:p>
            <a:r>
              <a:rPr lang="en-US" dirty="0"/>
              <a:t>	// Some fields</a:t>
            </a:r>
          </a:p>
          <a:p>
            <a:r>
              <a:rPr lang="en-US" dirty="0"/>
              <a:t>	// Some methods</a:t>
            </a:r>
          </a:p>
          <a:p>
            <a:r>
              <a:rPr lang="en-US" dirty="0"/>
              <a:t>}</a:t>
            </a:r>
          </a:p>
          <a:p>
            <a:endParaRPr lang="en-US" dirty="0"/>
          </a:p>
          <a:p>
            <a:r>
              <a:rPr lang="en-US" dirty="0"/>
              <a:t>class B extends A {</a:t>
            </a:r>
          </a:p>
          <a:p>
            <a:r>
              <a:rPr lang="en-US" dirty="0"/>
              <a:t>	private A </a:t>
            </a:r>
            <a:r>
              <a:rPr lang="en-US" dirty="0" err="1"/>
              <a:t>objA</a:t>
            </a:r>
            <a:r>
              <a:rPr lang="en-US" dirty="0"/>
              <a:t>;</a:t>
            </a:r>
          </a:p>
          <a:p>
            <a:endParaRPr lang="en-US" dirty="0"/>
          </a:p>
          <a:p>
            <a:r>
              <a:rPr lang="en-US" dirty="0"/>
              <a:t>	// Some fields</a:t>
            </a:r>
          </a:p>
          <a:p>
            <a:r>
              <a:rPr lang="en-US" dirty="0"/>
              <a:t>	// Some methods</a:t>
            </a:r>
          </a:p>
          <a:p>
            <a:r>
              <a:rPr lang="en-US" dirty="0"/>
              <a:t>}</a:t>
            </a:r>
          </a:p>
        </p:txBody>
      </p:sp>
      <p:sp>
        <p:nvSpPr>
          <p:cNvPr id="4" name="Title 3">
            <a:extLst>
              <a:ext uri="{FF2B5EF4-FFF2-40B4-BE49-F238E27FC236}">
                <a16:creationId xmlns:a16="http://schemas.microsoft.com/office/drawing/2014/main" id="{628D96B9-CB15-7516-4E67-2891CED60556}"/>
              </a:ext>
            </a:extLst>
          </p:cNvPr>
          <p:cNvSpPr>
            <a:spLocks noGrp="1"/>
          </p:cNvSpPr>
          <p:nvPr>
            <p:ph type="title"/>
          </p:nvPr>
        </p:nvSpPr>
        <p:spPr>
          <a:xfrm>
            <a:off x="0" y="0"/>
            <a:ext cx="12192000" cy="696277"/>
          </a:xfrm>
        </p:spPr>
        <p:txBody>
          <a:bodyPr/>
          <a:lstStyle/>
          <a:p>
            <a:r>
              <a:rPr lang="en-US" dirty="0"/>
              <a:t>Why should we study design patterns?</a:t>
            </a:r>
          </a:p>
        </p:txBody>
      </p:sp>
      <p:sp>
        <p:nvSpPr>
          <p:cNvPr id="2" name="Content Placeholder 1">
            <a:extLst>
              <a:ext uri="{FF2B5EF4-FFF2-40B4-BE49-F238E27FC236}">
                <a16:creationId xmlns:a16="http://schemas.microsoft.com/office/drawing/2014/main" id="{38F196BB-F530-ED5B-6F55-77E6F212186F}"/>
              </a:ext>
            </a:extLst>
          </p:cNvPr>
          <p:cNvSpPr>
            <a:spLocks noGrp="1"/>
          </p:cNvSpPr>
          <p:nvPr>
            <p:ph idx="13"/>
          </p:nvPr>
        </p:nvSpPr>
        <p:spPr>
          <a:xfrm>
            <a:off x="382074" y="785004"/>
            <a:ext cx="5633413" cy="5046453"/>
          </a:xfrm>
        </p:spPr>
        <p:txBody>
          <a:bodyPr>
            <a:normAutofit fontScale="92500" lnSpcReduction="10000"/>
          </a:bodyPr>
          <a:lstStyle/>
          <a:p>
            <a:r>
              <a:rPr lang="en-US" dirty="0"/>
              <a:t>Important to quickly recognize common requirements </a:t>
            </a:r>
          </a:p>
          <a:p>
            <a:r>
              <a:rPr lang="en-US" dirty="0"/>
              <a:t>Important for reading large codebases</a:t>
            </a:r>
          </a:p>
          <a:p>
            <a:pPr lvl="1"/>
            <a:r>
              <a:rPr lang="en-US" dirty="0"/>
              <a:t>Class B extends class A and also contains an object of class A </a:t>
            </a:r>
          </a:p>
          <a:p>
            <a:pPr lvl="1"/>
            <a:r>
              <a:rPr lang="en-US" dirty="0"/>
              <a:t>What’s </a:t>
            </a:r>
            <a:r>
              <a:rPr lang="en-US" b="1" dirty="0"/>
              <a:t>one</a:t>
            </a:r>
            <a:r>
              <a:rPr lang="en-US" dirty="0"/>
              <a:t> possible reason? </a:t>
            </a:r>
          </a:p>
          <a:p>
            <a:pPr lvl="1"/>
            <a:r>
              <a:rPr lang="en-US" dirty="0"/>
              <a:t>Could be many reasons, but one reason could be they are implementing the </a:t>
            </a:r>
            <a:r>
              <a:rPr lang="en-US" b="1" i="1" dirty="0"/>
              <a:t>proxy pattern</a:t>
            </a:r>
          </a:p>
          <a:p>
            <a:endParaRPr lang="en-US" dirty="0"/>
          </a:p>
        </p:txBody>
      </p:sp>
    </p:spTree>
    <p:extLst>
      <p:ext uri="{BB962C8B-B14F-4D97-AF65-F5344CB8AC3E}">
        <p14:creationId xmlns:p14="http://schemas.microsoft.com/office/powerpoint/2010/main" val="278621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i="1" dirty="0"/>
              <a:t>What </a:t>
            </a:r>
            <a:r>
              <a:rPr lang="en-US" dirty="0"/>
              <a:t>gets created</a:t>
            </a:r>
          </a:p>
          <a:p>
            <a:pPr lvl="1"/>
            <a:r>
              <a:rPr lang="en-US" i="1" dirty="0"/>
              <a:t>Who </a:t>
            </a:r>
            <a:r>
              <a:rPr lang="en-US" dirty="0"/>
              <a:t>creates it</a:t>
            </a:r>
          </a:p>
          <a:p>
            <a:pPr lvl="1"/>
            <a:r>
              <a:rPr lang="en-US" i="1" dirty="0"/>
              <a:t>How </a:t>
            </a:r>
            <a:r>
              <a:rPr lang="en-US" dirty="0"/>
              <a:t>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lnSpcReduction="10000"/>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 // </a:t>
            </a:r>
            <a:r>
              <a:rPr lang="en-US" sz="1600" dirty="0" err="1">
                <a:latin typeface="Consolas" panose="020B0609020204030204" pitchFamily="49" charset="0"/>
              </a:rPr>
              <a:t>WinButton</a:t>
            </a:r>
            <a:r>
              <a:rPr lang="en-US" sz="1600" dirty="0">
                <a:latin typeface="Consolas" panose="020B0609020204030204" pitchFamily="49" charset="0"/>
              </a:rPr>
              <a:t> extends Button</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 // Extends Button</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Very ugly </a:t>
            </a:r>
            <a:r>
              <a:rPr lang="en-US" dirty="0">
                <a:latin typeface="Helvetica" panose="020B0604020202020204" pitchFamily="34" charset="0"/>
                <a:cs typeface="Helvetica" panose="020B0604020202020204" pitchFamily="34" charset="0"/>
                <a:sym typeface="Wingdings" panose="05000000000000000000" pitchFamily="2" charset="2"/>
              </a:rPr>
              <a:t></a:t>
            </a:r>
            <a:endParaRPr lang="en-US" dirty="0">
              <a:latin typeface="Helvetica" panose="020B0604020202020204" pitchFamily="34" charset="0"/>
              <a:cs typeface="Helvetica" panose="020B0604020202020204" pitchFamily="34" charset="0"/>
            </a:endParaRPr>
          </a:p>
          <a:p>
            <a:endParaRPr lang="en-US" dirty="0"/>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Concreate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Isolates concrete classes</a:t>
            </a:r>
          </a:p>
          <a:p>
            <a:pPr lvl="1"/>
            <a:r>
              <a:rPr lang="en-US" dirty="0"/>
              <a:t>Objects are created through the interface / abstract classes</a:t>
            </a:r>
          </a:p>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	public void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void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8912704" y="5247472"/>
            <a:ext cx="2829621" cy="461665"/>
          </a:xfrm>
          <a:prstGeom prst="rect">
            <a:avLst/>
          </a:prstGeom>
          <a:noFill/>
        </p:spPr>
        <p:txBody>
          <a:bodyPr wrap="none" rtlCol="0">
            <a:spAutoFit/>
          </a:bodyPr>
          <a:lstStyle/>
          <a:p>
            <a:r>
              <a:rPr lang="en-US" sz="2400" b="1" i="1" dirty="0"/>
              <a:t>What happens here?</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414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r>
              <a:rPr lang="en-US" dirty="0"/>
              <a:t>How classes and objects compose to form larger structures</a:t>
            </a:r>
          </a:p>
          <a:p>
            <a:r>
              <a:rPr lang="en-US" dirty="0"/>
              <a:t>Structural patterns can be applied at</a:t>
            </a:r>
          </a:p>
          <a:p>
            <a:pPr lvl="1"/>
            <a:r>
              <a:rPr lang="en-US" dirty="0"/>
              <a:t>Class level</a:t>
            </a:r>
          </a:p>
          <a:p>
            <a:pPr lvl="1"/>
            <a:r>
              <a:rPr lang="en-US" dirty="0"/>
              <a:t>Object level</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848533C3-6979-4AF6-61D1-44C0E4291708}"/>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B979EF-25AC-CB22-E597-8572AE1D8116}"/>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8C15CDA-8389-9C81-5D76-FC48734B42E4}"/>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83638817-7DFE-A2C5-3634-C35BC8536F66}"/>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00D95292-4032-F1D4-3EA8-D81B6567B624}"/>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6A14BF0F-3206-35D9-BC9F-E414F0AC5924}"/>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D9512AB7-72D1-0602-D0F8-5E8F2D4A7854}"/>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0970A4C7-0DB8-E1DF-014D-C5F2F8953EBB}"/>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5" name="TextBox 24">
            <a:extLst>
              <a:ext uri="{FF2B5EF4-FFF2-40B4-BE49-F238E27FC236}">
                <a16:creationId xmlns:a16="http://schemas.microsoft.com/office/drawing/2014/main" id="{13B903FB-1A1E-A118-AB1F-6F0AE9F8AE30}"/>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1" name="TextBox 20">
            <a:extLst>
              <a:ext uri="{FF2B5EF4-FFF2-40B4-BE49-F238E27FC236}">
                <a16:creationId xmlns:a16="http://schemas.microsoft.com/office/drawing/2014/main" id="{B145B955-BA2A-896F-398E-6181726F0F23}"/>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r>
              <a:rPr lang="en-US" dirty="0"/>
              <a:t>Also known as </a:t>
            </a:r>
            <a:r>
              <a:rPr lang="en-US" i="1" dirty="0"/>
              <a:t>wrapper</a:t>
            </a:r>
            <a:endParaRPr lang="en-US" dirty="0"/>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584859" y="3050875"/>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1718740" cy="369332"/>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584859" y="3050875"/>
              <a:ext cx="705642" cy="362577"/>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189286" y="1507802"/>
                <a:ext cx="2690225"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JedisProxy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Jedis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grpSp>
      <p:grpSp>
        <p:nvGrpSpPr>
          <p:cNvPr id="64" name="Group 63">
            <a:extLst>
              <a:ext uri="{FF2B5EF4-FFF2-40B4-BE49-F238E27FC236}">
                <a16:creationId xmlns:a16="http://schemas.microsoft.com/office/drawing/2014/main" id="{544546B2-1D66-2EAA-17BD-8AFE5D4CC96E}"/>
              </a:ext>
            </a:extLst>
          </p:cNvPr>
          <p:cNvGrpSpPr/>
          <p:nvPr/>
        </p:nvGrpSpPr>
        <p:grpSpPr>
          <a:xfrm>
            <a:off x="1154545" y="3063944"/>
            <a:ext cx="9671527" cy="2178083"/>
            <a:chOff x="1154545" y="3063944"/>
            <a:chExt cx="9671527" cy="2178083"/>
          </a:xfrm>
        </p:grpSpPr>
        <p:sp>
          <p:nvSpPr>
            <p:cNvPr id="62" name="Rectangle 61">
              <a:extLst>
                <a:ext uri="{FF2B5EF4-FFF2-40B4-BE49-F238E27FC236}">
                  <a16:creationId xmlns:a16="http://schemas.microsoft.com/office/drawing/2014/main" id="{8A3101F2-38AE-E4DE-7346-E8D88D1BF366}"/>
                </a:ext>
              </a:extLst>
            </p:cNvPr>
            <p:cNvSpPr/>
            <p:nvPr/>
          </p:nvSpPr>
          <p:spPr>
            <a:xfrm>
              <a:off x="1154545" y="3461411"/>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3" name="Rectangle 62">
              <a:extLst>
                <a:ext uri="{FF2B5EF4-FFF2-40B4-BE49-F238E27FC236}">
                  <a16:creationId xmlns:a16="http://schemas.microsoft.com/office/drawing/2014/main" id="{2EB92F61-EC52-5F22-5631-594D82E4D808}"/>
                </a:ext>
              </a:extLst>
            </p:cNvPr>
            <p:cNvSpPr/>
            <p:nvPr/>
          </p:nvSpPr>
          <p:spPr>
            <a:xfrm>
              <a:off x="6863681" y="3063944"/>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903667" cy="461665"/>
          </a:xfrm>
          <a:prstGeom prst="rect">
            <a:avLst/>
          </a:prstGeom>
          <a:noFill/>
        </p:spPr>
        <p:txBody>
          <a:bodyPr wrap="none" rtlCol="0">
            <a:spAutoFit/>
          </a:bodyPr>
          <a:lstStyle/>
          <a:p>
            <a:r>
              <a:rPr lang="en-US" sz="2400" b="1" i="1" dirty="0"/>
              <a:t>Implements/extends common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b="1" i="1" dirty="0"/>
              <a:t>Implements/extends interface/class of inner obj</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A95A4FD-EE9E-947A-38AA-64AE1360B0B8}"/>
              </a:ext>
            </a:extLst>
          </p:cNvPr>
          <p:cNvSpPr>
            <a:spLocks noGrp="1"/>
          </p:cNvSpPr>
          <p:nvPr>
            <p:ph idx="1"/>
          </p:nvPr>
        </p:nvSpPr>
        <p:spPr/>
        <p:txBody>
          <a:bodyPr/>
          <a:lstStyle/>
          <a:p>
            <a:r>
              <a:rPr lang="en-US" dirty="0"/>
              <a:t>A single adapter can work with many </a:t>
            </a:r>
            <a:r>
              <a:rPr lang="en-US" dirty="0" err="1"/>
              <a:t>adaptees</a:t>
            </a:r>
            <a:r>
              <a:rPr lang="en-US" dirty="0"/>
              <a:t> – that is, the </a:t>
            </a:r>
            <a:r>
              <a:rPr lang="en-US" dirty="0" err="1"/>
              <a:t>Adaptee</a:t>
            </a:r>
            <a:r>
              <a:rPr lang="en-US" dirty="0"/>
              <a:t> itself and all of its subclasses (any subclass of </a:t>
            </a:r>
            <a:r>
              <a:rPr lang="en-US" dirty="0" err="1">
                <a:latin typeface="Consolas" panose="020B0609020204030204" pitchFamily="49" charset="0"/>
              </a:rPr>
              <a:t>StripeProcessor</a:t>
            </a:r>
            <a:r>
              <a:rPr lang="en-US" dirty="0"/>
              <a:t> in the previous example)</a:t>
            </a:r>
          </a:p>
          <a:p>
            <a:r>
              <a:rPr lang="en-US" dirty="0"/>
              <a:t>Makes it harder to override </a:t>
            </a:r>
            <a:r>
              <a:rPr lang="en-US" dirty="0" err="1"/>
              <a:t>Adaptee</a:t>
            </a:r>
            <a:r>
              <a:rPr lang="en-US" dirty="0"/>
              <a:t> behavior</a:t>
            </a:r>
          </a:p>
          <a:p>
            <a:pPr lvl="1"/>
            <a:r>
              <a:rPr lang="en-US" dirty="0"/>
              <a:t>Must subclass the </a:t>
            </a:r>
            <a:r>
              <a:rPr lang="en-US" dirty="0" err="1"/>
              <a:t>Adaptee</a:t>
            </a:r>
            <a:r>
              <a:rPr lang="en-US" dirty="0"/>
              <a:t> and make Adapter refer to the subclass object</a:t>
            </a:r>
          </a:p>
        </p:txBody>
      </p:sp>
      <p:sp>
        <p:nvSpPr>
          <p:cNvPr id="5" name="Title 4">
            <a:extLst>
              <a:ext uri="{FF2B5EF4-FFF2-40B4-BE49-F238E27FC236}">
                <a16:creationId xmlns:a16="http://schemas.microsoft.com/office/drawing/2014/main" id="{FFF01EA9-E485-2691-F400-C187B85D7C4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463730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5CD7228-F96E-3B29-3AD0-46815D02264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765F51ED-8528-7B10-84BF-BA7E1900AEF1}"/>
              </a:ext>
            </a:extLst>
          </p:cNvPr>
          <p:cNvSpPr>
            <a:spLocks noGrp="1"/>
          </p:cNvSpPr>
          <p:nvPr>
            <p:ph type="body" sz="quarter" idx="13"/>
          </p:nvPr>
        </p:nvSpPr>
        <p:spPr/>
        <p:txBody>
          <a:bodyPr/>
          <a:lstStyle/>
          <a:p>
            <a:r>
              <a:rPr lang="en-US" dirty="0"/>
              <a:t>Design patterns</a:t>
            </a:r>
          </a:p>
        </p:txBody>
      </p:sp>
    </p:spTree>
    <p:extLst>
      <p:ext uri="{BB962C8B-B14F-4D97-AF65-F5344CB8AC3E}">
        <p14:creationId xmlns:p14="http://schemas.microsoft.com/office/powerpoint/2010/main" val="31204172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0FFA9DB-D120-76AD-D05D-0B75487B0C3E}"/>
              </a:ext>
            </a:extLst>
          </p:cNvPr>
          <p:cNvSpPr>
            <a:spLocks noGrp="1"/>
          </p:cNvSpPr>
          <p:nvPr>
            <p:ph idx="1"/>
          </p:nvPr>
        </p:nvSpPr>
        <p:spPr/>
        <p:txBody>
          <a:bodyPr/>
          <a:lstStyle/>
          <a:p>
            <a:r>
              <a:rPr lang="en-US" dirty="0"/>
              <a:t>Please submit HW2 by Dec 1, 11:59 PM</a:t>
            </a:r>
          </a:p>
        </p:txBody>
      </p:sp>
      <p:sp>
        <p:nvSpPr>
          <p:cNvPr id="4" name="Title 3">
            <a:extLst>
              <a:ext uri="{FF2B5EF4-FFF2-40B4-BE49-F238E27FC236}">
                <a16:creationId xmlns:a16="http://schemas.microsoft.com/office/drawing/2014/main" id="{A2778FD1-A4F5-0B04-DFDA-B51847FB0CF5}"/>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21315788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4C20D4-74A4-6080-30B7-A67DAAFCBBBD}"/>
              </a:ext>
            </a:extLst>
          </p:cNvPr>
          <p:cNvSpPr>
            <a:spLocks noGrp="1"/>
          </p:cNvSpPr>
          <p:nvPr>
            <p:ph idx="1"/>
          </p:nvPr>
        </p:nvSpPr>
        <p:spPr/>
        <p:txBody>
          <a:bodyPr/>
          <a:lstStyle/>
          <a:p>
            <a:r>
              <a:rPr lang="en-US" dirty="0"/>
              <a:t>Sample questions</a:t>
            </a:r>
          </a:p>
          <a:p>
            <a:r>
              <a:rPr lang="en-US" dirty="0"/>
              <a:t>Composite pattern</a:t>
            </a:r>
          </a:p>
          <a:p>
            <a:r>
              <a:rPr lang="en-US" dirty="0"/>
              <a:t>Bridge pattern</a:t>
            </a:r>
          </a:p>
          <a:p>
            <a:r>
              <a:rPr lang="en-US" dirty="0"/>
              <a:t>Façade pattern</a:t>
            </a:r>
          </a:p>
          <a:p>
            <a:r>
              <a:rPr lang="en-US" dirty="0"/>
              <a:t>Decorator pattern</a:t>
            </a:r>
          </a:p>
        </p:txBody>
      </p:sp>
      <p:sp>
        <p:nvSpPr>
          <p:cNvPr id="4" name="Title 3">
            <a:extLst>
              <a:ext uri="{FF2B5EF4-FFF2-40B4-BE49-F238E27FC236}">
                <a16:creationId xmlns:a16="http://schemas.microsoft.com/office/drawing/2014/main" id="{2794FD43-6F40-29BF-5BCF-F38D8BD109ED}"/>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538F96ED-FD4D-DBF9-63AB-4594813C43A6}"/>
              </a:ext>
            </a:extLst>
          </p:cNvPr>
          <p:cNvCxnSpPr/>
          <p:nvPr/>
        </p:nvCxnSpPr>
        <p:spPr>
          <a:xfrm>
            <a:off x="0" y="3681663"/>
            <a:ext cx="12192000" cy="0"/>
          </a:xfrm>
          <a:prstGeom prst="line">
            <a:avLst/>
          </a:prstGeom>
          <a:ln>
            <a:prstDash val="sysDot"/>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527455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2F2B5-6A42-24A9-03E3-198C2183404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1B9CC5-8517-4702-28A9-1C6AE542FA73}"/>
              </a:ext>
            </a:extLst>
          </p:cNvPr>
          <p:cNvSpPr>
            <a:spLocks noGrp="1"/>
          </p:cNvSpPr>
          <p:nvPr>
            <p:ph idx="1"/>
          </p:nvPr>
        </p:nvSpPr>
        <p:spPr/>
        <p:txBody>
          <a:bodyPr>
            <a:normAutofit lnSpcReduction="10000"/>
          </a:bodyPr>
          <a:lstStyle/>
          <a:p>
            <a:pPr>
              <a:spcBef>
                <a:spcPct val="50000"/>
              </a:spcBef>
            </a:pPr>
            <a:r>
              <a:rPr lang="en-US" altLang="en-US" dirty="0">
                <a:latin typeface="Helvetica" panose="020B0604020202020204" pitchFamily="34" charset="0"/>
                <a:cs typeface="Helvetica" panose="020B0604020202020204" pitchFamily="34" charset="0"/>
              </a:rPr>
              <a:t>Design patterns: singleton pattern, abstract factory pattern, adapter pattern, proxy pattern </a:t>
            </a:r>
          </a:p>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5C7127F8-0147-23E3-141C-DCE863876644}"/>
              </a:ext>
            </a:extLst>
          </p:cNvPr>
          <p:cNvSpPr>
            <a:spLocks noGrp="1"/>
          </p:cNvSpPr>
          <p:nvPr>
            <p:ph type="title"/>
          </p:nvPr>
        </p:nvSpPr>
        <p:spPr/>
        <p:txBody>
          <a:bodyPr/>
          <a:lstStyle/>
          <a:p>
            <a:r>
              <a:rPr lang="en-US" dirty="0"/>
              <a:t>Sample question 1</a:t>
            </a:r>
          </a:p>
        </p:txBody>
      </p:sp>
    </p:spTree>
    <p:extLst>
      <p:ext uri="{BB962C8B-B14F-4D97-AF65-F5344CB8AC3E}">
        <p14:creationId xmlns:p14="http://schemas.microsoft.com/office/powerpoint/2010/main" val="3133067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EF6EB27-19E3-5031-55DB-79E91D48F275}"/>
              </a:ext>
            </a:extLst>
          </p:cNvPr>
          <p:cNvSpPr>
            <a:spLocks noGrp="1"/>
          </p:cNvSpPr>
          <p:nvPr>
            <p:ph idx="1"/>
          </p:nvPr>
        </p:nvSpPr>
        <p:spPr/>
        <p:txBody>
          <a:bodyPr/>
          <a:lstStyle/>
          <a:p>
            <a:r>
              <a:rPr lang="en-US" dirty="0"/>
              <a:t>I have a </a:t>
            </a:r>
            <a:r>
              <a:rPr lang="en-US" dirty="0" err="1">
                <a:latin typeface="Consolas" panose="020B0609020204030204" pitchFamily="49" charset="0"/>
              </a:rPr>
              <a:t>GitHubRepo</a:t>
            </a:r>
            <a:r>
              <a:rPr lang="en-US" dirty="0"/>
              <a:t> class with fields for – </a:t>
            </a:r>
            <a:r>
              <a:rPr lang="en-US" dirty="0">
                <a:latin typeface="Consolas" panose="020B0609020204030204" pitchFamily="49" charset="0"/>
              </a:rPr>
              <a:t>author</a:t>
            </a:r>
            <a:r>
              <a:rPr lang="en-US" dirty="0"/>
              <a:t>, </a:t>
            </a:r>
            <a:r>
              <a:rPr lang="en-US" dirty="0" err="1">
                <a:latin typeface="Consolas" panose="020B0609020204030204" pitchFamily="49" charset="0"/>
              </a:rPr>
              <a:t>url</a:t>
            </a:r>
            <a:r>
              <a:rPr lang="en-US" dirty="0"/>
              <a:t>, </a:t>
            </a:r>
            <a:r>
              <a:rPr lang="en-US" dirty="0" err="1">
                <a:latin typeface="Consolas" panose="020B0609020204030204" pitchFamily="49" charset="0"/>
              </a:rPr>
              <a:t>creationDate</a:t>
            </a:r>
            <a:r>
              <a:rPr lang="en-US" dirty="0"/>
              <a:t>, and </a:t>
            </a:r>
            <a:r>
              <a:rPr lang="en-US" dirty="0" err="1">
                <a:latin typeface="Consolas" panose="020B0609020204030204" pitchFamily="49" charset="0"/>
              </a:rPr>
              <a:t>lastTenCommitList</a:t>
            </a:r>
            <a:r>
              <a:rPr lang="en-US" dirty="0"/>
              <a:t>. The </a:t>
            </a:r>
            <a:r>
              <a:rPr lang="en-US" dirty="0" err="1">
                <a:latin typeface="Consolas" panose="020B0609020204030204" pitchFamily="49" charset="0"/>
              </a:rPr>
              <a:t>lastTenCommitList</a:t>
            </a:r>
            <a:r>
              <a:rPr lang="en-US" dirty="0"/>
              <a:t> contains a list of the last ten commits – the code diffs, the file names – everything. </a:t>
            </a:r>
          </a:p>
          <a:p>
            <a:pPr lvl="1"/>
            <a:r>
              <a:rPr lang="en-US" dirty="0"/>
              <a:t>The details of the </a:t>
            </a:r>
            <a:r>
              <a:rPr lang="en-US" dirty="0" err="1"/>
              <a:t>GitHubRepo</a:t>
            </a:r>
            <a:r>
              <a:rPr lang="en-US" dirty="0"/>
              <a:t> class is fetched using API calls </a:t>
            </a:r>
          </a:p>
          <a:p>
            <a:pPr lvl="2"/>
            <a:r>
              <a:rPr lang="en-US" dirty="0">
                <a:latin typeface="Consolas" panose="020B0609020204030204" pitchFamily="49" charset="0"/>
              </a:rPr>
              <a:t>https://api.github.com/repo?name=&lt;repo_name&gt;</a:t>
            </a:r>
          </a:p>
          <a:p>
            <a:pPr lvl="2"/>
            <a:r>
              <a:rPr lang="en-US" dirty="0">
                <a:latin typeface="Consolas" panose="020B0609020204030204" pitchFamily="49" charset="0"/>
              </a:rPr>
              <a:t>https://api.github.com/repo_commits?name=&lt;repo_name&gt;&amp;limit=&lt;num_commits&gt;</a:t>
            </a:r>
          </a:p>
          <a:p>
            <a:pPr lvl="1"/>
            <a:r>
              <a:rPr lang="en-US" dirty="0"/>
              <a:t>I want the </a:t>
            </a:r>
            <a:r>
              <a:rPr lang="en-US" dirty="0" err="1">
                <a:latin typeface="Consolas" panose="020B0609020204030204" pitchFamily="49" charset="0"/>
              </a:rPr>
              <a:t>lastTenCommitList</a:t>
            </a:r>
            <a:r>
              <a:rPr lang="en-US" dirty="0"/>
              <a:t> field, which is a List object, to be lazy-loaded. Only when the user performs a call to </a:t>
            </a:r>
            <a:r>
              <a:rPr lang="en-US" dirty="0" err="1">
                <a:latin typeface="Consolas" panose="020B0609020204030204" pitchFamily="49" charset="0"/>
              </a:rPr>
              <a:t>getLastTenCommitlist</a:t>
            </a:r>
            <a:r>
              <a:rPr lang="en-US" dirty="0">
                <a:latin typeface="Consolas" panose="020B0609020204030204" pitchFamily="49" charset="0"/>
              </a:rPr>
              <a:t>()</a:t>
            </a:r>
            <a:r>
              <a:rPr lang="en-US" dirty="0"/>
              <a:t> should the commits be fetched. How should I design this?</a:t>
            </a:r>
          </a:p>
        </p:txBody>
      </p:sp>
      <p:sp>
        <p:nvSpPr>
          <p:cNvPr id="4" name="Title 3">
            <a:extLst>
              <a:ext uri="{FF2B5EF4-FFF2-40B4-BE49-F238E27FC236}">
                <a16:creationId xmlns:a16="http://schemas.microsoft.com/office/drawing/2014/main" id="{D4E6D1E7-D3EE-8D44-E451-0B464CA5BFC6}"/>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25406738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A0BD6-0B9E-07A2-A3DC-4C49CE7CF2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FBBDFA3-5218-4FFC-13B4-7EF217A115D3}"/>
              </a:ext>
            </a:extLst>
          </p:cNvPr>
          <p:cNvSpPr>
            <a:spLocks noGrp="1"/>
          </p:cNvSpPr>
          <p:nvPr>
            <p:ph idx="1"/>
          </p:nvPr>
        </p:nvSpPr>
        <p:spPr/>
        <p:txBody>
          <a:bodyPr>
            <a:normAutofit fontScale="92500" lnSpcReduction="10000"/>
          </a:bodyPr>
          <a:lstStyle/>
          <a:p>
            <a:r>
              <a:rPr lang="en-US" dirty="0"/>
              <a:t>I want to design a framework that supports lazy loading from an API. The framework should support a class-level annotation </a:t>
            </a:r>
            <a:r>
              <a:rPr lang="en-US" dirty="0">
                <a:latin typeface="Consolas" panose="020B0609020204030204" pitchFamily="49" charset="0"/>
              </a:rPr>
              <a:t>@Remote</a:t>
            </a:r>
            <a:r>
              <a:rPr lang="en-US" dirty="0"/>
              <a:t> and a method-level annotation </a:t>
            </a:r>
            <a:r>
              <a:rPr lang="en-US" dirty="0">
                <a:latin typeface="Consolas" panose="020B0609020204030204" pitchFamily="49" charset="0"/>
              </a:rPr>
              <a:t>@RemoteField(url = “/</a:t>
            </a:r>
            <a:r>
              <a:rPr lang="en-US" dirty="0" err="1">
                <a:latin typeface="Consolas" panose="020B0609020204030204" pitchFamily="49" charset="0"/>
              </a:rPr>
              <a:t>api</a:t>
            </a:r>
            <a:r>
              <a:rPr lang="en-US" dirty="0">
                <a:latin typeface="Consolas" panose="020B0609020204030204" pitchFamily="49" charset="0"/>
              </a:rPr>
              <a:t>/endpoint”)</a:t>
            </a:r>
            <a:r>
              <a:rPr lang="en-US" dirty="0"/>
              <a:t>. When the getter of a field annotated with </a:t>
            </a:r>
            <a:r>
              <a:rPr lang="en-US" dirty="0">
                <a:latin typeface="Consolas" panose="020B0609020204030204" pitchFamily="49" charset="0"/>
              </a:rPr>
              <a:t>@RemoteField </a:t>
            </a:r>
            <a:r>
              <a:rPr lang="en-US" dirty="0"/>
              <a:t>is invoked, the </a:t>
            </a:r>
            <a:r>
              <a:rPr lang="en-US" dirty="0" err="1"/>
              <a:t>url</a:t>
            </a:r>
            <a:r>
              <a:rPr lang="en-US" dirty="0"/>
              <a:t> endpoint should be invoked, which would return a JSON array object. This JSON array object should be deserialized into a Java </a:t>
            </a:r>
            <a:r>
              <a:rPr lang="en-US" dirty="0">
                <a:latin typeface="Consolas" panose="020B0609020204030204" pitchFamily="49" charset="0"/>
              </a:rPr>
              <a:t>List</a:t>
            </a:r>
            <a:r>
              <a:rPr lang="en-US" dirty="0"/>
              <a:t> and stored to the field annotated with the </a:t>
            </a:r>
            <a:r>
              <a:rPr lang="en-US" dirty="0">
                <a:latin typeface="Consolas" panose="020B0609020204030204" pitchFamily="49" charset="0"/>
              </a:rPr>
              <a:t>@RemoteField</a:t>
            </a:r>
            <a:r>
              <a:rPr lang="en-US" dirty="0"/>
              <a:t> annotation. </a:t>
            </a:r>
          </a:p>
          <a:p>
            <a:r>
              <a:rPr lang="en-US" dirty="0"/>
              <a:t>How should I design this framework? Assume that fields annotated with </a:t>
            </a:r>
            <a:r>
              <a:rPr lang="en-US" dirty="0">
                <a:latin typeface="Consolas" panose="020B0609020204030204" pitchFamily="49" charset="0"/>
              </a:rPr>
              <a:t>@RemoteField </a:t>
            </a:r>
            <a:r>
              <a:rPr lang="en-US" dirty="0"/>
              <a:t>are only accessed by their getters and that a getter named </a:t>
            </a:r>
            <a:r>
              <a:rPr lang="en-US" dirty="0">
                <a:latin typeface="Consolas" panose="020B0609020204030204" pitchFamily="49" charset="0"/>
              </a:rPr>
              <a:t>get&lt;Field&gt;</a:t>
            </a:r>
            <a:r>
              <a:rPr lang="en-US" dirty="0"/>
              <a:t> is always present for that field. Also, assume that only fields of type </a:t>
            </a:r>
            <a:r>
              <a:rPr lang="en-US" dirty="0">
                <a:latin typeface="Consolas" panose="020B0609020204030204" pitchFamily="49" charset="0"/>
              </a:rPr>
              <a:t>List</a:t>
            </a:r>
            <a:r>
              <a:rPr lang="en-US" dirty="0"/>
              <a:t> are annotated with the </a:t>
            </a:r>
            <a:r>
              <a:rPr lang="en-US" dirty="0" err="1">
                <a:latin typeface="Consolas" panose="020B0609020204030204" pitchFamily="49" charset="0"/>
              </a:rPr>
              <a:t>RemoteField</a:t>
            </a:r>
            <a:r>
              <a:rPr lang="en-US" dirty="0"/>
              <a:t> annotation</a:t>
            </a:r>
          </a:p>
        </p:txBody>
      </p:sp>
      <p:sp>
        <p:nvSpPr>
          <p:cNvPr id="4" name="Title 3">
            <a:extLst>
              <a:ext uri="{FF2B5EF4-FFF2-40B4-BE49-F238E27FC236}">
                <a16:creationId xmlns:a16="http://schemas.microsoft.com/office/drawing/2014/main" id="{6E98A586-00B1-A299-1442-AB17088800D7}"/>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18794403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43838-EEFE-24AF-1D4F-7D1AB8C7A1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52CE6C9-1FCC-DD40-7EA4-ABAA1CC37E1C}"/>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6BB9B28-1E7D-1716-EAE5-3B1331A89B8A}"/>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1CB8DF37-E7B9-E74E-060F-ED59C9302429}"/>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a:t>
            </a:r>
            <a:r>
              <a:rPr lang="en-US" b="1" dirty="0"/>
              <a:t>Composite</a:t>
            </a:r>
            <a:r>
              <a:rPr lang="en-US" dirty="0"/>
              <a:t>, Bridge, Façade, Decorator</a:t>
            </a:r>
          </a:p>
        </p:txBody>
      </p:sp>
      <p:sp>
        <p:nvSpPr>
          <p:cNvPr id="6" name="Content Placeholder 4">
            <a:extLst>
              <a:ext uri="{FF2B5EF4-FFF2-40B4-BE49-F238E27FC236}">
                <a16:creationId xmlns:a16="http://schemas.microsoft.com/office/drawing/2014/main" id="{B705B6CE-61AF-8839-FE88-3A5FA6EED45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942D88DF-6AC3-625C-55FA-A2BD76DD8978}"/>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74330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8F21F-EC84-3680-D06E-7E96C5D58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B109D9-83E0-B896-CD3C-9C412572AAB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BE741535-73FC-5A3D-B86E-ECBEA5C69A46}"/>
              </a:ext>
            </a:extLst>
          </p:cNvPr>
          <p:cNvSpPr>
            <a:spLocks noGrp="1"/>
          </p:cNvSpPr>
          <p:nvPr>
            <p:ph type="body" sz="quarter" idx="13"/>
          </p:nvPr>
        </p:nvSpPr>
        <p:spPr/>
        <p:txBody>
          <a:bodyPr/>
          <a:lstStyle/>
          <a:p>
            <a:r>
              <a:rPr lang="en-US" sz="3200" dirty="0"/>
              <a:t>Composite design pattern</a:t>
            </a:r>
          </a:p>
        </p:txBody>
      </p:sp>
    </p:spTree>
    <p:extLst>
      <p:ext uri="{BB962C8B-B14F-4D97-AF65-F5344CB8AC3E}">
        <p14:creationId xmlns:p14="http://schemas.microsoft.com/office/powerpoint/2010/main" val="22970492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FF56C-4D31-BB15-7442-7174815D530E}"/>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7D4BE7A-F0B0-9497-CBEE-66A692DB0466}"/>
              </a:ext>
            </a:extLst>
          </p:cNvPr>
          <p:cNvSpPr>
            <a:spLocks noGrp="1"/>
          </p:cNvSpPr>
          <p:nvPr>
            <p:ph idx="1"/>
          </p:nvPr>
        </p:nvSpPr>
        <p:spPr>
          <a:xfrm>
            <a:off x="360607" y="785004"/>
            <a:ext cx="5735393" cy="5218981"/>
          </a:xfrm>
        </p:spPr>
        <p:txBody>
          <a:bodyPr>
            <a:normAutofit lnSpcReduction="10000"/>
          </a:bodyPr>
          <a:lstStyle/>
          <a:p>
            <a:r>
              <a:rPr lang="en-US" dirty="0"/>
              <a:t>A </a:t>
            </a:r>
            <a:r>
              <a:rPr lang="en-US" dirty="0">
                <a:latin typeface="Consolas" panose="020B0609020204030204" pitchFamily="49" charset="0"/>
              </a:rPr>
              <a:t>Post</a:t>
            </a:r>
            <a:r>
              <a:rPr lang="en-US" dirty="0"/>
              <a:t> is a leaf social media entry</a:t>
            </a:r>
          </a:p>
          <a:p>
            <a:r>
              <a:rPr lang="en-US" dirty="0"/>
              <a:t>A </a:t>
            </a:r>
            <a:r>
              <a:rPr lang="en-US" dirty="0">
                <a:latin typeface="Consolas" panose="020B0609020204030204" pitchFamily="49" charset="0"/>
              </a:rPr>
              <a:t>Thread</a:t>
            </a:r>
            <a:r>
              <a:rPr lang="en-US" dirty="0"/>
              <a:t> is a collection of posts and/or threads</a:t>
            </a:r>
          </a:p>
          <a:p>
            <a:r>
              <a:rPr lang="en-US" dirty="0"/>
              <a:t>Both </a:t>
            </a:r>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should have similar operations such as </a:t>
            </a:r>
            <a:r>
              <a:rPr lang="en-US" dirty="0" err="1">
                <a:latin typeface="Consolas" panose="020B0609020204030204" pitchFamily="49" charset="0"/>
              </a:rPr>
              <a:t>show,hide</a:t>
            </a:r>
            <a:r>
              <a:rPr lang="en-US" dirty="0">
                <a:latin typeface="Consolas" panose="020B0609020204030204" pitchFamily="49" charset="0"/>
              </a:rPr>
              <a:t>,</a:t>
            </a:r>
            <a:r>
              <a:rPr lang="en-US" dirty="0"/>
              <a:t> </a:t>
            </a:r>
            <a:r>
              <a:rPr lang="en-US" dirty="0">
                <a:latin typeface="Consolas" panose="020B0609020204030204" pitchFamily="49" charset="0"/>
              </a:rPr>
              <a:t>report</a:t>
            </a:r>
            <a:r>
              <a:rPr lang="en-US" dirty="0"/>
              <a:t>, etc.</a:t>
            </a:r>
          </a:p>
          <a:p>
            <a:r>
              <a:rPr lang="en-US" b="1" i="1" dirty="0"/>
              <a:t>… bring them under same </a:t>
            </a:r>
            <a:r>
              <a:rPr lang="en-US" b="1" i="1"/>
              <a:t>type hierarchy</a:t>
            </a:r>
            <a:endParaRPr lang="en-US" b="1" i="1" dirty="0"/>
          </a:p>
          <a:p>
            <a:endParaRPr lang="en-US" dirty="0"/>
          </a:p>
        </p:txBody>
      </p:sp>
      <p:sp>
        <p:nvSpPr>
          <p:cNvPr id="3" name="Title 2">
            <a:extLst>
              <a:ext uri="{FF2B5EF4-FFF2-40B4-BE49-F238E27FC236}">
                <a16:creationId xmlns:a16="http://schemas.microsoft.com/office/drawing/2014/main" id="{492343A9-75DE-EF04-D389-2492EF4B74C1}"/>
              </a:ext>
            </a:extLst>
          </p:cNvPr>
          <p:cNvSpPr>
            <a:spLocks noGrp="1"/>
          </p:cNvSpPr>
          <p:nvPr>
            <p:ph type="title"/>
          </p:nvPr>
        </p:nvSpPr>
        <p:spPr>
          <a:xfrm>
            <a:off x="0" y="0"/>
            <a:ext cx="12192000" cy="696277"/>
          </a:xfrm>
        </p:spPr>
        <p:txBody>
          <a:bodyPr/>
          <a:lstStyle/>
          <a:p>
            <a:r>
              <a:rPr lang="en-US" dirty="0"/>
              <a:t>Case study: social media posts</a:t>
            </a:r>
          </a:p>
        </p:txBody>
      </p:sp>
      <p:pic>
        <p:nvPicPr>
          <p:cNvPr id="5" name="Picture 4">
            <a:extLst>
              <a:ext uri="{FF2B5EF4-FFF2-40B4-BE49-F238E27FC236}">
                <a16:creationId xmlns:a16="http://schemas.microsoft.com/office/drawing/2014/main" id="{55BC4AD0-824C-53EB-B07A-2FF3AE4673A8}"/>
              </a:ext>
            </a:extLst>
          </p:cNvPr>
          <p:cNvPicPr>
            <a:picLocks noChangeAspect="1"/>
          </p:cNvPicPr>
          <p:nvPr/>
        </p:nvPicPr>
        <p:blipFill>
          <a:blip r:embed="rId3"/>
          <a:stretch>
            <a:fillRect/>
          </a:stretch>
        </p:blipFill>
        <p:spPr>
          <a:xfrm>
            <a:off x="6689153" y="696277"/>
            <a:ext cx="4693955" cy="4913984"/>
          </a:xfrm>
          <a:prstGeom prst="rect">
            <a:avLst/>
          </a:prstGeom>
        </p:spPr>
      </p:pic>
      <p:grpSp>
        <p:nvGrpSpPr>
          <p:cNvPr id="8" name="Group 7">
            <a:extLst>
              <a:ext uri="{FF2B5EF4-FFF2-40B4-BE49-F238E27FC236}">
                <a16:creationId xmlns:a16="http://schemas.microsoft.com/office/drawing/2014/main" id="{4FD501CE-4735-BA2D-FDAB-E799B83728CA}"/>
              </a:ext>
            </a:extLst>
          </p:cNvPr>
          <p:cNvGrpSpPr/>
          <p:nvPr/>
        </p:nvGrpSpPr>
        <p:grpSpPr>
          <a:xfrm>
            <a:off x="6986833" y="4445170"/>
            <a:ext cx="5267607" cy="928341"/>
            <a:chOff x="6635262" y="696277"/>
            <a:chExt cx="5267607" cy="696277"/>
          </a:xfrm>
        </p:grpSpPr>
        <p:sp>
          <p:nvSpPr>
            <p:cNvPr id="6" name="Rectangle 5">
              <a:extLst>
                <a:ext uri="{FF2B5EF4-FFF2-40B4-BE49-F238E27FC236}">
                  <a16:creationId xmlns:a16="http://schemas.microsoft.com/office/drawing/2014/main" id="{CC5E49EB-AA6C-0771-CBFD-14CE529736BC}"/>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EE7DD562-E00A-BB02-B66B-446A007E2CBF}"/>
                </a:ext>
              </a:extLst>
            </p:cNvPr>
            <p:cNvSpPr txBox="1"/>
            <p:nvPr/>
          </p:nvSpPr>
          <p:spPr>
            <a:xfrm>
              <a:off x="11172092" y="785004"/>
              <a:ext cx="730777" cy="461665"/>
            </a:xfrm>
            <a:prstGeom prst="rect">
              <a:avLst/>
            </a:prstGeom>
            <a:noFill/>
          </p:spPr>
          <p:txBody>
            <a:bodyPr wrap="none" rtlCol="0">
              <a:spAutoFit/>
            </a:bodyPr>
            <a:lstStyle/>
            <a:p>
              <a:r>
                <a:rPr lang="en-US" sz="2400" b="1" i="1" dirty="0"/>
                <a:t>Post</a:t>
              </a:r>
              <a:endParaRPr lang="en-US" b="1" i="1" dirty="0"/>
            </a:p>
          </p:txBody>
        </p:sp>
      </p:grpSp>
      <p:grpSp>
        <p:nvGrpSpPr>
          <p:cNvPr id="11" name="Group 10">
            <a:extLst>
              <a:ext uri="{FF2B5EF4-FFF2-40B4-BE49-F238E27FC236}">
                <a16:creationId xmlns:a16="http://schemas.microsoft.com/office/drawing/2014/main" id="{40AF79D4-AB40-BF75-1E7D-F19767A1B9E3}"/>
              </a:ext>
            </a:extLst>
          </p:cNvPr>
          <p:cNvGrpSpPr/>
          <p:nvPr/>
        </p:nvGrpSpPr>
        <p:grpSpPr>
          <a:xfrm>
            <a:off x="6635262" y="696277"/>
            <a:ext cx="5619178" cy="5002711"/>
            <a:chOff x="6635262" y="696277"/>
            <a:chExt cx="5619178" cy="696277"/>
          </a:xfrm>
        </p:grpSpPr>
        <p:sp>
          <p:nvSpPr>
            <p:cNvPr id="12" name="Rectangle 11">
              <a:extLst>
                <a:ext uri="{FF2B5EF4-FFF2-40B4-BE49-F238E27FC236}">
                  <a16:creationId xmlns:a16="http://schemas.microsoft.com/office/drawing/2014/main" id="{A80BF9DE-78D6-CB1F-08BA-1E72CF629CDE}"/>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3" name="TextBox 12">
              <a:extLst>
                <a:ext uri="{FF2B5EF4-FFF2-40B4-BE49-F238E27FC236}">
                  <a16:creationId xmlns:a16="http://schemas.microsoft.com/office/drawing/2014/main" id="{6F7460FE-23D3-02A3-E3CD-0D7369DA3ED6}"/>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spTree>
    <p:extLst>
      <p:ext uri="{BB962C8B-B14F-4D97-AF65-F5344CB8AC3E}">
        <p14:creationId xmlns:p14="http://schemas.microsoft.com/office/powerpoint/2010/main" val="392985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8454F-C78E-330E-A3A9-F12154B9873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9AFC691-B1DB-33B4-AC6D-EA9A17BC76ED}"/>
              </a:ext>
            </a:extLst>
          </p:cNvPr>
          <p:cNvSpPr>
            <a:spLocks noGrp="1"/>
          </p:cNvSpPr>
          <p:nvPr>
            <p:ph idx="1"/>
          </p:nvPr>
        </p:nvSpPr>
        <p:spPr/>
        <p:txBody>
          <a:bodyPr>
            <a:normAutofit fontScale="92500"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extends </a:t>
            </a:r>
            <a:r>
              <a:rPr lang="en-US" dirty="0" err="1"/>
              <a:t>SocialMediaComponent</a:t>
            </a:r>
            <a:r>
              <a:rPr lang="en-US" dirty="0"/>
              <a:t> {</a:t>
            </a:r>
          </a:p>
          <a:p>
            <a:r>
              <a:rPr lang="en-US" dirty="0"/>
              <a:t>	private List&lt;</a:t>
            </a:r>
            <a:r>
              <a:rPr lang="en-US" dirty="0" err="1"/>
              <a:t>SocialMediaComponent</a:t>
            </a:r>
            <a:r>
              <a:rPr lang="en-US" dirty="0"/>
              <a:t>&gt; components = …; </a:t>
            </a:r>
          </a:p>
          <a:p>
            <a:r>
              <a:rPr lang="en-US" dirty="0"/>
              <a:t>	public void show() {</a:t>
            </a:r>
          </a:p>
          <a:p>
            <a:r>
              <a:rPr lang="en-US" dirty="0"/>
              <a:t>		for (</a:t>
            </a:r>
            <a:r>
              <a:rPr lang="en-US" dirty="0" err="1"/>
              <a:t>SocialMediaComponent</a:t>
            </a:r>
            <a:r>
              <a:rPr lang="en-US" dirty="0"/>
              <a:t> c: components) {</a:t>
            </a:r>
          </a:p>
          <a:p>
            <a:r>
              <a:rPr lang="en-US" dirty="0"/>
              <a:t>		  </a:t>
            </a:r>
            <a:r>
              <a:rPr lang="en-US" dirty="0" err="1"/>
              <a:t>c.show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03B4EF75-C122-583A-A593-98C4AB47706B}"/>
              </a:ext>
            </a:extLst>
          </p:cNvPr>
          <p:cNvSpPr>
            <a:spLocks noGrp="1"/>
          </p:cNvSpPr>
          <p:nvPr>
            <p:ph type="title"/>
          </p:nvPr>
        </p:nvSpPr>
        <p:spPr/>
        <p:txBody>
          <a:bodyPr/>
          <a:lstStyle/>
          <a:p>
            <a:r>
              <a:rPr lang="en-US" dirty="0"/>
              <a:t>Composite design pattern for social media post</a:t>
            </a:r>
          </a:p>
        </p:txBody>
      </p:sp>
      <p:sp>
        <p:nvSpPr>
          <p:cNvPr id="17" name="Content Placeholder 16">
            <a:extLst>
              <a:ext uri="{FF2B5EF4-FFF2-40B4-BE49-F238E27FC236}">
                <a16:creationId xmlns:a16="http://schemas.microsoft.com/office/drawing/2014/main" id="{6DC32977-5105-B129-C7D6-86F87B6419E2}"/>
              </a:ext>
            </a:extLst>
          </p:cNvPr>
          <p:cNvSpPr>
            <a:spLocks noGrp="1"/>
          </p:cNvSpPr>
          <p:nvPr>
            <p:ph idx="13"/>
          </p:nvPr>
        </p:nvSpPr>
        <p:spPr/>
        <p:txBody>
          <a:bodyPr>
            <a:normAutofit lnSpcReduction="10000"/>
          </a:bodyPr>
          <a:lstStyle/>
          <a:p>
            <a:r>
              <a:rPr lang="en-US" dirty="0"/>
              <a:t>Create abstract class </a:t>
            </a:r>
            <a:r>
              <a:rPr lang="en-US" dirty="0" err="1">
                <a:latin typeface="Consolas" panose="020B0609020204030204" pitchFamily="49" charset="0"/>
              </a:rPr>
              <a:t>SocialMediaContent</a:t>
            </a:r>
            <a:r>
              <a:rPr lang="en-US" dirty="0"/>
              <a:t> that supports the </a:t>
            </a:r>
            <a:r>
              <a:rPr lang="en-US" dirty="0">
                <a:latin typeface="Consolas" panose="020B0609020204030204" pitchFamily="49" charset="0"/>
              </a:rPr>
              <a:t>display</a:t>
            </a:r>
            <a:r>
              <a:rPr lang="en-US" dirty="0"/>
              <a:t>, </a:t>
            </a:r>
            <a:r>
              <a:rPr lang="en-US" dirty="0">
                <a:latin typeface="Consolas" panose="020B0609020204030204" pitchFamily="49" charset="0"/>
              </a:rPr>
              <a:t>hide</a:t>
            </a:r>
            <a:r>
              <a:rPr lang="en-US" dirty="0"/>
              <a:t>, </a:t>
            </a:r>
            <a:r>
              <a:rPr lang="en-US" dirty="0">
                <a:latin typeface="Consolas" panose="020B0609020204030204" pitchFamily="49" charset="0"/>
              </a:rPr>
              <a:t>report</a:t>
            </a:r>
            <a:r>
              <a:rPr lang="en-US" dirty="0"/>
              <a:t> functionalities</a:t>
            </a:r>
          </a:p>
          <a:p>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are subclasses</a:t>
            </a:r>
          </a:p>
          <a:p>
            <a:pPr lvl="1"/>
            <a:r>
              <a:rPr lang="en-US" dirty="0">
                <a:latin typeface="Consolas" panose="020B0609020204030204" pitchFamily="49" charset="0"/>
              </a:rPr>
              <a:t>Post</a:t>
            </a:r>
            <a:r>
              <a:rPr lang="en-US" dirty="0"/>
              <a:t> is the “leaf”</a:t>
            </a:r>
          </a:p>
          <a:p>
            <a:pPr lvl="1"/>
            <a:r>
              <a:rPr lang="en-US" dirty="0">
                <a:latin typeface="Consolas" panose="020B0609020204030204" pitchFamily="49" charset="0"/>
              </a:rPr>
              <a:t>Thread</a:t>
            </a:r>
            <a:r>
              <a:rPr lang="en-US" dirty="0"/>
              <a:t> is the “composite” composed of a </a:t>
            </a:r>
            <a:r>
              <a:rPr lang="en-US" dirty="0">
                <a:latin typeface="Consolas" panose="020B0609020204030204" pitchFamily="49" charset="0"/>
              </a:rPr>
              <a:t>List</a:t>
            </a:r>
            <a:r>
              <a:rPr lang="en-US" dirty="0"/>
              <a:t> of </a:t>
            </a:r>
            <a:r>
              <a:rPr lang="en-US" dirty="0" err="1">
                <a:latin typeface="Consolas" panose="020B0609020204030204" pitchFamily="49" charset="0"/>
              </a:rPr>
              <a:t>SocialMediaContent</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What is the benefit?</a:t>
            </a:r>
          </a:p>
          <a:p>
            <a:endParaRPr lang="en-US" dirty="0"/>
          </a:p>
        </p:txBody>
      </p:sp>
      <p:sp>
        <p:nvSpPr>
          <p:cNvPr id="2" name="Rectangle 1">
            <a:extLst>
              <a:ext uri="{FF2B5EF4-FFF2-40B4-BE49-F238E27FC236}">
                <a16:creationId xmlns:a16="http://schemas.microsoft.com/office/drawing/2014/main" id="{A3C0E32E-0005-83C8-870E-6449BBE13DC5}"/>
              </a:ext>
            </a:extLst>
          </p:cNvPr>
          <p:cNvSpPr/>
          <p:nvPr/>
        </p:nvSpPr>
        <p:spPr>
          <a:xfrm>
            <a:off x="5920154" y="696277"/>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C6A83B1-E387-41E8-9978-C41CA2B3E140}"/>
              </a:ext>
            </a:extLst>
          </p:cNvPr>
          <p:cNvSpPr/>
          <p:nvPr/>
        </p:nvSpPr>
        <p:spPr>
          <a:xfrm>
            <a:off x="5920154" y="1922585"/>
            <a:ext cx="5633412" cy="175073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C5801D7E-E8E2-F18F-A882-14DBC98E5EB4}"/>
              </a:ext>
            </a:extLst>
          </p:cNvPr>
          <p:cNvSpPr/>
          <p:nvPr/>
        </p:nvSpPr>
        <p:spPr>
          <a:xfrm>
            <a:off x="5920154" y="3673319"/>
            <a:ext cx="5633412" cy="197720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67938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P spid="7" grpId="0" animBg="1"/>
      <p:bldP spid="7" grpId="1"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962AF-2D57-BD0A-606A-DCB7880F12C2}"/>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C8AD61D7-853F-FA26-3441-EA3794FF748E}"/>
              </a:ext>
            </a:extLst>
          </p:cNvPr>
          <p:cNvSpPr>
            <a:spLocks noGrp="1"/>
          </p:cNvSpPr>
          <p:nvPr>
            <p:ph idx="1"/>
          </p:nvPr>
        </p:nvSpPr>
        <p:spPr/>
        <p:txBody>
          <a:bodyPr>
            <a:normAutofit lnSpcReduction="10000"/>
          </a:bodyPr>
          <a:lstStyle/>
          <a:p>
            <a:r>
              <a:rPr lang="en-US" b="1" dirty="0"/>
              <a:t>// Without composite design pattern</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List&lt;Post&gt; </a:t>
            </a:r>
            <a:r>
              <a:rPr lang="en-US" dirty="0" err="1"/>
              <a:t>leafPosts</a:t>
            </a:r>
            <a:r>
              <a:rPr lang="en-US" dirty="0"/>
              <a:t> = …; </a:t>
            </a:r>
          </a:p>
          <a:p>
            <a:r>
              <a:rPr lang="en-US" dirty="0"/>
              <a:t>	private List&lt;Thread&gt; </a:t>
            </a:r>
            <a:r>
              <a:rPr lang="en-US" dirty="0" err="1"/>
              <a:t>subThreads</a:t>
            </a:r>
            <a:r>
              <a:rPr lang="en-US" dirty="0"/>
              <a:t> = …;</a:t>
            </a:r>
          </a:p>
          <a:p>
            <a:r>
              <a:rPr lang="en-US" dirty="0"/>
              <a:t>	public void show() {</a:t>
            </a:r>
          </a:p>
          <a:p>
            <a:r>
              <a:rPr lang="en-US" dirty="0"/>
              <a:t>		for (Post p: </a:t>
            </a:r>
            <a:r>
              <a:rPr lang="en-US" dirty="0" err="1"/>
              <a:t>leafPosts</a:t>
            </a:r>
            <a:r>
              <a:rPr lang="en-US" dirty="0"/>
              <a:t>) {</a:t>
            </a:r>
          </a:p>
          <a:p>
            <a:r>
              <a:rPr lang="en-US" dirty="0"/>
              <a:t>		  </a:t>
            </a:r>
            <a:r>
              <a:rPr lang="en-US" dirty="0" err="1"/>
              <a:t>p.show</a:t>
            </a:r>
            <a:r>
              <a:rPr lang="en-US" dirty="0"/>
              <a:t>();</a:t>
            </a:r>
          </a:p>
          <a:p>
            <a:r>
              <a:rPr lang="en-US" dirty="0"/>
              <a:t>		}</a:t>
            </a:r>
          </a:p>
          <a:p>
            <a:r>
              <a:rPr lang="en-US" dirty="0"/>
              <a:t>		for (Thread t: </a:t>
            </a:r>
            <a:r>
              <a:rPr lang="en-US" dirty="0" err="1"/>
              <a:t>subThreads</a:t>
            </a:r>
            <a:r>
              <a:rPr lang="en-US" dirty="0"/>
              <a:t>) {</a:t>
            </a:r>
          </a:p>
          <a:p>
            <a:r>
              <a:rPr lang="en-US" dirty="0"/>
              <a:t>		  </a:t>
            </a:r>
            <a:r>
              <a:rPr lang="en-US" dirty="0" err="1"/>
              <a:t>t.show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832A32-0D0B-E04F-C942-99118524B5ED}"/>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A6CB982-C363-5414-CD60-71DE7B67963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p>
        </p:txBody>
      </p:sp>
      <p:sp>
        <p:nvSpPr>
          <p:cNvPr id="2" name="Rectangle 1">
            <a:extLst>
              <a:ext uri="{FF2B5EF4-FFF2-40B4-BE49-F238E27FC236}">
                <a16:creationId xmlns:a16="http://schemas.microsoft.com/office/drawing/2014/main" id="{AD0AD560-F439-1B03-A00D-F64562F69511}"/>
              </a:ext>
            </a:extLst>
          </p:cNvPr>
          <p:cNvSpPr/>
          <p:nvPr/>
        </p:nvSpPr>
        <p:spPr>
          <a:xfrm>
            <a:off x="6096000" y="2980267"/>
            <a:ext cx="5633412" cy="250613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08157FA3-353F-908B-5674-DFC3E6A9C660}"/>
              </a:ext>
            </a:extLst>
          </p:cNvPr>
          <p:cNvSpPr txBox="1"/>
          <p:nvPr/>
        </p:nvSpPr>
        <p:spPr>
          <a:xfrm>
            <a:off x="9411983" y="2518602"/>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1587118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7CFE5-E4B0-E798-1A67-F32912B28BD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BBF9A764-028F-11C7-4570-CA0DEABAC8F5}"/>
              </a:ext>
            </a:extLst>
          </p:cNvPr>
          <p:cNvSpPr>
            <a:spLocks noGrp="1"/>
          </p:cNvSpPr>
          <p:nvPr>
            <p:ph idx="1"/>
          </p:nvPr>
        </p:nvSpPr>
        <p:spPr>
          <a:xfrm>
            <a:off x="6176512" y="785004"/>
            <a:ext cx="6015488" cy="5046453"/>
          </a:xfrm>
        </p:spPr>
        <p:txBody>
          <a:bodyPr>
            <a:normAutofit lnSpcReduction="10000"/>
          </a:bodyPr>
          <a:lstStyle/>
          <a:p>
            <a:r>
              <a:rPr lang="en-US" b="1" dirty="0"/>
              <a:t>// With composite design pattern</a:t>
            </a:r>
          </a:p>
          <a:p>
            <a:r>
              <a:rPr lang="en-US" dirty="0"/>
              <a:t>public abstract class </a:t>
            </a:r>
            <a:r>
              <a:rPr lang="en-US" dirty="0" err="1"/>
              <a:t>SocialMediaComponent</a:t>
            </a:r>
            <a:r>
              <a:rPr lang="en-US" dirty="0"/>
              <a:t> {</a:t>
            </a:r>
            <a:br>
              <a:rPr lang="en-US" dirty="0"/>
            </a:br>
            <a:r>
              <a:rPr lang="en-US" dirty="0"/>
              <a:t>    public void show(); </a:t>
            </a:r>
            <a:br>
              <a:rPr lang="en-US" dirty="0"/>
            </a:br>
            <a:r>
              <a:rPr lang="en-US" dirty="0"/>
              <a:t>    // other methods</a:t>
            </a:r>
            <a:br>
              <a:rPr lang="en-US" dirty="0"/>
            </a:br>
            <a:r>
              <a:rPr lang="en-US" dirty="0"/>
              <a:t>}</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a:t>
            </a:r>
            <a:r>
              <a:rPr lang="en-US" dirty="0" err="1"/>
              <a:t>SocialMediaContent</a:t>
            </a:r>
            <a:r>
              <a:rPr lang="en-US" dirty="0"/>
              <a:t>&gt; children; </a:t>
            </a:r>
          </a:p>
          <a:p>
            <a:r>
              <a:rPr lang="en-US" dirty="0"/>
              <a:t>	public void show() {</a:t>
            </a:r>
          </a:p>
          <a:p>
            <a:r>
              <a:rPr lang="en-US" dirty="0"/>
              <a:t>		for (</a:t>
            </a:r>
            <a:r>
              <a:rPr lang="en-US" dirty="0" err="1"/>
              <a:t>SocialMediaContent</a:t>
            </a:r>
            <a:r>
              <a:rPr lang="en-US" dirty="0"/>
              <a:t> child: children) {</a:t>
            </a:r>
          </a:p>
          <a:p>
            <a:r>
              <a:rPr lang="en-US" dirty="0"/>
              <a:t>		  </a:t>
            </a:r>
            <a:r>
              <a:rPr lang="en-US" dirty="0" err="1"/>
              <a:t>child.show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341E90-7D69-6F1F-CC55-3FD834B8AFE8}"/>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0762206-145A-000F-356C-4D337B1CEDD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5B360C48-41E0-366B-A83C-2B09578B7DBA}"/>
              </a:ext>
            </a:extLst>
          </p:cNvPr>
          <p:cNvSpPr/>
          <p:nvPr/>
        </p:nvSpPr>
        <p:spPr>
          <a:xfrm>
            <a:off x="6479822" y="3826934"/>
            <a:ext cx="5429956" cy="14449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810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151CD-733C-DCE9-66AF-7CA4C9B5E14F}"/>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E51CC7D-D2DB-48F3-E5CF-C83E7AC3A79F}"/>
              </a:ext>
            </a:extLst>
          </p:cNvPr>
          <p:cNvSpPr>
            <a:spLocks noGrp="1"/>
          </p:cNvSpPr>
          <p:nvPr>
            <p:ph idx="1"/>
          </p:nvPr>
        </p:nvSpPr>
        <p:spPr/>
        <p:txBody>
          <a:bodyPr>
            <a:normAutofit/>
          </a:bodyPr>
          <a:lstStyle/>
          <a:p>
            <a:r>
              <a:rPr lang="en-US" b="1" dirty="0"/>
              <a:t>// Without composite design pattern</a:t>
            </a:r>
            <a:endParaRPr lang="en-US" dirty="0"/>
          </a:p>
          <a:p>
            <a:r>
              <a:rPr lang="en-US" dirty="0"/>
              <a:t>class </a:t>
            </a:r>
            <a:r>
              <a:rPr lang="en-US" dirty="0" err="1"/>
              <a:t>PostShowButton</a:t>
            </a:r>
            <a:r>
              <a:rPr lang="en-US" dirty="0"/>
              <a:t> {</a:t>
            </a:r>
          </a:p>
          <a:p>
            <a:r>
              <a:rPr lang="en-US" dirty="0"/>
              <a:t>	Post </a:t>
            </a:r>
            <a:r>
              <a:rPr lang="en-US" dirty="0" err="1"/>
              <a:t>post</a:t>
            </a:r>
            <a:r>
              <a:rPr lang="en-US" dirty="0"/>
              <a:t>;</a:t>
            </a:r>
          </a:p>
          <a:p>
            <a:r>
              <a:rPr lang="en-US" dirty="0"/>
              <a:t>	void </a:t>
            </a:r>
            <a:r>
              <a:rPr lang="en-US" dirty="0" err="1"/>
              <a:t>onClick</a:t>
            </a:r>
            <a:r>
              <a:rPr lang="en-US" dirty="0"/>
              <a:t>() {</a:t>
            </a:r>
          </a:p>
          <a:p>
            <a:r>
              <a:rPr lang="en-US" dirty="0"/>
              <a:t>		</a:t>
            </a:r>
            <a:r>
              <a:rPr lang="en-US" dirty="0" err="1"/>
              <a:t>post.show</a:t>
            </a:r>
            <a:r>
              <a:rPr lang="en-US" dirty="0"/>
              <a:t>();</a:t>
            </a:r>
          </a:p>
          <a:p>
            <a:r>
              <a:rPr lang="en-US" dirty="0"/>
              <a:t>	}</a:t>
            </a:r>
          </a:p>
          <a:p>
            <a:r>
              <a:rPr lang="en-US" dirty="0"/>
              <a:t>}</a:t>
            </a:r>
          </a:p>
          <a:p>
            <a:endParaRPr lang="en-US" dirty="0"/>
          </a:p>
          <a:p>
            <a:r>
              <a:rPr lang="en-US" dirty="0"/>
              <a:t>class </a:t>
            </a:r>
            <a:r>
              <a:rPr lang="en-US" dirty="0" err="1"/>
              <a:t>ThreadShowButton</a:t>
            </a:r>
            <a:r>
              <a:rPr lang="en-US" dirty="0"/>
              <a:t> {</a:t>
            </a:r>
          </a:p>
          <a:p>
            <a:r>
              <a:rPr lang="en-US" dirty="0"/>
              <a:t>	Thread </a:t>
            </a:r>
            <a:r>
              <a:rPr lang="en-US" dirty="0" err="1"/>
              <a:t>thread</a:t>
            </a:r>
            <a:r>
              <a:rPr lang="en-US" dirty="0"/>
              <a:t>;</a:t>
            </a:r>
          </a:p>
          <a:p>
            <a:r>
              <a:rPr lang="en-US" dirty="0"/>
              <a:t>	void </a:t>
            </a:r>
            <a:r>
              <a:rPr lang="en-US" dirty="0" err="1"/>
              <a:t>onClick</a:t>
            </a:r>
            <a:r>
              <a:rPr lang="en-US" dirty="0"/>
              <a:t>() {</a:t>
            </a:r>
          </a:p>
          <a:p>
            <a:r>
              <a:rPr lang="en-US" dirty="0"/>
              <a:t>		</a:t>
            </a:r>
            <a:r>
              <a:rPr lang="en-US" dirty="0" err="1"/>
              <a:t>thread.show</a:t>
            </a:r>
            <a:r>
              <a:rPr lang="en-US" dirty="0"/>
              <a:t>();</a:t>
            </a:r>
          </a:p>
          <a:p>
            <a:r>
              <a:rPr lang="en-US" dirty="0"/>
              <a:t>	}</a:t>
            </a:r>
          </a:p>
          <a:p>
            <a:r>
              <a:rPr lang="en-US" dirty="0"/>
              <a:t>}</a:t>
            </a:r>
          </a:p>
          <a:p>
            <a:endParaRPr lang="en-US" dirty="0"/>
          </a:p>
          <a:p>
            <a:r>
              <a:rPr lang="en-US" b="1" dirty="0"/>
              <a:t>// With composite design pattern</a:t>
            </a:r>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1DD6B45B-3B1B-9517-2151-5923C83F1162}"/>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5639A848-15BC-C602-835D-772A828EF467}"/>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Prevents code duplication in </a:t>
            </a:r>
            <a:r>
              <a:rPr lang="en-US" b="1" i="1" dirty="0">
                <a:latin typeface="Helvetica" panose="020B0604020202020204" pitchFamily="34" charset="0"/>
                <a:cs typeface="Helvetica" panose="020B0604020202020204" pitchFamily="34" charset="0"/>
              </a:rPr>
              <a:t>users </a:t>
            </a:r>
            <a:r>
              <a:rPr lang="en-US" dirty="0">
                <a:latin typeface="Helvetica" panose="020B0604020202020204" pitchFamily="34" charset="0"/>
                <a:cs typeface="Helvetica" panose="020B0604020202020204" pitchFamily="34" charset="0"/>
              </a:rPr>
              <a:t>of Thread and Post class</a:t>
            </a:r>
          </a:p>
          <a:p>
            <a:pPr lvl="1"/>
            <a:r>
              <a:rPr lang="en-US" dirty="0">
                <a:latin typeface="Helvetica" panose="020B0604020202020204" pitchFamily="34" charset="0"/>
                <a:cs typeface="Helvetica" panose="020B0604020202020204" pitchFamily="34" charset="0"/>
              </a:rPr>
              <a:t>E.g., UI components for post and threads can have unified handling</a:t>
            </a:r>
          </a:p>
          <a:p>
            <a:pPr marL="0" indent="0">
              <a:buNone/>
            </a:pPr>
            <a:endParaRPr lang="en-US" dirty="0"/>
          </a:p>
        </p:txBody>
      </p:sp>
      <p:sp>
        <p:nvSpPr>
          <p:cNvPr id="2" name="Rectangle 1">
            <a:extLst>
              <a:ext uri="{FF2B5EF4-FFF2-40B4-BE49-F238E27FC236}">
                <a16:creationId xmlns:a16="http://schemas.microsoft.com/office/drawing/2014/main" id="{0C3605E0-71C0-6532-1EBA-2BBAE13AE177}"/>
              </a:ext>
            </a:extLst>
          </p:cNvPr>
          <p:cNvSpPr/>
          <p:nvPr/>
        </p:nvSpPr>
        <p:spPr>
          <a:xfrm>
            <a:off x="6096000" y="785004"/>
            <a:ext cx="5633412" cy="349391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41C7CDE8-7E60-B182-F718-0D9A937621FC}"/>
              </a:ext>
            </a:extLst>
          </p:cNvPr>
          <p:cNvSpPr txBox="1"/>
          <p:nvPr/>
        </p:nvSpPr>
        <p:spPr>
          <a:xfrm>
            <a:off x="9293203" y="334620"/>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2856940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8C6F-30EF-FCFC-8C9D-4667AF441A6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DD32E0C-D679-FBD7-A124-73066005605A}"/>
              </a:ext>
            </a:extLst>
          </p:cNvPr>
          <p:cNvSpPr>
            <a:spLocks noGrp="1"/>
          </p:cNvSpPr>
          <p:nvPr>
            <p:ph idx="1"/>
          </p:nvPr>
        </p:nvSpPr>
        <p:spPr/>
        <p:txBody>
          <a:bodyPr>
            <a:normAutofit fontScale="925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a:t>
            </a:r>
          </a:p>
          <a:p>
            <a:endParaRPr lang="en-US" dirty="0"/>
          </a:p>
          <a:p>
            <a:r>
              <a:rPr lang="en-US" dirty="0"/>
              <a:t>public class Thread extends </a:t>
            </a:r>
            <a:r>
              <a:rPr lang="en-US" dirty="0" err="1"/>
              <a:t>SocialMediaComponent</a:t>
            </a:r>
            <a:r>
              <a:rPr lang="en-US" dirty="0"/>
              <a:t> {}</a:t>
            </a:r>
          </a:p>
          <a:p>
            <a:endParaRPr lang="en-US" dirty="0"/>
          </a:p>
          <a:p>
            <a:r>
              <a:rPr lang="en-US" dirty="0"/>
              <a:t>public class Spaces extends </a:t>
            </a:r>
            <a:r>
              <a:rPr lang="en-US" dirty="0" err="1"/>
              <a:t>SocialMediaComponent</a:t>
            </a:r>
            <a:r>
              <a:rPr lang="en-US" dirty="0"/>
              <a:t> {</a:t>
            </a:r>
          </a:p>
          <a:p>
            <a:r>
              <a:rPr lang="en-US" dirty="0"/>
              <a:t>	public void show() { // show livestream }</a:t>
            </a:r>
          </a:p>
          <a:p>
            <a:r>
              <a:rPr lang="en-US" dirty="0"/>
              <a:t>	public void hide() { // hide livestream }</a:t>
            </a:r>
          </a:p>
          <a:p>
            <a:r>
              <a:rPr lang="en-US" dirty="0"/>
              <a:t>	public void report() { // report livestream}</a:t>
            </a:r>
          </a:p>
          <a:p>
            <a:r>
              <a:rPr lang="en-US" dirty="0"/>
              <a:t>}</a:t>
            </a:r>
          </a:p>
          <a:p>
            <a:endParaRPr lang="en-US" dirty="0"/>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3155696C-A6B8-54B3-E0BE-7D6CE0BEE4EA}"/>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C48B8708-8065-26D8-72DE-DB07C6AE9FC6}"/>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Easy to add another </a:t>
            </a:r>
            <a:r>
              <a:rPr lang="en-US" dirty="0" err="1">
                <a:latin typeface="Helvetica" panose="020B0604020202020204" pitchFamily="34" charset="0"/>
                <a:cs typeface="Helvetica" panose="020B0604020202020204" pitchFamily="34" charset="0"/>
              </a:rPr>
              <a:t>SocialMediaComponent</a:t>
            </a: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06B838F1-73A4-80BB-A9FF-5A15E025C3EB}"/>
              </a:ext>
            </a:extLst>
          </p:cNvPr>
          <p:cNvSpPr/>
          <p:nvPr/>
        </p:nvSpPr>
        <p:spPr>
          <a:xfrm>
            <a:off x="6096000" y="3282462"/>
            <a:ext cx="5633412" cy="15240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01771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6A316-EA19-2A45-B61B-7B43FAE98273}"/>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C58E2E4-61F6-8E82-32B0-15D57DFC77F0}"/>
              </a:ext>
            </a:extLst>
          </p:cNvPr>
          <p:cNvSpPr>
            <a:spLocks noGrp="1"/>
          </p:cNvSpPr>
          <p:nvPr>
            <p:ph idx="1"/>
          </p:nvPr>
        </p:nvSpPr>
        <p:spPr>
          <a:xfrm>
            <a:off x="360607" y="785004"/>
            <a:ext cx="11449319" cy="5218981"/>
          </a:xfrm>
        </p:spPr>
        <p:txBody>
          <a:bodyPr>
            <a:normAutofit/>
          </a:bodyPr>
          <a:lstStyle/>
          <a:p>
            <a:r>
              <a:rPr lang="en-US" dirty="0"/>
              <a:t>Ideal for representing hierarchical structures where an object can contain other objects from the same class hierarchy</a:t>
            </a:r>
          </a:p>
          <a:p>
            <a:r>
              <a:rPr lang="en-US" dirty="0"/>
              <a:t>Composite pattern allows clients to treat individual objects and compositions of objects uniformly</a:t>
            </a:r>
          </a:p>
          <a:p>
            <a:pPr marL="0" indent="0">
              <a:buNone/>
            </a:pPr>
            <a:endParaRPr lang="en-US" dirty="0"/>
          </a:p>
        </p:txBody>
      </p:sp>
      <p:sp>
        <p:nvSpPr>
          <p:cNvPr id="3" name="Title 2">
            <a:extLst>
              <a:ext uri="{FF2B5EF4-FFF2-40B4-BE49-F238E27FC236}">
                <a16:creationId xmlns:a16="http://schemas.microsoft.com/office/drawing/2014/main" id="{E6480789-A339-5542-C677-9A40D322BE7D}"/>
              </a:ext>
            </a:extLst>
          </p:cNvPr>
          <p:cNvSpPr>
            <a:spLocks noGrp="1"/>
          </p:cNvSpPr>
          <p:nvPr>
            <p:ph type="title"/>
          </p:nvPr>
        </p:nvSpPr>
        <p:spPr>
          <a:xfrm>
            <a:off x="0" y="0"/>
            <a:ext cx="12192000" cy="696277"/>
          </a:xfrm>
        </p:spPr>
        <p:txBody>
          <a:bodyPr/>
          <a:lstStyle/>
          <a:p>
            <a:r>
              <a:rPr lang="en-US" dirty="0"/>
              <a:t>Composite design pattern</a:t>
            </a:r>
          </a:p>
        </p:txBody>
      </p:sp>
    </p:spTree>
    <p:extLst>
      <p:ext uri="{BB962C8B-B14F-4D97-AF65-F5344CB8AC3E}">
        <p14:creationId xmlns:p14="http://schemas.microsoft.com/office/powerpoint/2010/main" val="36941015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07C36-CB4F-1D56-7086-14780A3411E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EEB66DC-80E9-8FB9-0E4D-D4E2CBB94F57}"/>
              </a:ext>
            </a:extLst>
          </p:cNvPr>
          <p:cNvSpPr>
            <a:spLocks noGrp="1"/>
          </p:cNvSpPr>
          <p:nvPr>
            <p:ph idx="1"/>
          </p:nvPr>
        </p:nvSpPr>
        <p:spPr/>
        <p:txBody>
          <a:bodyPr/>
          <a:lstStyle/>
          <a:p>
            <a:r>
              <a:rPr lang="en-US" dirty="0"/>
              <a:t>Simplifies the client</a:t>
            </a:r>
          </a:p>
          <a:p>
            <a:r>
              <a:rPr lang="en-US" dirty="0"/>
              <a:t>Clients can treat leaf and composite objects uniformly</a:t>
            </a:r>
          </a:p>
          <a:p>
            <a:r>
              <a:rPr lang="en-US" dirty="0"/>
              <a:t>Makes it easier to add new kinds of components</a:t>
            </a:r>
          </a:p>
        </p:txBody>
      </p:sp>
      <p:sp>
        <p:nvSpPr>
          <p:cNvPr id="5" name="Title 4">
            <a:extLst>
              <a:ext uri="{FF2B5EF4-FFF2-40B4-BE49-F238E27FC236}">
                <a16:creationId xmlns:a16="http://schemas.microsoft.com/office/drawing/2014/main" id="{5DBD05CC-C6A8-2A5D-E4B9-B7E50914121B}"/>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6486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r>
              <a:rPr lang="en-US" dirty="0"/>
              <a:t>SRP maintained</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96140-7524-01A1-0CC4-EBB2FDEBE3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9AA4E0C-2549-1B16-C72C-6F657412BA1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B28399B5-443B-B1BD-6EFF-588723DB732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95E1EE0E-6EC8-889B-2F1D-F25684A323C7}"/>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Bridge, </a:t>
            </a:r>
            <a:r>
              <a:rPr lang="en-US" u="sng" dirty="0"/>
              <a:t>Façade, </a:t>
            </a:r>
            <a:r>
              <a:rPr lang="en-US" dirty="0"/>
              <a:t>Decorator</a:t>
            </a:r>
            <a:endParaRPr lang="en-US" u="sng" dirty="0"/>
          </a:p>
          <a:p>
            <a:pPr lvl="1"/>
            <a:endParaRPr lang="en-US" dirty="0"/>
          </a:p>
        </p:txBody>
      </p:sp>
      <p:sp>
        <p:nvSpPr>
          <p:cNvPr id="6" name="Content Placeholder 4">
            <a:extLst>
              <a:ext uri="{FF2B5EF4-FFF2-40B4-BE49-F238E27FC236}">
                <a16:creationId xmlns:a16="http://schemas.microsoft.com/office/drawing/2014/main" id="{5024ABDE-5C87-2E57-E3FF-41D55E618E19}"/>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FF6082A8-4ACE-D1EE-25C9-0D2041F4B117}"/>
              </a:ext>
            </a:extLst>
          </p:cNvPr>
          <p:cNvSpPr/>
          <p:nvPr/>
        </p:nvSpPr>
        <p:spPr>
          <a:xfrm>
            <a:off x="4223988" y="4712677"/>
            <a:ext cx="3980160" cy="106856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0403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Compiler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compiler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compiler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837717" cy="1800202"/>
              <a:chOff x="2073583" y="1661658"/>
              <a:chExt cx="3837717"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837717" cy="1800202"/>
                <a:chOff x="2073583" y="1661658"/>
                <a:chExt cx="3837717"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5170392" y="2356418"/>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compiler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compiler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582980"/>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279258"/>
            <a:ext cx="7688" cy="88916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512637" y="2277022"/>
            <a:ext cx="1572738" cy="523220"/>
          </a:xfrm>
          <a:prstGeom prst="rect">
            <a:avLst/>
          </a:prstGeom>
          <a:noFill/>
        </p:spPr>
        <p:txBody>
          <a:bodyPr wrap="none" rtlCol="0">
            <a:spAutoFit/>
          </a:bodyPr>
          <a:lstStyle/>
          <a:p>
            <a:r>
              <a:rPr lang="en-US" sz="2800" b="1" i="1" dirty="0"/>
              <a:t>compile()</a:t>
            </a:r>
          </a:p>
        </p:txBody>
      </p:sp>
    </p:spTree>
    <p:extLst>
      <p:ext uri="{BB962C8B-B14F-4D97-AF65-F5344CB8AC3E}">
        <p14:creationId xmlns:p14="http://schemas.microsoft.com/office/powerpoint/2010/main" val="334879259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333020635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in another object (the decorator) that adds the additional functionality</a:t>
            </a:r>
          </a:p>
          <a:p>
            <a:r>
              <a:rPr lang="en-US" dirty="0"/>
              <a:t>Implementation can look the same as a proxy</a:t>
            </a:r>
          </a:p>
          <a:p>
            <a:pPr lvl="1"/>
            <a:r>
              <a:rPr lang="en-US" dirty="0"/>
              <a:t>Intent is somewhat different</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125911452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Tree>
    <p:extLst>
      <p:ext uri="{BB962C8B-B14F-4D97-AF65-F5344CB8AC3E}">
        <p14:creationId xmlns:p14="http://schemas.microsoft.com/office/powerpoint/2010/main" val="3770986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328C9-08F1-61B0-B68E-5DCD3D7986E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6AF7576-9759-FD20-0CA1-4DB213996FB7}"/>
              </a:ext>
            </a:extLst>
          </p:cNvPr>
          <p:cNvSpPr>
            <a:spLocks noGrp="1"/>
          </p:cNvSpPr>
          <p:nvPr>
            <p:ph idx="1"/>
          </p:nvPr>
        </p:nvSpPr>
        <p:spPr/>
        <p:txBody>
          <a:bodyPr>
            <a:normAutofit/>
          </a:bodyPr>
          <a:lstStyle/>
          <a:p>
            <a:r>
              <a:rPr lang="en-US" dirty="0"/>
              <a:t>Create an abstract class for the decorator that wraps the inner payment processor</a:t>
            </a:r>
          </a:p>
          <a:p>
            <a:r>
              <a:rPr lang="en-US" dirty="0"/>
              <a:t>Extend the abstract decorator as the </a:t>
            </a:r>
            <a:r>
              <a:rPr lang="en-US" dirty="0" err="1">
                <a:latin typeface="Consolas" panose="020B0609020204030204" pitchFamily="49" charset="0"/>
              </a:rPr>
              <a:t>FraudDetectionProcessor</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p:txBody>
      </p:sp>
      <p:sp>
        <p:nvSpPr>
          <p:cNvPr id="5" name="Title 4">
            <a:extLst>
              <a:ext uri="{FF2B5EF4-FFF2-40B4-BE49-F238E27FC236}">
                <a16:creationId xmlns:a16="http://schemas.microsoft.com/office/drawing/2014/main" id="{53E0CD13-3C23-74C7-8973-8C625B50A9D4}"/>
              </a:ext>
            </a:extLst>
          </p:cNvPr>
          <p:cNvSpPr>
            <a:spLocks noGrp="1"/>
          </p:cNvSpPr>
          <p:nvPr>
            <p:ph type="title"/>
          </p:nvPr>
        </p:nvSpPr>
        <p:spPr/>
        <p:txBody>
          <a:bodyPr/>
          <a:lstStyle/>
          <a:p>
            <a:r>
              <a:rPr lang="en-US" dirty="0"/>
              <a:t>Fraud detection decorator for payment processor</a:t>
            </a:r>
          </a:p>
        </p:txBody>
      </p:sp>
    </p:spTree>
    <p:extLst>
      <p:ext uri="{BB962C8B-B14F-4D97-AF65-F5344CB8AC3E}">
        <p14:creationId xmlns:p14="http://schemas.microsoft.com/office/powerpoint/2010/main" val="370967072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0C691-7082-0AB9-A617-2970A194EA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2674FB-DB87-A501-A6A9-F1AEEA375F3B}"/>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6C3AF032-0407-1616-E8A6-19C92ED05EBC}"/>
              </a:ext>
            </a:extLst>
          </p:cNvPr>
          <p:cNvGrpSpPr/>
          <p:nvPr/>
        </p:nvGrpSpPr>
        <p:grpSpPr>
          <a:xfrm>
            <a:off x="3649593" y="1457568"/>
            <a:ext cx="4892814" cy="3697333"/>
            <a:chOff x="6087997" y="1477107"/>
            <a:chExt cx="4892814" cy="3697333"/>
          </a:xfrm>
        </p:grpSpPr>
        <p:grpSp>
          <p:nvGrpSpPr>
            <p:cNvPr id="22" name="Group 21">
              <a:extLst>
                <a:ext uri="{FF2B5EF4-FFF2-40B4-BE49-F238E27FC236}">
                  <a16:creationId xmlns:a16="http://schemas.microsoft.com/office/drawing/2014/main" id="{BEE175AA-BED6-3CFF-D106-940699A90ED2}"/>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DFE5C92-669C-BD35-CCD1-0C8692A3529B}"/>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4ECB297D-8BCD-C432-6155-7B64285DE3AE}"/>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7F46D36-F320-B461-6D25-1B94175E38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AC2DE84F-A62D-6D34-7726-6772F41534C1}"/>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56E6BB0F-4012-EAEC-C4B4-58632F891952}"/>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0A94A388-9833-0FD1-6D13-5B54A8D411AA}"/>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A915E84B-AE83-7B0E-143A-62CFD9C93A2B}"/>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7E3E7FD9-2B6C-E53B-AF4E-772AD5436D2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3AC35E44-CA7C-5432-6EA3-9D3A0E4F3A3B}"/>
              </a:ext>
            </a:extLst>
          </p:cNvPr>
          <p:cNvGrpSpPr/>
          <p:nvPr/>
        </p:nvGrpSpPr>
        <p:grpSpPr>
          <a:xfrm>
            <a:off x="4894380" y="2020276"/>
            <a:ext cx="2403231" cy="1582615"/>
            <a:chOff x="7332784" y="2039815"/>
            <a:chExt cx="2403231" cy="1582615"/>
          </a:xfrm>
        </p:grpSpPr>
        <p:sp>
          <p:nvSpPr>
            <p:cNvPr id="38" name="Rectangle 37">
              <a:extLst>
                <a:ext uri="{FF2B5EF4-FFF2-40B4-BE49-F238E27FC236}">
                  <a16:creationId xmlns:a16="http://schemas.microsoft.com/office/drawing/2014/main" id="{950EB267-54DF-0295-D5AC-6BA292035D5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3B960BD3-ADDF-0F39-2EC0-AD401F48E2BE}"/>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DB628E62-DBAD-3201-0B21-F15FA797C4A9}"/>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194923430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905143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fontScale="92500"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429000"/>
            <a:ext cx="5633412" cy="22918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09216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fontScale="85000" lnSpcReduction="2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PaypapProcessor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fraudProc.processPayment</a:t>
            </a:r>
            <a:r>
              <a:rPr lang="en-US" dirty="0"/>
              <a:t>(200.0);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3" name="Rectangle 2">
            <a:extLst>
              <a:ext uri="{FF2B5EF4-FFF2-40B4-BE49-F238E27FC236}">
                <a16:creationId xmlns:a16="http://schemas.microsoft.com/office/drawing/2014/main" id="{77FB3F6D-37A6-31A3-3434-4579B4E76491}"/>
              </a:ext>
            </a:extLst>
          </p:cNvPr>
          <p:cNvSpPr/>
          <p:nvPr/>
        </p:nvSpPr>
        <p:spPr>
          <a:xfrm>
            <a:off x="6176512" y="4617156"/>
            <a:ext cx="5633412" cy="11037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B3D1E1D3-8837-82A5-E449-A22A2F89431C}"/>
              </a:ext>
            </a:extLst>
          </p:cNvPr>
          <p:cNvSpPr/>
          <p:nvPr/>
        </p:nvSpPr>
        <p:spPr>
          <a:xfrm>
            <a:off x="6176512" y="2006954"/>
            <a:ext cx="5633412" cy="7596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08332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4020560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Decorators visually</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StripeProcessor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1706049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lnSpcReduction="10000"/>
          </a:bodyPr>
          <a:lstStyle/>
          <a:p>
            <a:r>
              <a:rPr lang="en-US" dirty="0"/>
              <a:t>Although decorators can have similar implementations as proxies, decorators have a different purpose. </a:t>
            </a:r>
            <a:r>
              <a:rPr lang="en-US" b="1" dirty="0"/>
              <a:t>A decorator adds one or more responsibilities to an object, whereas a proxy controls access to an object.</a:t>
            </a:r>
          </a:p>
          <a:p>
            <a:r>
              <a:rPr lang="en-US" b="1" dirty="0"/>
              <a:t>Proxies vary in the degree to which they are implemented like a decorator. </a:t>
            </a:r>
            <a:r>
              <a:rPr lang="en-US" dirty="0"/>
              <a:t>A protection proxy might be implemented exactly like a decorator. On the other hand, a remote proxy will not contain a direct reference to its real subject but only an indirect reference,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19244529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Non-ideal alternate implementations: 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983394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7815107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925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158876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a:bodyPr>
          <a:lstStyle/>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pPr lvl="1"/>
            <a:r>
              <a:rPr lang="en-US" dirty="0"/>
              <a:t>No longer necessary to anticipate all possible functionalities during class creation</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63134780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D2DA3A-B0AD-E945-E6C7-21BD55AC10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A33CFB-D03A-18A9-AAD9-B4B8AB00F2F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91074BB-E011-C240-C8D3-AEDADE8E7083}"/>
              </a:ext>
            </a:extLst>
          </p:cNvPr>
          <p:cNvSpPr>
            <a:spLocks noGrp="1"/>
          </p:cNvSpPr>
          <p:nvPr>
            <p:ph type="body" sz="quarter" idx="13"/>
          </p:nvPr>
        </p:nvSpPr>
        <p:spPr/>
        <p:txBody>
          <a:bodyPr/>
          <a:lstStyle/>
          <a:p>
            <a:r>
              <a:rPr lang="en-US" sz="3200" dirty="0"/>
              <a:t>Flyweight design pattern</a:t>
            </a:r>
          </a:p>
        </p:txBody>
      </p:sp>
    </p:spTree>
    <p:extLst>
      <p:ext uri="{BB962C8B-B14F-4D97-AF65-F5344CB8AC3E}">
        <p14:creationId xmlns:p14="http://schemas.microsoft.com/office/powerpoint/2010/main" val="120935117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E99FA5E-984E-F7AB-8B14-99A822695BFD}"/>
              </a:ext>
            </a:extLst>
          </p:cNvPr>
          <p:cNvSpPr>
            <a:spLocks noGrp="1"/>
          </p:cNvSpPr>
          <p:nvPr>
            <p:ph idx="1"/>
          </p:nvPr>
        </p:nvSpPr>
        <p:spPr/>
        <p:txBody>
          <a:bodyPr>
            <a:normAutofit fontScale="92500" lnSpcReduction="20000"/>
          </a:bodyPr>
          <a:lstStyle/>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endParaRPr lang="en-US" sz="1400" dirty="0"/>
          </a:p>
          <a:p>
            <a:r>
              <a:rPr lang="en-US" sz="1400" dirty="0"/>
              <a:t>class </a:t>
            </a:r>
            <a:r>
              <a:rPr lang="en-US" sz="1400" dirty="0" err="1"/>
              <a:t>IndoorTerrainTile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super(“sprites/indoor/”);</a:t>
            </a:r>
          </a:p>
          <a:p>
            <a:r>
              <a:rPr lang="en-US" sz="1400" dirty="0"/>
              <a:t>	}</a:t>
            </a:r>
          </a:p>
          <a:p>
            <a:r>
              <a:rPr lang="en-US" sz="1400" dirty="0"/>
              <a:t>}</a:t>
            </a:r>
          </a:p>
          <a:p>
            <a:endParaRPr lang="en-US" sz="1400" dirty="0"/>
          </a:p>
          <a:p>
            <a:r>
              <a:rPr lang="en-US" sz="1400" dirty="0"/>
              <a:t>class </a:t>
            </a:r>
            <a:r>
              <a:rPr lang="en-US" sz="1400" dirty="0" err="1"/>
              <a:t>OutdoorTerrainTile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super(“sprites/outdoor/”);</a:t>
            </a:r>
          </a:p>
          <a:p>
            <a:r>
              <a:rPr lang="en-US" sz="1400" dirty="0"/>
              <a:t>	}</a:t>
            </a:r>
          </a:p>
          <a:p>
            <a:r>
              <a:rPr lang="en-US" sz="1400" dirty="0"/>
              <a:t>}</a:t>
            </a:r>
            <a:br>
              <a:rPr lang="en-US" sz="1400" dirty="0"/>
            </a:br>
            <a:endParaRPr lang="en-US" sz="1400" dirty="0"/>
          </a:p>
          <a:p>
            <a:r>
              <a:rPr lang="en-US" sz="1400" dirty="0"/>
              <a:t>class Sprite {</a:t>
            </a:r>
          </a:p>
          <a:p>
            <a:r>
              <a:rPr lang="en-US" sz="1400" dirty="0"/>
              <a:t>	private Image </a:t>
            </a:r>
            <a:r>
              <a:rPr lang="en-US" sz="1400" dirty="0" err="1"/>
              <a:t>spriteImage</a:t>
            </a:r>
            <a:r>
              <a:rPr lang="en-US" sz="1400" dirty="0"/>
              <a:t>; // 4 KB</a:t>
            </a:r>
          </a:p>
          <a:p>
            <a:r>
              <a:rPr lang="en-US" sz="1400" dirty="0"/>
              <a:t>	private Image </a:t>
            </a:r>
            <a:r>
              <a:rPr lang="en-US" sz="1400" dirty="0" err="1"/>
              <a:t>closeUpSpriteImage</a:t>
            </a:r>
            <a:r>
              <a:rPr lang="en-US" sz="1400" dirty="0"/>
              <a:t>; // 4 KB</a:t>
            </a:r>
          </a:p>
          <a:p>
            <a:r>
              <a:rPr lang="en-US" sz="1400" dirty="0"/>
              <a:t>	// getters and setters</a:t>
            </a:r>
          </a:p>
          <a:p>
            <a:r>
              <a:rPr lang="en-US" sz="1400" dirty="0"/>
              <a:t>	static Sprite </a:t>
            </a:r>
            <a:r>
              <a:rPr lang="en-US" sz="1400" dirty="0" err="1"/>
              <a:t>loadSprite</a:t>
            </a:r>
            <a:r>
              <a:rPr lang="en-US" sz="1400" dirty="0"/>
              <a:t>(String path) {</a:t>
            </a:r>
          </a:p>
          <a:p>
            <a:r>
              <a:rPr lang="en-US" sz="1400" dirty="0"/>
              <a:t>		// Load both images</a:t>
            </a:r>
          </a:p>
          <a:p>
            <a:r>
              <a:rPr lang="en-US" sz="1400" dirty="0"/>
              <a:t>	}</a:t>
            </a:r>
          </a:p>
          <a:p>
            <a:r>
              <a:rPr lang="en-US" sz="1400" dirty="0"/>
              <a:t>}</a:t>
            </a:r>
          </a:p>
        </p:txBody>
      </p:sp>
      <p:sp>
        <p:nvSpPr>
          <p:cNvPr id="4" name="Title 3">
            <a:extLst>
              <a:ext uri="{FF2B5EF4-FFF2-40B4-BE49-F238E27FC236}">
                <a16:creationId xmlns:a16="http://schemas.microsoft.com/office/drawing/2014/main" id="{98BF1121-1CC2-524E-34D5-CC0DB24652A5}"/>
              </a:ext>
            </a:extLst>
          </p:cNvPr>
          <p:cNvSpPr>
            <a:spLocks noGrp="1"/>
          </p:cNvSpPr>
          <p:nvPr>
            <p:ph type="title"/>
          </p:nvPr>
        </p:nvSpPr>
        <p:spPr/>
        <p:txBody>
          <a:bodyPr/>
          <a:lstStyle/>
          <a:p>
            <a:r>
              <a:rPr lang="en-US" dirty="0"/>
              <a:t>Case study – game system</a:t>
            </a:r>
          </a:p>
        </p:txBody>
      </p:sp>
      <p:sp>
        <p:nvSpPr>
          <p:cNvPr id="7" name="Content Placeholder 6">
            <a:extLst>
              <a:ext uri="{FF2B5EF4-FFF2-40B4-BE49-F238E27FC236}">
                <a16:creationId xmlns:a16="http://schemas.microsoft.com/office/drawing/2014/main" id="{B2B20D66-7323-4B83-B8C4-9FFBB6005C3B}"/>
              </a:ext>
            </a:extLst>
          </p:cNvPr>
          <p:cNvSpPr>
            <a:spLocks noGrp="1"/>
          </p:cNvSpPr>
          <p:nvPr>
            <p:ph idx="13"/>
          </p:nvPr>
        </p:nvSpPr>
        <p:spPr/>
        <p:txBody>
          <a:bodyPr/>
          <a:lstStyle/>
          <a:p>
            <a:r>
              <a:rPr lang="en-US" dirty="0"/>
              <a:t>Two types of terrain tiles</a:t>
            </a:r>
          </a:p>
          <a:p>
            <a:r>
              <a:rPr lang="en-US" dirty="0"/>
              <a:t>Each tile contains a sprite</a:t>
            </a:r>
          </a:p>
          <a:p>
            <a:r>
              <a:rPr lang="en-US" dirty="0"/>
              <a:t>Each sprite image is 4 KB</a:t>
            </a:r>
          </a:p>
          <a:p>
            <a:r>
              <a:rPr lang="en-US" b="1" i="1" dirty="0"/>
              <a:t>What happens if there are thousands of tiles</a:t>
            </a:r>
          </a:p>
        </p:txBody>
      </p:sp>
      <p:sp>
        <p:nvSpPr>
          <p:cNvPr id="8" name="Rectangle 7">
            <a:extLst>
              <a:ext uri="{FF2B5EF4-FFF2-40B4-BE49-F238E27FC236}">
                <a16:creationId xmlns:a16="http://schemas.microsoft.com/office/drawing/2014/main" id="{7F45FF45-9ED4-D624-DA4F-6CB4A110145F}"/>
              </a:ext>
            </a:extLst>
          </p:cNvPr>
          <p:cNvSpPr/>
          <p:nvPr/>
        </p:nvSpPr>
        <p:spPr>
          <a:xfrm>
            <a:off x="6095999" y="689168"/>
            <a:ext cx="5633413" cy="163200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7589F1E9-9721-BEC5-186B-43FD9144E8E4}"/>
              </a:ext>
            </a:extLst>
          </p:cNvPr>
          <p:cNvSpPr/>
          <p:nvPr/>
        </p:nvSpPr>
        <p:spPr>
          <a:xfrm>
            <a:off x="6095998" y="2321169"/>
            <a:ext cx="5633413" cy="19108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C15262CB-5B36-DFE1-DA0E-CA9B1F5C3614}"/>
              </a:ext>
            </a:extLst>
          </p:cNvPr>
          <p:cNvSpPr/>
          <p:nvPr/>
        </p:nvSpPr>
        <p:spPr>
          <a:xfrm>
            <a:off x="6095998" y="4257970"/>
            <a:ext cx="5633413" cy="15102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A40C42BD-97B0-178A-9259-FD54A7F7BCB9}"/>
              </a:ext>
            </a:extLst>
          </p:cNvPr>
          <p:cNvSpPr/>
          <p:nvPr/>
        </p:nvSpPr>
        <p:spPr>
          <a:xfrm>
            <a:off x="6095998" y="1089804"/>
            <a:ext cx="5633413" cy="54182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51375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9B8E4D-23FA-35A9-4AED-55586DFB27BD}"/>
              </a:ext>
            </a:extLst>
          </p:cNvPr>
          <p:cNvSpPr>
            <a:spLocks noGrp="1"/>
          </p:cNvSpPr>
          <p:nvPr>
            <p:ph idx="1"/>
          </p:nvPr>
        </p:nvSpPr>
        <p:spPr/>
        <p:txBody>
          <a:bodyPr>
            <a:normAutofit fontScale="77500" lnSpcReduction="20000"/>
          </a:bodyPr>
          <a:lstStyle/>
          <a:p>
            <a:r>
              <a:rPr lang="en-US" sz="1600" b="1" i="1" dirty="0"/>
              <a:t>// Without flyweight design pattern -&gt; memory wastage</a:t>
            </a:r>
          </a:p>
          <a:p>
            <a:r>
              <a:rPr lang="en-US" sz="1600" dirty="0"/>
              <a:t>class </a:t>
            </a:r>
            <a:r>
              <a:rPr lang="en-US" sz="1600" dirty="0" err="1"/>
              <a:t>TerrainTile</a:t>
            </a:r>
            <a:r>
              <a:rPr lang="en-US" sz="1600" dirty="0"/>
              <a:t> {</a:t>
            </a:r>
          </a:p>
          <a:p>
            <a:r>
              <a:rPr lang="en-US" sz="1600" dirty="0"/>
              <a:t>	private int </a:t>
            </a:r>
            <a:r>
              <a:rPr lang="en-US" sz="1600" dirty="0" err="1"/>
              <a:t>xLoc</a:t>
            </a:r>
            <a:r>
              <a:rPr lang="en-US" sz="1600" dirty="0"/>
              <a:t>;</a:t>
            </a:r>
          </a:p>
          <a:p>
            <a:r>
              <a:rPr lang="en-US" sz="1600" dirty="0"/>
              <a:t>	private int </a:t>
            </a:r>
            <a:r>
              <a:rPr lang="en-US" sz="1600" dirty="0" err="1"/>
              <a:t>yLoc</a:t>
            </a:r>
            <a:r>
              <a:rPr lang="en-US" sz="1600" dirty="0"/>
              <a:t>;</a:t>
            </a:r>
          </a:p>
          <a:p>
            <a:r>
              <a:rPr lang="en-US" sz="1600" dirty="0"/>
              <a:t>	private Sprite </a:t>
            </a:r>
            <a:r>
              <a:rPr lang="en-US" sz="1600" dirty="0" err="1"/>
              <a:t>terrainSprite</a:t>
            </a:r>
            <a:r>
              <a:rPr lang="en-US" sz="1600" dirty="0"/>
              <a:t>;</a:t>
            </a:r>
          </a:p>
          <a:p>
            <a:r>
              <a:rPr lang="en-US" sz="1600" dirty="0"/>
              <a:t>	public </a:t>
            </a:r>
            <a:r>
              <a:rPr lang="en-US" sz="1600" dirty="0" err="1"/>
              <a:t>TerrainTile</a:t>
            </a:r>
            <a:r>
              <a:rPr lang="en-US" sz="1600" dirty="0"/>
              <a:t>(String </a:t>
            </a:r>
            <a:r>
              <a:rPr lang="en-US" sz="1600" dirty="0" err="1"/>
              <a:t>spriteLocation</a:t>
            </a:r>
            <a:r>
              <a:rPr lang="en-US" sz="1600" dirty="0"/>
              <a:t>) {</a:t>
            </a:r>
          </a:p>
          <a:p>
            <a:r>
              <a:rPr lang="en-US" sz="1600" dirty="0"/>
              <a:t>		</a:t>
            </a:r>
            <a:r>
              <a:rPr lang="en-US" sz="1600" dirty="0" err="1"/>
              <a:t>this.terrainSprite</a:t>
            </a:r>
            <a:r>
              <a:rPr lang="en-US" sz="1600" dirty="0"/>
              <a:t> = </a:t>
            </a:r>
            <a:r>
              <a:rPr lang="en-US" sz="1600" dirty="0" err="1"/>
              <a:t>Sprite.loadSprite</a:t>
            </a:r>
            <a:r>
              <a:rPr lang="en-US" sz="1600" dirty="0"/>
              <a:t>(</a:t>
            </a:r>
            <a:r>
              <a:rPr lang="en-US" sz="1600" dirty="0" err="1"/>
              <a:t>spriteLocation</a:t>
            </a:r>
            <a:r>
              <a:rPr lang="en-US" sz="1600" dirty="0"/>
              <a:t>);</a:t>
            </a:r>
          </a:p>
          <a:p>
            <a:r>
              <a:rPr lang="en-US" sz="1600" dirty="0"/>
              <a:t>	}</a:t>
            </a:r>
          </a:p>
          <a:p>
            <a:r>
              <a:rPr lang="en-US" sz="1600" dirty="0"/>
              <a:t>}</a:t>
            </a:r>
          </a:p>
          <a:p>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endParaRPr lang="en-US" sz="1600" dirty="0"/>
          </a:p>
          <a:p>
            <a:endParaRPr lang="en-US" dirty="0"/>
          </a:p>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a:t>
            </a:r>
            <a:br>
              <a:rPr lang="en-US" dirty="0"/>
            </a:br>
            <a:r>
              <a:rPr lang="en-US" dirty="0"/>
              <a:t>	 if (key == “indoor”) {</a:t>
            </a:r>
          </a:p>
          <a:p>
            <a:r>
              <a:rPr lang="en-US" dirty="0"/>
              <a:t>		</a:t>
            </a:r>
            <a:r>
              <a:rPr lang="en-US" dirty="0" err="1"/>
              <a:t>terrainSprite</a:t>
            </a:r>
            <a:r>
              <a:rPr lang="en-US" dirty="0"/>
              <a:t> = </a:t>
            </a:r>
            <a:r>
              <a:rPr lang="en-US" dirty="0" err="1"/>
              <a:t>Sprite.load</a:t>
            </a:r>
            <a:r>
              <a:rPr lang="en-US" dirty="0"/>
              <a:t>(“sprites/indoor”);</a:t>
            </a:r>
          </a:p>
          <a:p>
            <a:r>
              <a:rPr lang="en-US" dirty="0"/>
              <a:t>	 } else { </a:t>
            </a:r>
            <a:r>
              <a:rPr lang="en-US" dirty="0" err="1"/>
              <a:t>terrainSprite</a:t>
            </a:r>
            <a:r>
              <a:rPr lang="en-US" dirty="0"/>
              <a:t> = </a:t>
            </a:r>
            <a:r>
              <a:rPr lang="en-US" dirty="0" err="1"/>
              <a:t>Sprite.load</a:t>
            </a:r>
            <a:r>
              <a:rPr lang="en-US" dirty="0"/>
              <a:t>(“sprites/outdoor”);</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p:txBody>
      </p:sp>
      <p:sp>
        <p:nvSpPr>
          <p:cNvPr id="3" name="Title 2">
            <a:extLst>
              <a:ext uri="{FF2B5EF4-FFF2-40B4-BE49-F238E27FC236}">
                <a16:creationId xmlns:a16="http://schemas.microsoft.com/office/drawing/2014/main" id="{BC24FFA3-DEDB-F272-4847-24BE40015085}"/>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3D5EB2D2-3C93-B411-F678-9B9A949BC1E7}"/>
              </a:ext>
            </a:extLst>
          </p:cNvPr>
          <p:cNvSpPr>
            <a:spLocks noGrp="1"/>
          </p:cNvSpPr>
          <p:nvPr>
            <p:ph idx="13"/>
          </p:nvPr>
        </p:nvSpPr>
        <p:spPr/>
        <p:txBody>
          <a:bodyPr>
            <a:normAutofit lnSpcReduction="10000"/>
          </a:bodyPr>
          <a:lstStyle/>
          <a:p>
            <a:r>
              <a:rPr lang="en-US" dirty="0"/>
              <a:t>Aims to reduce memory consumption</a:t>
            </a:r>
          </a:p>
          <a:p>
            <a:r>
              <a:rPr lang="en-US" dirty="0"/>
              <a:t>Separate </a:t>
            </a:r>
            <a:r>
              <a:rPr lang="en-US" b="1" i="1" dirty="0"/>
              <a:t>shared </a:t>
            </a:r>
            <a:r>
              <a:rPr lang="en-US" dirty="0"/>
              <a:t>and </a:t>
            </a:r>
            <a:r>
              <a:rPr lang="en-US" b="1" i="1" dirty="0"/>
              <a:t>unique </a:t>
            </a:r>
            <a:r>
              <a:rPr lang="en-US" dirty="0"/>
              <a:t>state</a:t>
            </a:r>
          </a:p>
          <a:p>
            <a:r>
              <a:rPr lang="en-US" dirty="0"/>
              <a:t>Shared state goes into a Flyweight object and is shared by all objects of the same type</a:t>
            </a:r>
          </a:p>
          <a:p>
            <a:pPr lvl="1"/>
            <a:r>
              <a:rPr lang="en-US" dirty="0"/>
              <a:t>Constructor that creates the terrain sprites from the images</a:t>
            </a:r>
          </a:p>
        </p:txBody>
      </p:sp>
      <p:sp>
        <p:nvSpPr>
          <p:cNvPr id="5" name="Rectangle 4">
            <a:extLst>
              <a:ext uri="{FF2B5EF4-FFF2-40B4-BE49-F238E27FC236}">
                <a16:creationId xmlns:a16="http://schemas.microsoft.com/office/drawing/2014/main" id="{9149179F-EA94-9EC9-1C2D-9F1F73BA58A7}"/>
              </a:ext>
            </a:extLst>
          </p:cNvPr>
          <p:cNvSpPr/>
          <p:nvPr/>
        </p:nvSpPr>
        <p:spPr>
          <a:xfrm>
            <a:off x="6015487" y="2942492"/>
            <a:ext cx="5633413" cy="12598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13001CA0-7278-D54C-F80F-415448A5A4CA}"/>
              </a:ext>
            </a:extLst>
          </p:cNvPr>
          <p:cNvSpPr/>
          <p:nvPr/>
        </p:nvSpPr>
        <p:spPr>
          <a:xfrm>
            <a:off x="6015487" y="4202361"/>
            <a:ext cx="5633413" cy="16152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grpSp>
        <p:nvGrpSpPr>
          <p:cNvPr id="9" name="Group 8">
            <a:extLst>
              <a:ext uri="{FF2B5EF4-FFF2-40B4-BE49-F238E27FC236}">
                <a16:creationId xmlns:a16="http://schemas.microsoft.com/office/drawing/2014/main" id="{D09BDC5C-D55C-0FDE-3890-073276BE45C0}"/>
              </a:ext>
            </a:extLst>
          </p:cNvPr>
          <p:cNvGrpSpPr/>
          <p:nvPr/>
        </p:nvGrpSpPr>
        <p:grpSpPr>
          <a:xfrm>
            <a:off x="6176512" y="1142555"/>
            <a:ext cx="5674612" cy="592461"/>
            <a:chOff x="6176512" y="1142555"/>
            <a:chExt cx="5674612" cy="592461"/>
          </a:xfrm>
        </p:grpSpPr>
        <p:sp>
          <p:nvSpPr>
            <p:cNvPr id="7" name="Rectangle 6">
              <a:extLst>
                <a:ext uri="{FF2B5EF4-FFF2-40B4-BE49-F238E27FC236}">
                  <a16:creationId xmlns:a16="http://schemas.microsoft.com/office/drawing/2014/main" id="{CD1DD0FD-4AD9-635E-0334-2DA766572D80}"/>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TextBox 7">
              <a:extLst>
                <a:ext uri="{FF2B5EF4-FFF2-40B4-BE49-F238E27FC236}">
                  <a16:creationId xmlns:a16="http://schemas.microsoft.com/office/drawing/2014/main" id="{871CC412-2E5C-E286-C9F7-184603BA6230}"/>
                </a:ext>
              </a:extLst>
            </p:cNvPr>
            <p:cNvSpPr txBox="1"/>
            <p:nvPr/>
          </p:nvSpPr>
          <p:spPr>
            <a:xfrm>
              <a:off x="10070124" y="1142555"/>
              <a:ext cx="1781000" cy="461665"/>
            </a:xfrm>
            <a:prstGeom prst="rect">
              <a:avLst/>
            </a:prstGeom>
            <a:noFill/>
          </p:spPr>
          <p:txBody>
            <a:bodyPr wrap="none" rtlCol="0">
              <a:spAutoFit/>
            </a:bodyPr>
            <a:lstStyle/>
            <a:p>
              <a:r>
                <a:rPr lang="en-US" sz="2400" b="1" i="1" dirty="0"/>
                <a:t>Shared state</a:t>
              </a:r>
            </a:p>
          </p:txBody>
        </p:sp>
      </p:grpSp>
      <p:grpSp>
        <p:nvGrpSpPr>
          <p:cNvPr id="10" name="Group 9">
            <a:extLst>
              <a:ext uri="{FF2B5EF4-FFF2-40B4-BE49-F238E27FC236}">
                <a16:creationId xmlns:a16="http://schemas.microsoft.com/office/drawing/2014/main" id="{4EA65A2A-1C4D-B6B8-CB0B-3721ECB4FFC9}"/>
              </a:ext>
            </a:extLst>
          </p:cNvPr>
          <p:cNvGrpSpPr/>
          <p:nvPr/>
        </p:nvGrpSpPr>
        <p:grpSpPr>
          <a:xfrm>
            <a:off x="6176512" y="918634"/>
            <a:ext cx="5686635" cy="685585"/>
            <a:chOff x="6176512" y="1259024"/>
            <a:chExt cx="5686635" cy="475992"/>
          </a:xfrm>
        </p:grpSpPr>
        <p:sp>
          <p:nvSpPr>
            <p:cNvPr id="11" name="Rectangle 10">
              <a:extLst>
                <a:ext uri="{FF2B5EF4-FFF2-40B4-BE49-F238E27FC236}">
                  <a16:creationId xmlns:a16="http://schemas.microsoft.com/office/drawing/2014/main" id="{31F3A1E3-22AA-94A9-C7EA-6F5C024EAE9E}"/>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TextBox 11">
              <a:extLst>
                <a:ext uri="{FF2B5EF4-FFF2-40B4-BE49-F238E27FC236}">
                  <a16:creationId xmlns:a16="http://schemas.microsoft.com/office/drawing/2014/main" id="{49F3E7C7-D762-3721-0AA4-F6ECB8B131F9}"/>
                </a:ext>
              </a:extLst>
            </p:cNvPr>
            <p:cNvSpPr txBox="1"/>
            <p:nvPr/>
          </p:nvSpPr>
          <p:spPr>
            <a:xfrm>
              <a:off x="10058101" y="1259024"/>
              <a:ext cx="1805046" cy="461665"/>
            </a:xfrm>
            <a:prstGeom prst="rect">
              <a:avLst/>
            </a:prstGeom>
            <a:noFill/>
          </p:spPr>
          <p:txBody>
            <a:bodyPr wrap="none" rtlCol="0">
              <a:spAutoFit/>
            </a:bodyPr>
            <a:lstStyle/>
            <a:p>
              <a:r>
                <a:rPr lang="en-US" sz="2400" b="1" i="1" dirty="0"/>
                <a:t>Unique state</a:t>
              </a:r>
            </a:p>
          </p:txBody>
        </p:sp>
      </p:grpSp>
    </p:spTree>
    <p:extLst>
      <p:ext uri="{BB962C8B-B14F-4D97-AF65-F5344CB8AC3E}">
        <p14:creationId xmlns:p14="http://schemas.microsoft.com/office/powerpoint/2010/main" val="3213263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16" end="1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17" end="1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20" end="20"/>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22" end="2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
                                            <p:txEl>
                                              <p:pRg st="23" end="2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
                                            <p:txEl>
                                              <p:pRg st="24" end="24"/>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
                                            <p:txEl>
                                              <p:pRg st="25" end="25"/>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
                                            <p:txEl>
                                              <p:pRg st="26" end="26"/>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6B7266-9BF3-4ACC-DC84-52D9F70AF8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D0B07C2-968C-CD39-9215-099D3A6D9A74}"/>
              </a:ext>
            </a:extLst>
          </p:cNvPr>
          <p:cNvSpPr>
            <a:spLocks noGrp="1"/>
          </p:cNvSpPr>
          <p:nvPr>
            <p:ph idx="1"/>
          </p:nvPr>
        </p:nvSpPr>
        <p:spPr/>
        <p:txBody>
          <a:bodyPr>
            <a:normAutofit fontScale="92500" lnSpcReduction="20000"/>
          </a:bodyPr>
          <a:lstStyle/>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3" name="Title 2">
            <a:extLst>
              <a:ext uri="{FF2B5EF4-FFF2-40B4-BE49-F238E27FC236}">
                <a16:creationId xmlns:a16="http://schemas.microsoft.com/office/drawing/2014/main" id="{AE2F1DB4-4783-9391-71A4-10C02242827C}"/>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CAE14E91-063B-D823-2F07-45C33124F52C}"/>
              </a:ext>
            </a:extLst>
          </p:cNvPr>
          <p:cNvSpPr>
            <a:spLocks noGrp="1"/>
          </p:cNvSpPr>
          <p:nvPr>
            <p:ph idx="13"/>
          </p:nvPr>
        </p:nvSpPr>
        <p:spPr/>
        <p:txBody>
          <a:bodyPr/>
          <a:lstStyle/>
          <a:p>
            <a:r>
              <a:rPr lang="en-US" dirty="0"/>
              <a:t>How does the original object access the shared state?</a:t>
            </a:r>
          </a:p>
          <a:p>
            <a:r>
              <a:rPr lang="en-US" dirty="0" err="1">
                <a:latin typeface="Consolas" panose="020B0609020204030204" pitchFamily="49" charset="0"/>
              </a:rPr>
              <a:t>FlyweightFactory</a:t>
            </a:r>
            <a:r>
              <a:rPr lang="en-US" dirty="0"/>
              <a:t> class creates flyweight objects only if it already isn’t created</a:t>
            </a:r>
          </a:p>
          <a:p>
            <a:r>
              <a:rPr lang="en-US" dirty="0"/>
              <a:t>Maintains a map of terrain type vs. flyweight object</a:t>
            </a:r>
          </a:p>
        </p:txBody>
      </p:sp>
      <p:sp>
        <p:nvSpPr>
          <p:cNvPr id="5" name="Rectangle 4">
            <a:extLst>
              <a:ext uri="{FF2B5EF4-FFF2-40B4-BE49-F238E27FC236}">
                <a16:creationId xmlns:a16="http://schemas.microsoft.com/office/drawing/2014/main" id="{53F1842F-46BB-8E36-C79D-FB8B5F2D0A66}"/>
              </a:ext>
            </a:extLst>
          </p:cNvPr>
          <p:cNvSpPr/>
          <p:nvPr/>
        </p:nvSpPr>
        <p:spPr>
          <a:xfrm>
            <a:off x="6176511" y="3552092"/>
            <a:ext cx="5633413" cy="51581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2120DB85-6D52-B31F-B852-346A3E874BD7}"/>
              </a:ext>
            </a:extLst>
          </p:cNvPr>
          <p:cNvSpPr/>
          <p:nvPr/>
        </p:nvSpPr>
        <p:spPr>
          <a:xfrm>
            <a:off x="6176510" y="4103076"/>
            <a:ext cx="5633413" cy="12778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35332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D897FDB-BD36-EA2A-C2F7-294E1ECB31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5643E3-B07D-DC0A-75AD-9CBD3F5BE0BB}"/>
              </a:ext>
            </a:extLst>
          </p:cNvPr>
          <p:cNvSpPr>
            <a:spLocks noGrp="1"/>
          </p:cNvSpPr>
          <p:nvPr>
            <p:ph idx="1"/>
          </p:nvPr>
        </p:nvSpPr>
        <p:spPr/>
        <p:txBody>
          <a:bodyPr>
            <a:normAutofit/>
          </a:bodyPr>
          <a:lstStyle/>
          <a:p>
            <a:r>
              <a:rPr lang="en-US" dirty="0"/>
              <a:t>int main(void) {</a:t>
            </a:r>
          </a:p>
          <a:p>
            <a:r>
              <a:rPr lang="en-US" dirty="0"/>
              <a:t>	// Place an indoor tile</a:t>
            </a:r>
          </a:p>
          <a:p>
            <a:r>
              <a:rPr lang="en-US" dirty="0"/>
              <a:t>	</a:t>
            </a:r>
            <a:r>
              <a:rPr lang="en-US" dirty="0" err="1"/>
              <a:t>IndoorTerrainTile</a:t>
            </a:r>
            <a:r>
              <a:rPr lang="en-US" dirty="0"/>
              <a:t> </a:t>
            </a:r>
            <a:r>
              <a:rPr lang="en-US" dirty="0" err="1"/>
              <a:t>indoorTile</a:t>
            </a:r>
            <a:r>
              <a:rPr lang="en-US" dirty="0"/>
              <a:t> = new </a:t>
            </a:r>
            <a:r>
              <a:rPr lang="en-US" dirty="0" err="1"/>
              <a:t>IndoorTerrainTile</a:t>
            </a:r>
            <a:r>
              <a:rPr lang="en-US" dirty="0"/>
              <a:t>();</a:t>
            </a:r>
          </a:p>
          <a:p>
            <a:r>
              <a:rPr lang="en-US" dirty="0"/>
              <a:t>	</a:t>
            </a:r>
            <a:r>
              <a:rPr lang="en-US" dirty="0" err="1"/>
              <a:t>indoorTile.setX</a:t>
            </a:r>
            <a:r>
              <a:rPr lang="en-US" dirty="0"/>
              <a:t>(10);</a:t>
            </a:r>
          </a:p>
          <a:p>
            <a:r>
              <a:rPr lang="en-US" dirty="0"/>
              <a:t>	</a:t>
            </a:r>
            <a:r>
              <a:rPr lang="en-US" dirty="0" err="1"/>
              <a:t>indoorTile.setY</a:t>
            </a:r>
            <a:r>
              <a:rPr lang="en-US" dirty="0"/>
              <a:t>(10);</a:t>
            </a:r>
          </a:p>
          <a:p>
            <a:r>
              <a:rPr lang="en-US" dirty="0"/>
              <a:t>	</a:t>
            </a:r>
          </a:p>
          <a:p>
            <a:r>
              <a:rPr lang="en-US" dirty="0"/>
              <a:t>	Flyweight </a:t>
            </a:r>
            <a:r>
              <a:rPr lang="en-US" dirty="0" err="1"/>
              <a:t>indoorTileIcon</a:t>
            </a:r>
            <a:r>
              <a:rPr lang="en-US" dirty="0"/>
              <a:t> = </a:t>
            </a:r>
            <a:r>
              <a:rPr lang="en-US" dirty="0" err="1"/>
              <a:t>FlyweightFactory.getFlyweight</a:t>
            </a:r>
            <a:r>
              <a:rPr lang="en-US" dirty="0"/>
              <a:t>(“indoor”);</a:t>
            </a:r>
          </a:p>
          <a:p>
            <a:r>
              <a:rPr lang="en-US" dirty="0"/>
              <a:t>	</a:t>
            </a:r>
          </a:p>
          <a:p>
            <a:r>
              <a:rPr lang="en-US" dirty="0"/>
              <a:t>	render(</a:t>
            </a:r>
            <a:r>
              <a:rPr lang="en-US" dirty="0" err="1"/>
              <a:t>indoorTile</a:t>
            </a:r>
            <a:r>
              <a:rPr lang="en-US" dirty="0"/>
              <a:t>, </a:t>
            </a:r>
            <a:r>
              <a:rPr lang="en-US" dirty="0" err="1"/>
              <a:t>indoorTileIcon</a:t>
            </a:r>
            <a:r>
              <a:rPr lang="en-US" dirty="0"/>
              <a:t>);</a:t>
            </a:r>
          </a:p>
          <a:p>
            <a:endParaRPr lang="en-US" dirty="0"/>
          </a:p>
          <a:p>
            <a:r>
              <a:rPr lang="en-US" dirty="0"/>
              <a:t>	// Place outdoor tile</a:t>
            </a:r>
          </a:p>
          <a:p>
            <a:r>
              <a:rPr lang="en-US" dirty="0"/>
              <a:t>	</a:t>
            </a:r>
            <a:r>
              <a:rPr lang="en-US" dirty="0" err="1"/>
              <a:t>OutdoorTerrainTile</a:t>
            </a:r>
            <a:r>
              <a:rPr lang="en-US" dirty="0"/>
              <a:t> </a:t>
            </a:r>
            <a:r>
              <a:rPr lang="en-US" dirty="0" err="1"/>
              <a:t>outdoorTile</a:t>
            </a:r>
            <a:r>
              <a:rPr lang="en-US" dirty="0"/>
              <a:t> = new </a:t>
            </a:r>
            <a:r>
              <a:rPr lang="en-US" dirty="0" err="1"/>
              <a:t>OutdoorTerrainTile</a:t>
            </a:r>
            <a:r>
              <a:rPr lang="en-US" dirty="0"/>
              <a:t>();</a:t>
            </a:r>
          </a:p>
          <a:p>
            <a:r>
              <a:rPr lang="en-US" dirty="0"/>
              <a:t>	// set X and Y</a:t>
            </a:r>
          </a:p>
          <a:p>
            <a:r>
              <a:rPr lang="en-US" dirty="0"/>
              <a:t>	Flyweight </a:t>
            </a:r>
            <a:r>
              <a:rPr lang="en-US" dirty="0" err="1"/>
              <a:t>outdoorTileIcon</a:t>
            </a:r>
            <a:r>
              <a:rPr lang="en-US" dirty="0"/>
              <a:t> = </a:t>
            </a:r>
            <a:r>
              <a:rPr lang="en-US" dirty="0" err="1"/>
              <a:t>FlyweightFactory.getFlyweight</a:t>
            </a:r>
            <a:r>
              <a:rPr lang="en-US" dirty="0"/>
              <a:t>(“outdoor”);</a:t>
            </a:r>
          </a:p>
          <a:p>
            <a:r>
              <a:rPr lang="en-US" dirty="0"/>
              <a:t>	render(</a:t>
            </a:r>
            <a:r>
              <a:rPr lang="en-US" dirty="0" err="1"/>
              <a:t>outdoorTile</a:t>
            </a:r>
            <a:r>
              <a:rPr lang="en-US" dirty="0"/>
              <a:t>, </a:t>
            </a:r>
            <a:r>
              <a:rPr lang="en-US" dirty="0" err="1"/>
              <a:t>outdoorTileIcon</a:t>
            </a:r>
            <a:r>
              <a:rPr lang="en-US" dirty="0"/>
              <a:t>);</a:t>
            </a:r>
          </a:p>
          <a:p>
            <a:r>
              <a:rPr lang="en-US" dirty="0"/>
              <a:t>}</a:t>
            </a:r>
          </a:p>
        </p:txBody>
      </p:sp>
      <p:sp>
        <p:nvSpPr>
          <p:cNvPr id="3" name="Title 2">
            <a:extLst>
              <a:ext uri="{FF2B5EF4-FFF2-40B4-BE49-F238E27FC236}">
                <a16:creationId xmlns:a16="http://schemas.microsoft.com/office/drawing/2014/main" id="{B0659663-C8D9-76B4-33C6-99AE051FB388}"/>
              </a:ext>
            </a:extLst>
          </p:cNvPr>
          <p:cNvSpPr>
            <a:spLocks noGrp="1"/>
          </p:cNvSpPr>
          <p:nvPr>
            <p:ph type="title"/>
          </p:nvPr>
        </p:nvSpPr>
        <p:spPr/>
        <p:txBody>
          <a:bodyPr/>
          <a:lstStyle/>
          <a:p>
            <a:r>
              <a:rPr lang="en-US" dirty="0"/>
              <a:t>Putting it all together</a:t>
            </a:r>
          </a:p>
        </p:txBody>
      </p:sp>
      <p:sp>
        <p:nvSpPr>
          <p:cNvPr id="7" name="Content Placeholder 1">
            <a:extLst>
              <a:ext uri="{FF2B5EF4-FFF2-40B4-BE49-F238E27FC236}">
                <a16:creationId xmlns:a16="http://schemas.microsoft.com/office/drawing/2014/main" id="{678F99A1-7B29-820E-866F-CCFA2C3D4978}"/>
              </a:ext>
            </a:extLst>
          </p:cNvPr>
          <p:cNvSpPr txBox="1">
            <a:spLocks/>
          </p:cNvSpPr>
          <p:nvPr/>
        </p:nvSpPr>
        <p:spPr bwMode="auto">
          <a:xfrm>
            <a:off x="382075" y="785004"/>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8" name="Rectangle 7">
            <a:extLst>
              <a:ext uri="{FF2B5EF4-FFF2-40B4-BE49-F238E27FC236}">
                <a16:creationId xmlns:a16="http://schemas.microsoft.com/office/drawing/2014/main" id="{9E3894DA-F926-4D04-51A8-9846F07A3C8F}"/>
              </a:ext>
            </a:extLst>
          </p:cNvPr>
          <p:cNvSpPr/>
          <p:nvPr/>
        </p:nvSpPr>
        <p:spPr>
          <a:xfrm>
            <a:off x="6096000" y="125436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35D44A16-3A92-6279-AC28-4878F2F0ADC9}"/>
              </a:ext>
            </a:extLst>
          </p:cNvPr>
          <p:cNvSpPr/>
          <p:nvPr/>
        </p:nvSpPr>
        <p:spPr>
          <a:xfrm>
            <a:off x="6096000" y="356635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15536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07C1026-EBE1-6030-41A8-6F591A484399}"/>
              </a:ext>
            </a:extLst>
          </p:cNvPr>
          <p:cNvSpPr>
            <a:spLocks noGrp="1"/>
          </p:cNvSpPr>
          <p:nvPr>
            <p:ph idx="1"/>
          </p:nvPr>
        </p:nvSpPr>
        <p:spPr/>
        <p:txBody>
          <a:bodyPr/>
          <a:lstStyle/>
          <a:p>
            <a:r>
              <a:rPr lang="en-US" dirty="0"/>
              <a:t>Prevent duplication of state</a:t>
            </a:r>
          </a:p>
          <a:p>
            <a:r>
              <a:rPr lang="en-US" dirty="0"/>
              <a:t>Shared state </a:t>
            </a:r>
            <a:r>
              <a:rPr lang="en-US" b="1" i="1" dirty="0"/>
              <a:t>must </a:t>
            </a:r>
            <a:r>
              <a:rPr lang="en-US" dirty="0"/>
              <a:t>be immutable</a:t>
            </a:r>
          </a:p>
          <a:p>
            <a:r>
              <a:rPr lang="en-US" dirty="0"/>
              <a:t>May introduce runtime costs from indirection</a:t>
            </a:r>
          </a:p>
        </p:txBody>
      </p:sp>
      <p:sp>
        <p:nvSpPr>
          <p:cNvPr id="5" name="Title 4">
            <a:extLst>
              <a:ext uri="{FF2B5EF4-FFF2-40B4-BE49-F238E27FC236}">
                <a16:creationId xmlns:a16="http://schemas.microsoft.com/office/drawing/2014/main" id="{CD48D845-54E3-1EEA-43ED-9FB3AEBFFCB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20389407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class patterns use inheritance to distribute behavior between classes</a:t>
            </a:r>
          </a:p>
          <a:p>
            <a:r>
              <a:rPr lang="en-US" dirty="0"/>
              <a:t>Behavioral object patterns use object composition </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77500" lnSpcReduction="20000"/>
          </a:bodyPr>
          <a:lstStyle/>
          <a:p>
            <a:r>
              <a:rPr lang="en-US" dirty="0"/>
              <a:t>abstract class </a:t>
            </a:r>
            <a:r>
              <a:rPr lang="en-US" dirty="0" err="1"/>
              <a:t>GraphPathFinder</a:t>
            </a:r>
            <a:r>
              <a:rPr lang="en-US" dirty="0"/>
              <a:t> {</a:t>
            </a:r>
          </a:p>
          <a:p>
            <a:r>
              <a:rPr lang="en-US" dirty="0"/>
              <a:t>    protected Map&lt;Integer, List&lt;Integer&gt;&gt; graph = new HashMap&lt;&gt;();</a:t>
            </a:r>
          </a:p>
          <a:p>
            <a:r>
              <a:rPr lang="en-US" dirty="0"/>
              <a:t>    protected List&lt;List&lt;Integer&gt;&gt; </a:t>
            </a:r>
            <a:r>
              <a:rPr lang="en-US" dirty="0" err="1"/>
              <a:t>allPaths</a:t>
            </a:r>
            <a:r>
              <a:rPr lang="en-US" dirty="0"/>
              <a:t> = new </a:t>
            </a:r>
            <a:r>
              <a:rPr lang="en-US" dirty="0" err="1"/>
              <a:t>ArrayList</a:t>
            </a:r>
            <a:r>
              <a:rPr lang="en-US" dirty="0"/>
              <a:t>&lt;&gt;();</a:t>
            </a:r>
          </a:p>
          <a:p>
            <a:r>
              <a:rPr lang="en-US" dirty="0"/>
              <a:t>    protected int source, destination;</a:t>
            </a:r>
          </a:p>
          <a:p>
            <a:endParaRPr lang="en-US" dirty="0"/>
          </a:p>
          <a:p>
            <a:r>
              <a:rPr lang="en-US" dirty="0"/>
              <a:t>    // Template method</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a:t>
            </a:r>
            <a:r>
              <a:rPr lang="en-US" dirty="0" err="1"/>
              <a:t>System.out.println</a:t>
            </a:r>
            <a:r>
              <a:rPr lang="en-US" dirty="0"/>
              <a:t>("Initializing graph...");</a:t>
            </a:r>
          </a:p>
          <a:p>
            <a:r>
              <a:rPr lang="en-US" dirty="0"/>
              <a:t>	   graph = </a:t>
            </a:r>
            <a:r>
              <a:rPr lang="en-US" dirty="0" err="1"/>
              <a:t>readFile</a:t>
            </a:r>
            <a:r>
              <a:rPr lang="en-US" dirty="0"/>
              <a:t>();</a:t>
            </a:r>
          </a:p>
          <a:p>
            <a:r>
              <a:rPr lang="en-US" dirty="0"/>
              <a:t>	  // more initialization</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for (List&lt;Integer&gt; path : </a:t>
            </a:r>
            <a:r>
              <a:rPr lang="en-US" dirty="0" err="1"/>
              <a:t>allPaths</a:t>
            </a:r>
            <a:r>
              <a:rPr lang="en-US" dirty="0"/>
              <a:t>) {</a:t>
            </a:r>
          </a:p>
          <a:p>
            <a:r>
              <a:rPr lang="en-US" dirty="0"/>
              <a:t>            </a:t>
            </a:r>
            <a:r>
              <a:rPr lang="en-US" dirty="0" err="1"/>
              <a:t>System.out.println</a:t>
            </a:r>
            <a:r>
              <a:rPr lang="en-US" dirty="0"/>
              <a:t>(path);</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087029"/>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2800680"/>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360416"/>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fontScale="85000" lnSpcReduction="10000"/>
          </a:bodyPr>
          <a:lstStyle/>
          <a:p>
            <a:r>
              <a:rPr lang="en-US" dirty="0"/>
              <a:t>class </a:t>
            </a:r>
            <a:r>
              <a:rPr lang="en-US" dirty="0" err="1"/>
              <a:t>BFSPathFinder</a:t>
            </a:r>
            <a:r>
              <a:rPr lang="en-US" dirty="0"/>
              <a:t> extends </a:t>
            </a:r>
            <a:r>
              <a:rPr lang="en-US" dirty="0" err="1"/>
              <a:t>GraphPathFinder</a:t>
            </a:r>
            <a:r>
              <a:rPr lang="en-US" dirty="0"/>
              <a:t> {</a:t>
            </a:r>
          </a:p>
          <a:p>
            <a:r>
              <a:rPr lang="en-US" dirty="0"/>
              <a:t>    @Override</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List&lt;Integer&gt; path = </a:t>
            </a:r>
            <a:r>
              <a:rPr lang="en-US" dirty="0" err="1"/>
              <a:t>queue.poll</a:t>
            </a:r>
            <a:r>
              <a:rPr lang="en-US" dirty="0"/>
              <a:t>();</a:t>
            </a:r>
          </a:p>
          <a:p>
            <a:r>
              <a:rPr lang="en-US" dirty="0"/>
              <a:t>            int </a:t>
            </a:r>
            <a:r>
              <a:rPr lang="en-US" dirty="0" err="1"/>
              <a:t>currentNode</a:t>
            </a:r>
            <a:r>
              <a:rPr lang="en-US" dirty="0"/>
              <a:t> = </a:t>
            </a:r>
            <a:r>
              <a:rPr lang="en-US" dirty="0" err="1"/>
              <a:t>path.get</a:t>
            </a:r>
            <a:r>
              <a:rPr lang="en-US" dirty="0"/>
              <a:t>(</a:t>
            </a:r>
            <a:r>
              <a:rPr lang="en-US" dirty="0" err="1"/>
              <a:t>path.size</a:t>
            </a:r>
            <a:r>
              <a:rPr lang="en-US" dirty="0"/>
              <a:t>() - 1);</a:t>
            </a:r>
          </a:p>
          <a:p>
            <a:endParaRPr lang="en-US" dirty="0"/>
          </a:p>
          <a:p>
            <a:r>
              <a:rPr lang="en-US" dirty="0"/>
              <a:t>            if (</a:t>
            </a:r>
            <a:r>
              <a:rPr lang="en-US" dirty="0" err="1"/>
              <a:t>currentNode</a:t>
            </a:r>
            <a:r>
              <a:rPr lang="en-US" dirty="0"/>
              <a:t> == destination) {</a:t>
            </a:r>
          </a:p>
          <a:p>
            <a:r>
              <a:rPr lang="en-US" dirty="0"/>
              <a:t>                </a:t>
            </a:r>
            <a:r>
              <a:rPr lang="en-US" dirty="0" err="1"/>
              <a:t>allPaths.add</a:t>
            </a:r>
            <a:r>
              <a:rPr lang="en-US" dirty="0"/>
              <a:t>(new </a:t>
            </a:r>
            <a:r>
              <a:rPr lang="en-US" dirty="0" err="1"/>
              <a:t>ArrayList</a:t>
            </a:r>
            <a:r>
              <a:rPr lang="en-US" dirty="0"/>
              <a:t>&lt;&gt;(path));</a:t>
            </a:r>
          </a:p>
          <a:p>
            <a:r>
              <a:rPr lang="en-US" dirty="0"/>
              <a:t>            } else {</a:t>
            </a:r>
          </a:p>
          <a:p>
            <a:r>
              <a:rPr lang="en-US" dirty="0"/>
              <a:t>                for (int neighbor : </a:t>
            </a:r>
            <a:r>
              <a:rPr lang="en-US" dirty="0" err="1"/>
              <a:t>graph.getOrDefault</a:t>
            </a:r>
            <a:r>
              <a:rPr lang="en-US" dirty="0"/>
              <a:t>(</a:t>
            </a:r>
            <a:r>
              <a:rPr lang="en-US" dirty="0" err="1"/>
              <a:t>currentNode</a:t>
            </a:r>
            <a:r>
              <a:rPr lang="en-US" dirty="0"/>
              <a:t>, new </a:t>
            </a:r>
            <a:r>
              <a:rPr lang="en-US" dirty="0" err="1"/>
              <a:t>ArrayList</a:t>
            </a:r>
            <a:r>
              <a:rPr lang="en-US" dirty="0"/>
              <a:t>&lt;&gt;())) {</a:t>
            </a:r>
          </a:p>
          <a:p>
            <a:r>
              <a:rPr lang="en-US" dirty="0"/>
              <a:t>                    List&lt;Integer&gt; </a:t>
            </a:r>
            <a:r>
              <a:rPr lang="en-US" dirty="0" err="1"/>
              <a:t>newPath</a:t>
            </a:r>
            <a:r>
              <a:rPr lang="en-US" dirty="0"/>
              <a:t> = new </a:t>
            </a:r>
            <a:r>
              <a:rPr lang="en-US" dirty="0" err="1"/>
              <a:t>ArrayList</a:t>
            </a:r>
            <a:r>
              <a:rPr lang="en-US" dirty="0"/>
              <a:t>&lt;&gt;(path);</a:t>
            </a:r>
          </a:p>
          <a:p>
            <a:r>
              <a:rPr lang="en-US" dirty="0"/>
              <a:t>                    </a:t>
            </a:r>
            <a:r>
              <a:rPr lang="en-US" dirty="0" err="1"/>
              <a:t>newPath.add</a:t>
            </a:r>
            <a:r>
              <a:rPr lang="en-US" dirty="0"/>
              <a:t>(neighbor);</a:t>
            </a:r>
          </a:p>
          <a:p>
            <a:r>
              <a:rPr lang="en-US" dirty="0"/>
              <a:t>                    </a:t>
            </a:r>
            <a:r>
              <a:rPr lang="en-US" dirty="0" err="1"/>
              <a:t>queue.add</a:t>
            </a:r>
            <a:r>
              <a:rPr lang="en-US" dirty="0"/>
              <a:t>(</a:t>
            </a:r>
            <a:r>
              <a:rPr lang="en-US" dirty="0" err="1"/>
              <a:t>newPath</a:t>
            </a:r>
            <a:r>
              <a:rPr lang="en-US" dirty="0"/>
              <a:t>);</a:t>
            </a:r>
          </a:p>
          <a:p>
            <a:r>
              <a:rPr lang="en-US" dirty="0"/>
              <a:t>                }</a:t>
            </a:r>
          </a:p>
          <a:p>
            <a:r>
              <a:rPr lang="en-US" dirty="0"/>
              <a:t>            }</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203158"/>
            <a:ext cx="5871110" cy="42672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68F69-B24B-D9B2-DC39-FEA7EDDDFAAE}"/>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84BD36B2-F888-8E6D-D1BC-E3C0BC31A064}"/>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AA0BC4A7-D5D1-6F8C-5904-3BDA70FD7E52}"/>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2665233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7D2D7F-2FE3-3104-5BB6-946C4AC58B2F}"/>
              </a:ext>
            </a:extLst>
          </p:cNvPr>
          <p:cNvSpPr>
            <a:spLocks noGrp="1"/>
          </p:cNvSpPr>
          <p:nvPr>
            <p:ph idx="1"/>
          </p:nvPr>
        </p:nvSpPr>
        <p:spPr/>
        <p:txBody>
          <a:bodyPr/>
          <a:lstStyle/>
          <a:p>
            <a:r>
              <a:rPr lang="en-US" dirty="0"/>
              <a:t>Visitor design pattern</a:t>
            </a:r>
          </a:p>
          <a:p>
            <a:r>
              <a:rPr lang="en-US" dirty="0"/>
              <a:t>Software security</a:t>
            </a:r>
          </a:p>
        </p:txBody>
      </p:sp>
      <p:sp>
        <p:nvSpPr>
          <p:cNvPr id="4" name="Title 3">
            <a:extLst>
              <a:ext uri="{FF2B5EF4-FFF2-40B4-BE49-F238E27FC236}">
                <a16:creationId xmlns:a16="http://schemas.microsoft.com/office/drawing/2014/main" id="{9FAD9294-10C5-1C46-AB8C-7C73E3F2AC6F}"/>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97883565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b="1" i="1"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EE97DE-475C-1638-C178-EACF13EAAF68}"/>
              </a:ext>
            </a:extLst>
          </p:cNvPr>
          <p:cNvSpPr>
            <a:spLocks noGrp="1"/>
          </p:cNvSpPr>
          <p:nvPr>
            <p:ph idx="1"/>
          </p:nvPr>
        </p:nvSpPr>
        <p:spPr/>
        <p:txBody>
          <a:bodyPr>
            <a:normAutofit fontScale="92500" lnSpcReduction="1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private Point p1; </a:t>
            </a:r>
          </a:p>
          <a:p>
            <a:r>
              <a:rPr lang="en-US" dirty="0"/>
              <a:t>	private Point p2;</a:t>
            </a:r>
          </a:p>
          <a:p>
            <a:r>
              <a:rPr lang="en-US" dirty="0"/>
              <a:t>	private Point p3;</a:t>
            </a:r>
          </a:p>
          <a:p>
            <a:r>
              <a:rPr lang="en-US" dirty="0"/>
              <a:t>	</a:t>
            </a:r>
          </a:p>
          <a:p>
            <a:r>
              <a:rPr lang="en-US" dirty="0"/>
              <a:t>	public void translate(int x, int y) {</a:t>
            </a:r>
          </a:p>
          <a:p>
            <a:r>
              <a:rPr lang="en-US" dirty="0"/>
              <a:t>		p1.setX(p1.getX() + x, p1.getY() + y);</a:t>
            </a:r>
          </a:p>
          <a:p>
            <a:r>
              <a:rPr lang="en-US" dirty="0"/>
              <a:t>		// for p2 and p3</a:t>
            </a:r>
          </a:p>
          <a:p>
            <a:r>
              <a:rPr lang="en-US" dirty="0"/>
              <a:t>	}</a:t>
            </a:r>
          </a:p>
          <a:p>
            <a:r>
              <a:rPr lang="en-US" dirty="0"/>
              <a:t>}</a:t>
            </a:r>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endParaRPr lang="en-US" dirty="0"/>
          </a:p>
          <a:p>
            <a:endParaRPr lang="en-US" dirty="0"/>
          </a:p>
        </p:txBody>
      </p:sp>
      <p:sp>
        <p:nvSpPr>
          <p:cNvPr id="3" name="Title 2">
            <a:extLst>
              <a:ext uri="{FF2B5EF4-FFF2-40B4-BE49-F238E27FC236}">
                <a16:creationId xmlns:a16="http://schemas.microsoft.com/office/drawing/2014/main" id="{75484F31-8BAD-ECB0-3B0B-7615BA75EA09}"/>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DB184649-BBDD-68AA-5373-4E57F6FD6EC1}"/>
              </a:ext>
            </a:extLst>
          </p:cNvPr>
          <p:cNvSpPr>
            <a:spLocks noGrp="1"/>
          </p:cNvSpPr>
          <p:nvPr>
            <p:ph idx="13"/>
          </p:nvPr>
        </p:nvSpPr>
        <p:spPr/>
        <p:txBody>
          <a:bodyPr/>
          <a:lstStyle/>
          <a:p>
            <a:r>
              <a:rPr lang="en-US" dirty="0"/>
              <a:t>Each shape has a </a:t>
            </a:r>
            <a:r>
              <a:rPr lang="en-US" dirty="0">
                <a:latin typeface="Consolas" panose="020B0609020204030204" pitchFamily="49" charset="0"/>
              </a:rPr>
              <a:t>translate</a:t>
            </a:r>
            <a:r>
              <a:rPr lang="en-US" dirty="0"/>
              <a:t> method</a:t>
            </a:r>
          </a:p>
        </p:txBody>
      </p:sp>
      <p:sp>
        <p:nvSpPr>
          <p:cNvPr id="5" name="Rectangle 4">
            <a:extLst>
              <a:ext uri="{FF2B5EF4-FFF2-40B4-BE49-F238E27FC236}">
                <a16:creationId xmlns:a16="http://schemas.microsoft.com/office/drawing/2014/main" id="{CDFE716A-5F5A-455B-CFB5-E4022765B3B0}"/>
              </a:ext>
            </a:extLst>
          </p:cNvPr>
          <p:cNvSpPr/>
          <p:nvPr/>
        </p:nvSpPr>
        <p:spPr>
          <a:xfrm>
            <a:off x="6176511" y="2590800"/>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E36A4498-50AE-EC3C-D655-EDD5F5B4B809}"/>
              </a:ext>
            </a:extLst>
          </p:cNvPr>
          <p:cNvSpPr/>
          <p:nvPr/>
        </p:nvSpPr>
        <p:spPr>
          <a:xfrm>
            <a:off x="6320890" y="4066673"/>
            <a:ext cx="5871110" cy="115503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E6C2A3FA-B72C-48F0-EA12-5AE987A5FCBC}"/>
              </a:ext>
            </a:extLst>
          </p:cNvPr>
          <p:cNvSpPr/>
          <p:nvPr/>
        </p:nvSpPr>
        <p:spPr>
          <a:xfrm>
            <a:off x="6128385" y="5221705"/>
            <a:ext cx="5871110" cy="6962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87395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0BA51-33C0-C6C0-A56D-A505ADDB3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EAFD3F-7191-4AA3-FAAA-203D5007211F}"/>
              </a:ext>
            </a:extLst>
          </p:cNvPr>
          <p:cNvSpPr>
            <a:spLocks noGrp="1"/>
          </p:cNvSpPr>
          <p:nvPr>
            <p:ph idx="1"/>
          </p:nvPr>
        </p:nvSpPr>
        <p:spPr/>
        <p:txBody>
          <a:bodyPr>
            <a:normAutofit fontScale="92500" lnSpcReduction="2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 …	</a:t>
            </a:r>
          </a:p>
          <a:p>
            <a:r>
              <a:rPr lang="en-US" dirty="0"/>
              <a:t>	public void translate(int x, int y) { // …}</a:t>
            </a:r>
          </a:p>
          <a:p>
            <a:r>
              <a:rPr lang="en-US" dirty="0"/>
              <a:t>	public void scale(int x, int y) { //… }</a:t>
            </a:r>
          </a:p>
          <a:p>
            <a:r>
              <a:rPr lang="en-US" dirty="0"/>
              <a:t>}</a:t>
            </a:r>
            <a:br>
              <a:rPr lang="en-US" dirty="0"/>
            </a:br>
            <a:endParaRPr lang="en-US" dirty="0"/>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	public void scale(int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shape.scale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r>
              <a:rPr lang="en-US" dirty="0" err="1"/>
              <a:t>someShape.scale</a:t>
            </a:r>
            <a:r>
              <a:rPr lang="en-US" dirty="0"/>
              <a:t>(2, 2);</a:t>
            </a:r>
          </a:p>
          <a:p>
            <a:endParaRPr lang="en-US" dirty="0"/>
          </a:p>
          <a:p>
            <a:endParaRPr lang="en-US" dirty="0"/>
          </a:p>
        </p:txBody>
      </p:sp>
      <p:sp>
        <p:nvSpPr>
          <p:cNvPr id="3" name="Title 2">
            <a:extLst>
              <a:ext uri="{FF2B5EF4-FFF2-40B4-BE49-F238E27FC236}">
                <a16:creationId xmlns:a16="http://schemas.microsoft.com/office/drawing/2014/main" id="{B93E82D0-E6F2-1E67-0521-54B8BD0E599B}"/>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BCDA289D-C0D7-ABF8-8DCF-DA9F5F78B21E}"/>
              </a:ext>
            </a:extLst>
          </p:cNvPr>
          <p:cNvSpPr>
            <a:spLocks noGrp="1"/>
          </p:cNvSpPr>
          <p:nvPr>
            <p:ph idx="13"/>
          </p:nvPr>
        </p:nvSpPr>
        <p:spPr/>
        <p:txBody>
          <a:bodyPr/>
          <a:lstStyle/>
          <a:p>
            <a:r>
              <a:rPr lang="en-US" dirty="0"/>
              <a:t>Each shape has a </a:t>
            </a:r>
            <a:r>
              <a:rPr lang="en-US" dirty="0">
                <a:latin typeface="Consolas" panose="020B0609020204030204" pitchFamily="49" charset="0"/>
              </a:rPr>
              <a:t>scale</a:t>
            </a:r>
            <a:r>
              <a:rPr lang="en-US" dirty="0"/>
              <a:t> method</a:t>
            </a:r>
          </a:p>
        </p:txBody>
      </p:sp>
      <p:sp>
        <p:nvSpPr>
          <p:cNvPr id="6" name="Rectangle 5">
            <a:extLst>
              <a:ext uri="{FF2B5EF4-FFF2-40B4-BE49-F238E27FC236}">
                <a16:creationId xmlns:a16="http://schemas.microsoft.com/office/drawing/2014/main" id="{4208F959-5612-C1B9-6296-FD033BA9B642}"/>
              </a:ext>
            </a:extLst>
          </p:cNvPr>
          <p:cNvSpPr/>
          <p:nvPr/>
        </p:nvSpPr>
        <p:spPr>
          <a:xfrm>
            <a:off x="6176512" y="2110801"/>
            <a:ext cx="5871110" cy="32886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254A924D-5D26-A2FA-7E19-46C4A2857C54}"/>
              </a:ext>
            </a:extLst>
          </p:cNvPr>
          <p:cNvSpPr/>
          <p:nvPr/>
        </p:nvSpPr>
        <p:spPr>
          <a:xfrm>
            <a:off x="6320890" y="3854190"/>
            <a:ext cx="5871110" cy="107073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D9497827-B2A7-611B-EB8E-D301F71017D2}"/>
              </a:ext>
            </a:extLst>
          </p:cNvPr>
          <p:cNvSpPr/>
          <p:nvPr/>
        </p:nvSpPr>
        <p:spPr>
          <a:xfrm>
            <a:off x="6176512" y="5358063"/>
            <a:ext cx="5871110" cy="2395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99539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7B5495A-7200-BF15-549F-748B6BA4C672}"/>
              </a:ext>
            </a:extLst>
          </p:cNvPr>
          <p:cNvSpPr>
            <a:spLocks noGrp="1"/>
          </p:cNvSpPr>
          <p:nvPr>
            <p:ph idx="1"/>
          </p:nvPr>
        </p:nvSpPr>
        <p:spPr/>
        <p:txBody>
          <a:bodyPr/>
          <a:lstStyle/>
          <a:p>
            <a:r>
              <a:rPr lang="en-US" dirty="0"/>
              <a:t>The logic for the </a:t>
            </a:r>
            <a:r>
              <a:rPr lang="en-US" dirty="0">
                <a:latin typeface="Consolas" panose="020B0609020204030204" pitchFamily="49" charset="0"/>
              </a:rPr>
              <a:t>translate</a:t>
            </a:r>
            <a:r>
              <a:rPr lang="en-US" dirty="0"/>
              <a:t>, </a:t>
            </a:r>
            <a:r>
              <a:rPr lang="en-US" dirty="0">
                <a:latin typeface="Consolas" panose="020B0609020204030204" pitchFamily="49" charset="0"/>
              </a:rPr>
              <a:t>scale</a:t>
            </a:r>
            <a:r>
              <a:rPr lang="en-US" dirty="0"/>
              <a:t>, and any other operations are spread across many shape classes</a:t>
            </a:r>
          </a:p>
          <a:p>
            <a:r>
              <a:rPr lang="en-US" dirty="0"/>
              <a:t>Changing how translation works needs to update </a:t>
            </a:r>
            <a:r>
              <a:rPr lang="en-US" b="1" i="1" dirty="0"/>
              <a:t>all </a:t>
            </a:r>
            <a:r>
              <a:rPr lang="en-US" dirty="0"/>
              <a:t>shape classes</a:t>
            </a:r>
          </a:p>
          <a:p>
            <a:r>
              <a:rPr lang="en-US" dirty="0"/>
              <a:t>What if you want to add a new operation but can’t modify the </a:t>
            </a:r>
            <a:r>
              <a:rPr lang="en-US" dirty="0">
                <a:latin typeface="Consolas" panose="020B0609020204030204" pitchFamily="49" charset="0"/>
              </a:rPr>
              <a:t>Shape</a:t>
            </a:r>
            <a:r>
              <a:rPr lang="en-US" dirty="0"/>
              <a:t> class?</a:t>
            </a:r>
          </a:p>
          <a:p>
            <a:pPr lvl="1"/>
            <a:r>
              <a:rPr lang="en-US" dirty="0">
                <a:latin typeface="Consolas" panose="020B0609020204030204" pitchFamily="49" charset="0"/>
              </a:rPr>
              <a:t>Shape</a:t>
            </a:r>
            <a:r>
              <a:rPr lang="en-US" dirty="0"/>
              <a:t> class must envision all possible operations when being designed</a:t>
            </a:r>
          </a:p>
        </p:txBody>
      </p:sp>
      <p:sp>
        <p:nvSpPr>
          <p:cNvPr id="3" name="Title 2">
            <a:extLst>
              <a:ext uri="{FF2B5EF4-FFF2-40B4-BE49-F238E27FC236}">
                <a16:creationId xmlns:a16="http://schemas.microsoft.com/office/drawing/2014/main" id="{175587BC-7BE2-BAC3-3CF2-6E2167FDDC2D}"/>
              </a:ext>
            </a:extLst>
          </p:cNvPr>
          <p:cNvSpPr>
            <a:spLocks noGrp="1"/>
          </p:cNvSpPr>
          <p:nvPr>
            <p:ph type="title"/>
          </p:nvPr>
        </p:nvSpPr>
        <p:spPr/>
        <p:txBody>
          <a:bodyPr/>
          <a:lstStyle/>
          <a:p>
            <a:r>
              <a:rPr lang="en-US" dirty="0"/>
              <a:t>Disadvantages</a:t>
            </a:r>
          </a:p>
        </p:txBody>
      </p:sp>
    </p:spTree>
    <p:extLst>
      <p:ext uri="{BB962C8B-B14F-4D97-AF65-F5344CB8AC3E}">
        <p14:creationId xmlns:p14="http://schemas.microsoft.com/office/powerpoint/2010/main" val="78148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a:p>
            <a:r>
              <a:rPr lang="en-US" dirty="0"/>
              <a:t>Provide concrete implementations of the </a:t>
            </a:r>
            <a:r>
              <a:rPr lang="en-US" dirty="0">
                <a:latin typeface="Consolas" panose="020B0609020204030204" pitchFamily="49" charset="0"/>
              </a:rPr>
              <a:t>accept</a:t>
            </a:r>
            <a:r>
              <a:rPr lang="en-US" dirty="0"/>
              <a:t> method for each type</a:t>
            </a:r>
          </a:p>
          <a:p>
            <a:r>
              <a:rPr lang="en-US" dirty="0"/>
              <a:t>The </a:t>
            </a:r>
            <a:r>
              <a:rPr lang="en-US" dirty="0">
                <a:latin typeface="Consolas" panose="020B0609020204030204" pitchFamily="49" charset="0"/>
              </a:rPr>
              <a:t>accept</a:t>
            </a:r>
            <a:r>
              <a:rPr lang="en-US" dirty="0"/>
              <a:t> method invokes the visitor on the shape object</a:t>
            </a:r>
          </a:p>
          <a:p>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11790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E6046-A7F2-4D6B-E4EA-1108AA3CBA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40313-9974-C21F-2CC9-A863664B3082}"/>
              </a:ext>
            </a:extLst>
          </p:cNvPr>
          <p:cNvSpPr>
            <a:spLocks noGrp="1"/>
          </p:cNvSpPr>
          <p:nvPr>
            <p:ph idx="1"/>
          </p:nvPr>
        </p:nvSpPr>
        <p:spPr/>
        <p:txBody>
          <a:bodyPr>
            <a:normAutofit/>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83B5E36A-01FF-2841-745F-3FE83730E578}"/>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898151AA-98F6-EE9E-ACE3-586BD77444C5}"/>
              </a:ext>
            </a:extLst>
          </p:cNvPr>
          <p:cNvSpPr>
            <a:spLocks noGrp="1"/>
          </p:cNvSpPr>
          <p:nvPr>
            <p:ph idx="13"/>
          </p:nvPr>
        </p:nvSpPr>
        <p:spPr/>
        <p:txBody>
          <a:bodyPr>
            <a:normAutofit lnSpcReduction="10000"/>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a:latin typeface="Consolas" panose="020B0609020204030204" pitchFamily="49" charset="0"/>
              </a:rPr>
              <a:t>Shape</a:t>
            </a:r>
          </a:p>
          <a:p>
            <a:r>
              <a:rPr lang="en-US" dirty="0">
                <a:latin typeface="Helvetica" panose="020B0604020202020204"/>
                <a:cs typeface="Helvetica" panose="020B0604020202020204"/>
              </a:rPr>
              <a:t>Provide a concrete default implementation of </a:t>
            </a:r>
            <a:r>
              <a:rPr lang="en-US" dirty="0">
                <a:latin typeface="Consolas" panose="020B0609020204030204" pitchFamily="49" charset="0"/>
                <a:cs typeface="Helvetica" panose="020B0604020202020204"/>
              </a:rPr>
              <a:t>visit(</a:t>
            </a:r>
            <a:r>
              <a:rPr lang="en-US" dirty="0" err="1">
                <a:latin typeface="Consolas" panose="020B0609020204030204" pitchFamily="49" charset="0"/>
                <a:cs typeface="Helvetica" panose="020B0604020202020204"/>
              </a:rPr>
              <a:t>CompoundShape</a:t>
            </a:r>
            <a:r>
              <a:rPr lang="en-US" dirty="0">
                <a:latin typeface="Consolas" panose="020B0609020204030204" pitchFamily="49" charset="0"/>
                <a:cs typeface="Helvetica" panose="020B0604020202020204"/>
              </a:rPr>
              <a:t> c)</a:t>
            </a:r>
            <a:endParaRPr lang="en-US" b="1" i="1" dirty="0">
              <a:latin typeface="Consolas" panose="020B0609020204030204" pitchFamily="49" charset="0"/>
              <a:cs typeface="Helvetica" panose="020B0604020202020204"/>
            </a:endParaRPr>
          </a:p>
        </p:txBody>
      </p:sp>
      <p:sp>
        <p:nvSpPr>
          <p:cNvPr id="2" name="Rectangle 1">
            <a:extLst>
              <a:ext uri="{FF2B5EF4-FFF2-40B4-BE49-F238E27FC236}">
                <a16:creationId xmlns:a16="http://schemas.microsoft.com/office/drawing/2014/main" id="{7EC8B33E-D944-3AE9-0141-96E24B61DC56}"/>
              </a:ext>
            </a:extLst>
          </p:cNvPr>
          <p:cNvSpPr/>
          <p:nvPr/>
        </p:nvSpPr>
        <p:spPr>
          <a:xfrm>
            <a:off x="6096000" y="1026543"/>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BBDADD4-5D8C-8111-3C67-1FE0F00F9898}"/>
              </a:ext>
            </a:extLst>
          </p:cNvPr>
          <p:cNvSpPr/>
          <p:nvPr/>
        </p:nvSpPr>
        <p:spPr>
          <a:xfrm>
            <a:off x="6096000" y="1348154"/>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A5850E56-3C0A-53B6-8CF0-F2B592A0C158}"/>
              </a:ext>
            </a:extLst>
          </p:cNvPr>
          <p:cNvSpPr/>
          <p:nvPr/>
        </p:nvSpPr>
        <p:spPr>
          <a:xfrm>
            <a:off x="6096000" y="1689893"/>
            <a:ext cx="5871110" cy="420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EF12ECC-99AB-9727-3DBD-3EF07703D346}"/>
              </a:ext>
            </a:extLst>
          </p:cNvPr>
          <p:cNvSpPr/>
          <p:nvPr/>
        </p:nvSpPr>
        <p:spPr>
          <a:xfrm>
            <a:off x="6096000" y="1778620"/>
            <a:ext cx="5871110" cy="12928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153097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6" grpId="0" animBg="1"/>
      <p:bldP spid="6" grpId="1" animBg="1"/>
      <p:bldP spid="8"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BA876-1710-AC94-41A4-17714B0EFE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5F92D3-EE67-456B-53E0-C38677DD65CA}"/>
              </a:ext>
            </a:extLst>
          </p:cNvPr>
          <p:cNvSpPr>
            <a:spLocks noGrp="1"/>
          </p:cNvSpPr>
          <p:nvPr>
            <p:ph idx="1"/>
          </p:nvPr>
        </p:nvSpPr>
        <p:spPr/>
        <p:txBody>
          <a:bodyPr>
            <a:normAutofit/>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@Override</a:t>
            </a:r>
          </a:p>
          <a:p>
            <a:r>
              <a:rPr lang="en-US" dirty="0"/>
              <a:t>    	public void visit(Rectangle rectangle) {</a:t>
            </a:r>
          </a:p>
          <a:p>
            <a:r>
              <a:rPr lang="en-US" dirty="0"/>
              <a:t>		//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1AB9A579-C67D-137A-CC0E-48997392C4F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5244C4C3-6384-AC34-42EC-D1A51CA4BF1B}"/>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ShapeVisitor</a:t>
            </a:r>
            <a:endParaRPr lang="en-US" dirty="0">
              <a:latin typeface="Consolas" panose="020B0609020204030204" pitchFamily="49" charset="0"/>
            </a:endParaRPr>
          </a:p>
          <a:p>
            <a:r>
              <a:rPr lang="en-US" dirty="0">
                <a:latin typeface="Helvetica" panose="020B0604020202020204"/>
                <a:cs typeface="Helvetica" panose="020B0604020202020204"/>
              </a:rPr>
              <a:t>Implement the </a:t>
            </a:r>
            <a:r>
              <a:rPr lang="en-US" dirty="0">
                <a:latin typeface="Consolas" panose="020B0609020204030204" pitchFamily="49" charset="0"/>
                <a:cs typeface="Helvetica" panose="020B0604020202020204"/>
              </a:rPr>
              <a:t>visit</a:t>
            </a:r>
            <a:r>
              <a:rPr lang="en-US" dirty="0">
                <a:latin typeface="Helvetica" panose="020B0604020202020204"/>
                <a:cs typeface="Helvetica" panose="020B0604020202020204"/>
              </a:rPr>
              <a:t> method for each shape</a:t>
            </a:r>
          </a:p>
          <a:p>
            <a:r>
              <a:rPr lang="en-US" dirty="0" err="1">
                <a:latin typeface="Consolas" panose="020B0609020204030204" pitchFamily="49" charset="0"/>
              </a:rPr>
              <a:t>TranslationVisitor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110B8713-CE21-84BB-81A3-9942450FA302}"/>
              </a:ext>
            </a:extLst>
          </p:cNvPr>
          <p:cNvSpPr/>
          <p:nvPr/>
        </p:nvSpPr>
        <p:spPr>
          <a:xfrm>
            <a:off x="6424862" y="2277979"/>
            <a:ext cx="5542247" cy="24785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16898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AEC57-CB25-0A29-E350-8B127A62A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E38B1B-A3CC-E961-DDBF-57CA93367519}"/>
              </a:ext>
            </a:extLst>
          </p:cNvPr>
          <p:cNvSpPr>
            <a:spLocks noGrp="1"/>
          </p:cNvSpPr>
          <p:nvPr>
            <p:ph idx="1"/>
          </p:nvPr>
        </p:nvSpPr>
        <p:spPr/>
        <p:txBody>
          <a:bodyPr>
            <a:normAutofit/>
          </a:bodyPr>
          <a:lstStyle/>
          <a:p>
            <a:r>
              <a:rPr lang="en-US" dirty="0"/>
              <a:t>class </a:t>
            </a:r>
            <a:r>
              <a:rPr lang="en-US" dirty="0" err="1"/>
              <a:t>ScalingVisitor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ScalingVisitor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 do scaling</a:t>
            </a:r>
          </a:p>
          <a:p>
            <a:r>
              <a:rPr lang="en-US" dirty="0"/>
              <a:t>	}</a:t>
            </a:r>
          </a:p>
          <a:p>
            <a:endParaRPr lang="en-US" dirty="0"/>
          </a:p>
          <a:p>
            <a:r>
              <a:rPr lang="en-US" dirty="0"/>
              <a:t>    	@Override</a:t>
            </a:r>
          </a:p>
          <a:p>
            <a:r>
              <a:rPr lang="en-US" dirty="0"/>
              <a:t>    	public void visit(Rectangle rectangle) {</a:t>
            </a:r>
          </a:p>
          <a:p>
            <a:r>
              <a:rPr lang="en-US" dirty="0"/>
              <a:t>		// scale!!!</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0BD98798-05F6-F07D-61B3-A9A880AB116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380F4B8F-FC0A-D802-41C3-AC921BBA39C1}"/>
              </a:ext>
            </a:extLst>
          </p:cNvPr>
          <p:cNvSpPr>
            <a:spLocks noGrp="1"/>
          </p:cNvSpPr>
          <p:nvPr>
            <p:ph idx="13"/>
          </p:nvPr>
        </p:nvSpPr>
        <p:spPr/>
        <p:txBody>
          <a:bodyPr/>
          <a:lstStyle/>
          <a:p>
            <a:r>
              <a:rPr lang="en-US" dirty="0" err="1">
                <a:latin typeface="Consolas" panose="020B0609020204030204" pitchFamily="49" charset="0"/>
              </a:rPr>
              <a:t>ScalingVisitor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BCB6D458-74D7-AB6B-8284-DE952792D18C}"/>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89752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D6866D56-3C3A-5D0A-BEE9-CF4178229849}"/>
              </a:ext>
            </a:extLst>
          </p:cNvPr>
          <p:cNvSpPr>
            <a:spLocks noGrp="1"/>
          </p:cNvSpPr>
          <p:nvPr>
            <p:ph idx="1"/>
          </p:nvPr>
        </p:nvSpPr>
        <p:spPr>
          <a:xfrm>
            <a:off x="6176512" y="785004"/>
            <a:ext cx="5633413" cy="5046453"/>
          </a:xfrm>
        </p:spPr>
        <p:txBody>
          <a:bodyPr>
            <a:normAutofit fontScale="92500" lnSpcReduction="10000"/>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public void visit(Rectangle rectangle) {</a:t>
            </a:r>
          </a:p>
          <a:p>
            <a:r>
              <a:rPr lang="en-US" dirty="0"/>
              <a:t>		// translate 4 points</a:t>
            </a:r>
          </a:p>
          <a:p>
            <a:r>
              <a:rPr lang="en-US" dirty="0"/>
              <a:t>    	}</a:t>
            </a:r>
          </a:p>
          <a:p>
            <a:endParaRPr lang="en-US" dirty="0"/>
          </a:p>
          <a:p>
            <a:r>
              <a:rPr lang="en-US" dirty="0"/>
              <a:t>}</a:t>
            </a:r>
          </a:p>
          <a:p>
            <a:endParaRPr lang="en-US" dirty="0"/>
          </a:p>
          <a:p>
            <a:r>
              <a:rPr lang="en-US" dirty="0"/>
              <a:t>Rectangle </a:t>
            </a:r>
            <a:r>
              <a:rPr lang="en-US" dirty="0" err="1"/>
              <a:t>rect</a:t>
            </a:r>
            <a:r>
              <a:rPr lang="en-US" dirty="0"/>
              <a:t> = new …; </a:t>
            </a:r>
          </a:p>
          <a:p>
            <a:r>
              <a:rPr lang="en-US" dirty="0"/>
              <a:t>Triangle </a:t>
            </a:r>
            <a:r>
              <a:rPr lang="en-US" dirty="0" err="1"/>
              <a:t>tria</a:t>
            </a:r>
            <a:r>
              <a:rPr lang="en-US" dirty="0"/>
              <a:t> = new …;</a:t>
            </a:r>
          </a:p>
          <a:p>
            <a:r>
              <a:rPr lang="en-US" dirty="0" err="1"/>
              <a:t>CompoundShape</a:t>
            </a:r>
            <a:r>
              <a:rPr lang="en-US" dirty="0"/>
              <a:t> </a:t>
            </a:r>
            <a:r>
              <a:rPr lang="en-US" dirty="0" err="1"/>
              <a:t>cShape</a:t>
            </a:r>
            <a:r>
              <a:rPr lang="en-US" dirty="0"/>
              <a:t> = new ...;</a:t>
            </a:r>
          </a:p>
          <a:p>
            <a:r>
              <a:rPr lang="en-US" dirty="0" err="1"/>
              <a:t>cShape.setShapeList</a:t>
            </a:r>
            <a:r>
              <a:rPr lang="en-US" dirty="0"/>
              <a:t>(new </a:t>
            </a:r>
            <a:r>
              <a:rPr lang="en-US" dirty="0" err="1"/>
              <a:t>ArrayList</a:t>
            </a:r>
            <a:r>
              <a:rPr lang="en-US" dirty="0"/>
              <a:t>(</a:t>
            </a:r>
            <a:r>
              <a:rPr lang="en-US" dirty="0" err="1"/>
              <a:t>rect</a:t>
            </a:r>
            <a:r>
              <a:rPr lang="en-US" dirty="0"/>
              <a:t>, </a:t>
            </a:r>
            <a:r>
              <a:rPr lang="en-US" dirty="0" err="1"/>
              <a:t>tria</a:t>
            </a:r>
            <a:r>
              <a:rPr lang="en-US" dirty="0"/>
              <a:t>));</a:t>
            </a:r>
          </a:p>
          <a:p>
            <a:r>
              <a:rPr lang="en-US" dirty="0"/>
              <a:t>Visitor </a:t>
            </a:r>
            <a:r>
              <a:rPr lang="en-US" dirty="0" err="1"/>
              <a:t>translationVisitor</a:t>
            </a:r>
            <a:r>
              <a:rPr lang="en-US" dirty="0"/>
              <a:t> = new </a:t>
            </a:r>
            <a:r>
              <a:rPr lang="en-US" dirty="0" err="1"/>
              <a:t>TranslationVisitor</a:t>
            </a:r>
            <a:r>
              <a:rPr lang="en-US" dirty="0"/>
              <a:t>();</a:t>
            </a:r>
          </a:p>
          <a:p>
            <a:r>
              <a:rPr lang="en-US" dirty="0" err="1"/>
              <a:t>translationVisitor.visit</a:t>
            </a:r>
            <a:r>
              <a:rPr lang="en-US" dirty="0"/>
              <a:t>(</a:t>
            </a:r>
            <a:r>
              <a:rPr lang="en-US" dirty="0" err="1"/>
              <a:t>cShape</a:t>
            </a:r>
            <a:r>
              <a:rPr lang="en-US" dirty="0"/>
              <a:t>);</a:t>
            </a:r>
          </a:p>
          <a:p>
            <a:endParaRPr lang="en-US" dirty="0"/>
          </a:p>
        </p:txBody>
      </p:sp>
      <p:sp>
        <p:nvSpPr>
          <p:cNvPr id="3" name="Title 2">
            <a:extLst>
              <a:ext uri="{FF2B5EF4-FFF2-40B4-BE49-F238E27FC236}">
                <a16:creationId xmlns:a16="http://schemas.microsoft.com/office/drawing/2014/main" id="{C2D34B80-F500-EC19-ACFF-5836BFA205D0}"/>
              </a:ext>
            </a:extLst>
          </p:cNvPr>
          <p:cNvSpPr>
            <a:spLocks noGrp="1"/>
          </p:cNvSpPr>
          <p:nvPr>
            <p:ph type="title"/>
          </p:nvPr>
        </p:nvSpPr>
        <p:spPr>
          <a:xfrm>
            <a:off x="0" y="0"/>
            <a:ext cx="12192000" cy="696277"/>
          </a:xfrm>
        </p:spPr>
        <p:txBody>
          <a:bodyPr wrap="square" anchor="b">
            <a:normAutofit/>
          </a:bodyPr>
          <a:lstStyle/>
          <a:p>
            <a:r>
              <a:rPr lang="en-US" dirty="0"/>
              <a:t>Visitor pattern – full code</a:t>
            </a:r>
          </a:p>
        </p:txBody>
      </p:sp>
      <p:sp>
        <p:nvSpPr>
          <p:cNvPr id="10" name="Content Placeholder 3">
            <a:extLst>
              <a:ext uri="{FF2B5EF4-FFF2-40B4-BE49-F238E27FC236}">
                <a16:creationId xmlns:a16="http://schemas.microsoft.com/office/drawing/2014/main" id="{B69274DA-0B7C-A30D-A4DF-CDB1A3368F52}"/>
              </a:ext>
            </a:extLst>
          </p:cNvPr>
          <p:cNvSpPr>
            <a:spLocks noGrp="1"/>
          </p:cNvSpPr>
          <p:nvPr>
            <p:ph idx="14"/>
          </p:nvPr>
        </p:nvSpPr>
        <p:spPr>
          <a:xfrm>
            <a:off x="369276" y="785004"/>
            <a:ext cx="5633413" cy="5046453"/>
          </a:xfrm>
        </p:spPr>
        <p:txBody>
          <a:bodyPr>
            <a:normAutofit fontScale="77500" lnSpcReduction="20000"/>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6" name="Rectangle 5">
            <a:extLst>
              <a:ext uri="{FF2B5EF4-FFF2-40B4-BE49-F238E27FC236}">
                <a16:creationId xmlns:a16="http://schemas.microsoft.com/office/drawing/2014/main" id="{123B9559-BCB0-1042-40FB-1010F205970F}"/>
              </a:ext>
            </a:extLst>
          </p:cNvPr>
          <p:cNvSpPr/>
          <p:nvPr/>
        </p:nvSpPr>
        <p:spPr>
          <a:xfrm>
            <a:off x="0" y="1014750"/>
            <a:ext cx="5871110" cy="56786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CC3A39EC-792B-9752-1EED-B789017BEA5F}"/>
              </a:ext>
            </a:extLst>
          </p:cNvPr>
          <p:cNvSpPr txBox="1"/>
          <p:nvPr/>
        </p:nvSpPr>
        <p:spPr>
          <a:xfrm>
            <a:off x="27284" y="2220764"/>
            <a:ext cx="5116593" cy="400110"/>
          </a:xfrm>
          <a:prstGeom prst="rect">
            <a:avLst/>
          </a:prstGeom>
          <a:noFill/>
        </p:spPr>
        <p:txBody>
          <a:bodyPr wrap="none" rtlCol="0">
            <a:spAutoFit/>
          </a:bodyPr>
          <a:lstStyle/>
          <a:p>
            <a:r>
              <a:rPr lang="en-US" sz="2000" b="1" i="1" dirty="0"/>
              <a:t>accept invokes the visitor on the current object</a:t>
            </a:r>
          </a:p>
        </p:txBody>
      </p:sp>
      <p:sp>
        <p:nvSpPr>
          <p:cNvPr id="9" name="Rectangle 8">
            <a:extLst>
              <a:ext uri="{FF2B5EF4-FFF2-40B4-BE49-F238E27FC236}">
                <a16:creationId xmlns:a16="http://schemas.microsoft.com/office/drawing/2014/main" id="{9C8D9F0C-211B-99D2-4CF5-E2337B2CE579}"/>
              </a:ext>
            </a:extLst>
          </p:cNvPr>
          <p:cNvSpPr/>
          <p:nvPr/>
        </p:nvSpPr>
        <p:spPr>
          <a:xfrm>
            <a:off x="36334" y="3701412"/>
            <a:ext cx="5871110" cy="213004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6AD060DE-DC58-0F26-D822-505DC8813356}"/>
              </a:ext>
            </a:extLst>
          </p:cNvPr>
          <p:cNvSpPr txBox="1"/>
          <p:nvPr/>
        </p:nvSpPr>
        <p:spPr>
          <a:xfrm>
            <a:off x="549027" y="5089187"/>
            <a:ext cx="5201232" cy="707886"/>
          </a:xfrm>
          <a:prstGeom prst="rect">
            <a:avLst/>
          </a:prstGeom>
          <a:noFill/>
        </p:spPr>
        <p:txBody>
          <a:bodyPr wrap="square" rtlCol="0">
            <a:spAutoFit/>
          </a:bodyPr>
          <a:lstStyle/>
          <a:p>
            <a:r>
              <a:rPr lang="en-US" sz="2000" b="1" i="1" dirty="0"/>
              <a:t>Abstract visitor defines overloaded visit method for each shape. Abstracts the visiting logic</a:t>
            </a:r>
          </a:p>
        </p:txBody>
      </p:sp>
      <p:sp>
        <p:nvSpPr>
          <p:cNvPr id="12" name="Rectangle 11">
            <a:extLst>
              <a:ext uri="{FF2B5EF4-FFF2-40B4-BE49-F238E27FC236}">
                <a16:creationId xmlns:a16="http://schemas.microsoft.com/office/drawing/2014/main" id="{F3456103-4D06-8FD4-9CDD-56A4E4ADB1C1}"/>
              </a:ext>
            </a:extLst>
          </p:cNvPr>
          <p:cNvSpPr/>
          <p:nvPr/>
        </p:nvSpPr>
        <p:spPr>
          <a:xfrm>
            <a:off x="6096000" y="696276"/>
            <a:ext cx="5871110" cy="288434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3" name="TextBox 12">
            <a:extLst>
              <a:ext uri="{FF2B5EF4-FFF2-40B4-BE49-F238E27FC236}">
                <a16:creationId xmlns:a16="http://schemas.microsoft.com/office/drawing/2014/main" id="{D7DE0BCC-7DDB-F823-F41C-D233BA3925B5}"/>
              </a:ext>
            </a:extLst>
          </p:cNvPr>
          <p:cNvSpPr txBox="1"/>
          <p:nvPr/>
        </p:nvSpPr>
        <p:spPr>
          <a:xfrm>
            <a:off x="6608693" y="3528638"/>
            <a:ext cx="5201232" cy="707886"/>
          </a:xfrm>
          <a:prstGeom prst="rect">
            <a:avLst/>
          </a:prstGeom>
          <a:noFill/>
        </p:spPr>
        <p:txBody>
          <a:bodyPr wrap="square" rtlCol="0">
            <a:spAutoFit/>
          </a:bodyPr>
          <a:lstStyle/>
          <a:p>
            <a:r>
              <a:rPr lang="en-US" sz="2000" b="1" i="1" dirty="0"/>
              <a:t>Concrete visitor defines behavior of visitor for each shape</a:t>
            </a:r>
          </a:p>
        </p:txBody>
      </p:sp>
      <p:sp>
        <p:nvSpPr>
          <p:cNvPr id="14" name="Rectangle 13">
            <a:extLst>
              <a:ext uri="{FF2B5EF4-FFF2-40B4-BE49-F238E27FC236}">
                <a16:creationId xmlns:a16="http://schemas.microsoft.com/office/drawing/2014/main" id="{54C627D9-FE09-B6CA-F065-D7B79A9E1261}"/>
              </a:ext>
            </a:extLst>
          </p:cNvPr>
          <p:cNvSpPr/>
          <p:nvPr/>
        </p:nvSpPr>
        <p:spPr>
          <a:xfrm>
            <a:off x="6002689" y="4236525"/>
            <a:ext cx="5871110" cy="168366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240106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p:bldP spid="7" grpId="1"/>
      <p:bldP spid="9" grpId="0" animBg="1"/>
      <p:bldP spid="9" grpId="1" animBg="1"/>
      <p:bldP spid="11" grpId="0"/>
      <p:bldP spid="11" grpId="1"/>
      <p:bldP spid="12" grpId="0" animBg="1"/>
      <p:bldP spid="12" grpId="1" animBg="1"/>
      <p:bldP spid="13" grpId="0"/>
      <p:bldP spid="13" grpId="1"/>
      <p:bldP spid="14" grpId="0" animBg="1"/>
      <p:bldP spid="14" grpId="1"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lnSpcReduction="10000"/>
          </a:bodyPr>
          <a:lstStyle/>
          <a:p>
            <a:r>
              <a:rPr lang="en-US" dirty="0"/>
              <a:t>Allows adding new operations to a group of related objects without modifying their structure</a:t>
            </a:r>
          </a:p>
          <a:p>
            <a:r>
              <a:rPr lang="en-US" dirty="0"/>
              <a:t>Separates operations (behavior) from the object structure (elements) they act upon</a:t>
            </a:r>
          </a:p>
          <a:p>
            <a:r>
              <a:rPr lang="en-US" dirty="0"/>
              <a:t>Makes it easy to add operations after class is created</a:t>
            </a:r>
            <a:endParaRPr lang="en-US" b="1" i="1" dirty="0"/>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D2BAA-B31A-88DA-8D84-A2EA9ED39733}"/>
              </a:ext>
            </a:extLst>
          </p:cNvPr>
          <p:cNvSpPr>
            <a:spLocks noGrp="1"/>
          </p:cNvSpPr>
          <p:nvPr>
            <p:ph idx="1"/>
          </p:nvPr>
        </p:nvSpPr>
        <p:spPr/>
        <p:txBody>
          <a:bodyPr/>
          <a:lstStyle/>
          <a:p>
            <a:r>
              <a:rPr lang="en-US" dirty="0"/>
              <a:t>abstract class </a:t>
            </a:r>
            <a:r>
              <a:rPr lang="en-US" dirty="0" err="1"/>
              <a:t>ASTNode</a:t>
            </a:r>
            <a:r>
              <a:rPr lang="en-US" dirty="0"/>
              <a:t> {</a:t>
            </a:r>
          </a:p>
          <a:p>
            <a:r>
              <a:rPr lang="en-US" dirty="0"/>
              <a:t>	void accept(</a:t>
            </a:r>
            <a:r>
              <a:rPr lang="en-US" dirty="0" err="1"/>
              <a:t>ASTVisitor</a:t>
            </a:r>
            <a:r>
              <a:rPr lang="en-US" dirty="0"/>
              <a:t> visitor);</a:t>
            </a:r>
          </a:p>
          <a:p>
            <a:r>
              <a:rPr lang="en-US" dirty="0"/>
              <a:t>}</a:t>
            </a:r>
            <a:br>
              <a:rPr lang="en-US" dirty="0"/>
            </a:br>
            <a:br>
              <a:rPr lang="en-US" dirty="0"/>
            </a:br>
            <a:r>
              <a:rPr lang="en-US" dirty="0"/>
              <a:t>class </a:t>
            </a:r>
            <a:r>
              <a:rPr lang="en-US" dirty="0" err="1"/>
              <a:t>DeclStmt</a:t>
            </a:r>
            <a:r>
              <a:rPr lang="en-US" dirty="0"/>
              <a:t> extends </a:t>
            </a:r>
            <a:r>
              <a:rPr lang="en-US" dirty="0" err="1"/>
              <a:t>ASTNode</a:t>
            </a:r>
            <a:r>
              <a:rPr lang="en-US" dirty="0"/>
              <a:t> {</a:t>
            </a:r>
          </a:p>
          <a:p>
            <a:r>
              <a:rPr lang="en-US" dirty="0"/>
              <a:t>	/// … fields and getters/setters</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a:t>
            </a:r>
            <a:r>
              <a:rPr lang="en-US" dirty="0" err="1"/>
              <a:t>BinaryOperator</a:t>
            </a:r>
            <a:r>
              <a:rPr lang="en-US" dirty="0"/>
              <a:t> extends </a:t>
            </a:r>
            <a:r>
              <a:rPr lang="en-US" dirty="0" err="1"/>
              <a:t>ASTNode</a:t>
            </a:r>
            <a:r>
              <a:rPr lang="en-US" dirty="0"/>
              <a:t> {</a:t>
            </a:r>
          </a:p>
          <a:p>
            <a:r>
              <a:rPr lang="en-US" dirty="0"/>
              <a:t>	private </a:t>
            </a:r>
            <a:r>
              <a:rPr lang="en-US" dirty="0" err="1"/>
              <a:t>ASTNode</a:t>
            </a:r>
            <a:r>
              <a:rPr lang="en-US" dirty="0"/>
              <a:t> </a:t>
            </a:r>
            <a:r>
              <a:rPr lang="en-US" dirty="0" err="1"/>
              <a:t>leftNode</a:t>
            </a:r>
            <a:r>
              <a:rPr lang="en-US" dirty="0"/>
              <a:t>;</a:t>
            </a:r>
          </a:p>
          <a:p>
            <a:r>
              <a:rPr lang="en-US" dirty="0"/>
              <a:t>	private </a:t>
            </a:r>
            <a:r>
              <a:rPr lang="en-US" dirty="0" err="1"/>
              <a:t>ASTNode</a:t>
            </a:r>
            <a:r>
              <a:rPr lang="en-US" dirty="0"/>
              <a:t> </a:t>
            </a:r>
            <a:r>
              <a:rPr lang="en-US" dirty="0" err="1"/>
              <a:t>rightNode</a:t>
            </a:r>
            <a:r>
              <a:rPr lang="en-US" dirty="0"/>
              <a:t>;</a:t>
            </a:r>
          </a:p>
          <a:p>
            <a:endParaRPr lang="en-US" dirty="0"/>
          </a:p>
          <a:p>
            <a:r>
              <a:rPr lang="en-US" dirty="0"/>
              <a:t>	void accept(</a:t>
            </a:r>
            <a:r>
              <a:rPr lang="en-US" dirty="0" err="1"/>
              <a:t>ASTVisitor</a:t>
            </a:r>
            <a:r>
              <a:rPr lang="en-US" dirty="0"/>
              <a:t> visitor) {</a:t>
            </a:r>
          </a:p>
          <a:p>
            <a:r>
              <a:rPr lang="en-US" dirty="0"/>
              <a:t>		</a:t>
            </a:r>
            <a:r>
              <a:rPr lang="en-US" dirty="0" err="1"/>
              <a:t>visitor.visit</a:t>
            </a:r>
            <a:r>
              <a:rPr lang="en-US" dirty="0"/>
              <a:t>(</a:t>
            </a:r>
            <a:r>
              <a:rPr lang="en-US" dirty="0" err="1"/>
              <a:t>this.leftNode</a:t>
            </a:r>
            <a:r>
              <a:rPr lang="en-US" dirty="0"/>
              <a:t>);</a:t>
            </a:r>
          </a:p>
          <a:p>
            <a:r>
              <a:rPr lang="en-US" dirty="0"/>
              <a:t>		</a:t>
            </a:r>
            <a:r>
              <a:rPr lang="en-US" dirty="0" err="1"/>
              <a:t>visitor.visit</a:t>
            </a:r>
            <a:r>
              <a:rPr lang="en-US" dirty="0"/>
              <a:t>(</a:t>
            </a:r>
            <a:r>
              <a:rPr lang="en-US" dirty="0" err="1"/>
              <a:t>this.rightNode</a:t>
            </a:r>
            <a:r>
              <a:rPr lang="en-US" dirty="0"/>
              <a:t>);</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717EBCB-2841-939E-EE16-1EEBE2258C7D}"/>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3DCDE81A-B316-F22E-49F7-2B50C820728B}"/>
              </a:ext>
            </a:extLst>
          </p:cNvPr>
          <p:cNvSpPr>
            <a:spLocks noGrp="1"/>
          </p:cNvSpPr>
          <p:nvPr>
            <p:ph idx="13"/>
          </p:nvPr>
        </p:nvSpPr>
        <p:spPr/>
        <p:txBody>
          <a:bodyPr/>
          <a:lstStyle/>
          <a:p>
            <a:r>
              <a:rPr lang="en-US" dirty="0"/>
              <a:t>Create an abstract class to represent an AST node with an abstract </a:t>
            </a:r>
            <a:r>
              <a:rPr lang="en-US" dirty="0">
                <a:latin typeface="Consolas" panose="020B0609020204030204" pitchFamily="49" charset="0"/>
              </a:rPr>
              <a:t>accept</a:t>
            </a:r>
            <a:r>
              <a:rPr lang="en-US" dirty="0"/>
              <a:t> method</a:t>
            </a:r>
          </a:p>
          <a:p>
            <a:r>
              <a:rPr lang="en-US" dirty="0"/>
              <a:t>Create concrete subclasses with concrete </a:t>
            </a:r>
            <a:r>
              <a:rPr lang="en-US" dirty="0">
                <a:latin typeface="Consolas" panose="020B0609020204030204" pitchFamily="49" charset="0"/>
              </a:rPr>
              <a:t>accept</a:t>
            </a:r>
            <a:r>
              <a:rPr lang="en-US" dirty="0"/>
              <a:t> methods</a:t>
            </a:r>
          </a:p>
        </p:txBody>
      </p:sp>
    </p:spTree>
    <p:extLst>
      <p:ext uri="{BB962C8B-B14F-4D97-AF65-F5344CB8AC3E}">
        <p14:creationId xmlns:p14="http://schemas.microsoft.com/office/powerpoint/2010/main" val="44363313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2FBAB-6334-5C5D-DACD-E24597BB7A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64AB71-7940-7BAA-E9FD-D2121027356C}"/>
              </a:ext>
            </a:extLst>
          </p:cNvPr>
          <p:cNvSpPr>
            <a:spLocks noGrp="1"/>
          </p:cNvSpPr>
          <p:nvPr>
            <p:ph idx="1"/>
          </p:nvPr>
        </p:nvSpPr>
        <p:spPr/>
        <p:txBody>
          <a:bodyPr>
            <a:normAutofit fontScale="92500" lnSpcReduction="20000"/>
          </a:bodyPr>
          <a:lstStyle/>
          <a:p>
            <a:r>
              <a:rPr lang="en-US" dirty="0"/>
              <a:t>abstract class </a:t>
            </a:r>
            <a:r>
              <a:rPr lang="en-US" dirty="0" err="1"/>
              <a:t>ASTVisitor</a:t>
            </a:r>
            <a:r>
              <a:rPr lang="en-US" dirty="0"/>
              <a:t> {</a:t>
            </a:r>
            <a:br>
              <a:rPr lang="en-US" dirty="0"/>
            </a:br>
            <a:r>
              <a:rPr lang="en-US" dirty="0"/>
              <a:t> void visit(</a:t>
            </a:r>
            <a:r>
              <a:rPr lang="en-US" dirty="0" err="1"/>
              <a:t>DeclStmt</a:t>
            </a:r>
            <a:r>
              <a:rPr lang="en-US" dirty="0"/>
              <a:t> </a:t>
            </a:r>
            <a:r>
              <a:rPr lang="en-US" dirty="0" err="1"/>
              <a:t>stmt</a:t>
            </a:r>
            <a:r>
              <a:rPr lang="en-US" dirty="0"/>
              <a:t>);</a:t>
            </a:r>
            <a:br>
              <a:rPr lang="en-US" dirty="0"/>
            </a:br>
            <a:r>
              <a:rPr lang="en-US" dirty="0"/>
              <a:t> void visit(</a:t>
            </a:r>
            <a:r>
              <a:rPr lang="en-US" dirty="0" err="1"/>
              <a:t>BinaryOperator</a:t>
            </a:r>
            <a:r>
              <a:rPr lang="en-US" dirty="0"/>
              <a:t> op);</a:t>
            </a:r>
          </a:p>
          <a:p>
            <a:r>
              <a:rPr lang="en-US" dirty="0"/>
              <a:t> void visit(</a:t>
            </a:r>
            <a:r>
              <a:rPr lang="en-US" dirty="0" err="1"/>
              <a:t>BinaryOperator</a:t>
            </a:r>
            <a:r>
              <a:rPr lang="en-US" dirty="0"/>
              <a:t> op) {</a:t>
            </a:r>
          </a:p>
          <a:p>
            <a:r>
              <a:rPr lang="en-US" dirty="0"/>
              <a:t>	</a:t>
            </a:r>
            <a:r>
              <a:rPr lang="en-US" dirty="0" err="1"/>
              <a:t>op.getLeft</a:t>
            </a:r>
            <a:r>
              <a:rPr lang="en-US" dirty="0"/>
              <a:t>().accept(this);</a:t>
            </a:r>
          </a:p>
          <a:p>
            <a:r>
              <a:rPr lang="en-US" dirty="0"/>
              <a:t>	</a:t>
            </a:r>
            <a:r>
              <a:rPr lang="en-US" dirty="0" err="1"/>
              <a:t>op.getRight</a:t>
            </a:r>
            <a:r>
              <a:rPr lang="en-US" dirty="0"/>
              <a:t>().accept(this);</a:t>
            </a:r>
          </a:p>
          <a:p>
            <a:r>
              <a:rPr lang="en-US" dirty="0"/>
              <a:t> }</a:t>
            </a:r>
          </a:p>
          <a:p>
            <a:r>
              <a:rPr lang="en-US" dirty="0"/>
              <a:t>}</a:t>
            </a:r>
          </a:p>
          <a:p>
            <a:endParaRPr lang="en-US" dirty="0"/>
          </a:p>
          <a:p>
            <a:r>
              <a:rPr lang="en-US" dirty="0"/>
              <a:t>class </a:t>
            </a:r>
            <a:r>
              <a:rPr lang="en-US" dirty="0" err="1"/>
              <a:t>CodeGenVisitor</a:t>
            </a:r>
            <a:r>
              <a:rPr lang="en-US" dirty="0"/>
              <a:t> extends </a:t>
            </a:r>
            <a:r>
              <a:rPr lang="en-US" dirty="0" err="1"/>
              <a:t>ASTVisitor</a:t>
            </a:r>
            <a:r>
              <a:rPr lang="en-US" dirty="0"/>
              <a:t> {</a:t>
            </a:r>
          </a:p>
          <a:p>
            <a:r>
              <a:rPr lang="en-US" dirty="0"/>
              <a:t> private String </a:t>
            </a:r>
            <a:r>
              <a:rPr lang="en-US" dirty="0" err="1"/>
              <a:t>generatedBinaryCode</a:t>
            </a:r>
            <a:r>
              <a:rPr lang="en-US" dirty="0"/>
              <a:t>;</a:t>
            </a:r>
          </a:p>
          <a:p>
            <a:endParaRPr lang="en-US" dirty="0"/>
          </a:p>
          <a:p>
            <a:r>
              <a:rPr lang="en-US" dirty="0"/>
              <a:t> void visit(</a:t>
            </a:r>
            <a:r>
              <a:rPr lang="en-US" dirty="0" err="1"/>
              <a:t>DeclStmt</a:t>
            </a:r>
            <a:r>
              <a:rPr lang="en-US" dirty="0"/>
              <a:t> </a:t>
            </a:r>
            <a:r>
              <a:rPr lang="en-US" dirty="0" err="1"/>
              <a:t>declStmt</a:t>
            </a:r>
            <a:r>
              <a:rPr lang="en-US" dirty="0"/>
              <a:t>) {</a:t>
            </a:r>
          </a:p>
          <a:p>
            <a:r>
              <a:rPr lang="en-US" dirty="0"/>
              <a:t>	// Create space on the stack</a:t>
            </a:r>
          </a:p>
          <a:p>
            <a:r>
              <a:rPr lang="en-US" dirty="0"/>
              <a:t>	</a:t>
            </a:r>
            <a:r>
              <a:rPr lang="en-US" dirty="0" err="1"/>
              <a:t>generatedBinaryCode.append</a:t>
            </a:r>
            <a:r>
              <a:rPr lang="en-US" dirty="0"/>
              <a:t>(“sub </a:t>
            </a:r>
            <a:r>
              <a:rPr lang="en-US" dirty="0" err="1"/>
              <a:t>rsp</a:t>
            </a:r>
            <a:r>
              <a:rPr lang="en-US" dirty="0"/>
              <a:t>,” + </a:t>
            </a:r>
            <a:r>
              <a:rPr lang="en-US" dirty="0" err="1"/>
              <a:t>declStmt.getSize</a:t>
            </a:r>
            <a:r>
              <a:rPr lang="en-US" dirty="0"/>
              <a:t>());		</a:t>
            </a:r>
          </a:p>
          <a:p>
            <a:r>
              <a:rPr lang="en-US" dirty="0"/>
              <a:t> }</a:t>
            </a:r>
          </a:p>
          <a:p>
            <a:endParaRPr lang="en-US" dirty="0"/>
          </a:p>
          <a:p>
            <a:r>
              <a:rPr lang="en-US" dirty="0"/>
              <a:t> void visit(</a:t>
            </a:r>
            <a:r>
              <a:rPr lang="en-US" dirty="0" err="1"/>
              <a:t>BinaryOperator</a:t>
            </a:r>
            <a:r>
              <a:rPr lang="en-US" dirty="0"/>
              <a:t> op) {</a:t>
            </a:r>
          </a:p>
          <a:p>
            <a:r>
              <a:rPr lang="en-US" dirty="0"/>
              <a:t>	</a:t>
            </a:r>
            <a:r>
              <a:rPr lang="en-US" dirty="0" err="1"/>
              <a:t>super.visit</a:t>
            </a:r>
            <a:r>
              <a:rPr lang="en-US" dirty="0"/>
              <a:t>(op);</a:t>
            </a:r>
          </a:p>
          <a:p>
            <a:r>
              <a:rPr lang="en-US" dirty="0"/>
              <a:t>	switch(</a:t>
            </a:r>
            <a:r>
              <a:rPr lang="en-US" dirty="0" err="1"/>
              <a:t>op.getKind</a:t>
            </a:r>
            <a:r>
              <a:rPr lang="en-US" dirty="0"/>
              <a:t>()) {</a:t>
            </a:r>
          </a:p>
          <a:p>
            <a:r>
              <a:rPr lang="en-US" dirty="0"/>
              <a:t>		case “+”: ///; </a:t>
            </a:r>
          </a:p>
          <a:p>
            <a:r>
              <a:rPr lang="en-US" dirty="0"/>
              <a:t>		case “-”: ///;</a:t>
            </a:r>
          </a:p>
          <a:p>
            <a:r>
              <a:rPr lang="en-US" dirty="0"/>
              <a:t>	}</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250C009-2447-C8BF-7C6E-E60107AABE58}"/>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FC7CC83C-025D-4991-B73C-76CD5FFED4CC}"/>
              </a:ext>
            </a:extLst>
          </p:cNvPr>
          <p:cNvSpPr>
            <a:spLocks noGrp="1"/>
          </p:cNvSpPr>
          <p:nvPr>
            <p:ph idx="13"/>
          </p:nvPr>
        </p:nvSpPr>
        <p:spPr/>
        <p:txBody>
          <a:bodyPr/>
          <a:lstStyle/>
          <a:p>
            <a:r>
              <a:rPr lang="en-US" dirty="0"/>
              <a:t>Define an abstract class </a:t>
            </a:r>
            <a:r>
              <a:rPr lang="en-US" dirty="0" err="1">
                <a:latin typeface="Consolas" panose="020B0609020204030204" pitchFamily="49" charset="0"/>
              </a:rPr>
              <a:t>ASTVisitor</a:t>
            </a:r>
            <a:endParaRPr lang="en-US" dirty="0">
              <a:latin typeface="Consolas" panose="020B0609020204030204" pitchFamily="49" charset="0"/>
            </a:endParaRPr>
          </a:p>
          <a:p>
            <a:r>
              <a:rPr lang="en-US" dirty="0"/>
              <a:t>Define concrete visitors subclasses </a:t>
            </a:r>
            <a:r>
              <a:rPr lang="en-US" dirty="0" err="1">
                <a:latin typeface="Consolas" panose="020B0609020204030204" pitchFamily="49" charset="0"/>
              </a:rPr>
              <a:t>ASTVisitor</a:t>
            </a:r>
            <a:endParaRPr lang="en-US" dirty="0">
              <a:latin typeface="Consolas" panose="020B0609020204030204" pitchFamily="49" charset="0"/>
            </a:endParaRPr>
          </a:p>
        </p:txBody>
      </p:sp>
    </p:spTree>
    <p:extLst>
      <p:ext uri="{BB962C8B-B14F-4D97-AF65-F5344CB8AC3E}">
        <p14:creationId xmlns:p14="http://schemas.microsoft.com/office/powerpoint/2010/main" val="46036642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Composite, Decorator, Bridge, Facade, Flyweight</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828AE5-AC81-B8D1-913E-02591C7E82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D95FF0-F82E-A398-C93E-376D7A7F342A}"/>
              </a:ext>
            </a:extLst>
          </p:cNvPr>
          <p:cNvSpPr>
            <a:spLocks noGrp="1"/>
          </p:cNvSpPr>
          <p:nvPr>
            <p:ph idx="1"/>
          </p:nvPr>
        </p:nvSpPr>
        <p:spPr/>
        <p:txBody>
          <a:bodyPr>
            <a:normAutofit fontScale="85000" lnSpcReduction="20000"/>
          </a:bodyPr>
          <a:lstStyle/>
          <a:p>
            <a:r>
              <a:rPr lang="en-US" dirty="0"/>
              <a:t>abstract class </a:t>
            </a:r>
            <a:r>
              <a:rPr lang="en-US" dirty="0" err="1"/>
              <a:t>TreeNode</a:t>
            </a:r>
            <a:r>
              <a:rPr lang="en-US" dirty="0"/>
              <a:t> {</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 concrete subclasses for AST nodes</a:t>
            </a:r>
          </a:p>
          <a:p>
            <a:r>
              <a:rPr lang="en-US" dirty="0"/>
              <a:t>class Literal extends </a:t>
            </a:r>
            <a:r>
              <a:rPr lang="en-US" dirty="0" err="1"/>
              <a:t>TreeNode</a:t>
            </a:r>
            <a:r>
              <a:rPr lang="en-US" dirty="0"/>
              <a:t> {</a:t>
            </a:r>
          </a:p>
          <a:p>
            <a:r>
              <a:rPr lang="en-US" dirty="0"/>
              <a:t>	private final int value;</a:t>
            </a:r>
          </a:p>
          <a:p>
            <a:r>
              <a:rPr lang="en-US" dirty="0"/>
              <a:t>	public Literal(int value) {</a:t>
            </a:r>
          </a:p>
          <a:p>
            <a:r>
              <a:rPr lang="en-US" dirty="0"/>
              <a:t>		</a:t>
            </a:r>
            <a:r>
              <a:rPr lang="en-US" dirty="0" err="1"/>
              <a:t>this.value</a:t>
            </a:r>
            <a:r>
              <a:rPr lang="en-US" dirty="0"/>
              <a:t> = value;</a:t>
            </a:r>
          </a:p>
          <a:p>
            <a:r>
              <a:rPr lang="en-US" dirty="0"/>
              <a:t>	}</a:t>
            </a:r>
          </a:p>
          <a:p>
            <a:r>
              <a:rPr lang="en-US" dirty="0"/>
              <a:t>}</a:t>
            </a:r>
          </a:p>
          <a:p>
            <a:r>
              <a:rPr lang="en-US" dirty="0"/>
              <a:t>class Variable extends </a:t>
            </a:r>
            <a:r>
              <a:rPr lang="en-US" dirty="0" err="1"/>
              <a:t>TreeNode</a:t>
            </a:r>
            <a:r>
              <a:rPr lang="en-US" dirty="0"/>
              <a:t> {</a:t>
            </a:r>
          </a:p>
          <a:p>
            <a:r>
              <a:rPr lang="en-US" dirty="0"/>
              <a:t>	private final name; </a:t>
            </a:r>
          </a:p>
          <a:p>
            <a:r>
              <a:rPr lang="en-US" dirty="0"/>
              <a:t>	...</a:t>
            </a:r>
          </a:p>
          <a:p>
            <a:r>
              <a:rPr lang="en-US" dirty="0"/>
              <a:t>}</a:t>
            </a:r>
          </a:p>
          <a:p>
            <a:r>
              <a:rPr lang="en-US" dirty="0"/>
              <a:t>class </a:t>
            </a:r>
            <a:r>
              <a:rPr lang="en-US" dirty="0" err="1"/>
              <a:t>BinaryOperator</a:t>
            </a:r>
            <a:r>
              <a:rPr lang="en-US" dirty="0"/>
              <a:t> extends </a:t>
            </a:r>
            <a:r>
              <a:rPr lang="en-US" dirty="0" err="1"/>
              <a:t>TreeNode</a:t>
            </a:r>
            <a:r>
              <a:rPr lang="en-US" dirty="0"/>
              <a:t> {</a:t>
            </a:r>
          </a:p>
          <a:p>
            <a:r>
              <a:rPr lang="en-US" dirty="0"/>
              <a:t>	private final String operator;</a:t>
            </a:r>
          </a:p>
          <a:p>
            <a:r>
              <a:rPr lang="en-US" dirty="0"/>
              <a:t>	private final </a:t>
            </a:r>
            <a:r>
              <a:rPr lang="en-US" dirty="0" err="1"/>
              <a:t>TreeNode</a:t>
            </a:r>
            <a:r>
              <a:rPr lang="en-US" dirty="0"/>
              <a:t> left, right;</a:t>
            </a:r>
          </a:p>
          <a:p>
            <a:endParaRPr lang="en-US" dirty="0"/>
          </a:p>
          <a:p>
            <a:r>
              <a:rPr lang="en-US" dirty="0"/>
              <a:t>	public </a:t>
            </a:r>
            <a:r>
              <a:rPr lang="en-US" dirty="0" err="1"/>
              <a:t>BinaryOperator</a:t>
            </a:r>
            <a:r>
              <a:rPr lang="en-US" dirty="0"/>
              <a:t>(String operator, </a:t>
            </a:r>
            <a:r>
              <a:rPr lang="en-US" dirty="0" err="1"/>
              <a:t>TreeNode</a:t>
            </a:r>
            <a:r>
              <a:rPr lang="en-US" dirty="0"/>
              <a:t> left, </a:t>
            </a:r>
            <a:r>
              <a:rPr lang="en-US" dirty="0" err="1"/>
              <a:t>TreeNode</a:t>
            </a:r>
            <a:r>
              <a:rPr lang="en-US" dirty="0"/>
              <a:t> right) {</a:t>
            </a:r>
          </a:p>
          <a:p>
            <a:r>
              <a:rPr lang="en-US" dirty="0"/>
              <a:t>		</a:t>
            </a:r>
            <a:r>
              <a:rPr lang="en-US" dirty="0" err="1"/>
              <a:t>this.operator</a:t>
            </a:r>
            <a:r>
              <a:rPr lang="en-US" dirty="0"/>
              <a:t> = operator;</a:t>
            </a:r>
          </a:p>
          <a:p>
            <a:r>
              <a:rPr lang="en-US" dirty="0"/>
              <a:t>		</a:t>
            </a:r>
            <a:r>
              <a:rPr lang="en-US" dirty="0" err="1"/>
              <a:t>this.left</a:t>
            </a:r>
            <a:r>
              <a:rPr lang="en-US" dirty="0"/>
              <a:t> = left;</a:t>
            </a:r>
          </a:p>
          <a:p>
            <a:r>
              <a:rPr lang="en-US" dirty="0"/>
              <a:t>		</a:t>
            </a:r>
            <a:r>
              <a:rPr lang="en-US" dirty="0" err="1"/>
              <a:t>this.right</a:t>
            </a:r>
            <a:r>
              <a:rPr lang="en-US" dirty="0"/>
              <a:t> = right;</a:t>
            </a:r>
          </a:p>
          <a:p>
            <a:r>
              <a:rPr lang="en-US" dirty="0"/>
              <a:t>	}</a:t>
            </a:r>
          </a:p>
          <a:p>
            <a:r>
              <a:rPr lang="en-US" dirty="0"/>
              <a:t>}</a:t>
            </a:r>
          </a:p>
        </p:txBody>
      </p:sp>
      <p:sp>
        <p:nvSpPr>
          <p:cNvPr id="5" name="Title 4">
            <a:extLst>
              <a:ext uri="{FF2B5EF4-FFF2-40B4-BE49-F238E27FC236}">
                <a16:creationId xmlns:a16="http://schemas.microsoft.com/office/drawing/2014/main" id="{A2C9229E-DECD-3D1F-BF78-FA052D69AF3B}"/>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9EBEE4E5-2525-9E82-E72C-E9A85C1BD382}"/>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p:txBody>
      </p:sp>
      <p:sp>
        <p:nvSpPr>
          <p:cNvPr id="8" name="Rectangle 7">
            <a:extLst>
              <a:ext uri="{FF2B5EF4-FFF2-40B4-BE49-F238E27FC236}">
                <a16:creationId xmlns:a16="http://schemas.microsoft.com/office/drawing/2014/main" id="{4579FD81-3DD5-71BE-FD22-1569556141E4}"/>
              </a:ext>
            </a:extLst>
          </p:cNvPr>
          <p:cNvSpPr/>
          <p:nvPr/>
        </p:nvSpPr>
        <p:spPr>
          <a:xfrm>
            <a:off x="6330461" y="991374"/>
            <a:ext cx="3950677" cy="497457"/>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1173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7E21C40-8956-0925-430E-79BBD8772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8E36FA-E88B-9875-1378-5C3BD42ED4CF}"/>
              </a:ext>
            </a:extLst>
          </p:cNvPr>
          <p:cNvSpPr>
            <a:spLocks noGrp="1"/>
          </p:cNvSpPr>
          <p:nvPr>
            <p:ph idx="1"/>
          </p:nvPr>
        </p:nvSpPr>
        <p:spPr/>
        <p:txBody>
          <a:bodyPr>
            <a:normAutofit/>
          </a:bodyPr>
          <a:lstStyle/>
          <a:p>
            <a:r>
              <a:rPr lang="en-US" dirty="0"/>
              <a:t>abstract class </a:t>
            </a:r>
            <a:r>
              <a:rPr lang="en-US" dirty="0" err="1"/>
              <a:t>ASTVisitor</a:t>
            </a:r>
            <a:r>
              <a:rPr lang="en-US" dirty="0"/>
              <a:t> {</a:t>
            </a:r>
          </a:p>
          <a:p>
            <a:r>
              <a:rPr lang="en-US" dirty="0"/>
              <a:t>    void visit(Literal literal) {}</a:t>
            </a:r>
          </a:p>
          <a:p>
            <a:r>
              <a:rPr lang="en-US" dirty="0"/>
              <a:t>    void visit(Variable variable) {}</a:t>
            </a:r>
          </a:p>
          <a:p>
            <a:endParaRPr lang="en-US" dirty="0"/>
          </a:p>
          <a:p>
            <a:r>
              <a:rPr lang="en-US" dirty="0"/>
              <a:t>    void visit(</a:t>
            </a:r>
            <a:r>
              <a:rPr lang="en-US" dirty="0" err="1"/>
              <a:t>BinaryOperator</a:t>
            </a:r>
            <a:r>
              <a:rPr lang="en-US" dirty="0"/>
              <a:t> </a:t>
            </a:r>
            <a:r>
              <a:rPr lang="en-US" dirty="0" err="1"/>
              <a:t>binaryOperator</a:t>
            </a:r>
            <a:r>
              <a:rPr lang="en-US" dirty="0"/>
              <a:t>) {</a:t>
            </a:r>
          </a:p>
          <a:p>
            <a:r>
              <a:rPr lang="en-US" dirty="0"/>
              <a:t>		</a:t>
            </a:r>
            <a:r>
              <a:rPr lang="en-US" dirty="0" err="1"/>
              <a:t>this.left.accept</a:t>
            </a:r>
            <a:r>
              <a:rPr lang="en-US" dirty="0"/>
              <a:t>(this);</a:t>
            </a:r>
          </a:p>
          <a:p>
            <a:r>
              <a:rPr lang="en-US" dirty="0"/>
              <a:t>		</a:t>
            </a:r>
            <a:r>
              <a:rPr lang="en-US" dirty="0" err="1"/>
              <a:t>this.right.accept</a:t>
            </a:r>
            <a:r>
              <a:rPr lang="en-US" dirty="0"/>
              <a:t>(this);</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972E57B2-8A7F-C759-2D21-7762AA7CA680}"/>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4A7C435D-CE8F-D59C-015D-FECA2C418BF5}"/>
              </a:ext>
            </a:extLst>
          </p:cNvPr>
          <p:cNvSpPr>
            <a:spLocks noGrp="1"/>
          </p:cNvSpPr>
          <p:nvPr>
            <p:ph idx="13"/>
          </p:nvPr>
        </p:nvSpPr>
        <p:spPr/>
        <p:txBody>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err="1">
                <a:latin typeface="Consolas" panose="020B0609020204030204" pitchFamily="49" charset="0"/>
              </a:rPr>
              <a:t>TreeNode</a:t>
            </a:r>
            <a:endParaRPr lang="en-US" dirty="0">
              <a:latin typeface="Consolas" panose="020B0609020204030204" pitchFamily="49" charset="0"/>
            </a:endParaRPr>
          </a:p>
        </p:txBody>
      </p:sp>
    </p:spTree>
    <p:extLst>
      <p:ext uri="{BB962C8B-B14F-4D97-AF65-F5344CB8AC3E}">
        <p14:creationId xmlns:p14="http://schemas.microsoft.com/office/powerpoint/2010/main" val="2083494873"/>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FCEDA6-BE1F-0040-2624-5321D8882A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C23379-E726-121A-137E-E60B817DD8F9}"/>
              </a:ext>
            </a:extLst>
          </p:cNvPr>
          <p:cNvSpPr>
            <a:spLocks noGrp="1"/>
          </p:cNvSpPr>
          <p:nvPr>
            <p:ph idx="1"/>
          </p:nvPr>
        </p:nvSpPr>
        <p:spPr/>
        <p:txBody>
          <a:bodyPr>
            <a:normAutofit fontScale="85000" lnSpcReduction="20000"/>
          </a:bodyPr>
          <a:lstStyle/>
          <a:p>
            <a:r>
              <a:rPr lang="en-US" dirty="0"/>
              <a:t>class </a:t>
            </a:r>
            <a:r>
              <a:rPr lang="en-US" dirty="0" err="1"/>
              <a:t>CodeGeneratorVisitor</a:t>
            </a:r>
            <a:r>
              <a:rPr lang="en-US" dirty="0"/>
              <a:t> extends </a:t>
            </a:r>
            <a:r>
              <a:rPr lang="en-US" dirty="0" err="1"/>
              <a:t>ASTVisitor</a:t>
            </a:r>
            <a:r>
              <a:rPr lang="en-US" dirty="0"/>
              <a:t> {</a:t>
            </a:r>
          </a:p>
          <a:p>
            <a:r>
              <a:rPr lang="en-US" dirty="0"/>
              <a:t>    private final StringBuilder code = new StringBuilder();</a:t>
            </a:r>
          </a:p>
          <a:p>
            <a:endParaRPr lang="en-US" dirty="0"/>
          </a:p>
          <a:p>
            <a:r>
              <a:rPr lang="en-US" dirty="0"/>
              <a:t>    public String </a:t>
            </a:r>
            <a:r>
              <a:rPr lang="en-US" dirty="0" err="1"/>
              <a:t>getCode</a:t>
            </a:r>
            <a:r>
              <a:rPr lang="en-US" dirty="0"/>
              <a:t>() {</a:t>
            </a:r>
          </a:p>
          <a:p>
            <a:r>
              <a:rPr lang="en-US" dirty="0"/>
              <a:t>        return </a:t>
            </a:r>
            <a:r>
              <a:rPr lang="en-US" dirty="0" err="1"/>
              <a:t>code.toString</a:t>
            </a:r>
            <a:r>
              <a:rPr lang="en-US" dirty="0"/>
              <a:t>();</a:t>
            </a:r>
          </a:p>
          <a:p>
            <a:r>
              <a:rPr lang="en-US" dirty="0"/>
              <a:t>    }</a:t>
            </a:r>
          </a:p>
          <a:p>
            <a:endParaRPr lang="en-US" dirty="0"/>
          </a:p>
          <a:p>
            <a:r>
              <a:rPr lang="en-US" dirty="0"/>
              <a:t>    @Override</a:t>
            </a:r>
          </a:p>
          <a:p>
            <a:r>
              <a:rPr lang="en-US" dirty="0"/>
              <a:t>    public void visit(Literal literal) {</a:t>
            </a:r>
          </a:p>
          <a:p>
            <a:r>
              <a:rPr lang="en-US" dirty="0"/>
              <a:t>        </a:t>
            </a:r>
            <a:r>
              <a:rPr lang="en-US" dirty="0" err="1"/>
              <a:t>code.append</a:t>
            </a:r>
            <a:r>
              <a:rPr lang="en-US" dirty="0"/>
              <a:t>(</a:t>
            </a:r>
            <a:r>
              <a:rPr lang="en-US" dirty="0" err="1"/>
              <a:t>literal.getValue</a:t>
            </a:r>
            <a:r>
              <a:rPr lang="en-US" dirty="0"/>
              <a:t>());</a:t>
            </a:r>
          </a:p>
          <a:p>
            <a:r>
              <a:rPr lang="en-US" dirty="0"/>
              <a:t>    }</a:t>
            </a:r>
          </a:p>
          <a:p>
            <a:endParaRPr lang="en-US" dirty="0"/>
          </a:p>
          <a:p>
            <a:r>
              <a:rPr lang="en-US" dirty="0"/>
              <a:t>    @Override</a:t>
            </a:r>
          </a:p>
          <a:p>
            <a:r>
              <a:rPr lang="en-US" dirty="0"/>
              <a:t>    public void visit(Variable variable) {</a:t>
            </a:r>
          </a:p>
          <a:p>
            <a:r>
              <a:rPr lang="en-US" dirty="0"/>
              <a:t>        </a:t>
            </a:r>
            <a:r>
              <a:rPr lang="en-US" dirty="0" err="1"/>
              <a:t>code.append</a:t>
            </a:r>
            <a:r>
              <a:rPr lang="en-US" dirty="0"/>
              <a:t>(</a:t>
            </a:r>
            <a:r>
              <a:rPr lang="en-US" dirty="0" err="1"/>
              <a:t>variable.getName</a:t>
            </a:r>
            <a:r>
              <a:rPr lang="en-US" dirty="0"/>
              <a:t>());</a:t>
            </a:r>
          </a:p>
          <a:p>
            <a:r>
              <a:rPr lang="en-US" dirty="0"/>
              <a:t>    }</a:t>
            </a:r>
          </a:p>
          <a:p>
            <a:endParaRPr lang="en-US" dirty="0"/>
          </a:p>
          <a:p>
            <a:r>
              <a:rPr lang="en-US" dirty="0"/>
              <a:t>    @Override</a:t>
            </a:r>
          </a:p>
          <a:p>
            <a:r>
              <a:rPr lang="en-US" dirty="0"/>
              <a:t>    public void visit(</a:t>
            </a:r>
            <a:r>
              <a:rPr lang="en-US" dirty="0" err="1"/>
              <a:t>BinaryExpression</a:t>
            </a:r>
            <a:r>
              <a:rPr lang="en-US" dirty="0"/>
              <a:t> </a:t>
            </a:r>
            <a:r>
              <a:rPr lang="en-US" dirty="0" err="1"/>
              <a:t>binaryExpression</a:t>
            </a:r>
            <a:r>
              <a:rPr lang="en-US" dirty="0"/>
              <a:t>) {</a:t>
            </a:r>
          </a:p>
          <a:p>
            <a:r>
              <a:rPr lang="en-US" dirty="0"/>
              <a:t>        </a:t>
            </a:r>
            <a:r>
              <a:rPr lang="en-US" dirty="0" err="1"/>
              <a:t>code.append</a:t>
            </a:r>
            <a:r>
              <a:rPr lang="en-US" dirty="0"/>
              <a:t>("(");</a:t>
            </a:r>
          </a:p>
          <a:p>
            <a:r>
              <a:rPr lang="en-US" dirty="0"/>
              <a:t>        </a:t>
            </a:r>
            <a:r>
              <a:rPr lang="en-US" dirty="0" err="1"/>
              <a:t>binaryExpression.getLeft</a:t>
            </a:r>
            <a:r>
              <a:rPr lang="en-US" dirty="0"/>
              <a:t>().accept(this);</a:t>
            </a:r>
          </a:p>
          <a:p>
            <a:r>
              <a:rPr lang="en-US" dirty="0"/>
              <a:t>        </a:t>
            </a:r>
            <a:r>
              <a:rPr lang="en-US" dirty="0" err="1"/>
              <a:t>code.append</a:t>
            </a:r>
            <a:r>
              <a:rPr lang="en-US" dirty="0"/>
              <a:t>(" ").append(</a:t>
            </a:r>
            <a:r>
              <a:rPr lang="en-US" dirty="0" err="1"/>
              <a:t>binaryExpression.getOperator</a:t>
            </a:r>
            <a:r>
              <a:rPr lang="en-US" dirty="0"/>
              <a:t>()).append(" ");</a:t>
            </a:r>
          </a:p>
          <a:p>
            <a:r>
              <a:rPr lang="en-US" dirty="0"/>
              <a:t>        </a:t>
            </a:r>
            <a:r>
              <a:rPr lang="en-US" dirty="0" err="1"/>
              <a:t>binaryExpression.getRight</a:t>
            </a:r>
            <a:r>
              <a:rPr lang="en-US" dirty="0"/>
              <a:t>().accept(this);</a:t>
            </a:r>
          </a:p>
          <a:p>
            <a:r>
              <a:rPr lang="en-US" dirty="0"/>
              <a:t>        </a:t>
            </a:r>
            <a:r>
              <a:rPr lang="en-US" dirty="0" err="1"/>
              <a:t>code.append</a:t>
            </a:r>
            <a:r>
              <a:rPr lang="en-US" dirty="0"/>
              <a:t>(")");</a:t>
            </a:r>
          </a:p>
          <a:p>
            <a:r>
              <a:rPr lang="en-US" dirty="0"/>
              <a:t>    }</a:t>
            </a:r>
          </a:p>
          <a:p>
            <a:r>
              <a:rPr lang="en-US" dirty="0"/>
              <a:t>}</a:t>
            </a:r>
          </a:p>
        </p:txBody>
      </p:sp>
      <p:sp>
        <p:nvSpPr>
          <p:cNvPr id="5" name="Title 4">
            <a:extLst>
              <a:ext uri="{FF2B5EF4-FFF2-40B4-BE49-F238E27FC236}">
                <a16:creationId xmlns:a16="http://schemas.microsoft.com/office/drawing/2014/main" id="{2C63EBB8-1429-8623-8BCF-8636B1B6B5A8}"/>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F57F20B3-87A3-5DE1-B120-647BB13F08EA}"/>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ASTVisitor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976222484"/>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14152</TotalTime>
  <Words>11143</Words>
  <Application>Microsoft Office PowerPoint</Application>
  <PresentationFormat>Widescreen</PresentationFormat>
  <Paragraphs>1967</Paragraphs>
  <Slides>141</Slides>
  <Notes>70</Notes>
  <HiddenSlides>12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141</vt:i4>
      </vt:variant>
    </vt:vector>
  </HeadingPairs>
  <TitlesOfParts>
    <vt:vector size="147" baseType="lpstr">
      <vt:lpstr>Arial</vt:lpstr>
      <vt:lpstr>Calibri</vt:lpstr>
      <vt:lpstr>Consolas</vt:lpstr>
      <vt:lpstr>Helvetica</vt:lpstr>
      <vt:lpstr>Wingdings</vt:lpstr>
      <vt:lpstr>Preso 2022 Watertower Stats</vt:lpstr>
      <vt:lpstr>PowerPoint Presentation</vt:lpstr>
      <vt:lpstr>Announcements</vt:lpstr>
      <vt:lpstr>What are design patterns?</vt:lpstr>
      <vt:lpstr>What are design patterns?</vt:lpstr>
      <vt:lpstr>Social media platform</vt:lpstr>
      <vt:lpstr>OO, testing, reflection – single component focus</vt:lpstr>
      <vt:lpstr>Software architecture</vt:lpstr>
      <vt:lpstr>Design patterns – single component focus</vt:lpstr>
      <vt:lpstr>Why do we need design patterns?</vt:lpstr>
      <vt:lpstr>Why do we need design patterns?</vt:lpstr>
      <vt:lpstr>Question</vt:lpstr>
      <vt:lpstr>static field</vt:lpstr>
      <vt:lpstr>static field</vt:lpstr>
      <vt:lpstr>Preventing misuse</vt:lpstr>
      <vt:lpstr>Solution: singleton design pattern</vt:lpstr>
      <vt:lpstr>Solution: singleton design pattern</vt:lpstr>
      <vt:lpstr>Why do we need design patterns?</vt:lpstr>
      <vt:lpstr>Why should we study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Design pattern classification</vt:lpstr>
      <vt:lpstr>Structural patterns</vt:lpstr>
      <vt:lpstr>PowerPoint Presentation</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Adapter vs. proxy design pattern</vt:lpstr>
      <vt:lpstr>Characteristics</vt:lpstr>
      <vt:lpstr>PowerPoint Presentation</vt:lpstr>
      <vt:lpstr>Announcements</vt:lpstr>
      <vt:lpstr>Agenda</vt:lpstr>
      <vt:lpstr>Sample question 1</vt:lpstr>
      <vt:lpstr>Sample question 2</vt:lpstr>
      <vt:lpstr>Sample question 2</vt:lpstr>
      <vt:lpstr>Design pattern classification</vt:lpstr>
      <vt:lpstr>PowerPoint Presentation</vt:lpstr>
      <vt:lpstr>Case study: social media posts</vt:lpstr>
      <vt:lpstr>Composite design pattern for social media post</vt:lpstr>
      <vt:lpstr>Benefits</vt:lpstr>
      <vt:lpstr>Benefits</vt:lpstr>
      <vt:lpstr>Benefits</vt:lpstr>
      <vt:lpstr>Benefits</vt:lpstr>
      <vt:lpstr>Composite design pattern</vt:lpstr>
      <vt:lpstr>Characteristics</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Design pattern classification</vt:lpstr>
      <vt:lpstr>PowerPoint Presentation</vt:lpstr>
      <vt:lpstr>Case study – compiler library</vt:lpstr>
      <vt:lpstr>Case study – compiler library</vt:lpstr>
      <vt:lpstr>Case study – compiler library</vt:lpstr>
      <vt:lpstr>Characteristics</vt:lpstr>
      <vt:lpstr>PowerPoint Presentation</vt:lpstr>
      <vt:lpstr>Decorator design pattern</vt:lpstr>
      <vt:lpstr>Case study – fraud detecting payment processor</vt:lpstr>
      <vt:lpstr>Fraud detection decorator for payment processor</vt:lpstr>
      <vt:lpstr>Decorators visually</vt:lpstr>
      <vt:lpstr>Fraud detection decorator for payment processor</vt:lpstr>
      <vt:lpstr>Fraud detection decorator for payment processor</vt:lpstr>
      <vt:lpstr>Fraud detection decorator for payment processor</vt:lpstr>
      <vt:lpstr>Decorators visually</vt:lpstr>
      <vt:lpstr>Decorators visually</vt:lpstr>
      <vt:lpstr>Isn’t this a proxy??</vt:lpstr>
      <vt:lpstr>Non-ideal alternate implementations: subclass?</vt:lpstr>
      <vt:lpstr>Problem 1: breaks SRP</vt:lpstr>
      <vt:lpstr>Problem 2: class explosion</vt:lpstr>
      <vt:lpstr>Characteristics</vt:lpstr>
      <vt:lpstr>PowerPoint Presentation</vt:lpstr>
      <vt:lpstr>Case study – game system</vt:lpstr>
      <vt:lpstr>Flyweight design pattern</vt:lpstr>
      <vt:lpstr>Flyweight design pattern</vt:lpstr>
      <vt:lpstr>Putting it all together</vt:lpstr>
      <vt:lpstr>Characteristics</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PowerPoint Presentation</vt:lpstr>
      <vt:lpstr>Agenda</vt:lpstr>
      <vt:lpstr>PowerPoint Presentation</vt:lpstr>
      <vt:lpstr>Case study – transform nested shapes</vt:lpstr>
      <vt:lpstr>Case study – transform nested shapes</vt:lpstr>
      <vt:lpstr>Case study – transform nested shapes</vt:lpstr>
      <vt:lpstr>Design option 1</vt:lpstr>
      <vt:lpstr>Design option 1</vt:lpstr>
      <vt:lpstr>Disadvantages</vt:lpstr>
      <vt:lpstr>Visitor design pattern</vt:lpstr>
      <vt:lpstr>Visitor design pattern</vt:lpstr>
      <vt:lpstr>Visitor design pattern</vt:lpstr>
      <vt:lpstr>Visitor design pattern</vt:lpstr>
      <vt:lpstr>Visitor pattern – full code</vt:lpstr>
      <vt:lpstr>Visitor design pattern</vt:lpstr>
      <vt:lpstr>High-level case study – compiler code generation</vt:lpstr>
      <vt:lpstr>ASTVisitor</vt:lpstr>
      <vt:lpstr>ASTVisitor</vt:lpstr>
      <vt:lpstr>Summary</vt:lpstr>
      <vt:lpstr>PowerPoint Presentation</vt:lpstr>
      <vt:lpstr>Question 1</vt:lpstr>
      <vt:lpstr>Question 2</vt:lpstr>
      <vt:lpstr>Question 3</vt:lpstr>
      <vt:lpstr>With visitor design pattern</vt:lpstr>
      <vt:lpstr>With visitor design pattern</vt:lpstr>
      <vt:lpstr>With visitor design pattern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1509</cp:revision>
  <dcterms:created xsi:type="dcterms:W3CDTF">2019-06-30T03:25:06Z</dcterms:created>
  <dcterms:modified xsi:type="dcterms:W3CDTF">2025-11-26T19:27:11Z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