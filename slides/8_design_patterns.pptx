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5"/>
  </p:notesMasterIdLst>
  <p:handoutMasterIdLst>
    <p:handoutMasterId r:id="rId136"/>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342" r:id="rId42"/>
    <p:sldId id="284" r:id="rId43"/>
    <p:sldId id="285" r:id="rId44"/>
    <p:sldId id="347" r:id="rId45"/>
    <p:sldId id="348" r:id="rId46"/>
    <p:sldId id="349" r:id="rId47"/>
    <p:sldId id="283" r:id="rId48"/>
    <p:sldId id="286" r:id="rId49"/>
    <p:sldId id="343" r:id="rId50"/>
    <p:sldId id="289" r:id="rId51"/>
    <p:sldId id="351" r:id="rId52"/>
    <p:sldId id="352" r:id="rId53"/>
    <p:sldId id="353" r:id="rId54"/>
    <p:sldId id="354" r:id="rId55"/>
    <p:sldId id="291" r:id="rId56"/>
    <p:sldId id="292" r:id="rId57"/>
    <p:sldId id="293" r:id="rId58"/>
    <p:sldId id="294" r:id="rId59"/>
    <p:sldId id="355" r:id="rId60"/>
    <p:sldId id="368" r:id="rId61"/>
    <p:sldId id="350" r:id="rId62"/>
    <p:sldId id="295" r:id="rId63"/>
    <p:sldId id="358" r:id="rId64"/>
    <p:sldId id="279" r:id="rId65"/>
    <p:sldId id="280" r:id="rId66"/>
    <p:sldId id="281" r:id="rId67"/>
    <p:sldId id="282" r:id="rId68"/>
    <p:sldId id="361" r:id="rId69"/>
    <p:sldId id="278" r:id="rId70"/>
    <p:sldId id="288" r:id="rId71"/>
    <p:sldId id="369" r:id="rId72"/>
    <p:sldId id="370" r:id="rId73"/>
    <p:sldId id="371" r:id="rId74"/>
    <p:sldId id="372" r:id="rId75"/>
    <p:sldId id="374" r:id="rId76"/>
    <p:sldId id="375" r:id="rId77"/>
    <p:sldId id="377" r:id="rId78"/>
    <p:sldId id="376" r:id="rId79"/>
    <p:sldId id="378" r:id="rId80"/>
    <p:sldId id="379" r:id="rId81"/>
    <p:sldId id="380" r:id="rId82"/>
    <p:sldId id="381" r:id="rId83"/>
    <p:sldId id="382" r:id="rId84"/>
    <p:sldId id="385" r:id="rId85"/>
    <p:sldId id="296" r:id="rId86"/>
    <p:sldId id="364" r:id="rId87"/>
    <p:sldId id="298" r:id="rId88"/>
    <p:sldId id="297" r:id="rId89"/>
    <p:sldId id="383" r:id="rId90"/>
    <p:sldId id="299" r:id="rId91"/>
    <p:sldId id="300" r:id="rId92"/>
    <p:sldId id="301" r:id="rId93"/>
    <p:sldId id="302" r:id="rId94"/>
    <p:sldId id="365" r:id="rId95"/>
    <p:sldId id="367" r:id="rId96"/>
    <p:sldId id="305" r:id="rId97"/>
    <p:sldId id="306" r:id="rId98"/>
    <p:sldId id="307" r:id="rId99"/>
    <p:sldId id="308" r:id="rId100"/>
    <p:sldId id="303" r:id="rId101"/>
    <p:sldId id="309" r:id="rId102"/>
    <p:sldId id="366" r:id="rId103"/>
    <p:sldId id="311" r:id="rId104"/>
    <p:sldId id="312" r:id="rId105"/>
    <p:sldId id="313" r:id="rId106"/>
    <p:sldId id="310" r:id="rId107"/>
    <p:sldId id="314" r:id="rId108"/>
    <p:sldId id="401" r:id="rId109"/>
    <p:sldId id="402" r:id="rId110"/>
    <p:sldId id="384" r:id="rId111"/>
    <p:sldId id="386" r:id="rId112"/>
    <p:sldId id="387" r:id="rId113"/>
    <p:sldId id="388" r:id="rId114"/>
    <p:sldId id="389" r:id="rId115"/>
    <p:sldId id="390" r:id="rId116"/>
    <p:sldId id="391" r:id="rId117"/>
    <p:sldId id="392" r:id="rId118"/>
    <p:sldId id="393" r:id="rId119"/>
    <p:sldId id="394" r:id="rId120"/>
    <p:sldId id="395" r:id="rId121"/>
    <p:sldId id="399" r:id="rId122"/>
    <p:sldId id="396" r:id="rId123"/>
    <p:sldId id="315" r:id="rId124"/>
    <p:sldId id="397" r:id="rId125"/>
    <p:sldId id="398" r:id="rId126"/>
    <p:sldId id="400" r:id="rId127"/>
    <p:sldId id="1211" r:id="rId128"/>
    <p:sldId id="1212" r:id="rId129"/>
    <p:sldId id="1213" r:id="rId130"/>
    <p:sldId id="1214" r:id="rId131"/>
    <p:sldId id="319" r:id="rId132"/>
    <p:sldId id="321" r:id="rId133"/>
    <p:sldId id="323" r:id="rId134"/>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136" d="100"/>
          <a:sy n="136" d="100"/>
        </p:scale>
        <p:origin x="822" y="13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microsoft.com/office/2015/10/relationships/revisionInfo" Target="revisionInfo.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11/24/2025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24,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24,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24,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24,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24,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24,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November 24,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a:t>
            </a:r>
            <a:r>
              <a:rPr lang="en-US"/>
              <a:t>have class though</a:t>
            </a:r>
            <a:endParaRPr lang="en-US" dirty="0"/>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What is the benefit?</a:t>
            </a:r>
          </a:p>
          <a:p>
            <a:r>
              <a:rPr lang="en-US" dirty="0">
                <a:latin typeface="Helvetica" panose="020B0604020202020204" pitchFamily="34" charset="0"/>
                <a:cs typeface="Helvetica" panose="020B0604020202020204" pitchFamily="34" charset="0"/>
              </a:rPr>
              <a:t>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 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717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4249610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61094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751384"/>
            <a:ext cx="5633412" cy="19694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419600"/>
            <a:ext cx="5633412" cy="1301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a:bodyPr>
          <a:lstStyle/>
          <a:p>
            <a:r>
              <a:rPr lang="en-US" dirty="0"/>
              <a:t>Although decorators can have similar implementations as proxies, decorators have a different purpose. A decorator adds one or more responsibilities to an object, whereas a proxy controls access to an object.</a:t>
            </a:r>
          </a:p>
          <a:p>
            <a:r>
              <a:rPr lang="en-US" dirty="0"/>
              <a:t>Proxies vary in the degree to which they are implemented like a decorator. 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lnSpcReduction="10000"/>
          </a:bodyPr>
          <a:lstStyle/>
          <a:p>
            <a:r>
              <a:rPr lang="en-US" dirty="0"/>
              <a:t>More flexible than subclassing (inheritance)</a:t>
            </a:r>
          </a:p>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12992</TotalTime>
  <Words>10499</Words>
  <Application>Microsoft Office PowerPoint</Application>
  <PresentationFormat>Widescreen</PresentationFormat>
  <Paragraphs>1910</Paragraphs>
  <Slides>133</Slides>
  <Notes>70</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133</vt:i4>
      </vt:variant>
    </vt:vector>
  </HeadingPairs>
  <TitlesOfParts>
    <vt:vector size="139"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Case study: social media posts</vt:lpstr>
      <vt:lpstr>Composite design pattern for social media post</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Subclass?</vt:lpstr>
      <vt:lpstr>Problem 1: breaks SRP</vt:lpstr>
      <vt:lpstr>Problem 2: class explosion</vt:lpstr>
      <vt:lpstr>Fraud detection decorator for payment processor</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1436</cp:revision>
  <dcterms:created xsi:type="dcterms:W3CDTF">2019-06-30T03:25:06Z</dcterms:created>
  <dcterms:modified xsi:type="dcterms:W3CDTF">2025-11-24T20:05:33Z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