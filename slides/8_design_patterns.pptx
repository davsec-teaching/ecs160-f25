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Ex1.xml" ContentType="application/vnd.ms-office.chartex+xml"/>
  <Override PartName="/ppt/charts/style3.xml" ContentType="application/vnd.ms-office.chartstyle+xml"/>
  <Override PartName="/ppt/charts/colors3.xml" ContentType="application/vnd.ms-office.chartcolorstyl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rts/chart3.xml" ContentType="application/vnd.openxmlformats-officedocument.drawingml.chart+xml"/>
  <Override PartName="/ppt/charts/style4.xml" ContentType="application/vnd.ms-office.chartstyle+xml"/>
  <Override PartName="/ppt/charts/colors4.xml" ContentType="application/vnd.ms-office.chartcolorstyle+xml"/>
  <Override PartName="/ppt/charts/chart4.xml" ContentType="application/vnd.openxmlformats-officedocument.drawingml.chart+xml"/>
  <Override PartName="/ppt/charts/style5.xml" ContentType="application/vnd.ms-office.chartstyle+xml"/>
  <Override PartName="/ppt/charts/colors5.xml" ContentType="application/vnd.ms-office.chartcolorstyle+xml"/>
  <Override PartName="/ppt/charts/chartEx2.xml" ContentType="application/vnd.ms-office.chartex+xml"/>
  <Override PartName="/ppt/charts/style6.xml" ContentType="application/vnd.ms-office.chartstyle+xml"/>
  <Override PartName="/ppt/charts/colors6.xml" ContentType="application/vnd.ms-office.chartcolorstyl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44"/>
  </p:notesMasterIdLst>
  <p:handoutMasterIdLst>
    <p:handoutMasterId r:id="rId145"/>
  </p:handoutMasterIdLst>
  <p:sldIdLst>
    <p:sldId id="256" r:id="rId2"/>
    <p:sldId id="1216" r:id="rId3"/>
    <p:sldId id="257" r:id="rId4"/>
    <p:sldId id="344" r:id="rId5"/>
    <p:sldId id="326" r:id="rId6"/>
    <p:sldId id="327" r:id="rId7"/>
    <p:sldId id="328" r:id="rId8"/>
    <p:sldId id="329" r:id="rId9"/>
    <p:sldId id="258" r:id="rId10"/>
    <p:sldId id="263" r:id="rId11"/>
    <p:sldId id="338" r:id="rId12"/>
    <p:sldId id="264" r:id="rId13"/>
    <p:sldId id="1215" r:id="rId14"/>
    <p:sldId id="330" r:id="rId15"/>
    <p:sldId id="267" r:id="rId16"/>
    <p:sldId id="268" r:id="rId17"/>
    <p:sldId id="259" r:id="rId18"/>
    <p:sldId id="325" r:id="rId19"/>
    <p:sldId id="333" r:id="rId20"/>
    <p:sldId id="262" r:id="rId21"/>
    <p:sldId id="340" r:id="rId22"/>
    <p:sldId id="270" r:id="rId23"/>
    <p:sldId id="272" r:id="rId24"/>
    <p:sldId id="271" r:id="rId25"/>
    <p:sldId id="269" r:id="rId26"/>
    <p:sldId id="273" r:id="rId27"/>
    <p:sldId id="331" r:id="rId28"/>
    <p:sldId id="332" r:id="rId29"/>
    <p:sldId id="345" r:id="rId30"/>
    <p:sldId id="274" r:id="rId31"/>
    <p:sldId id="341" r:id="rId32"/>
    <p:sldId id="275" r:id="rId33"/>
    <p:sldId id="335" r:id="rId34"/>
    <p:sldId id="276" r:id="rId35"/>
    <p:sldId id="334" r:id="rId36"/>
    <p:sldId id="277" r:id="rId37"/>
    <p:sldId id="339" r:id="rId38"/>
    <p:sldId id="336" r:id="rId39"/>
    <p:sldId id="337" r:id="rId40"/>
    <p:sldId id="287" r:id="rId41"/>
    <p:sldId id="1220" r:id="rId42"/>
    <p:sldId id="1221" r:id="rId43"/>
    <p:sldId id="1222" r:id="rId44"/>
    <p:sldId id="1219" r:id="rId45"/>
    <p:sldId id="1224" r:id="rId46"/>
    <p:sldId id="1225" r:id="rId47"/>
    <p:sldId id="1223" r:id="rId48"/>
    <p:sldId id="342" r:id="rId49"/>
    <p:sldId id="284" r:id="rId50"/>
    <p:sldId id="285" r:id="rId51"/>
    <p:sldId id="347" r:id="rId52"/>
    <p:sldId id="1217" r:id="rId53"/>
    <p:sldId id="348" r:id="rId54"/>
    <p:sldId id="349" r:id="rId55"/>
    <p:sldId id="283" r:id="rId56"/>
    <p:sldId id="286" r:id="rId57"/>
    <p:sldId id="358" r:id="rId58"/>
    <p:sldId id="279" r:id="rId59"/>
    <p:sldId id="280" r:id="rId60"/>
    <p:sldId id="281" r:id="rId61"/>
    <p:sldId id="282" r:id="rId62"/>
    <p:sldId id="361" r:id="rId63"/>
    <p:sldId id="278" r:id="rId64"/>
    <p:sldId id="288" r:id="rId65"/>
    <p:sldId id="370" r:id="rId66"/>
    <p:sldId id="371" r:id="rId67"/>
    <p:sldId id="372" r:id="rId68"/>
    <p:sldId id="374" r:id="rId69"/>
    <p:sldId id="375" r:id="rId70"/>
    <p:sldId id="377" r:id="rId71"/>
    <p:sldId id="1226" r:id="rId72"/>
    <p:sldId id="1227" r:id="rId73"/>
    <p:sldId id="343" r:id="rId74"/>
    <p:sldId id="289" r:id="rId75"/>
    <p:sldId id="351" r:id="rId76"/>
    <p:sldId id="291" r:id="rId77"/>
    <p:sldId id="1218" r:id="rId78"/>
    <p:sldId id="292" r:id="rId79"/>
    <p:sldId id="293" r:id="rId80"/>
    <p:sldId id="294" r:id="rId81"/>
    <p:sldId id="355" r:id="rId82"/>
    <p:sldId id="368" r:id="rId83"/>
    <p:sldId id="350" r:id="rId84"/>
    <p:sldId id="352" r:id="rId85"/>
    <p:sldId id="353" r:id="rId86"/>
    <p:sldId id="354" r:id="rId87"/>
    <p:sldId id="295" r:id="rId88"/>
    <p:sldId id="376" r:id="rId89"/>
    <p:sldId id="378" r:id="rId90"/>
    <p:sldId id="379" r:id="rId91"/>
    <p:sldId id="380" r:id="rId92"/>
    <p:sldId id="381" r:id="rId93"/>
    <p:sldId id="382" r:id="rId94"/>
    <p:sldId id="385" r:id="rId95"/>
    <p:sldId id="296" r:id="rId96"/>
    <p:sldId id="364" r:id="rId97"/>
    <p:sldId id="298" r:id="rId98"/>
    <p:sldId id="297" r:id="rId99"/>
    <p:sldId id="383" r:id="rId100"/>
    <p:sldId id="299" r:id="rId101"/>
    <p:sldId id="300" r:id="rId102"/>
    <p:sldId id="301" r:id="rId103"/>
    <p:sldId id="302" r:id="rId104"/>
    <p:sldId id="365" r:id="rId105"/>
    <p:sldId id="367" r:id="rId106"/>
    <p:sldId id="305" r:id="rId107"/>
    <p:sldId id="306" r:id="rId108"/>
    <p:sldId id="307" r:id="rId109"/>
    <p:sldId id="308" r:id="rId110"/>
    <p:sldId id="303" r:id="rId111"/>
    <p:sldId id="309" r:id="rId112"/>
    <p:sldId id="366" r:id="rId113"/>
    <p:sldId id="311" r:id="rId114"/>
    <p:sldId id="312" r:id="rId115"/>
    <p:sldId id="313" r:id="rId116"/>
    <p:sldId id="310" r:id="rId117"/>
    <p:sldId id="314" r:id="rId118"/>
    <p:sldId id="1228" r:id="rId119"/>
    <p:sldId id="384" r:id="rId120"/>
    <p:sldId id="386" r:id="rId121"/>
    <p:sldId id="387" r:id="rId122"/>
    <p:sldId id="388" r:id="rId123"/>
    <p:sldId id="389" r:id="rId124"/>
    <p:sldId id="390" r:id="rId125"/>
    <p:sldId id="391" r:id="rId126"/>
    <p:sldId id="392" r:id="rId127"/>
    <p:sldId id="393" r:id="rId128"/>
    <p:sldId id="394" r:id="rId129"/>
    <p:sldId id="395" r:id="rId130"/>
    <p:sldId id="399" r:id="rId131"/>
    <p:sldId id="396" r:id="rId132"/>
    <p:sldId id="315" r:id="rId133"/>
    <p:sldId id="397" r:id="rId134"/>
    <p:sldId id="398" r:id="rId135"/>
    <p:sldId id="400" r:id="rId136"/>
    <p:sldId id="1211" r:id="rId137"/>
    <p:sldId id="1212" r:id="rId138"/>
    <p:sldId id="1213" r:id="rId139"/>
    <p:sldId id="1214" r:id="rId140"/>
    <p:sldId id="319" r:id="rId141"/>
    <p:sldId id="321" r:id="rId142"/>
    <p:sldId id="323" r:id="rId143"/>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B3B3"/>
    <a:srgbClr val="E6E0EC"/>
    <a:srgbClr val="003399"/>
    <a:srgbClr val="FFFFFF"/>
    <a:srgbClr val="B9B9FF"/>
    <a:srgbClr val="0000FF"/>
    <a:srgbClr val="DDDDFF"/>
    <a:srgbClr val="FFD5D5"/>
    <a:srgbClr val="00823B"/>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173" autoAdjust="0"/>
    <p:restoredTop sz="77378" autoAdjust="0"/>
  </p:normalViewPr>
  <p:slideViewPr>
    <p:cSldViewPr snapToGrid="0">
      <p:cViewPr>
        <p:scale>
          <a:sx n="75" d="100"/>
          <a:sy n="75" d="100"/>
        </p:scale>
        <p:origin x="1536" y="300"/>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tableStyles" Target="tableStyles.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microsoft.com/office/2016/11/relationships/changesInfo" Target="changesInfos/changesInfo1.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microsoft.com/office/2015/10/relationships/revisionInfo" Target="revisionInfo.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52" Type="http://schemas.microsoft.com/office/2018/10/relationships/authors" Target="author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notesMaster" Target="notesMasters/notesMaster1.xml"/><Relationship Id="rId90" Type="http://schemas.openxmlformats.org/officeDocument/2006/relationships/slide" Target="slides/slide8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Ex1.xml.rels><?xml version="1.0" encoding="UTF-8" standalone="yes"?>
<Relationships xmlns="http://schemas.openxmlformats.org/package/2006/relationships"><Relationship Id="rId3" Type="http://schemas.microsoft.com/office/2011/relationships/chartColorStyle" Target="colors3.xml"/><Relationship Id="rId2" Type="http://schemas.microsoft.com/office/2011/relationships/chartStyle" Target="style3.xml"/><Relationship Id="rId1" Type="http://schemas.openxmlformats.org/officeDocument/2006/relationships/package" Target="../embeddings/Microsoft_Excel_Worksheet2.xlsx"/></Relationships>
</file>

<file path=ppt/charts/_rels/chartEx2.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11/30/2025</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11/30/2025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863198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Where do design patterns fit in our journey through software engine</a:t>
            </a:r>
          </a:p>
        </p:txBody>
      </p:sp>
    </p:spTree>
    <p:extLst>
      <p:ext uri="{BB962C8B-B14F-4D97-AF65-F5344CB8AC3E}">
        <p14:creationId xmlns:p14="http://schemas.microsoft.com/office/powerpoint/2010/main" val="7330570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EDA0B-1F0C-0338-0E28-0E35765E3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03790-60FA-0750-028F-FB5ECA61B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1F6D32-2E11-AA8C-E3B6-197CD8D026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724091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583D3-A526-A3F9-7826-4358F39251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1338B7-FDD6-D2E0-0643-299D066416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188EF2-1A11-62C8-53C1-D676BED2FEE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81075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57C80-B1BD-96F2-4C6F-39CA3B44E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34B616-7197-257F-3C1A-0C5C690BA1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52EB3E-DFBB-ED1C-2EFE-2DB48DA4F974}"/>
              </a:ext>
            </a:extLst>
          </p:cNvPr>
          <p:cNvSpPr>
            <a:spLocks noGrp="1"/>
          </p:cNvSpPr>
          <p:nvPr>
            <p:ph type="body" idx="1"/>
          </p:nvPr>
        </p:nvSpPr>
        <p:spPr/>
        <p:txBody>
          <a:bodyPr/>
          <a:lstStyle/>
          <a:p>
            <a:pPr marL="171450" indent="-171450">
              <a:buFontTx/>
              <a:buChar char="-"/>
            </a:pPr>
            <a:r>
              <a:rPr lang="en-US" dirty="0"/>
              <a:t>In this module, we will pop out a bit</a:t>
            </a:r>
          </a:p>
          <a:p>
            <a:pPr marL="171450" indent="-171450">
              <a:buFontTx/>
              <a:buChar char="-"/>
            </a:pPr>
            <a:r>
              <a:rPr lang="en-US" dirty="0"/>
              <a:t>Look at entire system</a:t>
            </a:r>
          </a:p>
          <a:p>
            <a:pPr marL="171450" indent="-171450">
              <a:buFontTx/>
              <a:buChar char="-"/>
            </a:pPr>
            <a:r>
              <a:rPr lang="en-US" dirty="0"/>
              <a:t>Design these complex systems</a:t>
            </a:r>
          </a:p>
          <a:p>
            <a:pPr marL="0" indent="0">
              <a:buFontTx/>
              <a:buNone/>
            </a:pPr>
            <a:endParaRPr lang="en-US" dirty="0"/>
          </a:p>
        </p:txBody>
      </p:sp>
    </p:spTree>
    <p:extLst>
      <p:ext uri="{BB962C8B-B14F-4D97-AF65-F5344CB8AC3E}">
        <p14:creationId xmlns:p14="http://schemas.microsoft.com/office/powerpoint/2010/main" val="15075143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5DD41-5300-72D6-0225-2B181D1598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05F694-41FD-3D1D-E5D1-44824A012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950417-97F3-398C-E6BD-0CB7F1EDC72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602894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34578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Really make you fast in reading the code</a:t>
            </a:r>
          </a:p>
          <a:p>
            <a:pPr marL="171450" indent="-171450">
              <a:buFontTx/>
              <a:buChar char="-"/>
            </a:pPr>
            <a:r>
              <a:rPr lang="en-US" dirty="0"/>
              <a:t>Otherwise spend a lot of time trying to trace what it’s doing</a:t>
            </a:r>
          </a:p>
        </p:txBody>
      </p:sp>
    </p:spTree>
    <p:extLst>
      <p:ext uri="{BB962C8B-B14F-4D97-AF65-F5344CB8AC3E}">
        <p14:creationId xmlns:p14="http://schemas.microsoft.com/office/powerpoint/2010/main" val="28622259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Factory : manufactures all the objects</a:t>
            </a:r>
          </a:p>
          <a:p>
            <a:r>
              <a:rPr lang="en-US" dirty="0"/>
              <a:t>Abstract: class is abstract</a:t>
            </a:r>
          </a:p>
        </p:txBody>
      </p:sp>
    </p:spTree>
    <p:extLst>
      <p:ext uri="{BB962C8B-B14F-4D97-AF65-F5344CB8AC3E}">
        <p14:creationId xmlns:p14="http://schemas.microsoft.com/office/powerpoint/2010/main" val="42541569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fancy happening here</a:t>
            </a:r>
          </a:p>
        </p:txBody>
      </p:sp>
    </p:spTree>
    <p:extLst>
      <p:ext uri="{BB962C8B-B14F-4D97-AF65-F5344CB8AC3E}">
        <p14:creationId xmlns:p14="http://schemas.microsoft.com/office/powerpoint/2010/main" val="16352919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721290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CE87D-5C00-D78B-1602-D81E6BC400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87061-6C89-9423-2FA7-D335E9C4D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9A1FF7-C16A-2A9F-45ED-5D4E0E1A67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070771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B8E0-D072-3DE4-1BC2-799E994DFD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B43CDD-8DB0-1E90-D963-9927222EF7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9A9E4-9FD2-7C30-110D-707FEA817C24}"/>
              </a:ext>
            </a:extLst>
          </p:cNvPr>
          <p:cNvSpPr>
            <a:spLocks noGrp="1"/>
          </p:cNvSpPr>
          <p:nvPr>
            <p:ph type="body" idx="1"/>
          </p:nvPr>
        </p:nvSpPr>
        <p:spPr/>
        <p:txBody>
          <a:bodyPr/>
          <a:lstStyle/>
          <a:p>
            <a:r>
              <a:rPr lang="en-US" dirty="0"/>
              <a:t>- Third party payment gateway</a:t>
            </a:r>
          </a:p>
        </p:txBody>
      </p:sp>
    </p:spTree>
    <p:extLst>
      <p:ext uri="{BB962C8B-B14F-4D97-AF65-F5344CB8AC3E}">
        <p14:creationId xmlns:p14="http://schemas.microsoft.com/office/powerpoint/2010/main" val="2574020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B2980-862A-4F51-5584-6E8F023964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21926-78A4-AFC4-5DC4-30C85092AE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647A7A-4AA5-96F2-DBF9-0BBFEC2EE3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40262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5B499-0518-A669-FD36-9AE2972FE9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FD88F5-B301-1926-48B2-7BB28E137B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0E3F6-9115-D878-3171-D0BF7F8F1E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497235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13355052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D29B6-795E-701B-019F-77AAEC598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3E58E-8358-5838-E783-115D6880D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3878D-45BF-A81B-C9CD-111B247974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38062014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D2F4D-C891-CB34-0947-BDE0FDFB1C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C1C4D-4D34-A1F3-DB1D-16AA33F79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D0074F-8691-3C8A-BCA0-8C6532F3733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4520853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7658E-D2D7-7BD5-D912-84D3C2E720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259422-34C2-BA83-851C-BCBABD6C23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63A89D-7F0F-2122-47BF-C8927B85AF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153970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85B53-1232-03F9-693C-BF0E0369A0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40C68-A92D-4271-4EF7-1A69260A8D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80D7CF-A49A-1F76-D0C6-EA3A078219A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256144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C0CDE-963B-B899-2121-127DD8784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3B08F-495D-8EAB-B5B4-5F39A8BCA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A7468B-9B46-B2D2-4A83-BF8D73C8ADE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984282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71453-65AA-8288-9B47-203808FDA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1E07E7-E138-87AB-C827-F2F6F6C18D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3ECC5A-0B0B-6110-093A-365B7CED344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070504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F63E8-359E-4442-4A1B-12E285C4B2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C95442-60E9-9B87-040C-2C1F5E3E5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4E7F9D-2BCC-BCD8-C968-1E0CCA5EE4A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66758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237EA-09CF-11BB-E915-A547D86FA8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6475FF-03CA-A8B1-5305-C93B1FEFD4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FC90AD-CFC4-673D-038C-00388014C4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823828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2C1B2-02CE-9DA5-5C6E-D5D2FF23D9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CAE6F5-273C-56E5-A8E7-4F0DFB9ECD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A7A78E-DD06-3E8C-4EBC-7072858B3FF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479273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EB6AA-0866-F9F9-89E7-576735DFA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F6F779-FAB6-1100-34BA-BB6A1A73AA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30A7DC-13C7-A265-CDE0-BFEA6E697C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45777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DF16C-E038-9EEF-0869-E9DAC6CAE7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F8D7B-5339-E5EF-B53A-4FA530E8F6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4CA588-806E-629D-26CF-2E63C6F1D4E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658888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4FA85-129B-FD55-D295-13F6579B7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9B962-9777-0B90-1582-540F49057B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404116-BD8C-67A9-2D5D-26C6FCF772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Bridge, Composite, Decorator, Proxy</a:t>
            </a:r>
          </a:p>
          <a:p>
            <a:endParaRPr lang="en-US" dirty="0"/>
          </a:p>
        </p:txBody>
      </p:sp>
    </p:spTree>
    <p:extLst>
      <p:ext uri="{BB962C8B-B14F-4D97-AF65-F5344CB8AC3E}">
        <p14:creationId xmlns:p14="http://schemas.microsoft.com/office/powerpoint/2010/main" val="183392988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218AA-E7B6-FBB3-2D76-FE1945275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9FDF17-E42B-C9C0-081E-963268F7B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396993-22B0-018F-470E-6E5B3096C24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1147476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4C440-1D4E-1A52-0A09-0BAB9A721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82E58F-061A-9077-7210-5C3172EBA6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5492EA-38B6-E5D4-D165-4D33BB3BC59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6279180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3426E-732D-383D-7680-070ACA72DF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BC6A37-E148-997A-046E-AA4E3F487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DAD66-8A69-C031-4FA1-30D8CC2B43A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145631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4B140-9B05-F047-55E7-C997224CEE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1FECE-A482-6E02-628A-7D8DFB79F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36BF51-4963-E0F1-CAAA-9A939F6C1A7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042278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388994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err="1"/>
              <a:t>Entrypoint</a:t>
            </a:r>
            <a:endParaRPr lang="en-US" dirty="0"/>
          </a:p>
          <a:p>
            <a:pPr marL="171450" indent="-171450">
              <a:buFontTx/>
              <a:buChar char="-"/>
            </a:pPr>
            <a:r>
              <a:rPr lang="en-US" dirty="0"/>
              <a:t>intuitive</a:t>
            </a:r>
          </a:p>
        </p:txBody>
      </p:sp>
    </p:spTree>
    <p:extLst>
      <p:ext uri="{BB962C8B-B14F-4D97-AF65-F5344CB8AC3E}">
        <p14:creationId xmlns:p14="http://schemas.microsoft.com/office/powerpoint/2010/main" val="424823273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4A7259-A459-CCEE-EC35-90F92C7485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5B4CD2-931A-8B21-B345-F6121BD8B4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4E8B16-317E-AC47-38E3-EB0560F0917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143095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0E967-D3B3-986D-0D16-7B6E4EF12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7C1A68-9343-A691-3743-81CB6D58D6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6AF2FA-AA45-2365-4160-B39EB09F2E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343051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1B65F-45AA-AC0C-458B-E08A6B20A2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19998C-9485-1A7B-481A-E728F83F6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5A860E-AB2C-D31A-A832-2B1DF73DE88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843789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A0293-D3A7-EF6A-2A99-78C2A6405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C2BF07-0F38-6416-CEF1-31AEB77DD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02951-8DF0-6A3A-ACBF-96BE365A340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3211381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57DB5-7C26-7305-955A-1FBF9B48F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B383E6-C7DF-FE47-799C-6AE7C9964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8EC02-315B-DCEC-3266-AA9735E3B18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5016911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B8497-34AC-049A-7A53-030CFFFB5D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07E9D-EA1F-931E-0B04-FC6927B77E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DE0D8-6F98-F38E-6DCB-20FBEE99D1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8587352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0D561-E144-3343-A1FC-5947B4D0F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A2F6B-D66A-A6C0-0E13-C05E6A6A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A04A33-2561-23DC-F54F-12D8692DC90A}"/>
              </a:ext>
            </a:extLst>
          </p:cNvPr>
          <p:cNvSpPr>
            <a:spLocks noGrp="1"/>
          </p:cNvSpPr>
          <p:nvPr>
            <p:ph type="body" idx="1"/>
          </p:nvPr>
        </p:nvSpPr>
        <p:spPr/>
        <p:txBody>
          <a:bodyPr/>
          <a:lstStyle/>
          <a:p>
            <a:r>
              <a:rPr lang="en-US" dirty="0"/>
              <a:t>Add the decorator twice</a:t>
            </a:r>
          </a:p>
        </p:txBody>
      </p:sp>
    </p:spTree>
    <p:extLst>
      <p:ext uri="{BB962C8B-B14F-4D97-AF65-F5344CB8AC3E}">
        <p14:creationId xmlns:p14="http://schemas.microsoft.com/office/powerpoint/2010/main" val="26523611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D34BB-6C0D-AF15-F3CF-7E58B0E8D4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D375C-4712-4CAE-28F6-43DAE46372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EE395-7F7A-7A30-F9F5-0397ECCABE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0485495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313131766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B256E-D04A-4FFA-485B-20298649B4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DFF9FD-4D27-FAA4-E9ED-23C6EA7672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E1306-95CB-4245-1090-819D53F2898E}"/>
              </a:ext>
            </a:extLst>
          </p:cNvPr>
          <p:cNvSpPr>
            <a:spLocks noGrp="1"/>
          </p:cNvSpPr>
          <p:nvPr>
            <p:ph type="body" idx="1"/>
          </p:nvPr>
        </p:nvSpPr>
        <p:spPr/>
        <p:txBody>
          <a:bodyPr/>
          <a:lstStyle/>
          <a:p>
            <a:r>
              <a:rPr lang="en-US" dirty="0"/>
              <a:t>Bar chart, pie chart, donut chart</a:t>
            </a:r>
          </a:p>
        </p:txBody>
      </p:sp>
    </p:spTree>
    <p:extLst>
      <p:ext uri="{BB962C8B-B14F-4D97-AF65-F5344CB8AC3E}">
        <p14:creationId xmlns:p14="http://schemas.microsoft.com/office/powerpoint/2010/main" val="260262425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8380B-3A1A-4078-988A-9987C97EE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B56A0-D4F0-C9F2-98FC-1DFEEB82D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A5270A-AC38-34BE-8993-46F26ADCEB5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264125781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88433-9C0C-E3D0-9296-DE2748C6D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74232-9329-B9DB-8483-6A03918E3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5FC51-170C-F4C2-0443-43CF386C7B3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139150222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143256297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17742864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40807863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26244-1499-F3BA-B9F5-5D4F50597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BA520-FA5D-98BD-5470-92D59C79A7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069BC3-BB51-2CF2-B9FB-8FA159E612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61759913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F2F57-1296-41A4-222E-5B5753709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82ED9-CCCD-8F95-8F8C-50E5883B0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A9D8C-E814-CD2E-8C84-B4300DC8193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741372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1055-E99C-67E6-697F-56C941B65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354EA3-DC79-FBD1-1B34-D3497159B8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E60959-7606-3383-D589-2DE6C69DDE8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stop, pause invoked when the user presses those buttons</a:t>
            </a:r>
          </a:p>
          <a:p>
            <a:endParaRPr lang="en-US" dirty="0"/>
          </a:p>
        </p:txBody>
      </p:sp>
    </p:spTree>
    <p:extLst>
      <p:ext uri="{BB962C8B-B14F-4D97-AF65-F5344CB8AC3E}">
        <p14:creationId xmlns:p14="http://schemas.microsoft.com/office/powerpoint/2010/main" val="399411802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ED05-8388-1289-36F9-95821A13A0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ED0D2-7044-DFF4-00BD-35A03A9DC3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92424-6566-70BD-026D-63FD00182AB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3998957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04E4F-AA39-616A-E3F1-8BE13C9AA2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0AFCB6-074C-D99D-61EA-4C689ECA4D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06CDE-9708-DD44-5611-7AD688CB44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40483257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23B0F-3EC2-6E8A-129B-B7A8EAA21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572829-A23C-2222-2E19-EF1971005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78443F-A044-9EB3-D456-A161D8CEC9D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167181192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20FC1-B700-2744-2181-AB4E0864A5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AEE11-9254-CEC2-FAEE-4AAA030A9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0D33C-650F-1E49-7B5F-F0060C5FC3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286768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15856-2D14-3BA6-A529-DAE9D91D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E7D5E-8483-98FE-C196-238D28AF8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550022-39C5-5FFC-58AA-9CFD43ED17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341076686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B78F1-B982-4ADB-4A4D-D7542677E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1006C5-B8D4-B462-E05A-1F1484E2E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1C57F5-F312-0F96-9BED-F96A274EED2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5825195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9F67F-CF1C-9230-E5B2-2FF4B7B001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CF843-BE09-460D-0CB3-4AA3BE2128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146B1F-5B50-07EE-27F2-904B2B4FC3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25211224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60B85-74BF-F9FC-1D4C-A7A96D8E6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52918-9E4F-51F5-23F3-6EDE667DEE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376445-71E7-8394-B9F5-58A8D5D2D7C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271526979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super</a:t>
            </a:r>
          </a:p>
        </p:txBody>
      </p:sp>
    </p:spTree>
    <p:extLst>
      <p:ext uri="{BB962C8B-B14F-4D97-AF65-F5344CB8AC3E}">
        <p14:creationId xmlns:p14="http://schemas.microsoft.com/office/powerpoint/2010/main" val="36119850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Start with a contrived case study</a:t>
            </a:r>
          </a:p>
        </p:txBody>
      </p:sp>
    </p:spTree>
    <p:extLst>
      <p:ext uri="{BB962C8B-B14F-4D97-AF65-F5344CB8AC3E}">
        <p14:creationId xmlns:p14="http://schemas.microsoft.com/office/powerpoint/2010/main" val="48475324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AD028-2D50-BE82-F7A4-8E561497D7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514C2-BEFB-A973-D947-4BC038DF2E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980A17-A8AD-21D1-8249-5DFFC8A8EA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4715945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5AF35-C224-4B14-5EEE-DD629DE80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C544DF-F92B-ECF1-CC4C-EE1F75FCC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38E87F-FD2A-F1D5-B59A-8FD089DD0F4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2312619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FED8F-BD96-4865-EE48-64BFA485B2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B78DD0-EE29-2945-C64B-32776E81DB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A30EFE-0440-96DC-2BEF-C690CD4D43F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4902924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C7EBA-A6E5-F090-DE1A-0D8AA678B3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F46CD-8F1D-46C5-7DA5-67A584E1E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C5479-BF98-33F6-3FBD-3841E208344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3510479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952FA-7E1F-D996-594A-5EFD033F56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7930C-92A1-4A3F-25A4-3E332F0C7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8D051-4949-01A8-B536-8B0FAEB859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15331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64CC9-E972-9688-526A-7E64653889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7AF3C4-45C4-9E9F-6E34-2937CFA9E7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022C8A-2B49-A33A-BD4E-DBE2EA5587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8374654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CF6DB-0C9A-6D02-40D7-04A9783C3D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6EE4CA-EB1E-8750-ADA6-F85D763751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76D377-EF70-27B1-CE02-08415155E6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4008224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4343E-F9E4-B171-61A0-F3E68F414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A207B5-201E-4933-02D0-9E9BCB715F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57FEC0-5A1A-7A68-9F77-F9F8A1DED8B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74172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Sunday, November 30, 2025</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Sunday, November 30, 2025</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Sunday, November 30,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Sunday, November 30,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Sunday, November 30,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Sunday, November 30,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Sunday, November 30, 2025</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1.xml"/><Relationship Id="rId4" Type="http://schemas.openxmlformats.org/officeDocument/2006/relationships/chart" Target="../charts/char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2.xml"/><Relationship Id="rId4" Type="http://schemas.openxmlformats.org/officeDocument/2006/relationships/chart" Target="../charts/char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4049575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D186415-4B8E-5341-EFF6-0BA04978345A}"/>
              </a:ext>
            </a:extLst>
          </p:cNvPr>
          <p:cNvSpPr>
            <a:spLocks noGrp="1"/>
          </p:cNvSpPr>
          <p:nvPr>
            <p:ph idx="1"/>
          </p:nvPr>
        </p:nvSpPr>
        <p:spPr/>
        <p:txBody>
          <a:bodyPr>
            <a:normAutofit/>
          </a:bodyPr>
          <a:lstStyle/>
          <a:p>
            <a:r>
              <a:rPr lang="en-US" dirty="0"/>
              <a:t>Quiz 4 was more difficult than other quizzes</a:t>
            </a:r>
          </a:p>
          <a:p>
            <a:pPr lvl="1"/>
            <a:r>
              <a:rPr lang="en-US" dirty="0"/>
              <a:t>Feedback: explain each step</a:t>
            </a:r>
          </a:p>
          <a:p>
            <a:pPr lvl="1"/>
            <a:r>
              <a:rPr lang="en-US" dirty="0"/>
              <a:t>“If </a:t>
            </a:r>
            <a:r>
              <a:rPr lang="en-US" dirty="0" err="1">
                <a:latin typeface="Consolas" panose="020B0609020204030204" pitchFamily="49" charset="0"/>
              </a:rPr>
              <a:t>fptr</a:t>
            </a:r>
            <a:r>
              <a:rPr lang="en-US" dirty="0"/>
              <a:t> can be leaked…” =&gt; How can </a:t>
            </a:r>
            <a:r>
              <a:rPr lang="en-US" dirty="0" err="1">
                <a:latin typeface="Consolas" panose="020B0609020204030204" pitchFamily="49" charset="0"/>
              </a:rPr>
              <a:t>fptr</a:t>
            </a:r>
            <a:r>
              <a:rPr lang="en-US" dirty="0"/>
              <a:t> be leaked?</a:t>
            </a:r>
          </a:p>
          <a:p>
            <a:pPr lvl="1"/>
            <a:r>
              <a:rPr lang="en-US" dirty="0"/>
              <a:t>Explain each step using the code provided</a:t>
            </a:r>
          </a:p>
          <a:p>
            <a:r>
              <a:rPr lang="en-US" dirty="0"/>
              <a:t>Quiz 5 will be a take-home quiz on Dec 5</a:t>
            </a:r>
          </a:p>
          <a:p>
            <a:r>
              <a:rPr lang="en-US" dirty="0"/>
              <a:t>No office hours on 11/26; we will have class though</a:t>
            </a:r>
          </a:p>
          <a:p>
            <a:r>
              <a:rPr lang="en-US" dirty="0"/>
              <a:t>HW3 will be released tonight – deadline Dec 12</a:t>
            </a:r>
            <a:br>
              <a:rPr lang="en-US" dirty="0"/>
            </a:br>
            <a:endParaRPr lang="en-US" dirty="0"/>
          </a:p>
        </p:txBody>
      </p:sp>
      <p:sp>
        <p:nvSpPr>
          <p:cNvPr id="4" name="Title 3">
            <a:extLst>
              <a:ext uri="{FF2B5EF4-FFF2-40B4-BE49-F238E27FC236}">
                <a16:creationId xmlns:a16="http://schemas.microsoft.com/office/drawing/2014/main" id="{99B42F82-2925-06A7-B05B-F6E2AD4F20C7}"/>
              </a:ext>
            </a:extLst>
          </p:cNvPr>
          <p:cNvSpPr>
            <a:spLocks noGrp="1"/>
          </p:cNvSpPr>
          <p:nvPr>
            <p:ph type="title"/>
          </p:nvPr>
        </p:nvSpPr>
        <p:spPr/>
        <p:txBody>
          <a:bodyPr/>
          <a:lstStyle/>
          <a:p>
            <a:r>
              <a:rPr lang="en-US" dirty="0"/>
              <a:t>Announcements</a:t>
            </a:r>
          </a:p>
        </p:txBody>
      </p:sp>
      <p:graphicFrame>
        <p:nvGraphicFramePr>
          <p:cNvPr id="6" name="Table 5">
            <a:extLst>
              <a:ext uri="{FF2B5EF4-FFF2-40B4-BE49-F238E27FC236}">
                <a16:creationId xmlns:a16="http://schemas.microsoft.com/office/drawing/2014/main" id="{F4AEFEFA-EC40-121B-295D-7742460FF5F4}"/>
              </a:ext>
            </a:extLst>
          </p:cNvPr>
          <p:cNvGraphicFramePr>
            <a:graphicFrameLocks noGrp="1"/>
          </p:cNvGraphicFramePr>
          <p:nvPr>
            <p:extLst>
              <p:ext uri="{D42A27DB-BD31-4B8C-83A1-F6EECF244321}">
                <p14:modId xmlns:p14="http://schemas.microsoft.com/office/powerpoint/2010/main" val="1712872376"/>
              </p:ext>
            </p:extLst>
          </p:nvPr>
        </p:nvGraphicFramePr>
        <p:xfrm>
          <a:off x="8649369" y="808008"/>
          <a:ext cx="2884906" cy="1879155"/>
        </p:xfrm>
        <a:graphic>
          <a:graphicData uri="http://schemas.openxmlformats.org/drawingml/2006/table">
            <a:tbl>
              <a:tblPr firstRow="1" bandRow="1">
                <a:tableStyleId>{073A0DAA-6AF3-43AB-8588-CEC1D06C72B9}</a:tableStyleId>
              </a:tblPr>
              <a:tblGrid>
                <a:gridCol w="1442453">
                  <a:extLst>
                    <a:ext uri="{9D8B030D-6E8A-4147-A177-3AD203B41FA5}">
                      <a16:colId xmlns:a16="http://schemas.microsoft.com/office/drawing/2014/main" val="3956407124"/>
                    </a:ext>
                  </a:extLst>
                </a:gridCol>
                <a:gridCol w="1442453">
                  <a:extLst>
                    <a:ext uri="{9D8B030D-6E8A-4147-A177-3AD203B41FA5}">
                      <a16:colId xmlns:a16="http://schemas.microsoft.com/office/drawing/2014/main" val="3439681437"/>
                    </a:ext>
                  </a:extLst>
                </a:gridCol>
              </a:tblGrid>
              <a:tr h="375831">
                <a:tc>
                  <a:txBody>
                    <a:bodyPr/>
                    <a:lstStyle/>
                    <a:p>
                      <a:r>
                        <a:rPr lang="en-US" dirty="0"/>
                        <a:t>Quiz</a:t>
                      </a:r>
                    </a:p>
                  </a:txBody>
                  <a:tcPr/>
                </a:tc>
                <a:tc>
                  <a:txBody>
                    <a:bodyPr/>
                    <a:lstStyle/>
                    <a:p>
                      <a:r>
                        <a:rPr lang="en-US" dirty="0"/>
                        <a:t>Avg score</a:t>
                      </a:r>
                    </a:p>
                  </a:txBody>
                  <a:tcPr/>
                </a:tc>
                <a:extLst>
                  <a:ext uri="{0D108BD9-81ED-4DB2-BD59-A6C34878D82A}">
                    <a16:rowId xmlns:a16="http://schemas.microsoft.com/office/drawing/2014/main" val="952738593"/>
                  </a:ext>
                </a:extLst>
              </a:tr>
              <a:tr h="375831">
                <a:tc>
                  <a:txBody>
                    <a:bodyPr/>
                    <a:lstStyle/>
                    <a:p>
                      <a:r>
                        <a:rPr lang="en-US" dirty="0"/>
                        <a:t>Quiz 1</a:t>
                      </a:r>
                    </a:p>
                  </a:txBody>
                  <a:tcPr/>
                </a:tc>
                <a:tc>
                  <a:txBody>
                    <a:bodyPr/>
                    <a:lstStyle/>
                    <a:p>
                      <a:r>
                        <a:rPr lang="en-US" dirty="0"/>
                        <a:t>83%</a:t>
                      </a:r>
                    </a:p>
                  </a:txBody>
                  <a:tcPr/>
                </a:tc>
                <a:extLst>
                  <a:ext uri="{0D108BD9-81ED-4DB2-BD59-A6C34878D82A}">
                    <a16:rowId xmlns:a16="http://schemas.microsoft.com/office/drawing/2014/main" val="1958718066"/>
                  </a:ext>
                </a:extLst>
              </a:tr>
              <a:tr h="375831">
                <a:tc>
                  <a:txBody>
                    <a:bodyPr/>
                    <a:lstStyle/>
                    <a:p>
                      <a:r>
                        <a:rPr lang="en-US" dirty="0"/>
                        <a:t>Quiz 2</a:t>
                      </a:r>
                    </a:p>
                  </a:txBody>
                  <a:tcPr/>
                </a:tc>
                <a:tc>
                  <a:txBody>
                    <a:bodyPr/>
                    <a:lstStyle/>
                    <a:p>
                      <a:r>
                        <a:rPr lang="en-US" dirty="0"/>
                        <a:t>70%</a:t>
                      </a:r>
                    </a:p>
                  </a:txBody>
                  <a:tcPr/>
                </a:tc>
                <a:extLst>
                  <a:ext uri="{0D108BD9-81ED-4DB2-BD59-A6C34878D82A}">
                    <a16:rowId xmlns:a16="http://schemas.microsoft.com/office/drawing/2014/main" val="2631434036"/>
                  </a:ext>
                </a:extLst>
              </a:tr>
              <a:tr h="375831">
                <a:tc>
                  <a:txBody>
                    <a:bodyPr/>
                    <a:lstStyle/>
                    <a:p>
                      <a:r>
                        <a:rPr lang="en-US" dirty="0"/>
                        <a:t>Quiz 3</a:t>
                      </a:r>
                    </a:p>
                  </a:txBody>
                  <a:tcPr/>
                </a:tc>
                <a:tc>
                  <a:txBody>
                    <a:bodyPr/>
                    <a:lstStyle/>
                    <a:p>
                      <a:r>
                        <a:rPr lang="en-US" dirty="0"/>
                        <a:t>95%</a:t>
                      </a:r>
                    </a:p>
                  </a:txBody>
                  <a:tcPr/>
                </a:tc>
                <a:extLst>
                  <a:ext uri="{0D108BD9-81ED-4DB2-BD59-A6C34878D82A}">
                    <a16:rowId xmlns:a16="http://schemas.microsoft.com/office/drawing/2014/main" val="4082474393"/>
                  </a:ext>
                </a:extLst>
              </a:tr>
              <a:tr h="375831">
                <a:tc>
                  <a:txBody>
                    <a:bodyPr/>
                    <a:lstStyle/>
                    <a:p>
                      <a:r>
                        <a:rPr lang="en-US" dirty="0"/>
                        <a:t>Quiz 4</a:t>
                      </a:r>
                    </a:p>
                  </a:txBody>
                  <a:tcPr/>
                </a:tc>
                <a:tc>
                  <a:txBody>
                    <a:bodyPr/>
                    <a:lstStyle/>
                    <a:p>
                      <a:r>
                        <a:rPr lang="en-US" dirty="0"/>
                        <a:t>63%</a:t>
                      </a:r>
                    </a:p>
                  </a:txBody>
                  <a:tcPr/>
                </a:tc>
                <a:extLst>
                  <a:ext uri="{0D108BD9-81ED-4DB2-BD59-A6C34878D82A}">
                    <a16:rowId xmlns:a16="http://schemas.microsoft.com/office/drawing/2014/main" val="2898835715"/>
                  </a:ext>
                </a:extLst>
              </a:tr>
            </a:tbl>
          </a:graphicData>
        </a:graphic>
      </p:graphicFrame>
    </p:spTree>
    <p:extLst>
      <p:ext uri="{BB962C8B-B14F-4D97-AF65-F5344CB8AC3E}">
        <p14:creationId xmlns:p14="http://schemas.microsoft.com/office/powerpoint/2010/main" val="605618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D15018-764E-A07F-637B-FD07094CBFAA}"/>
              </a:ext>
            </a:extLst>
          </p:cNvPr>
          <p:cNvSpPr>
            <a:spLocks noGrp="1"/>
          </p:cNvSpPr>
          <p:nvPr>
            <p:ph idx="1"/>
          </p:nvPr>
        </p:nvSpPr>
        <p:spPr/>
        <p:txBody>
          <a:bodyPr>
            <a:normAutofit/>
          </a:bodyPr>
          <a:lstStyle/>
          <a:p>
            <a:r>
              <a:rPr lang="en-US" dirty="0"/>
              <a:t>Classes and objects abstract object behavior</a:t>
            </a:r>
          </a:p>
          <a:p>
            <a:pPr lvl="1"/>
            <a:r>
              <a:rPr lang="en-US" dirty="0"/>
              <a:t>Objects of type Class Car abstract the behavior of a car</a:t>
            </a:r>
          </a:p>
          <a:p>
            <a:pPr lvl="1"/>
            <a:r>
              <a:rPr lang="en-US" dirty="0"/>
              <a:t>Focus on reusing object behavior</a:t>
            </a:r>
          </a:p>
          <a:p>
            <a:r>
              <a:rPr lang="en-US" dirty="0"/>
              <a:t>Design patterns abstract object instantiation, composition, and behavior</a:t>
            </a:r>
          </a:p>
          <a:p>
            <a:pPr lvl="1"/>
            <a:r>
              <a:rPr lang="en-US" dirty="0"/>
              <a:t>Focus on abstracting the class design itself</a:t>
            </a:r>
          </a:p>
          <a:p>
            <a:pPr lvl="1"/>
            <a:r>
              <a:rPr lang="en-US" dirty="0"/>
              <a:t>Allows software engineers to </a:t>
            </a:r>
            <a:r>
              <a:rPr lang="en-US" i="1" dirty="0"/>
              <a:t>reuse </a:t>
            </a:r>
            <a:r>
              <a:rPr lang="en-US" dirty="0"/>
              <a:t>previous class designs and architectures</a:t>
            </a:r>
          </a:p>
        </p:txBody>
      </p:sp>
      <p:sp>
        <p:nvSpPr>
          <p:cNvPr id="4" name="Title 3">
            <a:extLst>
              <a:ext uri="{FF2B5EF4-FFF2-40B4-BE49-F238E27FC236}">
                <a16:creationId xmlns:a16="http://schemas.microsoft.com/office/drawing/2014/main" id="{90CF0D9B-3FF0-F5F8-99C8-2C8863BB5115}"/>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81996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99C9052-1856-1E48-57E5-0DB164783C47}"/>
              </a:ext>
            </a:extLst>
          </p:cNvPr>
          <p:cNvSpPr>
            <a:spLocks noGrp="1"/>
          </p:cNvSpPr>
          <p:nvPr>
            <p:ph idx="1"/>
          </p:nvPr>
        </p:nvSpPr>
        <p:spPr/>
        <p:txBody>
          <a:bodyPr/>
          <a:lstStyle/>
          <a:p>
            <a:r>
              <a:rPr lang="en-US" dirty="0"/>
              <a:t>Some design patterns are so useful that languages support them</a:t>
            </a:r>
          </a:p>
          <a:p>
            <a:pPr lvl="1"/>
            <a:r>
              <a:rPr lang="en-US" dirty="0"/>
              <a:t>Proxy design pattern supported by Java</a:t>
            </a:r>
          </a:p>
        </p:txBody>
      </p:sp>
      <p:sp>
        <p:nvSpPr>
          <p:cNvPr id="4" name="Title 3">
            <a:extLst>
              <a:ext uri="{FF2B5EF4-FFF2-40B4-BE49-F238E27FC236}">
                <a16:creationId xmlns:a16="http://schemas.microsoft.com/office/drawing/2014/main" id="{752C3F2C-284F-3E57-0D3C-AC86902C98C0}"/>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75764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D2F94-6FCF-7EBE-CFE6-E749D1E116E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C3F6E86-7975-B930-B497-69115EE1D395}"/>
              </a:ext>
            </a:extLst>
          </p:cNvPr>
          <p:cNvSpPr>
            <a:spLocks noGrp="1"/>
          </p:cNvSpPr>
          <p:nvPr>
            <p:ph type="title"/>
          </p:nvPr>
        </p:nvSpPr>
        <p:spPr/>
        <p:txBody>
          <a:bodyPr/>
          <a:lstStyle/>
          <a:p>
            <a:r>
              <a:rPr lang="en-US" dirty="0"/>
              <a:t>Social media platform</a:t>
            </a:r>
          </a:p>
        </p:txBody>
      </p:sp>
      <p:sp>
        <p:nvSpPr>
          <p:cNvPr id="2" name="Rectangle: Rounded Corners 1">
            <a:extLst>
              <a:ext uri="{FF2B5EF4-FFF2-40B4-BE49-F238E27FC236}">
                <a16:creationId xmlns:a16="http://schemas.microsoft.com/office/drawing/2014/main" id="{680A378F-ECD9-C170-C529-4D4F1E651026}"/>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11751D54-3BA6-D00B-AED2-0069CCB6F642}"/>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BC188F48-9BD6-106F-FC37-0C33A864EA57}"/>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E706CDEB-4785-D52E-E4D1-E112D636843B}"/>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8DE3CDA5-1511-666F-D417-A2B8FEA6FDB3}"/>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941AA0C1-43C7-DBBD-5AD1-DA7F43B2D2B7}"/>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09EF6F9-E90D-916F-B1AB-BA2FE5D08028}"/>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E5BABD66-5093-901F-C229-40C696307C6D}"/>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1CDF64D9-0BF3-66DD-1E93-533BFA8DE86C}"/>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57E3FBEE-5B45-17F0-FC26-5F010F05157C}"/>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B6A93A38-6A07-04B0-3479-7AB421FF7267}"/>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10363C5C-5083-CD7F-3D28-7A1DF6EF88DD}"/>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3C72F7BE-6DFB-052E-4BC9-5A0D4B360358}"/>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F9B7959-A50F-608D-796C-99DBBB3729A0}"/>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7C093F80-7BF8-EF40-4654-4D52BBCCD4AC}"/>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31CF91B3-24BF-4CC6-7070-2D6C6E5AD749}"/>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2BD68DED-064A-8BD4-4C5B-C8C3B439E11B}"/>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6E9C1117-7648-13A5-2BEF-D7F61B684B49}"/>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F11FBB7-1D6C-98FF-E310-C8E9FBD2E185}"/>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917A0B50-3478-A935-2B6A-42FC4263CAE9}"/>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DE822C58-A220-B7D8-9C1E-9E5A484E1322}"/>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01FFAFC5-D0B1-F8C0-0686-B12F71E22CB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8CB1417D-291B-8FFD-B6E0-2CEB3E372265}"/>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218CE2DA-F026-F0E7-D21D-B3BFA3C60DDB}"/>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12DD4A04-6519-538B-A3C8-A7D3D633154D}"/>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1C014E90-C4E8-983F-25D9-82B66F7717DB}"/>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E7E2D4DC-6412-309C-38C0-233B4C9F95BC}"/>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B850E369-08BE-E47C-EABF-72B46194A83E}"/>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806151DF-576D-FE7B-39E3-BEB9C73D37D2}"/>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31A0A280-5115-C44E-6B74-B02EE64A305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4257879F-468A-10A0-1BED-428200D5F32E}"/>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3ED06F55-4B19-9B66-7AAB-91ED0F568011}"/>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151553D3-956C-CCF9-5C9F-A390BF50D02E}"/>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658156BA-A111-B1EA-A85F-BB66ACF8BD31}"/>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EFA78926-2475-1839-CC1F-0DE2FA2ABAF6}"/>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6A92C78-2038-726F-E4D8-76FD9855128F}"/>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79A0A8C0-0552-BD73-3279-0D43EC47F292}"/>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4ACDF28B-084F-634A-3B14-D12A636A61E9}"/>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20D0864-DD9A-A39F-E542-377DBC075803}"/>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79674045-C1CB-16C0-0E5C-F0337D4A3B8A}"/>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DAAA755C-EF46-85EA-5227-C5DDAA8AB60B}"/>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67A8DF45-AFD4-ACEF-C55C-A4975C432ABF}"/>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02D0B9EB-C3FE-A91C-0C30-1C19D0541BCA}"/>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DE13A4AC-A844-E555-1C9B-91D8D46CB2DA}"/>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1CEFB15D-B721-00B6-43CA-D06AC082420A}"/>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FE28D401-C713-BEF2-278F-E1A7A8627D2B}"/>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671DC276-2A9F-7EF5-3464-7C1410431AD6}"/>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12CB8FC7-F0FE-D86C-AB34-1D5D1E28359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1894A399-56F8-35A6-D62A-7C698D1BABFA}"/>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361A0ADE-492B-3DED-66F4-6F758B66FDEB}"/>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E3ADC7C4-F2FC-E176-4228-2B93DF735901}"/>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56F32BBD-1083-D09E-239F-87C928D89021}"/>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26CA2728-4DCF-6DB0-61B9-CDAAA474F1F2}"/>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13E5944C-C527-2B6E-BABE-98B2353C5E28}"/>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0924524E-A2A3-7564-3ECC-3B07634DE330}"/>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81BED55A-CF6E-7CC0-1FD7-6782997D1D74}"/>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91C9AB10-5A24-4B90-2F79-521B424E69A8}"/>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B759DC36-0343-4AA8-4E86-BB1515758578}"/>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DD032A81-97E1-56A5-535A-D36E0DAB9DD8}"/>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6C9695AA-88C5-BAED-62F9-F1620096CC0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CD44E3DB-261E-4CBB-1CA4-838569B78CB9}"/>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2134E18C-67C6-1699-DA30-F21EB38B8C6D}"/>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A9245098-B0B0-4750-5BC0-BC1D5385F1F9}"/>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FB63A0F6-6809-3EC1-8DF2-0098C4691A9E}"/>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D1F4824-5620-6BBD-228B-BE8069C3D265}"/>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7EEE151B-24C4-007F-9EC6-4184216E12BC}"/>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DAB1095F-4229-5752-5520-459417381E36}"/>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53B93CAB-550E-32FE-D78D-480273D5F2FD}"/>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6B810224-FE2D-F4BC-171A-E8B59A35A60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D80FB16B-1555-FAA7-1F0E-5C1A715B191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257966A5-6D4E-DF7D-154C-F7054377AD10}"/>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17F81078-0D49-721E-1F80-0F1C6438D158}"/>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563072ED-1DAB-6389-AD3E-1B64629EF2EF}"/>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C6FC003C-779D-5074-8864-14FC3E637DCE}"/>
              </a:ext>
            </a:extLst>
          </p:cNvPr>
          <p:cNvSpPr/>
          <p:nvPr/>
        </p:nvSpPr>
        <p:spPr>
          <a:xfrm>
            <a:off x="5287114" y="3586868"/>
            <a:ext cx="1987071" cy="784582"/>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08941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EB7634D-F2BA-A166-AC5B-4CBB5F7ECED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F70FCC2-C395-7A99-0BD4-D7647B748798}"/>
              </a:ext>
            </a:extLst>
          </p:cNvPr>
          <p:cNvSpPr>
            <a:spLocks noGrp="1"/>
          </p:cNvSpPr>
          <p:nvPr>
            <p:ph type="title"/>
          </p:nvPr>
        </p:nvSpPr>
        <p:spPr/>
        <p:txBody>
          <a:bodyPr/>
          <a:lstStyle/>
          <a:p>
            <a:r>
              <a:rPr lang="en-US" dirty="0"/>
              <a:t>OO, testing, reflection – single component focus</a:t>
            </a:r>
          </a:p>
        </p:txBody>
      </p:sp>
      <p:sp>
        <p:nvSpPr>
          <p:cNvPr id="25" name="Rectangle: Rounded Corners 24">
            <a:extLst>
              <a:ext uri="{FF2B5EF4-FFF2-40B4-BE49-F238E27FC236}">
                <a16:creationId xmlns:a16="http://schemas.microsoft.com/office/drawing/2014/main" id="{95A6895C-A406-2087-EC15-293160E61AF4}"/>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8C4FE6D-3BCC-8E28-6637-612C4AF7132C}"/>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772BBF84-FDBE-4BC4-BA90-CA5A4A6A14F2}"/>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9DCAF342-FA34-C2FC-6393-72B9D42AAB0A}"/>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F365035C-5CA1-82EE-3EB9-FBA4AC17123F}"/>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29EF85C5-607D-A831-1B4A-9D2237BA450C}"/>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5BD1A808-9A55-37D9-E2AE-3D8F45A362DE}"/>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549059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65492B0-3BD6-3CEC-B0DF-730FD5773F3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3BC12AD-84F5-110E-1666-5750879E2224}"/>
              </a:ext>
            </a:extLst>
          </p:cNvPr>
          <p:cNvSpPr>
            <a:spLocks noGrp="1"/>
          </p:cNvSpPr>
          <p:nvPr>
            <p:ph type="title"/>
          </p:nvPr>
        </p:nvSpPr>
        <p:spPr/>
        <p:txBody>
          <a:bodyPr/>
          <a:lstStyle/>
          <a:p>
            <a:r>
              <a:rPr lang="en-US" dirty="0"/>
              <a:t>Software architecture</a:t>
            </a:r>
          </a:p>
        </p:txBody>
      </p:sp>
      <p:sp>
        <p:nvSpPr>
          <p:cNvPr id="2" name="Rectangle: Rounded Corners 1">
            <a:extLst>
              <a:ext uri="{FF2B5EF4-FFF2-40B4-BE49-F238E27FC236}">
                <a16:creationId xmlns:a16="http://schemas.microsoft.com/office/drawing/2014/main" id="{2E716B01-555D-070D-75BE-D4BAEB70BB08}"/>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42228462-BD0D-792D-7B50-CFEF44C0D299}"/>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5DD7D132-B832-0B2B-4881-860F82187BAD}"/>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49C33840-8D51-A541-C3CA-7AF33E1A5276}"/>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5A28129D-0DE3-EFD6-7DC6-70CE716AFDD5}"/>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6284E446-748F-0F6E-7F2C-EFCAC3F4309E}"/>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40BC189-0DDB-8E8B-6BE6-F2947CC1E28E}"/>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24471DF3-F3DF-A4AD-60C8-3D114F785A00}"/>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B6446299-EE4E-10C4-6C7D-17CBC4089A94}"/>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19A4E326-DF76-4182-F691-95A8B8E435C0}"/>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DFB9BAEB-6870-B417-CE5E-7251118AF915}"/>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7A4495DF-36F6-0E8E-9303-80FF8D3F00BC}"/>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50CE9F9D-EAB9-861F-E69E-DBBB05031A39}"/>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B149E8B-3ECB-EA42-48BD-F4B60C77E333}"/>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2FB4A9A8-FE25-12FC-330E-618DBDC1618B}"/>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0A1210D4-C099-156B-9712-0EFC97403C57}"/>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ACB570CE-86F3-6A20-CD80-5038367FDB5C}"/>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CDA779CF-7C69-8174-9292-E19A1E335498}"/>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98B325A-0696-E811-DC3D-D08E85DE61EA}"/>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61769CD1-0B06-F70D-CB00-F8E72E100A96}"/>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AA1F0DE5-0BD4-AA87-7049-6CA1DE77DFBC}"/>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7391515C-9555-84F1-96C6-6AC4296A74A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0F412C97-3CBF-5EDA-0FA7-89C67F524262}"/>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E1E32789-6EAD-36EB-5E56-CDE856749F8F}"/>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EF6B1CB9-0C76-E7E0-777D-DFFAA7F784AB}"/>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F3B7803C-07F2-D2BB-9CDC-E7333770071D}"/>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80CFE8BB-B2CA-5395-3553-48DB1FB5FFDD}"/>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293C4D5A-83B4-C94E-FE12-637CC90935DA}"/>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BD5B22B7-404A-EB06-F2B7-5992CA527764}"/>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6DC4FCEC-E725-65D0-A57F-DE8DEE78C41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74A6122F-B3F5-EBE7-06FD-E13564762DDD}"/>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8C2BA776-076C-AC08-90F6-8BAE92B86F37}"/>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B59A432D-02B2-2634-0E45-373A98E07EEB}"/>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D8CC424-CE27-E217-EAD5-CA6D350BD82D}"/>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AC24AA3-4F86-FCE2-9E0E-D9831DD3C892}"/>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C7019B8F-6467-9EE9-EB6A-7714FA18F204}"/>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487B55CE-1FE7-2D68-6E32-7430F827845F}"/>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DA1906C6-9ED9-BEFB-2C49-591A080A2147}"/>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043467B-291B-365F-A436-B4EB08C8A8FA}"/>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26870189-06F2-8DD4-3163-482724438EF1}"/>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74227C5C-E8D8-5ADD-BD34-2758BE38DACC}"/>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58A57E30-8252-023F-5A70-DFBAF7221C71}"/>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DA3EA4C9-954E-162E-AD68-EE280619C6ED}"/>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FE35DF5B-FEC2-0620-89E8-2A4654D79858}"/>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E18A6757-B181-3CC9-5129-A0F5F7687D29}"/>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B8BC5F6A-8D72-4E96-C615-59C1EFD7996D}"/>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58D02E9F-960F-274E-F47E-E097A94571D4}"/>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AE4B18DF-06DC-187E-7001-F148F3FDA85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F1BBAE24-A33E-F9A5-0543-B9A5BD70CDC0}"/>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71A87E0C-A57B-EFC8-CD7B-7826F974F9FE}"/>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96823AAF-A411-311B-1ADB-236B28C0988E}"/>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233889CC-B073-F78F-BE3A-AF20AE3A7E9C}"/>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7F92CE7B-7175-7B2E-C216-F17276B399C4}"/>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346D5D6B-3FBD-1C63-DA6F-FE2D267A6F9D}"/>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F6AD76AD-F559-D6F1-58F6-3BE7828BFFAE}"/>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D7FB22D7-2CB1-D21F-FA85-3987FF2BD315}"/>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E68398C7-3634-DBB5-0FE5-565B164D9CA6}"/>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F5B0B4DF-55B3-277B-F36F-79EB3004EA7F}"/>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AC13801E-B0DC-E381-EE74-51BB56739E0D}"/>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1EF3DBCD-2C08-7B19-B322-2D35E2A8802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8EAF61D6-3E30-EEB7-3F56-A1B9A0B55145}"/>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A9109CE6-D6F8-BACC-A0F0-C495316ADA07}"/>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876525F8-D7D5-35CE-213B-A1683AF7D07B}"/>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9CCEA774-713F-7F25-9290-0B04A4C82BF6}"/>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063A2CE-C4FD-E25E-E120-08C7DBBB5377}"/>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3C576BC2-1D52-FDB2-3394-4DF66F93B8E3}"/>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6EB02EDA-9DBD-9E54-E26D-0A918CE9C73A}"/>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4366E92E-1849-3768-0BD1-15E91027BD24}"/>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E8A86DEB-D42D-799D-2986-749ABD7AFFA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1144E78F-08AC-E6BD-0023-C6163B84473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31BC1E5D-07CF-F818-5AE2-4F66E89F1A14}"/>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CF338640-C7A5-7CE1-FC27-5B772645FDF0}"/>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75320C85-373A-07DA-F455-95636EAD58E4}"/>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50D37713-FE73-318A-49C2-DABE950DD1F7}"/>
              </a:ext>
            </a:extLst>
          </p:cNvPr>
          <p:cNvSpPr/>
          <p:nvPr/>
        </p:nvSpPr>
        <p:spPr>
          <a:xfrm>
            <a:off x="0" y="539066"/>
            <a:ext cx="11871580" cy="5320167"/>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6" name="Rectangle 15">
            <a:extLst>
              <a:ext uri="{FF2B5EF4-FFF2-40B4-BE49-F238E27FC236}">
                <a16:creationId xmlns:a16="http://schemas.microsoft.com/office/drawing/2014/main" id="{3408EB7A-6EC7-FB35-ED8B-18B83E7D251C}"/>
              </a:ext>
            </a:extLst>
          </p:cNvPr>
          <p:cNvSpPr/>
          <p:nvPr/>
        </p:nvSpPr>
        <p:spPr>
          <a:xfrm>
            <a:off x="2042645" y="1266731"/>
            <a:ext cx="8009501" cy="646331"/>
          </a:xfrm>
          <a:prstGeom prst="rect">
            <a:avLst/>
          </a:prstGeom>
          <a:solidFill>
            <a:srgbClr val="FFFFFF"/>
          </a:solidFill>
        </p:spPr>
        <p:txBody>
          <a:bodyPr wrap="none" lIns="91440" tIns="45720" rIns="91440" bIns="45720">
            <a:spAutoFit/>
          </a:bodyPr>
          <a:lstStyle/>
          <a:p>
            <a:pPr algn="ctr"/>
            <a:r>
              <a:rPr lang="en-US" sz="3600" b="0" cap="none" spc="0" dirty="0">
                <a:ln w="0"/>
                <a:solidFill>
                  <a:schemeClr val="tx1"/>
                </a:solidFill>
                <a:effectLst>
                  <a:outerShdw blurRad="38100" dist="19050" dir="2700000" algn="tl" rotWithShape="0">
                    <a:schemeClr val="dk1">
                      <a:alpha val="40000"/>
                    </a:schemeClr>
                  </a:outerShdw>
                </a:effectLst>
              </a:rPr>
              <a:t>Software architecture - system as a whole</a:t>
            </a:r>
          </a:p>
        </p:txBody>
      </p:sp>
    </p:spTree>
    <p:extLst>
      <p:ext uri="{BB962C8B-B14F-4D97-AF65-F5344CB8AC3E}">
        <p14:creationId xmlns:p14="http://schemas.microsoft.com/office/powerpoint/2010/main" val="1162856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8A250-9D33-6774-DFC8-01FC136966C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A45DCA9-2E41-6CA5-EFEF-E87A220BEB6A}"/>
              </a:ext>
            </a:extLst>
          </p:cNvPr>
          <p:cNvSpPr>
            <a:spLocks noGrp="1"/>
          </p:cNvSpPr>
          <p:nvPr>
            <p:ph type="title"/>
          </p:nvPr>
        </p:nvSpPr>
        <p:spPr/>
        <p:txBody>
          <a:bodyPr/>
          <a:lstStyle/>
          <a:p>
            <a:r>
              <a:rPr lang="en-US" dirty="0"/>
              <a:t>Design patterns – single component focus</a:t>
            </a:r>
          </a:p>
        </p:txBody>
      </p:sp>
      <p:sp>
        <p:nvSpPr>
          <p:cNvPr id="25" name="Rectangle: Rounded Corners 24">
            <a:extLst>
              <a:ext uri="{FF2B5EF4-FFF2-40B4-BE49-F238E27FC236}">
                <a16:creationId xmlns:a16="http://schemas.microsoft.com/office/drawing/2014/main" id="{73BCC5D8-A4D0-D2A2-9515-0BBC5EA48425}"/>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683F3C8-61F1-6ED4-FC86-60FC2C860D34}"/>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F3456C61-6629-DC74-D9C3-0F8598636E77}"/>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62C87673-52DB-87E2-F822-F1E84A75EF49}"/>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87F5F6F1-E69F-3E81-8A25-D99C0FACC69A}"/>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7929D3F1-F12B-A10A-65FF-7C6A1DFB4C79}"/>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E711AE96-35D3-CA4D-3C5B-565CCF7A2DE4}"/>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2" name="Connector: Curved 1">
            <a:extLst>
              <a:ext uri="{FF2B5EF4-FFF2-40B4-BE49-F238E27FC236}">
                <a16:creationId xmlns:a16="http://schemas.microsoft.com/office/drawing/2014/main" id="{9BAB6FBB-265E-8F54-C333-E11C39B9A2B6}"/>
              </a:ext>
            </a:extLst>
          </p:cNvPr>
          <p:cNvCxnSpPr>
            <a:cxnSpLocks/>
            <a:endCxn id="25" idx="3"/>
          </p:cNvCxnSpPr>
          <p:nvPr/>
        </p:nvCxnSpPr>
        <p:spPr>
          <a:xfrm rot="10800000">
            <a:off x="7878882" y="4191073"/>
            <a:ext cx="1347182" cy="1119487"/>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039B92E8-2FB5-B877-160D-8FE30F4998B7}"/>
              </a:ext>
            </a:extLst>
          </p:cNvPr>
          <p:cNvSpPr/>
          <p:nvPr/>
        </p:nvSpPr>
        <p:spPr>
          <a:xfrm>
            <a:off x="9221804" y="5079728"/>
            <a:ext cx="2147255"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Design patterns</a:t>
            </a:r>
          </a:p>
        </p:txBody>
      </p:sp>
      <p:sp>
        <p:nvSpPr>
          <p:cNvPr id="7" name="Rectangle 6">
            <a:extLst>
              <a:ext uri="{FF2B5EF4-FFF2-40B4-BE49-F238E27FC236}">
                <a16:creationId xmlns:a16="http://schemas.microsoft.com/office/drawing/2014/main" id="{5D9E0C2D-2216-5478-C96D-33E34F8BC803}"/>
              </a:ext>
            </a:extLst>
          </p:cNvPr>
          <p:cNvSpPr/>
          <p:nvPr/>
        </p:nvSpPr>
        <p:spPr>
          <a:xfrm>
            <a:off x="8039688" y="4953144"/>
            <a:ext cx="3953019" cy="642196"/>
          </a:xfrm>
          <a:prstGeom prst="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200204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7"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0837A-35AE-298A-5702-4B86A47B197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4B449DA-1810-3D6B-270D-67B0FFCD83B5}"/>
              </a:ext>
            </a:extLst>
          </p:cNvPr>
          <p:cNvSpPr>
            <a:spLocks noGrp="1"/>
          </p:cNvSpPr>
          <p:nvPr>
            <p:ph idx="1"/>
          </p:nvPr>
        </p:nvSpPr>
        <p:spPr/>
        <p:txBody>
          <a:bodyPr/>
          <a:lstStyle/>
          <a:p>
            <a:r>
              <a:rPr lang="en-US" dirty="0"/>
              <a:t>Example: design a </a:t>
            </a:r>
            <a:r>
              <a:rPr lang="en-US" dirty="0">
                <a:latin typeface="Consolas" panose="020B0609020204030204" pitchFamily="49" charset="0"/>
              </a:rPr>
              <a:t>Logger</a:t>
            </a:r>
            <a:r>
              <a:rPr lang="en-US" dirty="0"/>
              <a:t> class for an application consisting of hundreds of classes</a:t>
            </a:r>
          </a:p>
          <a:p>
            <a:pPr lvl="1"/>
            <a:r>
              <a:rPr lang="en-US" dirty="0"/>
              <a:t>The logger creates a log file with name as the current date-time, say – </a:t>
            </a:r>
            <a:r>
              <a:rPr lang="en-US" dirty="0">
                <a:latin typeface="Consolas" panose="020B0609020204030204" pitchFamily="49" charset="0"/>
              </a:rPr>
              <a:t>log_11_21_2025_12_00_01.txt</a:t>
            </a:r>
            <a:r>
              <a:rPr lang="en-US" dirty="0">
                <a:latin typeface="Helvetica" panose="020B0604020202020204" pitchFamily="34" charset="0"/>
                <a:cs typeface="Helvetica" panose="020B0604020202020204" pitchFamily="34" charset="0"/>
              </a:rPr>
              <a:t>, and logs events in it</a:t>
            </a:r>
          </a:p>
          <a:p>
            <a:r>
              <a:rPr lang="en-US" dirty="0"/>
              <a:t>To ensure uniformity</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r>
              <a:rPr lang="en-US" dirty="0"/>
              <a:t>How would you design it?</a:t>
            </a:r>
          </a:p>
        </p:txBody>
      </p:sp>
      <p:sp>
        <p:nvSpPr>
          <p:cNvPr id="4" name="Title 3">
            <a:extLst>
              <a:ext uri="{FF2B5EF4-FFF2-40B4-BE49-F238E27FC236}">
                <a16:creationId xmlns:a16="http://schemas.microsoft.com/office/drawing/2014/main" id="{031DF575-1FC0-7869-AC5B-980685FB537C}"/>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2508433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C8761-B541-1E35-6EE2-292AD8511EE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82E1326-8AD6-3407-D437-3B4819699E46}"/>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br>
              <a:rPr lang="en-US" dirty="0"/>
            </a:br>
            <a:r>
              <a:rPr lang="en-US" dirty="0"/>
              <a:t>		// close file</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dirty="0" err="1"/>
              <a:t>anotherFunction</a:t>
            </a:r>
            <a:r>
              <a:rPr lang="en-US" dirty="0"/>
              <a:t>(logger);</a:t>
            </a:r>
          </a:p>
          <a:p>
            <a:r>
              <a:rPr lang="en-US" dirty="0"/>
              <a:t>}</a:t>
            </a:r>
          </a:p>
          <a:p>
            <a:endParaRPr lang="en-US" dirty="0"/>
          </a:p>
          <a:p>
            <a:r>
              <a:rPr lang="en-US" dirty="0"/>
              <a:t>public void </a:t>
            </a:r>
            <a:r>
              <a:rPr lang="en-US" dirty="0" err="1"/>
              <a:t>anotherFunction</a:t>
            </a:r>
            <a:r>
              <a:rPr lang="en-US" dirty="0"/>
              <a:t>(Logger logger) {</a:t>
            </a:r>
          </a:p>
          <a:p>
            <a:r>
              <a:rPr lang="en-US" dirty="0"/>
              <a:t>	logger.log(“This is a log message”);</a:t>
            </a:r>
          </a:p>
          <a:p>
            <a:r>
              <a:rPr lang="en-US" dirty="0"/>
              <a:t>}</a:t>
            </a:r>
          </a:p>
        </p:txBody>
      </p:sp>
      <p:sp>
        <p:nvSpPr>
          <p:cNvPr id="4" name="Title 3">
            <a:extLst>
              <a:ext uri="{FF2B5EF4-FFF2-40B4-BE49-F238E27FC236}">
                <a16:creationId xmlns:a16="http://schemas.microsoft.com/office/drawing/2014/main" id="{57E77B36-BB1B-C9A1-1501-CB9B81872AB8}"/>
              </a:ext>
            </a:extLst>
          </p:cNvPr>
          <p:cNvSpPr>
            <a:spLocks noGrp="1"/>
          </p:cNvSpPr>
          <p:nvPr>
            <p:ph type="title"/>
          </p:nvPr>
        </p:nvSpPr>
        <p:spPr/>
        <p:txBody>
          <a:bodyPr/>
          <a:lstStyle/>
          <a:p>
            <a:r>
              <a:rPr lang="en-US" dirty="0"/>
              <a:t>Why do we need design patterns?</a:t>
            </a:r>
          </a:p>
        </p:txBody>
      </p:sp>
      <p:sp>
        <p:nvSpPr>
          <p:cNvPr id="2" name="Content Placeholder 1">
            <a:extLst>
              <a:ext uri="{FF2B5EF4-FFF2-40B4-BE49-F238E27FC236}">
                <a16:creationId xmlns:a16="http://schemas.microsoft.com/office/drawing/2014/main" id="{0BF90604-FCB9-C174-06A2-4EB382F6A4CB}"/>
              </a:ext>
            </a:extLst>
          </p:cNvPr>
          <p:cNvSpPr>
            <a:spLocks noGrp="1"/>
          </p:cNvSpPr>
          <p:nvPr>
            <p:ph idx="13"/>
          </p:nvPr>
        </p:nvSpPr>
        <p:spPr/>
        <p:txBody>
          <a:bodyPr/>
          <a:lstStyle/>
          <a:p>
            <a:r>
              <a:rPr lang="en-US" dirty="0"/>
              <a:t>How would you use this </a:t>
            </a:r>
            <a:r>
              <a:rPr lang="en-US" dirty="0">
                <a:latin typeface="Consolas" panose="020B0609020204030204" pitchFamily="49" charset="0"/>
              </a:rPr>
              <a:t>Logger</a:t>
            </a:r>
            <a:r>
              <a:rPr lang="en-US" dirty="0"/>
              <a:t> class?</a:t>
            </a:r>
          </a:p>
          <a:p>
            <a:r>
              <a:rPr lang="en-US" dirty="0"/>
              <a:t>Create a </a:t>
            </a:r>
            <a:r>
              <a:rPr lang="en-US" dirty="0">
                <a:latin typeface="Consolas" panose="020B0609020204030204" pitchFamily="49" charset="0"/>
              </a:rPr>
              <a:t>Logger</a:t>
            </a:r>
            <a:r>
              <a:rPr lang="en-US" dirty="0"/>
              <a:t> object and pass it in each method declaration?</a:t>
            </a:r>
          </a:p>
          <a:p>
            <a:pPr lvl="1"/>
            <a:r>
              <a:rPr lang="en-US" dirty="0"/>
              <a:t>… very ugly </a:t>
            </a:r>
            <a:r>
              <a:rPr lang="en-US" dirty="0">
                <a:sym typeface="Wingdings" panose="05000000000000000000" pitchFamily="2" charset="2"/>
              </a:rPr>
              <a:t></a:t>
            </a:r>
          </a:p>
          <a:p>
            <a:pPr lvl="1"/>
            <a:r>
              <a:rPr lang="en-US" dirty="0">
                <a:sym typeface="Wingdings" panose="05000000000000000000" pitchFamily="2" charset="2"/>
              </a:rPr>
              <a:t>Also, how would you ensure that a future programmer does not accidentally create a new </a:t>
            </a:r>
            <a:r>
              <a:rPr lang="en-US" dirty="0">
                <a:latin typeface="Consolas" panose="020B0609020204030204" pitchFamily="49" charset="0"/>
                <a:sym typeface="Wingdings" panose="05000000000000000000" pitchFamily="2" charset="2"/>
              </a:rPr>
              <a:t>Logger</a:t>
            </a:r>
            <a:r>
              <a:rPr lang="en-US" dirty="0">
                <a:sym typeface="Wingdings" panose="05000000000000000000" pitchFamily="2" charset="2"/>
              </a:rPr>
              <a:t> object?</a:t>
            </a:r>
            <a:endParaRPr lang="en-US" dirty="0"/>
          </a:p>
        </p:txBody>
      </p:sp>
      <p:sp>
        <p:nvSpPr>
          <p:cNvPr id="3" name="Rectangle 2">
            <a:extLst>
              <a:ext uri="{FF2B5EF4-FFF2-40B4-BE49-F238E27FC236}">
                <a16:creationId xmlns:a16="http://schemas.microsoft.com/office/drawing/2014/main" id="{B29A16BF-92EB-C6E0-2334-7A26E501C168}"/>
              </a:ext>
            </a:extLst>
          </p:cNvPr>
          <p:cNvSpPr/>
          <p:nvPr/>
        </p:nvSpPr>
        <p:spPr>
          <a:xfrm>
            <a:off x="6176512" y="700892"/>
            <a:ext cx="5261762" cy="3126041"/>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19FC2B7-A165-89B7-5F7F-C4DB052D7968}"/>
              </a:ext>
            </a:extLst>
          </p:cNvPr>
          <p:cNvSpPr/>
          <p:nvPr/>
        </p:nvSpPr>
        <p:spPr>
          <a:xfrm>
            <a:off x="6176512" y="4160979"/>
            <a:ext cx="5261762" cy="445477"/>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16212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FC6C867-1D69-C19A-83AF-86A0ED802136}"/>
              </a:ext>
            </a:extLst>
          </p:cNvPr>
          <p:cNvSpPr>
            <a:spLocks noGrp="1"/>
          </p:cNvSpPr>
          <p:nvPr>
            <p:ph idx="1"/>
          </p:nvPr>
        </p:nvSpPr>
        <p:spPr/>
        <p:txBody>
          <a:bodyPr/>
          <a:lstStyle/>
          <a:p>
            <a:r>
              <a:rPr lang="en-US" dirty="0"/>
              <a:t>How to ensure a single object of the Logger class is accessible from many parts of the application?</a:t>
            </a:r>
          </a:p>
        </p:txBody>
      </p:sp>
      <p:sp>
        <p:nvSpPr>
          <p:cNvPr id="5" name="Title 4">
            <a:extLst>
              <a:ext uri="{FF2B5EF4-FFF2-40B4-BE49-F238E27FC236}">
                <a16:creationId xmlns:a16="http://schemas.microsoft.com/office/drawing/2014/main" id="{4288A170-46BF-52A8-D1D4-DADB4FE1E517}"/>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40544287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80D6D-6BEB-A34D-87EA-EA309023C1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4DFA171-A4C6-FE59-D4E0-5D63DAF5E8B5}"/>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Logger(String </a:t>
            </a:r>
            <a:r>
              <a:rPr lang="en-US" dirty="0" err="1"/>
              <a:t>outputFileName</a:t>
            </a:r>
            <a:r>
              <a:rPr lang="en-US" dirty="0"/>
              <a:t>)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a:t>
            </a:r>
          </a:p>
          <a:p>
            <a:endParaRPr lang="en-US" dirty="0"/>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67688823-A201-AD56-B89D-2A1B6DCE2CF4}"/>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524B7C8E-1D81-3D87-0218-A0940F4182CF}"/>
              </a:ext>
            </a:extLst>
          </p:cNvPr>
          <p:cNvSpPr>
            <a:spLocks noGrp="1"/>
          </p:cNvSpPr>
          <p:nvPr>
            <p:ph idx="13"/>
          </p:nvPr>
        </p:nvSpPr>
        <p:spPr/>
        <p:txBody>
          <a:bodyPr/>
          <a:lstStyle/>
          <a:p>
            <a:r>
              <a:rPr lang="en-US" dirty="0"/>
              <a:t>Create and store a </a:t>
            </a:r>
            <a:r>
              <a:rPr lang="en-US" dirty="0">
                <a:latin typeface="Consolas" panose="020B0609020204030204" pitchFamily="49" charset="0"/>
              </a:rPr>
              <a:t>Logger</a:t>
            </a:r>
            <a:r>
              <a:rPr lang="en-US" dirty="0"/>
              <a:t> object as a static field in the </a:t>
            </a:r>
            <a:r>
              <a:rPr lang="en-US" dirty="0">
                <a:latin typeface="Consolas" panose="020B0609020204030204" pitchFamily="49" charset="0"/>
              </a:rPr>
              <a:t>Logger</a:t>
            </a:r>
            <a:r>
              <a:rPr lang="en-US" dirty="0"/>
              <a:t> class</a:t>
            </a:r>
          </a:p>
          <a:p>
            <a:r>
              <a:rPr lang="en-US" dirty="0"/>
              <a:t>The usage site can access the logger object by </a:t>
            </a:r>
            <a:r>
              <a:rPr lang="en-US" dirty="0" err="1">
                <a:latin typeface="Consolas" panose="020B0609020204030204" pitchFamily="49" charset="0"/>
              </a:rPr>
              <a:t>Logger.logger</a:t>
            </a:r>
            <a:endParaRPr lang="en-US" dirty="0">
              <a:latin typeface="Consolas" panose="020B0609020204030204" pitchFamily="49" charset="0"/>
            </a:endParaRPr>
          </a:p>
          <a:p>
            <a:r>
              <a:rPr lang="en-US" dirty="0"/>
              <a:t>No need to pass the logger object as an argument to callee methods</a:t>
            </a:r>
          </a:p>
          <a:p>
            <a:endParaRPr lang="en-US" dirty="0"/>
          </a:p>
        </p:txBody>
      </p:sp>
      <p:sp>
        <p:nvSpPr>
          <p:cNvPr id="3" name="Rectangle 2">
            <a:extLst>
              <a:ext uri="{FF2B5EF4-FFF2-40B4-BE49-F238E27FC236}">
                <a16:creationId xmlns:a16="http://schemas.microsoft.com/office/drawing/2014/main" id="{26187511-5546-B1BA-94A2-410F43B5068D}"/>
              </a:ext>
            </a:extLst>
          </p:cNvPr>
          <p:cNvSpPr/>
          <p:nvPr/>
        </p:nvSpPr>
        <p:spPr>
          <a:xfrm>
            <a:off x="6362337" y="1048375"/>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CAA90E4-0326-65FF-9B95-9E6C1E7D5DE2}"/>
              </a:ext>
            </a:extLst>
          </p:cNvPr>
          <p:cNvSpPr/>
          <p:nvPr/>
        </p:nvSpPr>
        <p:spPr>
          <a:xfrm>
            <a:off x="6176512" y="3897394"/>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C6E5453-4C53-13EF-FBD8-F42B1EE08B55}"/>
              </a:ext>
            </a:extLst>
          </p:cNvPr>
          <p:cNvSpPr/>
          <p:nvPr/>
        </p:nvSpPr>
        <p:spPr>
          <a:xfrm>
            <a:off x="6176512" y="4680173"/>
            <a:ext cx="5261762" cy="693338"/>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29748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7" grpId="0" animBg="1"/>
      <p:bldP spid="7"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7A201-49A3-184E-24CF-674A333B53D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3E1653-0E1F-B235-4DA5-C4E368492861}"/>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DA858C94-6BBE-91FB-813C-DFD62DB9B975}"/>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AE8A1E0C-9AA0-AE8D-D741-AC3C3E820F4B}"/>
              </a:ext>
            </a:extLst>
          </p:cNvPr>
          <p:cNvSpPr>
            <a:spLocks noGrp="1"/>
          </p:cNvSpPr>
          <p:nvPr>
            <p:ph idx="13"/>
          </p:nvPr>
        </p:nvSpPr>
        <p:spPr/>
        <p:txBody>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pPr lvl="1"/>
            <a:endParaRPr lang="en-US" dirty="0"/>
          </a:p>
          <a:p>
            <a:pPr marL="0" indent="0">
              <a:buNone/>
            </a:pPr>
            <a:endParaRPr lang="en-US" dirty="0"/>
          </a:p>
          <a:p>
            <a:endParaRPr lang="en-US" dirty="0"/>
          </a:p>
        </p:txBody>
      </p:sp>
      <p:pic>
        <p:nvPicPr>
          <p:cNvPr id="1026" name="Picture 2" descr="Red x mark icon - Free red x mark icons">
            <a:extLst>
              <a:ext uri="{FF2B5EF4-FFF2-40B4-BE49-F238E27FC236}">
                <a16:creationId xmlns:a16="http://schemas.microsoft.com/office/drawing/2014/main" id="{F4FBABD6-641F-912F-0273-C6EC7F241F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14131" y="1858109"/>
            <a:ext cx="590916" cy="59091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25,500+ Green Check Mark Stock Illustrations, Royalty-Free ...">
            <a:extLst>
              <a:ext uri="{FF2B5EF4-FFF2-40B4-BE49-F238E27FC236}">
                <a16:creationId xmlns:a16="http://schemas.microsoft.com/office/drawing/2014/main" id="{EA26BFB7-ACE6-48EA-A52F-F05AFBAAD31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93590" y="2946918"/>
            <a:ext cx="1031997" cy="11504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FC054E86-6F45-FCF0-4BD2-8DA29143AEB8}"/>
              </a:ext>
            </a:extLst>
          </p:cNvPr>
          <p:cNvSpPr txBox="1"/>
          <p:nvPr/>
        </p:nvSpPr>
        <p:spPr>
          <a:xfrm>
            <a:off x="8084222" y="5549776"/>
            <a:ext cx="3522503" cy="523220"/>
          </a:xfrm>
          <a:prstGeom prst="rect">
            <a:avLst/>
          </a:prstGeom>
          <a:noFill/>
        </p:spPr>
        <p:txBody>
          <a:bodyPr wrap="none" rtlCol="0">
            <a:spAutoFit/>
          </a:bodyPr>
          <a:lstStyle/>
          <a:p>
            <a:r>
              <a:rPr lang="en-US" sz="2800" b="1" i="1" dirty="0">
                <a:solidFill>
                  <a:srgbClr val="C00000"/>
                </a:solidFill>
              </a:rPr>
              <a:t>Inconsistent logging!!!</a:t>
            </a:r>
          </a:p>
        </p:txBody>
      </p:sp>
      <p:sp>
        <p:nvSpPr>
          <p:cNvPr id="3" name="Rectangle 2">
            <a:extLst>
              <a:ext uri="{FF2B5EF4-FFF2-40B4-BE49-F238E27FC236}">
                <a16:creationId xmlns:a16="http://schemas.microsoft.com/office/drawing/2014/main" id="{99ADBF07-69F6-79A5-47BA-EFB7DB03F15E}"/>
              </a:ext>
            </a:extLst>
          </p:cNvPr>
          <p:cNvSpPr/>
          <p:nvPr/>
        </p:nvSpPr>
        <p:spPr>
          <a:xfrm>
            <a:off x="6176512" y="4680172"/>
            <a:ext cx="5261762" cy="964271"/>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515091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1F047-0897-A5F4-0D8C-07960F7C9B8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BE9261C-1F7B-62C0-AEEB-2CF1D5CDB320}"/>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a:p>
            <a:endParaRPr lang="en-US" dirty="0"/>
          </a:p>
        </p:txBody>
      </p:sp>
      <p:sp>
        <p:nvSpPr>
          <p:cNvPr id="4" name="Title 3">
            <a:extLst>
              <a:ext uri="{FF2B5EF4-FFF2-40B4-BE49-F238E27FC236}">
                <a16:creationId xmlns:a16="http://schemas.microsoft.com/office/drawing/2014/main" id="{A9E755F1-1DF7-6A42-00AE-B44A2559F404}"/>
              </a:ext>
            </a:extLst>
          </p:cNvPr>
          <p:cNvSpPr>
            <a:spLocks noGrp="1"/>
          </p:cNvSpPr>
          <p:nvPr>
            <p:ph type="title"/>
          </p:nvPr>
        </p:nvSpPr>
        <p:spPr/>
        <p:txBody>
          <a:bodyPr/>
          <a:lstStyle/>
          <a:p>
            <a:r>
              <a:rPr lang="en-US" dirty="0">
                <a:latin typeface="Helvetica" panose="020B0604020202020204"/>
                <a:cs typeface="Helvetica" panose="020B0604020202020204"/>
              </a:rPr>
              <a:t>Preventing misuse</a:t>
            </a:r>
          </a:p>
        </p:txBody>
      </p:sp>
      <p:sp>
        <p:nvSpPr>
          <p:cNvPr id="2" name="Content Placeholder 1">
            <a:extLst>
              <a:ext uri="{FF2B5EF4-FFF2-40B4-BE49-F238E27FC236}">
                <a16:creationId xmlns:a16="http://schemas.microsoft.com/office/drawing/2014/main" id="{2957E90E-CF3A-567B-E2BB-5D43AD714EA2}"/>
              </a:ext>
            </a:extLst>
          </p:cNvPr>
          <p:cNvSpPr>
            <a:spLocks noGrp="1"/>
          </p:cNvSpPr>
          <p:nvPr>
            <p:ph idx="13"/>
          </p:nvPr>
        </p:nvSpPr>
        <p:spPr/>
        <p:txBody>
          <a:bodyPr/>
          <a:lstStyle/>
          <a:p>
            <a:r>
              <a:rPr lang="en-US" dirty="0"/>
              <a:t>Write code that cannot be misused</a:t>
            </a:r>
          </a:p>
          <a:p>
            <a:r>
              <a:rPr lang="en-US" dirty="0"/>
              <a:t>If someone uses your class according to the class’s public API it should just work! </a:t>
            </a:r>
          </a:p>
          <a:p>
            <a:r>
              <a:rPr lang="en-US" dirty="0"/>
              <a:t>No “hidden” requirements</a:t>
            </a:r>
          </a:p>
          <a:p>
            <a:pPr marL="0" indent="0">
              <a:buNone/>
            </a:pPr>
            <a:endParaRPr lang="en-US" dirty="0"/>
          </a:p>
          <a:p>
            <a:endParaRPr lang="en-US" dirty="0"/>
          </a:p>
        </p:txBody>
      </p:sp>
    </p:spTree>
    <p:extLst>
      <p:ext uri="{BB962C8B-B14F-4D97-AF65-F5344CB8AC3E}">
        <p14:creationId xmlns:p14="http://schemas.microsoft.com/office/powerpoint/2010/main" val="32847796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C59A3-34A1-87E3-F8EF-720600035FC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2CBAF0D-ABC2-D46B-F95D-023EB44006E6}"/>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1CB34688-0C58-1444-CD37-E44A7FA5EDE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B85C0734-FCFC-4240-03F8-BF978321B2BB}"/>
              </a:ext>
            </a:extLst>
          </p:cNvPr>
          <p:cNvSpPr>
            <a:spLocks noGrp="1"/>
          </p:cNvSpPr>
          <p:nvPr>
            <p:ph idx="13"/>
          </p:nvPr>
        </p:nvSpPr>
        <p:spPr/>
        <p:txBody>
          <a:bodyPr>
            <a:normAutofit lnSpcReduction="10000"/>
          </a:bodyPr>
          <a:lstStyle/>
          <a:p>
            <a:r>
              <a:rPr lang="en-US" dirty="0"/>
              <a:t>Provide a static method </a:t>
            </a:r>
            <a:r>
              <a:rPr lang="en-US" dirty="0" err="1">
                <a:latin typeface="Consolas" panose="020B0609020204030204" pitchFamily="49" charset="0"/>
              </a:rPr>
              <a:t>getLogger</a:t>
            </a:r>
            <a:r>
              <a:rPr lang="en-US" dirty="0">
                <a:latin typeface="Consolas" panose="020B0609020204030204" pitchFamily="49" charset="0"/>
              </a:rPr>
              <a:t>()</a:t>
            </a:r>
            <a:r>
              <a:rPr lang="en-US" dirty="0"/>
              <a:t> that instantiates the logger</a:t>
            </a:r>
          </a:p>
          <a:p>
            <a:r>
              <a:rPr lang="en-US" dirty="0"/>
              <a:t>Turn the constructor </a:t>
            </a:r>
            <a:r>
              <a:rPr lang="en-US" dirty="0">
                <a:latin typeface="Consolas" panose="020B0609020204030204" pitchFamily="49" charset="0"/>
              </a:rPr>
              <a:t>private</a:t>
            </a:r>
          </a:p>
          <a:p>
            <a:pPr lvl="1"/>
            <a:r>
              <a:rPr lang="en-US" dirty="0"/>
              <a:t>All object creation goes through </a:t>
            </a:r>
            <a:r>
              <a:rPr lang="en-US" dirty="0" err="1">
                <a:latin typeface="Consolas" panose="020B0609020204030204" pitchFamily="49" charset="0"/>
              </a:rPr>
              <a:t>getLogger</a:t>
            </a:r>
            <a:r>
              <a:rPr lang="en-US" dirty="0">
                <a:latin typeface="Consolas" panose="020B0609020204030204" pitchFamily="49" charset="0"/>
              </a:rPr>
              <a:t>()</a:t>
            </a:r>
          </a:p>
          <a:p>
            <a:r>
              <a:rPr lang="en-US" dirty="0" err="1">
                <a:latin typeface="Consolas" panose="020B0609020204030204" pitchFamily="49" charset="0"/>
              </a:rPr>
              <a:t>getLogger</a:t>
            </a:r>
            <a:r>
              <a:rPr lang="en-US" dirty="0">
                <a:latin typeface="Consolas" panose="020B0609020204030204" pitchFamily="49" charset="0"/>
              </a:rPr>
              <a:t>()</a:t>
            </a:r>
            <a:r>
              <a:rPr lang="en-US" dirty="0"/>
              <a:t> reuses existing logger if already created, if not, creates a new logger</a:t>
            </a:r>
          </a:p>
          <a:p>
            <a:endParaRPr lang="en-US" dirty="0"/>
          </a:p>
          <a:p>
            <a:pPr marL="0" indent="0">
              <a:buNone/>
            </a:pPr>
            <a:endParaRPr lang="en-US" dirty="0"/>
          </a:p>
          <a:p>
            <a:endParaRPr lang="en-US" dirty="0"/>
          </a:p>
        </p:txBody>
      </p:sp>
      <p:sp>
        <p:nvSpPr>
          <p:cNvPr id="3" name="Rectangle 2">
            <a:extLst>
              <a:ext uri="{FF2B5EF4-FFF2-40B4-BE49-F238E27FC236}">
                <a16:creationId xmlns:a16="http://schemas.microsoft.com/office/drawing/2014/main" id="{ABC3A70B-C30D-3978-1981-E36057ACC286}"/>
              </a:ext>
            </a:extLst>
          </p:cNvPr>
          <p:cNvSpPr/>
          <p:nvPr/>
        </p:nvSpPr>
        <p:spPr>
          <a:xfrm>
            <a:off x="6444399" y="2291644"/>
            <a:ext cx="5261762" cy="1137356"/>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C065AA00-715F-9AC0-633D-208DE36B696F}"/>
              </a:ext>
            </a:extLst>
          </p:cNvPr>
          <p:cNvSpPr/>
          <p:nvPr/>
        </p:nvSpPr>
        <p:spPr>
          <a:xfrm>
            <a:off x="6548163" y="1322132"/>
            <a:ext cx="5261762" cy="712595"/>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14B36153-919C-F476-D1CC-1DB0D8FF29B9}"/>
              </a:ext>
            </a:extLst>
          </p:cNvPr>
          <p:cNvSpPr/>
          <p:nvPr/>
        </p:nvSpPr>
        <p:spPr>
          <a:xfrm>
            <a:off x="6176512" y="4844143"/>
            <a:ext cx="5261762" cy="841549"/>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43965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6"/>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8" grpId="0" animBg="1"/>
      <p:bldP spid="8"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ED42D-D175-AA27-087E-FBC53F1E916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0C14595-D66F-8F68-B99D-AD70D01EC7AC}"/>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37B136A2-66CC-365D-2A14-B819AE55E6D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3D2DB226-FF9A-28CC-2C91-0CADFFC6DFD0}"/>
              </a:ext>
            </a:extLst>
          </p:cNvPr>
          <p:cNvSpPr>
            <a:spLocks noGrp="1"/>
          </p:cNvSpPr>
          <p:nvPr>
            <p:ph idx="13"/>
          </p:nvPr>
        </p:nvSpPr>
        <p:spPr/>
        <p:txBody>
          <a:bodyPr>
            <a:normAutofit/>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endParaRPr lang="en-US" dirty="0"/>
          </a:p>
          <a:p>
            <a:pPr marL="0" indent="0">
              <a:buNone/>
            </a:pPr>
            <a:endParaRPr lang="en-US" dirty="0"/>
          </a:p>
          <a:p>
            <a:endParaRPr lang="en-US" dirty="0"/>
          </a:p>
        </p:txBody>
      </p:sp>
      <p:pic>
        <p:nvPicPr>
          <p:cNvPr id="6" name="Picture 4" descr="25,500+ Green Check Mark Stock Illustrations, Royalty-Free ...">
            <a:extLst>
              <a:ext uri="{FF2B5EF4-FFF2-40B4-BE49-F238E27FC236}">
                <a16:creationId xmlns:a16="http://schemas.microsoft.com/office/drawing/2014/main" id="{8DA9D0D5-63C6-E843-9C50-EAC067A984F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1869049"/>
            <a:ext cx="622522" cy="69395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25,500+ Green Check Mark Stock Illustrations, Royalty-Free ...">
            <a:extLst>
              <a:ext uri="{FF2B5EF4-FFF2-40B4-BE49-F238E27FC236}">
                <a16:creationId xmlns:a16="http://schemas.microsoft.com/office/drawing/2014/main" id="{147F4B00-A2A4-77B6-2BBB-BAADA00493A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3082020"/>
            <a:ext cx="622522" cy="6939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824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03D43-B7F0-1C80-92E9-F7EFD4365F3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FDABA82-F2B4-1FD4-C136-BF6C5CDCD16E}"/>
              </a:ext>
            </a:extLst>
          </p:cNvPr>
          <p:cNvSpPr>
            <a:spLocks noGrp="1"/>
          </p:cNvSpPr>
          <p:nvPr>
            <p:ph idx="1"/>
          </p:nvPr>
        </p:nvSpPr>
        <p:spPr/>
        <p:txBody>
          <a:bodyPr/>
          <a:lstStyle/>
          <a:p>
            <a:r>
              <a:rPr lang="en-US" dirty="0"/>
              <a:t>The design of the Logger class captures a design pattern</a:t>
            </a:r>
          </a:p>
          <a:p>
            <a:pPr lvl="1"/>
            <a:r>
              <a:rPr lang="en-US" dirty="0"/>
              <a:t>Applicable in many other contexts</a:t>
            </a:r>
          </a:p>
          <a:p>
            <a:pPr lvl="2"/>
            <a:r>
              <a:rPr lang="en-US" dirty="0">
                <a:latin typeface="Consolas" panose="020B0609020204030204" pitchFamily="49" charset="0"/>
              </a:rPr>
              <a:t>Configuration </a:t>
            </a:r>
            <a:r>
              <a:rPr lang="en-US" dirty="0">
                <a:latin typeface="Helvetica" panose="020B0604020202020204" pitchFamily="34" charset="0"/>
                <a:cs typeface="Helvetica" panose="020B0604020202020204" pitchFamily="34" charset="0"/>
              </a:rPr>
              <a:t>class</a:t>
            </a:r>
            <a:r>
              <a:rPr lang="en-US" dirty="0"/>
              <a:t>, </a:t>
            </a:r>
            <a:r>
              <a:rPr lang="en-US" dirty="0" err="1">
                <a:latin typeface="Consolas" panose="020B0609020204030204" pitchFamily="49" charset="0"/>
              </a:rPr>
              <a:t>DatabaseConnector</a:t>
            </a:r>
            <a:r>
              <a:rPr lang="en-US" dirty="0"/>
              <a:t> class, and so on</a:t>
            </a:r>
          </a:p>
          <a:p>
            <a:r>
              <a:rPr lang="en-US" dirty="0"/>
              <a:t>Understanding this design pattern allows software engineers to apply the same solution to these other contexts without having to re-engineer it</a:t>
            </a:r>
          </a:p>
        </p:txBody>
      </p:sp>
      <p:sp>
        <p:nvSpPr>
          <p:cNvPr id="4" name="Title 3">
            <a:extLst>
              <a:ext uri="{FF2B5EF4-FFF2-40B4-BE49-F238E27FC236}">
                <a16:creationId xmlns:a16="http://schemas.microsoft.com/office/drawing/2014/main" id="{A975D50E-2F72-0001-FF1B-B8A0671B7708}"/>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38876312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7CC684A-DD8E-DE94-852D-FC506D2B7D95}"/>
              </a:ext>
            </a:extLst>
          </p:cNvPr>
          <p:cNvSpPr>
            <a:spLocks noGrp="1"/>
          </p:cNvSpPr>
          <p:nvPr>
            <p:ph idx="1"/>
          </p:nvPr>
        </p:nvSpPr>
        <p:spPr/>
        <p:txBody>
          <a:bodyPr/>
          <a:lstStyle/>
          <a:p>
            <a:r>
              <a:rPr lang="en-US" dirty="0"/>
              <a:t>class A {</a:t>
            </a:r>
          </a:p>
          <a:p>
            <a:r>
              <a:rPr lang="en-US" dirty="0"/>
              <a:t>	// Some fields</a:t>
            </a:r>
          </a:p>
          <a:p>
            <a:r>
              <a:rPr lang="en-US" dirty="0"/>
              <a:t>	// Some methods</a:t>
            </a:r>
          </a:p>
          <a:p>
            <a:r>
              <a:rPr lang="en-US" dirty="0"/>
              <a:t>}</a:t>
            </a:r>
          </a:p>
          <a:p>
            <a:endParaRPr lang="en-US" dirty="0"/>
          </a:p>
          <a:p>
            <a:r>
              <a:rPr lang="en-US" dirty="0"/>
              <a:t>class B extends A {</a:t>
            </a:r>
          </a:p>
          <a:p>
            <a:r>
              <a:rPr lang="en-US" dirty="0"/>
              <a:t>	private A </a:t>
            </a:r>
            <a:r>
              <a:rPr lang="en-US" dirty="0" err="1"/>
              <a:t>objA</a:t>
            </a:r>
            <a:r>
              <a:rPr lang="en-US" dirty="0"/>
              <a:t>;</a:t>
            </a:r>
          </a:p>
          <a:p>
            <a:endParaRPr lang="en-US" dirty="0"/>
          </a:p>
          <a:p>
            <a:r>
              <a:rPr lang="en-US" dirty="0"/>
              <a:t>	// Some fields</a:t>
            </a:r>
          </a:p>
          <a:p>
            <a:r>
              <a:rPr lang="en-US" dirty="0"/>
              <a:t>	// Some methods</a:t>
            </a:r>
          </a:p>
          <a:p>
            <a:r>
              <a:rPr lang="en-US" dirty="0"/>
              <a:t>}</a:t>
            </a:r>
          </a:p>
        </p:txBody>
      </p:sp>
      <p:sp>
        <p:nvSpPr>
          <p:cNvPr id="4" name="Title 3">
            <a:extLst>
              <a:ext uri="{FF2B5EF4-FFF2-40B4-BE49-F238E27FC236}">
                <a16:creationId xmlns:a16="http://schemas.microsoft.com/office/drawing/2014/main" id="{628D96B9-CB15-7516-4E67-2891CED60556}"/>
              </a:ext>
            </a:extLst>
          </p:cNvPr>
          <p:cNvSpPr>
            <a:spLocks noGrp="1"/>
          </p:cNvSpPr>
          <p:nvPr>
            <p:ph type="title"/>
          </p:nvPr>
        </p:nvSpPr>
        <p:spPr>
          <a:xfrm>
            <a:off x="0" y="0"/>
            <a:ext cx="12192000" cy="696277"/>
          </a:xfrm>
        </p:spPr>
        <p:txBody>
          <a:bodyPr/>
          <a:lstStyle/>
          <a:p>
            <a:r>
              <a:rPr lang="en-US" dirty="0"/>
              <a:t>Why should we study design patterns?</a:t>
            </a:r>
          </a:p>
        </p:txBody>
      </p:sp>
      <p:sp>
        <p:nvSpPr>
          <p:cNvPr id="2" name="Content Placeholder 1">
            <a:extLst>
              <a:ext uri="{FF2B5EF4-FFF2-40B4-BE49-F238E27FC236}">
                <a16:creationId xmlns:a16="http://schemas.microsoft.com/office/drawing/2014/main" id="{38F196BB-F530-ED5B-6F55-77E6F212186F}"/>
              </a:ext>
            </a:extLst>
          </p:cNvPr>
          <p:cNvSpPr>
            <a:spLocks noGrp="1"/>
          </p:cNvSpPr>
          <p:nvPr>
            <p:ph idx="13"/>
          </p:nvPr>
        </p:nvSpPr>
        <p:spPr>
          <a:xfrm>
            <a:off x="382074" y="785004"/>
            <a:ext cx="5633413" cy="5046453"/>
          </a:xfrm>
        </p:spPr>
        <p:txBody>
          <a:bodyPr>
            <a:normAutofit fontScale="92500" lnSpcReduction="10000"/>
          </a:bodyPr>
          <a:lstStyle/>
          <a:p>
            <a:r>
              <a:rPr lang="en-US" dirty="0"/>
              <a:t>Important to quickly recognize common requirements </a:t>
            </a:r>
          </a:p>
          <a:p>
            <a:r>
              <a:rPr lang="en-US" dirty="0"/>
              <a:t>Important for reading large codebases</a:t>
            </a:r>
          </a:p>
          <a:p>
            <a:pPr lvl="1"/>
            <a:r>
              <a:rPr lang="en-US" dirty="0"/>
              <a:t>Class B extends class A and also contains an object of class A </a:t>
            </a:r>
          </a:p>
          <a:p>
            <a:pPr lvl="1"/>
            <a:r>
              <a:rPr lang="en-US" dirty="0"/>
              <a:t>What’s </a:t>
            </a:r>
            <a:r>
              <a:rPr lang="en-US" b="1" dirty="0"/>
              <a:t>one</a:t>
            </a:r>
            <a:r>
              <a:rPr lang="en-US" dirty="0"/>
              <a:t> possible reason? </a:t>
            </a:r>
          </a:p>
          <a:p>
            <a:pPr lvl="1"/>
            <a:r>
              <a:rPr lang="en-US" dirty="0"/>
              <a:t>Could be many reasons, but one reason could be they are implementing the </a:t>
            </a:r>
            <a:r>
              <a:rPr lang="en-US" b="1" i="1" dirty="0"/>
              <a:t>proxy pattern</a:t>
            </a:r>
          </a:p>
          <a:p>
            <a:endParaRPr lang="en-US" dirty="0"/>
          </a:p>
        </p:txBody>
      </p:sp>
    </p:spTree>
    <p:extLst>
      <p:ext uri="{BB962C8B-B14F-4D97-AF65-F5344CB8AC3E}">
        <p14:creationId xmlns:p14="http://schemas.microsoft.com/office/powerpoint/2010/main" val="2786218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01B76-62C7-05EF-833D-66CC93BEDD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244A5A9-15F7-CBA3-F713-4CB4CDEA796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C73BA8F-1FB1-C1EF-1909-E50456B58E8D}"/>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D137762-2A13-9939-4411-62530FFB20BA}"/>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Facade</a:t>
            </a:r>
          </a:p>
          <a:p>
            <a:pPr lvl="1"/>
            <a:endParaRPr lang="en-US" dirty="0"/>
          </a:p>
        </p:txBody>
      </p:sp>
      <p:sp>
        <p:nvSpPr>
          <p:cNvPr id="6" name="Content Placeholder 4">
            <a:extLst>
              <a:ext uri="{FF2B5EF4-FFF2-40B4-BE49-F238E27FC236}">
                <a16:creationId xmlns:a16="http://schemas.microsoft.com/office/drawing/2014/main" id="{B683DCB9-FAFA-6276-DDC6-ED5170F93B60}"/>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419018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54E2F-E90C-63F9-1EE7-6015D6747D4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40A87DA-66DA-5A39-F393-779B20E42100}"/>
              </a:ext>
            </a:extLst>
          </p:cNvPr>
          <p:cNvSpPr>
            <a:spLocks noGrp="1"/>
          </p:cNvSpPr>
          <p:nvPr>
            <p:ph idx="1"/>
          </p:nvPr>
        </p:nvSpPr>
        <p:spPr/>
        <p:txBody>
          <a:bodyPr/>
          <a:lstStyle/>
          <a:p>
            <a:r>
              <a:rPr lang="en-US" dirty="0"/>
              <a:t>Abstract the instantiation process</a:t>
            </a:r>
          </a:p>
          <a:p>
            <a:r>
              <a:rPr lang="en-US" dirty="0"/>
              <a:t>Provides flexibility in</a:t>
            </a:r>
          </a:p>
          <a:p>
            <a:pPr lvl="1"/>
            <a:r>
              <a:rPr lang="en-US" i="1" dirty="0"/>
              <a:t>What </a:t>
            </a:r>
            <a:r>
              <a:rPr lang="en-US" dirty="0"/>
              <a:t>gets created</a:t>
            </a:r>
          </a:p>
          <a:p>
            <a:pPr lvl="1"/>
            <a:r>
              <a:rPr lang="en-US" i="1" dirty="0"/>
              <a:t>Who </a:t>
            </a:r>
            <a:r>
              <a:rPr lang="en-US" dirty="0"/>
              <a:t>creates it</a:t>
            </a:r>
          </a:p>
          <a:p>
            <a:pPr lvl="1"/>
            <a:r>
              <a:rPr lang="en-US" i="1" dirty="0"/>
              <a:t>How </a:t>
            </a:r>
            <a:r>
              <a:rPr lang="en-US" dirty="0"/>
              <a:t>it is created and when</a:t>
            </a:r>
          </a:p>
          <a:p>
            <a:r>
              <a:rPr lang="en-US" dirty="0"/>
              <a:t>Singleton pattern (seen earlier), abstract factory</a:t>
            </a:r>
          </a:p>
        </p:txBody>
      </p:sp>
      <p:sp>
        <p:nvSpPr>
          <p:cNvPr id="4" name="Title 3">
            <a:extLst>
              <a:ext uri="{FF2B5EF4-FFF2-40B4-BE49-F238E27FC236}">
                <a16:creationId xmlns:a16="http://schemas.microsoft.com/office/drawing/2014/main" id="{35E0A266-AD48-CE84-98D8-12E0EF9E2B9D}"/>
              </a:ext>
            </a:extLst>
          </p:cNvPr>
          <p:cNvSpPr>
            <a:spLocks noGrp="1"/>
          </p:cNvSpPr>
          <p:nvPr>
            <p:ph type="title"/>
          </p:nvPr>
        </p:nvSpPr>
        <p:spPr/>
        <p:txBody>
          <a:bodyPr/>
          <a:lstStyle/>
          <a:p>
            <a:r>
              <a:rPr lang="en-US" dirty="0"/>
              <a:t>Creational patterns </a:t>
            </a:r>
          </a:p>
        </p:txBody>
      </p:sp>
    </p:spTree>
    <p:extLst>
      <p:ext uri="{BB962C8B-B14F-4D97-AF65-F5344CB8AC3E}">
        <p14:creationId xmlns:p14="http://schemas.microsoft.com/office/powerpoint/2010/main" val="738238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0E0303-71A9-36B0-0B0E-17359D76A13F}"/>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5DE3778-506D-E45E-FEBD-D878521A6E29}"/>
              </a:ext>
            </a:extLst>
          </p:cNvPr>
          <p:cNvSpPr>
            <a:spLocks noGrp="1"/>
          </p:cNvSpPr>
          <p:nvPr>
            <p:ph type="body" sz="quarter" idx="13"/>
          </p:nvPr>
        </p:nvSpPr>
        <p:spPr/>
        <p:txBody>
          <a:bodyPr/>
          <a:lstStyle/>
          <a:p>
            <a:r>
              <a:rPr lang="en-US" sz="2800" dirty="0"/>
              <a:t>Abstract factory design pattern</a:t>
            </a:r>
          </a:p>
        </p:txBody>
      </p:sp>
    </p:spTree>
    <p:extLst>
      <p:ext uri="{BB962C8B-B14F-4D97-AF65-F5344CB8AC3E}">
        <p14:creationId xmlns:p14="http://schemas.microsoft.com/office/powerpoint/2010/main" val="34830151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14958-E609-FD5C-3A1C-7D0E0E4FBA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2DACA3-4BF1-ACB9-8247-3D08B49FC8F8}"/>
              </a:ext>
            </a:extLst>
          </p:cNvPr>
          <p:cNvSpPr>
            <a:spLocks noGrp="1"/>
          </p:cNvSpPr>
          <p:nvPr>
            <p:ph idx="1"/>
          </p:nvPr>
        </p:nvSpPr>
        <p:spPr/>
        <p:txBody>
          <a:bodyPr>
            <a:normAutofit lnSpcReduction="10000"/>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 // </a:t>
            </a:r>
            <a:r>
              <a:rPr lang="en-US" sz="1600" dirty="0" err="1">
                <a:latin typeface="Consolas" panose="020B0609020204030204" pitchFamily="49" charset="0"/>
              </a:rPr>
              <a:t>WinButton</a:t>
            </a:r>
            <a:r>
              <a:rPr lang="en-US" sz="1600" dirty="0">
                <a:latin typeface="Consolas" panose="020B0609020204030204" pitchFamily="49" charset="0"/>
              </a:rPr>
              <a:t> extends Button</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 // Extends Button</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endParaRPr lang="en-US" dirty="0"/>
          </a:p>
          <a:p>
            <a:r>
              <a:rPr lang="en-US" dirty="0" err="1"/>
              <a:t>DropdownBox</a:t>
            </a:r>
            <a:r>
              <a:rPr lang="en-US" dirty="0"/>
              <a:t> </a:t>
            </a:r>
            <a:r>
              <a:rPr lang="en-US" dirty="0" err="1"/>
              <a:t>dropdownbox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Win</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MacOS</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4" name="Title 3">
            <a:extLst>
              <a:ext uri="{FF2B5EF4-FFF2-40B4-BE49-F238E27FC236}">
                <a16:creationId xmlns:a16="http://schemas.microsoft.com/office/drawing/2014/main" id="{7359E192-1E6C-E546-8E98-0C2E6551740F}"/>
              </a:ext>
            </a:extLst>
          </p:cNvPr>
          <p:cNvSpPr>
            <a:spLocks noGrp="1"/>
          </p:cNvSpPr>
          <p:nvPr>
            <p:ph type="title"/>
          </p:nvPr>
        </p:nvSpPr>
        <p:spPr/>
        <p:txBody>
          <a:bodyPr/>
          <a:lstStyle/>
          <a:p>
            <a:r>
              <a:rPr lang="en-US" dirty="0"/>
              <a:t>Case study: UI toolkit</a:t>
            </a:r>
          </a:p>
        </p:txBody>
      </p:sp>
      <p:sp>
        <p:nvSpPr>
          <p:cNvPr id="2" name="Content Placeholder 1">
            <a:extLst>
              <a:ext uri="{FF2B5EF4-FFF2-40B4-BE49-F238E27FC236}">
                <a16:creationId xmlns:a16="http://schemas.microsoft.com/office/drawing/2014/main" id="{FF0E786E-0F0C-F91D-9527-CDEAF4144969}"/>
              </a:ext>
            </a:extLst>
          </p:cNvPr>
          <p:cNvSpPr>
            <a:spLocks noGrp="1"/>
          </p:cNvSpPr>
          <p:nvPr>
            <p:ph idx="13"/>
          </p:nvPr>
        </p:nvSpPr>
        <p:spPr/>
        <p:txBody>
          <a:bodyPr>
            <a:normAutofit/>
          </a:bodyPr>
          <a:lstStyle/>
          <a:p>
            <a:r>
              <a:rPr lang="en-US" dirty="0"/>
              <a:t>Example: design a GUI app that can support both Windows and MacOS UI components</a:t>
            </a:r>
          </a:p>
          <a:p>
            <a:r>
              <a:rPr lang="en-US" dirty="0"/>
              <a:t>Option 1 – add if-else statements for each UI component creation</a:t>
            </a:r>
          </a:p>
          <a:p>
            <a:pPr lvl="1"/>
            <a:r>
              <a:rPr lang="en-US" dirty="0">
                <a:latin typeface="Helvetica" panose="020B0604020202020204" pitchFamily="34" charset="0"/>
                <a:cs typeface="Helvetica" panose="020B0604020202020204" pitchFamily="34" charset="0"/>
              </a:rPr>
              <a:t>Very ugly </a:t>
            </a:r>
            <a:r>
              <a:rPr lang="en-US" dirty="0">
                <a:latin typeface="Helvetica" panose="020B0604020202020204" pitchFamily="34" charset="0"/>
                <a:cs typeface="Helvetica" panose="020B0604020202020204" pitchFamily="34" charset="0"/>
                <a:sym typeface="Wingdings" panose="05000000000000000000" pitchFamily="2" charset="2"/>
              </a:rPr>
              <a:t></a:t>
            </a:r>
            <a:endParaRPr lang="en-US" dirty="0">
              <a:latin typeface="Helvetica" panose="020B0604020202020204" pitchFamily="34" charset="0"/>
              <a:cs typeface="Helvetica" panose="020B0604020202020204" pitchFamily="34" charset="0"/>
            </a:endParaRPr>
          </a:p>
          <a:p>
            <a:endParaRPr lang="en-US" dirty="0"/>
          </a:p>
        </p:txBody>
      </p:sp>
    </p:spTree>
    <p:extLst>
      <p:ext uri="{BB962C8B-B14F-4D97-AF65-F5344CB8AC3E}">
        <p14:creationId xmlns:p14="http://schemas.microsoft.com/office/powerpoint/2010/main" val="377731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94F4B-DBCD-4D79-CA17-752A8568DA4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AF32625-FDC5-A453-80F5-27946CB95314}"/>
              </a:ext>
            </a:extLst>
          </p:cNvPr>
          <p:cNvSpPr>
            <a:spLocks noGrp="1"/>
          </p:cNvSpPr>
          <p:nvPr>
            <p:ph idx="1"/>
          </p:nvPr>
        </p:nvSpPr>
        <p:spPr/>
        <p:txBody>
          <a:bodyPr>
            <a:normAutofit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p>
          <a:p>
            <a:r>
              <a:rPr lang="en-US" dirty="0"/>
              <a:t>}</a:t>
            </a:r>
          </a:p>
          <a:p>
            <a:endParaRPr lang="en-US" dirty="0"/>
          </a:p>
          <a:p>
            <a:r>
              <a:rPr lang="en-US" dirty="0"/>
              <a:t>public class </a:t>
            </a:r>
            <a:r>
              <a:rPr lang="en-US" dirty="0" err="1"/>
              <a:t>MacOSFactory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MacOSButton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FF969879-3781-7743-E985-9EA7F6F68EBD}"/>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B3B589CC-126E-D915-5851-DEF1857E7BED}"/>
              </a:ext>
            </a:extLst>
          </p:cNvPr>
          <p:cNvSpPr>
            <a:spLocks noGrp="1"/>
          </p:cNvSpPr>
          <p:nvPr>
            <p:ph idx="13"/>
          </p:nvPr>
        </p:nvSpPr>
        <p:spPr/>
        <p:txBody>
          <a:bodyPr/>
          <a:lstStyle/>
          <a:p>
            <a:r>
              <a:rPr lang="en-US" dirty="0"/>
              <a:t>Create an abstract </a:t>
            </a:r>
            <a:r>
              <a:rPr lang="en-US" dirty="0" err="1">
                <a:latin typeface="Consolas" panose="020B0609020204030204" pitchFamily="49" charset="0"/>
              </a:rPr>
              <a:t>UIFactory</a:t>
            </a:r>
            <a:r>
              <a:rPr lang="en-US" dirty="0"/>
              <a:t> class that provides abstract methods for UI component creation</a:t>
            </a:r>
          </a:p>
          <a:p>
            <a:r>
              <a:rPr lang="en-US" dirty="0"/>
              <a:t>Create concrete factory classes for both Windows and MacOS</a:t>
            </a:r>
          </a:p>
        </p:txBody>
      </p:sp>
      <p:sp>
        <p:nvSpPr>
          <p:cNvPr id="3" name="Rectangle 2">
            <a:extLst>
              <a:ext uri="{FF2B5EF4-FFF2-40B4-BE49-F238E27FC236}">
                <a16:creationId xmlns:a16="http://schemas.microsoft.com/office/drawing/2014/main" id="{A3A61597-6F20-88D6-43C3-F90B61447C54}"/>
              </a:ext>
            </a:extLst>
          </p:cNvPr>
          <p:cNvSpPr/>
          <p:nvPr/>
        </p:nvSpPr>
        <p:spPr>
          <a:xfrm>
            <a:off x="6015487" y="1582616"/>
            <a:ext cx="4418051" cy="93784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CCB76BBE-2901-B794-50BD-9434F53B7160}"/>
              </a:ext>
            </a:extLst>
          </p:cNvPr>
          <p:cNvSpPr/>
          <p:nvPr/>
        </p:nvSpPr>
        <p:spPr>
          <a:xfrm>
            <a:off x="6015487" y="2520462"/>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8C42C4E9-10F8-C747-EC49-88C42F1149E8}"/>
              </a:ext>
            </a:extLst>
          </p:cNvPr>
          <p:cNvSpPr/>
          <p:nvPr/>
        </p:nvSpPr>
        <p:spPr>
          <a:xfrm>
            <a:off x="6015486" y="3938954"/>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63993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42A29-48D8-4139-1177-D82A19112EE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85AC07F-CD1B-D3F1-B5AD-56A3879078AB}"/>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 … }</a:t>
            </a:r>
          </a:p>
          <a:p>
            <a:endParaRPr lang="en-US" dirty="0"/>
          </a:p>
          <a:p>
            <a:r>
              <a:rPr lang="en-US" dirty="0"/>
              <a:t>public class </a:t>
            </a:r>
            <a:r>
              <a:rPr lang="en-US" dirty="0" err="1"/>
              <a:t>WinFactory</a:t>
            </a:r>
            <a:r>
              <a:rPr lang="en-US" dirty="0"/>
              <a:t> extends </a:t>
            </a:r>
            <a:r>
              <a:rPr lang="en-US" dirty="0" err="1"/>
              <a:t>UIFactory</a:t>
            </a:r>
            <a:r>
              <a:rPr lang="en-US" dirty="0"/>
              <a:t> { … }</a:t>
            </a:r>
          </a:p>
          <a:p>
            <a:endParaRPr lang="en-US" dirty="0"/>
          </a:p>
          <a:p>
            <a:r>
              <a:rPr lang="en-US" dirty="0"/>
              <a:t>public class </a:t>
            </a:r>
            <a:r>
              <a:rPr lang="en-US" dirty="0" err="1"/>
              <a:t>MacOSFactory</a:t>
            </a:r>
            <a:r>
              <a:rPr lang="en-US" dirty="0"/>
              <a:t> extends </a:t>
            </a:r>
            <a:r>
              <a:rPr lang="en-US" dirty="0" err="1"/>
              <a:t>UIFactory</a:t>
            </a:r>
            <a:r>
              <a:rPr lang="en-US" dirty="0"/>
              <a:t> { …}</a:t>
            </a:r>
          </a:p>
          <a:p>
            <a:endParaRPr lang="en-US" dirty="0"/>
          </a:p>
          <a:p>
            <a:r>
              <a:rPr lang="en-US" dirty="0"/>
              <a:t>public class Application {</a:t>
            </a:r>
          </a:p>
          <a:p>
            <a:r>
              <a:rPr lang="en-US" dirty="0"/>
              <a:t>	private </a:t>
            </a:r>
            <a:r>
              <a:rPr lang="en-US" dirty="0" err="1"/>
              <a:t>UIFactory</a:t>
            </a:r>
            <a:r>
              <a:rPr lang="en-US" dirty="0"/>
              <a:t> </a:t>
            </a:r>
            <a:r>
              <a:rPr lang="en-US" dirty="0" err="1"/>
              <a:t>uiFactory</a:t>
            </a:r>
            <a:r>
              <a:rPr lang="en-US" dirty="0"/>
              <a:t>;</a:t>
            </a:r>
          </a:p>
          <a:p>
            <a:r>
              <a:rPr lang="en-US" dirty="0"/>
              <a:t>	public Application() {</a:t>
            </a:r>
          </a:p>
          <a:p>
            <a:r>
              <a:rPr lang="en-US" dirty="0"/>
              <a:t>		String platform = </a:t>
            </a:r>
            <a:r>
              <a:rPr lang="en-US" dirty="0" err="1"/>
              <a:t>detectPlatform</a:t>
            </a:r>
            <a:r>
              <a:rPr lang="en-US" dirty="0"/>
              <a:t>();</a:t>
            </a:r>
          </a:p>
          <a:p>
            <a:r>
              <a:rPr lang="en-US" dirty="0"/>
              <a:t>		if (platform == “win”) {</a:t>
            </a:r>
          </a:p>
          <a:p>
            <a:r>
              <a:rPr lang="en-US" dirty="0"/>
              <a:t>		    </a:t>
            </a:r>
            <a:r>
              <a:rPr lang="en-US" dirty="0" err="1"/>
              <a:t>uiFactory</a:t>
            </a:r>
            <a:r>
              <a:rPr lang="en-US" dirty="0"/>
              <a:t> = new </a:t>
            </a:r>
            <a:r>
              <a:rPr lang="en-US" dirty="0" err="1"/>
              <a:t>WinFactory</a:t>
            </a:r>
            <a:r>
              <a:rPr lang="en-US" dirty="0"/>
              <a:t>();</a:t>
            </a:r>
          </a:p>
          <a:p>
            <a:r>
              <a:rPr lang="en-US" dirty="0"/>
              <a:t>		} else if (platform == “</a:t>
            </a:r>
            <a:r>
              <a:rPr lang="en-US" dirty="0" err="1"/>
              <a:t>macos</a:t>
            </a:r>
            <a:r>
              <a:rPr lang="en-US" dirty="0"/>
              <a:t>”) {</a:t>
            </a:r>
          </a:p>
          <a:p>
            <a:r>
              <a:rPr lang="en-US" dirty="0"/>
              <a:t>		    </a:t>
            </a:r>
            <a:r>
              <a:rPr lang="en-US" dirty="0" err="1"/>
              <a:t>uiFactory</a:t>
            </a:r>
            <a:r>
              <a:rPr lang="en-US" dirty="0"/>
              <a:t> = new </a:t>
            </a:r>
            <a:r>
              <a:rPr lang="en-US" dirty="0" err="1"/>
              <a:t>MacOSFactory</a:t>
            </a:r>
            <a:r>
              <a:rPr lang="en-US" dirty="0"/>
              <a:t>();</a:t>
            </a:r>
          </a:p>
          <a:p>
            <a:r>
              <a:rPr lang="en-US" dirty="0"/>
              <a:t>		}</a:t>
            </a:r>
          </a:p>
          <a:p>
            <a:r>
              <a:rPr lang="en-US" dirty="0"/>
              <a:t>	}</a:t>
            </a:r>
          </a:p>
          <a:p>
            <a:endParaRPr lang="en-US" dirty="0"/>
          </a:p>
          <a:p>
            <a:r>
              <a:rPr lang="en-US" dirty="0"/>
              <a:t>	public </a:t>
            </a:r>
            <a:r>
              <a:rPr lang="en-US" dirty="0" err="1"/>
              <a:t>drawGUI</a:t>
            </a:r>
            <a:r>
              <a:rPr lang="en-US" dirty="0"/>
              <a:t>() {</a:t>
            </a:r>
          </a:p>
          <a:p>
            <a:r>
              <a:rPr lang="en-US" dirty="0"/>
              <a:t>		Button </a:t>
            </a:r>
            <a:r>
              <a:rPr lang="en-US" dirty="0" err="1"/>
              <a:t>button</a:t>
            </a:r>
            <a:r>
              <a:rPr lang="en-US" dirty="0"/>
              <a:t> = </a:t>
            </a:r>
            <a:r>
              <a:rPr lang="en-US" dirty="0" err="1"/>
              <a:t>uiFactory.createButton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E547DA89-6477-5418-7AE2-DDE15A5553E9}"/>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D4DC1E04-2BC5-AF62-B5F8-10210EEAA125}"/>
              </a:ext>
            </a:extLst>
          </p:cNvPr>
          <p:cNvSpPr>
            <a:spLocks noGrp="1"/>
          </p:cNvSpPr>
          <p:nvPr>
            <p:ph idx="13"/>
          </p:nvPr>
        </p:nvSpPr>
        <p:spPr/>
        <p:txBody>
          <a:bodyPr/>
          <a:lstStyle/>
          <a:p>
            <a:r>
              <a:rPr lang="en-US" dirty="0"/>
              <a:t>Application contains a field of type </a:t>
            </a:r>
            <a:r>
              <a:rPr lang="en-US" dirty="0" err="1"/>
              <a:t>UIFactory</a:t>
            </a:r>
            <a:endParaRPr lang="en-US" dirty="0"/>
          </a:p>
          <a:p>
            <a:pPr lvl="1"/>
            <a:r>
              <a:rPr lang="en-US" dirty="0"/>
              <a:t>Initialized depending on the platform</a:t>
            </a:r>
          </a:p>
          <a:p>
            <a:pPr lvl="1"/>
            <a:r>
              <a:rPr lang="en-US" dirty="0"/>
              <a:t>ONLY place where the platform check is performed</a:t>
            </a:r>
          </a:p>
        </p:txBody>
      </p:sp>
      <p:sp>
        <p:nvSpPr>
          <p:cNvPr id="3" name="Rectangle 2">
            <a:extLst>
              <a:ext uri="{FF2B5EF4-FFF2-40B4-BE49-F238E27FC236}">
                <a16:creationId xmlns:a16="http://schemas.microsoft.com/office/drawing/2014/main" id="{79F85215-C309-3E70-032B-5FE66668BB47}"/>
              </a:ext>
            </a:extLst>
          </p:cNvPr>
          <p:cNvSpPr/>
          <p:nvPr/>
        </p:nvSpPr>
        <p:spPr>
          <a:xfrm>
            <a:off x="6015487" y="2520461"/>
            <a:ext cx="5285559" cy="201636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97280A8C-D758-D1FC-DC5C-7FE1D14BEA9A}"/>
              </a:ext>
            </a:extLst>
          </p:cNvPr>
          <p:cNvSpPr/>
          <p:nvPr/>
        </p:nvSpPr>
        <p:spPr>
          <a:xfrm>
            <a:off x="6015486" y="4560276"/>
            <a:ext cx="5794439" cy="67993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621645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566C345-4FE9-861F-9401-62552AB83AA9}"/>
              </a:ext>
            </a:extLst>
          </p:cNvPr>
          <p:cNvSpPr>
            <a:spLocks noGrp="1"/>
          </p:cNvSpPr>
          <p:nvPr>
            <p:ph idx="1"/>
          </p:nvPr>
        </p:nvSpPr>
        <p:spPr/>
        <p:txBody>
          <a:bodyPr/>
          <a:lstStyle/>
          <a:p>
            <a:r>
              <a:rPr lang="en-US" dirty="0"/>
              <a:t>Provide an interface for creating families of related or dependent objects without specifying their concrete classes</a:t>
            </a:r>
          </a:p>
          <a:p>
            <a:r>
              <a:rPr lang="en-US" dirty="0"/>
              <a:t>An abstract factory class provides an abstract interface for object creation</a:t>
            </a:r>
          </a:p>
          <a:p>
            <a:r>
              <a:rPr lang="en-US" dirty="0"/>
              <a:t>Concreate factory sub-classes implement that abstract interface</a:t>
            </a:r>
          </a:p>
        </p:txBody>
      </p:sp>
      <p:sp>
        <p:nvSpPr>
          <p:cNvPr id="4" name="Title 3">
            <a:extLst>
              <a:ext uri="{FF2B5EF4-FFF2-40B4-BE49-F238E27FC236}">
                <a16:creationId xmlns:a16="http://schemas.microsoft.com/office/drawing/2014/main" id="{CA5707DD-719B-2F02-2BF7-BE6738BB593D}"/>
              </a:ext>
            </a:extLst>
          </p:cNvPr>
          <p:cNvSpPr>
            <a:spLocks noGrp="1"/>
          </p:cNvSpPr>
          <p:nvPr>
            <p:ph type="title"/>
          </p:nvPr>
        </p:nvSpPr>
        <p:spPr/>
        <p:txBody>
          <a:bodyPr/>
          <a:lstStyle/>
          <a:p>
            <a:r>
              <a:rPr lang="en-US" dirty="0"/>
              <a:t>Abstract factory</a:t>
            </a:r>
          </a:p>
        </p:txBody>
      </p:sp>
    </p:spTree>
    <p:extLst>
      <p:ext uri="{BB962C8B-B14F-4D97-AF65-F5344CB8AC3E}">
        <p14:creationId xmlns:p14="http://schemas.microsoft.com/office/powerpoint/2010/main" val="36354924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382BE99-4688-BBD0-00B4-F0B88544F0BE}"/>
              </a:ext>
            </a:extLst>
          </p:cNvPr>
          <p:cNvSpPr>
            <a:spLocks noGrp="1"/>
          </p:cNvSpPr>
          <p:nvPr>
            <p:ph idx="1"/>
          </p:nvPr>
        </p:nvSpPr>
        <p:spPr/>
        <p:txBody>
          <a:bodyPr/>
          <a:lstStyle/>
          <a:p>
            <a:r>
              <a:rPr lang="en-US" dirty="0"/>
              <a:t>Isolates concrete classes</a:t>
            </a:r>
          </a:p>
          <a:p>
            <a:pPr lvl="1"/>
            <a:r>
              <a:rPr lang="en-US" dirty="0"/>
              <a:t>Objects are created through the interface / abstract classes</a:t>
            </a:r>
          </a:p>
          <a:p>
            <a:r>
              <a:rPr lang="en-US" dirty="0"/>
              <a:t>Promotes consistency among products</a:t>
            </a:r>
          </a:p>
          <a:p>
            <a:pPr lvl="1"/>
            <a:r>
              <a:rPr lang="en-US" dirty="0"/>
              <a:t>All UI families must support same functionalities</a:t>
            </a:r>
          </a:p>
          <a:p>
            <a:r>
              <a:rPr lang="en-US" dirty="0"/>
              <a:t>Supporting new kind of UI family is easier</a:t>
            </a:r>
          </a:p>
        </p:txBody>
      </p:sp>
      <p:sp>
        <p:nvSpPr>
          <p:cNvPr id="5" name="Title 4">
            <a:extLst>
              <a:ext uri="{FF2B5EF4-FFF2-40B4-BE49-F238E27FC236}">
                <a16:creationId xmlns:a16="http://schemas.microsoft.com/office/drawing/2014/main" id="{A46D94F0-D760-0527-69CE-B30BDEE9C0CF}"/>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8836681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5D1F2-BBC7-90BA-A35F-F21534714B9E}"/>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E0420A-9BD0-A8DF-8517-9C45037D9BA4}"/>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p>
          <a:p>
            <a:r>
              <a:rPr lang="en-US" dirty="0"/>
              <a:t>	button = new </a:t>
            </a:r>
            <a:r>
              <a:rPr lang="en-US" dirty="0" err="1"/>
              <a:t>GnomeButton</a:t>
            </a:r>
            <a:r>
              <a:rPr lang="en-US" dirty="0"/>
              <a:t>(); // </a:t>
            </a:r>
            <a:r>
              <a:rPr lang="en-US" dirty="0" err="1"/>
              <a:t>linux</a:t>
            </a:r>
            <a:endParaRPr lang="en-US" sz="1600" dirty="0">
              <a:latin typeface="Consolas" panose="020B0609020204030204" pitchFamily="49" charset="0"/>
            </a:endParaRPr>
          </a:p>
          <a:p>
            <a:r>
              <a:rPr lang="en-US" dirty="0"/>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a:t>
            </a:r>
            <a:r>
              <a:rPr lang="en-US" sz="1600" b="1" dirty="0">
                <a:latin typeface="Consolas" panose="020B0609020204030204" pitchFamily="49" charset="0"/>
              </a:rPr>
              <a:t>// Linux not handled</a:t>
            </a:r>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49599D3D-9665-7DB1-0347-261D21065FC9}"/>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2527A8C5-7BB9-1540-FAE6-8DBC5AD87AE2}"/>
              </a:ext>
            </a:extLst>
          </p:cNvPr>
          <p:cNvSpPr>
            <a:spLocks noGrp="1"/>
          </p:cNvSpPr>
          <p:nvPr>
            <p:ph idx="13"/>
          </p:nvPr>
        </p:nvSpPr>
        <p:spPr/>
        <p:txBody>
          <a:bodyPr/>
          <a:lstStyle/>
          <a:p>
            <a:r>
              <a:rPr lang="en-US" dirty="0"/>
              <a:t>Promotes consistency among products</a:t>
            </a:r>
          </a:p>
          <a:p>
            <a:r>
              <a:rPr lang="en-US" dirty="0"/>
              <a:t>Supporting new kind of UI family is easier</a:t>
            </a:r>
          </a:p>
          <a:p>
            <a:endParaRPr lang="en-US" dirty="0"/>
          </a:p>
        </p:txBody>
      </p:sp>
      <p:sp>
        <p:nvSpPr>
          <p:cNvPr id="3" name="Rectangle 2">
            <a:extLst>
              <a:ext uri="{FF2B5EF4-FFF2-40B4-BE49-F238E27FC236}">
                <a16:creationId xmlns:a16="http://schemas.microsoft.com/office/drawing/2014/main" id="{C037429C-0F66-E6CC-C306-DB5421D2FDE5}"/>
              </a:ext>
            </a:extLst>
          </p:cNvPr>
          <p:cNvSpPr/>
          <p:nvPr/>
        </p:nvSpPr>
        <p:spPr>
          <a:xfrm>
            <a:off x="6015486" y="20632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6F54AF51-6AC6-C6E9-E6B5-F55BF356A6D7}"/>
              </a:ext>
            </a:extLst>
          </p:cNvPr>
          <p:cNvSpPr/>
          <p:nvPr/>
        </p:nvSpPr>
        <p:spPr>
          <a:xfrm>
            <a:off x="6015485" y="42508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TextBox 6">
            <a:extLst>
              <a:ext uri="{FF2B5EF4-FFF2-40B4-BE49-F238E27FC236}">
                <a16:creationId xmlns:a16="http://schemas.microsoft.com/office/drawing/2014/main" id="{6F1CA7B2-59AB-6CFF-65FC-3801C0FA1ACE}"/>
              </a:ext>
            </a:extLst>
          </p:cNvPr>
          <p:cNvSpPr txBox="1"/>
          <p:nvPr/>
        </p:nvSpPr>
        <p:spPr>
          <a:xfrm>
            <a:off x="8710247" y="4572000"/>
            <a:ext cx="2188420" cy="461665"/>
          </a:xfrm>
          <a:prstGeom prst="rect">
            <a:avLst/>
          </a:prstGeom>
          <a:noFill/>
        </p:spPr>
        <p:txBody>
          <a:bodyPr wrap="none" rtlCol="0">
            <a:spAutoFit/>
          </a:bodyPr>
          <a:lstStyle/>
          <a:p>
            <a:r>
              <a:rPr lang="en-US" sz="2400" b="1" i="1" dirty="0"/>
              <a:t>What happens?</a:t>
            </a:r>
          </a:p>
        </p:txBody>
      </p:sp>
    </p:spTree>
    <p:extLst>
      <p:ext uri="{BB962C8B-B14F-4D97-AF65-F5344CB8AC3E}">
        <p14:creationId xmlns:p14="http://schemas.microsoft.com/office/powerpoint/2010/main" val="201753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A12B5-ADD3-CB4C-7416-B5293F237EC7}"/>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675D4CC-5D12-143B-A598-C0F61397305B}"/>
              </a:ext>
            </a:extLst>
          </p:cNvPr>
          <p:cNvSpPr>
            <a:spLocks noGrp="1"/>
          </p:cNvSpPr>
          <p:nvPr>
            <p:ph idx="1"/>
          </p:nvPr>
        </p:nvSpPr>
        <p:spPr/>
        <p:txBody>
          <a:bodyPr>
            <a:normAutofit fontScale="92500"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	public void </a:t>
            </a:r>
            <a:r>
              <a:rPr lang="en-US" dirty="0" err="1"/>
              <a:t>createTextbox</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br>
              <a:rPr lang="en-US" dirty="0"/>
            </a:br>
            <a:r>
              <a:rPr lang="en-US" dirty="0"/>
              <a:t>	public void </a:t>
            </a:r>
            <a:r>
              <a:rPr lang="en-US" dirty="0" err="1"/>
              <a:t>createTextbox</a:t>
            </a:r>
            <a:r>
              <a:rPr lang="en-US" dirty="0"/>
              <a:t>() {</a:t>
            </a:r>
          </a:p>
          <a:p>
            <a:r>
              <a:rPr lang="en-US" dirty="0"/>
              <a:t>		return new </a:t>
            </a:r>
            <a:r>
              <a:rPr lang="en-US" dirty="0" err="1"/>
              <a:t>WinTextbox</a:t>
            </a:r>
            <a:r>
              <a:rPr lang="en-US" dirty="0"/>
              <a:t>();</a:t>
            </a:r>
          </a:p>
          <a:p>
            <a:r>
              <a:rPr lang="en-US" dirty="0"/>
              <a:t>	}</a:t>
            </a:r>
          </a:p>
          <a:p>
            <a:r>
              <a:rPr lang="en-US" dirty="0"/>
              <a:t>}</a:t>
            </a:r>
          </a:p>
          <a:p>
            <a:endParaRPr lang="en-US" dirty="0"/>
          </a:p>
          <a:p>
            <a:r>
              <a:rPr lang="en-US" dirty="0"/>
              <a:t>public class </a:t>
            </a:r>
            <a:r>
              <a:rPr lang="en-US" dirty="0" err="1"/>
              <a:t>LinuxFactory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GnomeButton</a:t>
            </a:r>
            <a:r>
              <a:rPr lang="en-US" dirty="0"/>
              <a:t>();</a:t>
            </a:r>
          </a:p>
          <a:p>
            <a:r>
              <a:rPr lang="en-US" dirty="0"/>
              <a:t>	}</a:t>
            </a:r>
            <a:br>
              <a:rPr lang="en-US" dirty="0"/>
            </a:br>
            <a:r>
              <a:rPr lang="en-US" dirty="0"/>
              <a:t>	</a:t>
            </a:r>
            <a:r>
              <a:rPr lang="en-US" b="1" dirty="0"/>
              <a:t>// Missing </a:t>
            </a:r>
            <a:r>
              <a:rPr lang="en-US" b="1" dirty="0" err="1"/>
              <a:t>createTextbox</a:t>
            </a:r>
            <a:endParaRPr lang="en-US" dirty="0"/>
          </a:p>
          <a:p>
            <a:r>
              <a:rPr lang="en-US" dirty="0"/>
              <a:t>}</a:t>
            </a:r>
          </a:p>
          <a:p>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D75992B5-F503-8874-C6B7-C3414C514E30}"/>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0D62DDF7-CD81-136B-B512-E791807BC792}"/>
              </a:ext>
            </a:extLst>
          </p:cNvPr>
          <p:cNvSpPr>
            <a:spLocks noGrp="1"/>
          </p:cNvSpPr>
          <p:nvPr>
            <p:ph idx="13"/>
          </p:nvPr>
        </p:nvSpPr>
        <p:spPr/>
        <p:txBody>
          <a:bodyPr/>
          <a:lstStyle/>
          <a:p>
            <a:r>
              <a:rPr lang="en-US" dirty="0"/>
              <a:t>Promotes consistency among products</a:t>
            </a:r>
          </a:p>
          <a:p>
            <a:r>
              <a:rPr lang="en-US" dirty="0"/>
              <a:t>Supporting new kind of UI family is easier</a:t>
            </a:r>
          </a:p>
          <a:p>
            <a:r>
              <a:rPr lang="en-US" dirty="0"/>
              <a:t>Catching errors at compile time is </a:t>
            </a:r>
            <a:r>
              <a:rPr lang="en-US" b="1" i="1" dirty="0"/>
              <a:t>much better </a:t>
            </a:r>
            <a:r>
              <a:rPr lang="en-US" dirty="0"/>
              <a:t>than during execution</a:t>
            </a:r>
          </a:p>
          <a:p>
            <a:pPr lvl="1"/>
            <a:r>
              <a:rPr lang="en-US" b="1" i="1" dirty="0"/>
              <a:t>Why…? </a:t>
            </a:r>
          </a:p>
          <a:p>
            <a:endParaRPr lang="en-US" dirty="0"/>
          </a:p>
        </p:txBody>
      </p:sp>
      <p:sp>
        <p:nvSpPr>
          <p:cNvPr id="7" name="Rectangle 6">
            <a:extLst>
              <a:ext uri="{FF2B5EF4-FFF2-40B4-BE49-F238E27FC236}">
                <a16:creationId xmlns:a16="http://schemas.microsoft.com/office/drawing/2014/main" id="{E4DB7449-FD6B-66BC-CC06-F006B234356D}"/>
              </a:ext>
            </a:extLst>
          </p:cNvPr>
          <p:cNvSpPr/>
          <p:nvPr/>
        </p:nvSpPr>
        <p:spPr>
          <a:xfrm>
            <a:off x="6015485" y="4250860"/>
            <a:ext cx="5794439" cy="1458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06C51097-B08A-505E-F9FA-5F27F18279DC}"/>
              </a:ext>
            </a:extLst>
          </p:cNvPr>
          <p:cNvSpPr txBox="1"/>
          <p:nvPr/>
        </p:nvSpPr>
        <p:spPr>
          <a:xfrm>
            <a:off x="8912704" y="5247472"/>
            <a:ext cx="2829621" cy="461665"/>
          </a:xfrm>
          <a:prstGeom prst="rect">
            <a:avLst/>
          </a:prstGeom>
          <a:noFill/>
        </p:spPr>
        <p:txBody>
          <a:bodyPr wrap="none" rtlCol="0">
            <a:spAutoFit/>
          </a:bodyPr>
          <a:lstStyle/>
          <a:p>
            <a:r>
              <a:rPr lang="en-US" sz="2400" b="1" i="1" dirty="0"/>
              <a:t>What happens here?</a:t>
            </a:r>
          </a:p>
        </p:txBody>
      </p:sp>
    </p:spTree>
    <p:extLst>
      <p:ext uri="{BB962C8B-B14F-4D97-AF65-F5344CB8AC3E}">
        <p14:creationId xmlns:p14="http://schemas.microsoft.com/office/powerpoint/2010/main" val="2562020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796B1-FE05-DC1E-C9A3-08C5341499A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BD23404-833D-FC2B-089F-14CF45CF8380}"/>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DBB2E82A-2685-543E-3A63-1A8655808FA3}"/>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A3DC3B1B-9C44-A739-C111-64B20D703A85}"/>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a:t>
            </a:r>
          </a:p>
        </p:txBody>
      </p:sp>
      <p:sp>
        <p:nvSpPr>
          <p:cNvPr id="6" name="Content Placeholder 4">
            <a:extLst>
              <a:ext uri="{FF2B5EF4-FFF2-40B4-BE49-F238E27FC236}">
                <a16:creationId xmlns:a16="http://schemas.microsoft.com/office/drawing/2014/main" id="{62DFC4D6-F9C0-DD15-2B17-437C14F9F5D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6AA41AD9-CEC0-4A18-F4AF-370EE324D07D}"/>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4140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E3DB8-72E0-65BB-8252-1DAEE6DFEC9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B1957A4-C116-3A8A-3126-9639181B78F9}"/>
              </a:ext>
            </a:extLst>
          </p:cNvPr>
          <p:cNvSpPr>
            <a:spLocks noGrp="1"/>
          </p:cNvSpPr>
          <p:nvPr>
            <p:ph idx="1"/>
          </p:nvPr>
        </p:nvSpPr>
        <p:spPr/>
        <p:txBody>
          <a:bodyPr/>
          <a:lstStyle/>
          <a:p>
            <a:r>
              <a:rPr lang="en-US" dirty="0"/>
              <a:t>How classes and objects compose to form larger structures</a:t>
            </a:r>
          </a:p>
          <a:p>
            <a:r>
              <a:rPr lang="en-US" dirty="0"/>
              <a:t>Structural patterns can be applied at</a:t>
            </a:r>
          </a:p>
          <a:p>
            <a:pPr lvl="1"/>
            <a:r>
              <a:rPr lang="en-US" dirty="0"/>
              <a:t>Class level</a:t>
            </a:r>
          </a:p>
          <a:p>
            <a:pPr lvl="1"/>
            <a:r>
              <a:rPr lang="en-US" dirty="0"/>
              <a:t>Object level</a:t>
            </a:r>
          </a:p>
        </p:txBody>
      </p:sp>
      <p:sp>
        <p:nvSpPr>
          <p:cNvPr id="5" name="Title 4">
            <a:extLst>
              <a:ext uri="{FF2B5EF4-FFF2-40B4-BE49-F238E27FC236}">
                <a16:creationId xmlns:a16="http://schemas.microsoft.com/office/drawing/2014/main" id="{C6A2237B-DB38-0B09-7E6B-FB905BAE9867}"/>
              </a:ext>
            </a:extLst>
          </p:cNvPr>
          <p:cNvSpPr>
            <a:spLocks noGrp="1"/>
          </p:cNvSpPr>
          <p:nvPr>
            <p:ph type="title"/>
          </p:nvPr>
        </p:nvSpPr>
        <p:spPr/>
        <p:txBody>
          <a:bodyPr/>
          <a:lstStyle/>
          <a:p>
            <a:r>
              <a:rPr lang="en-US" dirty="0"/>
              <a:t>Structural patterns</a:t>
            </a:r>
          </a:p>
        </p:txBody>
      </p:sp>
    </p:spTree>
    <p:extLst>
      <p:ext uri="{BB962C8B-B14F-4D97-AF65-F5344CB8AC3E}">
        <p14:creationId xmlns:p14="http://schemas.microsoft.com/office/powerpoint/2010/main" val="16999004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F5873D-6EAC-9D52-0741-24E9E493EF5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7F6A42F-E6A0-F082-ECE1-C2DB9FD57748}"/>
              </a:ext>
            </a:extLst>
          </p:cNvPr>
          <p:cNvSpPr>
            <a:spLocks noGrp="1"/>
          </p:cNvSpPr>
          <p:nvPr>
            <p:ph type="body" sz="quarter" idx="13"/>
          </p:nvPr>
        </p:nvSpPr>
        <p:spPr/>
        <p:txBody>
          <a:bodyPr/>
          <a:lstStyle/>
          <a:p>
            <a:r>
              <a:rPr lang="en-US" sz="3200" dirty="0"/>
              <a:t>Adapter design pattern</a:t>
            </a:r>
          </a:p>
        </p:txBody>
      </p:sp>
    </p:spTree>
    <p:extLst>
      <p:ext uri="{BB962C8B-B14F-4D97-AF65-F5344CB8AC3E}">
        <p14:creationId xmlns:p14="http://schemas.microsoft.com/office/powerpoint/2010/main" val="34890979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FC10D-68FA-95DD-7036-88FA30F32C0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A9D9A61-5063-2D50-C2F9-AF651770C092}"/>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848533C3-6979-4AF6-61D1-44C0E4291708}"/>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6B979EF-25AC-CB22-E597-8572AE1D8116}"/>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F8C15CDA-8389-9C81-5D76-FC48734B42E4}"/>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83638817-7DFE-A2C5-3634-C35BC8536F66}"/>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00D95292-4032-F1D4-3EA8-D81B6567B624}"/>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6A14BF0F-3206-35D9-BC9F-E414F0AC5924}"/>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6AE84D9-DD8E-4828-4731-AD26087C0CD8}"/>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43FD647E-8B3E-13C3-25D6-224724499927}"/>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F775438C-F59C-AD9C-991D-012A43422EF6}"/>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C1A6D106-F794-673C-1B37-7831DA33FE66}"/>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E2431621-6514-0C59-7768-9831A5636426}"/>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5F520A9-6520-C892-5BA9-35BC9F8A8D40}"/>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20191B01-58E5-E1E7-1BA1-1B533A8DED51}"/>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C6396E66-14C5-9930-DA5C-FD3035BB4A27}"/>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p.pay</a:t>
              </a:r>
              <a:r>
                <a:rPr lang="en-US" dirty="0">
                  <a:solidFill>
                    <a:schemeClr val="tx1"/>
                  </a:solidFill>
                  <a:latin typeface="Consolas" panose="020B0609020204030204" pitchFamily="49" charset="0"/>
                </a:rPr>
                <a:t>(1000);</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0A0830DB-233D-2E7F-318E-1BDEE73674AB}"/>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22" name="Connector: Curved 21">
            <a:extLst>
              <a:ext uri="{FF2B5EF4-FFF2-40B4-BE49-F238E27FC236}">
                <a16:creationId xmlns:a16="http://schemas.microsoft.com/office/drawing/2014/main" id="{D9512AB7-72D1-0602-D0F8-5E8F2D4A7854}"/>
              </a:ext>
            </a:extLst>
          </p:cNvPr>
          <p:cNvCxnSpPr>
            <a:cxnSpLocks/>
            <a:stCxn id="2" idx="3"/>
            <a:endCxn id="19" idx="1"/>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0970A4C7-0DB8-E1DF-014D-C5F2F8953EBB}"/>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5" name="TextBox 24">
            <a:extLst>
              <a:ext uri="{FF2B5EF4-FFF2-40B4-BE49-F238E27FC236}">
                <a16:creationId xmlns:a16="http://schemas.microsoft.com/office/drawing/2014/main" id="{13B903FB-1A1E-A118-AB1F-6F0AE9F8AE30}"/>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Tree>
    <p:extLst>
      <p:ext uri="{BB962C8B-B14F-4D97-AF65-F5344CB8AC3E}">
        <p14:creationId xmlns:p14="http://schemas.microsoft.com/office/powerpoint/2010/main" val="625435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BF725-718A-742E-CF78-93BBA283D10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D8FA73F-5F51-C464-BC6A-4DC64EB47356}"/>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78F4C8F0-4585-6875-1A9D-3836196B53DD}"/>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1519A78-AF92-7C1D-36E5-BC290949A024}"/>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96C00576-5D37-2AD4-A254-1AFA350BB19E}"/>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9F193774-AF88-AC70-ECB3-15F621330B83}"/>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A952DCC1-6FA3-5E27-9637-A6D46DFBFDFE}"/>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287B0434-2914-4C0D-8EBE-721EBC8CD5AA}"/>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66F2D429-DA8D-8469-BEC8-CBCEB677EF16}"/>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BDFA6845-75C2-C2D8-F822-E39297396CCA}"/>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9D611ECD-DDF6-9CF7-AB54-708AE096EBBC}"/>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E906CEE7-5801-CB3C-C4F4-E8F4B91DF358}"/>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A57A000A-5286-8F7C-BA41-0BA910F696A5}"/>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3FDA456-1D10-59AA-4C51-7AF8E05A48C8}"/>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14FCFA28-8594-0228-97FD-F89A613ECA9C}"/>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317D7E11-AD14-740E-5BC9-993CFAF1064D}"/>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StripePaymentProcessor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b="1" dirty="0">
                  <a:solidFill>
                    <a:srgbClr val="C00000"/>
                  </a:solidFill>
                  <a:latin typeface="Consolas" panose="020B0609020204030204" pitchFamily="49" charset="0"/>
                </a:rPr>
                <a:t>// … How?</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53294D4F-7477-5130-9F7D-7EAA59B49717}"/>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3" name="Connector: Curved 2">
            <a:extLst>
              <a:ext uri="{FF2B5EF4-FFF2-40B4-BE49-F238E27FC236}">
                <a16:creationId xmlns:a16="http://schemas.microsoft.com/office/drawing/2014/main" id="{D24489E5-083F-706B-638D-384E8937B04D}"/>
              </a:ext>
            </a:extLst>
          </p:cNvPr>
          <p:cNvCxnSpPr>
            <a:cxnSpLocks/>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B1EB392D-BF63-A018-CCDB-8855F50E6326}"/>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
        <p:nvSpPr>
          <p:cNvPr id="21" name="TextBox 20">
            <a:extLst>
              <a:ext uri="{FF2B5EF4-FFF2-40B4-BE49-F238E27FC236}">
                <a16:creationId xmlns:a16="http://schemas.microsoft.com/office/drawing/2014/main" id="{B145B955-BA2A-896F-398E-6181726F0F23}"/>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2" name="Rectangle 21">
            <a:extLst>
              <a:ext uri="{FF2B5EF4-FFF2-40B4-BE49-F238E27FC236}">
                <a16:creationId xmlns:a16="http://schemas.microsoft.com/office/drawing/2014/main" id="{174226F8-7E5A-1B6C-F101-D0B53A8262D0}"/>
              </a:ext>
            </a:extLst>
          </p:cNvPr>
          <p:cNvSpPr/>
          <p:nvPr/>
        </p:nvSpPr>
        <p:spPr>
          <a:xfrm>
            <a:off x="2215398" y="3578563"/>
            <a:ext cx="6868419" cy="1077218"/>
          </a:xfrm>
          <a:prstGeom prst="rect">
            <a:avLst/>
          </a:prstGeom>
          <a:solidFill>
            <a:schemeClr val="bg2">
              <a:lumMod val="20000"/>
              <a:lumOff val="80000"/>
            </a:schemeClr>
          </a:solidFill>
          <a:ln>
            <a:solidFill>
              <a:srgbClr val="003399"/>
            </a:solidFill>
          </a:ln>
        </p:spPr>
        <p:txBody>
          <a:bodyPr wrap="none" lIns="91440" tIns="45720" rIns="91440" bIns="45720">
            <a:spAutoFit/>
          </a:bodyPr>
          <a:lstStyle/>
          <a:p>
            <a:pPr algn="ctr"/>
            <a:r>
              <a:rPr lang="en-US" sz="3200" b="1" i="1" cap="none" spc="0" dirty="0" err="1">
                <a:ln w="0"/>
                <a:solidFill>
                  <a:schemeClr val="tx1"/>
                </a:solidFill>
                <a:effectLst>
                  <a:outerShdw blurRad="38100" dist="19050" dir="2700000" algn="tl" rotWithShape="0">
                    <a:schemeClr val="dk1">
                      <a:alpha val="40000"/>
                    </a:schemeClr>
                  </a:outerShdw>
                </a:effectLst>
              </a:rPr>
              <a:t>StripePaymentProcessor</a:t>
            </a:r>
            <a:r>
              <a:rPr lang="en-US" sz="3200" b="1" i="1" cap="none" spc="0" dirty="0">
                <a:ln w="0"/>
                <a:solidFill>
                  <a:schemeClr val="tx1"/>
                </a:solidFill>
                <a:effectLst>
                  <a:outerShdw blurRad="38100" dist="19050" dir="2700000" algn="tl" rotWithShape="0">
                    <a:schemeClr val="dk1">
                      <a:alpha val="40000"/>
                    </a:schemeClr>
                  </a:outerShdw>
                </a:effectLst>
              </a:rPr>
              <a:t> </a:t>
            </a:r>
          </a:p>
          <a:p>
            <a:pPr algn="ctr"/>
            <a:r>
              <a:rPr lang="en-US" sz="3200" b="1" i="1" cap="none" spc="0" dirty="0">
                <a:ln w="0"/>
                <a:solidFill>
                  <a:schemeClr val="tx1"/>
                </a:solidFill>
                <a:effectLst>
                  <a:outerShdw blurRad="38100" dist="19050" dir="2700000" algn="tl" rotWithShape="0">
                    <a:schemeClr val="dk1">
                      <a:alpha val="40000"/>
                    </a:schemeClr>
                  </a:outerShdw>
                </a:effectLst>
              </a:rPr>
              <a:t>does not implement </a:t>
            </a:r>
            <a:r>
              <a:rPr lang="en-US" sz="3200" b="1" i="1" cap="none" spc="0" dirty="0" err="1">
                <a:ln w="0"/>
                <a:solidFill>
                  <a:schemeClr val="tx1"/>
                </a:solidFill>
                <a:effectLst>
                  <a:outerShdw blurRad="38100" dist="19050" dir="2700000" algn="tl" rotWithShape="0">
                    <a:schemeClr val="dk1">
                      <a:alpha val="40000"/>
                    </a:schemeClr>
                  </a:outerShdw>
                </a:effectLst>
              </a:rPr>
              <a:t>PaymentProcessor</a:t>
            </a:r>
            <a:endParaRPr lang="en-US" sz="3200" b="1" i="1" cap="none" spc="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94859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3CE27-E540-108F-8563-06C16DFC0AB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1D20D83-9ED8-1EFC-00B5-F76F98FCB87D}"/>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r>
              <a:rPr lang="en-US" dirty="0"/>
              <a:t>class </a:t>
            </a:r>
            <a:r>
              <a:rPr lang="en-US" dirty="0" err="1"/>
              <a:t>StripeProcessor</a:t>
            </a:r>
            <a:r>
              <a:rPr lang="en-US" dirty="0"/>
              <a:t> {</a:t>
            </a:r>
          </a:p>
          <a:p>
            <a:r>
              <a:rPr lang="en-US" dirty="0"/>
              <a:t>	void </a:t>
            </a:r>
            <a:r>
              <a:rPr lang="en-US" dirty="0" err="1"/>
              <a:t>makePayment</a:t>
            </a:r>
            <a:r>
              <a:rPr lang="en-US" dirty="0"/>
              <a:t>(double amount) {</a:t>
            </a:r>
          </a:p>
          <a:p>
            <a:r>
              <a:rPr lang="en-US" dirty="0"/>
              <a:t>		// stripe functionality</a:t>
            </a:r>
          </a:p>
          <a:p>
            <a:r>
              <a:rPr lang="en-US" dirty="0"/>
              <a:t>	}</a:t>
            </a:r>
          </a:p>
          <a:p>
            <a:r>
              <a:rPr lang="en-US" dirty="0"/>
              <a:t>}</a:t>
            </a:r>
          </a:p>
        </p:txBody>
      </p:sp>
      <p:sp>
        <p:nvSpPr>
          <p:cNvPr id="5" name="Title 4">
            <a:extLst>
              <a:ext uri="{FF2B5EF4-FFF2-40B4-BE49-F238E27FC236}">
                <a16:creationId xmlns:a16="http://schemas.microsoft.com/office/drawing/2014/main" id="{B5AB3BE7-4371-B561-6198-A513CAB97396}"/>
              </a:ext>
            </a:extLst>
          </p:cNvPr>
          <p:cNvSpPr>
            <a:spLocks noGrp="1"/>
          </p:cNvSpPr>
          <p:nvPr>
            <p:ph type="title"/>
          </p:nvPr>
        </p:nvSpPr>
        <p:spPr/>
        <p:txBody>
          <a:bodyPr/>
          <a:lstStyle/>
          <a:p>
            <a:r>
              <a:rPr lang="en-US" dirty="0"/>
              <a:t>Payment interface adapter</a:t>
            </a:r>
          </a:p>
        </p:txBody>
      </p:sp>
      <p:sp>
        <p:nvSpPr>
          <p:cNvPr id="3" name="Content Placeholder 2">
            <a:extLst>
              <a:ext uri="{FF2B5EF4-FFF2-40B4-BE49-F238E27FC236}">
                <a16:creationId xmlns:a16="http://schemas.microsoft.com/office/drawing/2014/main" id="{F5E0394B-7BD7-051C-9695-560E29531A7E}"/>
              </a:ext>
            </a:extLst>
          </p:cNvPr>
          <p:cNvSpPr>
            <a:spLocks noGrp="1"/>
          </p:cNvSpPr>
          <p:nvPr>
            <p:ph idx="13"/>
          </p:nvPr>
        </p:nvSpPr>
        <p:spPr/>
        <p:txBody>
          <a:bodyPr>
            <a:normAutofit lnSpcReduction="10000"/>
          </a:bodyPr>
          <a:lstStyle/>
          <a:p>
            <a:r>
              <a:rPr lang="en-US" dirty="0"/>
              <a:t>Example: an e-commerce website uses a unified payment interface (</a:t>
            </a:r>
            <a:r>
              <a:rPr lang="en-US" dirty="0" err="1">
                <a:latin typeface="Consolas" panose="020B0609020204030204" pitchFamily="49" charset="0"/>
              </a:rPr>
              <a:t>PaymentProcessor</a:t>
            </a:r>
            <a:r>
              <a:rPr lang="en-US" dirty="0"/>
              <a:t>) to handle all payment requests</a:t>
            </a:r>
            <a:br>
              <a:rPr lang="en-US" dirty="0"/>
            </a:br>
            <a:endParaRPr lang="en-US" sz="3200" dirty="0">
              <a:latin typeface="Consolas" panose="020B0609020204030204" pitchFamily="49" charset="0"/>
            </a:endParaRPr>
          </a:p>
          <a:p>
            <a:r>
              <a:rPr lang="en-US" dirty="0"/>
              <a:t>Want to integrate a new third-party payment gateway (</a:t>
            </a:r>
            <a:r>
              <a:rPr lang="en-US" dirty="0" err="1">
                <a:latin typeface="Consolas" panose="020B0609020204030204" pitchFamily="49" charset="0"/>
              </a:rPr>
              <a:t>ThirdPartyPayment</a:t>
            </a:r>
            <a:r>
              <a:rPr lang="en-US" dirty="0"/>
              <a:t>) with a different interface</a:t>
            </a:r>
          </a:p>
          <a:p>
            <a:endParaRPr lang="en-US" dirty="0"/>
          </a:p>
        </p:txBody>
      </p:sp>
      <p:grpSp>
        <p:nvGrpSpPr>
          <p:cNvPr id="8" name="Group 7">
            <a:extLst>
              <a:ext uri="{FF2B5EF4-FFF2-40B4-BE49-F238E27FC236}">
                <a16:creationId xmlns:a16="http://schemas.microsoft.com/office/drawing/2014/main" id="{5BE05887-031A-C61F-677A-649440796468}"/>
              </a:ext>
            </a:extLst>
          </p:cNvPr>
          <p:cNvGrpSpPr/>
          <p:nvPr/>
        </p:nvGrpSpPr>
        <p:grpSpPr>
          <a:xfrm>
            <a:off x="6015487" y="4396153"/>
            <a:ext cx="5633413" cy="1435303"/>
            <a:chOff x="6015487" y="4038545"/>
            <a:chExt cx="5633413" cy="1792912"/>
          </a:xfrm>
        </p:grpSpPr>
        <p:sp>
          <p:nvSpPr>
            <p:cNvPr id="4" name="Rectangle 3">
              <a:extLst>
                <a:ext uri="{FF2B5EF4-FFF2-40B4-BE49-F238E27FC236}">
                  <a16:creationId xmlns:a16="http://schemas.microsoft.com/office/drawing/2014/main" id="{F85D9286-6B37-D700-F666-53CD5725BFE9}"/>
                </a:ext>
              </a:extLst>
            </p:cNvPr>
            <p:cNvSpPr/>
            <p:nvPr/>
          </p:nvSpPr>
          <p:spPr>
            <a:xfrm>
              <a:off x="6015487" y="4407877"/>
              <a:ext cx="4746298" cy="1423580"/>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3A104984-B080-B71B-9980-23887F883084}"/>
                </a:ext>
              </a:extLst>
            </p:cNvPr>
            <p:cNvSpPr txBox="1"/>
            <p:nvPr/>
          </p:nvSpPr>
          <p:spPr>
            <a:xfrm flipH="1">
              <a:off x="8074360" y="4038545"/>
              <a:ext cx="3574540" cy="369332"/>
            </a:xfrm>
            <a:prstGeom prst="rect">
              <a:avLst/>
            </a:prstGeom>
            <a:noFill/>
          </p:spPr>
          <p:txBody>
            <a:bodyPr wrap="square" rtlCol="0">
              <a:spAutoFit/>
            </a:bodyPr>
            <a:lstStyle/>
            <a:p>
              <a:r>
                <a:rPr lang="en-US" b="1" i="1" dirty="0"/>
                <a:t>Third party payment gateway</a:t>
              </a:r>
            </a:p>
          </p:txBody>
        </p:sp>
      </p:grpSp>
    </p:spTree>
    <p:extLst>
      <p:ext uri="{BB962C8B-B14F-4D97-AF65-F5344CB8AC3E}">
        <p14:creationId xmlns:p14="http://schemas.microsoft.com/office/powerpoint/2010/main" val="1144929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5777D-41B7-8594-04C9-1C60F6280DA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C553C1F-F6C1-5073-518C-C2DF129FB5FB}"/>
              </a:ext>
            </a:extLst>
          </p:cNvPr>
          <p:cNvSpPr>
            <a:spLocks noGrp="1"/>
          </p:cNvSpPr>
          <p:nvPr>
            <p:ph idx="1"/>
          </p:nvPr>
        </p:nvSpPr>
        <p:spPr/>
        <p:txBody>
          <a:bodyPr/>
          <a:lstStyle/>
          <a:p>
            <a:r>
              <a:rPr lang="en-US" dirty="0"/>
              <a:t>Convert the interface of a class into another interface clients expect</a:t>
            </a:r>
          </a:p>
          <a:p>
            <a:r>
              <a:rPr lang="en-US" dirty="0"/>
              <a:t>Allows classes to work together that couldn't otherwise because of incompatible interfaces</a:t>
            </a:r>
          </a:p>
          <a:p>
            <a:pPr lvl="1"/>
            <a:r>
              <a:rPr lang="en-US" dirty="0"/>
              <a:t>… just like a HDMI to USB-C adapter</a:t>
            </a:r>
          </a:p>
          <a:p>
            <a:r>
              <a:rPr lang="en-US" dirty="0"/>
              <a:t>Also known as </a:t>
            </a:r>
            <a:r>
              <a:rPr lang="en-US" i="1" dirty="0"/>
              <a:t>wrapper</a:t>
            </a:r>
            <a:endParaRPr lang="en-US" dirty="0"/>
          </a:p>
          <a:p>
            <a:endParaRPr lang="en-US" dirty="0"/>
          </a:p>
        </p:txBody>
      </p:sp>
      <p:sp>
        <p:nvSpPr>
          <p:cNvPr id="5" name="Title 4">
            <a:extLst>
              <a:ext uri="{FF2B5EF4-FFF2-40B4-BE49-F238E27FC236}">
                <a16:creationId xmlns:a16="http://schemas.microsoft.com/office/drawing/2014/main" id="{6B3D2BE8-ED05-64E2-2B6C-9217E4585C7E}"/>
              </a:ext>
            </a:extLst>
          </p:cNvPr>
          <p:cNvSpPr>
            <a:spLocks noGrp="1"/>
          </p:cNvSpPr>
          <p:nvPr>
            <p:ph type="title"/>
          </p:nvPr>
        </p:nvSpPr>
        <p:spPr/>
        <p:txBody>
          <a:bodyPr/>
          <a:lstStyle/>
          <a:p>
            <a:r>
              <a:rPr lang="en-US" dirty="0"/>
              <a:t>Adapter design pattern</a:t>
            </a:r>
          </a:p>
        </p:txBody>
      </p:sp>
    </p:spTree>
    <p:extLst>
      <p:ext uri="{BB962C8B-B14F-4D97-AF65-F5344CB8AC3E}">
        <p14:creationId xmlns:p14="http://schemas.microsoft.com/office/powerpoint/2010/main" val="40884002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068719-C6B0-DD6F-5C3D-F19F30169927}"/>
              </a:ext>
            </a:extLst>
          </p:cNvPr>
          <p:cNvSpPr>
            <a:spLocks noGrp="1"/>
          </p:cNvSpPr>
          <p:nvPr>
            <p:ph idx="1"/>
          </p:nvPr>
        </p:nvSpPr>
        <p:spPr>
          <a:xfrm>
            <a:off x="6176512" y="785004"/>
            <a:ext cx="6015488" cy="5046453"/>
          </a:xfrm>
        </p:spPr>
        <p:txBody>
          <a:bodyPr/>
          <a:lstStyle/>
          <a:p>
            <a:r>
              <a:rPr lang="en-US" dirty="0"/>
              <a:t>class </a:t>
            </a:r>
            <a:r>
              <a:rPr lang="en-US" dirty="0" err="1"/>
              <a:t>StripeAdapter</a:t>
            </a:r>
            <a:r>
              <a:rPr lang="en-US" dirty="0"/>
              <a:t> implements </a:t>
            </a:r>
            <a:r>
              <a:rPr lang="en-US" dirty="0" err="1"/>
              <a:t>PaymentProcessor</a:t>
            </a:r>
            <a:r>
              <a:rPr lang="en-US" dirty="0"/>
              <a:t>{</a:t>
            </a:r>
          </a:p>
          <a:p>
            <a:r>
              <a:rPr lang="en-US" dirty="0"/>
              <a:t>	private </a:t>
            </a:r>
            <a:r>
              <a:rPr lang="en-US" dirty="0" err="1"/>
              <a:t>StripeProcessor</a:t>
            </a:r>
            <a:r>
              <a:rPr lang="en-US" dirty="0"/>
              <a:t> </a:t>
            </a:r>
            <a:r>
              <a:rPr lang="en-US" dirty="0" err="1"/>
              <a:t>stripeProcessor</a:t>
            </a:r>
            <a:r>
              <a:rPr lang="en-US" dirty="0"/>
              <a:t>;</a:t>
            </a:r>
          </a:p>
          <a:p>
            <a:endParaRPr lang="en-US" dirty="0"/>
          </a:p>
          <a:p>
            <a:r>
              <a:rPr lang="en-US" dirty="0"/>
              <a:t>	public </a:t>
            </a:r>
            <a:r>
              <a:rPr lang="en-US" dirty="0" err="1"/>
              <a:t>StripeAdapter</a:t>
            </a:r>
            <a:r>
              <a:rPr lang="en-US" dirty="0"/>
              <a:t>(</a:t>
            </a:r>
            <a:r>
              <a:rPr lang="en-US" dirty="0" err="1"/>
              <a:t>StripeProcessor</a:t>
            </a:r>
            <a:r>
              <a:rPr lang="en-US" dirty="0"/>
              <a:t> p) {</a:t>
            </a:r>
          </a:p>
          <a:p>
            <a:r>
              <a:rPr lang="en-US" dirty="0"/>
              <a:t>		</a:t>
            </a:r>
            <a:r>
              <a:rPr lang="en-US" dirty="0" err="1"/>
              <a:t>this.stripeProcessor</a:t>
            </a:r>
            <a:r>
              <a:rPr lang="en-US" dirty="0"/>
              <a:t> = p;</a:t>
            </a:r>
          </a:p>
          <a:p>
            <a:r>
              <a:rPr lang="en-US" dirty="0"/>
              <a:t>	}</a:t>
            </a:r>
          </a:p>
          <a:p>
            <a:r>
              <a:rPr lang="en-US" dirty="0"/>
              <a:t>	</a:t>
            </a:r>
          </a:p>
          <a:p>
            <a:r>
              <a:rPr lang="en-US" dirty="0"/>
              <a:t>	public void pay(double amount) {</a:t>
            </a:r>
          </a:p>
          <a:p>
            <a:r>
              <a:rPr lang="en-US" dirty="0"/>
              <a:t>		</a:t>
            </a:r>
            <a:r>
              <a:rPr lang="en-US" dirty="0" err="1"/>
              <a:t>stripeProcessor.makePayment</a:t>
            </a:r>
            <a:r>
              <a:rPr lang="en-US" dirty="0"/>
              <a:t>(amount);</a:t>
            </a:r>
          </a:p>
          <a:p>
            <a:r>
              <a:rPr lang="en-US" dirty="0"/>
              <a:t>	}</a:t>
            </a:r>
          </a:p>
          <a:p>
            <a:r>
              <a:rPr lang="en-US" dirty="0"/>
              <a:t>}</a:t>
            </a:r>
          </a:p>
          <a:p>
            <a:endParaRPr lang="en-US" dirty="0"/>
          </a:p>
          <a:p>
            <a:r>
              <a:rPr lang="en-US" dirty="0"/>
              <a:t>public static void main(…) {</a:t>
            </a:r>
          </a:p>
          <a:p>
            <a:r>
              <a:rPr lang="en-US" dirty="0"/>
              <a:t>	</a:t>
            </a:r>
            <a:r>
              <a:rPr lang="en-US" dirty="0" err="1"/>
              <a:t>StripeProcessor</a:t>
            </a:r>
            <a:r>
              <a:rPr lang="en-US" dirty="0"/>
              <a:t> stripe = new </a:t>
            </a:r>
            <a:r>
              <a:rPr lang="en-US" dirty="0" err="1"/>
              <a:t>StripeProcessor</a:t>
            </a:r>
            <a:r>
              <a:rPr lang="en-US" dirty="0"/>
              <a:t>();</a:t>
            </a:r>
          </a:p>
          <a:p>
            <a:r>
              <a:rPr lang="en-US" dirty="0"/>
              <a:t>	</a:t>
            </a:r>
            <a:r>
              <a:rPr lang="en-US" dirty="0" err="1"/>
              <a:t>PaymentProcessor</a:t>
            </a:r>
            <a:r>
              <a:rPr lang="en-US" dirty="0"/>
              <a:t> p = new </a:t>
            </a:r>
            <a:r>
              <a:rPr lang="en-US" dirty="0" err="1"/>
              <a:t>StripeAdapter</a:t>
            </a:r>
            <a:r>
              <a:rPr lang="en-US" dirty="0"/>
              <a:t>(stripe);</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endParaRPr lang="en-US" dirty="0"/>
          </a:p>
        </p:txBody>
      </p:sp>
      <p:sp>
        <p:nvSpPr>
          <p:cNvPr id="3" name="Title 2">
            <a:extLst>
              <a:ext uri="{FF2B5EF4-FFF2-40B4-BE49-F238E27FC236}">
                <a16:creationId xmlns:a16="http://schemas.microsoft.com/office/drawing/2014/main" id="{A2D31281-26A2-0368-5120-D2CB25395F35}"/>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D8927576-E03B-D6FF-3E7A-C506FFCE0E7D}"/>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6" name="Rectangle 5">
            <a:extLst>
              <a:ext uri="{FF2B5EF4-FFF2-40B4-BE49-F238E27FC236}">
                <a16:creationId xmlns:a16="http://schemas.microsoft.com/office/drawing/2014/main" id="{03B14B28-7E7E-03AD-CEC4-24468A683B3F}"/>
              </a:ext>
            </a:extLst>
          </p:cNvPr>
          <p:cNvSpPr/>
          <p:nvPr/>
        </p:nvSpPr>
        <p:spPr>
          <a:xfrm>
            <a:off x="6178060" y="696278"/>
            <a:ext cx="5631865" cy="417414"/>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5885E2FE-C0B9-370C-CD89-9CB17C4673B2}"/>
              </a:ext>
            </a:extLst>
          </p:cNvPr>
          <p:cNvSpPr/>
          <p:nvPr/>
        </p:nvSpPr>
        <p:spPr>
          <a:xfrm>
            <a:off x="6178060" y="1101526"/>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8" name="Rectangle 7">
            <a:extLst>
              <a:ext uri="{FF2B5EF4-FFF2-40B4-BE49-F238E27FC236}">
                <a16:creationId xmlns:a16="http://schemas.microsoft.com/office/drawing/2014/main" id="{55B7E88E-4A3D-A3BD-0142-D8F1876D0CEC}"/>
              </a:ext>
            </a:extLst>
          </p:cNvPr>
          <p:cNvSpPr/>
          <p:nvPr/>
        </p:nvSpPr>
        <p:spPr>
          <a:xfrm>
            <a:off x="6176512" y="2356338"/>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DACCF1B2-88D3-386C-472E-10D26E974152}"/>
              </a:ext>
            </a:extLst>
          </p:cNvPr>
          <p:cNvSpPr/>
          <p:nvPr/>
        </p:nvSpPr>
        <p:spPr>
          <a:xfrm>
            <a:off x="6368323" y="3951118"/>
            <a:ext cx="5631865" cy="796728"/>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248044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55EFAB0-6932-BCC3-F40C-C74814AC1708}"/>
              </a:ext>
            </a:extLst>
          </p:cNvPr>
          <p:cNvSpPr>
            <a:spLocks noGrp="1"/>
          </p:cNvSpPr>
          <p:nvPr>
            <p:ph idx="1"/>
          </p:nvPr>
        </p:nvSpPr>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StripeProcessor</a:t>
            </a:r>
            <a:r>
              <a:rPr lang="en-US" dirty="0"/>
              <a:t> </a:t>
            </a:r>
            <a:r>
              <a:rPr lang="en-US" dirty="0" err="1"/>
              <a:t>sp</a:t>
            </a:r>
            <a:r>
              <a:rPr lang="en-US" dirty="0"/>
              <a:t> = new </a:t>
            </a:r>
            <a:r>
              <a:rPr lang="en-US" dirty="0" err="1"/>
              <a:t>StripeProcessor</a:t>
            </a:r>
            <a:r>
              <a:rPr lang="en-US" dirty="0"/>
              <a:t>();</a:t>
            </a:r>
          </a:p>
          <a:p>
            <a:r>
              <a:rPr lang="en-US" dirty="0"/>
              <a:t>	</a:t>
            </a:r>
            <a:r>
              <a:rPr lang="en-US" dirty="0" err="1"/>
              <a:t>handlePurchase</a:t>
            </a:r>
            <a:r>
              <a:rPr lang="en-US" dirty="0"/>
              <a:t>(p, </a:t>
            </a:r>
            <a:r>
              <a:rPr lang="en-US" dirty="0" err="1"/>
              <a:t>sp</a:t>
            </a:r>
            <a:r>
              <a:rPr lang="en-US" dirty="0"/>
              <a:t>, true);</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r>
              <a:rPr lang="en-US" dirty="0" err="1"/>
              <a:t>StripeProcessor</a:t>
            </a:r>
            <a:r>
              <a:rPr lang="en-US" dirty="0"/>
              <a:t> </a:t>
            </a:r>
            <a:r>
              <a:rPr lang="en-US" dirty="0" err="1"/>
              <a:t>sp</a:t>
            </a:r>
            <a:r>
              <a:rPr lang="en-US" dirty="0"/>
              <a:t>, bool </a:t>
            </a:r>
            <a:r>
              <a:rPr lang="en-US" dirty="0" err="1"/>
              <a:t>isStripe</a:t>
            </a:r>
            <a:r>
              <a:rPr lang="en-US" dirty="0"/>
              <a:t>) {</a:t>
            </a:r>
          </a:p>
          <a:p>
            <a:r>
              <a:rPr lang="en-US" dirty="0"/>
              <a:t>	if (</a:t>
            </a:r>
            <a:r>
              <a:rPr lang="en-US" dirty="0" err="1"/>
              <a:t>isStripe</a:t>
            </a:r>
            <a:r>
              <a:rPr lang="en-US" dirty="0"/>
              <a:t>) {</a:t>
            </a:r>
          </a:p>
          <a:p>
            <a:r>
              <a:rPr lang="en-US" dirty="0"/>
              <a:t>		</a:t>
            </a:r>
            <a:r>
              <a:rPr lang="en-US" dirty="0" err="1"/>
              <a:t>sp.makePayment</a:t>
            </a:r>
            <a:r>
              <a:rPr lang="en-US" dirty="0"/>
              <a:t>(2000);</a:t>
            </a:r>
          </a:p>
          <a:p>
            <a:r>
              <a:rPr lang="en-US" dirty="0"/>
              <a:t>	} else {</a:t>
            </a:r>
          </a:p>
          <a:p>
            <a:r>
              <a:rPr lang="en-US" dirty="0"/>
              <a:t>		</a:t>
            </a:r>
            <a:r>
              <a:rPr lang="en-US" dirty="0" err="1"/>
              <a:t>p.pay</a:t>
            </a:r>
            <a:r>
              <a:rPr lang="en-US" dirty="0"/>
              <a:t>(2000);</a:t>
            </a:r>
          </a:p>
          <a:p>
            <a:r>
              <a:rPr lang="en-US" dirty="0"/>
              <a:t>	}</a:t>
            </a:r>
          </a:p>
          <a:p>
            <a:r>
              <a:rPr lang="en-US" dirty="0"/>
              <a:t>}</a:t>
            </a:r>
          </a:p>
        </p:txBody>
      </p:sp>
      <p:sp>
        <p:nvSpPr>
          <p:cNvPr id="5" name="Title 4">
            <a:extLst>
              <a:ext uri="{FF2B5EF4-FFF2-40B4-BE49-F238E27FC236}">
                <a16:creationId xmlns:a16="http://schemas.microsoft.com/office/drawing/2014/main" id="{72F1DBAF-7515-CBDB-F413-3947D57F6409}"/>
              </a:ext>
            </a:extLst>
          </p:cNvPr>
          <p:cNvSpPr>
            <a:spLocks noGrp="1"/>
          </p:cNvSpPr>
          <p:nvPr>
            <p:ph type="title"/>
          </p:nvPr>
        </p:nvSpPr>
        <p:spPr/>
        <p:txBody>
          <a:bodyPr/>
          <a:lstStyle/>
          <a:p>
            <a:r>
              <a:rPr lang="en-US" dirty="0"/>
              <a:t>What did we achieve?</a:t>
            </a:r>
          </a:p>
        </p:txBody>
      </p:sp>
      <p:sp>
        <p:nvSpPr>
          <p:cNvPr id="7" name="Content Placeholder 6">
            <a:extLst>
              <a:ext uri="{FF2B5EF4-FFF2-40B4-BE49-F238E27FC236}">
                <a16:creationId xmlns:a16="http://schemas.microsoft.com/office/drawing/2014/main" id="{CCB3CA11-68E0-FC3A-EBB2-921D6B36BA0A}"/>
              </a:ext>
            </a:extLst>
          </p:cNvPr>
          <p:cNvSpPr>
            <a:spLocks noGrp="1"/>
          </p:cNvSpPr>
          <p:nvPr>
            <p:ph idx="13"/>
          </p:nvPr>
        </p:nvSpPr>
        <p:spPr/>
        <p:txBody>
          <a:bodyPr/>
          <a:lstStyle/>
          <a:p>
            <a:r>
              <a:rPr lang="en-US" dirty="0"/>
              <a:t>Ability to use the same interface </a:t>
            </a:r>
            <a:r>
              <a:rPr lang="en-US" dirty="0" err="1"/>
              <a:t>PaymentProcessor</a:t>
            </a:r>
            <a:r>
              <a:rPr lang="en-US" dirty="0"/>
              <a:t> for Stripe payments</a:t>
            </a:r>
          </a:p>
          <a:p>
            <a:r>
              <a:rPr lang="en-US" dirty="0"/>
              <a:t>Once you initialize it, that’s enough</a:t>
            </a:r>
          </a:p>
          <a:p>
            <a:r>
              <a:rPr lang="en-US" dirty="0"/>
              <a:t>No need to create special if-checks where the </a:t>
            </a:r>
            <a:r>
              <a:rPr lang="en-US" dirty="0" err="1"/>
              <a:t>PaymentProcessor</a:t>
            </a:r>
            <a:r>
              <a:rPr lang="en-US" dirty="0"/>
              <a:t> is used</a:t>
            </a:r>
          </a:p>
        </p:txBody>
      </p:sp>
      <p:sp>
        <p:nvSpPr>
          <p:cNvPr id="8" name="Rectangle 7">
            <a:extLst>
              <a:ext uri="{FF2B5EF4-FFF2-40B4-BE49-F238E27FC236}">
                <a16:creationId xmlns:a16="http://schemas.microsoft.com/office/drawing/2014/main" id="{C57E43F7-34C8-B221-0C44-FBC8664D26D1}"/>
              </a:ext>
            </a:extLst>
          </p:cNvPr>
          <p:cNvSpPr/>
          <p:nvPr/>
        </p:nvSpPr>
        <p:spPr>
          <a:xfrm>
            <a:off x="6178060" y="2909865"/>
            <a:ext cx="5631865" cy="124010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BC15D9E-19C9-08FB-2410-E3C7FE56C3C5}"/>
              </a:ext>
            </a:extLst>
          </p:cNvPr>
          <p:cNvSpPr/>
          <p:nvPr/>
        </p:nvSpPr>
        <p:spPr>
          <a:xfrm>
            <a:off x="6176512" y="4149968"/>
            <a:ext cx="5631865" cy="1681489"/>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772838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F1468-6CF8-0711-B9E7-17A597F094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508ED12-6DE1-29B8-F924-34F12AD90A20}"/>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00CE5E6F-F8F8-BA90-3378-55992D1E0A94}"/>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5" name="Content Placeholder 4">
            <a:extLst>
              <a:ext uri="{FF2B5EF4-FFF2-40B4-BE49-F238E27FC236}">
                <a16:creationId xmlns:a16="http://schemas.microsoft.com/office/drawing/2014/main" id="{4227A453-A6E0-B0E4-1122-D87B3A95C5E2}"/>
              </a:ext>
            </a:extLst>
          </p:cNvPr>
          <p:cNvSpPr>
            <a:spLocks noGrp="1"/>
          </p:cNvSpPr>
          <p:nvPr>
            <p:ph idx="1"/>
          </p:nvPr>
        </p:nvSpPr>
        <p:spPr/>
        <p:txBody>
          <a:bodyPr/>
          <a:lstStyle/>
          <a:p>
            <a:endParaRPr lang="en-US" dirty="0"/>
          </a:p>
        </p:txBody>
      </p:sp>
      <p:grpSp>
        <p:nvGrpSpPr>
          <p:cNvPr id="6" name="Group 5">
            <a:extLst>
              <a:ext uri="{FF2B5EF4-FFF2-40B4-BE49-F238E27FC236}">
                <a16:creationId xmlns:a16="http://schemas.microsoft.com/office/drawing/2014/main" id="{106921F1-38C3-D0D0-F331-D7169AEE1941}"/>
              </a:ext>
            </a:extLst>
          </p:cNvPr>
          <p:cNvGrpSpPr/>
          <p:nvPr/>
        </p:nvGrpSpPr>
        <p:grpSpPr>
          <a:xfrm>
            <a:off x="6858000" y="1348153"/>
            <a:ext cx="3962400" cy="3693240"/>
            <a:chOff x="6553200" y="1477107"/>
            <a:chExt cx="3962400" cy="3693240"/>
          </a:xfrm>
        </p:grpSpPr>
        <p:grpSp>
          <p:nvGrpSpPr>
            <p:cNvPr id="7" name="Group 6">
              <a:extLst>
                <a:ext uri="{FF2B5EF4-FFF2-40B4-BE49-F238E27FC236}">
                  <a16:creationId xmlns:a16="http://schemas.microsoft.com/office/drawing/2014/main" id="{5A3EA35A-0D8B-28B5-474E-464074D3322A}"/>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B2C3F44B-8D06-581E-D4F4-8C0184908A74}"/>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F45204E2-9645-66B3-0E6A-DC055C70A3AD}"/>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9E8ABD0D-8A72-1C88-D788-BFD753A0277D}"/>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6A42570-7D8C-CAB1-DCA5-0F6876306A0C}"/>
                  </a:ext>
                </a:extLst>
              </p:cNvPr>
              <p:cNvSpPr txBox="1"/>
              <p:nvPr/>
            </p:nvSpPr>
            <p:spPr>
              <a:xfrm>
                <a:off x="8039312" y="4377758"/>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cxnSp>
            <p:nvCxnSpPr>
              <p:cNvPr id="18" name="Straight Arrow Connector 17">
                <a:extLst>
                  <a:ext uri="{FF2B5EF4-FFF2-40B4-BE49-F238E27FC236}">
                    <a16:creationId xmlns:a16="http://schemas.microsoft.com/office/drawing/2014/main" id="{1DBCE28D-6242-2206-CF0A-3552063F83EE}"/>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98FC1ED1-6923-431E-2C29-C6BEA43AC2EF}"/>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2E3CCAEF-F0E6-C3DD-4B9E-9A6656F07854}"/>
              </a:ext>
            </a:extLst>
          </p:cNvPr>
          <p:cNvGrpSpPr/>
          <p:nvPr/>
        </p:nvGrpSpPr>
        <p:grpSpPr>
          <a:xfrm>
            <a:off x="7211523" y="2286425"/>
            <a:ext cx="3182816" cy="1612102"/>
            <a:chOff x="7097010" y="2039815"/>
            <a:chExt cx="3182816" cy="1582615"/>
          </a:xfrm>
        </p:grpSpPr>
        <p:sp>
          <p:nvSpPr>
            <p:cNvPr id="23" name="Rectangle 22">
              <a:extLst>
                <a:ext uri="{FF2B5EF4-FFF2-40B4-BE49-F238E27FC236}">
                  <a16:creationId xmlns:a16="http://schemas.microsoft.com/office/drawing/2014/main" id="{E5C30FD2-8FDE-6462-E9F6-2A32DBC1F5D0}"/>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F8A07369-D0BF-95B1-CE2F-EFC5005664F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DBCB8E49-B039-5F64-BEDD-7D9AF7F6516A}"/>
                </a:ext>
              </a:extLst>
            </p:cNvPr>
            <p:cNvSpPr txBox="1"/>
            <p:nvPr/>
          </p:nvSpPr>
          <p:spPr>
            <a:xfrm>
              <a:off x="7584859" y="3050875"/>
              <a:ext cx="1718740" cy="362577"/>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grpSp>
    </p:spTree>
    <p:extLst>
      <p:ext uri="{BB962C8B-B14F-4D97-AF65-F5344CB8AC3E}">
        <p14:creationId xmlns:p14="http://schemas.microsoft.com/office/powerpoint/2010/main" val="30925172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6C1C7-D789-0149-93FC-417ADF3DCAA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1B591-FAB4-C45C-AD61-F017B6DD4B7A}"/>
              </a:ext>
            </a:extLst>
          </p:cNvPr>
          <p:cNvSpPr>
            <a:spLocks noGrp="1"/>
          </p:cNvSpPr>
          <p:nvPr>
            <p:ph type="title"/>
          </p:nvPr>
        </p:nvSpPr>
        <p:spPr/>
        <p:txBody>
          <a:bodyPr/>
          <a:lstStyle/>
          <a:p>
            <a:r>
              <a:rPr lang="en-US" dirty="0"/>
              <a:t>Adapter vs. proxy design pattern</a:t>
            </a:r>
          </a:p>
        </p:txBody>
      </p:sp>
      <p:grpSp>
        <p:nvGrpSpPr>
          <p:cNvPr id="6" name="Group 5">
            <a:extLst>
              <a:ext uri="{FF2B5EF4-FFF2-40B4-BE49-F238E27FC236}">
                <a16:creationId xmlns:a16="http://schemas.microsoft.com/office/drawing/2014/main" id="{68890BDE-8212-E7AE-87E7-2D324B8B7DBF}"/>
              </a:ext>
            </a:extLst>
          </p:cNvPr>
          <p:cNvGrpSpPr/>
          <p:nvPr/>
        </p:nvGrpSpPr>
        <p:grpSpPr>
          <a:xfrm>
            <a:off x="1090246" y="1441938"/>
            <a:ext cx="3962400" cy="3693240"/>
            <a:chOff x="6553200" y="1477107"/>
            <a:chExt cx="3962400" cy="3693240"/>
          </a:xfrm>
        </p:grpSpPr>
        <p:grpSp>
          <p:nvGrpSpPr>
            <p:cNvPr id="7" name="Group 6">
              <a:extLst>
                <a:ext uri="{FF2B5EF4-FFF2-40B4-BE49-F238E27FC236}">
                  <a16:creationId xmlns:a16="http://schemas.microsoft.com/office/drawing/2014/main" id="{C2BD607C-198F-50F8-20F3-933458C6F687}"/>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DBB3DA2F-43D4-833D-B5C0-5A022671D2EE}"/>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6BB4E80D-16CC-6CF7-444B-058EF0A81CC7}"/>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098BF496-B27E-6115-DF03-AB61FB41D57B}"/>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D91E905-471B-A70B-2271-7ECD53D097DD}"/>
                  </a:ext>
                </a:extLst>
              </p:cNvPr>
              <p:cNvSpPr txBox="1"/>
              <p:nvPr/>
            </p:nvSpPr>
            <p:spPr>
              <a:xfrm>
                <a:off x="8039312" y="4377758"/>
                <a:ext cx="1718740" cy="369332"/>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cxnSp>
            <p:nvCxnSpPr>
              <p:cNvPr id="18" name="Straight Arrow Connector 17">
                <a:extLst>
                  <a:ext uri="{FF2B5EF4-FFF2-40B4-BE49-F238E27FC236}">
                    <a16:creationId xmlns:a16="http://schemas.microsoft.com/office/drawing/2014/main" id="{B697C5CC-1DE3-F0F4-2443-1BF4D187350D}"/>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5C7B4AE2-A7E5-DA58-896A-16DAD82E7313}"/>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E27D3632-010B-ED6D-2DFC-2792759EC14A}"/>
              </a:ext>
            </a:extLst>
          </p:cNvPr>
          <p:cNvGrpSpPr/>
          <p:nvPr/>
        </p:nvGrpSpPr>
        <p:grpSpPr>
          <a:xfrm>
            <a:off x="1443769" y="2380210"/>
            <a:ext cx="3182816" cy="1612102"/>
            <a:chOff x="7097010" y="2039815"/>
            <a:chExt cx="3182816" cy="1582615"/>
          </a:xfrm>
        </p:grpSpPr>
        <p:sp>
          <p:nvSpPr>
            <p:cNvPr id="23" name="Rectangle 22">
              <a:extLst>
                <a:ext uri="{FF2B5EF4-FFF2-40B4-BE49-F238E27FC236}">
                  <a16:creationId xmlns:a16="http://schemas.microsoft.com/office/drawing/2014/main" id="{7E8EA86A-6479-90E5-DF28-D2B67560B0F2}"/>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973A81EF-9480-1F71-38AC-966EB41AB661}"/>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DEB8270-1FC3-F8A5-52FF-94188F93C67B}"/>
                </a:ext>
              </a:extLst>
            </p:cNvPr>
            <p:cNvSpPr txBox="1"/>
            <p:nvPr/>
          </p:nvSpPr>
          <p:spPr>
            <a:xfrm>
              <a:off x="7584859" y="3050875"/>
              <a:ext cx="705642" cy="362577"/>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40" name="Group 39">
            <a:extLst>
              <a:ext uri="{FF2B5EF4-FFF2-40B4-BE49-F238E27FC236}">
                <a16:creationId xmlns:a16="http://schemas.microsoft.com/office/drawing/2014/main" id="{4F34979A-978F-BD98-1EDD-B3B1576040DF}"/>
              </a:ext>
            </a:extLst>
          </p:cNvPr>
          <p:cNvGrpSpPr/>
          <p:nvPr/>
        </p:nvGrpSpPr>
        <p:grpSpPr>
          <a:xfrm>
            <a:off x="6799391" y="1406768"/>
            <a:ext cx="3962400" cy="3697333"/>
            <a:chOff x="6553200" y="1477107"/>
            <a:chExt cx="3962400" cy="3697333"/>
          </a:xfrm>
        </p:grpSpPr>
        <p:grpSp>
          <p:nvGrpSpPr>
            <p:cNvPr id="41" name="Group 40">
              <a:extLst>
                <a:ext uri="{FF2B5EF4-FFF2-40B4-BE49-F238E27FC236}">
                  <a16:creationId xmlns:a16="http://schemas.microsoft.com/office/drawing/2014/main" id="{CD04F31B-FDE5-D7F3-4EDE-1EF30E8CE897}"/>
                </a:ext>
              </a:extLst>
            </p:cNvPr>
            <p:cNvGrpSpPr/>
            <p:nvPr/>
          </p:nvGrpSpPr>
          <p:grpSpPr>
            <a:xfrm>
              <a:off x="6553200" y="1477107"/>
              <a:ext cx="3962400" cy="3371772"/>
              <a:chOff x="6553200" y="1477107"/>
              <a:chExt cx="3962400" cy="3371772"/>
            </a:xfrm>
          </p:grpSpPr>
          <p:sp>
            <p:nvSpPr>
              <p:cNvPr id="44" name="Rectangle 43">
                <a:extLst>
                  <a:ext uri="{FF2B5EF4-FFF2-40B4-BE49-F238E27FC236}">
                    <a16:creationId xmlns:a16="http://schemas.microsoft.com/office/drawing/2014/main" id="{648623FA-EF66-40D1-B033-EB467DD461E1}"/>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5" name="Rectangle 44">
                <a:extLst>
                  <a:ext uri="{FF2B5EF4-FFF2-40B4-BE49-F238E27FC236}">
                    <a16:creationId xmlns:a16="http://schemas.microsoft.com/office/drawing/2014/main" id="{DAB18D1D-1EFD-4014-1CDB-C854104423B4}"/>
                  </a:ext>
                </a:extLst>
              </p:cNvPr>
              <p:cNvSpPr/>
              <p:nvPr/>
            </p:nvSpPr>
            <p:spPr>
              <a:xfrm>
                <a:off x="7189286" y="1507802"/>
                <a:ext cx="2690225"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JedisProxy</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46" name="Rectangle 45">
                <a:extLst>
                  <a:ext uri="{FF2B5EF4-FFF2-40B4-BE49-F238E27FC236}">
                    <a16:creationId xmlns:a16="http://schemas.microsoft.com/office/drawing/2014/main" id="{E9D591CF-2981-9A69-C101-74167BE4C4A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A945D3F1-4F6B-7302-87C9-F8DCDF5C0490}"/>
                  </a:ext>
                </a:extLst>
              </p:cNvPr>
              <p:cNvSpPr/>
              <p:nvPr/>
            </p:nvSpPr>
            <p:spPr>
              <a:xfrm>
                <a:off x="8944675" y="4633490"/>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6D44E35E-C98C-AA57-5A2B-7A3E30F0483D}"/>
                  </a:ext>
                </a:extLst>
              </p:cNvPr>
              <p:cNvSpPr txBox="1"/>
              <p:nvPr/>
            </p:nvSpPr>
            <p:spPr>
              <a:xfrm>
                <a:off x="6906723" y="4479547"/>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49" name="TextBox 48">
                <a:extLst>
                  <a:ext uri="{FF2B5EF4-FFF2-40B4-BE49-F238E27FC236}">
                    <a16:creationId xmlns:a16="http://schemas.microsoft.com/office/drawing/2014/main" id="{147578EF-AB4F-1D83-4F5A-92F9C638B06E}"/>
                  </a:ext>
                </a:extLst>
              </p:cNvPr>
              <p:cNvSpPr txBox="1"/>
              <p:nvPr/>
            </p:nvSpPr>
            <p:spPr>
              <a:xfrm>
                <a:off x="9542598" y="4479547"/>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sp>
            <p:nvSpPr>
              <p:cNvPr id="50" name="TextBox 49">
                <a:extLst>
                  <a:ext uri="{FF2B5EF4-FFF2-40B4-BE49-F238E27FC236}">
                    <a16:creationId xmlns:a16="http://schemas.microsoft.com/office/drawing/2014/main" id="{B2D4537E-E4C9-7E28-6BF2-A6164636E535}"/>
                  </a:ext>
                </a:extLst>
              </p:cNvPr>
              <p:cNvSpPr txBox="1"/>
              <p:nvPr/>
            </p:nvSpPr>
            <p:spPr>
              <a:xfrm>
                <a:off x="7648177"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sp>
            <p:nvSpPr>
              <p:cNvPr id="51" name="TextBox 50">
                <a:extLst>
                  <a:ext uri="{FF2B5EF4-FFF2-40B4-BE49-F238E27FC236}">
                    <a16:creationId xmlns:a16="http://schemas.microsoft.com/office/drawing/2014/main" id="{17B8D026-A44D-F783-B56A-C7CE7D3116FB}"/>
                  </a:ext>
                </a:extLst>
              </p:cNvPr>
              <p:cNvSpPr txBox="1"/>
              <p:nvPr/>
            </p:nvSpPr>
            <p:spPr>
              <a:xfrm>
                <a:off x="8815750"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cxnSp>
            <p:nvCxnSpPr>
              <p:cNvPr id="52" name="Straight Arrow Connector 51">
                <a:extLst>
                  <a:ext uri="{FF2B5EF4-FFF2-40B4-BE49-F238E27FC236}">
                    <a16:creationId xmlns:a16="http://schemas.microsoft.com/office/drawing/2014/main" id="{DCE3DF0C-30C9-85BC-E4AC-96750C05ACA2}"/>
                  </a:ext>
                </a:extLst>
              </p:cNvPr>
              <p:cNvCxnSpPr>
                <a:stCxn id="46" idx="0"/>
              </p:cNvCxnSpPr>
              <p:nvPr/>
            </p:nvCxnSpPr>
            <p:spPr>
              <a:xfrm flipH="1" flipV="1">
                <a:off x="8000998" y="4268498"/>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668416D9-B255-91AB-C9B2-0A578D4E8C5C}"/>
                  </a:ext>
                </a:extLst>
              </p:cNvPr>
              <p:cNvCxnSpPr>
                <a:cxnSpLocks/>
                <a:stCxn id="47" idx="0"/>
                <a:endCxn id="51" idx="2"/>
              </p:cNvCxnSpPr>
              <p:nvPr/>
            </p:nvCxnSpPr>
            <p:spPr>
              <a:xfrm flipH="1" flipV="1">
                <a:off x="9168571" y="4214679"/>
                <a:ext cx="4704" cy="4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0D408505-C64C-0F7B-88F0-D7B9BD6C866B}"/>
                  </a:ext>
                </a:extLst>
              </p:cNvPr>
              <p:cNvCxnSpPr>
                <a:cxnSpLocks/>
                <a:stCxn id="50" idx="0"/>
                <a:endCxn id="58" idx="2"/>
              </p:cNvCxnSpPr>
              <p:nvPr/>
            </p:nvCxnSpPr>
            <p:spPr>
              <a:xfrm flipV="1">
                <a:off x="8000998" y="3613637"/>
                <a:ext cx="1"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27FD7C64-DAD4-2AD6-63D2-8A784C4385AA}"/>
                  </a:ext>
                </a:extLst>
              </p:cNvPr>
              <p:cNvCxnSpPr>
                <a:cxnSpLocks/>
                <a:stCxn id="51" idx="0"/>
                <a:endCxn id="59" idx="2"/>
              </p:cNvCxnSpPr>
              <p:nvPr/>
            </p:nvCxnSpPr>
            <p:spPr>
              <a:xfrm flipH="1" flipV="1">
                <a:off x="9167446" y="3613637"/>
                <a:ext cx="1125"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2" name="Straight Arrow Connector 41">
              <a:extLst>
                <a:ext uri="{FF2B5EF4-FFF2-40B4-BE49-F238E27FC236}">
                  <a16:creationId xmlns:a16="http://schemas.microsoft.com/office/drawing/2014/main" id="{0EBA04BD-3BEB-64E1-EDD4-756CB820E82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B0C68345-BF53-6823-7777-DC635664E6D4}"/>
                </a:ext>
              </a:extLst>
            </p:cNvPr>
            <p:cNvCxnSpPr/>
            <p:nvPr/>
          </p:nvCxnSpPr>
          <p:spPr>
            <a:xfrm flipH="1" flipV="1">
              <a:off x="9167445"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6" name="Group 55">
            <a:extLst>
              <a:ext uri="{FF2B5EF4-FFF2-40B4-BE49-F238E27FC236}">
                <a16:creationId xmlns:a16="http://schemas.microsoft.com/office/drawing/2014/main" id="{6E52B253-A877-BA8F-53D4-63C4A17AE6BF}"/>
              </a:ext>
            </a:extLst>
          </p:cNvPr>
          <p:cNvGrpSpPr/>
          <p:nvPr/>
        </p:nvGrpSpPr>
        <p:grpSpPr>
          <a:xfrm>
            <a:off x="7578975" y="1969476"/>
            <a:ext cx="2403231" cy="1582615"/>
            <a:chOff x="7332784" y="2039815"/>
            <a:chExt cx="2403231" cy="1582615"/>
          </a:xfrm>
        </p:grpSpPr>
        <p:sp>
          <p:nvSpPr>
            <p:cNvPr id="57" name="Rectangle 56">
              <a:extLst>
                <a:ext uri="{FF2B5EF4-FFF2-40B4-BE49-F238E27FC236}">
                  <a16:creationId xmlns:a16="http://schemas.microsoft.com/office/drawing/2014/main" id="{9D4B147D-1323-30A0-3217-BC5377217751}"/>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Jedis object</a:t>
              </a:r>
              <a:endParaRPr lang="en-US" sz="2800" dirty="0"/>
            </a:p>
          </p:txBody>
        </p:sp>
        <p:sp>
          <p:nvSpPr>
            <p:cNvPr id="58" name="Rectangle 57">
              <a:extLst>
                <a:ext uri="{FF2B5EF4-FFF2-40B4-BE49-F238E27FC236}">
                  <a16:creationId xmlns:a16="http://schemas.microsoft.com/office/drawing/2014/main" id="{6912773D-9EBE-20E8-7BC2-8F55BBB30697}"/>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9F41231F-3E25-6E34-6BAF-03C0EF913FE1}"/>
                </a:ext>
              </a:extLst>
            </p:cNvPr>
            <p:cNvSpPr/>
            <p:nvPr/>
          </p:nvSpPr>
          <p:spPr>
            <a:xfrm>
              <a:off x="8938846"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B354E519-6505-D3C9-C3A0-DF05A96C76D4}"/>
                </a:ext>
              </a:extLst>
            </p:cNvPr>
            <p:cNvSpPr txBox="1"/>
            <p:nvPr/>
          </p:nvSpPr>
          <p:spPr>
            <a:xfrm>
              <a:off x="7584859" y="3050875"/>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61" name="TextBox 60">
              <a:extLst>
                <a:ext uri="{FF2B5EF4-FFF2-40B4-BE49-F238E27FC236}">
                  <a16:creationId xmlns:a16="http://schemas.microsoft.com/office/drawing/2014/main" id="{3EED978E-06EE-7CC2-AB7B-480D6694EEAD}"/>
                </a:ext>
              </a:extLst>
            </p:cNvPr>
            <p:cNvSpPr txBox="1"/>
            <p:nvPr/>
          </p:nvSpPr>
          <p:spPr>
            <a:xfrm>
              <a:off x="8780582" y="3050875"/>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grpSp>
      <p:grpSp>
        <p:nvGrpSpPr>
          <p:cNvPr id="64" name="Group 63">
            <a:extLst>
              <a:ext uri="{FF2B5EF4-FFF2-40B4-BE49-F238E27FC236}">
                <a16:creationId xmlns:a16="http://schemas.microsoft.com/office/drawing/2014/main" id="{544546B2-1D66-2EAA-17BD-8AFE5D4CC96E}"/>
              </a:ext>
            </a:extLst>
          </p:cNvPr>
          <p:cNvGrpSpPr/>
          <p:nvPr/>
        </p:nvGrpSpPr>
        <p:grpSpPr>
          <a:xfrm>
            <a:off x="1154545" y="3063944"/>
            <a:ext cx="9671527" cy="2178083"/>
            <a:chOff x="1154545" y="3063944"/>
            <a:chExt cx="9671527" cy="2178083"/>
          </a:xfrm>
        </p:grpSpPr>
        <p:sp>
          <p:nvSpPr>
            <p:cNvPr id="62" name="Rectangle 61">
              <a:extLst>
                <a:ext uri="{FF2B5EF4-FFF2-40B4-BE49-F238E27FC236}">
                  <a16:creationId xmlns:a16="http://schemas.microsoft.com/office/drawing/2014/main" id="{8A3101F2-38AE-E4DE-7346-E8D88D1BF366}"/>
                </a:ext>
              </a:extLst>
            </p:cNvPr>
            <p:cNvSpPr/>
            <p:nvPr/>
          </p:nvSpPr>
          <p:spPr>
            <a:xfrm>
              <a:off x="1154545" y="3461411"/>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3" name="Rectangle 62">
              <a:extLst>
                <a:ext uri="{FF2B5EF4-FFF2-40B4-BE49-F238E27FC236}">
                  <a16:creationId xmlns:a16="http://schemas.microsoft.com/office/drawing/2014/main" id="{2EB92F61-EC52-5F22-5631-594D82E4D808}"/>
                </a:ext>
              </a:extLst>
            </p:cNvPr>
            <p:cNvSpPr/>
            <p:nvPr/>
          </p:nvSpPr>
          <p:spPr>
            <a:xfrm>
              <a:off x="6863681" y="3063944"/>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sp>
        <p:nvSpPr>
          <p:cNvPr id="65" name="TextBox 64">
            <a:extLst>
              <a:ext uri="{FF2B5EF4-FFF2-40B4-BE49-F238E27FC236}">
                <a16:creationId xmlns:a16="http://schemas.microsoft.com/office/drawing/2014/main" id="{B6055948-B804-F09E-55C0-7E893B573E5B}"/>
              </a:ext>
            </a:extLst>
          </p:cNvPr>
          <p:cNvSpPr txBox="1"/>
          <p:nvPr/>
        </p:nvSpPr>
        <p:spPr>
          <a:xfrm>
            <a:off x="119611" y="954621"/>
            <a:ext cx="5903667" cy="461665"/>
          </a:xfrm>
          <a:prstGeom prst="rect">
            <a:avLst/>
          </a:prstGeom>
          <a:noFill/>
        </p:spPr>
        <p:txBody>
          <a:bodyPr wrap="none" rtlCol="0">
            <a:spAutoFit/>
          </a:bodyPr>
          <a:lstStyle/>
          <a:p>
            <a:r>
              <a:rPr lang="en-US" sz="2400" b="1" i="1" dirty="0"/>
              <a:t>Implements/extends common interface/class</a:t>
            </a:r>
          </a:p>
        </p:txBody>
      </p:sp>
      <p:sp>
        <p:nvSpPr>
          <p:cNvPr id="66" name="TextBox 65">
            <a:extLst>
              <a:ext uri="{FF2B5EF4-FFF2-40B4-BE49-F238E27FC236}">
                <a16:creationId xmlns:a16="http://schemas.microsoft.com/office/drawing/2014/main" id="{E032DF96-3721-5116-1809-06133AA2A44F}"/>
              </a:ext>
            </a:extLst>
          </p:cNvPr>
          <p:cNvSpPr txBox="1"/>
          <p:nvPr/>
        </p:nvSpPr>
        <p:spPr>
          <a:xfrm>
            <a:off x="6028961" y="954621"/>
            <a:ext cx="6259214" cy="461665"/>
          </a:xfrm>
          <a:prstGeom prst="rect">
            <a:avLst/>
          </a:prstGeom>
          <a:noFill/>
        </p:spPr>
        <p:txBody>
          <a:bodyPr wrap="none" rtlCol="0">
            <a:spAutoFit/>
          </a:bodyPr>
          <a:lstStyle/>
          <a:p>
            <a:r>
              <a:rPr lang="en-US" sz="2400" b="1" i="1" dirty="0"/>
              <a:t>Implements/extends interface/class of inner obj</a:t>
            </a:r>
          </a:p>
        </p:txBody>
      </p:sp>
    </p:spTree>
    <p:extLst>
      <p:ext uri="{BB962C8B-B14F-4D97-AF65-F5344CB8AC3E}">
        <p14:creationId xmlns:p14="http://schemas.microsoft.com/office/powerpoint/2010/main" val="123431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AA95A4FD-EE9E-947A-38AA-64AE1360B0B8}"/>
              </a:ext>
            </a:extLst>
          </p:cNvPr>
          <p:cNvSpPr>
            <a:spLocks noGrp="1"/>
          </p:cNvSpPr>
          <p:nvPr>
            <p:ph idx="1"/>
          </p:nvPr>
        </p:nvSpPr>
        <p:spPr/>
        <p:txBody>
          <a:bodyPr/>
          <a:lstStyle/>
          <a:p>
            <a:r>
              <a:rPr lang="en-US" dirty="0"/>
              <a:t>A single adapter can work with many </a:t>
            </a:r>
            <a:r>
              <a:rPr lang="en-US" dirty="0" err="1"/>
              <a:t>adaptees</a:t>
            </a:r>
            <a:r>
              <a:rPr lang="en-US" dirty="0"/>
              <a:t> – that is, the </a:t>
            </a:r>
            <a:r>
              <a:rPr lang="en-US" dirty="0" err="1"/>
              <a:t>Adaptee</a:t>
            </a:r>
            <a:r>
              <a:rPr lang="en-US" dirty="0"/>
              <a:t> itself and all of its subclasses (any subclass of </a:t>
            </a:r>
            <a:r>
              <a:rPr lang="en-US" dirty="0" err="1">
                <a:latin typeface="Consolas" panose="020B0609020204030204" pitchFamily="49" charset="0"/>
              </a:rPr>
              <a:t>StripeProcessor</a:t>
            </a:r>
            <a:r>
              <a:rPr lang="en-US" dirty="0"/>
              <a:t> in the previous example)</a:t>
            </a:r>
          </a:p>
          <a:p>
            <a:r>
              <a:rPr lang="en-US" dirty="0"/>
              <a:t>Makes it harder to override </a:t>
            </a:r>
            <a:r>
              <a:rPr lang="en-US" dirty="0" err="1"/>
              <a:t>Adaptee</a:t>
            </a:r>
            <a:r>
              <a:rPr lang="en-US" dirty="0"/>
              <a:t> behavior</a:t>
            </a:r>
          </a:p>
          <a:p>
            <a:pPr lvl="1"/>
            <a:r>
              <a:rPr lang="en-US" dirty="0"/>
              <a:t>Must subclass the </a:t>
            </a:r>
            <a:r>
              <a:rPr lang="en-US" dirty="0" err="1"/>
              <a:t>Adaptee</a:t>
            </a:r>
            <a:r>
              <a:rPr lang="en-US" dirty="0"/>
              <a:t> and make Adapter refer to the subclass object</a:t>
            </a:r>
          </a:p>
        </p:txBody>
      </p:sp>
      <p:sp>
        <p:nvSpPr>
          <p:cNvPr id="5" name="Title 4">
            <a:extLst>
              <a:ext uri="{FF2B5EF4-FFF2-40B4-BE49-F238E27FC236}">
                <a16:creationId xmlns:a16="http://schemas.microsoft.com/office/drawing/2014/main" id="{FFF01EA9-E485-2691-F400-C187B85D7C4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463730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5CD7228-F96E-3B29-3AD0-46815D02264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765F51ED-8528-7B10-84BF-BA7E1900AEF1}"/>
              </a:ext>
            </a:extLst>
          </p:cNvPr>
          <p:cNvSpPr>
            <a:spLocks noGrp="1"/>
          </p:cNvSpPr>
          <p:nvPr>
            <p:ph type="body" sz="quarter" idx="13"/>
          </p:nvPr>
        </p:nvSpPr>
        <p:spPr/>
        <p:txBody>
          <a:bodyPr/>
          <a:lstStyle/>
          <a:p>
            <a:r>
              <a:rPr lang="en-US" dirty="0"/>
              <a:t>Design patterns</a:t>
            </a:r>
          </a:p>
        </p:txBody>
      </p:sp>
    </p:spTree>
    <p:extLst>
      <p:ext uri="{BB962C8B-B14F-4D97-AF65-F5344CB8AC3E}">
        <p14:creationId xmlns:p14="http://schemas.microsoft.com/office/powerpoint/2010/main" val="31204172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0FFA9DB-D120-76AD-D05D-0B75487B0C3E}"/>
              </a:ext>
            </a:extLst>
          </p:cNvPr>
          <p:cNvSpPr>
            <a:spLocks noGrp="1"/>
          </p:cNvSpPr>
          <p:nvPr>
            <p:ph idx="1"/>
          </p:nvPr>
        </p:nvSpPr>
        <p:spPr/>
        <p:txBody>
          <a:bodyPr/>
          <a:lstStyle/>
          <a:p>
            <a:r>
              <a:rPr lang="en-US" dirty="0"/>
              <a:t>Late day count pauses tonight at 11:59 PM and resumes on 12/1 at 12:00 AM</a:t>
            </a:r>
          </a:p>
        </p:txBody>
      </p:sp>
      <p:sp>
        <p:nvSpPr>
          <p:cNvPr id="4" name="Title 3">
            <a:extLst>
              <a:ext uri="{FF2B5EF4-FFF2-40B4-BE49-F238E27FC236}">
                <a16:creationId xmlns:a16="http://schemas.microsoft.com/office/drawing/2014/main" id="{A2778FD1-A4F5-0B04-DFDA-B51847FB0CF5}"/>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21315788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4C20D4-74A4-6080-30B7-A67DAAFCBBBD}"/>
              </a:ext>
            </a:extLst>
          </p:cNvPr>
          <p:cNvSpPr>
            <a:spLocks noGrp="1"/>
          </p:cNvSpPr>
          <p:nvPr>
            <p:ph idx="1"/>
          </p:nvPr>
        </p:nvSpPr>
        <p:spPr/>
        <p:txBody>
          <a:bodyPr/>
          <a:lstStyle/>
          <a:p>
            <a:r>
              <a:rPr lang="en-US" dirty="0"/>
              <a:t>Sample questions</a:t>
            </a:r>
          </a:p>
          <a:p>
            <a:r>
              <a:rPr lang="en-US" dirty="0"/>
              <a:t>Composite pattern</a:t>
            </a:r>
          </a:p>
          <a:p>
            <a:r>
              <a:rPr lang="en-US" dirty="0"/>
              <a:t>Bridge pattern</a:t>
            </a:r>
          </a:p>
          <a:p>
            <a:r>
              <a:rPr lang="en-US" dirty="0"/>
              <a:t>Façade pattern</a:t>
            </a:r>
          </a:p>
          <a:p>
            <a:r>
              <a:rPr lang="en-US" dirty="0"/>
              <a:t>Decorator pattern</a:t>
            </a:r>
          </a:p>
        </p:txBody>
      </p:sp>
      <p:sp>
        <p:nvSpPr>
          <p:cNvPr id="4" name="Title 3">
            <a:extLst>
              <a:ext uri="{FF2B5EF4-FFF2-40B4-BE49-F238E27FC236}">
                <a16:creationId xmlns:a16="http://schemas.microsoft.com/office/drawing/2014/main" id="{2794FD43-6F40-29BF-5BCF-F38D8BD109ED}"/>
              </a:ext>
            </a:extLst>
          </p:cNvPr>
          <p:cNvSpPr>
            <a:spLocks noGrp="1"/>
          </p:cNvSpPr>
          <p:nvPr>
            <p:ph type="title"/>
          </p:nvPr>
        </p:nvSpPr>
        <p:spPr/>
        <p:txBody>
          <a:bodyPr/>
          <a:lstStyle/>
          <a:p>
            <a:r>
              <a:rPr lang="en-US" dirty="0"/>
              <a:t>Agenda</a:t>
            </a:r>
          </a:p>
        </p:txBody>
      </p:sp>
      <p:cxnSp>
        <p:nvCxnSpPr>
          <p:cNvPr id="7" name="Straight Connector 6">
            <a:extLst>
              <a:ext uri="{FF2B5EF4-FFF2-40B4-BE49-F238E27FC236}">
                <a16:creationId xmlns:a16="http://schemas.microsoft.com/office/drawing/2014/main" id="{538F96ED-FD4D-DBF9-63AB-4594813C43A6}"/>
              </a:ext>
            </a:extLst>
          </p:cNvPr>
          <p:cNvCxnSpPr/>
          <p:nvPr/>
        </p:nvCxnSpPr>
        <p:spPr>
          <a:xfrm>
            <a:off x="0" y="3681663"/>
            <a:ext cx="12192000" cy="0"/>
          </a:xfrm>
          <a:prstGeom prst="line">
            <a:avLst/>
          </a:prstGeom>
          <a:ln>
            <a:prstDash val="sysDot"/>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527455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2F2B5-6A42-24A9-03E3-198C2183404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1B9CC5-8517-4702-28A9-1C6AE542FA73}"/>
              </a:ext>
            </a:extLst>
          </p:cNvPr>
          <p:cNvSpPr>
            <a:spLocks noGrp="1"/>
          </p:cNvSpPr>
          <p:nvPr>
            <p:ph idx="1"/>
          </p:nvPr>
        </p:nvSpPr>
        <p:spPr/>
        <p:txBody>
          <a:bodyPr>
            <a:normAutofit lnSpcReduction="10000"/>
          </a:bodyPr>
          <a:lstStyle/>
          <a:p>
            <a:pPr>
              <a:spcBef>
                <a:spcPct val="50000"/>
              </a:spcBef>
            </a:pPr>
            <a:r>
              <a:rPr lang="en-US" altLang="en-US" dirty="0">
                <a:latin typeface="Helvetica" panose="020B0604020202020204" pitchFamily="34" charset="0"/>
                <a:cs typeface="Helvetica" panose="020B0604020202020204" pitchFamily="34" charset="0"/>
              </a:rPr>
              <a:t>Design patterns: singleton pattern, abstract factory pattern, adapter pattern, proxy pattern </a:t>
            </a:r>
          </a:p>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5C7127F8-0147-23E3-141C-DCE863876644}"/>
              </a:ext>
            </a:extLst>
          </p:cNvPr>
          <p:cNvSpPr>
            <a:spLocks noGrp="1"/>
          </p:cNvSpPr>
          <p:nvPr>
            <p:ph type="title"/>
          </p:nvPr>
        </p:nvSpPr>
        <p:spPr/>
        <p:txBody>
          <a:bodyPr/>
          <a:lstStyle/>
          <a:p>
            <a:r>
              <a:rPr lang="en-US" dirty="0"/>
              <a:t>Sample question 1</a:t>
            </a:r>
          </a:p>
        </p:txBody>
      </p:sp>
    </p:spTree>
    <p:extLst>
      <p:ext uri="{BB962C8B-B14F-4D97-AF65-F5344CB8AC3E}">
        <p14:creationId xmlns:p14="http://schemas.microsoft.com/office/powerpoint/2010/main" val="3133067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EF6EB27-19E3-5031-55DB-79E91D48F275}"/>
              </a:ext>
            </a:extLst>
          </p:cNvPr>
          <p:cNvSpPr>
            <a:spLocks noGrp="1"/>
          </p:cNvSpPr>
          <p:nvPr>
            <p:ph idx="1"/>
          </p:nvPr>
        </p:nvSpPr>
        <p:spPr/>
        <p:txBody>
          <a:bodyPr/>
          <a:lstStyle/>
          <a:p>
            <a:r>
              <a:rPr lang="en-US" dirty="0"/>
              <a:t>I have a </a:t>
            </a:r>
            <a:r>
              <a:rPr lang="en-US" dirty="0" err="1">
                <a:latin typeface="Consolas" panose="020B0609020204030204" pitchFamily="49" charset="0"/>
              </a:rPr>
              <a:t>GitHubRepo</a:t>
            </a:r>
            <a:r>
              <a:rPr lang="en-US" dirty="0"/>
              <a:t> class with fields for – </a:t>
            </a:r>
            <a:r>
              <a:rPr lang="en-US" dirty="0">
                <a:latin typeface="Consolas" panose="020B0609020204030204" pitchFamily="49" charset="0"/>
              </a:rPr>
              <a:t>author</a:t>
            </a:r>
            <a:r>
              <a:rPr lang="en-US" dirty="0"/>
              <a:t>, </a:t>
            </a:r>
            <a:r>
              <a:rPr lang="en-US" dirty="0" err="1">
                <a:latin typeface="Consolas" panose="020B0609020204030204" pitchFamily="49" charset="0"/>
              </a:rPr>
              <a:t>url</a:t>
            </a:r>
            <a:r>
              <a:rPr lang="en-US" dirty="0"/>
              <a:t>, </a:t>
            </a:r>
            <a:r>
              <a:rPr lang="en-US" dirty="0" err="1">
                <a:latin typeface="Consolas" panose="020B0609020204030204" pitchFamily="49" charset="0"/>
              </a:rPr>
              <a:t>creationDate</a:t>
            </a:r>
            <a:r>
              <a:rPr lang="en-US" dirty="0"/>
              <a:t>, and </a:t>
            </a:r>
            <a:r>
              <a:rPr lang="en-US" dirty="0" err="1">
                <a:latin typeface="Consolas" panose="020B0609020204030204" pitchFamily="49" charset="0"/>
              </a:rPr>
              <a:t>lastTenCommitList</a:t>
            </a:r>
            <a:r>
              <a:rPr lang="en-US" dirty="0"/>
              <a:t>. The </a:t>
            </a:r>
            <a:r>
              <a:rPr lang="en-US" dirty="0" err="1">
                <a:latin typeface="Consolas" panose="020B0609020204030204" pitchFamily="49" charset="0"/>
              </a:rPr>
              <a:t>lastTenCommitList</a:t>
            </a:r>
            <a:r>
              <a:rPr lang="en-US" dirty="0"/>
              <a:t> contains a list of the last ten commits – the code diffs, the file names – everything. </a:t>
            </a:r>
          </a:p>
          <a:p>
            <a:pPr lvl="1"/>
            <a:r>
              <a:rPr lang="en-US" dirty="0"/>
              <a:t>The details of the </a:t>
            </a:r>
            <a:r>
              <a:rPr lang="en-US" dirty="0" err="1"/>
              <a:t>GitHubRepo</a:t>
            </a:r>
            <a:r>
              <a:rPr lang="en-US" dirty="0"/>
              <a:t> class is fetched using API calls </a:t>
            </a:r>
          </a:p>
          <a:p>
            <a:pPr lvl="2"/>
            <a:r>
              <a:rPr lang="en-US" dirty="0">
                <a:latin typeface="Consolas" panose="020B0609020204030204" pitchFamily="49" charset="0"/>
              </a:rPr>
              <a:t>https://api.github.com/repo?name=&lt;repo_name&gt;</a:t>
            </a:r>
          </a:p>
          <a:p>
            <a:pPr lvl="2"/>
            <a:r>
              <a:rPr lang="en-US" dirty="0">
                <a:latin typeface="Consolas" panose="020B0609020204030204" pitchFamily="49" charset="0"/>
              </a:rPr>
              <a:t>https://api.github.com/repo_commits?name=&lt;repo_name&gt;&amp;limit=&lt;num_commits&gt;</a:t>
            </a:r>
          </a:p>
          <a:p>
            <a:pPr lvl="1"/>
            <a:r>
              <a:rPr lang="en-US" dirty="0"/>
              <a:t>I want the </a:t>
            </a:r>
            <a:r>
              <a:rPr lang="en-US" dirty="0" err="1">
                <a:latin typeface="Consolas" panose="020B0609020204030204" pitchFamily="49" charset="0"/>
              </a:rPr>
              <a:t>lastTenCommitList</a:t>
            </a:r>
            <a:r>
              <a:rPr lang="en-US" dirty="0"/>
              <a:t> field, which is a List object, to be lazy-loaded. Only when the user performs a call to </a:t>
            </a:r>
            <a:r>
              <a:rPr lang="en-US" dirty="0" err="1">
                <a:latin typeface="Consolas" panose="020B0609020204030204" pitchFamily="49" charset="0"/>
              </a:rPr>
              <a:t>getLastTenCommitlist</a:t>
            </a:r>
            <a:r>
              <a:rPr lang="en-US" dirty="0">
                <a:latin typeface="Consolas" panose="020B0609020204030204" pitchFamily="49" charset="0"/>
              </a:rPr>
              <a:t>()</a:t>
            </a:r>
            <a:r>
              <a:rPr lang="en-US" dirty="0"/>
              <a:t> should the commits be fetched. How should I design this?</a:t>
            </a:r>
          </a:p>
        </p:txBody>
      </p:sp>
      <p:sp>
        <p:nvSpPr>
          <p:cNvPr id="4" name="Title 3">
            <a:extLst>
              <a:ext uri="{FF2B5EF4-FFF2-40B4-BE49-F238E27FC236}">
                <a16:creationId xmlns:a16="http://schemas.microsoft.com/office/drawing/2014/main" id="{D4E6D1E7-D3EE-8D44-E451-0B464CA5BFC6}"/>
              </a:ext>
            </a:extLst>
          </p:cNvPr>
          <p:cNvSpPr>
            <a:spLocks noGrp="1"/>
          </p:cNvSpPr>
          <p:nvPr>
            <p:ph type="title"/>
          </p:nvPr>
        </p:nvSpPr>
        <p:spPr/>
        <p:txBody>
          <a:bodyPr/>
          <a:lstStyle/>
          <a:p>
            <a:r>
              <a:rPr lang="en-US" dirty="0"/>
              <a:t>Sample question 2</a:t>
            </a:r>
          </a:p>
        </p:txBody>
      </p:sp>
    </p:spTree>
    <p:extLst>
      <p:ext uri="{BB962C8B-B14F-4D97-AF65-F5344CB8AC3E}">
        <p14:creationId xmlns:p14="http://schemas.microsoft.com/office/powerpoint/2010/main" val="25406738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A0BD6-0B9E-07A2-A3DC-4C49CE7CF2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FBBDFA3-5218-4FFC-13B4-7EF217A115D3}"/>
              </a:ext>
            </a:extLst>
          </p:cNvPr>
          <p:cNvSpPr>
            <a:spLocks noGrp="1"/>
          </p:cNvSpPr>
          <p:nvPr>
            <p:ph idx="1"/>
          </p:nvPr>
        </p:nvSpPr>
        <p:spPr/>
        <p:txBody>
          <a:bodyPr>
            <a:normAutofit fontScale="92500" lnSpcReduction="10000"/>
          </a:bodyPr>
          <a:lstStyle/>
          <a:p>
            <a:r>
              <a:rPr lang="en-US" dirty="0"/>
              <a:t>I want to design a framework that supports lazy loading from an API. The framework should support a class-level annotation </a:t>
            </a:r>
            <a:r>
              <a:rPr lang="en-US" dirty="0">
                <a:latin typeface="Consolas" panose="020B0609020204030204" pitchFamily="49" charset="0"/>
              </a:rPr>
              <a:t>@Remote</a:t>
            </a:r>
            <a:r>
              <a:rPr lang="en-US" dirty="0"/>
              <a:t> and a method-level annotation </a:t>
            </a:r>
            <a:r>
              <a:rPr lang="en-US" dirty="0">
                <a:latin typeface="Consolas" panose="020B0609020204030204" pitchFamily="49" charset="0"/>
              </a:rPr>
              <a:t>@RemoteField(url = “/</a:t>
            </a:r>
            <a:r>
              <a:rPr lang="en-US" dirty="0" err="1">
                <a:latin typeface="Consolas" panose="020B0609020204030204" pitchFamily="49" charset="0"/>
              </a:rPr>
              <a:t>api</a:t>
            </a:r>
            <a:r>
              <a:rPr lang="en-US" dirty="0">
                <a:latin typeface="Consolas" panose="020B0609020204030204" pitchFamily="49" charset="0"/>
              </a:rPr>
              <a:t>/endpoint”)</a:t>
            </a:r>
            <a:r>
              <a:rPr lang="en-US" dirty="0"/>
              <a:t>. When the getter of a field annotated with </a:t>
            </a:r>
            <a:r>
              <a:rPr lang="en-US" dirty="0">
                <a:latin typeface="Consolas" panose="020B0609020204030204" pitchFamily="49" charset="0"/>
              </a:rPr>
              <a:t>@RemoteField </a:t>
            </a:r>
            <a:r>
              <a:rPr lang="en-US" dirty="0"/>
              <a:t>is invoked, the </a:t>
            </a:r>
            <a:r>
              <a:rPr lang="en-US" dirty="0" err="1"/>
              <a:t>url</a:t>
            </a:r>
            <a:r>
              <a:rPr lang="en-US" dirty="0"/>
              <a:t> endpoint should be invoked, which would return a JSON array object. This JSON array object should be deserialized into a Java </a:t>
            </a:r>
            <a:r>
              <a:rPr lang="en-US" dirty="0">
                <a:latin typeface="Consolas" panose="020B0609020204030204" pitchFamily="49" charset="0"/>
              </a:rPr>
              <a:t>List</a:t>
            </a:r>
            <a:r>
              <a:rPr lang="en-US" dirty="0"/>
              <a:t> and stored to the field annotated with the </a:t>
            </a:r>
            <a:r>
              <a:rPr lang="en-US" dirty="0">
                <a:latin typeface="Consolas" panose="020B0609020204030204" pitchFamily="49" charset="0"/>
              </a:rPr>
              <a:t>@RemoteField</a:t>
            </a:r>
            <a:r>
              <a:rPr lang="en-US" dirty="0"/>
              <a:t> annotation. </a:t>
            </a:r>
          </a:p>
          <a:p>
            <a:r>
              <a:rPr lang="en-US" dirty="0"/>
              <a:t>How should I design this framework? Assume that fields annotated with </a:t>
            </a:r>
            <a:r>
              <a:rPr lang="en-US" dirty="0">
                <a:latin typeface="Consolas" panose="020B0609020204030204" pitchFamily="49" charset="0"/>
              </a:rPr>
              <a:t>@RemoteField </a:t>
            </a:r>
            <a:r>
              <a:rPr lang="en-US" dirty="0"/>
              <a:t>are only accessed by their getters and that a getter named </a:t>
            </a:r>
            <a:r>
              <a:rPr lang="en-US" dirty="0">
                <a:latin typeface="Consolas" panose="020B0609020204030204" pitchFamily="49" charset="0"/>
              </a:rPr>
              <a:t>get&lt;Field&gt;</a:t>
            </a:r>
            <a:r>
              <a:rPr lang="en-US" dirty="0"/>
              <a:t> is always present for that field. Also, assume that only fields of type </a:t>
            </a:r>
            <a:r>
              <a:rPr lang="en-US" dirty="0">
                <a:latin typeface="Consolas" panose="020B0609020204030204" pitchFamily="49" charset="0"/>
              </a:rPr>
              <a:t>List</a:t>
            </a:r>
            <a:r>
              <a:rPr lang="en-US" dirty="0"/>
              <a:t> are annotated with the </a:t>
            </a:r>
            <a:r>
              <a:rPr lang="en-US" dirty="0" err="1">
                <a:latin typeface="Consolas" panose="020B0609020204030204" pitchFamily="49" charset="0"/>
              </a:rPr>
              <a:t>RemoteField</a:t>
            </a:r>
            <a:r>
              <a:rPr lang="en-US" dirty="0"/>
              <a:t> annotation</a:t>
            </a:r>
          </a:p>
        </p:txBody>
      </p:sp>
      <p:sp>
        <p:nvSpPr>
          <p:cNvPr id="4" name="Title 3">
            <a:extLst>
              <a:ext uri="{FF2B5EF4-FFF2-40B4-BE49-F238E27FC236}">
                <a16:creationId xmlns:a16="http://schemas.microsoft.com/office/drawing/2014/main" id="{6E98A586-00B1-A299-1442-AB17088800D7}"/>
              </a:ext>
            </a:extLst>
          </p:cNvPr>
          <p:cNvSpPr>
            <a:spLocks noGrp="1"/>
          </p:cNvSpPr>
          <p:nvPr>
            <p:ph type="title"/>
          </p:nvPr>
        </p:nvSpPr>
        <p:spPr/>
        <p:txBody>
          <a:bodyPr/>
          <a:lstStyle/>
          <a:p>
            <a:r>
              <a:rPr lang="en-US" dirty="0"/>
              <a:t>Sample question 2</a:t>
            </a:r>
          </a:p>
        </p:txBody>
      </p:sp>
    </p:spTree>
    <p:extLst>
      <p:ext uri="{BB962C8B-B14F-4D97-AF65-F5344CB8AC3E}">
        <p14:creationId xmlns:p14="http://schemas.microsoft.com/office/powerpoint/2010/main" val="187944033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43838-EEFE-24AF-1D4F-7D1AB8C7A1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52CE6C9-1FCC-DD40-7EA4-ABAA1CC37E1C}"/>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6BB9B28-1E7D-1716-EAE5-3B1331A89B8A}"/>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1CB8DF37-E7B9-E74E-060F-ED59C9302429}"/>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a:t>
            </a:r>
            <a:r>
              <a:rPr lang="en-US" b="1" dirty="0"/>
              <a:t>Composite</a:t>
            </a:r>
            <a:r>
              <a:rPr lang="en-US" dirty="0"/>
              <a:t>, Bridge, Façade, Decorator</a:t>
            </a:r>
          </a:p>
        </p:txBody>
      </p:sp>
      <p:sp>
        <p:nvSpPr>
          <p:cNvPr id="6" name="Content Placeholder 4">
            <a:extLst>
              <a:ext uri="{FF2B5EF4-FFF2-40B4-BE49-F238E27FC236}">
                <a16:creationId xmlns:a16="http://schemas.microsoft.com/office/drawing/2014/main" id="{B705B6CE-61AF-8839-FE88-3A5FA6EED45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942D88DF-6AC3-625C-55FA-A2BD76DD8978}"/>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74330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8F21F-EC84-3680-D06E-7E96C5D580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BB109D9-83E0-B896-CD3C-9C412572AAB2}"/>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BE741535-73FC-5A3D-B86E-ECBEA5C69A46}"/>
              </a:ext>
            </a:extLst>
          </p:cNvPr>
          <p:cNvSpPr>
            <a:spLocks noGrp="1"/>
          </p:cNvSpPr>
          <p:nvPr>
            <p:ph type="body" sz="quarter" idx="13"/>
          </p:nvPr>
        </p:nvSpPr>
        <p:spPr/>
        <p:txBody>
          <a:bodyPr/>
          <a:lstStyle/>
          <a:p>
            <a:r>
              <a:rPr lang="en-US" sz="3200" dirty="0"/>
              <a:t>Composite design pattern</a:t>
            </a:r>
          </a:p>
        </p:txBody>
      </p:sp>
    </p:spTree>
    <p:extLst>
      <p:ext uri="{BB962C8B-B14F-4D97-AF65-F5344CB8AC3E}">
        <p14:creationId xmlns:p14="http://schemas.microsoft.com/office/powerpoint/2010/main" val="229704921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FF56C-4D31-BB15-7442-7174815D530E}"/>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7D4BE7A-F0B0-9497-CBEE-66A692DB0466}"/>
              </a:ext>
            </a:extLst>
          </p:cNvPr>
          <p:cNvSpPr>
            <a:spLocks noGrp="1"/>
          </p:cNvSpPr>
          <p:nvPr>
            <p:ph idx="1"/>
          </p:nvPr>
        </p:nvSpPr>
        <p:spPr>
          <a:xfrm>
            <a:off x="360607" y="785004"/>
            <a:ext cx="5735393" cy="5218981"/>
          </a:xfrm>
        </p:spPr>
        <p:txBody>
          <a:bodyPr>
            <a:normAutofit lnSpcReduction="10000"/>
          </a:bodyPr>
          <a:lstStyle/>
          <a:p>
            <a:r>
              <a:rPr lang="en-US" dirty="0"/>
              <a:t>A </a:t>
            </a:r>
            <a:r>
              <a:rPr lang="en-US" dirty="0">
                <a:latin typeface="Consolas" panose="020B0609020204030204" pitchFamily="49" charset="0"/>
              </a:rPr>
              <a:t>Post</a:t>
            </a:r>
            <a:r>
              <a:rPr lang="en-US" dirty="0"/>
              <a:t> is a leaf social media entry</a:t>
            </a:r>
          </a:p>
          <a:p>
            <a:r>
              <a:rPr lang="en-US" dirty="0"/>
              <a:t>A </a:t>
            </a:r>
            <a:r>
              <a:rPr lang="en-US" dirty="0">
                <a:latin typeface="Consolas" panose="020B0609020204030204" pitchFamily="49" charset="0"/>
              </a:rPr>
              <a:t>Thread</a:t>
            </a:r>
            <a:r>
              <a:rPr lang="en-US" dirty="0"/>
              <a:t> is a collection of posts and/or threads</a:t>
            </a:r>
          </a:p>
          <a:p>
            <a:r>
              <a:rPr lang="en-US" dirty="0"/>
              <a:t>Both </a:t>
            </a:r>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should have similar operations such as </a:t>
            </a:r>
            <a:r>
              <a:rPr lang="en-US" dirty="0" err="1">
                <a:latin typeface="Consolas" panose="020B0609020204030204" pitchFamily="49" charset="0"/>
              </a:rPr>
              <a:t>show,hide</a:t>
            </a:r>
            <a:r>
              <a:rPr lang="en-US" dirty="0">
                <a:latin typeface="Consolas" panose="020B0609020204030204" pitchFamily="49" charset="0"/>
              </a:rPr>
              <a:t>,</a:t>
            </a:r>
            <a:r>
              <a:rPr lang="en-US" dirty="0"/>
              <a:t> </a:t>
            </a:r>
            <a:r>
              <a:rPr lang="en-US" dirty="0">
                <a:latin typeface="Consolas" panose="020B0609020204030204" pitchFamily="49" charset="0"/>
              </a:rPr>
              <a:t>report</a:t>
            </a:r>
            <a:r>
              <a:rPr lang="en-US" dirty="0"/>
              <a:t>, etc.</a:t>
            </a:r>
          </a:p>
          <a:p>
            <a:r>
              <a:rPr lang="en-US" b="1" i="1" dirty="0"/>
              <a:t>… bring them under same type hierarchy</a:t>
            </a:r>
          </a:p>
          <a:p>
            <a:endParaRPr lang="en-US" dirty="0"/>
          </a:p>
        </p:txBody>
      </p:sp>
      <p:sp>
        <p:nvSpPr>
          <p:cNvPr id="3" name="Title 2">
            <a:extLst>
              <a:ext uri="{FF2B5EF4-FFF2-40B4-BE49-F238E27FC236}">
                <a16:creationId xmlns:a16="http://schemas.microsoft.com/office/drawing/2014/main" id="{492343A9-75DE-EF04-D389-2492EF4B74C1}"/>
              </a:ext>
            </a:extLst>
          </p:cNvPr>
          <p:cNvSpPr>
            <a:spLocks noGrp="1"/>
          </p:cNvSpPr>
          <p:nvPr>
            <p:ph type="title"/>
          </p:nvPr>
        </p:nvSpPr>
        <p:spPr>
          <a:xfrm>
            <a:off x="0" y="0"/>
            <a:ext cx="12192000" cy="696277"/>
          </a:xfrm>
        </p:spPr>
        <p:txBody>
          <a:bodyPr/>
          <a:lstStyle/>
          <a:p>
            <a:r>
              <a:rPr lang="en-US" dirty="0"/>
              <a:t>Case study: social media posts</a:t>
            </a:r>
          </a:p>
        </p:txBody>
      </p:sp>
      <p:pic>
        <p:nvPicPr>
          <p:cNvPr id="5" name="Picture 4">
            <a:extLst>
              <a:ext uri="{FF2B5EF4-FFF2-40B4-BE49-F238E27FC236}">
                <a16:creationId xmlns:a16="http://schemas.microsoft.com/office/drawing/2014/main" id="{55BC4AD0-824C-53EB-B07A-2FF3AE4673A8}"/>
              </a:ext>
            </a:extLst>
          </p:cNvPr>
          <p:cNvPicPr>
            <a:picLocks noChangeAspect="1"/>
          </p:cNvPicPr>
          <p:nvPr/>
        </p:nvPicPr>
        <p:blipFill>
          <a:blip r:embed="rId3"/>
          <a:stretch>
            <a:fillRect/>
          </a:stretch>
        </p:blipFill>
        <p:spPr>
          <a:xfrm>
            <a:off x="6689153" y="696277"/>
            <a:ext cx="4693955" cy="4913984"/>
          </a:xfrm>
          <a:prstGeom prst="rect">
            <a:avLst/>
          </a:prstGeom>
        </p:spPr>
      </p:pic>
      <p:grpSp>
        <p:nvGrpSpPr>
          <p:cNvPr id="8" name="Group 7">
            <a:extLst>
              <a:ext uri="{FF2B5EF4-FFF2-40B4-BE49-F238E27FC236}">
                <a16:creationId xmlns:a16="http://schemas.microsoft.com/office/drawing/2014/main" id="{4FD501CE-4735-BA2D-FDAB-E799B83728CA}"/>
              </a:ext>
            </a:extLst>
          </p:cNvPr>
          <p:cNvGrpSpPr/>
          <p:nvPr/>
        </p:nvGrpSpPr>
        <p:grpSpPr>
          <a:xfrm>
            <a:off x="6986833" y="4445170"/>
            <a:ext cx="5267607" cy="928341"/>
            <a:chOff x="6635262" y="696277"/>
            <a:chExt cx="5267607" cy="696277"/>
          </a:xfrm>
        </p:grpSpPr>
        <p:sp>
          <p:nvSpPr>
            <p:cNvPr id="6" name="Rectangle 5">
              <a:extLst>
                <a:ext uri="{FF2B5EF4-FFF2-40B4-BE49-F238E27FC236}">
                  <a16:creationId xmlns:a16="http://schemas.microsoft.com/office/drawing/2014/main" id="{CC5E49EB-AA6C-0771-CBFD-14CE529736BC}"/>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EE7DD562-E00A-BB02-B66B-446A007E2CBF}"/>
                </a:ext>
              </a:extLst>
            </p:cNvPr>
            <p:cNvSpPr txBox="1"/>
            <p:nvPr/>
          </p:nvSpPr>
          <p:spPr>
            <a:xfrm>
              <a:off x="11172092" y="785004"/>
              <a:ext cx="730777" cy="461665"/>
            </a:xfrm>
            <a:prstGeom prst="rect">
              <a:avLst/>
            </a:prstGeom>
            <a:noFill/>
          </p:spPr>
          <p:txBody>
            <a:bodyPr wrap="none" rtlCol="0">
              <a:spAutoFit/>
            </a:bodyPr>
            <a:lstStyle/>
            <a:p>
              <a:r>
                <a:rPr lang="en-US" sz="2400" b="1" i="1" dirty="0"/>
                <a:t>Post</a:t>
              </a:r>
              <a:endParaRPr lang="en-US" b="1" i="1" dirty="0"/>
            </a:p>
          </p:txBody>
        </p:sp>
      </p:grpSp>
      <p:grpSp>
        <p:nvGrpSpPr>
          <p:cNvPr id="11" name="Group 10">
            <a:extLst>
              <a:ext uri="{FF2B5EF4-FFF2-40B4-BE49-F238E27FC236}">
                <a16:creationId xmlns:a16="http://schemas.microsoft.com/office/drawing/2014/main" id="{40AF79D4-AB40-BF75-1E7D-F19767A1B9E3}"/>
              </a:ext>
            </a:extLst>
          </p:cNvPr>
          <p:cNvGrpSpPr/>
          <p:nvPr/>
        </p:nvGrpSpPr>
        <p:grpSpPr>
          <a:xfrm>
            <a:off x="6635262" y="696277"/>
            <a:ext cx="5619178" cy="5002711"/>
            <a:chOff x="6635262" y="696277"/>
            <a:chExt cx="5619178" cy="696277"/>
          </a:xfrm>
        </p:grpSpPr>
        <p:sp>
          <p:nvSpPr>
            <p:cNvPr id="12" name="Rectangle 11">
              <a:extLst>
                <a:ext uri="{FF2B5EF4-FFF2-40B4-BE49-F238E27FC236}">
                  <a16:creationId xmlns:a16="http://schemas.microsoft.com/office/drawing/2014/main" id="{A80BF9DE-78D6-CB1F-08BA-1E72CF629CDE}"/>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13" name="TextBox 12">
              <a:extLst>
                <a:ext uri="{FF2B5EF4-FFF2-40B4-BE49-F238E27FC236}">
                  <a16:creationId xmlns:a16="http://schemas.microsoft.com/office/drawing/2014/main" id="{6F7460FE-23D3-02A3-E3CD-0D7369DA3ED6}"/>
                </a:ext>
              </a:extLst>
            </p:cNvPr>
            <p:cNvSpPr txBox="1"/>
            <p:nvPr/>
          </p:nvSpPr>
          <p:spPr>
            <a:xfrm>
              <a:off x="11172092" y="785004"/>
              <a:ext cx="1082348" cy="74839"/>
            </a:xfrm>
            <a:prstGeom prst="rect">
              <a:avLst/>
            </a:prstGeom>
            <a:noFill/>
          </p:spPr>
          <p:txBody>
            <a:bodyPr wrap="none" rtlCol="0">
              <a:spAutoFit/>
            </a:bodyPr>
            <a:lstStyle/>
            <a:p>
              <a:r>
                <a:rPr lang="en-US" sz="2400" b="1" i="1" dirty="0"/>
                <a:t>Thread</a:t>
              </a:r>
              <a:endParaRPr lang="en-US" b="1" i="1" dirty="0"/>
            </a:p>
          </p:txBody>
        </p:sp>
      </p:grpSp>
    </p:spTree>
    <p:extLst>
      <p:ext uri="{BB962C8B-B14F-4D97-AF65-F5344CB8AC3E}">
        <p14:creationId xmlns:p14="http://schemas.microsoft.com/office/powerpoint/2010/main" val="3929859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1"/>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8454F-C78E-330E-A3A9-F12154B9873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19AFC691-B1DB-33B4-AC6D-EA9A17BC76ED}"/>
              </a:ext>
            </a:extLst>
          </p:cNvPr>
          <p:cNvSpPr>
            <a:spLocks noGrp="1"/>
          </p:cNvSpPr>
          <p:nvPr>
            <p:ph idx="1"/>
          </p:nvPr>
        </p:nvSpPr>
        <p:spPr/>
        <p:txBody>
          <a:bodyPr>
            <a:normAutofit fontScale="92500" lnSpcReduction="100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extends </a:t>
            </a:r>
            <a:r>
              <a:rPr lang="en-US" dirty="0" err="1"/>
              <a:t>SocialMediaComponent</a:t>
            </a:r>
            <a:r>
              <a:rPr lang="en-US" dirty="0"/>
              <a:t> {</a:t>
            </a:r>
          </a:p>
          <a:p>
            <a:r>
              <a:rPr lang="en-US" dirty="0"/>
              <a:t>	private List&lt;</a:t>
            </a:r>
            <a:r>
              <a:rPr lang="en-US" dirty="0" err="1"/>
              <a:t>SocialMediaComponent</a:t>
            </a:r>
            <a:r>
              <a:rPr lang="en-US" dirty="0"/>
              <a:t>&gt; components = …; </a:t>
            </a:r>
          </a:p>
          <a:p>
            <a:r>
              <a:rPr lang="en-US" dirty="0"/>
              <a:t>	public void show() {</a:t>
            </a:r>
          </a:p>
          <a:p>
            <a:r>
              <a:rPr lang="en-US" dirty="0"/>
              <a:t>		for (</a:t>
            </a:r>
            <a:r>
              <a:rPr lang="en-US" dirty="0" err="1"/>
              <a:t>SocialMediaComponent</a:t>
            </a:r>
            <a:r>
              <a:rPr lang="en-US" dirty="0"/>
              <a:t> c: components) {</a:t>
            </a:r>
          </a:p>
          <a:p>
            <a:r>
              <a:rPr lang="en-US" dirty="0"/>
              <a:t>		  </a:t>
            </a:r>
            <a:r>
              <a:rPr lang="en-US" dirty="0" err="1"/>
              <a:t>c.show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03B4EF75-C122-583A-A593-98C4AB47706B}"/>
              </a:ext>
            </a:extLst>
          </p:cNvPr>
          <p:cNvSpPr>
            <a:spLocks noGrp="1"/>
          </p:cNvSpPr>
          <p:nvPr>
            <p:ph type="title"/>
          </p:nvPr>
        </p:nvSpPr>
        <p:spPr/>
        <p:txBody>
          <a:bodyPr/>
          <a:lstStyle/>
          <a:p>
            <a:r>
              <a:rPr lang="en-US" dirty="0"/>
              <a:t>Composite design pattern for social media post</a:t>
            </a:r>
          </a:p>
        </p:txBody>
      </p:sp>
      <p:sp>
        <p:nvSpPr>
          <p:cNvPr id="17" name="Content Placeholder 16">
            <a:extLst>
              <a:ext uri="{FF2B5EF4-FFF2-40B4-BE49-F238E27FC236}">
                <a16:creationId xmlns:a16="http://schemas.microsoft.com/office/drawing/2014/main" id="{6DC32977-5105-B129-C7D6-86F87B6419E2}"/>
              </a:ext>
            </a:extLst>
          </p:cNvPr>
          <p:cNvSpPr>
            <a:spLocks noGrp="1"/>
          </p:cNvSpPr>
          <p:nvPr>
            <p:ph idx="13"/>
          </p:nvPr>
        </p:nvSpPr>
        <p:spPr/>
        <p:txBody>
          <a:bodyPr>
            <a:normAutofit lnSpcReduction="10000"/>
          </a:bodyPr>
          <a:lstStyle/>
          <a:p>
            <a:r>
              <a:rPr lang="en-US" dirty="0"/>
              <a:t>Create abstract class </a:t>
            </a:r>
            <a:r>
              <a:rPr lang="en-US" dirty="0" err="1">
                <a:latin typeface="Consolas" panose="020B0609020204030204" pitchFamily="49" charset="0"/>
              </a:rPr>
              <a:t>SocialMediaContent</a:t>
            </a:r>
            <a:r>
              <a:rPr lang="en-US" dirty="0"/>
              <a:t> that supports the </a:t>
            </a:r>
            <a:r>
              <a:rPr lang="en-US" dirty="0">
                <a:latin typeface="Consolas" panose="020B0609020204030204" pitchFamily="49" charset="0"/>
              </a:rPr>
              <a:t>display</a:t>
            </a:r>
            <a:r>
              <a:rPr lang="en-US" dirty="0"/>
              <a:t>, </a:t>
            </a:r>
            <a:r>
              <a:rPr lang="en-US" dirty="0">
                <a:latin typeface="Consolas" panose="020B0609020204030204" pitchFamily="49" charset="0"/>
              </a:rPr>
              <a:t>hide</a:t>
            </a:r>
            <a:r>
              <a:rPr lang="en-US" dirty="0"/>
              <a:t>, </a:t>
            </a:r>
            <a:r>
              <a:rPr lang="en-US" dirty="0">
                <a:latin typeface="Consolas" panose="020B0609020204030204" pitchFamily="49" charset="0"/>
              </a:rPr>
              <a:t>report</a:t>
            </a:r>
            <a:r>
              <a:rPr lang="en-US" dirty="0"/>
              <a:t> functionalities</a:t>
            </a:r>
          </a:p>
          <a:p>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are subclasses</a:t>
            </a:r>
          </a:p>
          <a:p>
            <a:pPr lvl="1"/>
            <a:r>
              <a:rPr lang="en-US" dirty="0">
                <a:latin typeface="Consolas" panose="020B0609020204030204" pitchFamily="49" charset="0"/>
              </a:rPr>
              <a:t>Post</a:t>
            </a:r>
            <a:r>
              <a:rPr lang="en-US" dirty="0"/>
              <a:t> is the “leaf”</a:t>
            </a:r>
          </a:p>
          <a:p>
            <a:pPr lvl="1"/>
            <a:r>
              <a:rPr lang="en-US" dirty="0">
                <a:latin typeface="Consolas" panose="020B0609020204030204" pitchFamily="49" charset="0"/>
              </a:rPr>
              <a:t>Thread</a:t>
            </a:r>
            <a:r>
              <a:rPr lang="en-US" dirty="0"/>
              <a:t> is the “composite” composed of a </a:t>
            </a:r>
            <a:r>
              <a:rPr lang="en-US" dirty="0">
                <a:latin typeface="Consolas" panose="020B0609020204030204" pitchFamily="49" charset="0"/>
              </a:rPr>
              <a:t>List</a:t>
            </a:r>
            <a:r>
              <a:rPr lang="en-US" dirty="0"/>
              <a:t> of </a:t>
            </a:r>
            <a:r>
              <a:rPr lang="en-US" dirty="0" err="1">
                <a:latin typeface="Consolas" panose="020B0609020204030204" pitchFamily="49" charset="0"/>
              </a:rPr>
              <a:t>SocialMediaContent</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What is the benefit?</a:t>
            </a:r>
          </a:p>
          <a:p>
            <a:endParaRPr lang="en-US" dirty="0"/>
          </a:p>
        </p:txBody>
      </p:sp>
      <p:sp>
        <p:nvSpPr>
          <p:cNvPr id="2" name="Rectangle 1">
            <a:extLst>
              <a:ext uri="{FF2B5EF4-FFF2-40B4-BE49-F238E27FC236}">
                <a16:creationId xmlns:a16="http://schemas.microsoft.com/office/drawing/2014/main" id="{A3C0E32E-0005-83C8-870E-6449BBE13DC5}"/>
              </a:ext>
            </a:extLst>
          </p:cNvPr>
          <p:cNvSpPr/>
          <p:nvPr/>
        </p:nvSpPr>
        <p:spPr>
          <a:xfrm>
            <a:off x="5920154" y="696277"/>
            <a:ext cx="5633412" cy="12263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6" name="Rectangle 5">
            <a:extLst>
              <a:ext uri="{FF2B5EF4-FFF2-40B4-BE49-F238E27FC236}">
                <a16:creationId xmlns:a16="http://schemas.microsoft.com/office/drawing/2014/main" id="{EC6A83B1-E387-41E8-9978-C41CA2B3E140}"/>
              </a:ext>
            </a:extLst>
          </p:cNvPr>
          <p:cNvSpPr/>
          <p:nvPr/>
        </p:nvSpPr>
        <p:spPr>
          <a:xfrm>
            <a:off x="5920154" y="1922585"/>
            <a:ext cx="5633412" cy="175073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C5801D7E-E8E2-F18F-A882-14DBC98E5EB4}"/>
              </a:ext>
            </a:extLst>
          </p:cNvPr>
          <p:cNvSpPr/>
          <p:nvPr/>
        </p:nvSpPr>
        <p:spPr>
          <a:xfrm>
            <a:off x="5920154" y="3673319"/>
            <a:ext cx="5633412" cy="197720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679384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6" grpId="0" animBg="1"/>
      <p:bldP spid="6" grpId="1" animBg="1"/>
      <p:bldP spid="7" grpId="0" animBg="1"/>
      <p:bldP spid="7" grpId="1"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962AF-2D57-BD0A-606A-DCB7880F12C2}"/>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C8AD61D7-853F-FA26-3441-EA3794FF748E}"/>
              </a:ext>
            </a:extLst>
          </p:cNvPr>
          <p:cNvSpPr>
            <a:spLocks noGrp="1"/>
          </p:cNvSpPr>
          <p:nvPr>
            <p:ph idx="1"/>
          </p:nvPr>
        </p:nvSpPr>
        <p:spPr/>
        <p:txBody>
          <a:bodyPr>
            <a:normAutofit lnSpcReduction="10000"/>
          </a:bodyPr>
          <a:lstStyle/>
          <a:p>
            <a:r>
              <a:rPr lang="en-US" b="1" dirty="0"/>
              <a:t>// Without composite design pattern</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List&lt;Post&gt; </a:t>
            </a:r>
            <a:r>
              <a:rPr lang="en-US" dirty="0" err="1"/>
              <a:t>leafPosts</a:t>
            </a:r>
            <a:r>
              <a:rPr lang="en-US" dirty="0"/>
              <a:t> = …; </a:t>
            </a:r>
          </a:p>
          <a:p>
            <a:r>
              <a:rPr lang="en-US" dirty="0"/>
              <a:t>	private List&lt;Thread&gt; </a:t>
            </a:r>
            <a:r>
              <a:rPr lang="en-US" dirty="0" err="1"/>
              <a:t>subThreads</a:t>
            </a:r>
            <a:r>
              <a:rPr lang="en-US" dirty="0"/>
              <a:t> = …;</a:t>
            </a:r>
          </a:p>
          <a:p>
            <a:r>
              <a:rPr lang="en-US" dirty="0"/>
              <a:t>	public void show() {</a:t>
            </a:r>
          </a:p>
          <a:p>
            <a:r>
              <a:rPr lang="en-US" dirty="0"/>
              <a:t>		for (Post p: </a:t>
            </a:r>
            <a:r>
              <a:rPr lang="en-US" dirty="0" err="1"/>
              <a:t>leafPosts</a:t>
            </a:r>
            <a:r>
              <a:rPr lang="en-US" dirty="0"/>
              <a:t>) {</a:t>
            </a:r>
          </a:p>
          <a:p>
            <a:r>
              <a:rPr lang="en-US" dirty="0"/>
              <a:t>		  </a:t>
            </a:r>
            <a:r>
              <a:rPr lang="en-US" dirty="0" err="1"/>
              <a:t>p.show</a:t>
            </a:r>
            <a:r>
              <a:rPr lang="en-US" dirty="0"/>
              <a:t>();</a:t>
            </a:r>
          </a:p>
          <a:p>
            <a:r>
              <a:rPr lang="en-US" dirty="0"/>
              <a:t>		}</a:t>
            </a:r>
          </a:p>
          <a:p>
            <a:r>
              <a:rPr lang="en-US" dirty="0"/>
              <a:t>		for (Thread t: </a:t>
            </a:r>
            <a:r>
              <a:rPr lang="en-US" dirty="0" err="1"/>
              <a:t>subThreads</a:t>
            </a:r>
            <a:r>
              <a:rPr lang="en-US" dirty="0"/>
              <a:t>) {</a:t>
            </a:r>
          </a:p>
          <a:p>
            <a:r>
              <a:rPr lang="en-US" dirty="0"/>
              <a:t>		  </a:t>
            </a:r>
            <a:r>
              <a:rPr lang="en-US" dirty="0" err="1"/>
              <a:t>t.show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832A32-0D0B-E04F-C942-99118524B5ED}"/>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A6CB982-C363-5414-CD60-71DE7B67963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r>
              <a:rPr lang="en-US" dirty="0">
                <a:latin typeface="Helvetica" panose="020B0604020202020204" pitchFamily="34" charset="0"/>
                <a:cs typeface="Helvetica" panose="020B0604020202020204" pitchFamily="34" charset="0"/>
              </a:rPr>
              <a:t>No need to have distinct code for posts and threads</a:t>
            </a:r>
          </a:p>
          <a:p>
            <a:pPr marL="0" indent="0">
              <a:buNone/>
            </a:pPr>
            <a:endParaRPr lang="en-US" dirty="0"/>
          </a:p>
        </p:txBody>
      </p:sp>
      <p:sp>
        <p:nvSpPr>
          <p:cNvPr id="2" name="Rectangle 1">
            <a:extLst>
              <a:ext uri="{FF2B5EF4-FFF2-40B4-BE49-F238E27FC236}">
                <a16:creationId xmlns:a16="http://schemas.microsoft.com/office/drawing/2014/main" id="{AD0AD560-F439-1B03-A00D-F64562F69511}"/>
              </a:ext>
            </a:extLst>
          </p:cNvPr>
          <p:cNvSpPr/>
          <p:nvPr/>
        </p:nvSpPr>
        <p:spPr>
          <a:xfrm>
            <a:off x="6096000" y="2980267"/>
            <a:ext cx="5633412" cy="250613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08157FA3-353F-908B-5674-DFC3E6A9C660}"/>
              </a:ext>
            </a:extLst>
          </p:cNvPr>
          <p:cNvSpPr txBox="1"/>
          <p:nvPr/>
        </p:nvSpPr>
        <p:spPr>
          <a:xfrm>
            <a:off x="9411983" y="2518602"/>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1587118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7CFE5-E4B0-E798-1A67-F32912B28BD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BBF9A764-028F-11C7-4570-CA0DEABAC8F5}"/>
              </a:ext>
            </a:extLst>
          </p:cNvPr>
          <p:cNvSpPr>
            <a:spLocks noGrp="1"/>
          </p:cNvSpPr>
          <p:nvPr>
            <p:ph idx="1"/>
          </p:nvPr>
        </p:nvSpPr>
        <p:spPr>
          <a:xfrm>
            <a:off x="6176512" y="785004"/>
            <a:ext cx="6015488" cy="5046453"/>
          </a:xfrm>
        </p:spPr>
        <p:txBody>
          <a:bodyPr>
            <a:normAutofit lnSpcReduction="10000"/>
          </a:bodyPr>
          <a:lstStyle/>
          <a:p>
            <a:r>
              <a:rPr lang="en-US" b="1" dirty="0"/>
              <a:t>// With composite design pattern</a:t>
            </a:r>
          </a:p>
          <a:p>
            <a:r>
              <a:rPr lang="en-US" dirty="0"/>
              <a:t>public abstract class </a:t>
            </a:r>
            <a:r>
              <a:rPr lang="en-US" dirty="0" err="1"/>
              <a:t>SocialMediaComponent</a:t>
            </a:r>
            <a:r>
              <a:rPr lang="en-US" dirty="0"/>
              <a:t> {</a:t>
            </a:r>
            <a:br>
              <a:rPr lang="en-US" dirty="0"/>
            </a:br>
            <a:r>
              <a:rPr lang="en-US" dirty="0"/>
              <a:t>    public void show(); </a:t>
            </a:r>
            <a:br>
              <a:rPr lang="en-US" dirty="0"/>
            </a:br>
            <a:r>
              <a:rPr lang="en-US" dirty="0"/>
              <a:t>    // other methods</a:t>
            </a:r>
            <a:br>
              <a:rPr lang="en-US" dirty="0"/>
            </a:br>
            <a:r>
              <a:rPr lang="en-US" dirty="0"/>
              <a:t>}</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a:t>
            </a:r>
            <a:r>
              <a:rPr lang="en-US" dirty="0" err="1"/>
              <a:t>SocialMediaContent</a:t>
            </a:r>
            <a:r>
              <a:rPr lang="en-US" dirty="0"/>
              <a:t>&gt; children; </a:t>
            </a:r>
          </a:p>
          <a:p>
            <a:r>
              <a:rPr lang="en-US" dirty="0"/>
              <a:t>	public void show() {</a:t>
            </a:r>
          </a:p>
          <a:p>
            <a:r>
              <a:rPr lang="en-US" dirty="0"/>
              <a:t>		for (</a:t>
            </a:r>
            <a:r>
              <a:rPr lang="en-US" dirty="0" err="1"/>
              <a:t>SocialMediaContent</a:t>
            </a:r>
            <a:r>
              <a:rPr lang="en-US" dirty="0"/>
              <a:t> child: children) {</a:t>
            </a:r>
          </a:p>
          <a:p>
            <a:r>
              <a:rPr lang="en-US" dirty="0"/>
              <a:t>		  </a:t>
            </a:r>
            <a:r>
              <a:rPr lang="en-US" dirty="0" err="1"/>
              <a:t>child.show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341E90-7D69-6F1F-CC55-3FD834B8AFE8}"/>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0762206-145A-000F-356C-4D337B1CEDD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r>
              <a:rPr lang="en-US" dirty="0">
                <a:latin typeface="Helvetica" panose="020B0604020202020204" pitchFamily="34" charset="0"/>
                <a:cs typeface="Helvetica" panose="020B0604020202020204" pitchFamily="34" charset="0"/>
              </a:rPr>
              <a:t>No need to have distinct code for posts and threads</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5B360C48-41E0-366B-A83C-2B09578B7DBA}"/>
              </a:ext>
            </a:extLst>
          </p:cNvPr>
          <p:cNvSpPr/>
          <p:nvPr/>
        </p:nvSpPr>
        <p:spPr>
          <a:xfrm>
            <a:off x="6479822" y="3826934"/>
            <a:ext cx="5429956" cy="14449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8100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151CD-733C-DCE9-66AF-7CA4C9B5E14F}"/>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E51CC7D-D2DB-48F3-E5CF-C83E7AC3A79F}"/>
              </a:ext>
            </a:extLst>
          </p:cNvPr>
          <p:cNvSpPr>
            <a:spLocks noGrp="1"/>
          </p:cNvSpPr>
          <p:nvPr>
            <p:ph idx="1"/>
          </p:nvPr>
        </p:nvSpPr>
        <p:spPr/>
        <p:txBody>
          <a:bodyPr>
            <a:normAutofit/>
          </a:bodyPr>
          <a:lstStyle/>
          <a:p>
            <a:r>
              <a:rPr lang="en-US" b="1" dirty="0"/>
              <a:t>// Without composite design pattern</a:t>
            </a:r>
            <a:endParaRPr lang="en-US" dirty="0"/>
          </a:p>
          <a:p>
            <a:r>
              <a:rPr lang="en-US" dirty="0"/>
              <a:t>class </a:t>
            </a:r>
            <a:r>
              <a:rPr lang="en-US" dirty="0" err="1"/>
              <a:t>PostShowButton</a:t>
            </a:r>
            <a:r>
              <a:rPr lang="en-US" dirty="0"/>
              <a:t> {</a:t>
            </a:r>
          </a:p>
          <a:p>
            <a:r>
              <a:rPr lang="en-US" dirty="0"/>
              <a:t>	Post </a:t>
            </a:r>
            <a:r>
              <a:rPr lang="en-US" dirty="0" err="1"/>
              <a:t>post</a:t>
            </a:r>
            <a:r>
              <a:rPr lang="en-US" dirty="0"/>
              <a:t>;</a:t>
            </a:r>
          </a:p>
          <a:p>
            <a:r>
              <a:rPr lang="en-US" dirty="0"/>
              <a:t>	void </a:t>
            </a:r>
            <a:r>
              <a:rPr lang="en-US" dirty="0" err="1"/>
              <a:t>getString</a:t>
            </a:r>
            <a:r>
              <a:rPr lang="en-US" dirty="0"/>
              <a:t>() {</a:t>
            </a:r>
          </a:p>
          <a:p>
            <a:r>
              <a:rPr lang="en-US" dirty="0"/>
              <a:t>		</a:t>
            </a:r>
            <a:r>
              <a:rPr lang="en-US" dirty="0" err="1"/>
              <a:t>post.getString</a:t>
            </a:r>
            <a:r>
              <a:rPr lang="en-US" dirty="0"/>
              <a:t>();</a:t>
            </a:r>
          </a:p>
          <a:p>
            <a:r>
              <a:rPr lang="en-US" dirty="0"/>
              <a:t>	}</a:t>
            </a:r>
          </a:p>
          <a:p>
            <a:r>
              <a:rPr lang="en-US" dirty="0"/>
              <a:t>}</a:t>
            </a:r>
          </a:p>
          <a:p>
            <a:endParaRPr lang="en-US" dirty="0"/>
          </a:p>
          <a:p>
            <a:r>
              <a:rPr lang="en-US" dirty="0"/>
              <a:t>class </a:t>
            </a:r>
            <a:r>
              <a:rPr lang="en-US" dirty="0" err="1"/>
              <a:t>ThreadShowButton</a:t>
            </a:r>
            <a:r>
              <a:rPr lang="en-US" dirty="0"/>
              <a:t> {</a:t>
            </a:r>
          </a:p>
          <a:p>
            <a:r>
              <a:rPr lang="en-US" dirty="0"/>
              <a:t>	Thread </a:t>
            </a:r>
            <a:r>
              <a:rPr lang="en-US" dirty="0" err="1"/>
              <a:t>thread</a:t>
            </a:r>
            <a:r>
              <a:rPr lang="en-US" dirty="0"/>
              <a:t>;</a:t>
            </a:r>
          </a:p>
          <a:p>
            <a:r>
              <a:rPr lang="en-US" dirty="0"/>
              <a:t>	void </a:t>
            </a:r>
            <a:r>
              <a:rPr lang="en-US" dirty="0" err="1"/>
              <a:t>getString</a:t>
            </a:r>
            <a:r>
              <a:rPr lang="en-US" dirty="0"/>
              <a:t>() {</a:t>
            </a:r>
          </a:p>
          <a:p>
            <a:r>
              <a:rPr lang="en-US" dirty="0"/>
              <a:t>		</a:t>
            </a:r>
            <a:r>
              <a:rPr lang="en-US" dirty="0" err="1"/>
              <a:t>thread.getString</a:t>
            </a:r>
            <a:r>
              <a:rPr lang="en-US" dirty="0"/>
              <a:t>();</a:t>
            </a:r>
          </a:p>
          <a:p>
            <a:r>
              <a:rPr lang="en-US" dirty="0"/>
              <a:t>	}</a:t>
            </a:r>
          </a:p>
          <a:p>
            <a:r>
              <a:rPr lang="en-US" dirty="0"/>
              <a:t>}</a:t>
            </a:r>
          </a:p>
          <a:p>
            <a:endParaRPr lang="en-US" dirty="0"/>
          </a:p>
          <a:p>
            <a:r>
              <a:rPr lang="en-US" b="1" dirty="0"/>
              <a:t>// With composite design pattern</a:t>
            </a:r>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getString</a:t>
            </a:r>
            <a:r>
              <a:rPr lang="en-US" dirty="0"/>
              <a:t> () { </a:t>
            </a:r>
            <a:r>
              <a:rPr lang="en-US" dirty="0" err="1"/>
              <a:t>content.getString</a:t>
            </a:r>
            <a:r>
              <a:rPr lang="en-US" dirty="0"/>
              <a:t>(); }</a:t>
            </a:r>
          </a:p>
          <a:p>
            <a:r>
              <a:rPr lang="en-US" dirty="0"/>
              <a:t>}</a:t>
            </a:r>
          </a:p>
        </p:txBody>
      </p:sp>
      <p:sp>
        <p:nvSpPr>
          <p:cNvPr id="3" name="Title 2">
            <a:extLst>
              <a:ext uri="{FF2B5EF4-FFF2-40B4-BE49-F238E27FC236}">
                <a16:creationId xmlns:a16="http://schemas.microsoft.com/office/drawing/2014/main" id="{1DD6B45B-3B1B-9517-2151-5923C83F1162}"/>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5639A848-15BC-C602-835D-772A828EF467}"/>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Prevents code duplication in </a:t>
            </a:r>
            <a:r>
              <a:rPr lang="en-US" b="1" i="1" dirty="0">
                <a:latin typeface="Helvetica" panose="020B0604020202020204" pitchFamily="34" charset="0"/>
                <a:cs typeface="Helvetica" panose="020B0604020202020204" pitchFamily="34" charset="0"/>
              </a:rPr>
              <a:t>users </a:t>
            </a:r>
            <a:r>
              <a:rPr lang="en-US" dirty="0">
                <a:latin typeface="Helvetica" panose="020B0604020202020204" pitchFamily="34" charset="0"/>
                <a:cs typeface="Helvetica" panose="020B0604020202020204" pitchFamily="34" charset="0"/>
              </a:rPr>
              <a:t>of Thread and Post class</a:t>
            </a:r>
          </a:p>
          <a:p>
            <a:pPr lvl="1"/>
            <a:r>
              <a:rPr lang="en-US" dirty="0">
                <a:latin typeface="Helvetica" panose="020B0604020202020204" pitchFamily="34" charset="0"/>
                <a:cs typeface="Helvetica" panose="020B0604020202020204" pitchFamily="34" charset="0"/>
              </a:rPr>
              <a:t>E.g., UI components for post and threads can have unified handling</a:t>
            </a:r>
          </a:p>
          <a:p>
            <a:pPr marL="0" indent="0">
              <a:buNone/>
            </a:pPr>
            <a:endParaRPr lang="en-US" dirty="0"/>
          </a:p>
        </p:txBody>
      </p:sp>
      <p:sp>
        <p:nvSpPr>
          <p:cNvPr id="2" name="Rectangle 1">
            <a:extLst>
              <a:ext uri="{FF2B5EF4-FFF2-40B4-BE49-F238E27FC236}">
                <a16:creationId xmlns:a16="http://schemas.microsoft.com/office/drawing/2014/main" id="{0C3605E0-71C0-6532-1EBA-2BBAE13AE177}"/>
              </a:ext>
            </a:extLst>
          </p:cNvPr>
          <p:cNvSpPr/>
          <p:nvPr/>
        </p:nvSpPr>
        <p:spPr>
          <a:xfrm>
            <a:off x="6096000" y="785004"/>
            <a:ext cx="5633412" cy="349391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41C7CDE8-7E60-B182-F718-0D9A937621FC}"/>
              </a:ext>
            </a:extLst>
          </p:cNvPr>
          <p:cNvSpPr txBox="1"/>
          <p:nvPr/>
        </p:nvSpPr>
        <p:spPr>
          <a:xfrm>
            <a:off x="9293203" y="334620"/>
            <a:ext cx="2317429" cy="461665"/>
          </a:xfrm>
          <a:prstGeom prst="rect">
            <a:avLst/>
          </a:prstGeom>
          <a:noFill/>
        </p:spPr>
        <p:txBody>
          <a:bodyPr wrap="none" rtlCol="0">
            <a:spAutoFit/>
          </a:bodyPr>
          <a:lstStyle/>
          <a:p>
            <a:r>
              <a:rPr lang="en-US" sz="2400" b="1" i="1" dirty="0"/>
              <a:t>Code duplication</a:t>
            </a:r>
          </a:p>
        </p:txBody>
      </p:sp>
      <p:sp>
        <p:nvSpPr>
          <p:cNvPr id="6" name="Rectangle 5">
            <a:extLst>
              <a:ext uri="{FF2B5EF4-FFF2-40B4-BE49-F238E27FC236}">
                <a16:creationId xmlns:a16="http://schemas.microsoft.com/office/drawing/2014/main" id="{5C745F70-2044-DE3B-5541-7E44D630DBE0}"/>
              </a:ext>
            </a:extLst>
          </p:cNvPr>
          <p:cNvSpPr/>
          <p:nvPr/>
        </p:nvSpPr>
        <p:spPr>
          <a:xfrm>
            <a:off x="6095999" y="4378932"/>
            <a:ext cx="5633412" cy="145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TextBox 6">
            <a:extLst>
              <a:ext uri="{FF2B5EF4-FFF2-40B4-BE49-F238E27FC236}">
                <a16:creationId xmlns:a16="http://schemas.microsoft.com/office/drawing/2014/main" id="{23883DEA-7AC1-0B32-7FD2-F764B57C2E89}"/>
              </a:ext>
            </a:extLst>
          </p:cNvPr>
          <p:cNvSpPr txBox="1"/>
          <p:nvPr/>
        </p:nvSpPr>
        <p:spPr>
          <a:xfrm>
            <a:off x="9095071" y="3917266"/>
            <a:ext cx="2713692" cy="461665"/>
          </a:xfrm>
          <a:prstGeom prst="rect">
            <a:avLst/>
          </a:prstGeom>
          <a:noFill/>
        </p:spPr>
        <p:txBody>
          <a:bodyPr wrap="none" rtlCol="0">
            <a:spAutoFit/>
          </a:bodyPr>
          <a:lstStyle/>
          <a:p>
            <a:r>
              <a:rPr lang="en-US" sz="2400" b="1" i="1" dirty="0"/>
              <a:t>No code duplication</a:t>
            </a:r>
          </a:p>
        </p:txBody>
      </p:sp>
    </p:spTree>
    <p:extLst>
      <p:ext uri="{BB962C8B-B14F-4D97-AF65-F5344CB8AC3E}">
        <p14:creationId xmlns:p14="http://schemas.microsoft.com/office/powerpoint/2010/main" val="2856940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5" grpId="0"/>
      <p:bldP spid="5" grpId="1"/>
      <p:bldP spid="6" grpId="0" animBg="1"/>
      <p:bldP spid="7"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D8C6F-30EF-FCFC-8C9D-4667AF441A6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DD32E0C-D679-FBD7-A124-73066005605A}"/>
              </a:ext>
            </a:extLst>
          </p:cNvPr>
          <p:cNvSpPr>
            <a:spLocks noGrp="1"/>
          </p:cNvSpPr>
          <p:nvPr>
            <p:ph idx="1"/>
          </p:nvPr>
        </p:nvSpPr>
        <p:spPr/>
        <p:txBody>
          <a:bodyPr>
            <a:normAutofit fontScale="925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a:t>
            </a:r>
          </a:p>
          <a:p>
            <a:endParaRPr lang="en-US" dirty="0"/>
          </a:p>
          <a:p>
            <a:r>
              <a:rPr lang="en-US" dirty="0"/>
              <a:t>public class Thread extends </a:t>
            </a:r>
            <a:r>
              <a:rPr lang="en-US" dirty="0" err="1"/>
              <a:t>SocialMediaComponent</a:t>
            </a:r>
            <a:r>
              <a:rPr lang="en-US" dirty="0"/>
              <a:t> {}</a:t>
            </a:r>
          </a:p>
          <a:p>
            <a:endParaRPr lang="en-US" dirty="0"/>
          </a:p>
          <a:p>
            <a:r>
              <a:rPr lang="en-US" dirty="0"/>
              <a:t>public class Spaces extends </a:t>
            </a:r>
            <a:r>
              <a:rPr lang="en-US" dirty="0" err="1"/>
              <a:t>SocialMediaComponent</a:t>
            </a:r>
            <a:r>
              <a:rPr lang="en-US" dirty="0"/>
              <a:t> {</a:t>
            </a:r>
          </a:p>
          <a:p>
            <a:r>
              <a:rPr lang="en-US" dirty="0"/>
              <a:t>	public void show() { // show livestream }</a:t>
            </a:r>
          </a:p>
          <a:p>
            <a:r>
              <a:rPr lang="en-US" dirty="0"/>
              <a:t>	public void hide() { // hide livestream }</a:t>
            </a:r>
          </a:p>
          <a:p>
            <a:r>
              <a:rPr lang="en-US" dirty="0"/>
              <a:t>	public void report() { // report livestream}</a:t>
            </a:r>
          </a:p>
          <a:p>
            <a:r>
              <a:rPr lang="en-US" dirty="0"/>
              <a:t>}</a:t>
            </a:r>
          </a:p>
          <a:p>
            <a:endParaRPr lang="en-US" dirty="0"/>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3155696C-A6B8-54B3-E0BE-7D6CE0BEE4EA}"/>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C48B8708-8065-26D8-72DE-DB07C6AE9FC6}"/>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Easy to add another </a:t>
            </a:r>
            <a:r>
              <a:rPr lang="en-US" dirty="0" err="1">
                <a:latin typeface="Helvetica" panose="020B0604020202020204" pitchFamily="34" charset="0"/>
                <a:cs typeface="Helvetica" panose="020B0604020202020204" pitchFamily="34" charset="0"/>
              </a:rPr>
              <a:t>SocialMediaComponent</a:t>
            </a: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06B838F1-73A4-80BB-A9FF-5A15E025C3EB}"/>
              </a:ext>
            </a:extLst>
          </p:cNvPr>
          <p:cNvSpPr/>
          <p:nvPr/>
        </p:nvSpPr>
        <p:spPr>
          <a:xfrm>
            <a:off x="6096000" y="3282462"/>
            <a:ext cx="5633412" cy="15240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001771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6A316-EA19-2A45-B61B-7B43FAE98273}"/>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C58E2E4-61F6-8E82-32B0-15D57DFC77F0}"/>
              </a:ext>
            </a:extLst>
          </p:cNvPr>
          <p:cNvSpPr>
            <a:spLocks noGrp="1"/>
          </p:cNvSpPr>
          <p:nvPr>
            <p:ph idx="1"/>
          </p:nvPr>
        </p:nvSpPr>
        <p:spPr>
          <a:xfrm>
            <a:off x="360607" y="785004"/>
            <a:ext cx="11449319" cy="5218981"/>
          </a:xfrm>
        </p:spPr>
        <p:txBody>
          <a:bodyPr>
            <a:normAutofit/>
          </a:bodyPr>
          <a:lstStyle/>
          <a:p>
            <a:r>
              <a:rPr lang="en-US" dirty="0"/>
              <a:t>Ideal for representing hierarchical structures where an object can contain other objects from the same class hierarchy</a:t>
            </a:r>
          </a:p>
          <a:p>
            <a:r>
              <a:rPr lang="en-US" dirty="0"/>
              <a:t>Composite pattern allows clients to treat individual objects and compositions of objects uniformly</a:t>
            </a:r>
          </a:p>
          <a:p>
            <a:pPr marL="0" indent="0">
              <a:buNone/>
            </a:pPr>
            <a:endParaRPr lang="en-US" dirty="0"/>
          </a:p>
        </p:txBody>
      </p:sp>
      <p:sp>
        <p:nvSpPr>
          <p:cNvPr id="3" name="Title 2">
            <a:extLst>
              <a:ext uri="{FF2B5EF4-FFF2-40B4-BE49-F238E27FC236}">
                <a16:creationId xmlns:a16="http://schemas.microsoft.com/office/drawing/2014/main" id="{E6480789-A339-5542-C677-9A40D322BE7D}"/>
              </a:ext>
            </a:extLst>
          </p:cNvPr>
          <p:cNvSpPr>
            <a:spLocks noGrp="1"/>
          </p:cNvSpPr>
          <p:nvPr>
            <p:ph type="title"/>
          </p:nvPr>
        </p:nvSpPr>
        <p:spPr>
          <a:xfrm>
            <a:off x="0" y="0"/>
            <a:ext cx="12192000" cy="696277"/>
          </a:xfrm>
        </p:spPr>
        <p:txBody>
          <a:bodyPr/>
          <a:lstStyle/>
          <a:p>
            <a:r>
              <a:rPr lang="en-US" dirty="0"/>
              <a:t>Composite design pattern</a:t>
            </a:r>
          </a:p>
        </p:txBody>
      </p:sp>
    </p:spTree>
    <p:extLst>
      <p:ext uri="{BB962C8B-B14F-4D97-AF65-F5344CB8AC3E}">
        <p14:creationId xmlns:p14="http://schemas.microsoft.com/office/powerpoint/2010/main" val="369410157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07C36-CB4F-1D56-7086-14780A3411E1}"/>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EEB66DC-80E9-8FB9-0E4D-D4E2CBB94F57}"/>
              </a:ext>
            </a:extLst>
          </p:cNvPr>
          <p:cNvSpPr>
            <a:spLocks noGrp="1"/>
          </p:cNvSpPr>
          <p:nvPr>
            <p:ph idx="1"/>
          </p:nvPr>
        </p:nvSpPr>
        <p:spPr/>
        <p:txBody>
          <a:bodyPr/>
          <a:lstStyle/>
          <a:p>
            <a:r>
              <a:rPr lang="en-US" dirty="0"/>
              <a:t>Simplifies the client</a:t>
            </a:r>
          </a:p>
          <a:p>
            <a:r>
              <a:rPr lang="en-US" dirty="0"/>
              <a:t>Clients can treat leaf and composite objects uniformly</a:t>
            </a:r>
          </a:p>
          <a:p>
            <a:r>
              <a:rPr lang="en-US" dirty="0"/>
              <a:t>Makes it easier to add new kinds of components</a:t>
            </a:r>
          </a:p>
        </p:txBody>
      </p:sp>
      <p:sp>
        <p:nvSpPr>
          <p:cNvPr id="5" name="Title 4">
            <a:extLst>
              <a:ext uri="{FF2B5EF4-FFF2-40B4-BE49-F238E27FC236}">
                <a16:creationId xmlns:a16="http://schemas.microsoft.com/office/drawing/2014/main" id="{5DBD05CC-C6A8-2A5D-E4B9-B7E50914121B}"/>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6486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FFC6B-473D-B445-E9DD-BC3C44C171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C2C006-51DE-F4D1-CCFD-657EBE3D612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6F5F3DB-F229-26E1-E9A2-13545A6BE73C}"/>
              </a:ext>
            </a:extLst>
          </p:cNvPr>
          <p:cNvSpPr>
            <a:spLocks noGrp="1"/>
          </p:cNvSpPr>
          <p:nvPr>
            <p:ph type="body" sz="quarter" idx="13"/>
          </p:nvPr>
        </p:nvSpPr>
        <p:spPr/>
        <p:txBody>
          <a:bodyPr/>
          <a:lstStyle/>
          <a:p>
            <a:r>
              <a:rPr lang="en-US" sz="3200" dirty="0"/>
              <a:t>Bridge design pattern</a:t>
            </a:r>
          </a:p>
        </p:txBody>
      </p:sp>
    </p:spTree>
    <p:extLst>
      <p:ext uri="{BB962C8B-B14F-4D97-AF65-F5344CB8AC3E}">
        <p14:creationId xmlns:p14="http://schemas.microsoft.com/office/powerpoint/2010/main" val="2951245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3AF53-FD6E-6D1F-7809-187C8E1059E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9C035DD-0ECC-6E26-7830-04ED9B9EF164}"/>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7E95E5D-EE1A-16A4-9592-C4B85C43B4BD}"/>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7193E25B-5A78-0425-4D70-3D0B1BB66D26}"/>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B980A10-A0F9-464D-E0F8-8DF581D4740E}"/>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B908EBEE-8181-86E5-7A91-14560D1D2246}"/>
              </a:ext>
            </a:extLst>
          </p:cNvPr>
          <p:cNvSpPr/>
          <p:nvPr/>
        </p:nvSpPr>
        <p:spPr>
          <a:xfrm>
            <a:off x="4829906" y="2966599"/>
            <a:ext cx="2286001"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DC24F8F8-1642-96E7-977B-6FCAE6232D91}"/>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420DB07C-BC7E-9597-59AA-DA74EA45CF6A}"/>
              </a:ext>
            </a:extLst>
          </p:cNvPr>
          <p:cNvCxnSpPr>
            <a:cxnSpLocks/>
            <a:stCxn id="2" idx="2"/>
            <a:endCxn id="6" idx="0"/>
          </p:cNvCxnSpPr>
          <p:nvPr/>
        </p:nvCxnSpPr>
        <p:spPr>
          <a:xfrm>
            <a:off x="4525108" y="2130267"/>
            <a:ext cx="1447799"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652B6949-93AB-1E48-CD0E-EACB84DCC383}"/>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9129E340-350D-1A7A-5CF2-A9FAECBB7054}"/>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Tree>
    <p:extLst>
      <p:ext uri="{BB962C8B-B14F-4D97-AF65-F5344CB8AC3E}">
        <p14:creationId xmlns:p14="http://schemas.microsoft.com/office/powerpoint/2010/main" val="349295610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BD506-E79B-B8C5-C951-F31C217EF07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9A1004D7-64F9-14BC-286D-E3EE42EA4F0F}"/>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8E2A881-F182-27D7-D37D-AE7E82F72273}"/>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00FD4838-5CFA-4D4A-0E96-6A560470FC43}"/>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2E3B7CC1-D45E-D432-9144-188B0EDA02CC}"/>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5BB51A6F-13E6-1909-4CB5-DB9B0479652A}"/>
              </a:ext>
            </a:extLst>
          </p:cNvPr>
          <p:cNvSpPr/>
          <p:nvPr/>
        </p:nvSpPr>
        <p:spPr>
          <a:xfrm>
            <a:off x="4829907" y="2966599"/>
            <a:ext cx="2382594"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74F05C42-1B4E-50FE-8C9D-1B8BB227B906}"/>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26EAD19-03DC-BA2E-B692-3FFA13F87A85}"/>
              </a:ext>
            </a:extLst>
          </p:cNvPr>
          <p:cNvCxnSpPr>
            <a:cxnSpLocks/>
            <a:stCxn id="2" idx="2"/>
            <a:endCxn id="6" idx="0"/>
          </p:cNvCxnSpPr>
          <p:nvPr/>
        </p:nvCxnSpPr>
        <p:spPr>
          <a:xfrm>
            <a:off x="4525108" y="2130267"/>
            <a:ext cx="1496096"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424E646C-9209-9CF2-2332-956F31C9B10A}"/>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5D8A0D51-92D3-0D2F-0270-6FA296864F05}"/>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30FB293E-014E-57F4-8281-DC54637B1FC1}"/>
              </a:ext>
            </a:extLst>
          </p:cNvPr>
          <p:cNvSpPr txBox="1"/>
          <p:nvPr/>
        </p:nvSpPr>
        <p:spPr>
          <a:xfrm>
            <a:off x="360607" y="4478144"/>
            <a:ext cx="12097094" cy="523220"/>
          </a:xfrm>
          <a:prstGeom prst="rect">
            <a:avLst/>
          </a:prstGeom>
          <a:noFill/>
        </p:spPr>
        <p:txBody>
          <a:bodyPr wrap="none" rtlCol="0">
            <a:spAutoFit/>
          </a:bodyPr>
          <a:lstStyle/>
          <a:p>
            <a:r>
              <a:rPr lang="en-US" sz="2800" b="1" i="1" dirty="0"/>
              <a:t>A car can be either gas or electric. A motorcycle can also be either gas or electric</a:t>
            </a:r>
          </a:p>
        </p:txBody>
      </p:sp>
    </p:spTree>
    <p:extLst>
      <p:ext uri="{BB962C8B-B14F-4D97-AF65-F5344CB8AC3E}">
        <p14:creationId xmlns:p14="http://schemas.microsoft.com/office/powerpoint/2010/main" val="12357519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445B0-BC97-36CA-5B21-483FF65FECA1}"/>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30360C32-8D75-70AE-CB02-05F69B498F80}"/>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B1FDB29-A0C8-8453-8BBE-265E881F0C9B}"/>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9F7CE6CA-CF15-2C94-A835-E596FC3255D4}"/>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F269BD2-9D80-CBD9-12EB-88583919AE77}"/>
              </a:ext>
            </a:extLst>
          </p:cNvPr>
          <p:cNvSpPr/>
          <p:nvPr/>
        </p:nvSpPr>
        <p:spPr>
          <a:xfrm>
            <a:off x="291098" y="2966600"/>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ElectricCar</a:t>
            </a:r>
            <a:endParaRPr lang="en-US" dirty="0"/>
          </a:p>
        </p:txBody>
      </p:sp>
      <p:sp>
        <p:nvSpPr>
          <p:cNvPr id="6" name="Rectangle: Rounded Corners 5">
            <a:extLst>
              <a:ext uri="{FF2B5EF4-FFF2-40B4-BE49-F238E27FC236}">
                <a16:creationId xmlns:a16="http://schemas.microsoft.com/office/drawing/2014/main" id="{EB93CFE9-6553-2A4D-1129-310FCCB4E98E}"/>
              </a:ext>
            </a:extLst>
          </p:cNvPr>
          <p:cNvSpPr/>
          <p:nvPr/>
        </p:nvSpPr>
        <p:spPr>
          <a:xfrm>
            <a:off x="508162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ElectricMotorcycle</a:t>
            </a:r>
            <a:endParaRPr lang="en-US" dirty="0"/>
          </a:p>
        </p:txBody>
      </p:sp>
      <p:cxnSp>
        <p:nvCxnSpPr>
          <p:cNvPr id="8" name="Straight Arrow Connector 7">
            <a:extLst>
              <a:ext uri="{FF2B5EF4-FFF2-40B4-BE49-F238E27FC236}">
                <a16:creationId xmlns:a16="http://schemas.microsoft.com/office/drawing/2014/main" id="{AC15D31F-686B-0754-48D4-1B1D1C424FD3}"/>
              </a:ext>
            </a:extLst>
          </p:cNvPr>
          <p:cNvCxnSpPr>
            <a:cxnSpLocks/>
            <a:stCxn id="2" idx="2"/>
            <a:endCxn id="5" idx="0"/>
          </p:cNvCxnSpPr>
          <p:nvPr/>
        </p:nvCxnSpPr>
        <p:spPr>
          <a:xfrm flipH="1">
            <a:off x="1404791" y="2130267"/>
            <a:ext cx="3120317"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68BC6C53-49F7-649B-04A9-391CF208822F}"/>
              </a:ext>
            </a:extLst>
          </p:cNvPr>
          <p:cNvCxnSpPr>
            <a:cxnSpLocks/>
            <a:stCxn id="2" idx="2"/>
            <a:endCxn id="6" idx="0"/>
          </p:cNvCxnSpPr>
          <p:nvPr/>
        </p:nvCxnSpPr>
        <p:spPr>
          <a:xfrm>
            <a:off x="4525108" y="2130267"/>
            <a:ext cx="225776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1034D5C7-4217-C6F3-5551-BCF35678E6DF}"/>
              </a:ext>
            </a:extLst>
          </p:cNvPr>
          <p:cNvSpPr txBox="1"/>
          <p:nvPr/>
        </p:nvSpPr>
        <p:spPr>
          <a:xfrm>
            <a:off x="6571170" y="2026159"/>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1B39C294-0B43-CD3B-6360-E6F946D42ECF}"/>
              </a:ext>
            </a:extLst>
          </p:cNvPr>
          <p:cNvSpPr txBox="1"/>
          <p:nvPr/>
        </p:nvSpPr>
        <p:spPr>
          <a:xfrm>
            <a:off x="2380375" y="2114411"/>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05BED28A-608B-CB64-3F43-331DFD80739F}"/>
              </a:ext>
            </a:extLst>
          </p:cNvPr>
          <p:cNvSpPr txBox="1"/>
          <p:nvPr/>
        </p:nvSpPr>
        <p:spPr>
          <a:xfrm>
            <a:off x="360607" y="4220685"/>
            <a:ext cx="10433754" cy="1384995"/>
          </a:xfrm>
          <a:prstGeom prst="rect">
            <a:avLst/>
          </a:prstGeom>
          <a:noFill/>
        </p:spPr>
        <p:txBody>
          <a:bodyPr wrap="none" rtlCol="0">
            <a:spAutoFit/>
          </a:bodyPr>
          <a:lstStyle/>
          <a:p>
            <a:r>
              <a:rPr lang="en-US" sz="2800" b="1" i="1" dirty="0"/>
              <a:t>What if we want to add diesel vehicles? </a:t>
            </a:r>
          </a:p>
          <a:p>
            <a:r>
              <a:rPr lang="en-US" sz="2800" b="1" i="1" dirty="0"/>
              <a:t>What about other vehicles like Bicycle which are manually operated?</a:t>
            </a:r>
          </a:p>
          <a:p>
            <a:endParaRPr lang="en-US" sz="2800" b="1" i="1" dirty="0"/>
          </a:p>
        </p:txBody>
      </p:sp>
      <p:sp>
        <p:nvSpPr>
          <p:cNvPr id="12" name="Rectangle: Rounded Corners 11">
            <a:extLst>
              <a:ext uri="{FF2B5EF4-FFF2-40B4-BE49-F238E27FC236}">
                <a16:creationId xmlns:a16="http://schemas.microsoft.com/office/drawing/2014/main" id="{D72CBD20-7756-9F77-62A5-BF0DA83A4E0E}"/>
              </a:ext>
            </a:extLst>
          </p:cNvPr>
          <p:cNvSpPr/>
          <p:nvPr/>
        </p:nvSpPr>
        <p:spPr>
          <a:xfrm>
            <a:off x="2722043" y="2966599"/>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GasCar</a:t>
            </a:r>
            <a:endParaRPr lang="en-US" dirty="0"/>
          </a:p>
        </p:txBody>
      </p:sp>
      <p:sp>
        <p:nvSpPr>
          <p:cNvPr id="18" name="Rectangle: Rounded Corners 17">
            <a:extLst>
              <a:ext uri="{FF2B5EF4-FFF2-40B4-BE49-F238E27FC236}">
                <a16:creationId xmlns:a16="http://schemas.microsoft.com/office/drawing/2014/main" id="{E1CAD952-8671-9648-F9ED-8EFFC6D8F62D}"/>
              </a:ext>
            </a:extLst>
          </p:cNvPr>
          <p:cNvSpPr/>
          <p:nvPr/>
        </p:nvSpPr>
        <p:spPr>
          <a:xfrm>
            <a:off x="868568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GasMotorcycle</a:t>
            </a:r>
            <a:endParaRPr lang="en-US" dirty="0"/>
          </a:p>
        </p:txBody>
      </p:sp>
      <p:cxnSp>
        <p:nvCxnSpPr>
          <p:cNvPr id="20" name="Straight Arrow Connector 19">
            <a:extLst>
              <a:ext uri="{FF2B5EF4-FFF2-40B4-BE49-F238E27FC236}">
                <a16:creationId xmlns:a16="http://schemas.microsoft.com/office/drawing/2014/main" id="{594F4667-03FC-2C6B-2CF5-AC61CBA64D0F}"/>
              </a:ext>
            </a:extLst>
          </p:cNvPr>
          <p:cNvCxnSpPr>
            <a:cxnSpLocks/>
            <a:stCxn id="2" idx="2"/>
            <a:endCxn id="18" idx="0"/>
          </p:cNvCxnSpPr>
          <p:nvPr/>
        </p:nvCxnSpPr>
        <p:spPr>
          <a:xfrm>
            <a:off x="4525108" y="2130267"/>
            <a:ext cx="586182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0819D72A-5736-4946-93C8-D0675419BE6B}"/>
              </a:ext>
            </a:extLst>
          </p:cNvPr>
          <p:cNvSpPr txBox="1"/>
          <p:nvPr/>
        </p:nvSpPr>
        <p:spPr>
          <a:xfrm>
            <a:off x="4773927" y="2496379"/>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65437E12-0D15-2D00-2AE5-B3DA01C4CEA2}"/>
              </a:ext>
            </a:extLst>
          </p:cNvPr>
          <p:cNvSpPr txBox="1"/>
          <p:nvPr/>
        </p:nvSpPr>
        <p:spPr>
          <a:xfrm>
            <a:off x="3102117" y="2544892"/>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52AE90CF-2A16-46D4-0291-82243616CE83}"/>
              </a:ext>
            </a:extLst>
          </p:cNvPr>
          <p:cNvCxnSpPr>
            <a:cxnSpLocks/>
            <a:stCxn id="2" idx="2"/>
            <a:endCxn id="12" idx="0"/>
          </p:cNvCxnSpPr>
          <p:nvPr/>
        </p:nvCxnSpPr>
        <p:spPr>
          <a:xfrm flipH="1">
            <a:off x="3835736" y="2130267"/>
            <a:ext cx="689372"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6341658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4C8D6-CA14-CE8E-74A9-CA2298EDDFC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72DFDE54-06B8-CAE2-C10B-400EBBD1E11B}"/>
              </a:ext>
            </a:extLst>
          </p:cNvPr>
          <p:cNvSpPr>
            <a:spLocks noGrp="1"/>
          </p:cNvSpPr>
          <p:nvPr>
            <p:ph idx="1"/>
          </p:nvPr>
        </p:nvSpPr>
        <p:spPr/>
        <p:txBody>
          <a:bodyPr>
            <a:normAutofit/>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3E16ED1-2D63-42D5-9B0C-CF1AE8612BF5}"/>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1E2DE1E0-8833-8776-C25B-515788113524}"/>
              </a:ext>
            </a:extLst>
          </p:cNvPr>
          <p:cNvSpPr/>
          <p:nvPr/>
        </p:nvSpPr>
        <p:spPr>
          <a:xfrm>
            <a:off x="1409385" y="1579036"/>
            <a:ext cx="1499963" cy="4772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582614C5-4B93-B29A-0198-BEF3CBB97D66}"/>
              </a:ext>
            </a:extLst>
          </p:cNvPr>
          <p:cNvSpPr/>
          <p:nvPr/>
        </p:nvSpPr>
        <p:spPr>
          <a:xfrm>
            <a:off x="51578" y="2856269"/>
            <a:ext cx="931841"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1D8EE0C2-D55E-81F5-E87A-430739C0B06B}"/>
              </a:ext>
            </a:extLst>
          </p:cNvPr>
          <p:cNvSpPr/>
          <p:nvPr/>
        </p:nvSpPr>
        <p:spPr>
          <a:xfrm>
            <a:off x="5741825" y="2823789"/>
            <a:ext cx="1805065" cy="477220"/>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Electric</a:t>
            </a:r>
            <a:endParaRPr lang="en-US" dirty="0"/>
          </a:p>
        </p:txBody>
      </p:sp>
      <p:cxnSp>
        <p:nvCxnSpPr>
          <p:cNvPr id="8" name="Straight Arrow Connector 7">
            <a:extLst>
              <a:ext uri="{FF2B5EF4-FFF2-40B4-BE49-F238E27FC236}">
                <a16:creationId xmlns:a16="http://schemas.microsoft.com/office/drawing/2014/main" id="{4AEEA740-AAD6-9A63-9D23-677C9CDF4C9A}"/>
              </a:ext>
            </a:extLst>
          </p:cNvPr>
          <p:cNvCxnSpPr>
            <a:cxnSpLocks/>
            <a:stCxn id="2" idx="2"/>
            <a:endCxn id="5" idx="0"/>
          </p:cNvCxnSpPr>
          <p:nvPr/>
        </p:nvCxnSpPr>
        <p:spPr>
          <a:xfrm flipH="1">
            <a:off x="517499" y="2056256"/>
            <a:ext cx="1641868"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B28C442-2809-91E0-455D-98853B3AE6A7}"/>
              </a:ext>
            </a:extLst>
          </p:cNvPr>
          <p:cNvCxnSpPr>
            <a:cxnSpLocks/>
            <a:stCxn id="10" idx="2"/>
            <a:endCxn id="6" idx="0"/>
          </p:cNvCxnSpPr>
          <p:nvPr/>
        </p:nvCxnSpPr>
        <p:spPr>
          <a:xfrm flipH="1">
            <a:off x="6644358" y="2056256"/>
            <a:ext cx="1283188" cy="7675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DA45AEAD-5FCB-AE90-4883-13D362994E84}"/>
              </a:ext>
            </a:extLst>
          </p:cNvPr>
          <p:cNvSpPr txBox="1"/>
          <p:nvPr/>
        </p:nvSpPr>
        <p:spPr>
          <a:xfrm>
            <a:off x="6261097" y="2198782"/>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025A16D0-CDDF-645E-EF1D-41A92FA6DE1B}"/>
              </a:ext>
            </a:extLst>
          </p:cNvPr>
          <p:cNvSpPr txBox="1"/>
          <p:nvPr/>
        </p:nvSpPr>
        <p:spPr>
          <a:xfrm>
            <a:off x="337161" y="2144648"/>
            <a:ext cx="933269" cy="369332"/>
          </a:xfrm>
          <a:prstGeom prst="rect">
            <a:avLst/>
          </a:prstGeom>
          <a:noFill/>
        </p:spPr>
        <p:txBody>
          <a:bodyPr wrap="none" rtlCol="0">
            <a:spAutoFit/>
          </a:bodyPr>
          <a:lstStyle/>
          <a:p>
            <a:r>
              <a:rPr lang="en-US" b="1" i="1" dirty="0"/>
              <a:t>extends</a:t>
            </a:r>
          </a:p>
        </p:txBody>
      </p:sp>
      <p:sp>
        <p:nvSpPr>
          <p:cNvPr id="12" name="Rectangle: Rounded Corners 11">
            <a:extLst>
              <a:ext uri="{FF2B5EF4-FFF2-40B4-BE49-F238E27FC236}">
                <a16:creationId xmlns:a16="http://schemas.microsoft.com/office/drawing/2014/main" id="{2E16F206-9575-FAE3-FD1B-D207F4FD47BC}"/>
              </a:ext>
            </a:extLst>
          </p:cNvPr>
          <p:cNvSpPr/>
          <p:nvPr/>
        </p:nvSpPr>
        <p:spPr>
          <a:xfrm>
            <a:off x="1161912" y="2856269"/>
            <a:ext cx="1499964"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Bicycle</a:t>
            </a:r>
            <a:endParaRPr lang="en-US" dirty="0"/>
          </a:p>
        </p:txBody>
      </p:sp>
      <p:sp>
        <p:nvSpPr>
          <p:cNvPr id="18" name="Rectangle: Rounded Corners 17">
            <a:extLst>
              <a:ext uri="{FF2B5EF4-FFF2-40B4-BE49-F238E27FC236}">
                <a16:creationId xmlns:a16="http://schemas.microsoft.com/office/drawing/2014/main" id="{7B0C07DB-9AB5-FCFD-F24B-9606CC3FB4FC}"/>
              </a:ext>
            </a:extLst>
          </p:cNvPr>
          <p:cNvSpPr/>
          <p:nvPr/>
        </p:nvSpPr>
        <p:spPr>
          <a:xfrm>
            <a:off x="7755452" y="2824450"/>
            <a:ext cx="997576"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Gas</a:t>
            </a:r>
            <a:endParaRPr lang="en-US" dirty="0"/>
          </a:p>
        </p:txBody>
      </p:sp>
      <p:cxnSp>
        <p:nvCxnSpPr>
          <p:cNvPr id="20" name="Straight Arrow Connector 19">
            <a:extLst>
              <a:ext uri="{FF2B5EF4-FFF2-40B4-BE49-F238E27FC236}">
                <a16:creationId xmlns:a16="http://schemas.microsoft.com/office/drawing/2014/main" id="{3B8DA568-F019-05FC-2D0E-CAB6CA913975}"/>
              </a:ext>
            </a:extLst>
          </p:cNvPr>
          <p:cNvCxnSpPr>
            <a:cxnSpLocks/>
            <a:stCxn id="10" idx="2"/>
            <a:endCxn id="18" idx="0"/>
          </p:cNvCxnSpPr>
          <p:nvPr/>
        </p:nvCxnSpPr>
        <p:spPr>
          <a:xfrm>
            <a:off x="7927546" y="2056256"/>
            <a:ext cx="326694" cy="768194"/>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604995C1-2A03-D256-002F-B583B70D918A}"/>
              </a:ext>
            </a:extLst>
          </p:cNvPr>
          <p:cNvSpPr txBox="1"/>
          <p:nvPr/>
        </p:nvSpPr>
        <p:spPr>
          <a:xfrm>
            <a:off x="3462412" y="2256937"/>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34A1E3C9-6339-7431-D077-60804C6D3BE0}"/>
              </a:ext>
            </a:extLst>
          </p:cNvPr>
          <p:cNvSpPr txBox="1"/>
          <p:nvPr/>
        </p:nvSpPr>
        <p:spPr>
          <a:xfrm>
            <a:off x="1178714" y="2376506"/>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85F44365-265B-B06D-C85E-73105E59DA58}"/>
              </a:ext>
            </a:extLst>
          </p:cNvPr>
          <p:cNvCxnSpPr>
            <a:cxnSpLocks/>
            <a:stCxn id="2" idx="2"/>
            <a:endCxn id="12" idx="0"/>
          </p:cNvCxnSpPr>
          <p:nvPr/>
        </p:nvCxnSpPr>
        <p:spPr>
          <a:xfrm flipH="1">
            <a:off x="1911894" y="2056256"/>
            <a:ext cx="247473"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0" name="Rectangle: Rounded Corners 9">
            <a:extLst>
              <a:ext uri="{FF2B5EF4-FFF2-40B4-BE49-F238E27FC236}">
                <a16:creationId xmlns:a16="http://schemas.microsoft.com/office/drawing/2014/main" id="{DBBB8CDE-D851-DC94-4033-B2833E04FBD9}"/>
              </a:ext>
            </a:extLst>
          </p:cNvPr>
          <p:cNvSpPr/>
          <p:nvPr/>
        </p:nvSpPr>
        <p:spPr>
          <a:xfrm>
            <a:off x="6644358" y="1579036"/>
            <a:ext cx="2566375" cy="477220"/>
          </a:xfrm>
          <a:prstGeom prst="roundRect">
            <a:avLst/>
          </a:prstGeom>
          <a:solidFill>
            <a:schemeClr val="bg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EnergySource</a:t>
            </a:r>
            <a:endParaRPr lang="en-US" dirty="0"/>
          </a:p>
        </p:txBody>
      </p:sp>
      <p:sp>
        <p:nvSpPr>
          <p:cNvPr id="29" name="Rectangle: Rounded Corners 28">
            <a:extLst>
              <a:ext uri="{FF2B5EF4-FFF2-40B4-BE49-F238E27FC236}">
                <a16:creationId xmlns:a16="http://schemas.microsoft.com/office/drawing/2014/main" id="{DDE49FAC-6E24-CF3D-0023-02405652F5E5}"/>
              </a:ext>
            </a:extLst>
          </p:cNvPr>
          <p:cNvSpPr/>
          <p:nvPr/>
        </p:nvSpPr>
        <p:spPr>
          <a:xfrm>
            <a:off x="8925122" y="2807556"/>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Diesel</a:t>
            </a:r>
            <a:endParaRPr lang="en-US" dirty="0"/>
          </a:p>
        </p:txBody>
      </p:sp>
      <p:sp>
        <p:nvSpPr>
          <p:cNvPr id="30" name="Rectangle: Rounded Corners 29">
            <a:extLst>
              <a:ext uri="{FF2B5EF4-FFF2-40B4-BE49-F238E27FC236}">
                <a16:creationId xmlns:a16="http://schemas.microsoft.com/office/drawing/2014/main" id="{844BC528-3F02-E4D3-93CF-839B49671662}"/>
              </a:ext>
            </a:extLst>
          </p:cNvPr>
          <p:cNvSpPr/>
          <p:nvPr/>
        </p:nvSpPr>
        <p:spPr>
          <a:xfrm>
            <a:off x="10519324" y="2801113"/>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Manual</a:t>
            </a:r>
            <a:endParaRPr lang="en-US" dirty="0"/>
          </a:p>
        </p:txBody>
      </p:sp>
      <p:sp>
        <p:nvSpPr>
          <p:cNvPr id="48" name="Rectangle: Rounded Corners 47">
            <a:extLst>
              <a:ext uri="{FF2B5EF4-FFF2-40B4-BE49-F238E27FC236}">
                <a16:creationId xmlns:a16="http://schemas.microsoft.com/office/drawing/2014/main" id="{C0A08829-8C42-CAC9-A672-129A0B42F5A3}"/>
              </a:ext>
            </a:extLst>
          </p:cNvPr>
          <p:cNvSpPr/>
          <p:nvPr/>
        </p:nvSpPr>
        <p:spPr>
          <a:xfrm>
            <a:off x="2848903" y="2839648"/>
            <a:ext cx="2285463"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49" name="Straight Arrow Connector 48">
            <a:extLst>
              <a:ext uri="{FF2B5EF4-FFF2-40B4-BE49-F238E27FC236}">
                <a16:creationId xmlns:a16="http://schemas.microsoft.com/office/drawing/2014/main" id="{052405CA-4DC0-9FD6-E97E-1EAC4091D069}"/>
              </a:ext>
            </a:extLst>
          </p:cNvPr>
          <p:cNvCxnSpPr>
            <a:cxnSpLocks/>
            <a:stCxn id="2" idx="2"/>
            <a:endCxn id="48" idx="0"/>
          </p:cNvCxnSpPr>
          <p:nvPr/>
        </p:nvCxnSpPr>
        <p:spPr>
          <a:xfrm>
            <a:off x="2159367" y="2056256"/>
            <a:ext cx="1832268" cy="78339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E6E64DC1-C0FD-7132-AFBF-A67D637E8A88}"/>
              </a:ext>
            </a:extLst>
          </p:cNvPr>
          <p:cNvSpPr txBox="1"/>
          <p:nvPr/>
        </p:nvSpPr>
        <p:spPr>
          <a:xfrm>
            <a:off x="7243671" y="2420367"/>
            <a:ext cx="933269" cy="369332"/>
          </a:xfrm>
          <a:prstGeom prst="rect">
            <a:avLst/>
          </a:prstGeom>
          <a:noFill/>
        </p:spPr>
        <p:txBody>
          <a:bodyPr wrap="none" rtlCol="0">
            <a:spAutoFit/>
          </a:bodyPr>
          <a:lstStyle/>
          <a:p>
            <a:r>
              <a:rPr lang="en-US" b="1" i="1" dirty="0"/>
              <a:t>extends</a:t>
            </a:r>
          </a:p>
        </p:txBody>
      </p:sp>
      <p:cxnSp>
        <p:nvCxnSpPr>
          <p:cNvPr id="53" name="Straight Arrow Connector 52">
            <a:extLst>
              <a:ext uri="{FF2B5EF4-FFF2-40B4-BE49-F238E27FC236}">
                <a16:creationId xmlns:a16="http://schemas.microsoft.com/office/drawing/2014/main" id="{CD27C977-4460-3B6A-5C9A-EF5FF8245B69}"/>
              </a:ext>
            </a:extLst>
          </p:cNvPr>
          <p:cNvCxnSpPr>
            <a:cxnSpLocks/>
            <a:stCxn id="10" idx="2"/>
            <a:endCxn id="29" idx="0"/>
          </p:cNvCxnSpPr>
          <p:nvPr/>
        </p:nvCxnSpPr>
        <p:spPr>
          <a:xfrm>
            <a:off x="7927546" y="2056256"/>
            <a:ext cx="1744120" cy="751300"/>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56" name="Straight Arrow Connector 55">
            <a:extLst>
              <a:ext uri="{FF2B5EF4-FFF2-40B4-BE49-F238E27FC236}">
                <a16:creationId xmlns:a16="http://schemas.microsoft.com/office/drawing/2014/main" id="{897EFAF5-BDC9-EF60-9805-0A11ACDF7E88}"/>
              </a:ext>
            </a:extLst>
          </p:cNvPr>
          <p:cNvCxnSpPr>
            <a:cxnSpLocks/>
            <a:stCxn id="10" idx="2"/>
            <a:endCxn id="30" idx="0"/>
          </p:cNvCxnSpPr>
          <p:nvPr/>
        </p:nvCxnSpPr>
        <p:spPr>
          <a:xfrm>
            <a:off x="7927546" y="2056256"/>
            <a:ext cx="3338322" cy="744857"/>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276C00DE-7AC5-FF18-EAE4-A873237D1CC5}"/>
              </a:ext>
            </a:extLst>
          </p:cNvPr>
          <p:cNvSpPr txBox="1"/>
          <p:nvPr/>
        </p:nvSpPr>
        <p:spPr>
          <a:xfrm>
            <a:off x="9807578" y="2193171"/>
            <a:ext cx="933269" cy="369332"/>
          </a:xfrm>
          <a:prstGeom prst="rect">
            <a:avLst/>
          </a:prstGeom>
          <a:noFill/>
        </p:spPr>
        <p:txBody>
          <a:bodyPr wrap="none" rtlCol="0">
            <a:spAutoFit/>
          </a:bodyPr>
          <a:lstStyle/>
          <a:p>
            <a:r>
              <a:rPr lang="en-US" b="1" i="1" dirty="0"/>
              <a:t>extends</a:t>
            </a:r>
          </a:p>
        </p:txBody>
      </p:sp>
      <p:sp>
        <p:nvSpPr>
          <p:cNvPr id="60" name="TextBox 59">
            <a:extLst>
              <a:ext uri="{FF2B5EF4-FFF2-40B4-BE49-F238E27FC236}">
                <a16:creationId xmlns:a16="http://schemas.microsoft.com/office/drawing/2014/main" id="{0DF5A07E-A9D2-F1AE-48D2-7AEB6FB13B3E}"/>
              </a:ext>
            </a:extLst>
          </p:cNvPr>
          <p:cNvSpPr txBox="1"/>
          <p:nvPr/>
        </p:nvSpPr>
        <p:spPr>
          <a:xfrm>
            <a:off x="8226245" y="2414002"/>
            <a:ext cx="933269" cy="369332"/>
          </a:xfrm>
          <a:prstGeom prst="rect">
            <a:avLst/>
          </a:prstGeom>
          <a:noFill/>
        </p:spPr>
        <p:txBody>
          <a:bodyPr wrap="none" rtlCol="0">
            <a:spAutoFit/>
          </a:bodyPr>
          <a:lstStyle/>
          <a:p>
            <a:r>
              <a:rPr lang="en-US" b="1" i="1" dirty="0"/>
              <a:t>extends</a:t>
            </a:r>
          </a:p>
        </p:txBody>
      </p:sp>
      <p:cxnSp>
        <p:nvCxnSpPr>
          <p:cNvPr id="61" name="Straight Arrow Connector 60">
            <a:extLst>
              <a:ext uri="{FF2B5EF4-FFF2-40B4-BE49-F238E27FC236}">
                <a16:creationId xmlns:a16="http://schemas.microsoft.com/office/drawing/2014/main" id="{2789F95E-F8DE-B2AE-7B14-1ED38E8D229B}"/>
              </a:ext>
            </a:extLst>
          </p:cNvPr>
          <p:cNvCxnSpPr>
            <a:cxnSpLocks/>
            <a:stCxn id="2" idx="3"/>
            <a:endCxn id="10" idx="1"/>
          </p:cNvCxnSpPr>
          <p:nvPr/>
        </p:nvCxnSpPr>
        <p:spPr>
          <a:xfrm>
            <a:off x="2909348" y="1817646"/>
            <a:ext cx="3735010" cy="0"/>
          </a:xfrm>
          <a:prstGeom prst="straightConnector1">
            <a:avLst/>
          </a:prstGeom>
          <a:ln w="25400">
            <a:prstDash val="sysDot"/>
            <a:tailEnd type="triangle"/>
          </a:ln>
        </p:spPr>
        <p:style>
          <a:lnRef idx="1">
            <a:schemeClr val="dk1"/>
          </a:lnRef>
          <a:fillRef idx="0">
            <a:schemeClr val="dk1"/>
          </a:fillRef>
          <a:effectRef idx="0">
            <a:schemeClr val="dk1"/>
          </a:effectRef>
          <a:fontRef idx="minor">
            <a:schemeClr val="tx1"/>
          </a:fontRef>
        </p:style>
      </p:cxnSp>
      <p:sp>
        <p:nvSpPr>
          <p:cNvPr id="69" name="TextBox 68">
            <a:extLst>
              <a:ext uri="{FF2B5EF4-FFF2-40B4-BE49-F238E27FC236}">
                <a16:creationId xmlns:a16="http://schemas.microsoft.com/office/drawing/2014/main" id="{47488A16-0D10-2743-5347-339C2C6A925C}"/>
              </a:ext>
            </a:extLst>
          </p:cNvPr>
          <p:cNvSpPr txBox="1"/>
          <p:nvPr/>
        </p:nvSpPr>
        <p:spPr>
          <a:xfrm>
            <a:off x="4197019" y="1449936"/>
            <a:ext cx="987258" cy="369332"/>
          </a:xfrm>
          <a:prstGeom prst="rect">
            <a:avLst/>
          </a:prstGeom>
          <a:noFill/>
        </p:spPr>
        <p:txBody>
          <a:bodyPr wrap="none" rtlCol="0">
            <a:spAutoFit/>
          </a:bodyPr>
          <a:lstStyle/>
          <a:p>
            <a:r>
              <a:rPr lang="en-US" b="1" i="1" dirty="0"/>
              <a:t>contains</a:t>
            </a:r>
          </a:p>
        </p:txBody>
      </p:sp>
      <p:sp>
        <p:nvSpPr>
          <p:cNvPr id="70" name="TextBox 69">
            <a:extLst>
              <a:ext uri="{FF2B5EF4-FFF2-40B4-BE49-F238E27FC236}">
                <a16:creationId xmlns:a16="http://schemas.microsoft.com/office/drawing/2014/main" id="{3727DFB0-420D-5421-EE79-5A71520D3DA5}"/>
              </a:ext>
            </a:extLst>
          </p:cNvPr>
          <p:cNvSpPr txBox="1"/>
          <p:nvPr/>
        </p:nvSpPr>
        <p:spPr>
          <a:xfrm>
            <a:off x="1178714" y="3856892"/>
            <a:ext cx="2357953" cy="584775"/>
          </a:xfrm>
          <a:prstGeom prst="rect">
            <a:avLst/>
          </a:prstGeom>
          <a:noFill/>
        </p:spPr>
        <p:txBody>
          <a:bodyPr wrap="none" rtlCol="0">
            <a:spAutoFit/>
          </a:bodyPr>
          <a:lstStyle/>
          <a:p>
            <a:r>
              <a:rPr lang="en-US" sz="3200" b="1" i="1" dirty="0"/>
              <a:t>Abstraction*</a:t>
            </a:r>
            <a:endParaRPr lang="en-US" b="1" i="1" dirty="0"/>
          </a:p>
        </p:txBody>
      </p:sp>
      <p:sp>
        <p:nvSpPr>
          <p:cNvPr id="71" name="TextBox 70">
            <a:extLst>
              <a:ext uri="{FF2B5EF4-FFF2-40B4-BE49-F238E27FC236}">
                <a16:creationId xmlns:a16="http://schemas.microsoft.com/office/drawing/2014/main" id="{59307D01-6228-6B36-D48A-35BC8E5939D1}"/>
              </a:ext>
            </a:extLst>
          </p:cNvPr>
          <p:cNvSpPr txBox="1"/>
          <p:nvPr/>
        </p:nvSpPr>
        <p:spPr>
          <a:xfrm>
            <a:off x="7194366" y="3807255"/>
            <a:ext cx="2918812" cy="584775"/>
          </a:xfrm>
          <a:prstGeom prst="rect">
            <a:avLst/>
          </a:prstGeom>
          <a:noFill/>
        </p:spPr>
        <p:txBody>
          <a:bodyPr wrap="none" rtlCol="0">
            <a:spAutoFit/>
          </a:bodyPr>
          <a:lstStyle/>
          <a:p>
            <a:r>
              <a:rPr lang="en-US" sz="3200" b="1" i="1" dirty="0"/>
              <a:t>Implementation</a:t>
            </a:r>
            <a:endParaRPr lang="en-US" b="1" i="1" dirty="0"/>
          </a:p>
        </p:txBody>
      </p:sp>
      <p:sp>
        <p:nvSpPr>
          <p:cNvPr id="7" name="TextBox 6">
            <a:extLst>
              <a:ext uri="{FF2B5EF4-FFF2-40B4-BE49-F238E27FC236}">
                <a16:creationId xmlns:a16="http://schemas.microsoft.com/office/drawing/2014/main" id="{787FF4E0-E1F4-2004-0B19-2D3A33287EF9}"/>
              </a:ext>
            </a:extLst>
          </p:cNvPr>
          <p:cNvSpPr txBox="1"/>
          <p:nvPr/>
        </p:nvSpPr>
        <p:spPr>
          <a:xfrm>
            <a:off x="1699846" y="5322277"/>
            <a:ext cx="7477688" cy="369332"/>
          </a:xfrm>
          <a:prstGeom prst="rect">
            <a:avLst/>
          </a:prstGeom>
          <a:noFill/>
        </p:spPr>
        <p:txBody>
          <a:bodyPr wrap="none" rtlCol="0">
            <a:spAutoFit/>
          </a:bodyPr>
          <a:lstStyle/>
          <a:p>
            <a:r>
              <a:rPr lang="en-US" dirty="0"/>
              <a:t>*Not an abstract class; just means that it abstracts the implementation details</a:t>
            </a:r>
          </a:p>
        </p:txBody>
      </p:sp>
    </p:spTree>
    <p:extLst>
      <p:ext uri="{BB962C8B-B14F-4D97-AF65-F5344CB8AC3E}">
        <p14:creationId xmlns:p14="http://schemas.microsoft.com/office/powerpoint/2010/main" val="126146405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BFA43-FF90-8EE4-0694-0E76CB34DB04}"/>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9B57AE6-D4AD-1D5D-2ED8-5125EF0DDDC2}"/>
              </a:ext>
            </a:extLst>
          </p:cNvPr>
          <p:cNvSpPr>
            <a:spLocks noGrp="1"/>
          </p:cNvSpPr>
          <p:nvPr>
            <p:ph idx="1"/>
          </p:nvPr>
        </p:nvSpPr>
        <p:spPr/>
        <p:txBody>
          <a:bodyPr>
            <a:normAutofit/>
          </a:bodyPr>
          <a:lstStyle/>
          <a:p>
            <a:r>
              <a:rPr lang="en-US" dirty="0"/>
              <a:t>class Vehicle {</a:t>
            </a:r>
          </a:p>
          <a:p>
            <a:r>
              <a:rPr lang="en-US" dirty="0"/>
              <a:t>	private </a:t>
            </a:r>
            <a:r>
              <a:rPr lang="en-US" dirty="0" err="1"/>
              <a:t>EnergySource</a:t>
            </a:r>
            <a:r>
              <a:rPr lang="en-US" dirty="0"/>
              <a:t> </a:t>
            </a:r>
            <a:r>
              <a:rPr lang="en-US" dirty="0" err="1"/>
              <a:t>energySource</a:t>
            </a:r>
            <a:r>
              <a:rPr lang="en-US" dirty="0"/>
              <a:t>;</a:t>
            </a:r>
          </a:p>
          <a:p>
            <a:r>
              <a:rPr lang="en-US" dirty="0"/>
              <a:t>}</a:t>
            </a:r>
          </a:p>
          <a:p>
            <a:endParaRPr lang="en-US" dirty="0"/>
          </a:p>
          <a:p>
            <a:r>
              <a:rPr lang="en-US" dirty="0"/>
              <a:t>class Car extends Vehicle { }</a:t>
            </a:r>
          </a:p>
          <a:p>
            <a:endParaRPr lang="en-US" dirty="0"/>
          </a:p>
          <a:p>
            <a:r>
              <a:rPr lang="en-US" dirty="0"/>
              <a:t>class Bicycle extends Vehicle { } </a:t>
            </a:r>
          </a:p>
          <a:p>
            <a:endParaRPr lang="en-US" dirty="0"/>
          </a:p>
          <a:p>
            <a:r>
              <a:rPr lang="en-US" dirty="0"/>
              <a:t>class </a:t>
            </a:r>
            <a:r>
              <a:rPr lang="en-US" dirty="0" err="1"/>
              <a:t>EnergySource</a:t>
            </a:r>
            <a:r>
              <a:rPr lang="en-US" dirty="0"/>
              <a:t> {}</a:t>
            </a:r>
          </a:p>
          <a:p>
            <a:endParaRPr lang="en-US" dirty="0"/>
          </a:p>
          <a:p>
            <a:r>
              <a:rPr lang="en-US" dirty="0"/>
              <a:t>class Electric extends </a:t>
            </a:r>
            <a:r>
              <a:rPr lang="en-US" dirty="0" err="1"/>
              <a:t>EnergySource</a:t>
            </a:r>
            <a:r>
              <a:rPr lang="en-US" dirty="0"/>
              <a:t> {}</a:t>
            </a:r>
          </a:p>
          <a:p>
            <a:endParaRPr lang="en-US" dirty="0"/>
          </a:p>
          <a:p>
            <a:r>
              <a:rPr lang="en-US" dirty="0"/>
              <a:t>class Manual extends </a:t>
            </a:r>
            <a:r>
              <a:rPr lang="en-US" dirty="0" err="1"/>
              <a:t>EnergySource</a:t>
            </a:r>
            <a:r>
              <a:rPr lang="en-US" dirty="0"/>
              <a:t> { }</a:t>
            </a:r>
          </a:p>
          <a:p>
            <a:endParaRPr lang="en-US" dirty="0"/>
          </a:p>
          <a:p>
            <a:r>
              <a:rPr lang="en-US" dirty="0"/>
              <a:t>class Diesel extends </a:t>
            </a:r>
            <a:r>
              <a:rPr lang="en-US" dirty="0" err="1"/>
              <a:t>EnergySource</a:t>
            </a:r>
            <a:r>
              <a:rPr lang="en-US" dirty="0"/>
              <a:t> { }</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22B36BB7-AF54-95CB-E8E4-DA9C60AD63E1}"/>
              </a:ext>
            </a:extLst>
          </p:cNvPr>
          <p:cNvSpPr>
            <a:spLocks noGrp="1"/>
          </p:cNvSpPr>
          <p:nvPr>
            <p:ph type="title"/>
          </p:nvPr>
        </p:nvSpPr>
        <p:spPr/>
        <p:txBody>
          <a:bodyPr/>
          <a:lstStyle/>
          <a:p>
            <a:r>
              <a:rPr lang="en-US" dirty="0"/>
              <a:t>Case study: vehicle class hierarchy</a:t>
            </a:r>
          </a:p>
        </p:txBody>
      </p:sp>
      <p:sp>
        <p:nvSpPr>
          <p:cNvPr id="21" name="Content Placeholder 20">
            <a:extLst>
              <a:ext uri="{FF2B5EF4-FFF2-40B4-BE49-F238E27FC236}">
                <a16:creationId xmlns:a16="http://schemas.microsoft.com/office/drawing/2014/main" id="{D80F5C60-74E7-E16B-7F9E-B68CEF124CE5}"/>
              </a:ext>
            </a:extLst>
          </p:cNvPr>
          <p:cNvSpPr>
            <a:spLocks noGrp="1"/>
          </p:cNvSpPr>
          <p:nvPr>
            <p:ph idx="13"/>
          </p:nvPr>
        </p:nvSpPr>
        <p:spPr/>
        <p:txBody>
          <a:bodyPr/>
          <a:lstStyle/>
          <a:p>
            <a:r>
              <a:rPr lang="en-US" dirty="0"/>
              <a:t>Supports adding both new vehicles and new energy sources</a:t>
            </a:r>
          </a:p>
          <a:p>
            <a:r>
              <a:rPr lang="en-US" dirty="0"/>
              <a:t>No class explosion</a:t>
            </a:r>
          </a:p>
          <a:p>
            <a:r>
              <a:rPr lang="en-US" dirty="0"/>
              <a:t>SRP maintained</a:t>
            </a:r>
          </a:p>
          <a:p>
            <a:endParaRPr lang="en-US" dirty="0"/>
          </a:p>
        </p:txBody>
      </p:sp>
    </p:spTree>
    <p:extLst>
      <p:ext uri="{BB962C8B-B14F-4D97-AF65-F5344CB8AC3E}">
        <p14:creationId xmlns:p14="http://schemas.microsoft.com/office/powerpoint/2010/main" val="36419830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BDB3-A114-18B9-A72C-754673E8BF57}"/>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31CCD6D-F055-8AED-DDC8-E50B2ACCAD4D}"/>
              </a:ext>
            </a:extLst>
          </p:cNvPr>
          <p:cNvSpPr>
            <a:spLocks noGrp="1"/>
          </p:cNvSpPr>
          <p:nvPr>
            <p:ph idx="1"/>
          </p:nvPr>
        </p:nvSpPr>
        <p:spPr/>
        <p:txBody>
          <a:bodyPr>
            <a:normAutofit/>
          </a:bodyPr>
          <a:lstStyle/>
          <a:p>
            <a:r>
              <a:rPr lang="en-US" dirty="0"/>
              <a:t>Split a large class or group of classes into two separate hierarchies – abstraction and implementation – which can be developed independently of each other </a:t>
            </a:r>
          </a:p>
          <a:p>
            <a:r>
              <a:rPr lang="en-US" dirty="0"/>
              <a:t>When an abstraction can have one of several possible implementations, the usual way to accommodate them is to use inheritance</a:t>
            </a:r>
          </a:p>
          <a:p>
            <a:r>
              <a:rPr lang="en-US" dirty="0"/>
              <a:t>Inheritance binds an implementation to an abstraction permanently</a:t>
            </a:r>
          </a:p>
          <a:p>
            <a:pPr lvl="1"/>
            <a:r>
              <a:rPr lang="en-US" dirty="0"/>
              <a:t>Need more flexibility in many cases</a:t>
            </a:r>
          </a:p>
          <a:p>
            <a:pPr marL="0" indent="0">
              <a:buNone/>
            </a:pPr>
            <a:endParaRPr lang="en-US" dirty="0"/>
          </a:p>
        </p:txBody>
      </p:sp>
      <p:sp>
        <p:nvSpPr>
          <p:cNvPr id="3" name="Title 2">
            <a:extLst>
              <a:ext uri="{FF2B5EF4-FFF2-40B4-BE49-F238E27FC236}">
                <a16:creationId xmlns:a16="http://schemas.microsoft.com/office/drawing/2014/main" id="{B51F6F0E-322E-0BDF-EC19-8FDC8690FBFF}"/>
              </a:ext>
            </a:extLst>
          </p:cNvPr>
          <p:cNvSpPr>
            <a:spLocks noGrp="1"/>
          </p:cNvSpPr>
          <p:nvPr>
            <p:ph type="title"/>
          </p:nvPr>
        </p:nvSpPr>
        <p:spPr/>
        <p:txBody>
          <a:bodyPr/>
          <a:lstStyle/>
          <a:p>
            <a:r>
              <a:rPr lang="en-US" dirty="0"/>
              <a:t>Bridge design pattern</a:t>
            </a:r>
          </a:p>
        </p:txBody>
      </p:sp>
    </p:spTree>
    <p:extLst>
      <p:ext uri="{BB962C8B-B14F-4D97-AF65-F5344CB8AC3E}">
        <p14:creationId xmlns:p14="http://schemas.microsoft.com/office/powerpoint/2010/main" val="18764858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7BB74F9-118B-B86F-23AD-30633906F8D0}"/>
              </a:ext>
            </a:extLst>
          </p:cNvPr>
          <p:cNvSpPr>
            <a:spLocks noGrp="1"/>
          </p:cNvSpPr>
          <p:nvPr>
            <p:ph idx="1"/>
          </p:nvPr>
        </p:nvSpPr>
        <p:spPr/>
        <p:txBody>
          <a:bodyPr/>
          <a:lstStyle/>
          <a:p>
            <a:r>
              <a:rPr lang="en-US" dirty="0"/>
              <a:t>Decouples interface (abstraction) and implementation</a:t>
            </a:r>
          </a:p>
          <a:p>
            <a:r>
              <a:rPr lang="en-US" dirty="0"/>
              <a:t>The “implementation” is not bound to the abstraction</a:t>
            </a:r>
          </a:p>
          <a:p>
            <a:pPr lvl="1"/>
            <a:r>
              <a:rPr lang="en-US" dirty="0"/>
              <a:t>For example, you can turn a manual bike to an electric</a:t>
            </a:r>
          </a:p>
          <a:p>
            <a:r>
              <a:rPr lang="en-US" dirty="0"/>
              <a:t>Improved extensibility</a:t>
            </a:r>
          </a:p>
        </p:txBody>
      </p:sp>
      <p:sp>
        <p:nvSpPr>
          <p:cNvPr id="4" name="Title 3">
            <a:extLst>
              <a:ext uri="{FF2B5EF4-FFF2-40B4-BE49-F238E27FC236}">
                <a16:creationId xmlns:a16="http://schemas.microsoft.com/office/drawing/2014/main" id="{359DDE4A-9955-115F-A93D-9282C1DC58B6}"/>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202542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96140-7524-01A1-0CC4-EBB2FDEBE3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9AA4E0C-2549-1B16-C72C-6F657412BA1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B28399B5-443B-B1BD-6EFF-588723DB7321}"/>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95E1EE0E-6EC8-889B-2F1D-F25684A323C7}"/>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Bridge, </a:t>
            </a:r>
            <a:r>
              <a:rPr lang="en-US" u="sng" dirty="0"/>
              <a:t>Façade, </a:t>
            </a:r>
            <a:r>
              <a:rPr lang="en-US" dirty="0"/>
              <a:t>Decorator</a:t>
            </a:r>
            <a:endParaRPr lang="en-US" u="sng" dirty="0"/>
          </a:p>
          <a:p>
            <a:pPr lvl="1"/>
            <a:endParaRPr lang="en-US" dirty="0"/>
          </a:p>
        </p:txBody>
      </p:sp>
      <p:sp>
        <p:nvSpPr>
          <p:cNvPr id="6" name="Content Placeholder 4">
            <a:extLst>
              <a:ext uri="{FF2B5EF4-FFF2-40B4-BE49-F238E27FC236}">
                <a16:creationId xmlns:a16="http://schemas.microsoft.com/office/drawing/2014/main" id="{5024ABDE-5C87-2E57-E3FF-41D55E618E19}"/>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FF6082A8-4ACE-D1EE-25C9-0D2041F4B117}"/>
              </a:ext>
            </a:extLst>
          </p:cNvPr>
          <p:cNvSpPr/>
          <p:nvPr/>
        </p:nvSpPr>
        <p:spPr>
          <a:xfrm>
            <a:off x="4223988" y="4712677"/>
            <a:ext cx="3980160" cy="106856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0403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DECEA-D492-E249-10B2-D8F7FC86E5A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EB6E6C-E74A-8338-95A7-D296DC5E0525}"/>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C659E33-2470-8A0E-BF57-2CDDAF21494C}"/>
              </a:ext>
            </a:extLst>
          </p:cNvPr>
          <p:cNvSpPr>
            <a:spLocks noGrp="1"/>
          </p:cNvSpPr>
          <p:nvPr>
            <p:ph type="body" sz="quarter" idx="13"/>
          </p:nvPr>
        </p:nvSpPr>
        <p:spPr/>
        <p:txBody>
          <a:bodyPr/>
          <a:lstStyle/>
          <a:p>
            <a:r>
              <a:rPr lang="en-US" sz="3200" dirty="0"/>
              <a:t>Facade design pattern</a:t>
            </a:r>
          </a:p>
        </p:txBody>
      </p:sp>
    </p:spTree>
    <p:extLst>
      <p:ext uri="{BB962C8B-B14F-4D97-AF65-F5344CB8AC3E}">
        <p14:creationId xmlns:p14="http://schemas.microsoft.com/office/powerpoint/2010/main" val="301100923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CE383CC-9330-F264-9B66-2FD6020538A6}"/>
              </a:ext>
            </a:extLst>
          </p:cNvPr>
          <p:cNvSpPr>
            <a:spLocks noGrp="1"/>
          </p:cNvSpPr>
          <p:nvPr>
            <p:ph idx="1"/>
          </p:nvPr>
        </p:nvSpPr>
        <p:spPr/>
        <p:txBody>
          <a:bodyPr/>
          <a:lstStyle/>
          <a:p>
            <a:r>
              <a:rPr lang="en-US" dirty="0"/>
              <a:t>Façade pattern useful for accessing </a:t>
            </a:r>
            <a:r>
              <a:rPr lang="en-US" b="1" i="1" dirty="0"/>
              <a:t>really </a:t>
            </a:r>
            <a:r>
              <a:rPr lang="en-US" dirty="0"/>
              <a:t>complex software systems with many sub-systems</a:t>
            </a:r>
          </a:p>
          <a:p>
            <a:r>
              <a:rPr lang="en-US" dirty="0"/>
              <a:t>Compiler </a:t>
            </a:r>
            <a:r>
              <a:rPr lang="en-US" b="1" i="1" dirty="0"/>
              <a:t>library</a:t>
            </a:r>
            <a:r>
              <a:rPr lang="en-US" dirty="0"/>
              <a:t> </a:t>
            </a:r>
          </a:p>
          <a:p>
            <a:pPr lvl="1"/>
            <a:r>
              <a:rPr lang="en-US" dirty="0"/>
              <a:t>Allows clients to use it and add compilation capabilities to their software</a:t>
            </a:r>
          </a:p>
          <a:p>
            <a:r>
              <a:rPr lang="en-US" dirty="0"/>
              <a:t>Consists of different subsystems and classes</a:t>
            </a:r>
          </a:p>
          <a:p>
            <a:endParaRPr lang="en-US" dirty="0"/>
          </a:p>
        </p:txBody>
      </p:sp>
      <p:sp>
        <p:nvSpPr>
          <p:cNvPr id="4" name="Title 3">
            <a:extLst>
              <a:ext uri="{FF2B5EF4-FFF2-40B4-BE49-F238E27FC236}">
                <a16:creationId xmlns:a16="http://schemas.microsoft.com/office/drawing/2014/main" id="{76F6B14D-A29F-8069-9E2C-E017F3D27E06}"/>
              </a:ext>
            </a:extLst>
          </p:cNvPr>
          <p:cNvSpPr>
            <a:spLocks noGrp="1"/>
          </p:cNvSpPr>
          <p:nvPr>
            <p:ph type="title"/>
          </p:nvPr>
        </p:nvSpPr>
        <p:spPr/>
        <p:txBody>
          <a:bodyPr/>
          <a:lstStyle/>
          <a:p>
            <a:r>
              <a:rPr lang="en-US" dirty="0"/>
              <a:t>Case study – compiler library</a:t>
            </a:r>
          </a:p>
        </p:txBody>
      </p:sp>
      <p:sp>
        <p:nvSpPr>
          <p:cNvPr id="6" name="Rectangle 5">
            <a:extLst>
              <a:ext uri="{FF2B5EF4-FFF2-40B4-BE49-F238E27FC236}">
                <a16:creationId xmlns:a16="http://schemas.microsoft.com/office/drawing/2014/main" id="{17709735-B70D-4A76-2143-7E15A93940C0}"/>
              </a:ext>
            </a:extLst>
          </p:cNvPr>
          <p:cNvSpPr/>
          <p:nvPr/>
        </p:nvSpPr>
        <p:spPr>
          <a:xfrm>
            <a:off x="2121713" y="4017505"/>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CD6C6D47-1D8B-D9B0-B6A5-78FE212BA610}"/>
              </a:ext>
            </a:extLst>
          </p:cNvPr>
          <p:cNvSpPr/>
          <p:nvPr/>
        </p:nvSpPr>
        <p:spPr>
          <a:xfrm>
            <a:off x="2121713" y="5145560"/>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8DC9A41C-D4AE-3DC4-913C-7E3DC3DD81C7}"/>
              </a:ext>
            </a:extLst>
          </p:cNvPr>
          <p:cNvSpPr/>
          <p:nvPr/>
        </p:nvSpPr>
        <p:spPr>
          <a:xfrm>
            <a:off x="5070234" y="5150175"/>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DBF23B27-A69C-FA98-8CB9-E85A3CFED29A}"/>
              </a:ext>
            </a:extLst>
          </p:cNvPr>
          <p:cNvSpPr/>
          <p:nvPr/>
        </p:nvSpPr>
        <p:spPr>
          <a:xfrm>
            <a:off x="8430130" y="3983440"/>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CA49E730-1AEC-73A0-81E8-25C3F7A39CE9}"/>
              </a:ext>
            </a:extLst>
          </p:cNvPr>
          <p:cNvSpPr/>
          <p:nvPr/>
        </p:nvSpPr>
        <p:spPr>
          <a:xfrm>
            <a:off x="5081954" y="3806208"/>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56FB18C3-4FF6-F20C-4B83-64BAB4558490}"/>
              </a:ext>
            </a:extLst>
          </p:cNvPr>
          <p:cNvSpPr/>
          <p:nvPr/>
        </p:nvSpPr>
        <p:spPr>
          <a:xfrm>
            <a:off x="8430130" y="4886117"/>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97570514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1A863-79C7-0839-A0FB-B34D3C62EA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BC0DC9-1F44-8F2F-7507-ECE6C481B38F}"/>
              </a:ext>
            </a:extLst>
          </p:cNvPr>
          <p:cNvSpPr>
            <a:spLocks noGrp="1"/>
          </p:cNvSpPr>
          <p:nvPr>
            <p:ph idx="1"/>
          </p:nvPr>
        </p:nvSpPr>
        <p:spPr/>
        <p:txBody>
          <a:bodyPr/>
          <a:lstStyle/>
          <a:p>
            <a:r>
              <a:rPr lang="en-US" dirty="0"/>
              <a:t>The client can access each of these subcomponents individually</a:t>
            </a:r>
          </a:p>
        </p:txBody>
      </p:sp>
      <p:sp>
        <p:nvSpPr>
          <p:cNvPr id="4" name="Title 3">
            <a:extLst>
              <a:ext uri="{FF2B5EF4-FFF2-40B4-BE49-F238E27FC236}">
                <a16:creationId xmlns:a16="http://schemas.microsoft.com/office/drawing/2014/main" id="{0EDAEEAD-B1F4-3A5F-2950-C54CCF8BE761}"/>
              </a:ext>
            </a:extLst>
          </p:cNvPr>
          <p:cNvSpPr>
            <a:spLocks noGrp="1"/>
          </p:cNvSpPr>
          <p:nvPr>
            <p:ph type="title"/>
          </p:nvPr>
        </p:nvSpPr>
        <p:spPr/>
        <p:txBody>
          <a:bodyPr/>
          <a:lstStyle/>
          <a:p>
            <a:r>
              <a:rPr lang="en-US" dirty="0"/>
              <a:t>Case study – compiler library</a:t>
            </a:r>
          </a:p>
        </p:txBody>
      </p:sp>
      <p:grpSp>
        <p:nvGrpSpPr>
          <p:cNvPr id="40" name="Group 39">
            <a:extLst>
              <a:ext uri="{FF2B5EF4-FFF2-40B4-BE49-F238E27FC236}">
                <a16:creationId xmlns:a16="http://schemas.microsoft.com/office/drawing/2014/main" id="{F44C07D4-8056-E6DB-97F5-2F836FE99189}"/>
              </a:ext>
            </a:extLst>
          </p:cNvPr>
          <p:cNvGrpSpPr/>
          <p:nvPr/>
        </p:nvGrpSpPr>
        <p:grpSpPr>
          <a:xfrm>
            <a:off x="2073582" y="1661658"/>
            <a:ext cx="6308416" cy="3014646"/>
            <a:chOff x="2073582" y="1661658"/>
            <a:chExt cx="6308416" cy="3014646"/>
          </a:xfrm>
        </p:grpSpPr>
        <p:cxnSp>
          <p:nvCxnSpPr>
            <p:cNvPr id="21" name="Connector: Curved 20">
              <a:extLst>
                <a:ext uri="{FF2B5EF4-FFF2-40B4-BE49-F238E27FC236}">
                  <a16:creationId xmlns:a16="http://schemas.microsoft.com/office/drawing/2014/main" id="{B8088E0F-FF16-68B7-BFDC-421EDAC31F9C}"/>
                </a:ext>
              </a:extLst>
            </p:cNvPr>
            <p:cNvCxnSpPr>
              <a:cxnSpLocks/>
              <a:stCxn id="13" idx="2"/>
              <a:endCxn id="7" idx="0"/>
            </p:cNvCxnSpPr>
            <p:nvPr/>
          </p:nvCxnSpPr>
          <p:spPr>
            <a:xfrm rot="5400000">
              <a:off x="2089995" y="2341523"/>
              <a:ext cx="2231980"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13CCF2C1-802B-D9F1-EA4D-DD43FFF52F4D}"/>
                </a:ext>
              </a:extLst>
            </p:cNvPr>
            <p:cNvGrpSpPr/>
            <p:nvPr/>
          </p:nvGrpSpPr>
          <p:grpSpPr>
            <a:xfrm>
              <a:off x="2073583" y="1661658"/>
              <a:ext cx="3837717" cy="1800202"/>
              <a:chOff x="2073583" y="1661658"/>
              <a:chExt cx="3837717" cy="1800202"/>
            </a:xfrm>
          </p:grpSpPr>
          <p:grpSp>
            <p:nvGrpSpPr>
              <p:cNvPr id="20" name="Group 19">
                <a:extLst>
                  <a:ext uri="{FF2B5EF4-FFF2-40B4-BE49-F238E27FC236}">
                    <a16:creationId xmlns:a16="http://schemas.microsoft.com/office/drawing/2014/main" id="{A388847B-FA6A-F33A-8749-2A0C19509778}"/>
                  </a:ext>
                </a:extLst>
              </p:cNvPr>
              <p:cNvGrpSpPr/>
              <p:nvPr/>
            </p:nvGrpSpPr>
            <p:grpSpPr>
              <a:xfrm>
                <a:off x="2073583" y="1661658"/>
                <a:ext cx="3837717" cy="1800202"/>
                <a:chOff x="2073583" y="1661658"/>
                <a:chExt cx="3837717" cy="1800202"/>
              </a:xfrm>
            </p:grpSpPr>
            <p:sp>
              <p:nvSpPr>
                <p:cNvPr id="13" name="Rectangle 12">
                  <a:extLst>
                    <a:ext uri="{FF2B5EF4-FFF2-40B4-BE49-F238E27FC236}">
                      <a16:creationId xmlns:a16="http://schemas.microsoft.com/office/drawing/2014/main" id="{10137BC1-5C70-CA99-D12C-F8280C8C4B9C}"/>
                    </a:ext>
                  </a:extLst>
                </p:cNvPr>
                <p:cNvSpPr/>
                <p:nvPr/>
              </p:nvSpPr>
              <p:spPr>
                <a:xfrm>
                  <a:off x="3324342" y="1661658"/>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5" name="Connector: Curved 14">
                  <a:extLst>
                    <a:ext uri="{FF2B5EF4-FFF2-40B4-BE49-F238E27FC236}">
                      <a16:creationId xmlns:a16="http://schemas.microsoft.com/office/drawing/2014/main" id="{9EF3D7A5-7AFB-D969-9074-63FD3184FC74}"/>
                    </a:ext>
                  </a:extLst>
                </p:cNvPr>
                <p:cNvCxnSpPr>
                  <a:cxnSpLocks/>
                  <a:stCxn id="13" idx="2"/>
                  <a:endCxn id="6" idx="0"/>
                </p:cNvCxnSpPr>
                <p:nvPr/>
              </p:nvCxnSpPr>
              <p:spPr>
                <a:xfrm rot="5400000">
                  <a:off x="2654023" y="1777495"/>
                  <a:ext cx="1103925"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6578659-709A-3BDE-A1C4-D50BCCCD813C}"/>
                    </a:ext>
                  </a:extLst>
                </p:cNvPr>
                <p:cNvSpPr txBox="1"/>
                <p:nvPr/>
              </p:nvSpPr>
              <p:spPr>
                <a:xfrm>
                  <a:off x="5170392" y="2356418"/>
                  <a:ext cx="740908" cy="461665"/>
                </a:xfrm>
                <a:prstGeom prst="rect">
                  <a:avLst/>
                </a:prstGeom>
                <a:noFill/>
              </p:spPr>
              <p:txBody>
                <a:bodyPr wrap="none" rtlCol="0">
                  <a:spAutoFit/>
                </a:bodyPr>
                <a:lstStyle/>
                <a:p>
                  <a:r>
                    <a:rPr lang="en-US" sz="2400" b="1" i="1" dirty="0"/>
                    <a:t>uses</a:t>
                  </a:r>
                </a:p>
              </p:txBody>
            </p:sp>
          </p:grpSp>
          <p:sp>
            <p:nvSpPr>
              <p:cNvPr id="24" name="TextBox 23">
                <a:extLst>
                  <a:ext uri="{FF2B5EF4-FFF2-40B4-BE49-F238E27FC236}">
                    <a16:creationId xmlns:a16="http://schemas.microsoft.com/office/drawing/2014/main" id="{5F67A25B-CD68-A896-AD09-A15406FECA77}"/>
                  </a:ext>
                </a:extLst>
              </p:cNvPr>
              <p:cNvSpPr txBox="1"/>
              <p:nvPr/>
            </p:nvSpPr>
            <p:spPr>
              <a:xfrm>
                <a:off x="2440260" y="2448233"/>
                <a:ext cx="740908" cy="461665"/>
              </a:xfrm>
              <a:prstGeom prst="rect">
                <a:avLst/>
              </a:prstGeom>
              <a:noFill/>
            </p:spPr>
            <p:txBody>
              <a:bodyPr wrap="none" rtlCol="0">
                <a:spAutoFit/>
              </a:bodyPr>
              <a:lstStyle/>
              <a:p>
                <a:r>
                  <a:rPr lang="en-US" sz="2400" b="1" i="1" dirty="0"/>
                  <a:t>uses</a:t>
                </a:r>
              </a:p>
            </p:txBody>
          </p:sp>
        </p:grpSp>
        <p:cxnSp>
          <p:nvCxnSpPr>
            <p:cNvPr id="28" name="Connector: Curved 27">
              <a:extLst>
                <a:ext uri="{FF2B5EF4-FFF2-40B4-BE49-F238E27FC236}">
                  <a16:creationId xmlns:a16="http://schemas.microsoft.com/office/drawing/2014/main" id="{E357341E-D84D-42B6-6D6F-70088C836FB5}"/>
                </a:ext>
              </a:extLst>
            </p:cNvPr>
            <p:cNvCxnSpPr>
              <a:cxnSpLocks/>
              <a:stCxn id="13" idx="2"/>
              <a:endCxn id="10" idx="0"/>
            </p:cNvCxnSpPr>
            <p:nvPr/>
          </p:nvCxnSpPr>
          <p:spPr>
            <a:xfrm rot="16200000" flipH="1">
              <a:off x="4239791" y="2456532"/>
              <a:ext cx="892628" cy="69543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or: Curved 30">
              <a:extLst>
                <a:ext uri="{FF2B5EF4-FFF2-40B4-BE49-F238E27FC236}">
                  <a16:creationId xmlns:a16="http://schemas.microsoft.com/office/drawing/2014/main" id="{07FA4AA0-B7A7-74D2-330C-C04312B0F5AA}"/>
                </a:ext>
              </a:extLst>
            </p:cNvPr>
            <p:cNvCxnSpPr>
              <a:cxnSpLocks/>
              <a:stCxn id="13" idx="2"/>
              <a:endCxn id="9" idx="0"/>
            </p:cNvCxnSpPr>
            <p:nvPr/>
          </p:nvCxnSpPr>
          <p:spPr>
            <a:xfrm rot="16200000" flipH="1">
              <a:off x="5825263" y="871060"/>
              <a:ext cx="1069860" cy="4043611"/>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nector: Curved 33">
              <a:extLst>
                <a:ext uri="{FF2B5EF4-FFF2-40B4-BE49-F238E27FC236}">
                  <a16:creationId xmlns:a16="http://schemas.microsoft.com/office/drawing/2014/main" id="{DF982102-4B4A-3861-8E37-036D17931249}"/>
                </a:ext>
              </a:extLst>
            </p:cNvPr>
            <p:cNvCxnSpPr>
              <a:cxnSpLocks/>
              <a:stCxn id="13" idx="2"/>
              <a:endCxn id="11" idx="1"/>
            </p:cNvCxnSpPr>
            <p:nvPr/>
          </p:nvCxnSpPr>
          <p:spPr>
            <a:xfrm rot="16200000" flipH="1">
              <a:off x="4693986" y="2002337"/>
              <a:ext cx="2318369" cy="3029565"/>
            </a:xfrm>
            <a:prstGeom prst="curvedConnector2">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nector: Curved 36">
              <a:extLst>
                <a:ext uri="{FF2B5EF4-FFF2-40B4-BE49-F238E27FC236}">
                  <a16:creationId xmlns:a16="http://schemas.microsoft.com/office/drawing/2014/main" id="{C4D9FA24-7A28-6E14-5E5E-26C79EFC7C1A}"/>
                </a:ext>
              </a:extLst>
            </p:cNvPr>
            <p:cNvCxnSpPr>
              <a:cxnSpLocks/>
              <a:stCxn id="13" idx="2"/>
              <a:endCxn id="8" idx="0"/>
            </p:cNvCxnSpPr>
            <p:nvPr/>
          </p:nvCxnSpPr>
          <p:spPr>
            <a:xfrm rot="16200000" flipH="1">
              <a:off x="3561948" y="3134375"/>
              <a:ext cx="2236595" cy="68371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9" name="Straight Arrow Connector 48">
            <a:extLst>
              <a:ext uri="{FF2B5EF4-FFF2-40B4-BE49-F238E27FC236}">
                <a16:creationId xmlns:a16="http://schemas.microsoft.com/office/drawing/2014/main" id="{FC2F4C50-38D1-05EA-3B4C-4297E9B563DB}"/>
              </a:ext>
            </a:extLst>
          </p:cNvPr>
          <p:cNvCxnSpPr>
            <a:cxnSpLocks/>
            <a:stCxn id="10" idx="2"/>
            <a:endCxn id="8" idx="0"/>
          </p:cNvCxnSpPr>
          <p:nvPr/>
        </p:nvCxnSpPr>
        <p:spPr>
          <a:xfrm flipH="1">
            <a:off x="5022103" y="3942226"/>
            <a:ext cx="11720" cy="6523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nvGrpSpPr>
          <p:cNvPr id="61" name="Group 60">
            <a:extLst>
              <a:ext uri="{FF2B5EF4-FFF2-40B4-BE49-F238E27FC236}">
                <a16:creationId xmlns:a16="http://schemas.microsoft.com/office/drawing/2014/main" id="{EB0DE38B-C4CC-5CFE-61FB-9C01F32A9DA7}"/>
              </a:ext>
            </a:extLst>
          </p:cNvPr>
          <p:cNvGrpSpPr/>
          <p:nvPr/>
        </p:nvGrpSpPr>
        <p:grpSpPr>
          <a:xfrm>
            <a:off x="787472" y="3059723"/>
            <a:ext cx="9024744" cy="2485633"/>
            <a:chOff x="787472" y="3059723"/>
            <a:chExt cx="9024744" cy="2485633"/>
          </a:xfrm>
        </p:grpSpPr>
        <p:grpSp>
          <p:nvGrpSpPr>
            <p:cNvPr id="12" name="Group 11">
              <a:extLst>
                <a:ext uri="{FF2B5EF4-FFF2-40B4-BE49-F238E27FC236}">
                  <a16:creationId xmlns:a16="http://schemas.microsoft.com/office/drawing/2014/main" id="{C760F5A5-28F8-7310-A234-81EEB38CAE00}"/>
                </a:ext>
              </a:extLst>
            </p:cNvPr>
            <p:cNvGrpSpPr/>
            <p:nvPr/>
          </p:nvGrpSpPr>
          <p:grpSpPr>
            <a:xfrm>
              <a:off x="787472" y="3059723"/>
              <a:ext cx="9024744" cy="2485633"/>
              <a:chOff x="1385349" y="2157046"/>
              <a:chExt cx="9024744" cy="2485633"/>
            </a:xfrm>
          </p:grpSpPr>
          <p:sp>
            <p:nvSpPr>
              <p:cNvPr id="6" name="Rectangle 5">
                <a:extLst>
                  <a:ext uri="{FF2B5EF4-FFF2-40B4-BE49-F238E27FC236}">
                    <a16:creationId xmlns:a16="http://schemas.microsoft.com/office/drawing/2014/main" id="{2710D4D0-8F7E-5D92-00E6-6714127C6A46}"/>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BD9454F-56A0-A445-C59B-86145C247851}"/>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3E7B5BE7-4C98-7009-05CA-543E57174711}"/>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74C42BF0-CF73-4DDD-AC34-DE478BEB3A2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BEA00EDD-0543-1B7E-92EA-1DF7F019D426}"/>
                  </a:ext>
                </a:extLst>
              </p:cNvPr>
              <p:cNvSpPr/>
              <p:nvPr/>
            </p:nvSpPr>
            <p:spPr>
              <a:xfrm>
                <a:off x="4617654" y="2347887"/>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E93ADE3E-8723-CB01-2C90-2556AB1D3A10}"/>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4C5A0FEE-25E2-44A0-2BB8-3E5FDF9434E7}"/>
                  </a:ext>
                </a:extLst>
              </p:cNvPr>
              <p:cNvSpPr/>
              <p:nvPr/>
            </p:nvSpPr>
            <p:spPr>
              <a:xfrm>
                <a:off x="1385349" y="2157046"/>
                <a:ext cx="9024744" cy="2485633"/>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D751228-077F-C7A2-2D7C-448A741BC2E2}"/>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42" name="Straight Arrow Connector 41">
              <a:extLst>
                <a:ext uri="{FF2B5EF4-FFF2-40B4-BE49-F238E27FC236}">
                  <a16:creationId xmlns:a16="http://schemas.microsoft.com/office/drawing/2014/main" id="{CB9D0730-B99B-5929-A78C-CDA2FE8428B2}"/>
                </a:ext>
              </a:extLst>
            </p:cNvPr>
            <p:cNvCxnSpPr>
              <a:stCxn id="6" idx="3"/>
              <a:endCxn id="10" idx="1"/>
            </p:cNvCxnSpPr>
            <p:nvPr/>
          </p:nvCxnSpPr>
          <p:spPr>
            <a:xfrm flipV="1">
              <a:off x="3087628" y="3596395"/>
              <a:ext cx="932149" cy="2136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DED28CC6-538F-493E-56A9-34A845E06576}"/>
                </a:ext>
              </a:extLst>
            </p:cNvPr>
            <p:cNvCxnSpPr>
              <a:cxnSpLocks/>
              <a:stCxn id="6" idx="3"/>
              <a:endCxn id="8"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51E9EB06-FD31-59A2-C1F3-40DB1F30D2BE}"/>
                </a:ext>
              </a:extLst>
            </p:cNvPr>
            <p:cNvCxnSpPr>
              <a:cxnSpLocks/>
              <a:stCxn id="7" idx="3"/>
              <a:endCxn id="8"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B3BE6D8F-0C49-D0AA-2DE9-8098D0FF927E}"/>
                </a:ext>
              </a:extLst>
            </p:cNvPr>
            <p:cNvCxnSpPr>
              <a:cxnSpLocks/>
              <a:stCxn id="10" idx="3"/>
              <a:endCxn id="9" idx="1"/>
            </p:cNvCxnSpPr>
            <p:nvPr/>
          </p:nvCxnSpPr>
          <p:spPr>
            <a:xfrm>
              <a:off x="6047869" y="3596395"/>
              <a:ext cx="1320084" cy="17723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D85FA389-E5C2-2203-AF4B-5C7E0E760416}"/>
                </a:ext>
              </a:extLst>
            </p:cNvPr>
            <p:cNvCxnSpPr>
              <a:cxnSpLocks/>
              <a:stCxn id="9" idx="1"/>
              <a:endCxn id="8"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57">
              <a:extLst>
                <a:ext uri="{FF2B5EF4-FFF2-40B4-BE49-F238E27FC236}">
                  <a16:creationId xmlns:a16="http://schemas.microsoft.com/office/drawing/2014/main" id="{332C019D-0136-F4D5-1985-20D51FA328F1}"/>
                </a:ext>
              </a:extLst>
            </p:cNvPr>
            <p:cNvCxnSpPr>
              <a:cxnSpLocks/>
              <a:stCxn id="8" idx="3"/>
              <a:endCxn id="11"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756958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3BE16-C159-8496-DF45-32AB78C8C0E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66387A5-0577-5E13-1F1E-9E15E228DE65}"/>
              </a:ext>
            </a:extLst>
          </p:cNvPr>
          <p:cNvSpPr>
            <a:spLocks noGrp="1"/>
          </p:cNvSpPr>
          <p:nvPr>
            <p:ph idx="1"/>
          </p:nvPr>
        </p:nvSpPr>
        <p:spPr/>
        <p:txBody>
          <a:bodyPr/>
          <a:lstStyle/>
          <a:p>
            <a:r>
              <a:rPr lang="en-US" dirty="0"/>
              <a:t>A compiler library can expose a “facade” class</a:t>
            </a:r>
          </a:p>
        </p:txBody>
      </p:sp>
      <p:sp>
        <p:nvSpPr>
          <p:cNvPr id="4" name="Title 3">
            <a:extLst>
              <a:ext uri="{FF2B5EF4-FFF2-40B4-BE49-F238E27FC236}">
                <a16:creationId xmlns:a16="http://schemas.microsoft.com/office/drawing/2014/main" id="{56D419C8-B37B-1921-6916-1C299A389478}"/>
              </a:ext>
            </a:extLst>
          </p:cNvPr>
          <p:cNvSpPr>
            <a:spLocks noGrp="1"/>
          </p:cNvSpPr>
          <p:nvPr>
            <p:ph type="title"/>
          </p:nvPr>
        </p:nvSpPr>
        <p:spPr/>
        <p:txBody>
          <a:bodyPr/>
          <a:lstStyle/>
          <a:p>
            <a:r>
              <a:rPr lang="en-US" dirty="0"/>
              <a:t>Case study – compiler library</a:t>
            </a:r>
          </a:p>
        </p:txBody>
      </p:sp>
      <p:sp>
        <p:nvSpPr>
          <p:cNvPr id="13" name="Rectangle 12">
            <a:extLst>
              <a:ext uri="{FF2B5EF4-FFF2-40B4-BE49-F238E27FC236}">
                <a16:creationId xmlns:a16="http://schemas.microsoft.com/office/drawing/2014/main" id="{254311CC-3FC6-BEB8-9DDD-9065BFACB21A}"/>
              </a:ext>
            </a:extLst>
          </p:cNvPr>
          <p:cNvSpPr/>
          <p:nvPr/>
        </p:nvSpPr>
        <p:spPr>
          <a:xfrm>
            <a:off x="5391381" y="1582980"/>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7" name="Straight Arrow Connector 16">
            <a:extLst>
              <a:ext uri="{FF2B5EF4-FFF2-40B4-BE49-F238E27FC236}">
                <a16:creationId xmlns:a16="http://schemas.microsoft.com/office/drawing/2014/main" id="{3E16AB7A-2E49-7CFE-7189-D9FBF1EFF33D}"/>
              </a:ext>
            </a:extLst>
          </p:cNvPr>
          <p:cNvCxnSpPr>
            <a:cxnSpLocks/>
            <a:stCxn id="13" idx="2"/>
            <a:endCxn id="23" idx="0"/>
          </p:cNvCxnSpPr>
          <p:nvPr/>
        </p:nvCxnSpPr>
        <p:spPr>
          <a:xfrm>
            <a:off x="6405427" y="2279258"/>
            <a:ext cx="7688" cy="88916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6EE319A9-1058-89E5-D531-09B3807079BD}"/>
              </a:ext>
            </a:extLst>
          </p:cNvPr>
          <p:cNvSpPr/>
          <p:nvPr/>
        </p:nvSpPr>
        <p:spPr>
          <a:xfrm>
            <a:off x="5399069" y="3168423"/>
            <a:ext cx="2028092" cy="691662"/>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CompilerFacade</a:t>
            </a:r>
            <a:endParaRPr lang="en-US" sz="2000" dirty="0">
              <a:ln w="0"/>
              <a:solidFill>
                <a:schemeClr val="tx1"/>
              </a:solidFill>
              <a:effectLst>
                <a:outerShdw blurRad="38100" dist="19050" dir="2700000" algn="tl" rotWithShape="0">
                  <a:schemeClr val="dk1">
                    <a:alpha val="40000"/>
                  </a:schemeClr>
                </a:outerShdw>
              </a:effectLst>
            </a:endParaRPr>
          </a:p>
        </p:txBody>
      </p:sp>
      <p:grpSp>
        <p:nvGrpSpPr>
          <p:cNvPr id="30" name="Group 29">
            <a:extLst>
              <a:ext uri="{FF2B5EF4-FFF2-40B4-BE49-F238E27FC236}">
                <a16:creationId xmlns:a16="http://schemas.microsoft.com/office/drawing/2014/main" id="{E7AD0B56-C159-1F15-1518-346EC8124912}"/>
              </a:ext>
            </a:extLst>
          </p:cNvPr>
          <p:cNvGrpSpPr/>
          <p:nvPr/>
        </p:nvGrpSpPr>
        <p:grpSpPr>
          <a:xfrm>
            <a:off x="2170796" y="2886770"/>
            <a:ext cx="9024744" cy="2923491"/>
            <a:chOff x="787472" y="2621865"/>
            <a:chExt cx="9024744" cy="2923491"/>
          </a:xfrm>
        </p:grpSpPr>
        <p:grpSp>
          <p:nvGrpSpPr>
            <p:cNvPr id="31" name="Group 30">
              <a:extLst>
                <a:ext uri="{FF2B5EF4-FFF2-40B4-BE49-F238E27FC236}">
                  <a16:creationId xmlns:a16="http://schemas.microsoft.com/office/drawing/2014/main" id="{523EA647-748B-6F5D-02AB-465DAFEE5685}"/>
                </a:ext>
              </a:extLst>
            </p:cNvPr>
            <p:cNvGrpSpPr/>
            <p:nvPr/>
          </p:nvGrpSpPr>
          <p:grpSpPr>
            <a:xfrm>
              <a:off x="787472" y="2621865"/>
              <a:ext cx="9024744" cy="2923491"/>
              <a:chOff x="1385349" y="1719188"/>
              <a:chExt cx="9024744" cy="2923491"/>
            </a:xfrm>
          </p:grpSpPr>
          <p:sp>
            <p:nvSpPr>
              <p:cNvPr id="38" name="Rectangle 37">
                <a:extLst>
                  <a:ext uri="{FF2B5EF4-FFF2-40B4-BE49-F238E27FC236}">
                    <a16:creationId xmlns:a16="http://schemas.microsoft.com/office/drawing/2014/main" id="{D2570654-EC30-0CAD-A5BE-174365A89DA5}"/>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39" name="Rectangle 38">
                <a:extLst>
                  <a:ext uri="{FF2B5EF4-FFF2-40B4-BE49-F238E27FC236}">
                    <a16:creationId xmlns:a16="http://schemas.microsoft.com/office/drawing/2014/main" id="{2880E8E1-4EA8-9977-CA3A-682B792D8EAC}"/>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40" name="Rectangle 39">
                <a:extLst>
                  <a:ext uri="{FF2B5EF4-FFF2-40B4-BE49-F238E27FC236}">
                    <a16:creationId xmlns:a16="http://schemas.microsoft.com/office/drawing/2014/main" id="{9706DE0C-74BE-E55A-0429-0CADBC778144}"/>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41" name="Rectangle 40">
                <a:extLst>
                  <a:ext uri="{FF2B5EF4-FFF2-40B4-BE49-F238E27FC236}">
                    <a16:creationId xmlns:a16="http://schemas.microsoft.com/office/drawing/2014/main" id="{03CBF309-8B44-8BA0-B8C0-FF1467DEC20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2" name="Rectangle 41">
                <a:extLst>
                  <a:ext uri="{FF2B5EF4-FFF2-40B4-BE49-F238E27FC236}">
                    <a16:creationId xmlns:a16="http://schemas.microsoft.com/office/drawing/2014/main" id="{4B7EB4FD-8667-28BC-FF08-25FB5272AB8C}"/>
                  </a:ext>
                </a:extLst>
              </p:cNvPr>
              <p:cNvSpPr/>
              <p:nvPr/>
            </p:nvSpPr>
            <p:spPr>
              <a:xfrm>
                <a:off x="4614005" y="2909050"/>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3" name="Rectangle 42">
                <a:extLst>
                  <a:ext uri="{FF2B5EF4-FFF2-40B4-BE49-F238E27FC236}">
                    <a16:creationId xmlns:a16="http://schemas.microsoft.com/office/drawing/2014/main" id="{894344FF-B2E1-350E-F50E-B99EDED18C1D}"/>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4" name="Rectangle 43">
                <a:extLst>
                  <a:ext uri="{FF2B5EF4-FFF2-40B4-BE49-F238E27FC236}">
                    <a16:creationId xmlns:a16="http://schemas.microsoft.com/office/drawing/2014/main" id="{50ED45FD-D8FD-8FB6-DA83-3473A80589E2}"/>
                  </a:ext>
                </a:extLst>
              </p:cNvPr>
              <p:cNvSpPr/>
              <p:nvPr/>
            </p:nvSpPr>
            <p:spPr>
              <a:xfrm>
                <a:off x="1385349" y="1719188"/>
                <a:ext cx="9024744" cy="2923491"/>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45" name="TextBox 44">
                <a:extLst>
                  <a:ext uri="{FF2B5EF4-FFF2-40B4-BE49-F238E27FC236}">
                    <a16:creationId xmlns:a16="http://schemas.microsoft.com/office/drawing/2014/main" id="{ED5A6C66-39EF-2659-5DEC-31291CF00C5E}"/>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32" name="Straight Arrow Connector 31">
              <a:extLst>
                <a:ext uri="{FF2B5EF4-FFF2-40B4-BE49-F238E27FC236}">
                  <a16:creationId xmlns:a16="http://schemas.microsoft.com/office/drawing/2014/main" id="{11B421B7-50CA-A4AC-4383-7C1025D8D5FA}"/>
                </a:ext>
              </a:extLst>
            </p:cNvPr>
            <p:cNvCxnSpPr>
              <a:stCxn id="38" idx="3"/>
              <a:endCxn id="42" idx="1"/>
            </p:cNvCxnSpPr>
            <p:nvPr/>
          </p:nvCxnSpPr>
          <p:spPr>
            <a:xfrm>
              <a:off x="3087628" y="3810000"/>
              <a:ext cx="928500" cy="3475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8D05B106-9556-5147-93A0-5B18B0C602E1}"/>
                </a:ext>
              </a:extLst>
            </p:cNvPr>
            <p:cNvCxnSpPr>
              <a:cxnSpLocks/>
              <a:stCxn id="38" idx="3"/>
              <a:endCxn id="40"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C9E0D558-B8FD-C9A7-CE5F-487E5A24976F}"/>
                </a:ext>
              </a:extLst>
            </p:cNvPr>
            <p:cNvCxnSpPr>
              <a:cxnSpLocks/>
              <a:stCxn id="39" idx="3"/>
              <a:endCxn id="40"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ED86EF66-522D-5E22-8D0F-16C686B81DF3}"/>
                </a:ext>
              </a:extLst>
            </p:cNvPr>
            <p:cNvCxnSpPr>
              <a:cxnSpLocks/>
              <a:stCxn id="42" idx="3"/>
              <a:endCxn id="41" idx="1"/>
            </p:cNvCxnSpPr>
            <p:nvPr/>
          </p:nvCxnSpPr>
          <p:spPr>
            <a:xfrm flipV="1">
              <a:off x="6044220" y="3773628"/>
              <a:ext cx="1323733" cy="38393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7FCAD1F3-A0D5-BD04-8213-B620CA3C99F3}"/>
                </a:ext>
              </a:extLst>
            </p:cNvPr>
            <p:cNvCxnSpPr>
              <a:cxnSpLocks/>
              <a:stCxn id="41" idx="1"/>
              <a:endCxn id="40"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FFD78B8C-2870-5574-6FFE-D949CE6808D1}"/>
                </a:ext>
              </a:extLst>
            </p:cNvPr>
            <p:cNvCxnSpPr>
              <a:cxnSpLocks/>
              <a:stCxn id="40" idx="3"/>
              <a:endCxn id="43"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cxnSp>
        <p:nvCxnSpPr>
          <p:cNvPr id="50" name="Straight Arrow Connector 49">
            <a:extLst>
              <a:ext uri="{FF2B5EF4-FFF2-40B4-BE49-F238E27FC236}">
                <a16:creationId xmlns:a16="http://schemas.microsoft.com/office/drawing/2014/main" id="{0A515804-5BAF-18B8-1F5E-7DD5AA7F8AAD}"/>
              </a:ext>
            </a:extLst>
          </p:cNvPr>
          <p:cNvCxnSpPr>
            <a:cxnSpLocks/>
            <a:stCxn id="23" idx="1"/>
          </p:cNvCxnSpPr>
          <p:nvPr/>
        </p:nvCxnSpPr>
        <p:spPr>
          <a:xfrm flipH="1">
            <a:off x="3370977" y="3514254"/>
            <a:ext cx="2028092" cy="303216"/>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F7B5FFD1-0C31-E070-30B8-E8D44BA655C5}"/>
              </a:ext>
            </a:extLst>
          </p:cNvPr>
          <p:cNvCxnSpPr>
            <a:cxnSpLocks/>
            <a:stCxn id="23" idx="3"/>
            <a:endCxn id="41" idx="0"/>
          </p:cNvCxnSpPr>
          <p:nvPr/>
        </p:nvCxnSpPr>
        <p:spPr>
          <a:xfrm>
            <a:off x="7427161" y="3514254"/>
            <a:ext cx="2338162" cy="17844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CAE5D605-AEF0-40AA-2339-54895DC87CE7}"/>
              </a:ext>
            </a:extLst>
          </p:cNvPr>
          <p:cNvSpPr txBox="1"/>
          <p:nvPr/>
        </p:nvSpPr>
        <p:spPr>
          <a:xfrm>
            <a:off x="6512637" y="2277022"/>
            <a:ext cx="1572738" cy="523220"/>
          </a:xfrm>
          <a:prstGeom prst="rect">
            <a:avLst/>
          </a:prstGeom>
          <a:noFill/>
        </p:spPr>
        <p:txBody>
          <a:bodyPr wrap="none" rtlCol="0">
            <a:spAutoFit/>
          </a:bodyPr>
          <a:lstStyle/>
          <a:p>
            <a:r>
              <a:rPr lang="en-US" sz="2800" b="1" i="1" dirty="0"/>
              <a:t>compile()</a:t>
            </a:r>
          </a:p>
        </p:txBody>
      </p:sp>
    </p:spTree>
    <p:extLst>
      <p:ext uri="{BB962C8B-B14F-4D97-AF65-F5344CB8AC3E}">
        <p14:creationId xmlns:p14="http://schemas.microsoft.com/office/powerpoint/2010/main" val="334879259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F23318F-0306-5DB4-4D15-5243C53DAC7D}"/>
              </a:ext>
            </a:extLst>
          </p:cNvPr>
          <p:cNvSpPr>
            <a:spLocks noGrp="1"/>
          </p:cNvSpPr>
          <p:nvPr>
            <p:ph idx="1"/>
          </p:nvPr>
        </p:nvSpPr>
        <p:spPr/>
        <p:txBody>
          <a:bodyPr/>
          <a:lstStyle/>
          <a:p>
            <a:r>
              <a:rPr lang="en-US" dirty="0"/>
              <a:t>Provide a unified interface to a set of interfaces in a subsystem</a:t>
            </a:r>
          </a:p>
          <a:p>
            <a:r>
              <a:rPr lang="en-US" dirty="0"/>
              <a:t>It shields clients from subsystem components</a:t>
            </a:r>
          </a:p>
          <a:p>
            <a:pPr lvl="1"/>
            <a:r>
              <a:rPr lang="en-US" dirty="0"/>
              <a:t>Reduces the number of objects that clients deal with </a:t>
            </a:r>
          </a:p>
          <a:p>
            <a:pPr lvl="1"/>
            <a:r>
              <a:rPr lang="en-US" dirty="0"/>
              <a:t>Makes the subsystem easier to use</a:t>
            </a:r>
          </a:p>
          <a:p>
            <a:r>
              <a:rPr lang="en-US" dirty="0"/>
              <a:t>Weak coupling between the subsystem and the client</a:t>
            </a:r>
          </a:p>
          <a:p>
            <a:pPr lvl="1"/>
            <a:r>
              <a:rPr lang="en-US" dirty="0"/>
              <a:t>Subsystems can change without the client having to worry about it</a:t>
            </a:r>
          </a:p>
        </p:txBody>
      </p:sp>
      <p:sp>
        <p:nvSpPr>
          <p:cNvPr id="4" name="Title 3">
            <a:extLst>
              <a:ext uri="{FF2B5EF4-FFF2-40B4-BE49-F238E27FC236}">
                <a16:creationId xmlns:a16="http://schemas.microsoft.com/office/drawing/2014/main" id="{72BBF511-BF0F-565E-6C76-45EF7FB204A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307753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8F31D4-943B-68B2-2C23-BAD8BBDB4C82}"/>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01F5768-3AED-0F33-CAC7-909DF379F895}"/>
              </a:ext>
            </a:extLst>
          </p:cNvPr>
          <p:cNvSpPr>
            <a:spLocks noGrp="1"/>
          </p:cNvSpPr>
          <p:nvPr>
            <p:ph type="body" sz="quarter" idx="13"/>
          </p:nvPr>
        </p:nvSpPr>
        <p:spPr/>
        <p:txBody>
          <a:bodyPr/>
          <a:lstStyle/>
          <a:p>
            <a:r>
              <a:rPr lang="en-US" dirty="0"/>
              <a:t>Design patterns</a:t>
            </a:r>
          </a:p>
        </p:txBody>
      </p:sp>
    </p:spTree>
    <p:extLst>
      <p:ext uri="{BB962C8B-B14F-4D97-AF65-F5344CB8AC3E}">
        <p14:creationId xmlns:p14="http://schemas.microsoft.com/office/powerpoint/2010/main" val="290718441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11F9C-A8F7-E2E5-D6FA-7FDADD4051C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F54FA7E-5DAB-726A-B488-7B76E3A550CA}"/>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ED9ED130-FC92-4348-CF88-D5D0089E91BF}"/>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71ABD2D-F459-BDC8-799B-6C9597B1DC71}"/>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Bridge, Façade, </a:t>
            </a:r>
            <a:r>
              <a:rPr lang="en-US" b="1" dirty="0"/>
              <a:t>Decorator, Flyweight</a:t>
            </a:r>
          </a:p>
          <a:p>
            <a:pPr lvl="1"/>
            <a:endParaRPr lang="en-US" dirty="0"/>
          </a:p>
        </p:txBody>
      </p:sp>
      <p:sp>
        <p:nvSpPr>
          <p:cNvPr id="6" name="Content Placeholder 4">
            <a:extLst>
              <a:ext uri="{FF2B5EF4-FFF2-40B4-BE49-F238E27FC236}">
                <a16:creationId xmlns:a16="http://schemas.microsoft.com/office/drawing/2014/main" id="{BBFF2212-84AD-2E96-6970-5690E7E79396}"/>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35938677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CDE37-8F81-F7FB-2181-28E154CECE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CEF8FE-DE3E-29F2-5A15-EDAF3F826511}"/>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284AE78E-B2E3-39EA-D5C5-997B2D6D5C46}"/>
              </a:ext>
            </a:extLst>
          </p:cNvPr>
          <p:cNvSpPr>
            <a:spLocks noGrp="1"/>
          </p:cNvSpPr>
          <p:nvPr>
            <p:ph type="body" sz="quarter" idx="13"/>
          </p:nvPr>
        </p:nvSpPr>
        <p:spPr/>
        <p:txBody>
          <a:bodyPr/>
          <a:lstStyle/>
          <a:p>
            <a:r>
              <a:rPr lang="en-US" sz="3200" dirty="0"/>
              <a:t>Decorator design pattern</a:t>
            </a:r>
          </a:p>
        </p:txBody>
      </p:sp>
    </p:spTree>
    <p:extLst>
      <p:ext uri="{BB962C8B-B14F-4D97-AF65-F5344CB8AC3E}">
        <p14:creationId xmlns:p14="http://schemas.microsoft.com/office/powerpoint/2010/main" val="333020635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444EF-A6E2-79A8-5146-89583F5C87E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403BFD1-71D2-5B1B-87C7-1C6670B9225C}"/>
              </a:ext>
            </a:extLst>
          </p:cNvPr>
          <p:cNvSpPr>
            <a:spLocks noGrp="1"/>
          </p:cNvSpPr>
          <p:nvPr>
            <p:ph idx="1"/>
          </p:nvPr>
        </p:nvSpPr>
        <p:spPr/>
        <p:txBody>
          <a:bodyPr/>
          <a:lstStyle/>
          <a:p>
            <a:r>
              <a:rPr lang="en-US" dirty="0"/>
              <a:t>Can attach additional functionalities to an object dynamically</a:t>
            </a:r>
          </a:p>
          <a:p>
            <a:r>
              <a:rPr lang="en-US" dirty="0"/>
              <a:t>Basic idea: enclose the object in another object (the decorator) that adds the additional functionality</a:t>
            </a:r>
          </a:p>
          <a:p>
            <a:r>
              <a:rPr lang="en-US" dirty="0"/>
              <a:t>Implementation can look the same as a proxy</a:t>
            </a:r>
          </a:p>
          <a:p>
            <a:pPr lvl="1"/>
            <a:r>
              <a:rPr lang="en-US" dirty="0"/>
              <a:t>Intent is somewhat different</a:t>
            </a:r>
          </a:p>
        </p:txBody>
      </p:sp>
      <p:sp>
        <p:nvSpPr>
          <p:cNvPr id="5" name="Title 4">
            <a:extLst>
              <a:ext uri="{FF2B5EF4-FFF2-40B4-BE49-F238E27FC236}">
                <a16:creationId xmlns:a16="http://schemas.microsoft.com/office/drawing/2014/main" id="{9CD24D32-296F-1576-A272-75C584E69E11}"/>
              </a:ext>
            </a:extLst>
          </p:cNvPr>
          <p:cNvSpPr>
            <a:spLocks noGrp="1"/>
          </p:cNvSpPr>
          <p:nvPr>
            <p:ph type="title"/>
          </p:nvPr>
        </p:nvSpPr>
        <p:spPr/>
        <p:txBody>
          <a:bodyPr/>
          <a:lstStyle/>
          <a:p>
            <a:r>
              <a:rPr lang="en-US" dirty="0"/>
              <a:t>Decorator design pattern</a:t>
            </a:r>
          </a:p>
        </p:txBody>
      </p:sp>
    </p:spTree>
    <p:extLst>
      <p:ext uri="{BB962C8B-B14F-4D97-AF65-F5344CB8AC3E}">
        <p14:creationId xmlns:p14="http://schemas.microsoft.com/office/powerpoint/2010/main" val="125911452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158DE5F-F68B-4670-DC04-634273DAF72E}"/>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p:txBody>
      </p:sp>
      <p:sp>
        <p:nvSpPr>
          <p:cNvPr id="4" name="Title 3">
            <a:extLst>
              <a:ext uri="{FF2B5EF4-FFF2-40B4-BE49-F238E27FC236}">
                <a16:creationId xmlns:a16="http://schemas.microsoft.com/office/drawing/2014/main" id="{57127405-E446-4623-BE2D-9035BE4CE01C}"/>
              </a:ext>
            </a:extLst>
          </p:cNvPr>
          <p:cNvSpPr>
            <a:spLocks noGrp="1"/>
          </p:cNvSpPr>
          <p:nvPr>
            <p:ph type="title"/>
          </p:nvPr>
        </p:nvSpPr>
        <p:spPr/>
        <p:txBody>
          <a:bodyPr/>
          <a:lstStyle/>
          <a:p>
            <a:r>
              <a:rPr lang="en-US" dirty="0"/>
              <a:t>Case study – fraud detecting payment processor</a:t>
            </a:r>
          </a:p>
        </p:txBody>
      </p:sp>
      <p:sp>
        <p:nvSpPr>
          <p:cNvPr id="6" name="Content Placeholder 5">
            <a:extLst>
              <a:ext uri="{FF2B5EF4-FFF2-40B4-BE49-F238E27FC236}">
                <a16:creationId xmlns:a16="http://schemas.microsoft.com/office/drawing/2014/main" id="{1B6198D3-0DCD-63D1-CA76-95907CC208CD}"/>
              </a:ext>
            </a:extLst>
          </p:cNvPr>
          <p:cNvSpPr>
            <a:spLocks noGrp="1"/>
          </p:cNvSpPr>
          <p:nvPr>
            <p:ph idx="13"/>
          </p:nvPr>
        </p:nvSpPr>
        <p:spPr/>
        <p:txBody>
          <a:bodyPr/>
          <a:lstStyle/>
          <a:p>
            <a:r>
              <a:rPr lang="en-US" dirty="0"/>
              <a:t>Check for fraud before paying</a:t>
            </a:r>
          </a:p>
          <a:p>
            <a:endParaRPr lang="en-US" dirty="0"/>
          </a:p>
        </p:txBody>
      </p:sp>
      <p:sp>
        <p:nvSpPr>
          <p:cNvPr id="7" name="TextBox 6">
            <a:extLst>
              <a:ext uri="{FF2B5EF4-FFF2-40B4-BE49-F238E27FC236}">
                <a16:creationId xmlns:a16="http://schemas.microsoft.com/office/drawing/2014/main" id="{7D667A90-8286-BE42-2652-30276A39A6C6}"/>
              </a:ext>
            </a:extLst>
          </p:cNvPr>
          <p:cNvSpPr txBox="1"/>
          <p:nvPr/>
        </p:nvSpPr>
        <p:spPr>
          <a:xfrm>
            <a:off x="9764942" y="2450123"/>
            <a:ext cx="2044983" cy="523220"/>
          </a:xfrm>
          <a:prstGeom prst="rect">
            <a:avLst/>
          </a:prstGeom>
          <a:noFill/>
        </p:spPr>
        <p:txBody>
          <a:bodyPr wrap="none" rtlCol="0">
            <a:spAutoFit/>
          </a:bodyPr>
          <a:lstStyle/>
          <a:p>
            <a:r>
              <a:rPr lang="en-US" sz="2800" b="1" i="1" dirty="0"/>
              <a:t>Detect fraud</a:t>
            </a:r>
          </a:p>
        </p:txBody>
      </p:sp>
    </p:spTree>
    <p:extLst>
      <p:ext uri="{BB962C8B-B14F-4D97-AF65-F5344CB8AC3E}">
        <p14:creationId xmlns:p14="http://schemas.microsoft.com/office/powerpoint/2010/main" val="3770986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328C9-08F1-61B0-B68E-5DCD3D7986E8}"/>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6AF7576-9759-FD20-0CA1-4DB213996FB7}"/>
              </a:ext>
            </a:extLst>
          </p:cNvPr>
          <p:cNvSpPr>
            <a:spLocks noGrp="1"/>
          </p:cNvSpPr>
          <p:nvPr>
            <p:ph idx="1"/>
          </p:nvPr>
        </p:nvSpPr>
        <p:spPr/>
        <p:txBody>
          <a:bodyPr>
            <a:normAutofit/>
          </a:bodyPr>
          <a:lstStyle/>
          <a:p>
            <a:r>
              <a:rPr lang="en-US" dirty="0"/>
              <a:t>Create an abstract class for the decorator that wraps the inner payment processor</a:t>
            </a:r>
          </a:p>
          <a:p>
            <a:r>
              <a:rPr lang="en-US" dirty="0"/>
              <a:t>Extend the abstract decorator as the </a:t>
            </a:r>
            <a:r>
              <a:rPr lang="en-US" dirty="0" err="1">
                <a:latin typeface="Consolas" panose="020B0609020204030204" pitchFamily="49" charset="0"/>
              </a:rPr>
              <a:t>FraudDetectionProcessor</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p:txBody>
      </p:sp>
      <p:sp>
        <p:nvSpPr>
          <p:cNvPr id="5" name="Title 4">
            <a:extLst>
              <a:ext uri="{FF2B5EF4-FFF2-40B4-BE49-F238E27FC236}">
                <a16:creationId xmlns:a16="http://schemas.microsoft.com/office/drawing/2014/main" id="{53E0CD13-3C23-74C7-8973-8C625B50A9D4}"/>
              </a:ext>
            </a:extLst>
          </p:cNvPr>
          <p:cNvSpPr>
            <a:spLocks noGrp="1"/>
          </p:cNvSpPr>
          <p:nvPr>
            <p:ph type="title"/>
          </p:nvPr>
        </p:nvSpPr>
        <p:spPr/>
        <p:txBody>
          <a:bodyPr/>
          <a:lstStyle/>
          <a:p>
            <a:r>
              <a:rPr lang="en-US" dirty="0"/>
              <a:t>Fraud detection decorator for payment processor</a:t>
            </a:r>
          </a:p>
        </p:txBody>
      </p:sp>
    </p:spTree>
    <p:extLst>
      <p:ext uri="{BB962C8B-B14F-4D97-AF65-F5344CB8AC3E}">
        <p14:creationId xmlns:p14="http://schemas.microsoft.com/office/powerpoint/2010/main" val="370967072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0C691-7082-0AB9-A617-2970A194EAA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A2674FB-DB87-A501-A6A9-F1AEEA375F3B}"/>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6C3AF032-0407-1616-E8A6-19C92ED05EBC}"/>
              </a:ext>
            </a:extLst>
          </p:cNvPr>
          <p:cNvGrpSpPr/>
          <p:nvPr/>
        </p:nvGrpSpPr>
        <p:grpSpPr>
          <a:xfrm>
            <a:off x="3649593" y="1457568"/>
            <a:ext cx="4892814" cy="3697333"/>
            <a:chOff x="6087997" y="1477107"/>
            <a:chExt cx="4892814" cy="3697333"/>
          </a:xfrm>
        </p:grpSpPr>
        <p:grpSp>
          <p:nvGrpSpPr>
            <p:cNvPr id="22" name="Group 21">
              <a:extLst>
                <a:ext uri="{FF2B5EF4-FFF2-40B4-BE49-F238E27FC236}">
                  <a16:creationId xmlns:a16="http://schemas.microsoft.com/office/drawing/2014/main" id="{BEE175AA-BED6-3CFF-D106-940699A90ED2}"/>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DFE5C92-669C-BD35-CCD1-0C8692A3529B}"/>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4ECB297D-8BCD-C432-6155-7B64285DE3AE}"/>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7F46D36-F320-B461-6D25-1B94175E38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AC2DE84F-A62D-6D34-7726-6772F41534C1}"/>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56E6BB0F-4012-EAEC-C4B4-58632F891952}"/>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0A94A388-9833-0FD1-6D13-5B54A8D411AA}"/>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A915E84B-AE83-7B0E-143A-62CFD9C93A2B}"/>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7E3E7FD9-2B6C-E53B-AF4E-772AD5436D2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3AC35E44-CA7C-5432-6EA3-9D3A0E4F3A3B}"/>
              </a:ext>
            </a:extLst>
          </p:cNvPr>
          <p:cNvGrpSpPr/>
          <p:nvPr/>
        </p:nvGrpSpPr>
        <p:grpSpPr>
          <a:xfrm>
            <a:off x="4894380" y="2020276"/>
            <a:ext cx="2403231" cy="1582615"/>
            <a:chOff x="7332784" y="2039815"/>
            <a:chExt cx="2403231" cy="1582615"/>
          </a:xfrm>
        </p:grpSpPr>
        <p:sp>
          <p:nvSpPr>
            <p:cNvPr id="38" name="Rectangle 37">
              <a:extLst>
                <a:ext uri="{FF2B5EF4-FFF2-40B4-BE49-F238E27FC236}">
                  <a16:creationId xmlns:a16="http://schemas.microsoft.com/office/drawing/2014/main" id="{950EB267-54DF-0295-D5AC-6BA292035D5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3B960BD3-ADDF-0F39-2EC0-AD401F48E2BE}"/>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DB628E62-DBAD-3201-0B21-F15FA797C4A9}"/>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194923430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BD2B6-F5C2-23C8-5F3A-C7623D052FD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011AA97-034F-F353-8106-5E8B3269394A}"/>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b="1" dirty="0"/>
              <a:t>abstract class </a:t>
            </a:r>
            <a:r>
              <a:rPr lang="en-US" b="1" dirty="0" err="1"/>
              <a:t>PaymentProcessorDecorator</a:t>
            </a:r>
            <a:r>
              <a:rPr lang="en-US" b="1" dirty="0"/>
              <a:t> </a:t>
            </a:r>
            <a:r>
              <a:rPr lang="en-US" dirty="0"/>
              <a:t>implements </a:t>
            </a:r>
            <a:r>
              <a:rPr lang="en-US" dirty="0" err="1"/>
              <a:t>PaymentProcessor</a:t>
            </a:r>
            <a:r>
              <a:rPr lang="en-US" dirty="0"/>
              <a:t> {</a:t>
            </a:r>
          </a:p>
          <a:p>
            <a:r>
              <a:rPr lang="en-US" dirty="0"/>
              <a:t>	protected </a:t>
            </a:r>
            <a:r>
              <a:rPr lang="en-US" dirty="0" err="1"/>
              <a:t>PaymentProcessor</a:t>
            </a:r>
            <a:r>
              <a:rPr lang="en-US" dirty="0"/>
              <a:t> </a:t>
            </a:r>
            <a:r>
              <a:rPr lang="en-US" b="1"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p:txBody>
      </p:sp>
      <p:sp>
        <p:nvSpPr>
          <p:cNvPr id="5" name="Title 4">
            <a:extLst>
              <a:ext uri="{FF2B5EF4-FFF2-40B4-BE49-F238E27FC236}">
                <a16:creationId xmlns:a16="http://schemas.microsoft.com/office/drawing/2014/main" id="{1E6D137E-ACA8-DFB4-8269-11FD04F6D5A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1AD89FA7-9CE6-B180-FA76-0E7AFE699ECF}"/>
              </a:ext>
            </a:extLst>
          </p:cNvPr>
          <p:cNvSpPr>
            <a:spLocks noGrp="1"/>
          </p:cNvSpPr>
          <p:nvPr>
            <p:ph idx="13"/>
          </p:nvPr>
        </p:nvSpPr>
        <p:spPr/>
        <p:txBody>
          <a:bodyPr/>
          <a:lstStyle/>
          <a:p>
            <a:r>
              <a:rPr lang="en-US" dirty="0"/>
              <a:t>Create an abstract class for the decorator that wraps the inner payment processor</a:t>
            </a:r>
          </a:p>
          <a:p>
            <a:endParaRPr lang="en-US" dirty="0"/>
          </a:p>
        </p:txBody>
      </p:sp>
      <p:sp>
        <p:nvSpPr>
          <p:cNvPr id="3" name="Rectangle 2">
            <a:extLst>
              <a:ext uri="{FF2B5EF4-FFF2-40B4-BE49-F238E27FC236}">
                <a16:creationId xmlns:a16="http://schemas.microsoft.com/office/drawing/2014/main" id="{1D668E65-32C9-9242-1C63-F0D056980595}"/>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905143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0AAF1-E2E5-B48A-1813-7500C0D679F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FC2A52B-C685-5CC8-8250-9DB8A28FE3E6}"/>
              </a:ext>
            </a:extLst>
          </p:cNvPr>
          <p:cNvSpPr>
            <a:spLocks noGrp="1"/>
          </p:cNvSpPr>
          <p:nvPr>
            <p:ph idx="1"/>
          </p:nvPr>
        </p:nvSpPr>
        <p:spPr>
          <a:xfrm>
            <a:off x="6176512" y="785004"/>
            <a:ext cx="6015488" cy="5046453"/>
          </a:xfrm>
        </p:spPr>
        <p:txBody>
          <a:bodyPr>
            <a:normAutofit fontScale="92500" lnSpcReduction="1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DC8E2C77-90A8-373D-90E0-505E29A344C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E3701656-9928-14CB-6AF7-E09DD27E8D23}"/>
              </a:ext>
            </a:extLst>
          </p:cNvPr>
          <p:cNvSpPr>
            <a:spLocks noGrp="1"/>
          </p:cNvSpPr>
          <p:nvPr>
            <p:ph idx="13"/>
          </p:nvPr>
        </p:nvSpPr>
        <p:spPr/>
        <p:txBody>
          <a:bodyPr/>
          <a:lstStyle/>
          <a:p>
            <a:r>
              <a:rPr lang="en-US" dirty="0"/>
              <a:t>Extend the abstract decorator as the </a:t>
            </a:r>
            <a:r>
              <a:rPr lang="en-US" dirty="0" err="1">
                <a:latin typeface="Consolas" panose="020B0609020204030204" pitchFamily="49" charset="0"/>
              </a:rPr>
              <a:t>FraudDetectionDecorator</a:t>
            </a:r>
            <a:endParaRPr lang="en-US" dirty="0">
              <a:latin typeface="Consolas" panose="020B0609020204030204" pitchFamily="49" charset="0"/>
            </a:endParaRPr>
          </a:p>
          <a:p>
            <a:endParaRPr lang="en-US" dirty="0"/>
          </a:p>
        </p:txBody>
      </p:sp>
      <p:sp>
        <p:nvSpPr>
          <p:cNvPr id="3" name="Rectangle 2">
            <a:extLst>
              <a:ext uri="{FF2B5EF4-FFF2-40B4-BE49-F238E27FC236}">
                <a16:creationId xmlns:a16="http://schemas.microsoft.com/office/drawing/2014/main" id="{6E99A3A9-AC42-C300-F5B9-C3D6DBC70A90}"/>
              </a:ext>
            </a:extLst>
          </p:cNvPr>
          <p:cNvSpPr/>
          <p:nvPr/>
        </p:nvSpPr>
        <p:spPr>
          <a:xfrm>
            <a:off x="6176512" y="3429000"/>
            <a:ext cx="5633412" cy="22918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09216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6EEF-054C-212E-EC1D-2D7E7A3BB832}"/>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E583C75-DC23-153F-058A-DA264EDA761D}"/>
              </a:ext>
            </a:extLst>
          </p:cNvPr>
          <p:cNvSpPr>
            <a:spLocks noGrp="1"/>
          </p:cNvSpPr>
          <p:nvPr>
            <p:ph idx="1"/>
          </p:nvPr>
        </p:nvSpPr>
        <p:spPr>
          <a:xfrm>
            <a:off x="6176512" y="785004"/>
            <a:ext cx="6015488" cy="5046453"/>
          </a:xfrm>
        </p:spPr>
        <p:txBody>
          <a:bodyPr>
            <a:normAutofit fontScale="85000" lnSpcReduction="2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r>
              <a:rPr lang="en-US" dirty="0"/>
              <a:t>public static void main(String[] </a:t>
            </a:r>
            <a:r>
              <a:rPr lang="en-US" dirty="0" err="1"/>
              <a:t>args</a:t>
            </a:r>
            <a:r>
              <a:rPr lang="en-US" dirty="0"/>
              <a:t>) {</a:t>
            </a:r>
          </a:p>
          <a:p>
            <a:r>
              <a:rPr lang="en-US" dirty="0"/>
              <a:t>	</a:t>
            </a:r>
            <a:r>
              <a:rPr lang="en-US" dirty="0" err="1"/>
              <a:t>PaypalProcessor</a:t>
            </a:r>
            <a:r>
              <a:rPr lang="en-US" dirty="0"/>
              <a:t> </a:t>
            </a:r>
            <a:r>
              <a:rPr lang="en-US" dirty="0" err="1"/>
              <a:t>paypalProc</a:t>
            </a:r>
            <a:r>
              <a:rPr lang="en-US" dirty="0"/>
              <a:t> = new </a:t>
            </a:r>
            <a:r>
              <a:rPr lang="en-US" dirty="0" err="1"/>
              <a:t>PaypapProcessor</a:t>
            </a:r>
            <a:r>
              <a:rPr lang="en-US" dirty="0"/>
              <a:t>();</a:t>
            </a:r>
          </a:p>
          <a:p>
            <a:r>
              <a:rPr lang="en-US" dirty="0"/>
              <a:t>	</a:t>
            </a:r>
            <a:r>
              <a:rPr lang="en-US" dirty="0" err="1"/>
              <a:t>FraudDetectionDecorator</a:t>
            </a:r>
            <a:r>
              <a:rPr lang="en-US" dirty="0"/>
              <a:t> </a:t>
            </a:r>
            <a:r>
              <a:rPr lang="en-US" dirty="0" err="1"/>
              <a:t>fraudProc</a:t>
            </a:r>
            <a:r>
              <a:rPr lang="en-US" dirty="0"/>
              <a:t> = new </a:t>
            </a:r>
          </a:p>
          <a:p>
            <a:r>
              <a:rPr lang="en-US" dirty="0"/>
              <a:t>			 </a:t>
            </a:r>
            <a:r>
              <a:rPr lang="en-US" dirty="0" err="1"/>
              <a:t>FraudDetectionDecorator</a:t>
            </a:r>
            <a:r>
              <a:rPr lang="en-US" dirty="0"/>
              <a:t>(</a:t>
            </a:r>
            <a:r>
              <a:rPr lang="en-US" dirty="0" err="1"/>
              <a:t>paypalProc</a:t>
            </a:r>
            <a:r>
              <a:rPr lang="en-US" dirty="0"/>
              <a:t>);</a:t>
            </a:r>
          </a:p>
          <a:p>
            <a:r>
              <a:rPr lang="en-US" dirty="0"/>
              <a:t>	</a:t>
            </a:r>
            <a:r>
              <a:rPr lang="en-US" dirty="0" err="1"/>
              <a:t>fraudProc.processPayment</a:t>
            </a:r>
            <a:r>
              <a:rPr lang="en-US" dirty="0"/>
              <a:t>(200.0);</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545C3251-5A22-ED3F-A731-B4108DF4352F}"/>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3415D240-D7C5-EDEE-69D0-1DB55388F2E2}"/>
              </a:ext>
            </a:extLst>
          </p:cNvPr>
          <p:cNvSpPr>
            <a:spLocks noGrp="1"/>
          </p:cNvSpPr>
          <p:nvPr>
            <p:ph idx="13"/>
          </p:nvPr>
        </p:nvSpPr>
        <p:spPr/>
        <p:txBody>
          <a:bodyPr/>
          <a:lstStyle/>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3" name="Rectangle 2">
            <a:extLst>
              <a:ext uri="{FF2B5EF4-FFF2-40B4-BE49-F238E27FC236}">
                <a16:creationId xmlns:a16="http://schemas.microsoft.com/office/drawing/2014/main" id="{77FB3F6D-37A6-31A3-3434-4579B4E76491}"/>
              </a:ext>
            </a:extLst>
          </p:cNvPr>
          <p:cNvSpPr/>
          <p:nvPr/>
        </p:nvSpPr>
        <p:spPr>
          <a:xfrm>
            <a:off x="6176512" y="4617156"/>
            <a:ext cx="5633412" cy="11037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B3D1E1D3-8837-82A5-E449-A22A2F89431C}"/>
              </a:ext>
            </a:extLst>
          </p:cNvPr>
          <p:cNvSpPr/>
          <p:nvPr/>
        </p:nvSpPr>
        <p:spPr>
          <a:xfrm>
            <a:off x="6096000" y="3328339"/>
            <a:ext cx="5633412" cy="92757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08332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F11D563-7BCA-DB0D-97A0-38520BB77823}"/>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CC15C328-70F0-6E48-927E-1970BF4B9D8D}"/>
              </a:ext>
            </a:extLst>
          </p:cNvPr>
          <p:cNvGrpSpPr/>
          <p:nvPr/>
        </p:nvGrpSpPr>
        <p:grpSpPr>
          <a:xfrm>
            <a:off x="906403" y="1254368"/>
            <a:ext cx="4892814" cy="3697333"/>
            <a:chOff x="6087997" y="1477107"/>
            <a:chExt cx="4892814" cy="3697333"/>
          </a:xfrm>
        </p:grpSpPr>
        <p:grpSp>
          <p:nvGrpSpPr>
            <p:cNvPr id="22" name="Group 21">
              <a:extLst>
                <a:ext uri="{FF2B5EF4-FFF2-40B4-BE49-F238E27FC236}">
                  <a16:creationId xmlns:a16="http://schemas.microsoft.com/office/drawing/2014/main" id="{960A364A-C4BF-1F03-EDA7-0EA2EAC18E87}"/>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A242A35-C7A1-E9D5-C4E2-A22A9D3BF718}"/>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1A1928EB-5F41-34F4-EC63-D32F088F9BAA}"/>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8BC54CA-C163-8354-2CBF-33DF2BFD3FD7}"/>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E7871EB5-98FC-F329-F16A-96A7A0110F27}"/>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8AAED6FF-9F4E-FFF3-E571-FBB808E565D1}"/>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E3C2D4FD-0D81-FCB1-6FCB-27BC8C9B657D}"/>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50EB31A0-5610-8BB6-08A8-0C8E384B0460}"/>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12855E80-332C-9BDA-D4ED-DB911BBE470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EF73B435-B367-F89B-1EFB-AAF6B7447F61}"/>
              </a:ext>
            </a:extLst>
          </p:cNvPr>
          <p:cNvGrpSpPr/>
          <p:nvPr/>
        </p:nvGrpSpPr>
        <p:grpSpPr>
          <a:xfrm>
            <a:off x="2151190" y="1817076"/>
            <a:ext cx="2403231" cy="1582615"/>
            <a:chOff x="7332784" y="2039815"/>
            <a:chExt cx="2403231" cy="1582615"/>
          </a:xfrm>
        </p:grpSpPr>
        <p:sp>
          <p:nvSpPr>
            <p:cNvPr id="38" name="Rectangle 37">
              <a:extLst>
                <a:ext uri="{FF2B5EF4-FFF2-40B4-BE49-F238E27FC236}">
                  <a16:creationId xmlns:a16="http://schemas.microsoft.com/office/drawing/2014/main" id="{0C395E84-A032-6EDC-D8F3-A89C78A183F4}"/>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60CE12FC-B505-270E-1421-BFF65F6DFA95}"/>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2B07F78B-5649-4E6A-D067-88151833CF11}"/>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72" name="Group 71">
            <a:extLst>
              <a:ext uri="{FF2B5EF4-FFF2-40B4-BE49-F238E27FC236}">
                <a16:creationId xmlns:a16="http://schemas.microsoft.com/office/drawing/2014/main" id="{6291057B-A478-6466-6C19-E79164DF62B1}"/>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64BDEDD8-D3DD-986F-FC8B-08D9C1022430}"/>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EC380861-F541-B498-22B8-F5B17D4D186A}"/>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D29616D4-022A-28FB-87A0-4112B28020DC}"/>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FE736A53-E657-DBBE-72DA-D6FC4BB881C9}"/>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6589C8B0-6561-F471-4297-4B7C7CE342EF}"/>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64E27130-354E-4153-609F-65E97A8DBF53}"/>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A834D90B-C34F-4837-20B8-B2531D228F2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0F5A4069-3434-8759-D6BF-94B2DAC22E7A}"/>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161AED36-6A52-3056-3301-7E9C687B0FEB}"/>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A87C2251-8DD1-BAC4-B72D-0282DA38DDF4}"/>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682D8395-82B9-3EDA-B219-BF56249EA8D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7F2E0AD6-A1D0-110B-3565-0B5EB0371609}"/>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6D8A3FA4-A40A-0858-2243-3978513241CD}"/>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8F464D73-C018-F62C-208E-5AF69D92616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F8E54A58-8B1B-F851-0048-3F895F0BD43D}"/>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A05EA1C0-3E80-706F-4449-57C3F3693025}"/>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1B85524C-83B5-6616-9473-363B9F04DFB3}"/>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D8ED3660-7405-4833-7BAA-3BB861766AF2}"/>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2269361F-A0A9-3D3F-7CC6-D610AF4A191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A879A9E6-C2EE-06A6-CB5D-AAE790A446EE}"/>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3B3549E4-6F05-A0E8-2F00-5E48C1415302}"/>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40205602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AFDAA-9CDC-1DAE-B637-13C4802547F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C45F283-E558-D3D4-2EA9-40EBBFEEE250}"/>
              </a:ext>
            </a:extLst>
          </p:cNvPr>
          <p:cNvSpPr>
            <a:spLocks noGrp="1"/>
          </p:cNvSpPr>
          <p:nvPr>
            <p:ph type="title"/>
          </p:nvPr>
        </p:nvSpPr>
        <p:spPr/>
        <p:txBody>
          <a:bodyPr/>
          <a:lstStyle/>
          <a:p>
            <a:r>
              <a:rPr lang="en-US" dirty="0"/>
              <a:t>Combining adapter and decorator patters</a:t>
            </a:r>
          </a:p>
        </p:txBody>
      </p:sp>
      <p:grpSp>
        <p:nvGrpSpPr>
          <p:cNvPr id="72" name="Group 71">
            <a:extLst>
              <a:ext uri="{FF2B5EF4-FFF2-40B4-BE49-F238E27FC236}">
                <a16:creationId xmlns:a16="http://schemas.microsoft.com/office/drawing/2014/main" id="{1E5855FE-E0A7-75F5-56A9-02217E098C03}"/>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BD7E5958-0E55-A741-1395-120407DB9041}"/>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C0AD712C-0D3D-84EE-6B6B-0B13C6262018}"/>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C3DB3FAD-A1CD-AA21-0FDD-CC5734B48581}"/>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D7026919-283D-0A91-0A95-8FE998EC3CB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CBADFBEA-1DDB-D68D-3704-E87581C9CE8D}"/>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AB48F0AE-F8C1-22C1-7661-E2515A211D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7A7A6ECC-AA5B-C4E5-8C14-611E7B56200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5B0AD03F-614A-B779-6875-DD70A735E22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4CD2557B-10E9-93E5-7BC9-B626866D0089}"/>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D5652974-8F9A-C733-D598-FF7879077D91}"/>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2359683B-804E-9D28-1DDC-2950FD71A520}"/>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102DBEDA-B5AD-279C-3C40-77CFCB079EA8}"/>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E6555E7C-ED2A-C93D-BD17-CB3D9D369964}"/>
                  </a:ext>
                </a:extLst>
              </p:cNvPr>
              <p:cNvSpPr/>
              <p:nvPr/>
            </p:nvSpPr>
            <p:spPr>
              <a:xfrm>
                <a:off x="7332784" y="2039815"/>
                <a:ext cx="2403231" cy="1582615"/>
              </a:xfrm>
              <a:prstGeom prst="rect">
                <a:avLst/>
              </a:prstGeom>
              <a:solidFill>
                <a:schemeClr val="accent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2400" dirty="0"/>
              </a:p>
            </p:txBody>
          </p:sp>
          <p:sp>
            <p:nvSpPr>
              <p:cNvPr id="57" name="Rectangle 56">
                <a:extLst>
                  <a:ext uri="{FF2B5EF4-FFF2-40B4-BE49-F238E27FC236}">
                    <a16:creationId xmlns:a16="http://schemas.microsoft.com/office/drawing/2014/main" id="{05FD0282-1D48-E8C5-D90F-985F0E4753BB}"/>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CFBCE7B6-907C-1E80-CF5B-A16639AF3517}"/>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9E197CF0-57CE-B551-FEB1-9D95A5395BFB}"/>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CD9B3979-497B-CE97-5399-63C6D3398C6F}"/>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4C2970A2-F1CB-F764-FBC8-296DDADEBF0A}"/>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DA77EBA2-47C2-F108-D405-33FAE7B712B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102E5503-A93A-8D86-F9E1-C6317FEECF32}"/>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2D7DAB48-909C-46C4-DFB8-80291EEB69C9}"/>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 name="Group 1">
            <a:extLst>
              <a:ext uri="{FF2B5EF4-FFF2-40B4-BE49-F238E27FC236}">
                <a16:creationId xmlns:a16="http://schemas.microsoft.com/office/drawing/2014/main" id="{24C98D14-4AE0-2649-5B39-F52145E0D6B5}"/>
              </a:ext>
            </a:extLst>
          </p:cNvPr>
          <p:cNvGrpSpPr/>
          <p:nvPr/>
        </p:nvGrpSpPr>
        <p:grpSpPr>
          <a:xfrm>
            <a:off x="46968" y="687728"/>
            <a:ext cx="5562036" cy="5361380"/>
            <a:chOff x="5998796" y="687728"/>
            <a:chExt cx="5562036" cy="5361380"/>
          </a:xfrm>
        </p:grpSpPr>
        <p:sp>
          <p:nvSpPr>
            <p:cNvPr id="4" name="Rectangle 3">
              <a:extLst>
                <a:ext uri="{FF2B5EF4-FFF2-40B4-BE49-F238E27FC236}">
                  <a16:creationId xmlns:a16="http://schemas.microsoft.com/office/drawing/2014/main" id="{4DF30FD8-CDAF-6908-2041-775CA06A8C0F}"/>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5" name="Group 4">
              <a:extLst>
                <a:ext uri="{FF2B5EF4-FFF2-40B4-BE49-F238E27FC236}">
                  <a16:creationId xmlns:a16="http://schemas.microsoft.com/office/drawing/2014/main" id="{FF51ADBA-99E1-1757-9662-D750FE1E970E}"/>
                </a:ext>
              </a:extLst>
            </p:cNvPr>
            <p:cNvGrpSpPr/>
            <p:nvPr/>
          </p:nvGrpSpPr>
          <p:grpSpPr>
            <a:xfrm>
              <a:off x="6392789" y="1254368"/>
              <a:ext cx="4892814" cy="3697333"/>
              <a:chOff x="6087995" y="1477107"/>
              <a:chExt cx="4892814" cy="3697333"/>
            </a:xfrm>
          </p:grpSpPr>
          <p:grpSp>
            <p:nvGrpSpPr>
              <p:cNvPr id="16" name="Group 15">
                <a:extLst>
                  <a:ext uri="{FF2B5EF4-FFF2-40B4-BE49-F238E27FC236}">
                    <a16:creationId xmlns:a16="http://schemas.microsoft.com/office/drawing/2014/main" id="{7C6DCC4B-64DD-CA49-616A-EE952F386DFF}"/>
                  </a:ext>
                </a:extLst>
              </p:cNvPr>
              <p:cNvGrpSpPr/>
              <p:nvPr/>
            </p:nvGrpSpPr>
            <p:grpSpPr>
              <a:xfrm>
                <a:off x="6087995" y="1477107"/>
                <a:ext cx="4892814" cy="3371772"/>
                <a:chOff x="6087995" y="1477107"/>
                <a:chExt cx="4892814" cy="3371772"/>
              </a:xfrm>
            </p:grpSpPr>
            <p:sp>
              <p:nvSpPr>
                <p:cNvPr id="18" name="Rectangle 17">
                  <a:extLst>
                    <a:ext uri="{FF2B5EF4-FFF2-40B4-BE49-F238E27FC236}">
                      <a16:creationId xmlns:a16="http://schemas.microsoft.com/office/drawing/2014/main" id="{AD2EF6FB-066E-9021-2716-A126EA7D0C6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9" name="Rectangle 18">
                  <a:extLst>
                    <a:ext uri="{FF2B5EF4-FFF2-40B4-BE49-F238E27FC236}">
                      <a16:creationId xmlns:a16="http://schemas.microsoft.com/office/drawing/2014/main" id="{8B744518-2D70-3855-F7F2-C9E4678C997C}"/>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0" name="Rectangle 19">
                  <a:extLst>
                    <a:ext uri="{FF2B5EF4-FFF2-40B4-BE49-F238E27FC236}">
                      <a16:creationId xmlns:a16="http://schemas.microsoft.com/office/drawing/2014/main" id="{548E9523-3C76-ED37-BCBE-F4A7A306477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009A07CA-441A-0CA5-9761-4A08FCEAF359}"/>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28" name="TextBox 27">
                  <a:extLst>
                    <a:ext uri="{FF2B5EF4-FFF2-40B4-BE49-F238E27FC236}">
                      <a16:creationId xmlns:a16="http://schemas.microsoft.com/office/drawing/2014/main" id="{AA4CB576-8F70-1CB1-8E33-43A3D5C9D9D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0" name="Straight Arrow Connector 29">
                  <a:extLst>
                    <a:ext uri="{FF2B5EF4-FFF2-40B4-BE49-F238E27FC236}">
                      <a16:creationId xmlns:a16="http://schemas.microsoft.com/office/drawing/2014/main" id="{EEE94653-E984-66D2-2033-CFE6E8E31A65}"/>
                    </a:ext>
                  </a:extLst>
                </p:cNvPr>
                <p:cNvCxnSpPr>
                  <a:cxnSpLocks/>
                  <a:stCxn id="20" idx="0"/>
                  <a:endCxn id="28"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845490D-470F-F265-55CB-F61705214046}"/>
                    </a:ext>
                  </a:extLst>
                </p:cNvPr>
                <p:cNvCxnSpPr>
                  <a:cxnSpLocks/>
                  <a:stCxn id="28" idx="0"/>
                  <a:endCxn id="14"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17" name="Straight Arrow Connector 16">
                <a:extLst>
                  <a:ext uri="{FF2B5EF4-FFF2-40B4-BE49-F238E27FC236}">
                    <a16:creationId xmlns:a16="http://schemas.microsoft.com/office/drawing/2014/main" id="{25748477-C562-05EC-B5D8-FB9059F0C6AB}"/>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6" name="Group 5">
              <a:extLst>
                <a:ext uri="{FF2B5EF4-FFF2-40B4-BE49-F238E27FC236}">
                  <a16:creationId xmlns:a16="http://schemas.microsoft.com/office/drawing/2014/main" id="{5A6ADFC6-E81E-4890-5D3D-984AF73F3506}"/>
                </a:ext>
              </a:extLst>
            </p:cNvPr>
            <p:cNvGrpSpPr/>
            <p:nvPr/>
          </p:nvGrpSpPr>
          <p:grpSpPr>
            <a:xfrm>
              <a:off x="7637578" y="1817076"/>
              <a:ext cx="2403231" cy="1590263"/>
              <a:chOff x="7332784" y="2039815"/>
              <a:chExt cx="2403231" cy="1590263"/>
            </a:xfrm>
          </p:grpSpPr>
          <p:sp>
            <p:nvSpPr>
              <p:cNvPr id="13" name="Rectangle 12">
                <a:extLst>
                  <a:ext uri="{FF2B5EF4-FFF2-40B4-BE49-F238E27FC236}">
                    <a16:creationId xmlns:a16="http://schemas.microsoft.com/office/drawing/2014/main" id="{D4050B22-46CC-425A-3E1B-3743DFD8803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14" name="Rectangle 13">
                <a:extLst>
                  <a:ext uri="{FF2B5EF4-FFF2-40B4-BE49-F238E27FC236}">
                    <a16:creationId xmlns:a16="http://schemas.microsoft.com/office/drawing/2014/main" id="{E78FA45B-8B25-0098-5899-4052B1A19853}"/>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76E514E-3B7E-3E21-2CC6-4DD855FA8BCF}"/>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7" name="Rectangle 6">
              <a:extLst>
                <a:ext uri="{FF2B5EF4-FFF2-40B4-BE49-F238E27FC236}">
                  <a16:creationId xmlns:a16="http://schemas.microsoft.com/office/drawing/2014/main" id="{33644BE2-A66F-1EE1-C333-D30FA9F1DB18}"/>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8" name="TextBox 7">
              <a:extLst>
                <a:ext uri="{FF2B5EF4-FFF2-40B4-BE49-F238E27FC236}">
                  <a16:creationId xmlns:a16="http://schemas.microsoft.com/office/drawing/2014/main" id="{5146DF49-14E6-887E-12D5-6C6F804ED0C7}"/>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9" name="Rectangle 8">
              <a:extLst>
                <a:ext uri="{FF2B5EF4-FFF2-40B4-BE49-F238E27FC236}">
                  <a16:creationId xmlns:a16="http://schemas.microsoft.com/office/drawing/2014/main" id="{536419FC-B2B0-4045-A572-9E12A66ED703}"/>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BDA20AD-C1DB-CF2F-2175-AAE33FCCCFC0}"/>
                </a:ext>
              </a:extLst>
            </p:cNvPr>
            <p:cNvCxnSpPr>
              <a:cxnSpLocks/>
              <a:stCxn id="9" idx="0"/>
              <a:endCxn id="8"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F7AEFFEE-2CC3-C811-A9E3-6FD93616A198}"/>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4B77EA67-9D18-1018-7085-903596862A5B}"/>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1" name="Group 20">
            <a:extLst>
              <a:ext uri="{FF2B5EF4-FFF2-40B4-BE49-F238E27FC236}">
                <a16:creationId xmlns:a16="http://schemas.microsoft.com/office/drawing/2014/main" id="{5A92B337-9A51-7DDA-4FB7-8479F434A6F0}"/>
              </a:ext>
            </a:extLst>
          </p:cNvPr>
          <p:cNvGrpSpPr/>
          <p:nvPr/>
        </p:nvGrpSpPr>
        <p:grpSpPr>
          <a:xfrm>
            <a:off x="7767898" y="1897006"/>
            <a:ext cx="2483228" cy="1135138"/>
            <a:chOff x="7097010" y="2039815"/>
            <a:chExt cx="3688834" cy="1593279"/>
          </a:xfrm>
        </p:grpSpPr>
        <p:sp>
          <p:nvSpPr>
            <p:cNvPr id="22" name="Rectangle 21">
              <a:extLst>
                <a:ext uri="{FF2B5EF4-FFF2-40B4-BE49-F238E27FC236}">
                  <a16:creationId xmlns:a16="http://schemas.microsoft.com/office/drawing/2014/main" id="{30E13742-BF18-4621-6278-0F0FB7A56D13}"/>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err="1">
                  <a:ln w="0"/>
                  <a:solidFill>
                    <a:schemeClr val="tx1"/>
                  </a:solidFill>
                  <a:effectLst>
                    <a:outerShdw blurRad="38100" dist="19050" dir="2700000" algn="tl" rotWithShape="0">
                      <a:schemeClr val="dk1">
                        <a:alpha val="40000"/>
                      </a:schemeClr>
                    </a:outerShdw>
                  </a:effectLst>
                </a:rPr>
                <a:t>StripeProcessor</a:t>
              </a:r>
              <a:r>
                <a:rPr lang="en-US" dirty="0">
                  <a:ln w="0"/>
                  <a:solidFill>
                    <a:schemeClr val="tx1"/>
                  </a:solidFill>
                  <a:effectLst>
                    <a:outerShdw blurRad="38100" dist="19050" dir="2700000" algn="tl" rotWithShape="0">
                      <a:schemeClr val="dk1">
                        <a:alpha val="40000"/>
                      </a:schemeClr>
                    </a:outerShdw>
                  </a:effectLst>
                </a:rPr>
                <a:t> object</a:t>
              </a:r>
              <a:endParaRPr lang="en-US" dirty="0"/>
            </a:p>
          </p:txBody>
        </p:sp>
        <p:sp>
          <p:nvSpPr>
            <p:cNvPr id="23" name="Rectangle 22">
              <a:extLst>
                <a:ext uri="{FF2B5EF4-FFF2-40B4-BE49-F238E27FC236}">
                  <a16:creationId xmlns:a16="http://schemas.microsoft.com/office/drawing/2014/main" id="{7F926F37-5E80-2E9B-41F3-6D84D4C98087}"/>
                </a:ext>
              </a:extLst>
            </p:cNvPr>
            <p:cNvSpPr/>
            <p:nvPr/>
          </p:nvSpPr>
          <p:spPr>
            <a:xfrm>
              <a:off x="7566738" y="3420205"/>
              <a:ext cx="662862" cy="202224"/>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CD83F2D2-AD1A-94C5-4C95-75FE2AB4C13E}"/>
                </a:ext>
              </a:extLst>
            </p:cNvPr>
            <p:cNvSpPr txBox="1"/>
            <p:nvPr/>
          </p:nvSpPr>
          <p:spPr>
            <a:xfrm>
              <a:off x="8210738" y="3201098"/>
              <a:ext cx="2575106" cy="431996"/>
            </a:xfrm>
            <a:prstGeom prst="rect">
              <a:avLst/>
            </a:prstGeom>
            <a:noFill/>
          </p:spPr>
          <p:txBody>
            <a:bodyPr wrap="square" rtlCol="0">
              <a:spAutoFit/>
            </a:bodyPr>
            <a:lstStyle/>
            <a:p>
              <a:r>
                <a:rPr lang="en-US" sz="1400" dirty="0" err="1">
                  <a:latin typeface="Consolas" panose="020B0609020204030204" pitchFamily="49" charset="0"/>
                </a:rPr>
                <a:t>makePayment</a:t>
              </a:r>
              <a:r>
                <a:rPr lang="en-US" sz="1400" dirty="0"/>
                <a:t>()</a:t>
              </a:r>
            </a:p>
          </p:txBody>
        </p:sp>
      </p:grpSp>
      <p:cxnSp>
        <p:nvCxnSpPr>
          <p:cNvPr id="26" name="Straight Arrow Connector 25">
            <a:extLst>
              <a:ext uri="{FF2B5EF4-FFF2-40B4-BE49-F238E27FC236}">
                <a16:creationId xmlns:a16="http://schemas.microsoft.com/office/drawing/2014/main" id="{2C85EB03-115F-CAD0-1F4B-C6CCD35FA5CF}"/>
              </a:ext>
            </a:extLst>
          </p:cNvPr>
          <p:cNvCxnSpPr>
            <a:cxnSpLocks/>
            <a:stCxn id="57" idx="0"/>
            <a:endCxn id="23" idx="2"/>
          </p:cNvCxnSpPr>
          <p:nvPr/>
        </p:nvCxnSpPr>
        <p:spPr>
          <a:xfrm flipV="1">
            <a:off x="8305793" y="3024545"/>
            <a:ext cx="1425" cy="172923"/>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06049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885BFFC-C24C-763C-BC32-77F308FEA5D3}"/>
              </a:ext>
            </a:extLst>
          </p:cNvPr>
          <p:cNvSpPr>
            <a:spLocks noGrp="1"/>
          </p:cNvSpPr>
          <p:nvPr>
            <p:ph idx="1"/>
          </p:nvPr>
        </p:nvSpPr>
        <p:spPr/>
        <p:txBody>
          <a:bodyPr>
            <a:normAutofit fontScale="92500" lnSpcReduction="10000"/>
          </a:bodyPr>
          <a:lstStyle/>
          <a:p>
            <a:r>
              <a:rPr lang="en-US" dirty="0"/>
              <a:t>Although decorators can have similar implementations as proxies, decorators have a different purpose. </a:t>
            </a:r>
            <a:r>
              <a:rPr lang="en-US" b="1" dirty="0"/>
              <a:t>A decorator adds one or more responsibilities to an object, whereas a proxy controls access to an object.</a:t>
            </a:r>
          </a:p>
          <a:p>
            <a:r>
              <a:rPr lang="en-US" b="1" dirty="0"/>
              <a:t>Proxies vary in the degree to which they are implemented like a decorator. </a:t>
            </a:r>
            <a:r>
              <a:rPr lang="en-US" dirty="0"/>
              <a:t>A protection proxy might be implemented exactly like a decorator. On the other hand</a:t>
            </a:r>
            <a:r>
              <a:rPr lang="en-US" b="1" dirty="0"/>
              <a:t>, a remote proxy will not contain a direct reference to its real subject but only an indirect reference</a:t>
            </a:r>
            <a:r>
              <a:rPr lang="en-US" dirty="0"/>
              <a:t>, such as "host ID and local address on host." A virtual proxy will start off with an indirect reference such as a file name but will eventually obtain and use a direct reference.</a:t>
            </a:r>
          </a:p>
          <a:p>
            <a:endParaRPr lang="en-US" dirty="0"/>
          </a:p>
        </p:txBody>
      </p:sp>
      <p:sp>
        <p:nvSpPr>
          <p:cNvPr id="5" name="Title 4">
            <a:extLst>
              <a:ext uri="{FF2B5EF4-FFF2-40B4-BE49-F238E27FC236}">
                <a16:creationId xmlns:a16="http://schemas.microsoft.com/office/drawing/2014/main" id="{CE8D3D94-723C-6CC7-1561-9DB18E95C6AA}"/>
              </a:ext>
            </a:extLst>
          </p:cNvPr>
          <p:cNvSpPr>
            <a:spLocks noGrp="1"/>
          </p:cNvSpPr>
          <p:nvPr>
            <p:ph type="title"/>
          </p:nvPr>
        </p:nvSpPr>
        <p:spPr/>
        <p:txBody>
          <a:bodyPr/>
          <a:lstStyle/>
          <a:p>
            <a:r>
              <a:rPr lang="en-US" dirty="0"/>
              <a:t>Isn’t this a proxy??</a:t>
            </a:r>
          </a:p>
        </p:txBody>
      </p:sp>
      <p:sp>
        <p:nvSpPr>
          <p:cNvPr id="9" name="TextBox 8">
            <a:extLst>
              <a:ext uri="{FF2B5EF4-FFF2-40B4-BE49-F238E27FC236}">
                <a16:creationId xmlns:a16="http://schemas.microsoft.com/office/drawing/2014/main" id="{B88EC6F6-F192-22A0-0549-CDB098D447E1}"/>
              </a:ext>
            </a:extLst>
          </p:cNvPr>
          <p:cNvSpPr txBox="1"/>
          <p:nvPr/>
        </p:nvSpPr>
        <p:spPr>
          <a:xfrm>
            <a:off x="7737230" y="621192"/>
            <a:ext cx="4360985" cy="307777"/>
          </a:xfrm>
          <a:prstGeom prst="rect">
            <a:avLst/>
          </a:prstGeom>
          <a:noFill/>
        </p:spPr>
        <p:txBody>
          <a:bodyPr wrap="square">
            <a:spAutoFit/>
          </a:bodyPr>
          <a:lstStyle/>
          <a:p>
            <a:r>
              <a:rPr lang="en-US" sz="1400" dirty="0"/>
              <a:t>https://www.cs.unc.edu/~stotts/GOF/hires/pat4gfso.htm</a:t>
            </a:r>
          </a:p>
        </p:txBody>
      </p:sp>
    </p:spTree>
    <p:extLst>
      <p:ext uri="{BB962C8B-B14F-4D97-AF65-F5344CB8AC3E}">
        <p14:creationId xmlns:p14="http://schemas.microsoft.com/office/powerpoint/2010/main" val="192445296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D2D980-85D8-2D04-09AC-29A1D17EC5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2F66A9-E2C5-65CF-D512-B4FA60BD3CC0}"/>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A2A4ED14-2366-8495-3C46-EE77D22C98B5}"/>
              </a:ext>
            </a:extLst>
          </p:cNvPr>
          <p:cNvSpPr>
            <a:spLocks noGrp="1"/>
          </p:cNvSpPr>
          <p:nvPr>
            <p:ph type="title"/>
          </p:nvPr>
        </p:nvSpPr>
        <p:spPr/>
        <p:txBody>
          <a:bodyPr/>
          <a:lstStyle/>
          <a:p>
            <a:r>
              <a:rPr lang="en-US" dirty="0"/>
              <a:t>Non-ideal alternate implementations: subclass?</a:t>
            </a:r>
          </a:p>
        </p:txBody>
      </p:sp>
      <p:sp>
        <p:nvSpPr>
          <p:cNvPr id="6" name="Content Placeholder 5">
            <a:extLst>
              <a:ext uri="{FF2B5EF4-FFF2-40B4-BE49-F238E27FC236}">
                <a16:creationId xmlns:a16="http://schemas.microsoft.com/office/drawing/2014/main" id="{315E0546-B4FA-B20A-8599-A279C351B625}"/>
              </a:ext>
            </a:extLst>
          </p:cNvPr>
          <p:cNvSpPr>
            <a:spLocks noGrp="1"/>
          </p:cNvSpPr>
          <p:nvPr>
            <p:ph idx="13"/>
          </p:nvPr>
        </p:nvSpPr>
        <p:spPr/>
        <p:txBody>
          <a:bodyPr/>
          <a:lstStyle/>
          <a:p>
            <a:r>
              <a:rPr lang="en-US" dirty="0"/>
              <a:t>Create subclass that first detects fraud and then pays</a:t>
            </a:r>
          </a:p>
          <a:p>
            <a:r>
              <a:rPr lang="en-US" b="1" i="1" dirty="0"/>
              <a:t>Problems?</a:t>
            </a:r>
          </a:p>
          <a:p>
            <a:endParaRPr lang="en-US" dirty="0"/>
          </a:p>
        </p:txBody>
      </p:sp>
      <p:sp>
        <p:nvSpPr>
          <p:cNvPr id="2" name="Rectangle 1">
            <a:extLst>
              <a:ext uri="{FF2B5EF4-FFF2-40B4-BE49-F238E27FC236}">
                <a16:creationId xmlns:a16="http://schemas.microsoft.com/office/drawing/2014/main" id="{E211E946-F47F-2E3E-4186-3F719BEEF991}"/>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983394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8DB17-DBDD-B941-AFE7-3E4BF3BF60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D59322A-680A-EC43-8EAE-0F689683CA51}"/>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C9E12F88-A3BD-C9B1-B61D-DAF80104D366}"/>
              </a:ext>
            </a:extLst>
          </p:cNvPr>
          <p:cNvSpPr>
            <a:spLocks noGrp="1"/>
          </p:cNvSpPr>
          <p:nvPr>
            <p:ph type="title"/>
          </p:nvPr>
        </p:nvSpPr>
        <p:spPr/>
        <p:txBody>
          <a:bodyPr/>
          <a:lstStyle/>
          <a:p>
            <a:r>
              <a:rPr lang="en-US" dirty="0"/>
              <a:t>Problem 1: breaks SRP</a:t>
            </a:r>
          </a:p>
        </p:txBody>
      </p:sp>
      <p:sp>
        <p:nvSpPr>
          <p:cNvPr id="6" name="Content Placeholder 5">
            <a:extLst>
              <a:ext uri="{FF2B5EF4-FFF2-40B4-BE49-F238E27FC236}">
                <a16:creationId xmlns:a16="http://schemas.microsoft.com/office/drawing/2014/main" id="{629FE0F6-5371-CF55-12DC-2AB7BC4ADB45}"/>
              </a:ext>
            </a:extLst>
          </p:cNvPr>
          <p:cNvSpPr>
            <a:spLocks noGrp="1"/>
          </p:cNvSpPr>
          <p:nvPr>
            <p:ph idx="13"/>
          </p:nvPr>
        </p:nvSpPr>
        <p:spPr/>
        <p:txBody>
          <a:bodyPr/>
          <a:lstStyle/>
          <a:p>
            <a:r>
              <a:rPr lang="en-US" dirty="0"/>
              <a:t>Single Responsibility Principle – </a:t>
            </a:r>
            <a:r>
              <a:rPr lang="en-US" dirty="0" err="1"/>
              <a:t>FraudDetectingPaypalProcessor</a:t>
            </a:r>
            <a:r>
              <a:rPr lang="en-US" dirty="0"/>
              <a:t> does two things</a:t>
            </a:r>
          </a:p>
          <a:p>
            <a:pPr lvl="1"/>
            <a:r>
              <a:rPr lang="en-US" dirty="0"/>
              <a:t>Detects frauds</a:t>
            </a:r>
          </a:p>
          <a:p>
            <a:pPr lvl="1"/>
            <a:r>
              <a:rPr lang="en-US" dirty="0"/>
              <a:t>Does </a:t>
            </a:r>
            <a:r>
              <a:rPr lang="en-US" dirty="0" err="1"/>
              <a:t>Paypal</a:t>
            </a:r>
            <a:r>
              <a:rPr lang="en-US" dirty="0"/>
              <a:t> payments</a:t>
            </a:r>
          </a:p>
          <a:p>
            <a:endParaRPr lang="en-US" dirty="0"/>
          </a:p>
        </p:txBody>
      </p:sp>
      <p:sp>
        <p:nvSpPr>
          <p:cNvPr id="2" name="Rectangle 1">
            <a:extLst>
              <a:ext uri="{FF2B5EF4-FFF2-40B4-BE49-F238E27FC236}">
                <a16:creationId xmlns:a16="http://schemas.microsoft.com/office/drawing/2014/main" id="{EA0CBE79-E97F-E38C-EAFB-7C7689E8AA5C}"/>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78151077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79BC3-129E-01B7-093F-6229386BA30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A7C02A-A164-243E-5E83-9579C35B0DF1}"/>
              </a:ext>
            </a:extLst>
          </p:cNvPr>
          <p:cNvSpPr>
            <a:spLocks noGrp="1"/>
          </p:cNvSpPr>
          <p:nvPr>
            <p:ph idx="1"/>
          </p:nvPr>
        </p:nvSpPr>
        <p:spPr/>
        <p:txBody>
          <a:bodyPr/>
          <a:lstStyle/>
          <a:p>
            <a:r>
              <a:rPr lang="en-US" dirty="0"/>
              <a:t>interface </a:t>
            </a:r>
            <a:r>
              <a:rPr lang="en-US" dirty="0" err="1"/>
              <a:t>PaymentProcessor</a:t>
            </a:r>
            <a:r>
              <a:rPr lang="en-US" dirty="0"/>
              <a:t> { }</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endParaRPr lang="en-US" dirty="0"/>
          </a:p>
          <a:p>
            <a:r>
              <a:rPr lang="en-US" dirty="0"/>
              <a:t>class </a:t>
            </a:r>
            <a:r>
              <a:rPr lang="en-US" dirty="0" err="1"/>
              <a:t>BitcoinProcessor</a:t>
            </a:r>
            <a:r>
              <a:rPr lang="en-US" dirty="0"/>
              <a:t> implements </a:t>
            </a:r>
            <a:r>
              <a:rPr lang="en-US" dirty="0" err="1"/>
              <a:t>PaymentProcessor</a:t>
            </a:r>
            <a:r>
              <a:rPr lang="en-US" dirty="0"/>
              <a:t> {}</a:t>
            </a:r>
          </a:p>
          <a:p>
            <a:endParaRPr lang="en-US" dirty="0"/>
          </a:p>
          <a:p>
            <a:r>
              <a:rPr lang="en-US" dirty="0"/>
              <a:t>class </a:t>
            </a:r>
            <a:r>
              <a:rPr lang="en-US" dirty="0" err="1"/>
              <a:t>FraudDetectingBitcoinProcessor</a:t>
            </a:r>
            <a:r>
              <a:rPr lang="en-US" dirty="0"/>
              <a:t> extends </a:t>
            </a:r>
            <a:r>
              <a:rPr lang="en-US" dirty="0" err="1"/>
              <a:t>BitcoinProcessor</a:t>
            </a:r>
            <a:r>
              <a:rPr lang="en-US" dirty="0"/>
              <a:t> {}</a:t>
            </a:r>
          </a:p>
          <a:p>
            <a:endParaRPr lang="en-US" dirty="0"/>
          </a:p>
          <a:p>
            <a:r>
              <a:rPr lang="en-US" dirty="0"/>
              <a:t>class </a:t>
            </a:r>
            <a:r>
              <a:rPr lang="en-US" dirty="0" err="1"/>
              <a:t>AnotherProcessor</a:t>
            </a:r>
            <a:r>
              <a:rPr lang="en-US" dirty="0"/>
              <a:t> implements </a:t>
            </a:r>
            <a:r>
              <a:rPr lang="en-US" dirty="0" err="1"/>
              <a:t>PaymentProcessor</a:t>
            </a:r>
            <a:r>
              <a:rPr lang="en-US" dirty="0"/>
              <a:t>() {}</a:t>
            </a:r>
          </a:p>
          <a:p>
            <a:endParaRPr lang="en-US" dirty="0"/>
          </a:p>
          <a:p>
            <a:r>
              <a:rPr lang="en-US" dirty="0"/>
              <a:t>class </a:t>
            </a:r>
            <a:r>
              <a:rPr lang="en-US" dirty="0" err="1"/>
              <a:t>FraudDetectingAnotherProcessor</a:t>
            </a:r>
            <a:r>
              <a:rPr lang="en-US" dirty="0"/>
              <a:t> extends </a:t>
            </a:r>
            <a:r>
              <a:rPr lang="en-US" dirty="0" err="1"/>
              <a:t>AnotherProcessor</a:t>
            </a:r>
            <a:r>
              <a:rPr lang="en-US" dirty="0"/>
              <a:t> { }</a:t>
            </a:r>
          </a:p>
          <a:p>
            <a:endParaRPr lang="en-US" dirty="0"/>
          </a:p>
        </p:txBody>
      </p:sp>
      <p:sp>
        <p:nvSpPr>
          <p:cNvPr id="4" name="Title 3">
            <a:extLst>
              <a:ext uri="{FF2B5EF4-FFF2-40B4-BE49-F238E27FC236}">
                <a16:creationId xmlns:a16="http://schemas.microsoft.com/office/drawing/2014/main" id="{0620C0B1-845E-B4F1-A2B2-91F559B28D31}"/>
              </a:ext>
            </a:extLst>
          </p:cNvPr>
          <p:cNvSpPr>
            <a:spLocks noGrp="1"/>
          </p:cNvSpPr>
          <p:nvPr>
            <p:ph type="title"/>
          </p:nvPr>
        </p:nvSpPr>
        <p:spPr/>
        <p:txBody>
          <a:bodyPr/>
          <a:lstStyle/>
          <a:p>
            <a:r>
              <a:rPr lang="en-US" dirty="0"/>
              <a:t>Problem 2: class explosion</a:t>
            </a:r>
          </a:p>
        </p:txBody>
      </p:sp>
      <p:sp>
        <p:nvSpPr>
          <p:cNvPr id="6" name="Content Placeholder 5">
            <a:extLst>
              <a:ext uri="{FF2B5EF4-FFF2-40B4-BE49-F238E27FC236}">
                <a16:creationId xmlns:a16="http://schemas.microsoft.com/office/drawing/2014/main" id="{C58E9250-FF3A-FE28-193E-FA2D6A4C563C}"/>
              </a:ext>
            </a:extLst>
          </p:cNvPr>
          <p:cNvSpPr>
            <a:spLocks noGrp="1"/>
          </p:cNvSpPr>
          <p:nvPr>
            <p:ph idx="13"/>
          </p:nvPr>
        </p:nvSpPr>
        <p:spPr/>
        <p:txBody>
          <a:bodyPr>
            <a:normAutofit fontScale="92500" lnSpcReduction="20000"/>
          </a:bodyPr>
          <a:lstStyle/>
          <a:p>
            <a:r>
              <a:rPr lang="en-US" dirty="0"/>
              <a:t>What if we had </a:t>
            </a:r>
            <a:r>
              <a:rPr lang="en-US" dirty="0" err="1"/>
              <a:t>BitcoinPaymentProcessor</a:t>
            </a:r>
            <a:r>
              <a:rPr lang="en-US" dirty="0"/>
              <a:t>?</a:t>
            </a:r>
          </a:p>
          <a:p>
            <a:r>
              <a:rPr lang="en-US" dirty="0"/>
              <a:t>And then had </a:t>
            </a:r>
            <a:r>
              <a:rPr lang="en-US" dirty="0" err="1"/>
              <a:t>FraudDetectingBitcoinPaymentProcessor</a:t>
            </a:r>
            <a:endParaRPr lang="en-US" dirty="0"/>
          </a:p>
          <a:p>
            <a:r>
              <a:rPr lang="en-US" dirty="0"/>
              <a:t>For each payment processor needs one fraud detecting class</a:t>
            </a:r>
          </a:p>
          <a:p>
            <a:r>
              <a:rPr lang="en-US" dirty="0"/>
              <a:t>What if you want to add another functionality in addition to fraud detection?</a:t>
            </a:r>
          </a:p>
          <a:p>
            <a:endParaRPr lang="en-US" dirty="0"/>
          </a:p>
        </p:txBody>
      </p:sp>
      <p:sp>
        <p:nvSpPr>
          <p:cNvPr id="3" name="Rectangle 2">
            <a:extLst>
              <a:ext uri="{FF2B5EF4-FFF2-40B4-BE49-F238E27FC236}">
                <a16:creationId xmlns:a16="http://schemas.microsoft.com/office/drawing/2014/main" id="{CC02536B-4B77-5542-5A6A-1058990DA929}"/>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158876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EA6CA-C502-B215-28D4-8E3A90D7E54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431413-B358-7B96-2DA1-15D1735A4CAC}"/>
              </a:ext>
            </a:extLst>
          </p:cNvPr>
          <p:cNvSpPr>
            <a:spLocks noGrp="1"/>
          </p:cNvSpPr>
          <p:nvPr>
            <p:ph idx="1"/>
          </p:nvPr>
        </p:nvSpPr>
        <p:spPr/>
        <p:txBody>
          <a:bodyPr>
            <a:normAutofit/>
          </a:bodyPr>
          <a:lstStyle/>
          <a:p>
            <a:r>
              <a:rPr lang="en-US" dirty="0"/>
              <a:t>Decorators also make it easy to add a functionality twice</a:t>
            </a:r>
          </a:p>
          <a:p>
            <a:pPr lvl="1"/>
            <a:r>
              <a:rPr lang="en-US" dirty="0"/>
              <a:t>How would you perform fraud detection twice?</a:t>
            </a:r>
          </a:p>
          <a:p>
            <a:r>
              <a:rPr lang="en-US" dirty="0"/>
              <a:t>Avoids feature-laden classes high up in the hierarchy</a:t>
            </a:r>
          </a:p>
          <a:p>
            <a:r>
              <a:rPr lang="en-US" dirty="0"/>
              <a:t>Provides a pay-as-you-go approach</a:t>
            </a:r>
          </a:p>
          <a:p>
            <a:r>
              <a:rPr lang="en-US" dirty="0"/>
              <a:t>Disadvantage – can be hard to learn and debug a system which uses many decorators</a:t>
            </a:r>
          </a:p>
        </p:txBody>
      </p:sp>
      <p:sp>
        <p:nvSpPr>
          <p:cNvPr id="4" name="Title 3">
            <a:extLst>
              <a:ext uri="{FF2B5EF4-FFF2-40B4-BE49-F238E27FC236}">
                <a16:creationId xmlns:a16="http://schemas.microsoft.com/office/drawing/2014/main" id="{2AE9C358-89FE-591A-034F-50EC0800EC1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63134780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2DA3A-B0AD-E945-E6C7-21BD55AC10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A33CFB-D03A-18A9-AAD9-B4B8AB00F2F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91074BB-E011-C240-C8D3-AEDADE8E7083}"/>
              </a:ext>
            </a:extLst>
          </p:cNvPr>
          <p:cNvSpPr>
            <a:spLocks noGrp="1"/>
          </p:cNvSpPr>
          <p:nvPr>
            <p:ph type="body" sz="quarter" idx="13"/>
          </p:nvPr>
        </p:nvSpPr>
        <p:spPr/>
        <p:txBody>
          <a:bodyPr/>
          <a:lstStyle/>
          <a:p>
            <a:r>
              <a:rPr lang="en-US" sz="3200" dirty="0"/>
              <a:t>Flyweight design pattern</a:t>
            </a:r>
          </a:p>
        </p:txBody>
      </p:sp>
    </p:spTree>
    <p:extLst>
      <p:ext uri="{BB962C8B-B14F-4D97-AF65-F5344CB8AC3E}">
        <p14:creationId xmlns:p14="http://schemas.microsoft.com/office/powerpoint/2010/main" val="120935117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E99FA5E-984E-F7AB-8B14-99A822695BFD}"/>
              </a:ext>
            </a:extLst>
          </p:cNvPr>
          <p:cNvSpPr>
            <a:spLocks noGrp="1"/>
          </p:cNvSpPr>
          <p:nvPr>
            <p:ph idx="1"/>
          </p:nvPr>
        </p:nvSpPr>
        <p:spPr/>
        <p:txBody>
          <a:bodyPr>
            <a:normAutofit fontScale="92500" lnSpcReduction="20000"/>
          </a:bodyPr>
          <a:lstStyle/>
          <a:p>
            <a:r>
              <a:rPr lang="en-US" sz="1400" dirty="0"/>
              <a:t>class </a:t>
            </a:r>
            <a:r>
              <a:rPr lang="en-US" sz="1400" dirty="0" err="1"/>
              <a:t>TerrainTile</a:t>
            </a:r>
            <a:r>
              <a:rPr lang="en-US" sz="1400" dirty="0"/>
              <a:t> {</a:t>
            </a:r>
          </a:p>
          <a:p>
            <a:r>
              <a:rPr lang="en-US" sz="1400" dirty="0"/>
              <a:t>	private int </a:t>
            </a:r>
            <a:r>
              <a:rPr lang="en-US" sz="1400" dirty="0" err="1"/>
              <a:t>xLoc</a:t>
            </a:r>
            <a:r>
              <a:rPr lang="en-US" sz="1400" dirty="0"/>
              <a:t>;</a:t>
            </a:r>
          </a:p>
          <a:p>
            <a:r>
              <a:rPr lang="en-US" sz="1400" dirty="0"/>
              <a:t>	private int </a:t>
            </a:r>
            <a:r>
              <a:rPr lang="en-US" sz="1400" dirty="0" err="1"/>
              <a:t>yLoc</a:t>
            </a:r>
            <a:r>
              <a:rPr lang="en-US" sz="1400" dirty="0"/>
              <a:t>;</a:t>
            </a:r>
          </a:p>
          <a:p>
            <a:r>
              <a:rPr lang="en-US" sz="1400" dirty="0"/>
              <a:t>	private Sprite </a:t>
            </a:r>
            <a:r>
              <a:rPr lang="en-US" sz="1400" dirty="0" err="1"/>
              <a:t>terrainSprite</a:t>
            </a:r>
            <a:r>
              <a:rPr lang="en-US" sz="1400" dirty="0"/>
              <a:t>;</a:t>
            </a:r>
          </a:p>
          <a:p>
            <a:r>
              <a:rPr lang="en-US" sz="1400" dirty="0"/>
              <a:t>	public </a:t>
            </a:r>
            <a:r>
              <a:rPr lang="en-US" sz="1400" dirty="0" err="1"/>
              <a:t>TerrainTile</a:t>
            </a:r>
            <a:r>
              <a:rPr lang="en-US" sz="1400" dirty="0"/>
              <a:t>(String </a:t>
            </a:r>
            <a:r>
              <a:rPr lang="en-US" sz="1400" dirty="0" err="1"/>
              <a:t>spriteLocation</a:t>
            </a:r>
            <a:r>
              <a:rPr lang="en-US" sz="1400" dirty="0"/>
              <a:t>) {</a:t>
            </a:r>
          </a:p>
          <a:p>
            <a:r>
              <a:rPr lang="en-US" sz="1400" dirty="0"/>
              <a:t>		</a:t>
            </a:r>
            <a:r>
              <a:rPr lang="en-US" sz="1400" dirty="0" err="1"/>
              <a:t>this.terrainSprite</a:t>
            </a:r>
            <a:r>
              <a:rPr lang="en-US" sz="1400" dirty="0"/>
              <a:t> = </a:t>
            </a:r>
            <a:r>
              <a:rPr lang="en-US" sz="1400" dirty="0" err="1"/>
              <a:t>Sprite.loadSprite</a:t>
            </a:r>
            <a:r>
              <a:rPr lang="en-US" sz="1400" dirty="0"/>
              <a:t>(</a:t>
            </a:r>
            <a:r>
              <a:rPr lang="en-US" sz="1400" dirty="0" err="1"/>
              <a:t>spriteLocation</a:t>
            </a:r>
            <a:r>
              <a:rPr lang="en-US" sz="1400" dirty="0"/>
              <a:t>);</a:t>
            </a:r>
          </a:p>
          <a:p>
            <a:r>
              <a:rPr lang="en-US" sz="1400" dirty="0"/>
              <a:t>	}</a:t>
            </a:r>
          </a:p>
          <a:p>
            <a:r>
              <a:rPr lang="en-US" sz="1400" dirty="0"/>
              <a:t>}</a:t>
            </a:r>
          </a:p>
          <a:p>
            <a:endParaRPr lang="en-US" sz="1400" dirty="0"/>
          </a:p>
          <a:p>
            <a:r>
              <a:rPr lang="en-US" sz="1400" dirty="0"/>
              <a:t>class </a:t>
            </a:r>
            <a:r>
              <a:rPr lang="en-US" sz="1400" dirty="0" err="1"/>
              <a:t>IndoorTerrainTile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super(“sprites/indoor/”);</a:t>
            </a:r>
          </a:p>
          <a:p>
            <a:r>
              <a:rPr lang="en-US" sz="1400" dirty="0"/>
              <a:t>	}</a:t>
            </a:r>
          </a:p>
          <a:p>
            <a:r>
              <a:rPr lang="en-US" sz="1400" dirty="0"/>
              <a:t>}</a:t>
            </a:r>
          </a:p>
          <a:p>
            <a:endParaRPr lang="en-US" sz="1400" dirty="0"/>
          </a:p>
          <a:p>
            <a:r>
              <a:rPr lang="en-US" sz="1400" dirty="0"/>
              <a:t>class </a:t>
            </a:r>
            <a:r>
              <a:rPr lang="en-US" sz="1400" dirty="0" err="1"/>
              <a:t>OutdoorTerrainTile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super(“sprites/outdoor/”);</a:t>
            </a:r>
          </a:p>
          <a:p>
            <a:r>
              <a:rPr lang="en-US" sz="1400" dirty="0"/>
              <a:t>	}</a:t>
            </a:r>
          </a:p>
          <a:p>
            <a:r>
              <a:rPr lang="en-US" sz="1400" dirty="0"/>
              <a:t>}</a:t>
            </a:r>
            <a:br>
              <a:rPr lang="en-US" sz="1400" dirty="0"/>
            </a:br>
            <a:endParaRPr lang="en-US" sz="1400" dirty="0"/>
          </a:p>
          <a:p>
            <a:r>
              <a:rPr lang="en-US" sz="1400" dirty="0"/>
              <a:t>class Sprite {</a:t>
            </a:r>
          </a:p>
          <a:p>
            <a:r>
              <a:rPr lang="en-US" sz="1400" dirty="0"/>
              <a:t>	private Image </a:t>
            </a:r>
            <a:r>
              <a:rPr lang="en-US" sz="1400" dirty="0" err="1"/>
              <a:t>spriteImage</a:t>
            </a:r>
            <a:r>
              <a:rPr lang="en-US" sz="1400" dirty="0"/>
              <a:t>; // 4 KB</a:t>
            </a:r>
          </a:p>
          <a:p>
            <a:r>
              <a:rPr lang="en-US" sz="1400" dirty="0"/>
              <a:t>	private Image </a:t>
            </a:r>
            <a:r>
              <a:rPr lang="en-US" sz="1400" dirty="0" err="1"/>
              <a:t>closeUpSpriteImage</a:t>
            </a:r>
            <a:r>
              <a:rPr lang="en-US" sz="1400" dirty="0"/>
              <a:t>; // 4 KB</a:t>
            </a:r>
          </a:p>
          <a:p>
            <a:r>
              <a:rPr lang="en-US" sz="1400" dirty="0"/>
              <a:t>	// getters and setters</a:t>
            </a:r>
          </a:p>
          <a:p>
            <a:r>
              <a:rPr lang="en-US" sz="1400" dirty="0"/>
              <a:t>	static Sprite </a:t>
            </a:r>
            <a:r>
              <a:rPr lang="en-US" sz="1400" dirty="0" err="1"/>
              <a:t>loadSprite</a:t>
            </a:r>
            <a:r>
              <a:rPr lang="en-US" sz="1400" dirty="0"/>
              <a:t>(String path) {</a:t>
            </a:r>
          </a:p>
          <a:p>
            <a:r>
              <a:rPr lang="en-US" sz="1400" dirty="0"/>
              <a:t>		// Load both images</a:t>
            </a:r>
          </a:p>
          <a:p>
            <a:r>
              <a:rPr lang="en-US" sz="1400" dirty="0"/>
              <a:t>	}</a:t>
            </a:r>
          </a:p>
          <a:p>
            <a:r>
              <a:rPr lang="en-US" sz="1400" dirty="0"/>
              <a:t>}</a:t>
            </a:r>
          </a:p>
        </p:txBody>
      </p:sp>
      <p:sp>
        <p:nvSpPr>
          <p:cNvPr id="4" name="Title 3">
            <a:extLst>
              <a:ext uri="{FF2B5EF4-FFF2-40B4-BE49-F238E27FC236}">
                <a16:creationId xmlns:a16="http://schemas.microsoft.com/office/drawing/2014/main" id="{98BF1121-1CC2-524E-34D5-CC0DB24652A5}"/>
              </a:ext>
            </a:extLst>
          </p:cNvPr>
          <p:cNvSpPr>
            <a:spLocks noGrp="1"/>
          </p:cNvSpPr>
          <p:nvPr>
            <p:ph type="title"/>
          </p:nvPr>
        </p:nvSpPr>
        <p:spPr/>
        <p:txBody>
          <a:bodyPr/>
          <a:lstStyle/>
          <a:p>
            <a:r>
              <a:rPr lang="en-US" dirty="0"/>
              <a:t>Case study – game system</a:t>
            </a:r>
          </a:p>
        </p:txBody>
      </p:sp>
      <p:sp>
        <p:nvSpPr>
          <p:cNvPr id="7" name="Content Placeholder 6">
            <a:extLst>
              <a:ext uri="{FF2B5EF4-FFF2-40B4-BE49-F238E27FC236}">
                <a16:creationId xmlns:a16="http://schemas.microsoft.com/office/drawing/2014/main" id="{B2B20D66-7323-4B83-B8C4-9FFBB6005C3B}"/>
              </a:ext>
            </a:extLst>
          </p:cNvPr>
          <p:cNvSpPr>
            <a:spLocks noGrp="1"/>
          </p:cNvSpPr>
          <p:nvPr>
            <p:ph idx="13"/>
          </p:nvPr>
        </p:nvSpPr>
        <p:spPr/>
        <p:txBody>
          <a:bodyPr/>
          <a:lstStyle/>
          <a:p>
            <a:r>
              <a:rPr lang="en-US" dirty="0"/>
              <a:t>Two types of terrain tiles</a:t>
            </a:r>
          </a:p>
          <a:p>
            <a:r>
              <a:rPr lang="en-US" dirty="0"/>
              <a:t>Each tile contains a sprite</a:t>
            </a:r>
          </a:p>
          <a:p>
            <a:r>
              <a:rPr lang="en-US" dirty="0"/>
              <a:t>Each sprite consists of two images of 4 KB</a:t>
            </a:r>
          </a:p>
          <a:p>
            <a:r>
              <a:rPr lang="en-US" b="1" i="1" dirty="0"/>
              <a:t>What happens if there are thousands of tiles</a:t>
            </a:r>
          </a:p>
        </p:txBody>
      </p:sp>
      <p:sp>
        <p:nvSpPr>
          <p:cNvPr id="8" name="Rectangle 7">
            <a:extLst>
              <a:ext uri="{FF2B5EF4-FFF2-40B4-BE49-F238E27FC236}">
                <a16:creationId xmlns:a16="http://schemas.microsoft.com/office/drawing/2014/main" id="{7F45FF45-9ED4-D624-DA4F-6CB4A110145F}"/>
              </a:ext>
            </a:extLst>
          </p:cNvPr>
          <p:cNvSpPr/>
          <p:nvPr/>
        </p:nvSpPr>
        <p:spPr>
          <a:xfrm>
            <a:off x="6095999" y="689168"/>
            <a:ext cx="5633413" cy="163200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7589F1E9-9721-BEC5-186B-43FD9144E8E4}"/>
              </a:ext>
            </a:extLst>
          </p:cNvPr>
          <p:cNvSpPr/>
          <p:nvPr/>
        </p:nvSpPr>
        <p:spPr>
          <a:xfrm>
            <a:off x="6095998" y="2321169"/>
            <a:ext cx="5633413" cy="19108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0" name="Rectangle 9">
            <a:extLst>
              <a:ext uri="{FF2B5EF4-FFF2-40B4-BE49-F238E27FC236}">
                <a16:creationId xmlns:a16="http://schemas.microsoft.com/office/drawing/2014/main" id="{C15262CB-5B36-DFE1-DA0E-CA9B1F5C3614}"/>
              </a:ext>
            </a:extLst>
          </p:cNvPr>
          <p:cNvSpPr/>
          <p:nvPr/>
        </p:nvSpPr>
        <p:spPr>
          <a:xfrm>
            <a:off x="6095998" y="4257970"/>
            <a:ext cx="5633413" cy="15102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Rectangle 10">
            <a:extLst>
              <a:ext uri="{FF2B5EF4-FFF2-40B4-BE49-F238E27FC236}">
                <a16:creationId xmlns:a16="http://schemas.microsoft.com/office/drawing/2014/main" id="{A40C42BD-97B0-178A-9259-FD54A7F7BCB9}"/>
              </a:ext>
            </a:extLst>
          </p:cNvPr>
          <p:cNvSpPr/>
          <p:nvPr/>
        </p:nvSpPr>
        <p:spPr>
          <a:xfrm>
            <a:off x="6095998" y="1089804"/>
            <a:ext cx="5633413" cy="54182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513756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10"/>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D9B8E4D-23FA-35A9-4AED-55586DFB27BD}"/>
              </a:ext>
            </a:extLst>
          </p:cNvPr>
          <p:cNvSpPr>
            <a:spLocks noGrp="1"/>
          </p:cNvSpPr>
          <p:nvPr>
            <p:ph idx="1"/>
          </p:nvPr>
        </p:nvSpPr>
        <p:spPr/>
        <p:txBody>
          <a:bodyPr>
            <a:normAutofit fontScale="77500" lnSpcReduction="20000"/>
          </a:bodyPr>
          <a:lstStyle/>
          <a:p>
            <a:r>
              <a:rPr lang="en-US" sz="1600" b="1" i="1" dirty="0"/>
              <a:t>// Without flyweight design pattern -&gt; memory wastage</a:t>
            </a:r>
          </a:p>
          <a:p>
            <a:r>
              <a:rPr lang="en-US" sz="1600" dirty="0"/>
              <a:t>class </a:t>
            </a:r>
            <a:r>
              <a:rPr lang="en-US" sz="1600" dirty="0" err="1"/>
              <a:t>TerrainTile</a:t>
            </a:r>
            <a:r>
              <a:rPr lang="en-US" sz="1600" dirty="0"/>
              <a:t> {</a:t>
            </a:r>
          </a:p>
          <a:p>
            <a:r>
              <a:rPr lang="en-US" sz="1600" dirty="0"/>
              <a:t>	private int </a:t>
            </a:r>
            <a:r>
              <a:rPr lang="en-US" sz="1600" dirty="0" err="1"/>
              <a:t>xLoc</a:t>
            </a:r>
            <a:r>
              <a:rPr lang="en-US" sz="1600" dirty="0"/>
              <a:t>;</a:t>
            </a:r>
          </a:p>
          <a:p>
            <a:r>
              <a:rPr lang="en-US" sz="1600" dirty="0"/>
              <a:t>	private int </a:t>
            </a:r>
            <a:r>
              <a:rPr lang="en-US" sz="1600" dirty="0" err="1"/>
              <a:t>yLoc</a:t>
            </a:r>
            <a:r>
              <a:rPr lang="en-US" sz="1600" dirty="0"/>
              <a:t>;</a:t>
            </a:r>
          </a:p>
          <a:p>
            <a:r>
              <a:rPr lang="en-US" sz="1600" dirty="0"/>
              <a:t>	private Sprite </a:t>
            </a:r>
            <a:r>
              <a:rPr lang="en-US" sz="1600" dirty="0" err="1"/>
              <a:t>terrainSprite</a:t>
            </a:r>
            <a:r>
              <a:rPr lang="en-US" sz="1600" dirty="0"/>
              <a:t>;</a:t>
            </a:r>
          </a:p>
          <a:p>
            <a:r>
              <a:rPr lang="en-US" sz="1600" dirty="0"/>
              <a:t>	public </a:t>
            </a:r>
            <a:r>
              <a:rPr lang="en-US" sz="1600" dirty="0" err="1"/>
              <a:t>TerrainTile</a:t>
            </a:r>
            <a:r>
              <a:rPr lang="en-US" sz="1600" dirty="0"/>
              <a:t>(String </a:t>
            </a:r>
            <a:r>
              <a:rPr lang="en-US" sz="1600" dirty="0" err="1"/>
              <a:t>spriteLocation</a:t>
            </a:r>
            <a:r>
              <a:rPr lang="en-US" sz="1600" dirty="0"/>
              <a:t>) {</a:t>
            </a:r>
          </a:p>
          <a:p>
            <a:r>
              <a:rPr lang="en-US" sz="1600" dirty="0"/>
              <a:t>		</a:t>
            </a:r>
            <a:r>
              <a:rPr lang="en-US" sz="1600" dirty="0" err="1"/>
              <a:t>this.terrainSprite</a:t>
            </a:r>
            <a:r>
              <a:rPr lang="en-US" sz="1600" dirty="0"/>
              <a:t> = </a:t>
            </a:r>
            <a:r>
              <a:rPr lang="en-US" sz="1600" dirty="0" err="1"/>
              <a:t>Sprite.loadSprite</a:t>
            </a:r>
            <a:r>
              <a:rPr lang="en-US" sz="1600" dirty="0"/>
              <a:t>(</a:t>
            </a:r>
            <a:r>
              <a:rPr lang="en-US" sz="1600" dirty="0" err="1"/>
              <a:t>spriteLocation</a:t>
            </a:r>
            <a:r>
              <a:rPr lang="en-US" sz="1600" dirty="0"/>
              <a:t>);</a:t>
            </a:r>
          </a:p>
          <a:p>
            <a:r>
              <a:rPr lang="en-US" sz="1600" dirty="0"/>
              <a:t>	}</a:t>
            </a:r>
          </a:p>
          <a:p>
            <a:r>
              <a:rPr lang="en-US" sz="1600" dirty="0"/>
              <a:t>}</a:t>
            </a:r>
          </a:p>
          <a:p>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endParaRPr lang="en-US" sz="1600" dirty="0"/>
          </a:p>
          <a:p>
            <a:endParaRPr lang="en-US" dirty="0"/>
          </a:p>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a:t>
            </a:r>
            <a:br>
              <a:rPr lang="en-US" dirty="0"/>
            </a:br>
            <a:r>
              <a:rPr lang="en-US" dirty="0"/>
              <a:t>	 if (key == “indoor”) {</a:t>
            </a:r>
          </a:p>
          <a:p>
            <a:r>
              <a:rPr lang="en-US" dirty="0"/>
              <a:t>		</a:t>
            </a:r>
            <a:r>
              <a:rPr lang="en-US" dirty="0" err="1"/>
              <a:t>terrainSprite</a:t>
            </a:r>
            <a:r>
              <a:rPr lang="en-US" dirty="0"/>
              <a:t> = </a:t>
            </a:r>
            <a:r>
              <a:rPr lang="en-US" dirty="0" err="1"/>
              <a:t>Sprite.load</a:t>
            </a:r>
            <a:r>
              <a:rPr lang="en-US" dirty="0"/>
              <a:t>(“sprites/indoor”);</a:t>
            </a:r>
          </a:p>
          <a:p>
            <a:r>
              <a:rPr lang="en-US" dirty="0"/>
              <a:t>	 } else { </a:t>
            </a:r>
            <a:r>
              <a:rPr lang="en-US" dirty="0" err="1"/>
              <a:t>terrainSprite</a:t>
            </a:r>
            <a:r>
              <a:rPr lang="en-US" dirty="0"/>
              <a:t> = </a:t>
            </a:r>
            <a:r>
              <a:rPr lang="en-US" dirty="0" err="1"/>
              <a:t>Sprite.load</a:t>
            </a:r>
            <a:r>
              <a:rPr lang="en-US" dirty="0"/>
              <a:t>(“sprites/outdoor”);</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p:txBody>
      </p:sp>
      <p:sp>
        <p:nvSpPr>
          <p:cNvPr id="3" name="Title 2">
            <a:extLst>
              <a:ext uri="{FF2B5EF4-FFF2-40B4-BE49-F238E27FC236}">
                <a16:creationId xmlns:a16="http://schemas.microsoft.com/office/drawing/2014/main" id="{BC24FFA3-DEDB-F272-4847-24BE40015085}"/>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3D5EB2D2-3C93-B411-F678-9B9A949BC1E7}"/>
              </a:ext>
            </a:extLst>
          </p:cNvPr>
          <p:cNvSpPr>
            <a:spLocks noGrp="1"/>
          </p:cNvSpPr>
          <p:nvPr>
            <p:ph idx="13"/>
          </p:nvPr>
        </p:nvSpPr>
        <p:spPr/>
        <p:txBody>
          <a:bodyPr>
            <a:normAutofit lnSpcReduction="10000"/>
          </a:bodyPr>
          <a:lstStyle/>
          <a:p>
            <a:r>
              <a:rPr lang="en-US" dirty="0"/>
              <a:t>Aims to reduce memory consumption</a:t>
            </a:r>
          </a:p>
          <a:p>
            <a:r>
              <a:rPr lang="en-US" dirty="0"/>
              <a:t>Separate </a:t>
            </a:r>
            <a:r>
              <a:rPr lang="en-US" b="1" i="1" dirty="0"/>
              <a:t>shared </a:t>
            </a:r>
            <a:r>
              <a:rPr lang="en-US" dirty="0"/>
              <a:t>and </a:t>
            </a:r>
            <a:r>
              <a:rPr lang="en-US" b="1" i="1" dirty="0"/>
              <a:t>unique </a:t>
            </a:r>
            <a:r>
              <a:rPr lang="en-US" dirty="0"/>
              <a:t>state</a:t>
            </a:r>
          </a:p>
          <a:p>
            <a:r>
              <a:rPr lang="en-US" dirty="0"/>
              <a:t>Shared state goes into a Flyweight object and is shared by all objects of the same type</a:t>
            </a:r>
          </a:p>
          <a:p>
            <a:pPr lvl="1"/>
            <a:r>
              <a:rPr lang="en-US" dirty="0"/>
              <a:t>Constructor that creates the terrain sprites from the images</a:t>
            </a:r>
          </a:p>
        </p:txBody>
      </p:sp>
      <p:sp>
        <p:nvSpPr>
          <p:cNvPr id="5" name="Rectangle 4">
            <a:extLst>
              <a:ext uri="{FF2B5EF4-FFF2-40B4-BE49-F238E27FC236}">
                <a16:creationId xmlns:a16="http://schemas.microsoft.com/office/drawing/2014/main" id="{9149179F-EA94-9EC9-1C2D-9F1F73BA58A7}"/>
              </a:ext>
            </a:extLst>
          </p:cNvPr>
          <p:cNvSpPr/>
          <p:nvPr/>
        </p:nvSpPr>
        <p:spPr>
          <a:xfrm>
            <a:off x="6015487" y="2942492"/>
            <a:ext cx="5633413" cy="12598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13001CA0-7278-D54C-F80F-415448A5A4CA}"/>
              </a:ext>
            </a:extLst>
          </p:cNvPr>
          <p:cNvSpPr/>
          <p:nvPr/>
        </p:nvSpPr>
        <p:spPr>
          <a:xfrm>
            <a:off x="6015487" y="4202361"/>
            <a:ext cx="5633413" cy="161527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grpSp>
        <p:nvGrpSpPr>
          <p:cNvPr id="9" name="Group 8">
            <a:extLst>
              <a:ext uri="{FF2B5EF4-FFF2-40B4-BE49-F238E27FC236}">
                <a16:creationId xmlns:a16="http://schemas.microsoft.com/office/drawing/2014/main" id="{D09BDC5C-D55C-0FDE-3890-073276BE45C0}"/>
              </a:ext>
            </a:extLst>
          </p:cNvPr>
          <p:cNvGrpSpPr/>
          <p:nvPr/>
        </p:nvGrpSpPr>
        <p:grpSpPr>
          <a:xfrm>
            <a:off x="6188534" y="969301"/>
            <a:ext cx="5674613" cy="679744"/>
            <a:chOff x="6176512" y="1055272"/>
            <a:chExt cx="5674613" cy="679744"/>
          </a:xfrm>
        </p:grpSpPr>
        <p:sp>
          <p:nvSpPr>
            <p:cNvPr id="7" name="Rectangle 6">
              <a:extLst>
                <a:ext uri="{FF2B5EF4-FFF2-40B4-BE49-F238E27FC236}">
                  <a16:creationId xmlns:a16="http://schemas.microsoft.com/office/drawing/2014/main" id="{CD1DD0FD-4AD9-635E-0334-2DA766572D80}"/>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TextBox 7">
              <a:extLst>
                <a:ext uri="{FF2B5EF4-FFF2-40B4-BE49-F238E27FC236}">
                  <a16:creationId xmlns:a16="http://schemas.microsoft.com/office/drawing/2014/main" id="{871CC412-2E5C-E286-C9F7-184603BA6230}"/>
                </a:ext>
              </a:extLst>
            </p:cNvPr>
            <p:cNvSpPr txBox="1"/>
            <p:nvPr/>
          </p:nvSpPr>
          <p:spPr>
            <a:xfrm>
              <a:off x="10070125" y="1055272"/>
              <a:ext cx="1781000" cy="461665"/>
            </a:xfrm>
            <a:prstGeom prst="rect">
              <a:avLst/>
            </a:prstGeom>
            <a:noFill/>
          </p:spPr>
          <p:txBody>
            <a:bodyPr wrap="none" rtlCol="0">
              <a:spAutoFit/>
            </a:bodyPr>
            <a:lstStyle/>
            <a:p>
              <a:r>
                <a:rPr lang="en-US" sz="2400" b="1" i="1" dirty="0"/>
                <a:t>Shared state</a:t>
              </a:r>
            </a:p>
          </p:txBody>
        </p:sp>
      </p:grpSp>
      <p:grpSp>
        <p:nvGrpSpPr>
          <p:cNvPr id="10" name="Group 9">
            <a:extLst>
              <a:ext uri="{FF2B5EF4-FFF2-40B4-BE49-F238E27FC236}">
                <a16:creationId xmlns:a16="http://schemas.microsoft.com/office/drawing/2014/main" id="{4EA65A2A-1C4D-B6B8-CB0B-3721ECB4FFC9}"/>
              </a:ext>
            </a:extLst>
          </p:cNvPr>
          <p:cNvGrpSpPr/>
          <p:nvPr/>
        </p:nvGrpSpPr>
        <p:grpSpPr>
          <a:xfrm>
            <a:off x="6209134" y="476203"/>
            <a:ext cx="5761816" cy="1019795"/>
            <a:chOff x="6209134" y="951850"/>
            <a:chExt cx="5761816" cy="708029"/>
          </a:xfrm>
        </p:grpSpPr>
        <p:sp>
          <p:nvSpPr>
            <p:cNvPr id="11" name="Rectangle 10">
              <a:extLst>
                <a:ext uri="{FF2B5EF4-FFF2-40B4-BE49-F238E27FC236}">
                  <a16:creationId xmlns:a16="http://schemas.microsoft.com/office/drawing/2014/main" id="{31F3A1E3-22AA-94A9-C7EA-6F5C024EAE9E}"/>
                </a:ext>
              </a:extLst>
            </p:cNvPr>
            <p:cNvSpPr/>
            <p:nvPr/>
          </p:nvSpPr>
          <p:spPr>
            <a:xfrm>
              <a:off x="6209134" y="1355803"/>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2" name="TextBox 11">
              <a:extLst>
                <a:ext uri="{FF2B5EF4-FFF2-40B4-BE49-F238E27FC236}">
                  <a16:creationId xmlns:a16="http://schemas.microsoft.com/office/drawing/2014/main" id="{49F3E7C7-D762-3721-0AA4-F6ECB8B131F9}"/>
                </a:ext>
              </a:extLst>
            </p:cNvPr>
            <p:cNvSpPr txBox="1"/>
            <p:nvPr/>
          </p:nvSpPr>
          <p:spPr>
            <a:xfrm>
              <a:off x="10165904" y="951850"/>
              <a:ext cx="1805046" cy="461665"/>
            </a:xfrm>
            <a:prstGeom prst="rect">
              <a:avLst/>
            </a:prstGeom>
            <a:noFill/>
          </p:spPr>
          <p:txBody>
            <a:bodyPr wrap="none" rtlCol="0">
              <a:spAutoFit/>
            </a:bodyPr>
            <a:lstStyle/>
            <a:p>
              <a:r>
                <a:rPr lang="en-US" sz="2400" b="1" i="1" dirty="0"/>
                <a:t>Unique state</a:t>
              </a:r>
            </a:p>
          </p:txBody>
        </p:sp>
      </p:grpSp>
    </p:spTree>
    <p:extLst>
      <p:ext uri="{BB962C8B-B14F-4D97-AF65-F5344CB8AC3E}">
        <p14:creationId xmlns:p14="http://schemas.microsoft.com/office/powerpoint/2010/main" val="3213263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0"/>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2" end="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3" end="1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
                                            <p:txEl>
                                              <p:pRg st="14" end="14"/>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
                                            <p:txEl>
                                              <p:pRg st="15" end="1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
                                            <p:txEl>
                                              <p:pRg st="16" end="1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
                                            <p:txEl>
                                              <p:pRg st="17" end="17"/>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xEl>
                                              <p:pRg st="18" end="18"/>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
                                            <p:txEl>
                                              <p:pRg st="19" end="19"/>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
                                            <p:txEl>
                                              <p:pRg st="20" end="20"/>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
                                            <p:txEl>
                                              <p:pRg st="22" end="22"/>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
                                            <p:txEl>
                                              <p:pRg st="23" end="23"/>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
                                            <p:txEl>
                                              <p:pRg st="24" end="24"/>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
                                            <p:txEl>
                                              <p:pRg st="25" end="25"/>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
                                            <p:txEl>
                                              <p:pRg st="26" end="26"/>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5"/>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5"/>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1" nodeType="clickEffect">
                                  <p:stCondLst>
                                    <p:cond delay="0"/>
                                  </p:stCondLst>
                                  <p:childTnLst>
                                    <p:set>
                                      <p:cBhvr>
                                        <p:cTn id="7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B7266-9BF3-4ACC-DC84-52D9F70AF8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D0B07C2-968C-CD39-9215-099D3A6D9A74}"/>
              </a:ext>
            </a:extLst>
          </p:cNvPr>
          <p:cNvSpPr>
            <a:spLocks noGrp="1"/>
          </p:cNvSpPr>
          <p:nvPr>
            <p:ph idx="1"/>
          </p:nvPr>
        </p:nvSpPr>
        <p:spPr/>
        <p:txBody>
          <a:bodyPr>
            <a:normAutofit fontScale="92500" lnSpcReduction="20000"/>
          </a:bodyPr>
          <a:lstStyle/>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3" name="Title 2">
            <a:extLst>
              <a:ext uri="{FF2B5EF4-FFF2-40B4-BE49-F238E27FC236}">
                <a16:creationId xmlns:a16="http://schemas.microsoft.com/office/drawing/2014/main" id="{AE2F1DB4-4783-9391-71A4-10C02242827C}"/>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CAE14E91-063B-D823-2F07-45C33124F52C}"/>
              </a:ext>
            </a:extLst>
          </p:cNvPr>
          <p:cNvSpPr>
            <a:spLocks noGrp="1"/>
          </p:cNvSpPr>
          <p:nvPr>
            <p:ph idx="13"/>
          </p:nvPr>
        </p:nvSpPr>
        <p:spPr/>
        <p:txBody>
          <a:bodyPr/>
          <a:lstStyle/>
          <a:p>
            <a:r>
              <a:rPr lang="en-US" dirty="0"/>
              <a:t>How does the original object access the shared state?</a:t>
            </a:r>
          </a:p>
          <a:p>
            <a:r>
              <a:rPr lang="en-US" dirty="0" err="1">
                <a:latin typeface="Consolas" panose="020B0609020204030204" pitchFamily="49" charset="0"/>
              </a:rPr>
              <a:t>FlyweightFactory</a:t>
            </a:r>
            <a:r>
              <a:rPr lang="en-US" dirty="0"/>
              <a:t> class creates flyweight objects only if it already isn’t created</a:t>
            </a:r>
          </a:p>
          <a:p>
            <a:r>
              <a:rPr lang="en-US" dirty="0"/>
              <a:t>Maintains a map of terrain type vs. flyweight object</a:t>
            </a:r>
          </a:p>
        </p:txBody>
      </p:sp>
      <p:sp>
        <p:nvSpPr>
          <p:cNvPr id="5" name="Rectangle 4">
            <a:extLst>
              <a:ext uri="{FF2B5EF4-FFF2-40B4-BE49-F238E27FC236}">
                <a16:creationId xmlns:a16="http://schemas.microsoft.com/office/drawing/2014/main" id="{53F1842F-46BB-8E36-C79D-FB8B5F2D0A66}"/>
              </a:ext>
            </a:extLst>
          </p:cNvPr>
          <p:cNvSpPr/>
          <p:nvPr/>
        </p:nvSpPr>
        <p:spPr>
          <a:xfrm>
            <a:off x="6176511" y="3552092"/>
            <a:ext cx="5633413" cy="51581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2120DB85-6D52-B31F-B852-346A3E874BD7}"/>
              </a:ext>
            </a:extLst>
          </p:cNvPr>
          <p:cNvSpPr/>
          <p:nvPr/>
        </p:nvSpPr>
        <p:spPr>
          <a:xfrm>
            <a:off x="6176510" y="4103076"/>
            <a:ext cx="5633413" cy="12778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353328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897FDB-BD36-EA2A-C2F7-294E1ECB31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5643E3-B07D-DC0A-75AD-9CBD3F5BE0BB}"/>
              </a:ext>
            </a:extLst>
          </p:cNvPr>
          <p:cNvSpPr>
            <a:spLocks noGrp="1"/>
          </p:cNvSpPr>
          <p:nvPr>
            <p:ph idx="1"/>
          </p:nvPr>
        </p:nvSpPr>
        <p:spPr/>
        <p:txBody>
          <a:bodyPr>
            <a:normAutofit/>
          </a:bodyPr>
          <a:lstStyle/>
          <a:p>
            <a:r>
              <a:rPr lang="en-US" dirty="0"/>
              <a:t>int main(void) {</a:t>
            </a:r>
          </a:p>
          <a:p>
            <a:r>
              <a:rPr lang="en-US" dirty="0"/>
              <a:t>	// Place an indoor tile</a:t>
            </a:r>
          </a:p>
          <a:p>
            <a:r>
              <a:rPr lang="en-US" dirty="0"/>
              <a:t>	</a:t>
            </a:r>
            <a:r>
              <a:rPr lang="en-US" dirty="0" err="1"/>
              <a:t>IndoorTerrainTile</a:t>
            </a:r>
            <a:r>
              <a:rPr lang="en-US" dirty="0"/>
              <a:t> </a:t>
            </a:r>
            <a:r>
              <a:rPr lang="en-US" dirty="0" err="1"/>
              <a:t>indoorTile</a:t>
            </a:r>
            <a:r>
              <a:rPr lang="en-US" dirty="0"/>
              <a:t> = new </a:t>
            </a:r>
            <a:r>
              <a:rPr lang="en-US" dirty="0" err="1"/>
              <a:t>IndoorTerrainTile</a:t>
            </a:r>
            <a:r>
              <a:rPr lang="en-US" dirty="0"/>
              <a:t>();</a:t>
            </a:r>
          </a:p>
          <a:p>
            <a:r>
              <a:rPr lang="en-US" dirty="0"/>
              <a:t>	</a:t>
            </a:r>
            <a:r>
              <a:rPr lang="en-US" dirty="0" err="1"/>
              <a:t>indoorTile.setX</a:t>
            </a:r>
            <a:r>
              <a:rPr lang="en-US" dirty="0"/>
              <a:t>(10);</a:t>
            </a:r>
          </a:p>
          <a:p>
            <a:r>
              <a:rPr lang="en-US" dirty="0"/>
              <a:t>	</a:t>
            </a:r>
            <a:r>
              <a:rPr lang="en-US" dirty="0" err="1"/>
              <a:t>indoorTile.setY</a:t>
            </a:r>
            <a:r>
              <a:rPr lang="en-US" dirty="0"/>
              <a:t>(10);</a:t>
            </a:r>
          </a:p>
          <a:p>
            <a:r>
              <a:rPr lang="en-US" dirty="0"/>
              <a:t>	</a:t>
            </a:r>
          </a:p>
          <a:p>
            <a:r>
              <a:rPr lang="en-US" dirty="0"/>
              <a:t>	Flyweight </a:t>
            </a:r>
            <a:r>
              <a:rPr lang="en-US" dirty="0" err="1"/>
              <a:t>indoorTileIcon</a:t>
            </a:r>
            <a:r>
              <a:rPr lang="en-US" dirty="0"/>
              <a:t> = </a:t>
            </a:r>
            <a:r>
              <a:rPr lang="en-US" dirty="0" err="1"/>
              <a:t>FlyweightFactory.getFlyweight</a:t>
            </a:r>
            <a:r>
              <a:rPr lang="en-US" dirty="0"/>
              <a:t>(“indoor”);</a:t>
            </a:r>
          </a:p>
          <a:p>
            <a:r>
              <a:rPr lang="en-US" dirty="0"/>
              <a:t>	</a:t>
            </a:r>
          </a:p>
          <a:p>
            <a:r>
              <a:rPr lang="en-US" dirty="0"/>
              <a:t>	render(</a:t>
            </a:r>
            <a:r>
              <a:rPr lang="en-US" dirty="0" err="1"/>
              <a:t>indoorTile</a:t>
            </a:r>
            <a:r>
              <a:rPr lang="en-US" dirty="0"/>
              <a:t>, </a:t>
            </a:r>
            <a:r>
              <a:rPr lang="en-US" dirty="0" err="1"/>
              <a:t>indoorTileIcon</a:t>
            </a:r>
            <a:r>
              <a:rPr lang="en-US" dirty="0"/>
              <a:t>);</a:t>
            </a:r>
          </a:p>
          <a:p>
            <a:endParaRPr lang="en-US" dirty="0"/>
          </a:p>
          <a:p>
            <a:r>
              <a:rPr lang="en-US" dirty="0"/>
              <a:t>	// Place outdoor tile</a:t>
            </a:r>
          </a:p>
          <a:p>
            <a:r>
              <a:rPr lang="en-US" dirty="0"/>
              <a:t>	</a:t>
            </a:r>
            <a:r>
              <a:rPr lang="en-US" dirty="0" err="1"/>
              <a:t>OutdoorTerrainTile</a:t>
            </a:r>
            <a:r>
              <a:rPr lang="en-US" dirty="0"/>
              <a:t> </a:t>
            </a:r>
            <a:r>
              <a:rPr lang="en-US" dirty="0" err="1"/>
              <a:t>outdoorTile</a:t>
            </a:r>
            <a:r>
              <a:rPr lang="en-US" dirty="0"/>
              <a:t> = new </a:t>
            </a:r>
            <a:r>
              <a:rPr lang="en-US" dirty="0" err="1"/>
              <a:t>OutdoorTerrainTile</a:t>
            </a:r>
            <a:r>
              <a:rPr lang="en-US" dirty="0"/>
              <a:t>();</a:t>
            </a:r>
          </a:p>
          <a:p>
            <a:r>
              <a:rPr lang="en-US" dirty="0"/>
              <a:t>	// set X and Y</a:t>
            </a:r>
          </a:p>
          <a:p>
            <a:r>
              <a:rPr lang="en-US" dirty="0"/>
              <a:t>	Flyweight </a:t>
            </a:r>
            <a:r>
              <a:rPr lang="en-US" dirty="0" err="1"/>
              <a:t>outdoorTileIcon</a:t>
            </a:r>
            <a:r>
              <a:rPr lang="en-US" dirty="0"/>
              <a:t> = </a:t>
            </a:r>
            <a:r>
              <a:rPr lang="en-US" dirty="0" err="1"/>
              <a:t>FlyweightFactory.getFlyweight</a:t>
            </a:r>
            <a:r>
              <a:rPr lang="en-US" dirty="0"/>
              <a:t>(“outdoor”);</a:t>
            </a:r>
          </a:p>
          <a:p>
            <a:r>
              <a:rPr lang="en-US" dirty="0"/>
              <a:t>	render(</a:t>
            </a:r>
            <a:r>
              <a:rPr lang="en-US" dirty="0" err="1"/>
              <a:t>outdoorTile</a:t>
            </a:r>
            <a:r>
              <a:rPr lang="en-US" dirty="0"/>
              <a:t>, </a:t>
            </a:r>
            <a:r>
              <a:rPr lang="en-US" dirty="0" err="1"/>
              <a:t>outdoorTileIcon</a:t>
            </a:r>
            <a:r>
              <a:rPr lang="en-US" dirty="0"/>
              <a:t>);</a:t>
            </a:r>
          </a:p>
          <a:p>
            <a:r>
              <a:rPr lang="en-US" dirty="0"/>
              <a:t>}</a:t>
            </a:r>
          </a:p>
        </p:txBody>
      </p:sp>
      <p:sp>
        <p:nvSpPr>
          <p:cNvPr id="3" name="Title 2">
            <a:extLst>
              <a:ext uri="{FF2B5EF4-FFF2-40B4-BE49-F238E27FC236}">
                <a16:creationId xmlns:a16="http://schemas.microsoft.com/office/drawing/2014/main" id="{B0659663-C8D9-76B4-33C6-99AE051FB388}"/>
              </a:ext>
            </a:extLst>
          </p:cNvPr>
          <p:cNvSpPr>
            <a:spLocks noGrp="1"/>
          </p:cNvSpPr>
          <p:nvPr>
            <p:ph type="title"/>
          </p:nvPr>
        </p:nvSpPr>
        <p:spPr/>
        <p:txBody>
          <a:bodyPr/>
          <a:lstStyle/>
          <a:p>
            <a:r>
              <a:rPr lang="en-US" dirty="0"/>
              <a:t>Putting it all together</a:t>
            </a:r>
          </a:p>
        </p:txBody>
      </p:sp>
      <p:sp>
        <p:nvSpPr>
          <p:cNvPr id="7" name="Content Placeholder 1">
            <a:extLst>
              <a:ext uri="{FF2B5EF4-FFF2-40B4-BE49-F238E27FC236}">
                <a16:creationId xmlns:a16="http://schemas.microsoft.com/office/drawing/2014/main" id="{678F99A1-7B29-820E-866F-CCFA2C3D4978}"/>
              </a:ext>
            </a:extLst>
          </p:cNvPr>
          <p:cNvSpPr txBox="1">
            <a:spLocks/>
          </p:cNvSpPr>
          <p:nvPr/>
        </p:nvSpPr>
        <p:spPr bwMode="auto">
          <a:xfrm>
            <a:off x="382075" y="785004"/>
            <a:ext cx="5633413" cy="5046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fontScale="92500" lnSpcReduction="20000"/>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8" name="Rectangle 7">
            <a:extLst>
              <a:ext uri="{FF2B5EF4-FFF2-40B4-BE49-F238E27FC236}">
                <a16:creationId xmlns:a16="http://schemas.microsoft.com/office/drawing/2014/main" id="{9E3894DA-F926-4D04-51A8-9846F07A3C8F}"/>
              </a:ext>
            </a:extLst>
          </p:cNvPr>
          <p:cNvSpPr/>
          <p:nvPr/>
        </p:nvSpPr>
        <p:spPr>
          <a:xfrm>
            <a:off x="6096000" y="125436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35D44A16-3A92-6279-AC28-4878F2F0ADC9}"/>
              </a:ext>
            </a:extLst>
          </p:cNvPr>
          <p:cNvSpPr/>
          <p:nvPr/>
        </p:nvSpPr>
        <p:spPr>
          <a:xfrm>
            <a:off x="6096000" y="356635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15536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07C1026-EBE1-6030-41A8-6F591A484399}"/>
              </a:ext>
            </a:extLst>
          </p:cNvPr>
          <p:cNvSpPr>
            <a:spLocks noGrp="1"/>
          </p:cNvSpPr>
          <p:nvPr>
            <p:ph idx="1"/>
          </p:nvPr>
        </p:nvSpPr>
        <p:spPr/>
        <p:txBody>
          <a:bodyPr/>
          <a:lstStyle/>
          <a:p>
            <a:r>
              <a:rPr lang="en-US" dirty="0"/>
              <a:t>Prevent duplication of state</a:t>
            </a:r>
          </a:p>
          <a:p>
            <a:r>
              <a:rPr lang="en-US" dirty="0"/>
              <a:t>Shared state </a:t>
            </a:r>
            <a:r>
              <a:rPr lang="en-US" b="1" i="1" dirty="0"/>
              <a:t>must </a:t>
            </a:r>
            <a:r>
              <a:rPr lang="en-US" dirty="0"/>
              <a:t>be immutable</a:t>
            </a:r>
          </a:p>
          <a:p>
            <a:r>
              <a:rPr lang="en-US" dirty="0"/>
              <a:t>May introduce runtime costs from indirection</a:t>
            </a:r>
          </a:p>
        </p:txBody>
      </p:sp>
      <p:sp>
        <p:nvSpPr>
          <p:cNvPr id="5" name="Title 4">
            <a:extLst>
              <a:ext uri="{FF2B5EF4-FFF2-40B4-BE49-F238E27FC236}">
                <a16:creationId xmlns:a16="http://schemas.microsoft.com/office/drawing/2014/main" id="{CD48D845-54E3-1EEA-43ED-9FB3AEBFFCB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203894077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0E132-E183-4AB1-3851-8B1C35E2975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D87160A-AB66-9D2F-7B9B-47D908FB5DB7}"/>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FCC28DC0-B66C-4BFC-19E2-FA826BF3F934}"/>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69B69905-0BA9-C9BB-395C-E3C9D78CA726}"/>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 Flyweight</a:t>
            </a:r>
          </a:p>
          <a:p>
            <a:pPr lvl="1"/>
            <a:endParaRPr lang="en-US" dirty="0"/>
          </a:p>
        </p:txBody>
      </p:sp>
      <p:sp>
        <p:nvSpPr>
          <p:cNvPr id="6" name="Content Placeholder 4">
            <a:extLst>
              <a:ext uri="{FF2B5EF4-FFF2-40B4-BE49-F238E27FC236}">
                <a16:creationId xmlns:a16="http://schemas.microsoft.com/office/drawing/2014/main" id="{7D7EAD14-EFBA-9791-C658-3DFA7924114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8A416977-C904-048B-7C50-996F3A318ED6}"/>
              </a:ext>
            </a:extLst>
          </p:cNvPr>
          <p:cNvSpPr/>
          <p:nvPr/>
        </p:nvSpPr>
        <p:spPr>
          <a:xfrm>
            <a:off x="8106332" y="696277"/>
            <a:ext cx="3980160"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19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C239C65-2941-B8D2-BD48-877222838574}"/>
              </a:ext>
            </a:extLst>
          </p:cNvPr>
          <p:cNvSpPr>
            <a:spLocks noGrp="1"/>
          </p:cNvSpPr>
          <p:nvPr>
            <p:ph idx="1"/>
          </p:nvPr>
        </p:nvSpPr>
        <p:spPr/>
        <p:txBody>
          <a:bodyPr/>
          <a:lstStyle/>
          <a:p>
            <a:r>
              <a:rPr lang="en-US" dirty="0"/>
              <a:t>Concerned with algorithms and the assignment of responsibilities between objects</a:t>
            </a:r>
          </a:p>
          <a:p>
            <a:r>
              <a:rPr lang="en-US" dirty="0"/>
              <a:t>Behavioral class patterns use inheritance to distribute behavior between classes</a:t>
            </a:r>
          </a:p>
          <a:p>
            <a:r>
              <a:rPr lang="en-US" dirty="0"/>
              <a:t>Behavioral object patterns use object composition </a:t>
            </a:r>
          </a:p>
          <a:p>
            <a:endParaRPr lang="en-US" dirty="0"/>
          </a:p>
          <a:p>
            <a:endParaRPr lang="en-US" dirty="0"/>
          </a:p>
        </p:txBody>
      </p:sp>
      <p:sp>
        <p:nvSpPr>
          <p:cNvPr id="4" name="Title 3">
            <a:extLst>
              <a:ext uri="{FF2B5EF4-FFF2-40B4-BE49-F238E27FC236}">
                <a16:creationId xmlns:a16="http://schemas.microsoft.com/office/drawing/2014/main" id="{41A89E7B-F8FC-0326-3DAE-8BB419BCE39E}"/>
              </a:ext>
            </a:extLst>
          </p:cNvPr>
          <p:cNvSpPr>
            <a:spLocks noGrp="1"/>
          </p:cNvSpPr>
          <p:nvPr>
            <p:ph type="title"/>
          </p:nvPr>
        </p:nvSpPr>
        <p:spPr/>
        <p:txBody>
          <a:bodyPr/>
          <a:lstStyle/>
          <a:p>
            <a:r>
              <a:rPr lang="en-US" dirty="0"/>
              <a:t>Behavioral pattern</a:t>
            </a:r>
          </a:p>
        </p:txBody>
      </p:sp>
    </p:spTree>
    <p:extLst>
      <p:ext uri="{BB962C8B-B14F-4D97-AF65-F5344CB8AC3E}">
        <p14:creationId xmlns:p14="http://schemas.microsoft.com/office/powerpoint/2010/main" val="189439002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5744A-16D5-5A3A-736B-7006174353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926B48-BFCD-68B2-9524-63434C84F53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328BAB0-E2CD-3F35-E7D7-CA9D40CC15FD}"/>
              </a:ext>
            </a:extLst>
          </p:cNvPr>
          <p:cNvSpPr>
            <a:spLocks noGrp="1"/>
          </p:cNvSpPr>
          <p:nvPr>
            <p:ph type="body" sz="quarter" idx="13"/>
          </p:nvPr>
        </p:nvSpPr>
        <p:spPr/>
        <p:txBody>
          <a:bodyPr/>
          <a:lstStyle/>
          <a:p>
            <a:r>
              <a:rPr lang="en-US" sz="3200" dirty="0"/>
              <a:t>Observer design pattern</a:t>
            </a:r>
          </a:p>
        </p:txBody>
      </p:sp>
    </p:spTree>
    <p:extLst>
      <p:ext uri="{BB962C8B-B14F-4D97-AF65-F5344CB8AC3E}">
        <p14:creationId xmlns:p14="http://schemas.microsoft.com/office/powerpoint/2010/main" val="91947710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57FEA-B21C-DFBC-6E64-80C5FB76222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7FB3C7-B75B-1478-C6C4-7B34DB1D70BB}"/>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B2C326E5-BBB5-8E40-4437-C3A9851EFC94}"/>
              </a:ext>
            </a:extLst>
          </p:cNvPr>
          <p:cNvSpPr>
            <a:spLocks noGrp="1"/>
          </p:cNvSpPr>
          <p:nvPr>
            <p:ph type="title"/>
          </p:nvPr>
        </p:nvSpPr>
        <p:spPr/>
        <p:txBody>
          <a:bodyPr/>
          <a:lstStyle/>
          <a:p>
            <a:r>
              <a:rPr lang="en-US" dirty="0"/>
              <a:t>Case study - Graphical views for application data</a:t>
            </a:r>
          </a:p>
        </p:txBody>
      </p:sp>
      <p:sp>
        <p:nvSpPr>
          <p:cNvPr id="2" name="Oval 1">
            <a:extLst>
              <a:ext uri="{FF2B5EF4-FFF2-40B4-BE49-F238E27FC236}">
                <a16:creationId xmlns:a16="http://schemas.microsoft.com/office/drawing/2014/main" id="{FD6D1900-4D67-C9CE-EB13-644F4556880E}"/>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EA390D8-461E-DB31-944F-6344011CF78E}"/>
              </a:ext>
            </a:extLst>
          </p:cNvPr>
          <p:cNvGraphicFramePr/>
          <p:nvPr>
            <p:extLst>
              <p:ext uri="{D42A27DB-BD31-4B8C-83A1-F6EECF244321}">
                <p14:modId xmlns:p14="http://schemas.microsoft.com/office/powerpoint/2010/main" val="2448319009"/>
              </p:ext>
            </p:extLst>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A0B3C4E-AD96-7DE5-03B6-456F7BA7072F}"/>
              </a:ext>
            </a:extLst>
          </p:cNvPr>
          <p:cNvGraphicFramePr/>
          <p:nvPr>
            <p:extLst>
              <p:ext uri="{D42A27DB-BD31-4B8C-83A1-F6EECF244321}">
                <p14:modId xmlns:p14="http://schemas.microsoft.com/office/powerpoint/2010/main" val="3638613115"/>
              </p:ext>
            </p:extLst>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EC4CA9A3-C510-013D-B4EB-B1A5C28F6CEB}"/>
                  </a:ext>
                </a:extLst>
              </p:cNvPr>
              <p:cNvGraphicFramePr/>
              <p:nvPr>
                <p:extLst>
                  <p:ext uri="{D42A27DB-BD31-4B8C-83A1-F6EECF244321}">
                    <p14:modId xmlns:p14="http://schemas.microsoft.com/office/powerpoint/2010/main" val="645109336"/>
                  </p:ext>
                </p:extLst>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EBFFF775-B81D-D332-1656-C6DA5740C622}"/>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744B8FC-1A0A-24A2-5672-35CFC1E556E3}"/>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DD1837B-90E0-5932-E7DD-CFA82664A721}"/>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2A80CF4-2D8C-C913-E3D2-68270DDC91F9}"/>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73B5957-C764-3D1D-745C-56FB48CAD2C6}"/>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FA4469B-5C1E-400A-9C66-9B070E0179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F38C0D48-1758-C56B-A02F-C6FCADEEEA34}"/>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1EE4A2E-E251-892E-CD0D-DDD2F2B0DCB4}"/>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C3A8B1BD-1757-7B12-9E3A-02FFDA8F7854}"/>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6F9D7E48-5F89-FC91-D3B4-4B59D9E7EA67}"/>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TextBox 2">
            <a:extLst>
              <a:ext uri="{FF2B5EF4-FFF2-40B4-BE49-F238E27FC236}">
                <a16:creationId xmlns:a16="http://schemas.microsoft.com/office/drawing/2014/main" id="{53D0823E-ACD0-B5DE-883A-F7793E24FFD3}"/>
              </a:ext>
            </a:extLst>
          </p:cNvPr>
          <p:cNvSpPr txBox="1"/>
          <p:nvPr/>
        </p:nvSpPr>
        <p:spPr>
          <a:xfrm>
            <a:off x="54685" y="4805131"/>
            <a:ext cx="4876784" cy="830997"/>
          </a:xfrm>
          <a:prstGeom prst="rect">
            <a:avLst/>
          </a:prstGeom>
          <a:noFill/>
        </p:spPr>
        <p:txBody>
          <a:bodyPr wrap="none" rtlCol="0">
            <a:spAutoFit/>
          </a:bodyPr>
          <a:lstStyle/>
          <a:p>
            <a:r>
              <a:rPr lang="en-US" sz="2400" b="1" i="1" dirty="0"/>
              <a:t>Every time the data in the model </a:t>
            </a:r>
          </a:p>
          <a:p>
            <a:r>
              <a:rPr lang="en-US" sz="2400" b="1" i="1" dirty="0"/>
              <a:t>changes, the charts must be updated</a:t>
            </a:r>
          </a:p>
        </p:txBody>
      </p:sp>
      <p:sp>
        <p:nvSpPr>
          <p:cNvPr id="6" name="TextBox 5">
            <a:extLst>
              <a:ext uri="{FF2B5EF4-FFF2-40B4-BE49-F238E27FC236}">
                <a16:creationId xmlns:a16="http://schemas.microsoft.com/office/drawing/2014/main" id="{D090E2A4-A9F3-0B0B-4C56-31F572157DED}"/>
              </a:ext>
            </a:extLst>
          </p:cNvPr>
          <p:cNvSpPr txBox="1"/>
          <p:nvPr/>
        </p:nvSpPr>
        <p:spPr>
          <a:xfrm>
            <a:off x="7256585" y="4327159"/>
            <a:ext cx="1003801" cy="461665"/>
          </a:xfrm>
          <a:prstGeom prst="rect">
            <a:avLst/>
          </a:prstGeom>
          <a:noFill/>
        </p:spPr>
        <p:txBody>
          <a:bodyPr wrap="none" rtlCol="0">
            <a:spAutoFit/>
          </a:bodyPr>
          <a:lstStyle/>
          <a:p>
            <a:r>
              <a:rPr lang="en-US" sz="2400" b="1" i="1" dirty="0"/>
              <a:t>Model</a:t>
            </a:r>
            <a:endParaRPr lang="en-US" b="1" i="1" dirty="0"/>
          </a:p>
        </p:txBody>
      </p:sp>
    </p:spTree>
    <p:extLst>
      <p:ext uri="{BB962C8B-B14F-4D97-AF65-F5344CB8AC3E}">
        <p14:creationId xmlns:p14="http://schemas.microsoft.com/office/powerpoint/2010/main" val="391940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3F76-2BA2-D730-916E-343EC051B1F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C748E5E-5F2F-0E8D-880C-54BF54433586}"/>
              </a:ext>
            </a:extLst>
          </p:cNvPr>
          <p:cNvSpPr>
            <a:spLocks noGrp="1"/>
          </p:cNvSpPr>
          <p:nvPr>
            <p:ph idx="1"/>
          </p:nvPr>
        </p:nvSpPr>
        <p:spPr/>
        <p:txBody>
          <a:bodyPr/>
          <a:lstStyle/>
          <a:p>
            <a:r>
              <a:rPr lang="en-US" dirty="0"/>
              <a:t>Define a one-to-many dependency between objects so that when one object changes state, all its dependents are notified and updated automatically</a:t>
            </a:r>
          </a:p>
          <a:p>
            <a:r>
              <a:rPr lang="en-US" dirty="0"/>
              <a:t>The object being observed is called “subject”</a:t>
            </a:r>
          </a:p>
          <a:p>
            <a:r>
              <a:rPr lang="en-US" dirty="0"/>
              <a:t>The object doing the observing is called “observer”</a:t>
            </a:r>
          </a:p>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97326D26-0B72-F3F1-82ED-4E5F3FC1254C}"/>
              </a:ext>
            </a:extLst>
          </p:cNvPr>
          <p:cNvSpPr>
            <a:spLocks noGrp="1"/>
          </p:cNvSpPr>
          <p:nvPr>
            <p:ph type="title"/>
          </p:nvPr>
        </p:nvSpPr>
        <p:spPr/>
        <p:txBody>
          <a:bodyPr/>
          <a:lstStyle/>
          <a:p>
            <a:r>
              <a:rPr lang="en-US" dirty="0"/>
              <a:t>Observer designer pattern</a:t>
            </a:r>
          </a:p>
        </p:txBody>
      </p:sp>
    </p:spTree>
    <p:extLst>
      <p:ext uri="{BB962C8B-B14F-4D97-AF65-F5344CB8AC3E}">
        <p14:creationId xmlns:p14="http://schemas.microsoft.com/office/powerpoint/2010/main" val="41442474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E862-1DFE-FB82-5615-4A1A621E444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CCEDB0F-DCB8-F493-A222-159EC7F883A8}"/>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787C3177-DFEF-979D-5673-2E455CD7E4A7}"/>
              </a:ext>
            </a:extLst>
          </p:cNvPr>
          <p:cNvSpPr>
            <a:spLocks noGrp="1"/>
          </p:cNvSpPr>
          <p:nvPr>
            <p:ph type="title"/>
          </p:nvPr>
        </p:nvSpPr>
        <p:spPr/>
        <p:txBody>
          <a:bodyPr/>
          <a:lstStyle/>
          <a:p>
            <a:r>
              <a:rPr lang="en-US" dirty="0"/>
              <a:t>Observer design pattern</a:t>
            </a:r>
          </a:p>
        </p:txBody>
      </p:sp>
      <p:sp>
        <p:nvSpPr>
          <p:cNvPr id="2" name="Oval 1">
            <a:extLst>
              <a:ext uri="{FF2B5EF4-FFF2-40B4-BE49-F238E27FC236}">
                <a16:creationId xmlns:a16="http://schemas.microsoft.com/office/drawing/2014/main" id="{149C1FBF-A0B3-5B6E-D6E6-763864AF0846}"/>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6BC1A50-7310-C4C2-0F1E-8F105967D265}"/>
              </a:ext>
            </a:extLst>
          </p:cNvPr>
          <p:cNvGraphicFramePr/>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4A3421F8-67F8-BC7C-7434-87AAE58AA0F2}"/>
              </a:ext>
            </a:extLst>
          </p:cNvPr>
          <p:cNvGraphicFramePr/>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36026164-CB4A-49D0-9266-095075C9353E}"/>
                  </a:ext>
                </a:extLst>
              </p:cNvPr>
              <p:cNvGraphicFramePr/>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50CADCC8-9EBE-837D-4FF2-479205A14365}"/>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146A33-94FB-CFCE-905E-8A2372A0214E}"/>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2BBB97C-B33D-FA27-F3BD-CB733EB3F915}"/>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6978FB3-11FA-9ECD-A2D3-E4E85DE46D18}"/>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71CE0F2-4C6F-5278-A91A-BB75F35C463F}"/>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73E9C95-B9DD-F419-A3D3-BB56AFF34A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3FF6CDF1-04CE-8125-69D5-3FE580EA3DD6}"/>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9549850-FA2E-69E3-43A6-DF96036AF29A}"/>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06FC495B-90DF-5D6E-5F3B-C7F3C7FB3AF9}"/>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F8451870-693F-FC96-A044-9A5799752F6E}"/>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Rectangle 2">
            <a:extLst>
              <a:ext uri="{FF2B5EF4-FFF2-40B4-BE49-F238E27FC236}">
                <a16:creationId xmlns:a16="http://schemas.microsoft.com/office/drawing/2014/main" id="{479AD453-E68A-4538-5CC3-176251C65B72}"/>
              </a:ext>
            </a:extLst>
          </p:cNvPr>
          <p:cNvSpPr/>
          <p:nvPr/>
        </p:nvSpPr>
        <p:spPr>
          <a:xfrm>
            <a:off x="4147622" y="3751634"/>
            <a:ext cx="3855128"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TextBox 5">
            <a:extLst>
              <a:ext uri="{FF2B5EF4-FFF2-40B4-BE49-F238E27FC236}">
                <a16:creationId xmlns:a16="http://schemas.microsoft.com/office/drawing/2014/main" id="{F9DFD95F-C076-6512-C87E-6DCF8072E396}"/>
              </a:ext>
            </a:extLst>
          </p:cNvPr>
          <p:cNvSpPr txBox="1"/>
          <p:nvPr/>
        </p:nvSpPr>
        <p:spPr>
          <a:xfrm>
            <a:off x="2729722" y="4824155"/>
            <a:ext cx="1269899" cy="523220"/>
          </a:xfrm>
          <a:prstGeom prst="rect">
            <a:avLst/>
          </a:prstGeom>
          <a:noFill/>
        </p:spPr>
        <p:txBody>
          <a:bodyPr wrap="none" rtlCol="0">
            <a:spAutoFit/>
          </a:bodyPr>
          <a:lstStyle/>
          <a:p>
            <a:r>
              <a:rPr lang="en-US" sz="2800" b="1" i="1" dirty="0"/>
              <a:t>Subject</a:t>
            </a:r>
          </a:p>
        </p:txBody>
      </p:sp>
      <p:sp>
        <p:nvSpPr>
          <p:cNvPr id="8" name="Rectangle 7">
            <a:extLst>
              <a:ext uri="{FF2B5EF4-FFF2-40B4-BE49-F238E27FC236}">
                <a16:creationId xmlns:a16="http://schemas.microsoft.com/office/drawing/2014/main" id="{A7157B90-75E0-64F6-35A9-F7B0959C1BEF}"/>
              </a:ext>
            </a:extLst>
          </p:cNvPr>
          <p:cNvSpPr/>
          <p:nvPr/>
        </p:nvSpPr>
        <p:spPr>
          <a:xfrm>
            <a:off x="715592" y="839179"/>
            <a:ext cx="9809996"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B9C2FDB5-393F-E88D-2049-EF35002A78A6}"/>
              </a:ext>
            </a:extLst>
          </p:cNvPr>
          <p:cNvSpPr txBox="1"/>
          <p:nvPr/>
        </p:nvSpPr>
        <p:spPr>
          <a:xfrm>
            <a:off x="3712534" y="948527"/>
            <a:ext cx="1732873" cy="523220"/>
          </a:xfrm>
          <a:prstGeom prst="rect">
            <a:avLst/>
          </a:prstGeom>
          <a:noFill/>
        </p:spPr>
        <p:txBody>
          <a:bodyPr wrap="square" rtlCol="0">
            <a:spAutoFit/>
          </a:bodyPr>
          <a:lstStyle/>
          <a:p>
            <a:r>
              <a:rPr lang="en-US" sz="2800" b="1" i="1" dirty="0"/>
              <a:t>Observers</a:t>
            </a:r>
          </a:p>
        </p:txBody>
      </p:sp>
    </p:spTree>
    <p:extLst>
      <p:ext uri="{BB962C8B-B14F-4D97-AF65-F5344CB8AC3E}">
        <p14:creationId xmlns:p14="http://schemas.microsoft.com/office/powerpoint/2010/main" val="1469723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p:bldP spid="8" grpId="0" animBg="1"/>
      <p:bldP spid="11" grpId="0"/>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75571FB0-F97C-FA99-0564-D4BD64824F42}"/>
              </a:ext>
            </a:extLst>
          </p:cNvPr>
          <p:cNvSpPr>
            <a:spLocks noGrp="1"/>
          </p:cNvSpPr>
          <p:nvPr>
            <p:ph idx="1"/>
          </p:nvPr>
        </p:nvSpPr>
        <p:spPr>
          <a:xfrm>
            <a:off x="6176512" y="785004"/>
            <a:ext cx="5839642" cy="5046453"/>
          </a:xfrm>
        </p:spPr>
        <p:txBody>
          <a:bodyPr>
            <a:normAutofit fontScale="85000" lnSpcReduction="20000"/>
          </a:bodyPr>
          <a:lstStyle/>
          <a:p>
            <a:r>
              <a:rPr lang="en-US" dirty="0"/>
              <a:t>class </a:t>
            </a:r>
            <a:r>
              <a:rPr lang="en-US" dirty="0" err="1"/>
              <a:t>DataModel</a:t>
            </a:r>
            <a:r>
              <a:rPr lang="en-US" dirty="0"/>
              <a:t> {</a:t>
            </a:r>
          </a:p>
          <a:p>
            <a:r>
              <a:rPr lang="en-US" dirty="0"/>
              <a:t>    private int a, b, c;</a:t>
            </a:r>
          </a:p>
          <a:p>
            <a:r>
              <a:rPr lang="en-US" dirty="0"/>
              <a:t>    private List&lt;Observer&gt; observers = new </a:t>
            </a:r>
            <a:r>
              <a:rPr lang="en-US" dirty="0" err="1"/>
              <a:t>ArrayList</a:t>
            </a:r>
            <a:r>
              <a:rPr lang="en-US" dirty="0"/>
              <a:t>&lt;&gt;();</a:t>
            </a:r>
          </a:p>
          <a:p>
            <a:endParaRPr lang="en-US" dirty="0"/>
          </a:p>
          <a:p>
            <a:r>
              <a:rPr lang="en-US" dirty="0"/>
              <a:t>    // Add observer</a:t>
            </a:r>
          </a:p>
          <a:p>
            <a:r>
              <a:rPr lang="en-US" dirty="0"/>
              <a:t>    public void </a:t>
            </a:r>
            <a:r>
              <a:rPr lang="en-US" dirty="0" err="1"/>
              <a:t>addObserver</a:t>
            </a:r>
            <a:r>
              <a:rPr lang="en-US" dirty="0"/>
              <a:t>(Observer observer) {</a:t>
            </a:r>
          </a:p>
          <a:p>
            <a:r>
              <a:rPr lang="en-US" dirty="0"/>
              <a:t>        </a:t>
            </a:r>
            <a:r>
              <a:rPr lang="en-US" dirty="0" err="1"/>
              <a:t>observers.add</a:t>
            </a:r>
            <a:r>
              <a:rPr lang="en-US" dirty="0"/>
              <a:t>(observer);</a:t>
            </a:r>
          </a:p>
          <a:p>
            <a:r>
              <a:rPr lang="en-US" dirty="0"/>
              <a:t>    }</a:t>
            </a:r>
          </a:p>
          <a:p>
            <a:endParaRPr lang="en-US" dirty="0"/>
          </a:p>
          <a:p>
            <a:r>
              <a:rPr lang="en-US" dirty="0"/>
              <a:t>    // Remove observer</a:t>
            </a:r>
          </a:p>
          <a:p>
            <a:r>
              <a:rPr lang="en-US" dirty="0"/>
              <a:t>    public void </a:t>
            </a:r>
            <a:r>
              <a:rPr lang="en-US" dirty="0" err="1"/>
              <a:t>removeObserver</a:t>
            </a:r>
            <a:r>
              <a:rPr lang="en-US" dirty="0"/>
              <a:t>(Observer observer) {</a:t>
            </a:r>
          </a:p>
          <a:p>
            <a:r>
              <a:rPr lang="en-US" dirty="0"/>
              <a:t>        </a:t>
            </a:r>
            <a:r>
              <a:rPr lang="en-US" dirty="0" err="1"/>
              <a:t>observers.remove</a:t>
            </a:r>
            <a:r>
              <a:rPr lang="en-US" dirty="0"/>
              <a:t>(observer);</a:t>
            </a:r>
          </a:p>
          <a:p>
            <a:r>
              <a:rPr lang="en-US" dirty="0"/>
              <a:t>    }</a:t>
            </a:r>
          </a:p>
          <a:p>
            <a:endParaRPr lang="en-US" dirty="0"/>
          </a:p>
          <a:p>
            <a:r>
              <a:rPr lang="en-US" dirty="0"/>
              <a:t> 	// Notify observers</a:t>
            </a:r>
          </a:p>
          <a:p>
            <a:r>
              <a:rPr lang="en-US" dirty="0"/>
              <a:t>    private void </a:t>
            </a:r>
            <a:r>
              <a:rPr lang="en-US" dirty="0" err="1"/>
              <a:t>notifyObservers</a:t>
            </a:r>
            <a:r>
              <a:rPr lang="en-US" dirty="0"/>
              <a:t>() {</a:t>
            </a:r>
          </a:p>
          <a:p>
            <a:r>
              <a:rPr lang="en-US" dirty="0"/>
              <a:t>        for (Observer </a:t>
            </a:r>
            <a:r>
              <a:rPr lang="en-US" dirty="0" err="1"/>
              <a:t>observer</a:t>
            </a:r>
            <a:r>
              <a:rPr lang="en-US" dirty="0"/>
              <a:t> : observers) {</a:t>
            </a:r>
          </a:p>
          <a:p>
            <a:r>
              <a:rPr lang="en-US" dirty="0"/>
              <a:t>            </a:t>
            </a:r>
            <a:r>
              <a:rPr lang="en-US" dirty="0" err="1"/>
              <a:t>observer.update</a:t>
            </a:r>
            <a:r>
              <a:rPr lang="en-US" dirty="0"/>
              <a:t>(a, b, c);</a:t>
            </a:r>
          </a:p>
          <a:p>
            <a:r>
              <a:rPr lang="en-US" dirty="0"/>
              <a:t>        }</a:t>
            </a:r>
          </a:p>
          <a:p>
            <a:r>
              <a:rPr lang="en-US" dirty="0"/>
              <a:t>    }</a:t>
            </a:r>
          </a:p>
          <a:p>
            <a:r>
              <a:rPr lang="en-US" dirty="0"/>
              <a:t>    // Set data and notify observers</a:t>
            </a:r>
          </a:p>
          <a:p>
            <a:r>
              <a:rPr lang="en-US" dirty="0"/>
              <a:t>    public void </a:t>
            </a:r>
            <a:r>
              <a:rPr lang="en-US" dirty="0" err="1"/>
              <a:t>setData</a:t>
            </a:r>
            <a:r>
              <a:rPr lang="en-US" dirty="0"/>
              <a:t>(int a, int b, int c) {</a:t>
            </a:r>
          </a:p>
          <a:p>
            <a:r>
              <a:rPr lang="en-US" dirty="0"/>
              <a:t>        </a:t>
            </a:r>
            <a:r>
              <a:rPr lang="en-US" dirty="0" err="1"/>
              <a:t>this.a</a:t>
            </a:r>
            <a:r>
              <a:rPr lang="en-US" dirty="0"/>
              <a:t> = a;</a:t>
            </a:r>
          </a:p>
          <a:p>
            <a:r>
              <a:rPr lang="en-US" dirty="0"/>
              <a:t>        </a:t>
            </a:r>
            <a:r>
              <a:rPr lang="en-US" dirty="0" err="1"/>
              <a:t>this.b</a:t>
            </a:r>
            <a:r>
              <a:rPr lang="en-US" dirty="0"/>
              <a:t> = b;</a:t>
            </a:r>
          </a:p>
          <a:p>
            <a:r>
              <a:rPr lang="en-US" dirty="0"/>
              <a:t>        </a:t>
            </a:r>
            <a:r>
              <a:rPr lang="en-US" dirty="0" err="1"/>
              <a:t>this.c</a:t>
            </a:r>
            <a:r>
              <a:rPr lang="en-US" dirty="0"/>
              <a:t> = c;</a:t>
            </a:r>
          </a:p>
          <a:p>
            <a:r>
              <a:rPr lang="en-US" dirty="0"/>
              <a:t>        </a:t>
            </a:r>
            <a:r>
              <a:rPr lang="en-US" dirty="0" err="1"/>
              <a:t>notifyObservers</a:t>
            </a:r>
            <a:r>
              <a:rPr lang="en-US" dirty="0"/>
              <a:t>();</a:t>
            </a:r>
          </a:p>
          <a:p>
            <a:r>
              <a:rPr lang="en-US" dirty="0"/>
              <a:t>    }</a:t>
            </a:r>
          </a:p>
          <a:p>
            <a:r>
              <a:rPr lang="en-US" dirty="0"/>
              <a:t>}</a:t>
            </a:r>
          </a:p>
        </p:txBody>
      </p:sp>
      <p:sp>
        <p:nvSpPr>
          <p:cNvPr id="12" name="Title 11">
            <a:extLst>
              <a:ext uri="{FF2B5EF4-FFF2-40B4-BE49-F238E27FC236}">
                <a16:creationId xmlns:a16="http://schemas.microsoft.com/office/drawing/2014/main" id="{410F0BC5-95F0-9D5B-2D06-30CECB937DBB}"/>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7AE3DB8D-9814-3979-7254-C02F9FE61C78}"/>
              </a:ext>
            </a:extLst>
          </p:cNvPr>
          <p:cNvSpPr>
            <a:spLocks noGrp="1"/>
          </p:cNvSpPr>
          <p:nvPr>
            <p:ph idx="13"/>
          </p:nvPr>
        </p:nvSpPr>
        <p:spPr/>
        <p:txBody>
          <a:bodyPr/>
          <a:lstStyle/>
          <a:p>
            <a:r>
              <a:rPr lang="en-US" dirty="0"/>
              <a:t>The subject contains a list of observers and provides an </a:t>
            </a:r>
            <a:r>
              <a:rPr lang="en-US" dirty="0">
                <a:latin typeface="Consolas" panose="020B0609020204030204" pitchFamily="49" charset="0"/>
              </a:rPr>
              <a:t>add()</a:t>
            </a:r>
            <a:r>
              <a:rPr lang="en-US" dirty="0"/>
              <a:t> and </a:t>
            </a:r>
            <a:r>
              <a:rPr lang="en-US" dirty="0">
                <a:latin typeface="Consolas" panose="020B0609020204030204" pitchFamily="49" charset="0"/>
              </a:rPr>
              <a:t>remove()</a:t>
            </a:r>
            <a:r>
              <a:rPr lang="en-US" dirty="0"/>
              <a:t> API for observers to register and deregister</a:t>
            </a:r>
          </a:p>
          <a:p>
            <a:r>
              <a:rPr lang="en-US" dirty="0"/>
              <a:t>Also provides a </a:t>
            </a:r>
            <a:r>
              <a:rPr lang="en-US" dirty="0">
                <a:latin typeface="Consolas" panose="020B0609020204030204" pitchFamily="49" charset="0"/>
              </a:rPr>
              <a:t>notify() </a:t>
            </a:r>
            <a:r>
              <a:rPr lang="en-US" dirty="0"/>
              <a:t>API to notify the observers</a:t>
            </a:r>
          </a:p>
          <a:p>
            <a:pPr lvl="1"/>
            <a:r>
              <a:rPr lang="en-US" dirty="0"/>
              <a:t>The </a:t>
            </a:r>
            <a:r>
              <a:rPr lang="en-US" dirty="0">
                <a:latin typeface="Consolas" panose="020B0609020204030204" pitchFamily="49" charset="0"/>
              </a:rPr>
              <a:t>notify()</a:t>
            </a:r>
            <a:r>
              <a:rPr lang="en-US" dirty="0"/>
              <a:t> API is invoked when the data is updated</a:t>
            </a:r>
          </a:p>
        </p:txBody>
      </p:sp>
      <p:sp>
        <p:nvSpPr>
          <p:cNvPr id="2" name="Rectangle 1">
            <a:extLst>
              <a:ext uri="{FF2B5EF4-FFF2-40B4-BE49-F238E27FC236}">
                <a16:creationId xmlns:a16="http://schemas.microsoft.com/office/drawing/2014/main" id="{CE274FDB-C260-AA92-202C-BDAFECC03CA9}"/>
              </a:ext>
            </a:extLst>
          </p:cNvPr>
          <p:cNvSpPr/>
          <p:nvPr/>
        </p:nvSpPr>
        <p:spPr>
          <a:xfrm>
            <a:off x="6453378" y="1474172"/>
            <a:ext cx="5356548" cy="27578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30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ED9C9-3819-5982-16E4-7380B30D3DB3}"/>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2CC9C93D-5A01-4FAE-8A4C-D386BDABDB98}"/>
              </a:ext>
            </a:extLst>
          </p:cNvPr>
          <p:cNvSpPr>
            <a:spLocks noGrp="1"/>
          </p:cNvSpPr>
          <p:nvPr>
            <p:ph idx="1"/>
          </p:nvPr>
        </p:nvSpPr>
        <p:spPr/>
        <p:txBody>
          <a:bodyPr>
            <a:normAutofit/>
          </a:bodyPr>
          <a:lstStyle/>
          <a:p>
            <a:r>
              <a:rPr lang="en-US" dirty="0"/>
              <a:t>// Observer Interface</a:t>
            </a:r>
          </a:p>
          <a:p>
            <a:r>
              <a:rPr lang="en-US" dirty="0"/>
              <a:t>interface Observer {</a:t>
            </a:r>
          </a:p>
          <a:p>
            <a:r>
              <a:rPr lang="en-US" dirty="0"/>
              <a:t>    void update(int a, int b, int c);</a:t>
            </a:r>
          </a:p>
          <a:p>
            <a:r>
              <a:rPr lang="en-US" dirty="0"/>
              <a:t>}</a:t>
            </a:r>
          </a:p>
          <a:p>
            <a:endParaRPr lang="en-US" dirty="0"/>
          </a:p>
          <a:p>
            <a:r>
              <a:rPr lang="en-US" dirty="0"/>
              <a:t>// Concrete Observer</a:t>
            </a:r>
          </a:p>
          <a:p>
            <a:r>
              <a:rPr lang="en-US" dirty="0"/>
              <a:t>class </a:t>
            </a:r>
            <a:r>
              <a:rPr lang="en-US" dirty="0" err="1"/>
              <a:t>BarChart</a:t>
            </a:r>
            <a:r>
              <a:rPr lang="en-US" dirty="0"/>
              <a:t> implements Observer {</a:t>
            </a:r>
          </a:p>
          <a:p>
            <a:r>
              <a:rPr lang="en-US" dirty="0"/>
              <a:t>    @Override</a:t>
            </a:r>
          </a:p>
          <a:p>
            <a:r>
              <a:rPr lang="en-US" dirty="0"/>
              <a:t>    public void update(int a, int b, int c) {</a:t>
            </a:r>
          </a:p>
          <a:p>
            <a:r>
              <a:rPr lang="en-US" dirty="0"/>
              <a:t>		// Render the bar chart here</a:t>
            </a:r>
          </a:p>
          <a:p>
            <a:r>
              <a:rPr lang="en-US" dirty="0"/>
              <a:t>    }</a:t>
            </a:r>
          </a:p>
          <a:p>
            <a:r>
              <a:rPr lang="en-US" dirty="0"/>
              <a:t>}</a:t>
            </a:r>
          </a:p>
          <a:p>
            <a:endParaRPr lang="en-US" dirty="0"/>
          </a:p>
          <a:p>
            <a:r>
              <a:rPr lang="en-US" dirty="0"/>
              <a:t>class </a:t>
            </a:r>
            <a:r>
              <a:rPr lang="en-US" dirty="0" err="1"/>
              <a:t>PieChart</a:t>
            </a:r>
            <a:r>
              <a:rPr lang="en-US" dirty="0"/>
              <a:t> implements Observer {</a:t>
            </a:r>
          </a:p>
          <a:p>
            <a:r>
              <a:rPr lang="en-US" dirty="0"/>
              <a:t>    @Override</a:t>
            </a:r>
          </a:p>
          <a:p>
            <a:r>
              <a:rPr lang="en-US" dirty="0"/>
              <a:t>    public void update(int a, int b, int c) {</a:t>
            </a:r>
          </a:p>
          <a:p>
            <a:r>
              <a:rPr lang="en-US" dirty="0"/>
              <a:t>		// Render the pie chart here</a:t>
            </a:r>
          </a:p>
          <a:p>
            <a:r>
              <a:rPr lang="en-US" dirty="0"/>
              <a:t>    }</a:t>
            </a:r>
          </a:p>
          <a:p>
            <a:r>
              <a:rPr lang="en-US" dirty="0"/>
              <a:t>}</a:t>
            </a:r>
          </a:p>
        </p:txBody>
      </p:sp>
      <p:sp>
        <p:nvSpPr>
          <p:cNvPr id="12" name="Title 11">
            <a:extLst>
              <a:ext uri="{FF2B5EF4-FFF2-40B4-BE49-F238E27FC236}">
                <a16:creationId xmlns:a16="http://schemas.microsoft.com/office/drawing/2014/main" id="{B083A6C3-1565-2713-835E-979C8A581119}"/>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7544DA-F620-244B-1AE0-3AE4DCD350BC}"/>
              </a:ext>
            </a:extLst>
          </p:cNvPr>
          <p:cNvSpPr>
            <a:spLocks noGrp="1"/>
          </p:cNvSpPr>
          <p:nvPr>
            <p:ph idx="13"/>
          </p:nvPr>
        </p:nvSpPr>
        <p:spPr/>
        <p:txBody>
          <a:bodyPr/>
          <a:lstStyle/>
          <a:p>
            <a:r>
              <a:rPr lang="en-US" dirty="0"/>
              <a:t>Observers extend the </a:t>
            </a:r>
            <a:r>
              <a:rPr lang="en-US" dirty="0">
                <a:latin typeface="Consolas" panose="020B0609020204030204" pitchFamily="49" charset="0"/>
              </a:rPr>
              <a:t>Observer</a:t>
            </a:r>
            <a:r>
              <a:rPr lang="en-US" dirty="0"/>
              <a:t> interface</a:t>
            </a:r>
          </a:p>
        </p:txBody>
      </p:sp>
      <p:sp>
        <p:nvSpPr>
          <p:cNvPr id="2" name="Rectangle 1">
            <a:extLst>
              <a:ext uri="{FF2B5EF4-FFF2-40B4-BE49-F238E27FC236}">
                <a16:creationId xmlns:a16="http://schemas.microsoft.com/office/drawing/2014/main" id="{C66799B4-C051-61D0-1A05-07348E06708B}"/>
              </a:ext>
            </a:extLst>
          </p:cNvPr>
          <p:cNvSpPr/>
          <p:nvPr/>
        </p:nvSpPr>
        <p:spPr>
          <a:xfrm>
            <a:off x="6176511" y="740640"/>
            <a:ext cx="5194873" cy="121711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881333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37DE2-1567-99E8-6891-F76D26B7899B}"/>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FB91C304-D9BF-57A9-926A-D412EF2F0834}"/>
              </a:ext>
            </a:extLst>
          </p:cNvPr>
          <p:cNvSpPr>
            <a:spLocks noGrp="1"/>
          </p:cNvSpPr>
          <p:nvPr>
            <p:ph idx="1"/>
          </p:nvPr>
        </p:nvSpPr>
        <p:spPr/>
        <p:txBody>
          <a:bodyPr>
            <a:normAutofit/>
          </a:bodyPr>
          <a:lstStyle/>
          <a:p>
            <a:r>
              <a:rPr lang="en-US" dirty="0"/>
              <a:t>public class </a:t>
            </a:r>
            <a:r>
              <a:rPr lang="en-US" dirty="0" err="1"/>
              <a:t>ObserverPatternExample</a:t>
            </a:r>
            <a:r>
              <a:rPr lang="en-US" dirty="0"/>
              <a:t> {</a:t>
            </a:r>
          </a:p>
          <a:p>
            <a:r>
              <a:rPr lang="en-US" dirty="0"/>
              <a:t>    public static void main(String[] </a:t>
            </a:r>
            <a:r>
              <a:rPr lang="en-US" dirty="0" err="1"/>
              <a:t>args</a:t>
            </a:r>
            <a:r>
              <a:rPr lang="en-US" dirty="0"/>
              <a:t>) {</a:t>
            </a:r>
          </a:p>
          <a:p>
            <a:r>
              <a:rPr lang="en-US" dirty="0"/>
              <a:t>        // Create the subject</a:t>
            </a:r>
          </a:p>
          <a:p>
            <a:r>
              <a:rPr lang="en-US" dirty="0"/>
              <a:t>        </a:t>
            </a:r>
            <a:r>
              <a:rPr lang="en-US" dirty="0" err="1"/>
              <a:t>DataModel</a:t>
            </a:r>
            <a:r>
              <a:rPr lang="en-US" dirty="0"/>
              <a:t> </a:t>
            </a:r>
            <a:r>
              <a:rPr lang="en-US" dirty="0" err="1"/>
              <a:t>dataModel</a:t>
            </a:r>
            <a:r>
              <a:rPr lang="en-US" dirty="0"/>
              <a:t> = new </a:t>
            </a:r>
            <a:r>
              <a:rPr lang="en-US" dirty="0" err="1"/>
              <a:t>DataModel</a:t>
            </a:r>
            <a:r>
              <a:rPr lang="en-US" dirty="0"/>
              <a:t>();</a:t>
            </a:r>
          </a:p>
          <a:p>
            <a:endParaRPr lang="en-US" dirty="0"/>
          </a:p>
          <a:p>
            <a:r>
              <a:rPr lang="en-US" dirty="0"/>
              <a:t>        // Create observers</a:t>
            </a:r>
          </a:p>
          <a:p>
            <a:r>
              <a:rPr lang="en-US" dirty="0"/>
              <a:t>        </a:t>
            </a:r>
            <a:r>
              <a:rPr lang="en-US" dirty="0" err="1"/>
              <a:t>BarChart</a:t>
            </a:r>
            <a:r>
              <a:rPr lang="en-US" dirty="0"/>
              <a:t> </a:t>
            </a:r>
            <a:r>
              <a:rPr lang="en-US" dirty="0" err="1"/>
              <a:t>barChart</a:t>
            </a:r>
            <a:r>
              <a:rPr lang="en-US" dirty="0"/>
              <a:t> = new </a:t>
            </a:r>
            <a:r>
              <a:rPr lang="en-US" dirty="0" err="1"/>
              <a:t>BarChart</a:t>
            </a:r>
            <a:r>
              <a:rPr lang="en-US" dirty="0"/>
              <a:t>();</a:t>
            </a:r>
          </a:p>
          <a:p>
            <a:r>
              <a:rPr lang="en-US" dirty="0"/>
              <a:t>        </a:t>
            </a:r>
            <a:r>
              <a:rPr lang="en-US" dirty="0" err="1"/>
              <a:t>PieChart</a:t>
            </a:r>
            <a:r>
              <a:rPr lang="en-US" dirty="0"/>
              <a:t> </a:t>
            </a:r>
            <a:r>
              <a:rPr lang="en-US" dirty="0" err="1"/>
              <a:t>pieChart</a:t>
            </a:r>
            <a:r>
              <a:rPr lang="en-US" dirty="0"/>
              <a:t> = new </a:t>
            </a:r>
            <a:r>
              <a:rPr lang="en-US" dirty="0" err="1"/>
              <a:t>PieChart</a:t>
            </a:r>
            <a:r>
              <a:rPr lang="en-US" dirty="0"/>
              <a:t>();</a:t>
            </a:r>
          </a:p>
          <a:p>
            <a:endParaRPr lang="en-US" dirty="0"/>
          </a:p>
          <a:p>
            <a:r>
              <a:rPr lang="en-US" dirty="0"/>
              <a:t>        // Attach observers to the subject</a:t>
            </a:r>
          </a:p>
          <a:p>
            <a:r>
              <a:rPr lang="en-US" dirty="0"/>
              <a:t>        </a:t>
            </a:r>
            <a:r>
              <a:rPr lang="en-US" dirty="0" err="1"/>
              <a:t>dataModel.addObserver</a:t>
            </a:r>
            <a:r>
              <a:rPr lang="en-US" dirty="0"/>
              <a:t>(</a:t>
            </a:r>
            <a:r>
              <a:rPr lang="en-US" dirty="0" err="1"/>
              <a:t>barChart</a:t>
            </a:r>
            <a:r>
              <a:rPr lang="en-US" dirty="0"/>
              <a:t>);</a:t>
            </a:r>
          </a:p>
          <a:p>
            <a:r>
              <a:rPr lang="en-US" dirty="0"/>
              <a:t>        </a:t>
            </a:r>
            <a:r>
              <a:rPr lang="en-US" dirty="0" err="1"/>
              <a:t>dataModel.addObserver</a:t>
            </a:r>
            <a:r>
              <a:rPr lang="en-US" dirty="0"/>
              <a:t>(</a:t>
            </a:r>
            <a:r>
              <a:rPr lang="en-US" dirty="0" err="1"/>
              <a:t>pieChart</a:t>
            </a:r>
            <a:r>
              <a:rPr lang="en-US" dirty="0"/>
              <a:t>);</a:t>
            </a:r>
          </a:p>
          <a:p>
            <a:endParaRPr lang="en-US" dirty="0"/>
          </a:p>
          <a:p>
            <a:r>
              <a:rPr lang="en-US" dirty="0"/>
              <a:t>        // Update data</a:t>
            </a:r>
          </a:p>
          <a:p>
            <a:r>
              <a:rPr lang="en-US" dirty="0"/>
              <a:t>        </a:t>
            </a:r>
            <a:r>
              <a:rPr lang="en-US" dirty="0" err="1"/>
              <a:t>dataModel.setData</a:t>
            </a:r>
            <a:r>
              <a:rPr lang="en-US" dirty="0"/>
              <a:t>(10, 20, 30);</a:t>
            </a:r>
          </a:p>
          <a:p>
            <a:r>
              <a:rPr lang="en-US" dirty="0"/>
              <a:t>        </a:t>
            </a:r>
            <a:r>
              <a:rPr lang="en-US" dirty="0" err="1"/>
              <a:t>dataModel.setData</a:t>
            </a:r>
            <a:r>
              <a:rPr lang="en-US" dirty="0"/>
              <a:t>(15, 25, 35);</a:t>
            </a:r>
          </a:p>
          <a:p>
            <a:r>
              <a:rPr lang="en-US" dirty="0"/>
              <a:t>    }</a:t>
            </a:r>
          </a:p>
          <a:p>
            <a:r>
              <a:rPr lang="en-US" dirty="0"/>
              <a:t>}</a:t>
            </a:r>
          </a:p>
        </p:txBody>
      </p:sp>
      <p:sp>
        <p:nvSpPr>
          <p:cNvPr id="12" name="Title 11">
            <a:extLst>
              <a:ext uri="{FF2B5EF4-FFF2-40B4-BE49-F238E27FC236}">
                <a16:creationId xmlns:a16="http://schemas.microsoft.com/office/drawing/2014/main" id="{0AA74ABF-7228-B52A-75B1-A547A699E3E3}"/>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D1D916-D7CA-B1FA-C1A6-8D96A21D4395}"/>
              </a:ext>
            </a:extLst>
          </p:cNvPr>
          <p:cNvSpPr>
            <a:spLocks noGrp="1"/>
          </p:cNvSpPr>
          <p:nvPr>
            <p:ph idx="13"/>
          </p:nvPr>
        </p:nvSpPr>
        <p:spPr/>
        <p:txBody>
          <a:bodyPr/>
          <a:lstStyle/>
          <a:p>
            <a:r>
              <a:rPr lang="en-US" dirty="0"/>
              <a:t>The observers register with the subject</a:t>
            </a:r>
          </a:p>
          <a:p>
            <a:r>
              <a:rPr lang="en-US" dirty="0"/>
              <a:t>When the subject’s data changes, the observers are notified</a:t>
            </a:r>
          </a:p>
        </p:txBody>
      </p:sp>
      <p:sp>
        <p:nvSpPr>
          <p:cNvPr id="2" name="Rectangle 1">
            <a:extLst>
              <a:ext uri="{FF2B5EF4-FFF2-40B4-BE49-F238E27FC236}">
                <a16:creationId xmlns:a16="http://schemas.microsoft.com/office/drawing/2014/main" id="{1C0D6AA5-E2BE-DB13-934B-0E46BFBFC565}"/>
              </a:ext>
            </a:extLst>
          </p:cNvPr>
          <p:cNvSpPr/>
          <p:nvPr/>
        </p:nvSpPr>
        <p:spPr>
          <a:xfrm>
            <a:off x="6629223" y="1985815"/>
            <a:ext cx="4812499" cy="1859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4B9B9024-9616-5012-F0C9-A4D283E25300}"/>
              </a:ext>
            </a:extLst>
          </p:cNvPr>
          <p:cNvSpPr/>
          <p:nvPr/>
        </p:nvSpPr>
        <p:spPr>
          <a:xfrm>
            <a:off x="6629223" y="3861507"/>
            <a:ext cx="4812499" cy="10504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21681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0FD23-F3FA-F75E-3B5D-87FD82337A84}"/>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8F33B1FC-18EA-AA20-9496-189C486FD4E1}"/>
              </a:ext>
            </a:extLst>
          </p:cNvPr>
          <p:cNvSpPr>
            <a:spLocks noGrp="1"/>
          </p:cNvSpPr>
          <p:nvPr>
            <p:ph idx="1"/>
          </p:nvPr>
        </p:nvSpPr>
        <p:spPr/>
        <p:txBody>
          <a:bodyPr/>
          <a:lstStyle/>
          <a:p>
            <a:r>
              <a:rPr lang="en-US" dirty="0"/>
              <a:t>Abstract coupling between the subject and observers</a:t>
            </a:r>
          </a:p>
          <a:p>
            <a:r>
              <a:rPr lang="en-US" dirty="0"/>
              <a:t>Support for broadcast communication</a:t>
            </a:r>
          </a:p>
          <a:p>
            <a:r>
              <a:rPr lang="en-US" dirty="0"/>
              <a:t>Possible disadvantage</a:t>
            </a:r>
          </a:p>
          <a:p>
            <a:pPr lvl="1"/>
            <a:r>
              <a:rPr lang="en-US" dirty="0"/>
              <a:t>Can cause cascading updates without the subject’s knowledge</a:t>
            </a:r>
          </a:p>
          <a:p>
            <a:pPr lvl="1"/>
            <a:r>
              <a:rPr lang="en-US" dirty="0"/>
              <a:t>Data model updates data can trigger many other observers to update</a:t>
            </a:r>
          </a:p>
        </p:txBody>
      </p:sp>
      <p:sp>
        <p:nvSpPr>
          <p:cNvPr id="12" name="Title 11">
            <a:extLst>
              <a:ext uri="{FF2B5EF4-FFF2-40B4-BE49-F238E27FC236}">
                <a16:creationId xmlns:a16="http://schemas.microsoft.com/office/drawing/2014/main" id="{40090385-5B8E-32B6-A554-CC8A842DA811}"/>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726283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37817-F541-094D-15C6-132B758992D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F312DE-3AEC-3BDA-8ED7-13190CC95DE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38C5899-434F-8263-3BA4-0D3FE6606989}"/>
              </a:ext>
            </a:extLst>
          </p:cNvPr>
          <p:cNvSpPr>
            <a:spLocks noGrp="1"/>
          </p:cNvSpPr>
          <p:nvPr>
            <p:ph type="body" sz="quarter" idx="13"/>
          </p:nvPr>
        </p:nvSpPr>
        <p:spPr/>
        <p:txBody>
          <a:bodyPr/>
          <a:lstStyle/>
          <a:p>
            <a:r>
              <a:rPr lang="en-US" sz="3200" dirty="0"/>
              <a:t>State design pattern</a:t>
            </a:r>
          </a:p>
        </p:txBody>
      </p:sp>
    </p:spTree>
    <p:extLst>
      <p:ext uri="{BB962C8B-B14F-4D97-AF65-F5344CB8AC3E}">
        <p14:creationId xmlns:p14="http://schemas.microsoft.com/office/powerpoint/2010/main" val="338316467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140594-18AE-1DB6-B639-CA473060AB0A}"/>
              </a:ext>
            </a:extLst>
          </p:cNvPr>
          <p:cNvSpPr>
            <a:spLocks noGrp="1"/>
          </p:cNvSpPr>
          <p:nvPr>
            <p:ph type="title"/>
          </p:nvPr>
        </p:nvSpPr>
        <p:spPr/>
        <p:txBody>
          <a:bodyPr/>
          <a:lstStyle/>
          <a:p>
            <a:r>
              <a:rPr lang="en-US" dirty="0"/>
              <a:t>Case study: media player state diagram</a:t>
            </a:r>
          </a:p>
        </p:txBody>
      </p:sp>
      <p:sp>
        <p:nvSpPr>
          <p:cNvPr id="6" name="Oval 5">
            <a:extLst>
              <a:ext uri="{FF2B5EF4-FFF2-40B4-BE49-F238E27FC236}">
                <a16:creationId xmlns:a16="http://schemas.microsoft.com/office/drawing/2014/main" id="{0E4BDF25-9DC2-70D0-9485-86B14E559A21}"/>
              </a:ext>
            </a:extLst>
          </p:cNvPr>
          <p:cNvSpPr/>
          <p:nvPr/>
        </p:nvSpPr>
        <p:spPr>
          <a:xfrm>
            <a:off x="20421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STOPPED</a:t>
            </a:r>
            <a:endParaRPr lang="en-US" dirty="0">
              <a:solidFill>
                <a:schemeClr val="tx1"/>
              </a:solidFill>
            </a:endParaRPr>
          </a:p>
        </p:txBody>
      </p:sp>
      <p:sp>
        <p:nvSpPr>
          <p:cNvPr id="7" name="Oval 6">
            <a:extLst>
              <a:ext uri="{FF2B5EF4-FFF2-40B4-BE49-F238E27FC236}">
                <a16:creationId xmlns:a16="http://schemas.microsoft.com/office/drawing/2014/main" id="{93909AC9-5032-2EA1-9848-06CA963FDB77}"/>
              </a:ext>
            </a:extLst>
          </p:cNvPr>
          <p:cNvSpPr/>
          <p:nvPr/>
        </p:nvSpPr>
        <p:spPr>
          <a:xfrm>
            <a:off x="51663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PLAYING</a:t>
            </a:r>
            <a:endParaRPr lang="en-US" dirty="0">
              <a:solidFill>
                <a:schemeClr val="tx1"/>
              </a:solidFill>
            </a:endParaRPr>
          </a:p>
        </p:txBody>
      </p:sp>
      <p:sp>
        <p:nvSpPr>
          <p:cNvPr id="8" name="Oval 7">
            <a:extLst>
              <a:ext uri="{FF2B5EF4-FFF2-40B4-BE49-F238E27FC236}">
                <a16:creationId xmlns:a16="http://schemas.microsoft.com/office/drawing/2014/main" id="{4257F97D-CE65-81FC-876D-B74BE2E3C0BA}"/>
              </a:ext>
            </a:extLst>
          </p:cNvPr>
          <p:cNvSpPr/>
          <p:nvPr/>
        </p:nvSpPr>
        <p:spPr>
          <a:xfrm>
            <a:off x="848868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PAUSED</a:t>
            </a:r>
            <a:endParaRPr lang="en-US" dirty="0">
              <a:solidFill>
                <a:schemeClr val="tx1"/>
              </a:solidFill>
            </a:endParaRPr>
          </a:p>
        </p:txBody>
      </p:sp>
      <p:cxnSp>
        <p:nvCxnSpPr>
          <p:cNvPr id="10" name="Straight Arrow Connector 9">
            <a:extLst>
              <a:ext uri="{FF2B5EF4-FFF2-40B4-BE49-F238E27FC236}">
                <a16:creationId xmlns:a16="http://schemas.microsoft.com/office/drawing/2014/main" id="{65963CFB-2691-1F4E-AA33-B1552EA5EB2E}"/>
              </a:ext>
            </a:extLst>
          </p:cNvPr>
          <p:cNvCxnSpPr>
            <a:stCxn id="6" idx="6"/>
            <a:endCxn id="7" idx="2"/>
          </p:cNvCxnSpPr>
          <p:nvPr/>
        </p:nvCxnSpPr>
        <p:spPr>
          <a:xfrm>
            <a:off x="3718560" y="2842260"/>
            <a:ext cx="14478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BDF77E0B-9BAC-E1FA-A0AE-5E799E179E29}"/>
              </a:ext>
            </a:extLst>
          </p:cNvPr>
          <p:cNvCxnSpPr>
            <a:cxnSpLocks/>
            <a:endCxn id="8" idx="2"/>
          </p:cNvCxnSpPr>
          <p:nvPr/>
        </p:nvCxnSpPr>
        <p:spPr>
          <a:xfrm>
            <a:off x="6842760" y="2842260"/>
            <a:ext cx="164592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Connector: Curved 13">
            <a:extLst>
              <a:ext uri="{FF2B5EF4-FFF2-40B4-BE49-F238E27FC236}">
                <a16:creationId xmlns:a16="http://schemas.microsoft.com/office/drawing/2014/main" id="{568C909E-6BA5-EAFF-1505-9944B3F4E6CC}"/>
              </a:ext>
            </a:extLst>
          </p:cNvPr>
          <p:cNvCxnSpPr>
            <a:cxnSpLocks/>
            <a:stCxn id="7" idx="0"/>
            <a:endCxn id="6" idx="0"/>
          </p:cNvCxnSpPr>
          <p:nvPr/>
        </p:nvCxnSpPr>
        <p:spPr>
          <a:xfrm rot="16200000" flipV="1">
            <a:off x="4442460" y="647700"/>
            <a:ext cx="12700" cy="3124200"/>
          </a:xfrm>
          <a:prstGeom prst="curved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4FC65BE6-F108-AD67-B0BD-0904D75F2B7A}"/>
              </a:ext>
            </a:extLst>
          </p:cNvPr>
          <p:cNvCxnSpPr>
            <a:cxnSpLocks/>
            <a:stCxn id="8" idx="3"/>
            <a:endCxn id="7" idx="4"/>
          </p:cNvCxnSpPr>
          <p:nvPr/>
        </p:nvCxnSpPr>
        <p:spPr>
          <a:xfrm rot="5400000">
            <a:off x="7276751" y="2017287"/>
            <a:ext cx="185243" cy="2729623"/>
          </a:xfrm>
          <a:prstGeom prst="curvedConnector3">
            <a:avLst>
              <a:gd name="adj1" fmla="val 22340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0021E542-EEEC-16E2-80A6-225FA24BA9DB}"/>
              </a:ext>
            </a:extLst>
          </p:cNvPr>
          <p:cNvCxnSpPr>
            <a:cxnSpLocks/>
            <a:stCxn id="8" idx="4"/>
            <a:endCxn id="6" idx="4"/>
          </p:cNvCxnSpPr>
          <p:nvPr/>
        </p:nvCxnSpPr>
        <p:spPr>
          <a:xfrm rot="5400000">
            <a:off x="6103620" y="251460"/>
            <a:ext cx="12700" cy="6446520"/>
          </a:xfrm>
          <a:prstGeom prst="curvedConnector3">
            <a:avLst>
              <a:gd name="adj1" fmla="val 1188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E083B58A-B923-3CB7-34F9-18283A7D53EF}"/>
              </a:ext>
            </a:extLst>
          </p:cNvPr>
          <p:cNvSpPr txBox="1"/>
          <p:nvPr/>
        </p:nvSpPr>
        <p:spPr>
          <a:xfrm>
            <a:off x="3927804" y="2866410"/>
            <a:ext cx="819455" cy="523220"/>
          </a:xfrm>
          <a:prstGeom prst="rect">
            <a:avLst/>
          </a:prstGeom>
          <a:noFill/>
        </p:spPr>
        <p:txBody>
          <a:bodyPr wrap="none" rtlCol="0">
            <a:spAutoFit/>
          </a:bodyPr>
          <a:lstStyle/>
          <a:p>
            <a:r>
              <a:rPr lang="en-US" sz="2800" b="1" i="1" dirty="0"/>
              <a:t>play</a:t>
            </a:r>
            <a:endParaRPr lang="en-US" b="1" i="1" dirty="0"/>
          </a:p>
        </p:txBody>
      </p:sp>
      <p:sp>
        <p:nvSpPr>
          <p:cNvPr id="24" name="TextBox 23">
            <a:extLst>
              <a:ext uri="{FF2B5EF4-FFF2-40B4-BE49-F238E27FC236}">
                <a16:creationId xmlns:a16="http://schemas.microsoft.com/office/drawing/2014/main" id="{D4A4E675-EE04-27B3-96D9-195BEFB3D39F}"/>
              </a:ext>
            </a:extLst>
          </p:cNvPr>
          <p:cNvSpPr txBox="1"/>
          <p:nvPr/>
        </p:nvSpPr>
        <p:spPr>
          <a:xfrm>
            <a:off x="7166304" y="2884279"/>
            <a:ext cx="1069524" cy="523220"/>
          </a:xfrm>
          <a:prstGeom prst="rect">
            <a:avLst/>
          </a:prstGeom>
          <a:noFill/>
        </p:spPr>
        <p:txBody>
          <a:bodyPr wrap="none" rtlCol="0">
            <a:spAutoFit/>
          </a:bodyPr>
          <a:lstStyle/>
          <a:p>
            <a:r>
              <a:rPr lang="en-US" sz="2800" b="1" i="1" dirty="0"/>
              <a:t>pause</a:t>
            </a:r>
            <a:endParaRPr lang="en-US" b="1" i="1" dirty="0"/>
          </a:p>
        </p:txBody>
      </p:sp>
      <p:sp>
        <p:nvSpPr>
          <p:cNvPr id="25" name="TextBox 24">
            <a:extLst>
              <a:ext uri="{FF2B5EF4-FFF2-40B4-BE49-F238E27FC236}">
                <a16:creationId xmlns:a16="http://schemas.microsoft.com/office/drawing/2014/main" id="{82152A6C-1A8E-9B32-519D-BD2E6B4C22FA}"/>
              </a:ext>
            </a:extLst>
          </p:cNvPr>
          <p:cNvSpPr txBox="1"/>
          <p:nvPr/>
        </p:nvSpPr>
        <p:spPr>
          <a:xfrm>
            <a:off x="3802769" y="1352569"/>
            <a:ext cx="820994" cy="523220"/>
          </a:xfrm>
          <a:prstGeom prst="rect">
            <a:avLst/>
          </a:prstGeom>
          <a:noFill/>
        </p:spPr>
        <p:txBody>
          <a:bodyPr wrap="none" rtlCol="0">
            <a:spAutoFit/>
          </a:bodyPr>
          <a:lstStyle/>
          <a:p>
            <a:r>
              <a:rPr lang="en-US" sz="2800" b="1" i="1" dirty="0"/>
              <a:t>stop</a:t>
            </a:r>
            <a:endParaRPr lang="en-US" b="1" i="1" dirty="0"/>
          </a:p>
        </p:txBody>
      </p:sp>
      <p:sp>
        <p:nvSpPr>
          <p:cNvPr id="26" name="TextBox 25">
            <a:extLst>
              <a:ext uri="{FF2B5EF4-FFF2-40B4-BE49-F238E27FC236}">
                <a16:creationId xmlns:a16="http://schemas.microsoft.com/office/drawing/2014/main" id="{A657601A-279B-A98F-838E-775903AFA01B}"/>
              </a:ext>
            </a:extLst>
          </p:cNvPr>
          <p:cNvSpPr txBox="1"/>
          <p:nvPr/>
        </p:nvSpPr>
        <p:spPr>
          <a:xfrm>
            <a:off x="5699473" y="4463921"/>
            <a:ext cx="820994" cy="523220"/>
          </a:xfrm>
          <a:prstGeom prst="rect">
            <a:avLst/>
          </a:prstGeom>
          <a:noFill/>
        </p:spPr>
        <p:txBody>
          <a:bodyPr wrap="none" rtlCol="0">
            <a:spAutoFit/>
          </a:bodyPr>
          <a:lstStyle/>
          <a:p>
            <a:r>
              <a:rPr lang="en-US" sz="2800" b="1" i="1" dirty="0"/>
              <a:t>stop</a:t>
            </a:r>
            <a:endParaRPr lang="en-US" b="1" i="1" dirty="0"/>
          </a:p>
        </p:txBody>
      </p:sp>
      <p:sp>
        <p:nvSpPr>
          <p:cNvPr id="27" name="TextBox 26">
            <a:extLst>
              <a:ext uri="{FF2B5EF4-FFF2-40B4-BE49-F238E27FC236}">
                <a16:creationId xmlns:a16="http://schemas.microsoft.com/office/drawing/2014/main" id="{74787ACB-8144-0C63-783C-27D27D200654}"/>
              </a:ext>
            </a:extLst>
          </p:cNvPr>
          <p:cNvSpPr txBox="1"/>
          <p:nvPr/>
        </p:nvSpPr>
        <p:spPr>
          <a:xfrm>
            <a:off x="7166304" y="3678042"/>
            <a:ext cx="819455" cy="523220"/>
          </a:xfrm>
          <a:prstGeom prst="rect">
            <a:avLst/>
          </a:prstGeom>
          <a:noFill/>
        </p:spPr>
        <p:txBody>
          <a:bodyPr wrap="none" rtlCol="0">
            <a:spAutoFit/>
          </a:bodyPr>
          <a:lstStyle/>
          <a:p>
            <a:r>
              <a:rPr lang="en-US" sz="2800" b="1" i="1" dirty="0"/>
              <a:t>play</a:t>
            </a:r>
            <a:endParaRPr lang="en-US" b="1" i="1" dirty="0"/>
          </a:p>
        </p:txBody>
      </p:sp>
      <p:cxnSp>
        <p:nvCxnSpPr>
          <p:cNvPr id="2" name="Connector: Curved 1">
            <a:extLst>
              <a:ext uri="{FF2B5EF4-FFF2-40B4-BE49-F238E27FC236}">
                <a16:creationId xmlns:a16="http://schemas.microsoft.com/office/drawing/2014/main" id="{F0C6A11B-8012-04E4-A772-ED2CEE7CE14E}"/>
              </a:ext>
            </a:extLst>
          </p:cNvPr>
          <p:cNvCxnSpPr>
            <a:cxnSpLocks/>
            <a:stCxn id="7" idx="7"/>
            <a:endCxn id="7" idx="6"/>
          </p:cNvCxnSpPr>
          <p:nvPr/>
        </p:nvCxnSpPr>
        <p:spPr>
          <a:xfrm rot="16200000" flipH="1">
            <a:off x="6496399" y="2495900"/>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22455CCB-E1D5-0A5E-366B-257295DEDE73}"/>
              </a:ext>
            </a:extLst>
          </p:cNvPr>
          <p:cNvSpPr txBox="1"/>
          <p:nvPr/>
        </p:nvSpPr>
        <p:spPr>
          <a:xfrm>
            <a:off x="6842759" y="1483981"/>
            <a:ext cx="819455" cy="523220"/>
          </a:xfrm>
          <a:prstGeom prst="rect">
            <a:avLst/>
          </a:prstGeom>
          <a:noFill/>
        </p:spPr>
        <p:txBody>
          <a:bodyPr wrap="none" rtlCol="0">
            <a:spAutoFit/>
          </a:bodyPr>
          <a:lstStyle/>
          <a:p>
            <a:r>
              <a:rPr lang="en-US" sz="2800" b="1" i="1" dirty="0"/>
              <a:t>play</a:t>
            </a:r>
            <a:endParaRPr lang="en-US" b="1" i="1" dirty="0"/>
          </a:p>
        </p:txBody>
      </p:sp>
      <p:cxnSp>
        <p:nvCxnSpPr>
          <p:cNvPr id="12" name="Connector: Curved 11">
            <a:extLst>
              <a:ext uri="{FF2B5EF4-FFF2-40B4-BE49-F238E27FC236}">
                <a16:creationId xmlns:a16="http://schemas.microsoft.com/office/drawing/2014/main" id="{8BA9A7B5-9DCE-EAA7-4C02-2EC91F703673}"/>
              </a:ext>
            </a:extLst>
          </p:cNvPr>
          <p:cNvCxnSpPr>
            <a:cxnSpLocks/>
            <a:stCxn id="6" idx="1"/>
            <a:endCxn id="6" idx="2"/>
          </p:cNvCxnSpPr>
          <p:nvPr/>
        </p:nvCxnSpPr>
        <p:spPr>
          <a:xfrm rot="16200000" flipH="1" flipV="1">
            <a:off x="1941303" y="2495899"/>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9896E342-2285-E37B-A97D-42A28ABE45ED}"/>
              </a:ext>
            </a:extLst>
          </p:cNvPr>
          <p:cNvSpPr txBox="1"/>
          <p:nvPr/>
        </p:nvSpPr>
        <p:spPr>
          <a:xfrm>
            <a:off x="667714" y="1440481"/>
            <a:ext cx="1961197" cy="523220"/>
          </a:xfrm>
          <a:prstGeom prst="rect">
            <a:avLst/>
          </a:prstGeom>
          <a:noFill/>
        </p:spPr>
        <p:txBody>
          <a:bodyPr wrap="square" rtlCol="0">
            <a:spAutoFit/>
          </a:bodyPr>
          <a:lstStyle/>
          <a:p>
            <a:r>
              <a:rPr lang="en-US" sz="2800" b="1" i="1" dirty="0"/>
              <a:t>pause/stop</a:t>
            </a:r>
            <a:endParaRPr lang="en-US" b="1" i="1" dirty="0"/>
          </a:p>
        </p:txBody>
      </p:sp>
      <p:cxnSp>
        <p:nvCxnSpPr>
          <p:cNvPr id="20" name="Connector: Curved 19">
            <a:extLst>
              <a:ext uri="{FF2B5EF4-FFF2-40B4-BE49-F238E27FC236}">
                <a16:creationId xmlns:a16="http://schemas.microsoft.com/office/drawing/2014/main" id="{47413ED1-97A8-DB5E-C907-14EE66DA266A}"/>
              </a:ext>
            </a:extLst>
          </p:cNvPr>
          <p:cNvCxnSpPr>
            <a:cxnSpLocks/>
            <a:stCxn id="8" idx="0"/>
            <a:endCxn id="8" idx="7"/>
          </p:cNvCxnSpPr>
          <p:nvPr/>
        </p:nvCxnSpPr>
        <p:spPr>
          <a:xfrm rot="16200000" flipH="1">
            <a:off x="9530606" y="2006073"/>
            <a:ext cx="185243" cy="592697"/>
          </a:xfrm>
          <a:prstGeom prst="curvedConnector3">
            <a:avLst>
              <a:gd name="adj1" fmla="val -22466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36E54A1-E31B-F4DC-DD8C-760E6673F861}"/>
              </a:ext>
            </a:extLst>
          </p:cNvPr>
          <p:cNvSpPr txBox="1"/>
          <p:nvPr/>
        </p:nvSpPr>
        <p:spPr>
          <a:xfrm>
            <a:off x="9847886" y="1483981"/>
            <a:ext cx="1676400" cy="523220"/>
          </a:xfrm>
          <a:prstGeom prst="rect">
            <a:avLst/>
          </a:prstGeom>
          <a:noFill/>
        </p:spPr>
        <p:txBody>
          <a:bodyPr wrap="square" rtlCol="0">
            <a:spAutoFit/>
          </a:bodyPr>
          <a:lstStyle/>
          <a:p>
            <a:r>
              <a:rPr lang="en-US" sz="2800" b="1" i="1" dirty="0"/>
              <a:t>pause</a:t>
            </a:r>
            <a:endParaRPr lang="en-US" b="1" i="1" dirty="0"/>
          </a:p>
        </p:txBody>
      </p:sp>
    </p:spTree>
    <p:extLst>
      <p:ext uri="{BB962C8B-B14F-4D97-AF65-F5344CB8AC3E}">
        <p14:creationId xmlns:p14="http://schemas.microsoft.com/office/powerpoint/2010/main" val="63726729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DCDFE-9D46-8F57-A1A7-B7200F01EE7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19E9BD-51D0-869F-6CB5-B5A4CC6E1441}"/>
              </a:ext>
            </a:extLst>
          </p:cNvPr>
          <p:cNvSpPr>
            <a:spLocks noGrp="1"/>
          </p:cNvSpPr>
          <p:nvPr>
            <p:ph idx="1"/>
          </p:nvPr>
        </p:nvSpPr>
        <p:spPr/>
        <p:txBody>
          <a:bodyPr>
            <a:normAutofit/>
          </a:bodyPr>
          <a:lstStyle/>
          <a:p>
            <a:r>
              <a:rPr lang="en-US" dirty="0"/>
              <a:t>A media player can be in three states</a:t>
            </a:r>
          </a:p>
          <a:p>
            <a:pPr lvl="1"/>
            <a:r>
              <a:rPr lang="en-US" dirty="0"/>
              <a:t>Playing</a:t>
            </a:r>
          </a:p>
          <a:p>
            <a:pPr lvl="1"/>
            <a:r>
              <a:rPr lang="en-US" dirty="0"/>
              <a:t>Paused</a:t>
            </a:r>
          </a:p>
          <a:p>
            <a:pPr lvl="1"/>
            <a:r>
              <a:rPr lang="en-US" dirty="0"/>
              <a:t>Stopped</a:t>
            </a:r>
          </a:p>
          <a:p>
            <a:r>
              <a:rPr lang="en-US" dirty="0"/>
              <a:t>Behavior of actions such as </a:t>
            </a:r>
            <a:r>
              <a:rPr lang="en-US" dirty="0">
                <a:latin typeface="Consolas" panose="020B0609020204030204" pitchFamily="49" charset="0"/>
              </a:rPr>
              <a:t>play()</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r>
              <a:rPr lang="en-US" dirty="0"/>
              <a:t> depends on the state</a:t>
            </a:r>
          </a:p>
          <a:p>
            <a:r>
              <a:rPr lang="en-US" dirty="0"/>
              <a:t>How would we design this without a design pattern?</a:t>
            </a:r>
          </a:p>
        </p:txBody>
      </p:sp>
      <p:sp>
        <p:nvSpPr>
          <p:cNvPr id="12" name="Title 11">
            <a:extLst>
              <a:ext uri="{FF2B5EF4-FFF2-40B4-BE49-F238E27FC236}">
                <a16:creationId xmlns:a16="http://schemas.microsoft.com/office/drawing/2014/main" id="{2E9E7360-B27F-8653-A434-65C1F5A14CDB}"/>
              </a:ext>
            </a:extLst>
          </p:cNvPr>
          <p:cNvSpPr>
            <a:spLocks noGrp="1"/>
          </p:cNvSpPr>
          <p:nvPr>
            <p:ph type="title"/>
          </p:nvPr>
        </p:nvSpPr>
        <p:spPr/>
        <p:txBody>
          <a:bodyPr/>
          <a:lstStyle/>
          <a:p>
            <a:r>
              <a:rPr lang="en-US" dirty="0"/>
              <a:t>Media player states</a:t>
            </a:r>
          </a:p>
        </p:txBody>
      </p:sp>
    </p:spTree>
    <p:extLst>
      <p:ext uri="{BB962C8B-B14F-4D97-AF65-F5344CB8AC3E}">
        <p14:creationId xmlns:p14="http://schemas.microsoft.com/office/powerpoint/2010/main" val="112803667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38E8D-8085-60FC-CD99-F6367C57CAF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7C850A9-C16A-9FB5-0B35-518C84572FE9}"/>
              </a:ext>
            </a:extLst>
          </p:cNvPr>
          <p:cNvSpPr>
            <a:spLocks noGrp="1"/>
          </p:cNvSpPr>
          <p:nvPr>
            <p:ph idx="1"/>
          </p:nvPr>
        </p:nvSpPr>
        <p:spPr/>
        <p:txBody>
          <a:bodyPr>
            <a:normAutofit fontScale="85000" lnSpcReduction="20000"/>
          </a:bodyPr>
          <a:lstStyle/>
          <a:p>
            <a:r>
              <a:rPr lang="en-US" dirty="0"/>
              <a:t>class </a:t>
            </a:r>
            <a:r>
              <a:rPr lang="en-US" dirty="0" err="1"/>
              <a:t>MediaPlayer</a:t>
            </a:r>
            <a:r>
              <a:rPr lang="en-US" dirty="0"/>
              <a:t> {</a:t>
            </a:r>
          </a:p>
          <a:p>
            <a:r>
              <a:rPr lang="en-US" dirty="0"/>
              <a:t>	private String state; // STOP, PLAY, PAUSE</a:t>
            </a:r>
          </a:p>
          <a:p>
            <a:endParaRPr lang="en-US" dirty="0"/>
          </a:p>
          <a:p>
            <a:r>
              <a:rPr lang="en-US" dirty="0"/>
              <a:t>	public </a:t>
            </a:r>
            <a:r>
              <a:rPr lang="en-US" dirty="0" err="1"/>
              <a:t>MediaPlayer</a:t>
            </a:r>
            <a:r>
              <a:rPr lang="en-US" dirty="0"/>
              <a:t>() { state = “STOP”; }</a:t>
            </a:r>
          </a:p>
          <a:p>
            <a:endParaRPr lang="en-US" dirty="0"/>
          </a:p>
          <a:p>
            <a:r>
              <a:rPr lang="en-US" dirty="0"/>
              <a:t>	public void start() {</a:t>
            </a:r>
          </a:p>
          <a:p>
            <a:r>
              <a:rPr lang="en-US" dirty="0"/>
              <a:t>		if (state == “STOP”) {</a:t>
            </a:r>
          </a:p>
          <a:p>
            <a:r>
              <a:rPr lang="en-US" dirty="0"/>
              <a:t>		   </a:t>
            </a:r>
            <a:r>
              <a:rPr lang="en-US" dirty="0" err="1"/>
              <a:t>System.out.println</a:t>
            </a:r>
            <a:r>
              <a:rPr lang="en-US" dirty="0"/>
              <a:t>(“Starting”);</a:t>
            </a:r>
          </a:p>
          <a:p>
            <a:r>
              <a:rPr lang="en-US" dirty="0"/>
              <a:t>		   state = “PLAY”;</a:t>
            </a:r>
          </a:p>
          <a:p>
            <a:r>
              <a:rPr lang="en-US" dirty="0"/>
              <a:t>		} else if (state == “PLAY”) {</a:t>
            </a:r>
          </a:p>
          <a:p>
            <a:r>
              <a:rPr lang="en-US" dirty="0"/>
              <a:t>		   </a:t>
            </a:r>
            <a:r>
              <a:rPr lang="en-US" dirty="0" err="1"/>
              <a:t>System.out.println</a:t>
            </a:r>
            <a:r>
              <a:rPr lang="en-US" dirty="0"/>
              <a:t>(“Already playing.”);</a:t>
            </a:r>
          </a:p>
          <a:p>
            <a:r>
              <a:rPr lang="en-US" dirty="0"/>
              <a:t>		} else if (state == “PAUSE”) {</a:t>
            </a:r>
          </a:p>
          <a:p>
            <a:r>
              <a:rPr lang="en-US" dirty="0"/>
              <a:t>		   </a:t>
            </a:r>
            <a:r>
              <a:rPr lang="en-US" dirty="0" err="1"/>
              <a:t>S.o.p</a:t>
            </a:r>
            <a:r>
              <a:rPr lang="en-US" dirty="0"/>
              <a:t>(“Resuming from pause.”);</a:t>
            </a:r>
          </a:p>
          <a:p>
            <a:r>
              <a:rPr lang="en-US" dirty="0"/>
              <a:t>		   state = “PLAY”;</a:t>
            </a:r>
          </a:p>
          <a:p>
            <a:r>
              <a:rPr lang="en-US" dirty="0"/>
              <a:t>		}</a:t>
            </a:r>
          </a:p>
          <a:p>
            <a:r>
              <a:rPr lang="en-US" dirty="0"/>
              <a:t>	}</a:t>
            </a:r>
          </a:p>
          <a:p>
            <a:endParaRPr lang="en-US" dirty="0"/>
          </a:p>
          <a:p>
            <a:r>
              <a:rPr lang="en-US" dirty="0"/>
              <a:t>	public void pause() {</a:t>
            </a:r>
          </a:p>
          <a:p>
            <a:r>
              <a:rPr lang="en-US" dirty="0"/>
              <a:t>		if (state == “STOP”) {</a:t>
            </a:r>
          </a:p>
          <a:p>
            <a:r>
              <a:rPr lang="en-US" dirty="0"/>
              <a:t>		   </a:t>
            </a:r>
            <a:r>
              <a:rPr lang="en-US" dirty="0" err="1"/>
              <a:t>S.o.p</a:t>
            </a:r>
            <a:r>
              <a:rPr lang="en-US" dirty="0"/>
              <a:t>(“Player stopped, can’t pause.”);</a:t>
            </a:r>
          </a:p>
          <a:p>
            <a:r>
              <a:rPr lang="en-US" dirty="0"/>
              <a:t>		} else if (state == “PLAY”) {</a:t>
            </a:r>
          </a:p>
          <a:p>
            <a:r>
              <a:rPr lang="en-US" dirty="0"/>
              <a:t>		   </a:t>
            </a:r>
            <a:r>
              <a:rPr lang="en-US" dirty="0" err="1"/>
              <a:t>S.o.p</a:t>
            </a:r>
            <a:r>
              <a:rPr lang="en-US" dirty="0"/>
              <a:t>(“Player paused”);</a:t>
            </a:r>
          </a:p>
          <a:p>
            <a:r>
              <a:rPr lang="en-US" dirty="0"/>
              <a:t>		   state = “PAUSE”;</a:t>
            </a:r>
          </a:p>
          <a:p>
            <a:r>
              <a:rPr lang="en-US" dirty="0"/>
              <a:t>		} else if (state == “PAUSE”) {</a:t>
            </a:r>
          </a:p>
          <a:p>
            <a:r>
              <a:rPr lang="en-US" dirty="0"/>
              <a:t>		   </a:t>
            </a:r>
            <a:r>
              <a:rPr lang="en-US" dirty="0" err="1"/>
              <a:t>S.o.p</a:t>
            </a:r>
            <a:r>
              <a:rPr lang="en-US" dirty="0"/>
              <a:t>(“Player already paused. Can’t pause again.”);</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E7046881-F43F-2B3B-2261-C5AFC583FA40}"/>
              </a:ext>
            </a:extLst>
          </p:cNvPr>
          <p:cNvSpPr>
            <a:spLocks noGrp="1"/>
          </p:cNvSpPr>
          <p:nvPr>
            <p:ph type="title"/>
          </p:nvPr>
        </p:nvSpPr>
        <p:spPr/>
        <p:txBody>
          <a:bodyPr/>
          <a:lstStyle/>
          <a:p>
            <a:r>
              <a:rPr lang="en-US" dirty="0"/>
              <a:t>Without design pattern</a:t>
            </a:r>
          </a:p>
        </p:txBody>
      </p:sp>
      <p:sp>
        <p:nvSpPr>
          <p:cNvPr id="8" name="Content Placeholder 7">
            <a:extLst>
              <a:ext uri="{FF2B5EF4-FFF2-40B4-BE49-F238E27FC236}">
                <a16:creationId xmlns:a16="http://schemas.microsoft.com/office/drawing/2014/main" id="{007B382A-0A60-D652-A82A-4AED608FC127}"/>
              </a:ext>
            </a:extLst>
          </p:cNvPr>
          <p:cNvSpPr>
            <a:spLocks noGrp="1"/>
          </p:cNvSpPr>
          <p:nvPr>
            <p:ph idx="13"/>
          </p:nvPr>
        </p:nvSpPr>
        <p:spPr/>
        <p:txBody>
          <a:bodyPr/>
          <a:lstStyle/>
          <a:p>
            <a:r>
              <a:rPr lang="en-US" dirty="0" err="1"/>
              <a:t>MediaPlayer</a:t>
            </a:r>
            <a:r>
              <a:rPr lang="en-US" dirty="0"/>
              <a:t> class</a:t>
            </a:r>
          </a:p>
          <a:p>
            <a:pPr lvl="1"/>
            <a:r>
              <a:rPr lang="en-US" dirty="0">
                <a:latin typeface="Consolas" panose="020B0609020204030204" pitchFamily="49" charset="0"/>
              </a:rPr>
              <a:t>state</a:t>
            </a:r>
            <a:r>
              <a:rPr lang="en-US" dirty="0"/>
              <a:t> field</a:t>
            </a:r>
          </a:p>
          <a:p>
            <a:pPr lvl="1"/>
            <a:r>
              <a:rPr lang="en-US" dirty="0"/>
              <a:t>Methods for </a:t>
            </a:r>
            <a:r>
              <a:rPr lang="en-US" dirty="0">
                <a:latin typeface="Consolas" panose="020B0609020204030204" pitchFamily="49" charset="0"/>
              </a:rPr>
              <a:t>start()</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p>
          <a:p>
            <a:pPr lvl="2"/>
            <a:r>
              <a:rPr lang="en-US" dirty="0"/>
              <a:t>Behavior depends on the state</a:t>
            </a:r>
          </a:p>
          <a:p>
            <a:pPr lvl="2"/>
            <a:r>
              <a:rPr lang="en-US" dirty="0"/>
              <a:t>Multiple </a:t>
            </a:r>
            <a:r>
              <a:rPr lang="en-US" dirty="0">
                <a:latin typeface="Consolas" panose="020B0609020204030204" pitchFamily="49" charset="0"/>
              </a:rPr>
              <a:t>if-else</a:t>
            </a:r>
            <a:r>
              <a:rPr lang="en-US" dirty="0"/>
              <a:t> branches</a:t>
            </a:r>
          </a:p>
        </p:txBody>
      </p:sp>
      <p:sp>
        <p:nvSpPr>
          <p:cNvPr id="2" name="Rectangle 1">
            <a:extLst>
              <a:ext uri="{FF2B5EF4-FFF2-40B4-BE49-F238E27FC236}">
                <a16:creationId xmlns:a16="http://schemas.microsoft.com/office/drawing/2014/main" id="{49702910-90C9-8796-51E5-12C790B5CF02}"/>
              </a:ext>
            </a:extLst>
          </p:cNvPr>
          <p:cNvSpPr/>
          <p:nvPr/>
        </p:nvSpPr>
        <p:spPr>
          <a:xfrm>
            <a:off x="6586968" y="1786523"/>
            <a:ext cx="4812499" cy="17772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7557BF89-6664-02FE-4D7C-259177A79965}"/>
              </a:ext>
            </a:extLst>
          </p:cNvPr>
          <p:cNvSpPr/>
          <p:nvPr/>
        </p:nvSpPr>
        <p:spPr>
          <a:xfrm>
            <a:off x="6586967" y="3692326"/>
            <a:ext cx="4812499" cy="194647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ED074C30-63C7-E4E4-3BC5-1942361A99A1}"/>
              </a:ext>
            </a:extLst>
          </p:cNvPr>
          <p:cNvSpPr txBox="1"/>
          <p:nvPr/>
        </p:nvSpPr>
        <p:spPr>
          <a:xfrm>
            <a:off x="2517715" y="4520489"/>
            <a:ext cx="3703001" cy="461665"/>
          </a:xfrm>
          <a:prstGeom prst="rect">
            <a:avLst/>
          </a:prstGeom>
          <a:noFill/>
        </p:spPr>
        <p:txBody>
          <a:bodyPr wrap="none" rtlCol="0">
            <a:spAutoFit/>
          </a:bodyPr>
          <a:lstStyle/>
          <a:p>
            <a:r>
              <a:rPr lang="en-US" sz="2400" b="1" i="1" dirty="0"/>
              <a:t>What if you miss one state?</a:t>
            </a:r>
          </a:p>
        </p:txBody>
      </p:sp>
    </p:spTree>
    <p:extLst>
      <p:ext uri="{BB962C8B-B14F-4D97-AF65-F5344CB8AC3E}">
        <p14:creationId xmlns:p14="http://schemas.microsoft.com/office/powerpoint/2010/main" val="397030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F267E-BD3C-B71D-ADB9-CF2138FB0E4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858ED01-6958-EDAC-FA2B-2324800012D5}"/>
              </a:ext>
            </a:extLst>
          </p:cNvPr>
          <p:cNvSpPr>
            <a:spLocks noGrp="1"/>
          </p:cNvSpPr>
          <p:nvPr>
            <p:ph idx="1"/>
          </p:nvPr>
        </p:nvSpPr>
        <p:spPr/>
        <p:txBody>
          <a:bodyPr>
            <a:normAutofit fontScale="92500" lnSpcReduction="20000"/>
          </a:bodyPr>
          <a:lstStyle/>
          <a:p>
            <a:r>
              <a:rPr lang="en-US" dirty="0"/>
              <a:t>interface </a:t>
            </a:r>
            <a:r>
              <a:rPr lang="en-US" dirty="0" err="1"/>
              <a:t>MediaPlayerState</a:t>
            </a:r>
            <a:r>
              <a:rPr lang="en-US" dirty="0"/>
              <a:t> {</a:t>
            </a:r>
          </a:p>
          <a:p>
            <a:r>
              <a:rPr lang="en-US" dirty="0"/>
              <a:t>    void play(</a:t>
            </a:r>
            <a:r>
              <a:rPr lang="en-US" dirty="0" err="1"/>
              <a:t>MediaPlayer</a:t>
            </a:r>
            <a:r>
              <a:rPr lang="en-US" dirty="0"/>
              <a:t> context);</a:t>
            </a:r>
          </a:p>
          <a:p>
            <a:r>
              <a:rPr lang="en-US" dirty="0"/>
              <a:t>    void pause(</a:t>
            </a:r>
            <a:r>
              <a:rPr lang="en-US" dirty="0" err="1"/>
              <a:t>MediaPlayer</a:t>
            </a:r>
            <a:r>
              <a:rPr lang="en-US" dirty="0"/>
              <a:t> context);</a:t>
            </a:r>
          </a:p>
          <a:p>
            <a:r>
              <a:rPr lang="en-US" dirty="0"/>
              <a:t>    void stop(</a:t>
            </a:r>
            <a:r>
              <a:rPr lang="en-US" dirty="0" err="1"/>
              <a:t>MediaPlayer</a:t>
            </a:r>
            <a:r>
              <a:rPr lang="en-US" dirty="0"/>
              <a:t> context);</a:t>
            </a:r>
          </a:p>
          <a:p>
            <a:r>
              <a:rPr lang="en-US" dirty="0"/>
              <a:t>}</a:t>
            </a:r>
          </a:p>
          <a:p>
            <a:endParaRPr lang="en-US" dirty="0"/>
          </a:p>
          <a:p>
            <a:r>
              <a:rPr lang="en-US" dirty="0"/>
              <a:t>class </a:t>
            </a:r>
            <a:r>
              <a:rPr lang="en-US" dirty="0" err="1"/>
              <a:t>PlayState</a:t>
            </a:r>
            <a:r>
              <a:rPr lang="en-US" dirty="0"/>
              <a:t> implements </a:t>
            </a:r>
            <a:r>
              <a:rPr lang="en-US" dirty="0" err="1"/>
              <a:t>MediaPlayerState</a:t>
            </a:r>
            <a:r>
              <a:rPr lang="en-US" dirty="0"/>
              <a:t> {</a:t>
            </a:r>
          </a:p>
          <a:p>
            <a:r>
              <a:rPr lang="en-US" dirty="0"/>
              <a:t>    @Override</a:t>
            </a:r>
          </a:p>
          <a:p>
            <a:r>
              <a:rPr lang="en-US" dirty="0"/>
              <a:t>    public void play(</a:t>
            </a:r>
            <a:r>
              <a:rPr lang="en-US" dirty="0" err="1"/>
              <a:t>MediaPlayer</a:t>
            </a:r>
            <a:r>
              <a:rPr lang="en-US" dirty="0"/>
              <a:t> context) {</a:t>
            </a:r>
          </a:p>
          <a:p>
            <a:r>
              <a:rPr lang="en-US" dirty="0"/>
              <a:t>        </a:t>
            </a:r>
            <a:r>
              <a:rPr lang="en-US" dirty="0" err="1"/>
              <a:t>System.out.println</a:t>
            </a:r>
            <a:r>
              <a:rPr lang="en-US" dirty="0"/>
              <a:t>("Media is already playing.");</a:t>
            </a:r>
          </a:p>
          <a:p>
            <a:r>
              <a:rPr lang="en-US" dirty="0"/>
              <a:t>    }</a:t>
            </a:r>
          </a:p>
          <a:p>
            <a:endParaRPr lang="en-US" dirty="0"/>
          </a:p>
          <a:p>
            <a:r>
              <a:rPr lang="en-US" dirty="0"/>
              <a:t>    @Override</a:t>
            </a:r>
          </a:p>
          <a:p>
            <a:r>
              <a:rPr lang="en-US" dirty="0"/>
              <a:t>    public void pause(</a:t>
            </a:r>
            <a:r>
              <a:rPr lang="en-US" dirty="0" err="1"/>
              <a:t>MediaPlayer</a:t>
            </a:r>
            <a:r>
              <a:rPr lang="en-US" dirty="0"/>
              <a:t> context) {</a:t>
            </a:r>
          </a:p>
          <a:p>
            <a:r>
              <a:rPr lang="en-US" dirty="0"/>
              <a:t>        </a:t>
            </a:r>
            <a:r>
              <a:rPr lang="en-US" dirty="0" err="1"/>
              <a:t>System.out.println</a:t>
            </a:r>
            <a:r>
              <a:rPr lang="en-US" dirty="0"/>
              <a:t>("Pausing media...");</a:t>
            </a:r>
          </a:p>
          <a:p>
            <a:r>
              <a:rPr lang="en-US" dirty="0"/>
              <a:t>        </a:t>
            </a:r>
            <a:r>
              <a:rPr lang="en-US" dirty="0" err="1"/>
              <a:t>context.setState</a:t>
            </a:r>
            <a:r>
              <a:rPr lang="en-US" dirty="0"/>
              <a:t>(new </a:t>
            </a:r>
            <a:r>
              <a:rPr lang="en-US" dirty="0" err="1"/>
              <a:t>PausedState</a:t>
            </a:r>
            <a:r>
              <a:rPr lang="en-US" dirty="0"/>
              <a:t>());</a:t>
            </a:r>
          </a:p>
          <a:p>
            <a:r>
              <a:rPr lang="en-US" dirty="0"/>
              <a:t>    }</a:t>
            </a:r>
          </a:p>
          <a:p>
            <a:endParaRPr lang="en-US" dirty="0"/>
          </a:p>
          <a:p>
            <a:r>
              <a:rPr lang="en-US" dirty="0"/>
              <a:t>    @Override</a:t>
            </a:r>
          </a:p>
          <a:p>
            <a:r>
              <a:rPr lang="en-US" dirty="0"/>
              <a:t>    public void stop(</a:t>
            </a:r>
            <a:r>
              <a:rPr lang="en-US" dirty="0" err="1"/>
              <a:t>MediaPlayer</a:t>
            </a:r>
            <a:r>
              <a:rPr lang="en-US" dirty="0"/>
              <a:t> context) {</a:t>
            </a:r>
          </a:p>
          <a:p>
            <a:r>
              <a:rPr lang="en-US" dirty="0"/>
              <a:t>        </a:t>
            </a:r>
            <a:r>
              <a:rPr lang="en-US" dirty="0" err="1"/>
              <a:t>System.out.println</a:t>
            </a:r>
            <a:r>
              <a:rPr lang="en-US" dirty="0"/>
              <a:t>("Stopping media...");</a:t>
            </a:r>
          </a:p>
          <a:p>
            <a:r>
              <a:rPr lang="en-US" dirty="0"/>
              <a:t>        </a:t>
            </a:r>
            <a:r>
              <a:rPr lang="en-US" dirty="0" err="1"/>
              <a:t>context.setState</a:t>
            </a:r>
            <a:r>
              <a:rPr lang="en-US" dirty="0"/>
              <a:t>(new </a:t>
            </a:r>
            <a:r>
              <a:rPr lang="en-US" dirty="0" err="1"/>
              <a:t>StoppedState</a:t>
            </a:r>
            <a:r>
              <a:rPr lang="en-US" dirty="0"/>
              <a:t>());</a:t>
            </a:r>
          </a:p>
          <a:p>
            <a:r>
              <a:rPr lang="en-US" dirty="0"/>
              <a:t>    }</a:t>
            </a:r>
          </a:p>
          <a:p>
            <a:r>
              <a:rPr lang="en-US" dirty="0"/>
              <a:t>}</a:t>
            </a:r>
          </a:p>
          <a:p>
            <a:r>
              <a:rPr lang="en-US" dirty="0"/>
              <a:t>// Similarly, for </a:t>
            </a:r>
            <a:r>
              <a:rPr lang="en-US" dirty="0" err="1"/>
              <a:t>PauseState</a:t>
            </a:r>
            <a:r>
              <a:rPr lang="en-US" dirty="0"/>
              <a:t> and </a:t>
            </a:r>
            <a:r>
              <a:rPr lang="en-US" dirty="0" err="1"/>
              <a:t>StopState</a:t>
            </a:r>
            <a:endParaRPr lang="en-US" dirty="0"/>
          </a:p>
        </p:txBody>
      </p:sp>
      <p:sp>
        <p:nvSpPr>
          <p:cNvPr id="12" name="Title 11">
            <a:extLst>
              <a:ext uri="{FF2B5EF4-FFF2-40B4-BE49-F238E27FC236}">
                <a16:creationId xmlns:a16="http://schemas.microsoft.com/office/drawing/2014/main" id="{D96CEEBF-7F09-E0D1-A491-8FE6F7788BF1}"/>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5142B23C-A950-A447-70A2-49E04CCDB025}"/>
              </a:ext>
            </a:extLst>
          </p:cNvPr>
          <p:cNvSpPr>
            <a:spLocks noGrp="1"/>
          </p:cNvSpPr>
          <p:nvPr>
            <p:ph idx="13"/>
          </p:nvPr>
        </p:nvSpPr>
        <p:spPr/>
        <p:txBody>
          <a:bodyPr/>
          <a:lstStyle/>
          <a:p>
            <a:r>
              <a:rPr lang="en-US" dirty="0"/>
              <a:t>Interface </a:t>
            </a:r>
            <a:r>
              <a:rPr lang="en-US" dirty="0" err="1">
                <a:latin typeface="Consolas" panose="020B0609020204030204" pitchFamily="49" charset="0"/>
              </a:rPr>
              <a:t>MediaPlayerState</a:t>
            </a:r>
            <a:endParaRPr lang="en-US" dirty="0">
              <a:latin typeface="Consolas" panose="020B0609020204030204" pitchFamily="49" charset="0"/>
            </a:endParaRPr>
          </a:p>
          <a:p>
            <a:pPr lvl="1"/>
            <a:r>
              <a:rPr lang="en-US" dirty="0"/>
              <a:t>Concrete subclasses for </a:t>
            </a:r>
            <a:r>
              <a:rPr lang="en-US" dirty="0" err="1">
                <a:latin typeface="Consolas" panose="020B0609020204030204" pitchFamily="49" charset="0"/>
              </a:rPr>
              <a:t>PlayState</a:t>
            </a:r>
            <a:r>
              <a:rPr lang="en-US" dirty="0"/>
              <a:t>, </a:t>
            </a:r>
            <a:r>
              <a:rPr lang="en-US" dirty="0" err="1">
                <a:latin typeface="Consolas" panose="020B0609020204030204" pitchFamily="49" charset="0"/>
              </a:rPr>
              <a:t>PauseState</a:t>
            </a:r>
            <a:r>
              <a:rPr lang="en-US" dirty="0"/>
              <a:t>, and </a:t>
            </a:r>
            <a:r>
              <a:rPr lang="en-US" dirty="0" err="1">
                <a:latin typeface="Consolas" panose="020B0609020204030204" pitchFamily="49" charset="0"/>
              </a:rPr>
              <a:t>StopState</a:t>
            </a:r>
            <a:endParaRPr lang="en-US" dirty="0">
              <a:latin typeface="Consolas" panose="020B0609020204030204" pitchFamily="49" charset="0"/>
            </a:endParaRPr>
          </a:p>
          <a:p>
            <a:endParaRPr lang="en-US" dirty="0">
              <a:latin typeface="Consolas" panose="020B0609020204030204" pitchFamily="49" charset="0"/>
            </a:endParaRPr>
          </a:p>
        </p:txBody>
      </p:sp>
      <p:sp>
        <p:nvSpPr>
          <p:cNvPr id="2" name="Rectangle 1">
            <a:extLst>
              <a:ext uri="{FF2B5EF4-FFF2-40B4-BE49-F238E27FC236}">
                <a16:creationId xmlns:a16="http://schemas.microsoft.com/office/drawing/2014/main" id="{D7CE0F6C-5223-CF2D-C038-89302D21B3A1}"/>
              </a:ext>
            </a:extLst>
          </p:cNvPr>
          <p:cNvSpPr/>
          <p:nvPr/>
        </p:nvSpPr>
        <p:spPr>
          <a:xfrm>
            <a:off x="6176512" y="696277"/>
            <a:ext cx="4812499" cy="1097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D8771A5C-B82E-6B3F-3B64-B792A1FAFEDE}"/>
              </a:ext>
            </a:extLst>
          </p:cNvPr>
          <p:cNvSpPr/>
          <p:nvPr/>
        </p:nvSpPr>
        <p:spPr>
          <a:xfrm>
            <a:off x="6176511" y="1882358"/>
            <a:ext cx="4812499" cy="372332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B8A7DD9A-87E0-1F6E-FD07-2F0DF5C4A784}"/>
              </a:ext>
            </a:extLst>
          </p:cNvPr>
          <p:cNvSpPr txBox="1"/>
          <p:nvPr/>
        </p:nvSpPr>
        <p:spPr>
          <a:xfrm>
            <a:off x="1746758" y="4060542"/>
            <a:ext cx="4314001" cy="461665"/>
          </a:xfrm>
          <a:prstGeom prst="rect">
            <a:avLst/>
          </a:prstGeom>
          <a:noFill/>
        </p:spPr>
        <p:txBody>
          <a:bodyPr wrap="none" rtlCol="0">
            <a:spAutoFit/>
          </a:bodyPr>
          <a:lstStyle/>
          <a:p>
            <a:r>
              <a:rPr lang="en-US" sz="2400" b="1" i="1" dirty="0"/>
              <a:t>Now what if you miss one state?</a:t>
            </a:r>
          </a:p>
        </p:txBody>
      </p:sp>
    </p:spTree>
    <p:extLst>
      <p:ext uri="{BB962C8B-B14F-4D97-AF65-F5344CB8AC3E}">
        <p14:creationId xmlns:p14="http://schemas.microsoft.com/office/powerpoint/2010/main" val="1774121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142A5-1854-73E8-AED8-865F7824192F}"/>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842AD03-645F-EE4E-77E1-C4CDA8ED19AC}"/>
              </a:ext>
            </a:extLst>
          </p:cNvPr>
          <p:cNvSpPr>
            <a:spLocks noGrp="1"/>
          </p:cNvSpPr>
          <p:nvPr>
            <p:ph idx="1"/>
          </p:nvPr>
        </p:nvSpPr>
        <p:spPr/>
        <p:txBody>
          <a:bodyPr>
            <a:normAutofit fontScale="92500" lnSpcReduction="10000"/>
          </a:bodyPr>
          <a:lstStyle/>
          <a:p>
            <a:r>
              <a:rPr lang="en-US" dirty="0"/>
              <a:t>class </a:t>
            </a:r>
            <a:r>
              <a:rPr lang="en-US" dirty="0" err="1"/>
              <a:t>MediaPlayer</a:t>
            </a:r>
            <a:r>
              <a:rPr lang="en-US" dirty="0"/>
              <a:t> {</a:t>
            </a:r>
          </a:p>
          <a:p>
            <a:r>
              <a:rPr lang="en-US" dirty="0"/>
              <a:t>    private </a:t>
            </a:r>
            <a:r>
              <a:rPr lang="en-US" dirty="0" err="1"/>
              <a:t>MediaPlayerState</a:t>
            </a:r>
            <a:r>
              <a:rPr lang="en-US" dirty="0"/>
              <a:t> </a:t>
            </a:r>
            <a:r>
              <a:rPr lang="en-US" dirty="0" err="1"/>
              <a:t>currentState</a:t>
            </a:r>
            <a:r>
              <a:rPr lang="en-US" dirty="0"/>
              <a:t>;</a:t>
            </a:r>
          </a:p>
          <a:p>
            <a:endParaRPr lang="en-US" dirty="0"/>
          </a:p>
          <a:p>
            <a:r>
              <a:rPr lang="en-US" dirty="0"/>
              <a:t>    public </a:t>
            </a:r>
            <a:r>
              <a:rPr lang="en-US" dirty="0" err="1"/>
              <a:t>MediaPlayer</a:t>
            </a:r>
            <a:r>
              <a:rPr lang="en-US" dirty="0"/>
              <a:t>() {</a:t>
            </a:r>
          </a:p>
          <a:p>
            <a:r>
              <a:rPr lang="en-US" dirty="0"/>
              <a:t>        // Default state is "Stopped"</a:t>
            </a:r>
          </a:p>
          <a:p>
            <a:r>
              <a:rPr lang="en-US" dirty="0"/>
              <a:t>        </a:t>
            </a:r>
            <a:r>
              <a:rPr lang="en-US" dirty="0" err="1"/>
              <a:t>this.currentState</a:t>
            </a:r>
            <a:r>
              <a:rPr lang="en-US" dirty="0"/>
              <a:t> = new </a:t>
            </a:r>
            <a:r>
              <a:rPr lang="en-US" dirty="0" err="1"/>
              <a:t>StoppedState</a:t>
            </a:r>
            <a:r>
              <a:rPr lang="en-US" dirty="0"/>
              <a:t>();</a:t>
            </a:r>
          </a:p>
          <a:p>
            <a:r>
              <a:rPr lang="en-US" dirty="0"/>
              <a:t>    }</a:t>
            </a:r>
          </a:p>
          <a:p>
            <a:endParaRPr lang="en-US" dirty="0"/>
          </a:p>
          <a:p>
            <a:r>
              <a:rPr lang="en-US" dirty="0"/>
              <a:t>    public void </a:t>
            </a:r>
            <a:r>
              <a:rPr lang="en-US" dirty="0" err="1"/>
              <a:t>setState</a:t>
            </a:r>
            <a:r>
              <a:rPr lang="en-US" dirty="0"/>
              <a:t>(</a:t>
            </a:r>
            <a:r>
              <a:rPr lang="en-US" dirty="0" err="1"/>
              <a:t>MediaPlayerState</a:t>
            </a:r>
            <a:r>
              <a:rPr lang="en-US" dirty="0"/>
              <a:t> state) {</a:t>
            </a:r>
          </a:p>
          <a:p>
            <a:r>
              <a:rPr lang="en-US" dirty="0"/>
              <a:t>        </a:t>
            </a:r>
            <a:r>
              <a:rPr lang="en-US" dirty="0" err="1"/>
              <a:t>this.currentState</a:t>
            </a:r>
            <a:r>
              <a:rPr lang="en-US" dirty="0"/>
              <a:t> = state;</a:t>
            </a:r>
          </a:p>
          <a:p>
            <a:r>
              <a:rPr lang="en-US" dirty="0"/>
              <a:t>    }</a:t>
            </a:r>
          </a:p>
          <a:p>
            <a:endParaRPr lang="en-US" dirty="0"/>
          </a:p>
          <a:p>
            <a:r>
              <a:rPr lang="en-US" dirty="0"/>
              <a:t>    public void play() {</a:t>
            </a:r>
          </a:p>
          <a:p>
            <a:r>
              <a:rPr lang="en-US" dirty="0"/>
              <a:t>        </a:t>
            </a:r>
            <a:r>
              <a:rPr lang="en-US" dirty="0" err="1"/>
              <a:t>currentState.play</a:t>
            </a:r>
            <a:r>
              <a:rPr lang="en-US" dirty="0"/>
              <a:t>(this);</a:t>
            </a:r>
          </a:p>
          <a:p>
            <a:r>
              <a:rPr lang="en-US" dirty="0"/>
              <a:t>    }</a:t>
            </a:r>
          </a:p>
          <a:p>
            <a:endParaRPr lang="en-US" dirty="0"/>
          </a:p>
          <a:p>
            <a:r>
              <a:rPr lang="en-US" dirty="0"/>
              <a:t>    public void pause() {</a:t>
            </a:r>
          </a:p>
          <a:p>
            <a:r>
              <a:rPr lang="en-US" dirty="0"/>
              <a:t>        </a:t>
            </a:r>
            <a:r>
              <a:rPr lang="en-US" dirty="0" err="1"/>
              <a:t>currentState.pause</a:t>
            </a:r>
            <a:r>
              <a:rPr lang="en-US" dirty="0"/>
              <a:t>(this);</a:t>
            </a:r>
          </a:p>
          <a:p>
            <a:r>
              <a:rPr lang="en-US" dirty="0"/>
              <a:t>    }</a:t>
            </a:r>
          </a:p>
          <a:p>
            <a:endParaRPr lang="en-US" dirty="0"/>
          </a:p>
          <a:p>
            <a:r>
              <a:rPr lang="en-US" dirty="0"/>
              <a:t>    public void stop() {</a:t>
            </a:r>
          </a:p>
          <a:p>
            <a:r>
              <a:rPr lang="en-US" dirty="0"/>
              <a:t>        </a:t>
            </a:r>
            <a:r>
              <a:rPr lang="en-US" dirty="0" err="1"/>
              <a:t>currentState.stop</a:t>
            </a:r>
            <a:r>
              <a:rPr lang="en-US" dirty="0"/>
              <a:t>(this);</a:t>
            </a:r>
          </a:p>
          <a:p>
            <a:r>
              <a:rPr lang="en-US" dirty="0"/>
              <a:t>    }</a:t>
            </a:r>
          </a:p>
          <a:p>
            <a:r>
              <a:rPr lang="en-US" dirty="0"/>
              <a:t>}</a:t>
            </a:r>
          </a:p>
        </p:txBody>
      </p:sp>
      <p:sp>
        <p:nvSpPr>
          <p:cNvPr id="12" name="Title 11">
            <a:extLst>
              <a:ext uri="{FF2B5EF4-FFF2-40B4-BE49-F238E27FC236}">
                <a16:creationId xmlns:a16="http://schemas.microsoft.com/office/drawing/2014/main" id="{FE0C892A-1F41-16C0-3CA9-D56B64411432}"/>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0DB31E52-0088-F21A-E63D-70E74A42C081}"/>
              </a:ext>
            </a:extLst>
          </p:cNvPr>
          <p:cNvSpPr>
            <a:spLocks noGrp="1"/>
          </p:cNvSpPr>
          <p:nvPr>
            <p:ph idx="13"/>
          </p:nvPr>
        </p:nvSpPr>
        <p:spPr/>
        <p:txBody>
          <a:bodyPr/>
          <a:lstStyle/>
          <a:p>
            <a:r>
              <a:rPr lang="en-US" dirty="0" err="1">
                <a:latin typeface="Consolas" panose="020B0609020204030204" pitchFamily="49" charset="0"/>
              </a:rPr>
              <a:t>MediaPlayer</a:t>
            </a:r>
            <a:r>
              <a:rPr lang="en-US" dirty="0"/>
              <a:t> class maintains a reference to the current state </a:t>
            </a:r>
          </a:p>
          <a:p>
            <a:r>
              <a:rPr lang="en-US" dirty="0"/>
              <a:t>Delegates behavior to the current state</a:t>
            </a:r>
          </a:p>
          <a:p>
            <a:r>
              <a:rPr lang="en-US" dirty="0"/>
              <a:t>The state transition logic for each state is encapsulated in the state object</a:t>
            </a:r>
          </a:p>
          <a:p>
            <a:r>
              <a:rPr lang="en-US" dirty="0"/>
              <a:t>No messy </a:t>
            </a:r>
            <a:r>
              <a:rPr lang="en-US" dirty="0">
                <a:latin typeface="Consolas" panose="020B0609020204030204" pitchFamily="49" charset="0"/>
              </a:rPr>
              <a:t>if-else</a:t>
            </a:r>
            <a:r>
              <a:rPr lang="en-US" dirty="0"/>
              <a:t> statements</a:t>
            </a:r>
          </a:p>
        </p:txBody>
      </p:sp>
      <p:sp>
        <p:nvSpPr>
          <p:cNvPr id="2" name="Rectangle 1">
            <a:extLst>
              <a:ext uri="{FF2B5EF4-FFF2-40B4-BE49-F238E27FC236}">
                <a16:creationId xmlns:a16="http://schemas.microsoft.com/office/drawing/2014/main" id="{43905CB6-8620-683E-B54B-9602E2B3EA0D}"/>
              </a:ext>
            </a:extLst>
          </p:cNvPr>
          <p:cNvSpPr/>
          <p:nvPr/>
        </p:nvSpPr>
        <p:spPr>
          <a:xfrm>
            <a:off x="6176511" y="3184358"/>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0E60F7FF-AC4F-FDEC-78DC-96CA1AD19896}"/>
              </a:ext>
            </a:extLst>
          </p:cNvPr>
          <p:cNvSpPr/>
          <p:nvPr/>
        </p:nvSpPr>
        <p:spPr>
          <a:xfrm>
            <a:off x="6176511" y="3970421"/>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EE54078-78CE-FA31-2472-7F35AE9112B9}"/>
              </a:ext>
            </a:extLst>
          </p:cNvPr>
          <p:cNvSpPr/>
          <p:nvPr/>
        </p:nvSpPr>
        <p:spPr>
          <a:xfrm>
            <a:off x="6176511" y="4756484"/>
            <a:ext cx="5871110" cy="87429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30485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839C4-E4EA-61E3-C2B6-C495B45BF517}"/>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24F27F92-91BC-5FED-575C-AC4CE55607CD}"/>
              </a:ext>
            </a:extLst>
          </p:cNvPr>
          <p:cNvSpPr>
            <a:spLocks noGrp="1"/>
          </p:cNvSpPr>
          <p:nvPr>
            <p:ph idx="1"/>
          </p:nvPr>
        </p:nvSpPr>
        <p:spPr/>
        <p:txBody>
          <a:bodyPr/>
          <a:lstStyle/>
          <a:p>
            <a:r>
              <a:rPr lang="en-US" dirty="0"/>
              <a:t>Allow an object to alter its behavior when its internal state changes</a:t>
            </a:r>
          </a:p>
          <a:p>
            <a:r>
              <a:rPr lang="en-US" dirty="0"/>
              <a:t>The object will </a:t>
            </a:r>
            <a:r>
              <a:rPr lang="en-US" i="1" dirty="0"/>
              <a:t>appear</a:t>
            </a:r>
            <a:r>
              <a:rPr lang="en-US" dirty="0"/>
              <a:t> to have changed its class</a:t>
            </a:r>
          </a:p>
        </p:txBody>
      </p:sp>
      <p:sp>
        <p:nvSpPr>
          <p:cNvPr id="12" name="Title 11">
            <a:extLst>
              <a:ext uri="{FF2B5EF4-FFF2-40B4-BE49-F238E27FC236}">
                <a16:creationId xmlns:a16="http://schemas.microsoft.com/office/drawing/2014/main" id="{2929BFDC-E3E7-EBD1-2F74-3570EE389521}"/>
              </a:ext>
            </a:extLst>
          </p:cNvPr>
          <p:cNvSpPr>
            <a:spLocks noGrp="1"/>
          </p:cNvSpPr>
          <p:nvPr>
            <p:ph type="title"/>
          </p:nvPr>
        </p:nvSpPr>
        <p:spPr/>
        <p:txBody>
          <a:bodyPr/>
          <a:lstStyle/>
          <a:p>
            <a:r>
              <a:rPr lang="en-US" dirty="0"/>
              <a:t>State design pattern</a:t>
            </a:r>
          </a:p>
        </p:txBody>
      </p:sp>
    </p:spTree>
    <p:extLst>
      <p:ext uri="{BB962C8B-B14F-4D97-AF65-F5344CB8AC3E}">
        <p14:creationId xmlns:p14="http://schemas.microsoft.com/office/powerpoint/2010/main" val="186030318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9913F-FAD5-ACD0-D065-3A55CEF94E68}"/>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D9533BCF-072E-C033-9FEF-1E7E9F4B59B3}"/>
              </a:ext>
            </a:extLst>
          </p:cNvPr>
          <p:cNvSpPr>
            <a:spLocks noGrp="1"/>
          </p:cNvSpPr>
          <p:nvPr>
            <p:ph idx="1"/>
          </p:nvPr>
        </p:nvSpPr>
        <p:spPr/>
        <p:txBody>
          <a:bodyPr/>
          <a:lstStyle/>
          <a:p>
            <a:r>
              <a:rPr lang="en-US" dirty="0"/>
              <a:t>Localizes state-specific behavior and partitions behavior for different states</a:t>
            </a:r>
          </a:p>
          <a:p>
            <a:r>
              <a:rPr lang="en-US" dirty="0"/>
              <a:t>Makes state transitions explicit</a:t>
            </a:r>
          </a:p>
          <a:p>
            <a:pPr lvl="1"/>
            <a:r>
              <a:rPr lang="en-US" dirty="0"/>
              <a:t>When state is represented by internal values, it’s state representation has no explicit representation</a:t>
            </a:r>
          </a:p>
          <a:p>
            <a:pPr lvl="1"/>
            <a:r>
              <a:rPr lang="en-US" dirty="0"/>
              <a:t>Introducing state objects makes the state explicit</a:t>
            </a:r>
          </a:p>
        </p:txBody>
      </p:sp>
      <p:sp>
        <p:nvSpPr>
          <p:cNvPr id="12" name="Title 11">
            <a:extLst>
              <a:ext uri="{FF2B5EF4-FFF2-40B4-BE49-F238E27FC236}">
                <a16:creationId xmlns:a16="http://schemas.microsoft.com/office/drawing/2014/main" id="{2358786D-4DA1-807E-93F9-F3C9AF5B55F3}"/>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393563672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C29FC-777A-6DC2-9C1A-3FC63E08E7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72D0B7-E0D0-5FB1-ACFE-BBE14BFDDEE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5A02B8B-21C6-D620-38A3-EEF8D52BC0B6}"/>
              </a:ext>
            </a:extLst>
          </p:cNvPr>
          <p:cNvSpPr>
            <a:spLocks noGrp="1"/>
          </p:cNvSpPr>
          <p:nvPr>
            <p:ph type="body" sz="quarter" idx="13"/>
          </p:nvPr>
        </p:nvSpPr>
        <p:spPr/>
        <p:txBody>
          <a:bodyPr/>
          <a:lstStyle/>
          <a:p>
            <a:r>
              <a:rPr lang="en-US" sz="3200" dirty="0"/>
              <a:t>Template method design pattern</a:t>
            </a:r>
          </a:p>
        </p:txBody>
      </p:sp>
    </p:spTree>
    <p:extLst>
      <p:ext uri="{BB962C8B-B14F-4D97-AF65-F5344CB8AC3E}">
        <p14:creationId xmlns:p14="http://schemas.microsoft.com/office/powerpoint/2010/main" val="200518494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1E68F-74E8-7A3A-1383-FA389C6F6B2E}"/>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D1E3E7-2460-3C05-FC22-D1CF12EF4CCB}"/>
              </a:ext>
            </a:extLst>
          </p:cNvPr>
          <p:cNvSpPr>
            <a:spLocks noGrp="1"/>
          </p:cNvSpPr>
          <p:nvPr>
            <p:ph idx="1"/>
          </p:nvPr>
        </p:nvSpPr>
        <p:spPr/>
        <p:txBody>
          <a:bodyPr/>
          <a:lstStyle/>
          <a:p>
            <a:r>
              <a:rPr lang="en-US" dirty="0"/>
              <a:t>Given a graph represented as an adjacency list in a file, find all paths from a source node to a destination node, and print them</a:t>
            </a:r>
          </a:p>
          <a:p>
            <a:r>
              <a:rPr lang="en-US" dirty="0"/>
              <a:t>Solution structure</a:t>
            </a:r>
          </a:p>
          <a:p>
            <a:pPr lvl="1"/>
            <a:r>
              <a:rPr lang="en-US" dirty="0"/>
              <a:t>Initialize the graph</a:t>
            </a:r>
          </a:p>
          <a:p>
            <a:pPr lvl="1"/>
            <a:r>
              <a:rPr lang="en-US" dirty="0"/>
              <a:t>Traverse the graph using BFS or DFS</a:t>
            </a:r>
          </a:p>
          <a:p>
            <a:pPr lvl="1"/>
            <a:r>
              <a:rPr lang="en-US" dirty="0"/>
              <a:t>Print the results</a:t>
            </a:r>
          </a:p>
        </p:txBody>
      </p:sp>
      <p:sp>
        <p:nvSpPr>
          <p:cNvPr id="12" name="Title 11">
            <a:extLst>
              <a:ext uri="{FF2B5EF4-FFF2-40B4-BE49-F238E27FC236}">
                <a16:creationId xmlns:a16="http://schemas.microsoft.com/office/drawing/2014/main" id="{78F21495-EC54-B8F8-947D-6F76FCCD8904}"/>
              </a:ext>
            </a:extLst>
          </p:cNvPr>
          <p:cNvSpPr>
            <a:spLocks noGrp="1"/>
          </p:cNvSpPr>
          <p:nvPr>
            <p:ph type="title"/>
          </p:nvPr>
        </p:nvSpPr>
        <p:spPr/>
        <p:txBody>
          <a:bodyPr/>
          <a:lstStyle/>
          <a:p>
            <a:r>
              <a:rPr lang="en-US" dirty="0"/>
              <a:t>Case study: find all paths from source to destination</a:t>
            </a:r>
          </a:p>
        </p:txBody>
      </p:sp>
    </p:spTree>
    <p:extLst>
      <p:ext uri="{BB962C8B-B14F-4D97-AF65-F5344CB8AC3E}">
        <p14:creationId xmlns:p14="http://schemas.microsoft.com/office/powerpoint/2010/main" val="4007152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CC6A1-025B-5066-7833-B1E6FFABEBCC}"/>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7F2406D-0A47-4025-C260-3F0337B10C05}"/>
              </a:ext>
            </a:extLst>
          </p:cNvPr>
          <p:cNvSpPr>
            <a:spLocks noGrp="1"/>
          </p:cNvSpPr>
          <p:nvPr>
            <p:ph idx="1"/>
          </p:nvPr>
        </p:nvSpPr>
        <p:spPr>
          <a:xfrm>
            <a:off x="6176512" y="785004"/>
            <a:ext cx="6015488" cy="5135149"/>
          </a:xfrm>
        </p:spPr>
        <p:txBody>
          <a:bodyPr>
            <a:normAutofit fontScale="77500" lnSpcReduction="20000"/>
          </a:bodyPr>
          <a:lstStyle/>
          <a:p>
            <a:r>
              <a:rPr lang="en-US" dirty="0"/>
              <a:t>abstract class </a:t>
            </a:r>
            <a:r>
              <a:rPr lang="en-US" dirty="0" err="1"/>
              <a:t>GraphPathFinder</a:t>
            </a:r>
            <a:r>
              <a:rPr lang="en-US" dirty="0"/>
              <a:t> {</a:t>
            </a:r>
          </a:p>
          <a:p>
            <a:r>
              <a:rPr lang="en-US" dirty="0"/>
              <a:t>    protected Map&lt;Integer, List&lt;Integer&gt;&gt; graph = new HashMap&lt;&gt;();</a:t>
            </a:r>
          </a:p>
          <a:p>
            <a:r>
              <a:rPr lang="en-US" dirty="0"/>
              <a:t>    protected List&lt;List&lt;Integer&gt;&gt; </a:t>
            </a:r>
            <a:r>
              <a:rPr lang="en-US" dirty="0" err="1"/>
              <a:t>allPaths</a:t>
            </a:r>
            <a:r>
              <a:rPr lang="en-US" dirty="0"/>
              <a:t> = new </a:t>
            </a:r>
            <a:r>
              <a:rPr lang="en-US" dirty="0" err="1"/>
              <a:t>ArrayList</a:t>
            </a:r>
            <a:r>
              <a:rPr lang="en-US" dirty="0"/>
              <a:t>&lt;&gt;();</a:t>
            </a:r>
          </a:p>
          <a:p>
            <a:r>
              <a:rPr lang="en-US" dirty="0"/>
              <a:t>    protected int source, destination;</a:t>
            </a:r>
          </a:p>
          <a:p>
            <a:endParaRPr lang="en-US" dirty="0"/>
          </a:p>
          <a:p>
            <a:r>
              <a:rPr lang="en-US" dirty="0"/>
              <a:t>    // Template method</a:t>
            </a:r>
          </a:p>
          <a:p>
            <a:r>
              <a:rPr lang="en-US" dirty="0"/>
              <a:t>    public final void </a:t>
            </a:r>
            <a:r>
              <a:rPr lang="en-US" dirty="0" err="1"/>
              <a:t>findPaths</a:t>
            </a:r>
            <a:r>
              <a:rPr lang="en-US" dirty="0"/>
              <a:t>(int source, int destination) {</a:t>
            </a:r>
          </a:p>
          <a:p>
            <a:r>
              <a:rPr lang="en-US" dirty="0"/>
              <a:t>        </a:t>
            </a:r>
            <a:r>
              <a:rPr lang="en-US" dirty="0" err="1"/>
              <a:t>this.source</a:t>
            </a:r>
            <a:r>
              <a:rPr lang="en-US" dirty="0"/>
              <a:t> = source;</a:t>
            </a:r>
          </a:p>
          <a:p>
            <a:r>
              <a:rPr lang="en-US" dirty="0"/>
              <a:t>        </a:t>
            </a:r>
            <a:r>
              <a:rPr lang="en-US" dirty="0" err="1"/>
              <a:t>this.destination</a:t>
            </a:r>
            <a:r>
              <a:rPr lang="en-US" dirty="0"/>
              <a:t> = destination;</a:t>
            </a:r>
          </a:p>
          <a:p>
            <a:r>
              <a:rPr lang="en-US" dirty="0"/>
              <a:t>        initialize();</a:t>
            </a:r>
          </a:p>
          <a:p>
            <a:r>
              <a:rPr lang="en-US" dirty="0"/>
              <a:t>        </a:t>
            </a:r>
            <a:r>
              <a:rPr lang="en-US" dirty="0" err="1"/>
              <a:t>traverseGraph</a:t>
            </a:r>
            <a:r>
              <a:rPr lang="en-US" dirty="0"/>
              <a:t>();</a:t>
            </a:r>
          </a:p>
          <a:p>
            <a:r>
              <a:rPr lang="en-US" dirty="0"/>
              <a:t>        </a:t>
            </a:r>
            <a:r>
              <a:rPr lang="en-US" dirty="0" err="1"/>
              <a:t>collectResults</a:t>
            </a:r>
            <a:r>
              <a:rPr lang="en-US" dirty="0"/>
              <a:t>();</a:t>
            </a:r>
          </a:p>
          <a:p>
            <a:r>
              <a:rPr lang="en-US" dirty="0"/>
              <a:t>    }</a:t>
            </a:r>
          </a:p>
          <a:p>
            <a:endParaRPr lang="en-US" dirty="0"/>
          </a:p>
          <a:p>
            <a:r>
              <a:rPr lang="en-US" dirty="0"/>
              <a:t>    // Initialize the graph</a:t>
            </a:r>
          </a:p>
          <a:p>
            <a:r>
              <a:rPr lang="en-US" dirty="0"/>
              <a:t>    protected void initialize() {</a:t>
            </a:r>
          </a:p>
          <a:p>
            <a:r>
              <a:rPr lang="en-US" dirty="0"/>
              <a:t>        </a:t>
            </a:r>
            <a:r>
              <a:rPr lang="en-US" dirty="0" err="1"/>
              <a:t>System.out.println</a:t>
            </a:r>
            <a:r>
              <a:rPr lang="en-US" dirty="0"/>
              <a:t>("Initializing graph...");</a:t>
            </a:r>
          </a:p>
          <a:p>
            <a:r>
              <a:rPr lang="en-US" dirty="0"/>
              <a:t>	   graph = </a:t>
            </a:r>
            <a:r>
              <a:rPr lang="en-US" dirty="0" err="1"/>
              <a:t>readFile</a:t>
            </a:r>
            <a:r>
              <a:rPr lang="en-US" dirty="0"/>
              <a:t>();</a:t>
            </a:r>
          </a:p>
          <a:p>
            <a:r>
              <a:rPr lang="en-US" dirty="0"/>
              <a:t>	  // more initialization</a:t>
            </a:r>
          </a:p>
          <a:p>
            <a:r>
              <a:rPr lang="en-US" dirty="0"/>
              <a:t>       </a:t>
            </a:r>
          </a:p>
          <a:p>
            <a:r>
              <a:rPr lang="en-US" dirty="0"/>
              <a:t>    }</a:t>
            </a:r>
          </a:p>
          <a:p>
            <a:endParaRPr lang="en-US" dirty="0"/>
          </a:p>
          <a:p>
            <a:r>
              <a:rPr lang="en-US" dirty="0"/>
              <a:t>    // Abstract method for traversal (BFS or DFS)</a:t>
            </a:r>
          </a:p>
          <a:p>
            <a:r>
              <a:rPr lang="en-US" dirty="0"/>
              <a:t>    protected abstract void </a:t>
            </a:r>
            <a:r>
              <a:rPr lang="en-US" dirty="0" err="1"/>
              <a:t>traverseGraph</a:t>
            </a:r>
            <a:r>
              <a:rPr lang="en-US" dirty="0"/>
              <a:t>();</a:t>
            </a:r>
          </a:p>
          <a:p>
            <a:endParaRPr lang="en-US" dirty="0"/>
          </a:p>
          <a:p>
            <a:r>
              <a:rPr lang="en-US" dirty="0"/>
              <a:t>    // Collect and display the results</a:t>
            </a:r>
          </a:p>
          <a:p>
            <a:r>
              <a:rPr lang="en-US" dirty="0"/>
              <a:t>    protected void </a:t>
            </a:r>
            <a:r>
              <a:rPr lang="en-US" dirty="0" err="1"/>
              <a:t>collectResults</a:t>
            </a:r>
            <a:r>
              <a:rPr lang="en-US" dirty="0"/>
              <a:t>() {</a:t>
            </a:r>
          </a:p>
          <a:p>
            <a:r>
              <a:rPr lang="en-US" dirty="0"/>
              <a:t>	for (List&lt;Integer&gt; path : </a:t>
            </a:r>
            <a:r>
              <a:rPr lang="en-US" dirty="0" err="1"/>
              <a:t>allPaths</a:t>
            </a:r>
            <a:r>
              <a:rPr lang="en-US" dirty="0"/>
              <a:t>) {</a:t>
            </a:r>
          </a:p>
          <a:p>
            <a:r>
              <a:rPr lang="en-US" dirty="0"/>
              <a:t>            </a:t>
            </a:r>
            <a:r>
              <a:rPr lang="en-US" dirty="0" err="1"/>
              <a:t>System.out.println</a:t>
            </a:r>
            <a:r>
              <a:rPr lang="en-US" dirty="0"/>
              <a:t>(path);</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AF196AB8-83B9-F0F3-054C-DE5997F7AE99}"/>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A70228D-EEB7-3147-5E27-362C00E964A1}"/>
              </a:ext>
            </a:extLst>
          </p:cNvPr>
          <p:cNvSpPr>
            <a:spLocks noGrp="1"/>
          </p:cNvSpPr>
          <p:nvPr>
            <p:ph idx="13"/>
          </p:nvPr>
        </p:nvSpPr>
        <p:spPr/>
        <p:txBody>
          <a:bodyPr>
            <a:normAutofit/>
          </a:bodyPr>
          <a:lstStyle/>
          <a:p>
            <a:r>
              <a:rPr lang="en-US" dirty="0"/>
              <a:t>Abstract class </a:t>
            </a:r>
            <a:r>
              <a:rPr lang="en-US" dirty="0" err="1"/>
              <a:t>GraphPathFinder</a:t>
            </a:r>
            <a:endParaRPr lang="en-US" dirty="0"/>
          </a:p>
          <a:p>
            <a:pPr lvl="1"/>
            <a:r>
              <a:rPr lang="en-US" dirty="0"/>
              <a:t>Concrete method </a:t>
            </a:r>
            <a:r>
              <a:rPr lang="en-US" dirty="0" err="1">
                <a:latin typeface="Consolas" panose="020B0609020204030204" pitchFamily="49" charset="0"/>
              </a:rPr>
              <a:t>initializeGraph</a:t>
            </a:r>
            <a:r>
              <a:rPr lang="en-US" dirty="0">
                <a:latin typeface="Consolas" panose="020B0609020204030204" pitchFamily="49" charset="0"/>
              </a:rPr>
              <a:t>()</a:t>
            </a:r>
          </a:p>
          <a:p>
            <a:pPr lvl="1"/>
            <a:r>
              <a:rPr lang="en-US" dirty="0"/>
              <a:t>Concrete method </a:t>
            </a:r>
            <a:r>
              <a:rPr lang="en-US" dirty="0" err="1">
                <a:latin typeface="Consolas" panose="020B0609020204030204" pitchFamily="49" charset="0"/>
              </a:rPr>
              <a:t>collectResults</a:t>
            </a:r>
            <a:r>
              <a:rPr lang="en-US" dirty="0">
                <a:latin typeface="Consolas" panose="020B0609020204030204" pitchFamily="49" charset="0"/>
              </a:rPr>
              <a:t>()</a:t>
            </a:r>
          </a:p>
          <a:p>
            <a:pPr lvl="1"/>
            <a:r>
              <a:rPr lang="en-US" dirty="0"/>
              <a:t>Abstract method </a:t>
            </a:r>
            <a:r>
              <a:rPr lang="en-US" dirty="0">
                <a:latin typeface="Consolas" panose="020B0609020204030204" pitchFamily="49" charset="0"/>
              </a:rPr>
              <a:t>traverse()</a:t>
            </a:r>
          </a:p>
        </p:txBody>
      </p:sp>
      <p:sp>
        <p:nvSpPr>
          <p:cNvPr id="3" name="Rectangle 2">
            <a:extLst>
              <a:ext uri="{FF2B5EF4-FFF2-40B4-BE49-F238E27FC236}">
                <a16:creationId xmlns:a16="http://schemas.microsoft.com/office/drawing/2014/main" id="{C1DBFF6F-27EF-1C12-F023-E9C43298B525}"/>
              </a:ext>
            </a:extLst>
          </p:cNvPr>
          <p:cNvSpPr/>
          <p:nvPr/>
        </p:nvSpPr>
        <p:spPr>
          <a:xfrm>
            <a:off x="6176511" y="2087029"/>
            <a:ext cx="5871110" cy="55189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D1CA39A7-95EE-0579-9559-9324F7CA930C}"/>
              </a:ext>
            </a:extLst>
          </p:cNvPr>
          <p:cNvSpPr/>
          <p:nvPr/>
        </p:nvSpPr>
        <p:spPr>
          <a:xfrm>
            <a:off x="6176511" y="2800680"/>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Rectangle 4">
            <a:extLst>
              <a:ext uri="{FF2B5EF4-FFF2-40B4-BE49-F238E27FC236}">
                <a16:creationId xmlns:a16="http://schemas.microsoft.com/office/drawing/2014/main" id="{860FC3D1-5A44-467E-86DF-5C27C1775255}"/>
              </a:ext>
            </a:extLst>
          </p:cNvPr>
          <p:cNvSpPr/>
          <p:nvPr/>
        </p:nvSpPr>
        <p:spPr>
          <a:xfrm>
            <a:off x="6176511" y="4360416"/>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449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3827F-B87F-4D5D-C621-B8B570C653BA}"/>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01890B3A-3FD1-2206-1FED-B1BAA32D2ABC}"/>
              </a:ext>
            </a:extLst>
          </p:cNvPr>
          <p:cNvSpPr>
            <a:spLocks noGrp="1"/>
          </p:cNvSpPr>
          <p:nvPr>
            <p:ph idx="1"/>
          </p:nvPr>
        </p:nvSpPr>
        <p:spPr>
          <a:xfrm>
            <a:off x="6176512" y="785004"/>
            <a:ext cx="6015488" cy="5135149"/>
          </a:xfrm>
        </p:spPr>
        <p:txBody>
          <a:bodyPr>
            <a:normAutofit fontScale="85000" lnSpcReduction="10000"/>
          </a:bodyPr>
          <a:lstStyle/>
          <a:p>
            <a:r>
              <a:rPr lang="en-US" dirty="0"/>
              <a:t>class </a:t>
            </a:r>
            <a:r>
              <a:rPr lang="en-US" dirty="0" err="1"/>
              <a:t>BFSPathFinder</a:t>
            </a:r>
            <a:r>
              <a:rPr lang="en-US" dirty="0"/>
              <a:t> extends </a:t>
            </a:r>
            <a:r>
              <a:rPr lang="en-US" dirty="0" err="1"/>
              <a:t>GraphPathFinder</a:t>
            </a:r>
            <a:r>
              <a:rPr lang="en-US" dirty="0"/>
              <a:t> {</a:t>
            </a:r>
          </a:p>
          <a:p>
            <a:r>
              <a:rPr lang="en-US" dirty="0"/>
              <a:t>    @Override</a:t>
            </a:r>
          </a:p>
          <a:p>
            <a:r>
              <a:rPr lang="en-US" dirty="0"/>
              <a:t>    protected void </a:t>
            </a:r>
            <a:r>
              <a:rPr lang="en-US" dirty="0" err="1"/>
              <a:t>traverseGraph</a:t>
            </a:r>
            <a:r>
              <a:rPr lang="en-US" dirty="0"/>
              <a:t>() {</a:t>
            </a:r>
          </a:p>
          <a:p>
            <a:r>
              <a:rPr lang="en-US" dirty="0"/>
              <a:t>        </a:t>
            </a:r>
            <a:r>
              <a:rPr lang="en-US" dirty="0" err="1"/>
              <a:t>System.out.println</a:t>
            </a:r>
            <a:r>
              <a:rPr lang="en-US" dirty="0"/>
              <a:t>("Using BFS for traversal...");</a:t>
            </a:r>
          </a:p>
          <a:p>
            <a:r>
              <a:rPr lang="en-US" dirty="0"/>
              <a:t>        Queue&lt;List&lt;Integer&gt;&gt; queue = new LinkedList&lt;&gt;();</a:t>
            </a:r>
          </a:p>
          <a:p>
            <a:r>
              <a:rPr lang="en-US" dirty="0"/>
              <a:t>        </a:t>
            </a:r>
            <a:r>
              <a:rPr lang="en-US" dirty="0" err="1"/>
              <a:t>queue.add</a:t>
            </a:r>
            <a:r>
              <a:rPr lang="en-US" dirty="0"/>
              <a:t>(</a:t>
            </a:r>
            <a:r>
              <a:rPr lang="en-US" dirty="0" err="1"/>
              <a:t>Arrays.asList</a:t>
            </a:r>
            <a:r>
              <a:rPr lang="en-US" dirty="0"/>
              <a:t>(source));</a:t>
            </a:r>
          </a:p>
          <a:p>
            <a:endParaRPr lang="en-US" dirty="0"/>
          </a:p>
          <a:p>
            <a:r>
              <a:rPr lang="en-US" dirty="0"/>
              <a:t>        while (!</a:t>
            </a:r>
            <a:r>
              <a:rPr lang="en-US" dirty="0" err="1"/>
              <a:t>queue.isEmpty</a:t>
            </a:r>
            <a:r>
              <a:rPr lang="en-US" dirty="0"/>
              <a:t>()) {</a:t>
            </a:r>
          </a:p>
          <a:p>
            <a:r>
              <a:rPr lang="en-US" dirty="0"/>
              <a:t>            List&lt;Integer&gt; path = </a:t>
            </a:r>
            <a:r>
              <a:rPr lang="en-US" dirty="0" err="1"/>
              <a:t>queue.poll</a:t>
            </a:r>
            <a:r>
              <a:rPr lang="en-US" dirty="0"/>
              <a:t>();</a:t>
            </a:r>
          </a:p>
          <a:p>
            <a:r>
              <a:rPr lang="en-US" dirty="0"/>
              <a:t>            int </a:t>
            </a:r>
            <a:r>
              <a:rPr lang="en-US" dirty="0" err="1"/>
              <a:t>currentNode</a:t>
            </a:r>
            <a:r>
              <a:rPr lang="en-US" dirty="0"/>
              <a:t> = </a:t>
            </a:r>
            <a:r>
              <a:rPr lang="en-US" dirty="0" err="1"/>
              <a:t>path.get</a:t>
            </a:r>
            <a:r>
              <a:rPr lang="en-US" dirty="0"/>
              <a:t>(</a:t>
            </a:r>
            <a:r>
              <a:rPr lang="en-US" dirty="0" err="1"/>
              <a:t>path.size</a:t>
            </a:r>
            <a:r>
              <a:rPr lang="en-US" dirty="0"/>
              <a:t>() - 1);</a:t>
            </a:r>
          </a:p>
          <a:p>
            <a:endParaRPr lang="en-US" dirty="0"/>
          </a:p>
          <a:p>
            <a:r>
              <a:rPr lang="en-US" dirty="0"/>
              <a:t>            if (</a:t>
            </a:r>
            <a:r>
              <a:rPr lang="en-US" dirty="0" err="1"/>
              <a:t>currentNode</a:t>
            </a:r>
            <a:r>
              <a:rPr lang="en-US" dirty="0"/>
              <a:t> == destination) {</a:t>
            </a:r>
          </a:p>
          <a:p>
            <a:r>
              <a:rPr lang="en-US" dirty="0"/>
              <a:t>                </a:t>
            </a:r>
            <a:r>
              <a:rPr lang="en-US" dirty="0" err="1"/>
              <a:t>allPaths.add</a:t>
            </a:r>
            <a:r>
              <a:rPr lang="en-US" dirty="0"/>
              <a:t>(new </a:t>
            </a:r>
            <a:r>
              <a:rPr lang="en-US" dirty="0" err="1"/>
              <a:t>ArrayList</a:t>
            </a:r>
            <a:r>
              <a:rPr lang="en-US" dirty="0"/>
              <a:t>&lt;&gt;(path));</a:t>
            </a:r>
          </a:p>
          <a:p>
            <a:r>
              <a:rPr lang="en-US" dirty="0"/>
              <a:t>            } else {</a:t>
            </a:r>
          </a:p>
          <a:p>
            <a:r>
              <a:rPr lang="en-US" dirty="0"/>
              <a:t>                for (int neighbor : </a:t>
            </a:r>
            <a:r>
              <a:rPr lang="en-US" dirty="0" err="1"/>
              <a:t>graph.getOrDefault</a:t>
            </a:r>
            <a:r>
              <a:rPr lang="en-US" dirty="0"/>
              <a:t>(</a:t>
            </a:r>
            <a:r>
              <a:rPr lang="en-US" dirty="0" err="1"/>
              <a:t>currentNode</a:t>
            </a:r>
            <a:r>
              <a:rPr lang="en-US" dirty="0"/>
              <a:t>, new </a:t>
            </a:r>
            <a:r>
              <a:rPr lang="en-US" dirty="0" err="1"/>
              <a:t>ArrayList</a:t>
            </a:r>
            <a:r>
              <a:rPr lang="en-US" dirty="0"/>
              <a:t>&lt;&gt;())) {</a:t>
            </a:r>
          </a:p>
          <a:p>
            <a:r>
              <a:rPr lang="en-US" dirty="0"/>
              <a:t>                    List&lt;Integer&gt; </a:t>
            </a:r>
            <a:r>
              <a:rPr lang="en-US" dirty="0" err="1"/>
              <a:t>newPath</a:t>
            </a:r>
            <a:r>
              <a:rPr lang="en-US" dirty="0"/>
              <a:t> = new </a:t>
            </a:r>
            <a:r>
              <a:rPr lang="en-US" dirty="0" err="1"/>
              <a:t>ArrayList</a:t>
            </a:r>
            <a:r>
              <a:rPr lang="en-US" dirty="0"/>
              <a:t>&lt;&gt;(path);</a:t>
            </a:r>
          </a:p>
          <a:p>
            <a:r>
              <a:rPr lang="en-US" dirty="0"/>
              <a:t>                    </a:t>
            </a:r>
            <a:r>
              <a:rPr lang="en-US" dirty="0" err="1"/>
              <a:t>newPath.add</a:t>
            </a:r>
            <a:r>
              <a:rPr lang="en-US" dirty="0"/>
              <a:t>(neighbor);</a:t>
            </a:r>
          </a:p>
          <a:p>
            <a:r>
              <a:rPr lang="en-US" dirty="0"/>
              <a:t>                    </a:t>
            </a:r>
            <a:r>
              <a:rPr lang="en-US" dirty="0" err="1"/>
              <a:t>queue.add</a:t>
            </a:r>
            <a:r>
              <a:rPr lang="en-US" dirty="0"/>
              <a:t>(</a:t>
            </a:r>
            <a:r>
              <a:rPr lang="en-US" dirty="0" err="1"/>
              <a:t>newPath</a:t>
            </a:r>
            <a:r>
              <a:rPr lang="en-US" dirty="0"/>
              <a:t>);</a:t>
            </a:r>
          </a:p>
          <a:p>
            <a:r>
              <a:rPr lang="en-US" dirty="0"/>
              <a:t>                }</a:t>
            </a:r>
          </a:p>
          <a:p>
            <a:r>
              <a:rPr lang="en-US" dirty="0"/>
              <a:t>            }</a:t>
            </a:r>
          </a:p>
          <a:p>
            <a:r>
              <a:rPr lang="en-US" dirty="0"/>
              <a:t>        }</a:t>
            </a:r>
          </a:p>
          <a:p>
            <a:r>
              <a:rPr lang="en-US" dirty="0"/>
              <a:t>    }</a:t>
            </a:r>
          </a:p>
          <a:p>
            <a:r>
              <a:rPr lang="en-US" dirty="0"/>
              <a:t>}</a:t>
            </a:r>
          </a:p>
          <a:p>
            <a:endParaRPr lang="en-US" dirty="0"/>
          </a:p>
          <a:p>
            <a:endParaRPr lang="en-US" dirty="0"/>
          </a:p>
        </p:txBody>
      </p:sp>
      <p:sp>
        <p:nvSpPr>
          <p:cNvPr id="12" name="Title 11">
            <a:extLst>
              <a:ext uri="{FF2B5EF4-FFF2-40B4-BE49-F238E27FC236}">
                <a16:creationId xmlns:a16="http://schemas.microsoft.com/office/drawing/2014/main" id="{4264E65D-00D8-CD83-1787-89A4C857A137}"/>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3D0F8CB-C0A5-6E6B-EE7F-586EBFB2CAB2}"/>
              </a:ext>
            </a:extLst>
          </p:cNvPr>
          <p:cNvSpPr>
            <a:spLocks noGrp="1"/>
          </p:cNvSpPr>
          <p:nvPr>
            <p:ph idx="13"/>
          </p:nvPr>
        </p:nvSpPr>
        <p:spPr/>
        <p:txBody>
          <a:bodyPr>
            <a:normAutofit/>
          </a:bodyPr>
          <a:lstStyle/>
          <a:p>
            <a:r>
              <a:rPr lang="en-US" dirty="0"/>
              <a:t>Concrete class </a:t>
            </a:r>
            <a:r>
              <a:rPr lang="en-US" dirty="0" err="1">
                <a:latin typeface="Consolas" panose="020B0609020204030204" pitchFamily="49" charset="0"/>
              </a:rPr>
              <a:t>BFSPathFinder</a:t>
            </a:r>
            <a:r>
              <a:rPr lang="en-US" dirty="0"/>
              <a:t> and </a:t>
            </a:r>
            <a:r>
              <a:rPr lang="en-US" dirty="0" err="1">
                <a:latin typeface="Consolas" panose="020B0609020204030204" pitchFamily="49" charset="0"/>
              </a:rPr>
              <a:t>DFSPathFinder</a:t>
            </a:r>
            <a:r>
              <a:rPr lang="en-US" dirty="0"/>
              <a:t> implement </a:t>
            </a:r>
            <a:r>
              <a:rPr lang="en-US" dirty="0" err="1">
                <a:latin typeface="Consolas" panose="020B0609020204030204" pitchFamily="49" charset="0"/>
              </a:rPr>
              <a:t>traverseGraph</a:t>
            </a:r>
            <a:r>
              <a:rPr lang="en-US" dirty="0">
                <a:latin typeface="Consolas" panose="020B0609020204030204" pitchFamily="49" charset="0"/>
              </a:rPr>
              <a:t>()</a:t>
            </a:r>
          </a:p>
        </p:txBody>
      </p:sp>
      <p:sp>
        <p:nvSpPr>
          <p:cNvPr id="3" name="Rectangle 2">
            <a:extLst>
              <a:ext uri="{FF2B5EF4-FFF2-40B4-BE49-F238E27FC236}">
                <a16:creationId xmlns:a16="http://schemas.microsoft.com/office/drawing/2014/main" id="{10821BFF-9669-6DB9-918B-8DD5C31AE8B3}"/>
              </a:ext>
            </a:extLst>
          </p:cNvPr>
          <p:cNvSpPr/>
          <p:nvPr/>
        </p:nvSpPr>
        <p:spPr>
          <a:xfrm>
            <a:off x="6176511" y="1203158"/>
            <a:ext cx="5871110" cy="42672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59603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93A0A-D44A-C3E6-AD5B-314E89311552}"/>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FFB13D-5442-7F69-A732-7E21785880E3}"/>
              </a:ext>
            </a:extLst>
          </p:cNvPr>
          <p:cNvSpPr>
            <a:spLocks noGrp="1"/>
          </p:cNvSpPr>
          <p:nvPr>
            <p:ph idx="1"/>
          </p:nvPr>
        </p:nvSpPr>
        <p:spPr/>
        <p:txBody>
          <a:bodyPr/>
          <a:lstStyle/>
          <a:p>
            <a:r>
              <a:rPr lang="en-US" dirty="0"/>
              <a:t>Define the skeleton of an algorithm in an operation, deferring some steps to subclasses</a:t>
            </a:r>
          </a:p>
          <a:p>
            <a:r>
              <a:rPr lang="en-US" dirty="0"/>
              <a:t>Allows subclasses to redefine certain steps of an algorithm without changing the algorithm's structure</a:t>
            </a:r>
          </a:p>
          <a:p>
            <a:r>
              <a:rPr lang="en-US" dirty="0"/>
              <a:t>Typically used to design variants of the same algorithm</a:t>
            </a:r>
          </a:p>
        </p:txBody>
      </p:sp>
      <p:sp>
        <p:nvSpPr>
          <p:cNvPr id="12" name="Title 11">
            <a:extLst>
              <a:ext uri="{FF2B5EF4-FFF2-40B4-BE49-F238E27FC236}">
                <a16:creationId xmlns:a16="http://schemas.microsoft.com/office/drawing/2014/main" id="{23F78799-F068-6FE8-50BD-33BAF6D62B68}"/>
              </a:ext>
            </a:extLst>
          </p:cNvPr>
          <p:cNvSpPr>
            <a:spLocks noGrp="1"/>
          </p:cNvSpPr>
          <p:nvPr>
            <p:ph type="title"/>
          </p:nvPr>
        </p:nvSpPr>
        <p:spPr/>
        <p:txBody>
          <a:bodyPr/>
          <a:lstStyle/>
          <a:p>
            <a:r>
              <a:rPr lang="en-US" dirty="0"/>
              <a:t>Template method design pattern</a:t>
            </a:r>
          </a:p>
        </p:txBody>
      </p:sp>
    </p:spTree>
    <p:extLst>
      <p:ext uri="{BB962C8B-B14F-4D97-AF65-F5344CB8AC3E}">
        <p14:creationId xmlns:p14="http://schemas.microsoft.com/office/powerpoint/2010/main" val="254409781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C540202-F019-725A-8D2F-3837BFB7CA8E}"/>
              </a:ext>
            </a:extLst>
          </p:cNvPr>
          <p:cNvSpPr>
            <a:spLocks noGrp="1"/>
          </p:cNvSpPr>
          <p:nvPr>
            <p:ph idx="1"/>
          </p:nvPr>
        </p:nvSpPr>
        <p:spPr/>
        <p:txBody>
          <a:bodyPr>
            <a:normAutofit fontScale="92500" lnSpcReduction="10000"/>
          </a:bodyPr>
          <a:lstStyle/>
          <a:p>
            <a:r>
              <a:rPr lang="en-US" dirty="0"/>
              <a:t>Fundamental technique for code reuse</a:t>
            </a:r>
          </a:p>
          <a:p>
            <a:r>
              <a:rPr lang="en-US" dirty="0"/>
              <a:t>Leads to an “inverted” control structure</a:t>
            </a:r>
          </a:p>
          <a:p>
            <a:pPr lvl="1"/>
            <a:r>
              <a:rPr lang="en-US" dirty="0"/>
              <a:t>Parent class calls the operations of the child class and not the other way around</a:t>
            </a:r>
          </a:p>
          <a:p>
            <a:r>
              <a:rPr lang="en-US" dirty="0"/>
              <a:t>Template methods can be</a:t>
            </a:r>
          </a:p>
          <a:p>
            <a:pPr lvl="1"/>
            <a:r>
              <a:rPr lang="en-US" i="1" dirty="0"/>
              <a:t>Hooks: </a:t>
            </a:r>
            <a:r>
              <a:rPr lang="en-US" dirty="0"/>
              <a:t>the base class provides empty implementation and subclasses can </a:t>
            </a:r>
            <a:r>
              <a:rPr lang="en-US" b="1" i="1" dirty="0"/>
              <a:t>optionally</a:t>
            </a:r>
            <a:r>
              <a:rPr lang="en-US" dirty="0"/>
              <a:t> implement them</a:t>
            </a:r>
          </a:p>
          <a:p>
            <a:pPr lvl="1"/>
            <a:r>
              <a:rPr lang="en-US" i="1" dirty="0"/>
              <a:t>Abstract operations: </a:t>
            </a:r>
            <a:r>
              <a:rPr lang="en-US" dirty="0"/>
              <a:t>the base class provides abstract methods and the subclasses </a:t>
            </a:r>
            <a:r>
              <a:rPr lang="en-US" b="1" i="1" dirty="0"/>
              <a:t>must</a:t>
            </a:r>
            <a:r>
              <a:rPr lang="en-US" dirty="0"/>
              <a:t> implement them </a:t>
            </a:r>
          </a:p>
          <a:p>
            <a:r>
              <a:rPr lang="en-US" dirty="0"/>
              <a:t>Commonly used for implementing algorithms that share a lot of same steps and differ only in a few steps</a:t>
            </a:r>
          </a:p>
        </p:txBody>
      </p:sp>
      <p:sp>
        <p:nvSpPr>
          <p:cNvPr id="5" name="Title 4">
            <a:extLst>
              <a:ext uri="{FF2B5EF4-FFF2-40B4-BE49-F238E27FC236}">
                <a16:creationId xmlns:a16="http://schemas.microsoft.com/office/drawing/2014/main" id="{6C46A89E-9F71-C127-7946-7AE78FA6A9F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3924269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8A6CA-1CB8-C944-B9A4-BE232C1E37A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260E37-1D46-520A-BAC2-5D654F5A5BC8}"/>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B7E274BA-1C90-3039-0AC0-0EEA1F2D8517}"/>
              </a:ext>
            </a:extLst>
          </p:cNvPr>
          <p:cNvSpPr>
            <a:spLocks noGrp="1"/>
          </p:cNvSpPr>
          <p:nvPr>
            <p:ph type="title"/>
          </p:nvPr>
        </p:nvSpPr>
        <p:spPr/>
        <p:txBody>
          <a:bodyPr/>
          <a:lstStyle/>
          <a:p>
            <a:r>
              <a:rPr lang="en-US" dirty="0"/>
              <a:t>Sample design pattern question</a:t>
            </a:r>
          </a:p>
        </p:txBody>
      </p:sp>
    </p:spTree>
    <p:extLst>
      <p:ext uri="{BB962C8B-B14F-4D97-AF65-F5344CB8AC3E}">
        <p14:creationId xmlns:p14="http://schemas.microsoft.com/office/powerpoint/2010/main" val="144449804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8696-B55B-7F89-5D58-EC98107FE7E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C117E0-D09F-7FF7-77B0-9D8F2248D46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FE73D23-1F59-EA8E-89FA-A6C684A30F57}"/>
              </a:ext>
            </a:extLst>
          </p:cNvPr>
          <p:cNvSpPr>
            <a:spLocks noGrp="1"/>
          </p:cNvSpPr>
          <p:nvPr>
            <p:ph type="body" sz="quarter" idx="13"/>
          </p:nvPr>
        </p:nvSpPr>
        <p:spPr/>
        <p:txBody>
          <a:bodyPr/>
          <a:lstStyle/>
          <a:p>
            <a:r>
              <a:rPr lang="en-US" sz="3200" dirty="0"/>
              <a:t>Visitor design pattern</a:t>
            </a:r>
          </a:p>
        </p:txBody>
      </p:sp>
    </p:spTree>
    <p:extLst>
      <p:ext uri="{BB962C8B-B14F-4D97-AF65-F5344CB8AC3E}">
        <p14:creationId xmlns:p14="http://schemas.microsoft.com/office/powerpoint/2010/main" val="125858808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1EADD-B992-98F9-A9F8-8476459E31EB}"/>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A41966AF-B949-14DD-7EC0-A6DF526642FE}"/>
              </a:ext>
            </a:extLst>
          </p:cNvPr>
          <p:cNvSpPr>
            <a:spLocks noGrp="1"/>
          </p:cNvSpPr>
          <p:nvPr>
            <p:ph idx="13"/>
          </p:nvPr>
        </p:nvSpPr>
        <p:spPr/>
        <p:txBody>
          <a:bodyPr/>
          <a:lstStyle/>
          <a:p>
            <a:r>
              <a:rPr lang="en-US" dirty="0"/>
              <a:t>A shape can be </a:t>
            </a:r>
          </a:p>
          <a:p>
            <a:pPr lvl="1"/>
            <a:r>
              <a:rPr lang="en-US" dirty="0" err="1">
                <a:latin typeface="Consolas" panose="020B0609020204030204" pitchFamily="49" charset="0"/>
              </a:rPr>
              <a:t>CompoundShape</a:t>
            </a:r>
            <a:endParaRPr lang="en-US" dirty="0">
              <a:latin typeface="Consolas" panose="020B0609020204030204" pitchFamily="49" charset="0"/>
            </a:endParaRPr>
          </a:p>
          <a:p>
            <a:pPr lvl="1"/>
            <a:r>
              <a:rPr lang="en-US" dirty="0">
                <a:latin typeface="Consolas" panose="020B0609020204030204" pitchFamily="49" charset="0"/>
              </a:rPr>
              <a:t>Rectangle</a:t>
            </a:r>
          </a:p>
          <a:p>
            <a:pPr lvl="1"/>
            <a:r>
              <a:rPr lang="en-US" dirty="0">
                <a:latin typeface="Consolas" panose="020B0609020204030204" pitchFamily="49" charset="0"/>
              </a:rPr>
              <a:t>Triangle</a:t>
            </a:r>
          </a:p>
          <a:p>
            <a:pPr lvl="1"/>
            <a:r>
              <a:rPr lang="en-US" dirty="0">
                <a:latin typeface="Consolas" panose="020B0609020204030204" pitchFamily="49" charset="0"/>
              </a:rPr>
              <a:t>Circle</a:t>
            </a:r>
          </a:p>
        </p:txBody>
      </p:sp>
      <p:sp>
        <p:nvSpPr>
          <p:cNvPr id="8" name="Rectangle 7">
            <a:extLst>
              <a:ext uri="{FF2B5EF4-FFF2-40B4-BE49-F238E27FC236}">
                <a16:creationId xmlns:a16="http://schemas.microsoft.com/office/drawing/2014/main" id="{EE2BE145-540A-883E-8664-F621E2F92EE5}"/>
              </a:ext>
            </a:extLst>
          </p:cNvPr>
          <p:cNvSpPr/>
          <p:nvPr/>
        </p:nvSpPr>
        <p:spPr>
          <a:xfrm>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949CB8D-B047-550A-A20D-73661DAD8631}"/>
              </a:ext>
            </a:extLst>
          </p:cNvPr>
          <p:cNvSpPr/>
          <p:nvPr/>
        </p:nvSpPr>
        <p:spPr>
          <a:xfrm>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55C74F3-8A7C-1D80-B56F-143CBFC0FBD1}"/>
              </a:ext>
            </a:extLst>
          </p:cNvPr>
          <p:cNvSpPr/>
          <p:nvPr/>
        </p:nvSpPr>
        <p:spPr>
          <a:xfrm>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80417E96-A5A5-5A46-563E-D2E26F6A370E}"/>
              </a:ext>
            </a:extLst>
          </p:cNvPr>
          <p:cNvSpPr/>
          <p:nvPr/>
        </p:nvSpPr>
        <p:spPr>
          <a:xfrm>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Isosceles Triangle 12">
            <a:extLst>
              <a:ext uri="{FF2B5EF4-FFF2-40B4-BE49-F238E27FC236}">
                <a16:creationId xmlns:a16="http://schemas.microsoft.com/office/drawing/2014/main" id="{546E2797-E828-B8F4-4896-F6DAB696C99F}"/>
              </a:ext>
            </a:extLst>
          </p:cNvPr>
          <p:cNvSpPr/>
          <p:nvPr/>
        </p:nvSpPr>
        <p:spPr>
          <a:xfrm>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4" name="Isosceles Triangle 13">
            <a:extLst>
              <a:ext uri="{FF2B5EF4-FFF2-40B4-BE49-F238E27FC236}">
                <a16:creationId xmlns:a16="http://schemas.microsoft.com/office/drawing/2014/main" id="{238F8542-CD7C-9A5A-70FB-C289D3E59402}"/>
              </a:ext>
            </a:extLst>
          </p:cNvPr>
          <p:cNvSpPr/>
          <p:nvPr/>
        </p:nvSpPr>
        <p:spPr>
          <a:xfrm>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5" name="Oval 14">
            <a:extLst>
              <a:ext uri="{FF2B5EF4-FFF2-40B4-BE49-F238E27FC236}">
                <a16:creationId xmlns:a16="http://schemas.microsoft.com/office/drawing/2014/main" id="{01A673F5-797A-20BE-90E4-8DF0175E3BA2}"/>
              </a:ext>
            </a:extLst>
          </p:cNvPr>
          <p:cNvSpPr/>
          <p:nvPr/>
        </p:nvSpPr>
        <p:spPr>
          <a:xfrm>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Isosceles Triangle 15">
            <a:extLst>
              <a:ext uri="{FF2B5EF4-FFF2-40B4-BE49-F238E27FC236}">
                <a16:creationId xmlns:a16="http://schemas.microsoft.com/office/drawing/2014/main" id="{71C933CE-7A9A-B2AF-86F9-EA79D1D8FEEC}"/>
              </a:ext>
            </a:extLst>
          </p:cNvPr>
          <p:cNvSpPr/>
          <p:nvPr/>
        </p:nvSpPr>
        <p:spPr>
          <a:xfrm>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7" name="Isosceles Triangle 16">
            <a:extLst>
              <a:ext uri="{FF2B5EF4-FFF2-40B4-BE49-F238E27FC236}">
                <a16:creationId xmlns:a16="http://schemas.microsoft.com/office/drawing/2014/main" id="{65F3E136-614B-CA47-DDD3-2CBC0B25AEB0}"/>
              </a:ext>
            </a:extLst>
          </p:cNvPr>
          <p:cNvSpPr/>
          <p:nvPr/>
        </p:nvSpPr>
        <p:spPr>
          <a:xfrm>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4018B00-33FD-04EF-605E-5CBA2FF4D131}"/>
              </a:ext>
            </a:extLst>
          </p:cNvPr>
          <p:cNvSpPr/>
          <p:nvPr/>
        </p:nvSpPr>
        <p:spPr>
          <a:xfrm>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4849525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A2F30-D9B6-AC52-3075-B36A957352C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98FFC-0F84-9183-DA43-9CC200186678}"/>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37B2EBE0-40E6-308B-6262-7A14CBEA5A49}"/>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Rotate</a:t>
            </a:r>
          </a:p>
        </p:txBody>
      </p:sp>
      <p:sp>
        <p:nvSpPr>
          <p:cNvPr id="25" name="Rectangle 24">
            <a:extLst>
              <a:ext uri="{FF2B5EF4-FFF2-40B4-BE49-F238E27FC236}">
                <a16:creationId xmlns:a16="http://schemas.microsoft.com/office/drawing/2014/main" id="{9DEAA351-527B-A976-BE86-7FD846832D26}"/>
              </a:ext>
            </a:extLst>
          </p:cNvPr>
          <p:cNvSpPr/>
          <p:nvPr/>
        </p:nvSpPr>
        <p:spPr>
          <a:xfrm rot="20661128">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0053A8-801D-0E48-B680-507B05CE3B22}"/>
              </a:ext>
            </a:extLst>
          </p:cNvPr>
          <p:cNvSpPr/>
          <p:nvPr/>
        </p:nvSpPr>
        <p:spPr>
          <a:xfrm rot="20661128">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39AB7C1-700C-FE57-2436-5880CC4A8B83}"/>
              </a:ext>
            </a:extLst>
          </p:cNvPr>
          <p:cNvSpPr/>
          <p:nvPr/>
        </p:nvSpPr>
        <p:spPr>
          <a:xfrm rot="20661128">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C6E2DA36-801E-FE9B-0D9F-A8B452019C16}"/>
              </a:ext>
            </a:extLst>
          </p:cNvPr>
          <p:cNvSpPr/>
          <p:nvPr/>
        </p:nvSpPr>
        <p:spPr>
          <a:xfrm rot="20661128">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9" name="Isosceles Triangle 28">
            <a:extLst>
              <a:ext uri="{FF2B5EF4-FFF2-40B4-BE49-F238E27FC236}">
                <a16:creationId xmlns:a16="http://schemas.microsoft.com/office/drawing/2014/main" id="{B0AA573E-E97B-E920-CAFC-6FD9231EB549}"/>
              </a:ext>
            </a:extLst>
          </p:cNvPr>
          <p:cNvSpPr/>
          <p:nvPr/>
        </p:nvSpPr>
        <p:spPr>
          <a:xfrm rot="20661128">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0" name="Isosceles Triangle 29">
            <a:extLst>
              <a:ext uri="{FF2B5EF4-FFF2-40B4-BE49-F238E27FC236}">
                <a16:creationId xmlns:a16="http://schemas.microsoft.com/office/drawing/2014/main" id="{3E0B07B5-5094-500E-4E5C-9CB05E4FC06C}"/>
              </a:ext>
            </a:extLst>
          </p:cNvPr>
          <p:cNvSpPr/>
          <p:nvPr/>
        </p:nvSpPr>
        <p:spPr>
          <a:xfrm rot="20661128">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1" name="Oval 30">
            <a:extLst>
              <a:ext uri="{FF2B5EF4-FFF2-40B4-BE49-F238E27FC236}">
                <a16:creationId xmlns:a16="http://schemas.microsoft.com/office/drawing/2014/main" id="{D8F19AF1-9B9D-8430-73A7-D1C8E7C007EB}"/>
              </a:ext>
            </a:extLst>
          </p:cNvPr>
          <p:cNvSpPr/>
          <p:nvPr/>
        </p:nvSpPr>
        <p:spPr>
          <a:xfrm rot="20661128">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32" name="Isosceles Triangle 31">
            <a:extLst>
              <a:ext uri="{FF2B5EF4-FFF2-40B4-BE49-F238E27FC236}">
                <a16:creationId xmlns:a16="http://schemas.microsoft.com/office/drawing/2014/main" id="{F0734998-012E-8CB0-5121-21E8211C0B30}"/>
              </a:ext>
            </a:extLst>
          </p:cNvPr>
          <p:cNvSpPr/>
          <p:nvPr/>
        </p:nvSpPr>
        <p:spPr>
          <a:xfrm rot="20661128">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Isosceles Triangle 32">
            <a:extLst>
              <a:ext uri="{FF2B5EF4-FFF2-40B4-BE49-F238E27FC236}">
                <a16:creationId xmlns:a16="http://schemas.microsoft.com/office/drawing/2014/main" id="{7AE23600-72AA-6DBE-2AEE-BE4BF1915ADA}"/>
              </a:ext>
            </a:extLst>
          </p:cNvPr>
          <p:cNvSpPr/>
          <p:nvPr/>
        </p:nvSpPr>
        <p:spPr>
          <a:xfrm rot="20661128">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75B2647-56B9-8A9F-5450-2DB0825B0EE4}"/>
              </a:ext>
            </a:extLst>
          </p:cNvPr>
          <p:cNvSpPr/>
          <p:nvPr/>
        </p:nvSpPr>
        <p:spPr>
          <a:xfrm rot="20661128">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8927525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8C0C8-ECD1-4BFF-9D8F-30A22721D7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6F39A04-C732-F3A4-8424-A4446DED5934}"/>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17F60F36-8D75-DD3C-7CE0-3823C8D94DDC}"/>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Scale</a:t>
            </a:r>
          </a:p>
          <a:p>
            <a:pPr lvl="1"/>
            <a:r>
              <a:rPr lang="en-US" b="1" i="1" dirty="0">
                <a:latin typeface="Helvetica" panose="020B0604020202020204"/>
                <a:cs typeface="Helvetica" panose="020B0604020202020204"/>
              </a:rPr>
              <a:t>… any other operation</a:t>
            </a:r>
          </a:p>
        </p:txBody>
      </p:sp>
      <p:sp>
        <p:nvSpPr>
          <p:cNvPr id="2" name="Rectangle 1">
            <a:extLst>
              <a:ext uri="{FF2B5EF4-FFF2-40B4-BE49-F238E27FC236}">
                <a16:creationId xmlns:a16="http://schemas.microsoft.com/office/drawing/2014/main" id="{F7856D1D-9D5E-1076-1DE6-710A1B6AB0FD}"/>
              </a:ext>
            </a:extLst>
          </p:cNvPr>
          <p:cNvSpPr/>
          <p:nvPr/>
        </p:nvSpPr>
        <p:spPr>
          <a:xfrm>
            <a:off x="7318901" y="867508"/>
            <a:ext cx="4204883" cy="40913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97DC186-1F95-01B3-027D-34B979431070}"/>
              </a:ext>
            </a:extLst>
          </p:cNvPr>
          <p:cNvSpPr/>
          <p:nvPr/>
        </p:nvSpPr>
        <p:spPr>
          <a:xfrm>
            <a:off x="7476738" y="1569153"/>
            <a:ext cx="1916304" cy="14515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94CD410-E97A-4430-5CF3-93C57A8BB08E}"/>
              </a:ext>
            </a:extLst>
          </p:cNvPr>
          <p:cNvSpPr/>
          <p:nvPr/>
        </p:nvSpPr>
        <p:spPr>
          <a:xfrm>
            <a:off x="7623601" y="2960569"/>
            <a:ext cx="1526520" cy="16871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EB14417F-F852-99EF-79C7-CDE8C7B8ED77}"/>
              </a:ext>
            </a:extLst>
          </p:cNvPr>
          <p:cNvSpPr/>
          <p:nvPr/>
        </p:nvSpPr>
        <p:spPr>
          <a:xfrm>
            <a:off x="9084533" y="1722356"/>
            <a:ext cx="1653730" cy="1451513"/>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9" name="Isosceles Triangle 18">
            <a:extLst>
              <a:ext uri="{FF2B5EF4-FFF2-40B4-BE49-F238E27FC236}">
                <a16:creationId xmlns:a16="http://schemas.microsoft.com/office/drawing/2014/main" id="{8B3522DD-E4B8-5F3F-95BB-F2710CAFBF0C}"/>
              </a:ext>
            </a:extLst>
          </p:cNvPr>
          <p:cNvSpPr/>
          <p:nvPr/>
        </p:nvSpPr>
        <p:spPr>
          <a:xfrm>
            <a:off x="8877392" y="3045398"/>
            <a:ext cx="1801343" cy="1602320"/>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EEDCD401-6291-AF95-71C9-A140B3458036}"/>
              </a:ext>
            </a:extLst>
          </p:cNvPr>
          <p:cNvSpPr/>
          <p:nvPr/>
        </p:nvSpPr>
        <p:spPr>
          <a:xfrm>
            <a:off x="7623600" y="1877795"/>
            <a:ext cx="668251" cy="452598"/>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1" name="Oval 20">
            <a:extLst>
              <a:ext uri="{FF2B5EF4-FFF2-40B4-BE49-F238E27FC236}">
                <a16:creationId xmlns:a16="http://schemas.microsoft.com/office/drawing/2014/main" id="{4CE25BDE-1CE2-58E6-DFD3-173A755A0341}"/>
              </a:ext>
            </a:extLst>
          </p:cNvPr>
          <p:cNvSpPr/>
          <p:nvPr/>
        </p:nvSpPr>
        <p:spPr>
          <a:xfrm>
            <a:off x="8084310" y="2133883"/>
            <a:ext cx="977960" cy="81058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67A77122-0377-19DD-5149-9A43C664B630}"/>
              </a:ext>
            </a:extLst>
          </p:cNvPr>
          <p:cNvSpPr/>
          <p:nvPr/>
        </p:nvSpPr>
        <p:spPr>
          <a:xfrm>
            <a:off x="9134668" y="3711820"/>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3" name="Isosceles Triangle 22">
            <a:extLst>
              <a:ext uri="{FF2B5EF4-FFF2-40B4-BE49-F238E27FC236}">
                <a16:creationId xmlns:a16="http://schemas.microsoft.com/office/drawing/2014/main" id="{6136A693-8563-5728-8537-23CEDC2815EC}"/>
              </a:ext>
            </a:extLst>
          </p:cNvPr>
          <p:cNvSpPr/>
          <p:nvPr/>
        </p:nvSpPr>
        <p:spPr>
          <a:xfrm>
            <a:off x="9246506" y="2009373"/>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140003D-1A8F-301B-21B6-C5120C602D58}"/>
              </a:ext>
            </a:extLst>
          </p:cNvPr>
          <p:cNvSpPr/>
          <p:nvPr/>
        </p:nvSpPr>
        <p:spPr>
          <a:xfrm>
            <a:off x="9504304" y="2532146"/>
            <a:ext cx="585663" cy="56552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528264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0EE97DE-475C-1638-C178-EACF13EAAF68}"/>
              </a:ext>
            </a:extLst>
          </p:cNvPr>
          <p:cNvSpPr>
            <a:spLocks noGrp="1"/>
          </p:cNvSpPr>
          <p:nvPr>
            <p:ph idx="1"/>
          </p:nvPr>
        </p:nvSpPr>
        <p:spPr/>
        <p:txBody>
          <a:bodyPr>
            <a:normAutofit fontScale="92500" lnSpcReduction="1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private Point p1; </a:t>
            </a:r>
          </a:p>
          <a:p>
            <a:r>
              <a:rPr lang="en-US" dirty="0"/>
              <a:t>	private Point p2;</a:t>
            </a:r>
          </a:p>
          <a:p>
            <a:r>
              <a:rPr lang="en-US" dirty="0"/>
              <a:t>	private Point p3;</a:t>
            </a:r>
          </a:p>
          <a:p>
            <a:r>
              <a:rPr lang="en-US" dirty="0"/>
              <a:t>	</a:t>
            </a:r>
          </a:p>
          <a:p>
            <a:r>
              <a:rPr lang="en-US" dirty="0"/>
              <a:t>	public void translate(int x, int y) {</a:t>
            </a:r>
          </a:p>
          <a:p>
            <a:r>
              <a:rPr lang="en-US" dirty="0"/>
              <a:t>		p1.setX(p1.getX() + x, p1.getY() + y);</a:t>
            </a:r>
          </a:p>
          <a:p>
            <a:r>
              <a:rPr lang="en-US" dirty="0"/>
              <a:t>		// for p2 and p3</a:t>
            </a:r>
          </a:p>
          <a:p>
            <a:r>
              <a:rPr lang="en-US" dirty="0"/>
              <a:t>	}</a:t>
            </a:r>
          </a:p>
          <a:p>
            <a:r>
              <a:rPr lang="en-US" dirty="0"/>
              <a:t>}</a:t>
            </a:r>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endParaRPr lang="en-US" dirty="0"/>
          </a:p>
          <a:p>
            <a:endParaRPr lang="en-US" dirty="0"/>
          </a:p>
        </p:txBody>
      </p:sp>
      <p:sp>
        <p:nvSpPr>
          <p:cNvPr id="3" name="Title 2">
            <a:extLst>
              <a:ext uri="{FF2B5EF4-FFF2-40B4-BE49-F238E27FC236}">
                <a16:creationId xmlns:a16="http://schemas.microsoft.com/office/drawing/2014/main" id="{75484F31-8BAD-ECB0-3B0B-7615BA75EA09}"/>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DB184649-BBDD-68AA-5373-4E57F6FD6EC1}"/>
              </a:ext>
            </a:extLst>
          </p:cNvPr>
          <p:cNvSpPr>
            <a:spLocks noGrp="1"/>
          </p:cNvSpPr>
          <p:nvPr>
            <p:ph idx="13"/>
          </p:nvPr>
        </p:nvSpPr>
        <p:spPr/>
        <p:txBody>
          <a:bodyPr/>
          <a:lstStyle/>
          <a:p>
            <a:r>
              <a:rPr lang="en-US" dirty="0"/>
              <a:t>Each shape has a </a:t>
            </a:r>
            <a:r>
              <a:rPr lang="en-US" dirty="0">
                <a:latin typeface="Consolas" panose="020B0609020204030204" pitchFamily="49" charset="0"/>
              </a:rPr>
              <a:t>translate</a:t>
            </a:r>
            <a:r>
              <a:rPr lang="en-US" dirty="0"/>
              <a:t> method</a:t>
            </a:r>
          </a:p>
        </p:txBody>
      </p:sp>
      <p:sp>
        <p:nvSpPr>
          <p:cNvPr id="5" name="Rectangle 4">
            <a:extLst>
              <a:ext uri="{FF2B5EF4-FFF2-40B4-BE49-F238E27FC236}">
                <a16:creationId xmlns:a16="http://schemas.microsoft.com/office/drawing/2014/main" id="{CDFE716A-5F5A-455B-CFB5-E4022765B3B0}"/>
              </a:ext>
            </a:extLst>
          </p:cNvPr>
          <p:cNvSpPr/>
          <p:nvPr/>
        </p:nvSpPr>
        <p:spPr>
          <a:xfrm>
            <a:off x="6176511" y="2590800"/>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E36A4498-50AE-EC3C-D655-EDD5F5B4B809}"/>
              </a:ext>
            </a:extLst>
          </p:cNvPr>
          <p:cNvSpPr/>
          <p:nvPr/>
        </p:nvSpPr>
        <p:spPr>
          <a:xfrm>
            <a:off x="6320890" y="4066673"/>
            <a:ext cx="5871110" cy="115503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E6C2A3FA-B72C-48F0-EA12-5AE987A5FCBC}"/>
              </a:ext>
            </a:extLst>
          </p:cNvPr>
          <p:cNvSpPr/>
          <p:nvPr/>
        </p:nvSpPr>
        <p:spPr>
          <a:xfrm>
            <a:off x="6128385" y="5221705"/>
            <a:ext cx="5871110" cy="6962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87395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0BA51-33C0-C6C0-A56D-A505ADDB3D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EAFD3F-7191-4AA3-FAAA-203D5007211F}"/>
              </a:ext>
            </a:extLst>
          </p:cNvPr>
          <p:cNvSpPr>
            <a:spLocks noGrp="1"/>
          </p:cNvSpPr>
          <p:nvPr>
            <p:ph idx="1"/>
          </p:nvPr>
        </p:nvSpPr>
        <p:spPr/>
        <p:txBody>
          <a:bodyPr>
            <a:normAutofit fontScale="92500" lnSpcReduction="2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 …	</a:t>
            </a:r>
          </a:p>
          <a:p>
            <a:r>
              <a:rPr lang="en-US" dirty="0"/>
              <a:t>	public void translate(int x, int y) { // …}</a:t>
            </a:r>
          </a:p>
          <a:p>
            <a:r>
              <a:rPr lang="en-US" dirty="0"/>
              <a:t>	public void scale(int x, int y) { //… }</a:t>
            </a:r>
          </a:p>
          <a:p>
            <a:r>
              <a:rPr lang="en-US" dirty="0"/>
              <a:t>}</a:t>
            </a:r>
            <a:br>
              <a:rPr lang="en-US" dirty="0"/>
            </a:br>
            <a:endParaRPr lang="en-US" dirty="0"/>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	public void scale(int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shape.scale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r>
              <a:rPr lang="en-US" dirty="0" err="1"/>
              <a:t>someShape.scale</a:t>
            </a:r>
            <a:r>
              <a:rPr lang="en-US" dirty="0"/>
              <a:t>(2, 2);</a:t>
            </a:r>
          </a:p>
          <a:p>
            <a:endParaRPr lang="en-US" dirty="0"/>
          </a:p>
          <a:p>
            <a:endParaRPr lang="en-US" dirty="0"/>
          </a:p>
        </p:txBody>
      </p:sp>
      <p:sp>
        <p:nvSpPr>
          <p:cNvPr id="3" name="Title 2">
            <a:extLst>
              <a:ext uri="{FF2B5EF4-FFF2-40B4-BE49-F238E27FC236}">
                <a16:creationId xmlns:a16="http://schemas.microsoft.com/office/drawing/2014/main" id="{B93E82D0-E6F2-1E67-0521-54B8BD0E599B}"/>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BCDA289D-C0D7-ABF8-8DCF-DA9F5F78B21E}"/>
              </a:ext>
            </a:extLst>
          </p:cNvPr>
          <p:cNvSpPr>
            <a:spLocks noGrp="1"/>
          </p:cNvSpPr>
          <p:nvPr>
            <p:ph idx="13"/>
          </p:nvPr>
        </p:nvSpPr>
        <p:spPr/>
        <p:txBody>
          <a:bodyPr/>
          <a:lstStyle/>
          <a:p>
            <a:r>
              <a:rPr lang="en-US" dirty="0"/>
              <a:t>Each shape has a </a:t>
            </a:r>
            <a:r>
              <a:rPr lang="en-US" dirty="0">
                <a:latin typeface="Consolas" panose="020B0609020204030204" pitchFamily="49" charset="0"/>
              </a:rPr>
              <a:t>scale</a:t>
            </a:r>
            <a:r>
              <a:rPr lang="en-US" dirty="0"/>
              <a:t> method</a:t>
            </a:r>
          </a:p>
        </p:txBody>
      </p:sp>
      <p:sp>
        <p:nvSpPr>
          <p:cNvPr id="6" name="Rectangle 5">
            <a:extLst>
              <a:ext uri="{FF2B5EF4-FFF2-40B4-BE49-F238E27FC236}">
                <a16:creationId xmlns:a16="http://schemas.microsoft.com/office/drawing/2014/main" id="{4208F959-5612-C1B9-6296-FD033BA9B642}"/>
              </a:ext>
            </a:extLst>
          </p:cNvPr>
          <p:cNvSpPr/>
          <p:nvPr/>
        </p:nvSpPr>
        <p:spPr>
          <a:xfrm>
            <a:off x="6176512" y="2110801"/>
            <a:ext cx="5871110" cy="32886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254A924D-5D26-A2FA-7E19-46C4A2857C54}"/>
              </a:ext>
            </a:extLst>
          </p:cNvPr>
          <p:cNvSpPr/>
          <p:nvPr/>
        </p:nvSpPr>
        <p:spPr>
          <a:xfrm>
            <a:off x="6320890" y="3854190"/>
            <a:ext cx="5871110" cy="107073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D9497827-B2A7-611B-EB8E-D301F71017D2}"/>
              </a:ext>
            </a:extLst>
          </p:cNvPr>
          <p:cNvSpPr/>
          <p:nvPr/>
        </p:nvSpPr>
        <p:spPr>
          <a:xfrm>
            <a:off x="6176512" y="5358063"/>
            <a:ext cx="5871110" cy="2395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99539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7B5495A-7200-BF15-549F-748B6BA4C672}"/>
              </a:ext>
            </a:extLst>
          </p:cNvPr>
          <p:cNvSpPr>
            <a:spLocks noGrp="1"/>
          </p:cNvSpPr>
          <p:nvPr>
            <p:ph idx="1"/>
          </p:nvPr>
        </p:nvSpPr>
        <p:spPr/>
        <p:txBody>
          <a:bodyPr/>
          <a:lstStyle/>
          <a:p>
            <a:r>
              <a:rPr lang="en-US" dirty="0"/>
              <a:t>The logic for the </a:t>
            </a:r>
            <a:r>
              <a:rPr lang="en-US" dirty="0">
                <a:latin typeface="Consolas" panose="020B0609020204030204" pitchFamily="49" charset="0"/>
              </a:rPr>
              <a:t>translate</a:t>
            </a:r>
            <a:r>
              <a:rPr lang="en-US" dirty="0"/>
              <a:t>, </a:t>
            </a:r>
            <a:r>
              <a:rPr lang="en-US" dirty="0">
                <a:latin typeface="Consolas" panose="020B0609020204030204" pitchFamily="49" charset="0"/>
              </a:rPr>
              <a:t>scale</a:t>
            </a:r>
            <a:r>
              <a:rPr lang="en-US" dirty="0"/>
              <a:t>, and any other operations are spread across many shape classes</a:t>
            </a:r>
          </a:p>
          <a:p>
            <a:r>
              <a:rPr lang="en-US" dirty="0"/>
              <a:t>Changing how translation works needs to update </a:t>
            </a:r>
            <a:r>
              <a:rPr lang="en-US" b="1" i="1" dirty="0"/>
              <a:t>all </a:t>
            </a:r>
            <a:r>
              <a:rPr lang="en-US" dirty="0"/>
              <a:t>shape classes</a:t>
            </a:r>
          </a:p>
          <a:p>
            <a:r>
              <a:rPr lang="en-US" dirty="0"/>
              <a:t>What if you want to add a new operation but can’t modify the </a:t>
            </a:r>
            <a:r>
              <a:rPr lang="en-US" dirty="0">
                <a:latin typeface="Consolas" panose="020B0609020204030204" pitchFamily="49" charset="0"/>
              </a:rPr>
              <a:t>Shape</a:t>
            </a:r>
            <a:r>
              <a:rPr lang="en-US" dirty="0"/>
              <a:t> class?</a:t>
            </a:r>
          </a:p>
          <a:p>
            <a:pPr lvl="1"/>
            <a:r>
              <a:rPr lang="en-US" dirty="0">
                <a:latin typeface="Consolas" panose="020B0609020204030204" pitchFamily="49" charset="0"/>
              </a:rPr>
              <a:t>Shape</a:t>
            </a:r>
            <a:r>
              <a:rPr lang="en-US" dirty="0"/>
              <a:t> class must envision all possible operations when being designed</a:t>
            </a:r>
          </a:p>
        </p:txBody>
      </p:sp>
      <p:sp>
        <p:nvSpPr>
          <p:cNvPr id="3" name="Title 2">
            <a:extLst>
              <a:ext uri="{FF2B5EF4-FFF2-40B4-BE49-F238E27FC236}">
                <a16:creationId xmlns:a16="http://schemas.microsoft.com/office/drawing/2014/main" id="{175587BC-7BE2-BAC3-3CF2-6E2167FDDC2D}"/>
              </a:ext>
            </a:extLst>
          </p:cNvPr>
          <p:cNvSpPr>
            <a:spLocks noGrp="1"/>
          </p:cNvSpPr>
          <p:nvPr>
            <p:ph type="title"/>
          </p:nvPr>
        </p:nvSpPr>
        <p:spPr/>
        <p:txBody>
          <a:bodyPr/>
          <a:lstStyle/>
          <a:p>
            <a:r>
              <a:rPr lang="en-US" dirty="0"/>
              <a:t>Disadvantages</a:t>
            </a:r>
          </a:p>
        </p:txBody>
      </p:sp>
    </p:spTree>
    <p:extLst>
      <p:ext uri="{BB962C8B-B14F-4D97-AF65-F5344CB8AC3E}">
        <p14:creationId xmlns:p14="http://schemas.microsoft.com/office/powerpoint/2010/main" val="781485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48D68B-519D-ECB9-8307-CB4702203C8C}"/>
              </a:ext>
            </a:extLst>
          </p:cNvPr>
          <p:cNvSpPr>
            <a:spLocks noGrp="1"/>
          </p:cNvSpPr>
          <p:nvPr>
            <p:ph idx="1"/>
          </p:nvPr>
        </p:nvSpPr>
        <p:spPr/>
        <p:txBody>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p:txBody>
      </p:sp>
      <p:sp>
        <p:nvSpPr>
          <p:cNvPr id="4" name="Title 3">
            <a:extLst>
              <a:ext uri="{FF2B5EF4-FFF2-40B4-BE49-F238E27FC236}">
                <a16:creationId xmlns:a16="http://schemas.microsoft.com/office/drawing/2014/main" id="{C63ECD28-7076-12F4-F5C0-AA1AB1A94B35}"/>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54E8AD2-22BB-0899-733D-4BEC8DFEBEAC}"/>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a:p>
            <a:r>
              <a:rPr lang="en-US" dirty="0"/>
              <a:t>Provide concrete implementations of the </a:t>
            </a:r>
            <a:r>
              <a:rPr lang="en-US" dirty="0">
                <a:latin typeface="Consolas" panose="020B0609020204030204" pitchFamily="49" charset="0"/>
              </a:rPr>
              <a:t>accept</a:t>
            </a:r>
            <a:r>
              <a:rPr lang="en-US" dirty="0"/>
              <a:t> method for each type</a:t>
            </a:r>
          </a:p>
          <a:p>
            <a:r>
              <a:rPr lang="en-US" dirty="0"/>
              <a:t>The </a:t>
            </a:r>
            <a:r>
              <a:rPr lang="en-US" dirty="0">
                <a:latin typeface="Consolas" panose="020B0609020204030204" pitchFamily="49" charset="0"/>
              </a:rPr>
              <a:t>accept</a:t>
            </a:r>
            <a:r>
              <a:rPr lang="en-US" dirty="0"/>
              <a:t> method invokes the visitor on the shape object</a:t>
            </a:r>
          </a:p>
          <a:p>
            <a:endParaRPr lang="en-US" dirty="0"/>
          </a:p>
        </p:txBody>
      </p:sp>
      <p:sp>
        <p:nvSpPr>
          <p:cNvPr id="7" name="Rectangle 6">
            <a:extLst>
              <a:ext uri="{FF2B5EF4-FFF2-40B4-BE49-F238E27FC236}">
                <a16:creationId xmlns:a16="http://schemas.microsoft.com/office/drawing/2014/main" id="{12641047-92A1-784A-16F9-BC0E643D96F7}"/>
              </a:ext>
            </a:extLst>
          </p:cNvPr>
          <p:cNvSpPr/>
          <p:nvPr/>
        </p:nvSpPr>
        <p:spPr>
          <a:xfrm>
            <a:off x="6096000" y="1179095"/>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6B3B14F-27B8-730F-BFF3-0750A65414EE}"/>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213132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E6046-A7F2-4D6B-E4EA-1108AA3CBA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840313-9974-C21F-2CC9-A863664B3082}"/>
              </a:ext>
            </a:extLst>
          </p:cNvPr>
          <p:cNvSpPr>
            <a:spLocks noGrp="1"/>
          </p:cNvSpPr>
          <p:nvPr>
            <p:ph idx="1"/>
          </p:nvPr>
        </p:nvSpPr>
        <p:spPr/>
        <p:txBody>
          <a:bodyPr>
            <a:normAutofit/>
          </a:bodyPr>
          <a:lstStyle/>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83B5E36A-01FF-2841-745F-3FE83730E578}"/>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898151AA-98F6-EE9E-ACE3-586BD77444C5}"/>
              </a:ext>
            </a:extLst>
          </p:cNvPr>
          <p:cNvSpPr>
            <a:spLocks noGrp="1"/>
          </p:cNvSpPr>
          <p:nvPr>
            <p:ph idx="13"/>
          </p:nvPr>
        </p:nvSpPr>
        <p:spPr/>
        <p:txBody>
          <a:bodyPr>
            <a:normAutofit lnSpcReduction="10000"/>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a:latin typeface="Consolas" panose="020B0609020204030204" pitchFamily="49" charset="0"/>
              </a:rPr>
              <a:t>Shape</a:t>
            </a:r>
          </a:p>
          <a:p>
            <a:r>
              <a:rPr lang="en-US" dirty="0">
                <a:latin typeface="Helvetica" panose="020B0604020202020204"/>
                <a:cs typeface="Helvetica" panose="020B0604020202020204"/>
              </a:rPr>
              <a:t>Provide a concrete default implementation of </a:t>
            </a:r>
            <a:r>
              <a:rPr lang="en-US" dirty="0">
                <a:latin typeface="Consolas" panose="020B0609020204030204" pitchFamily="49" charset="0"/>
                <a:cs typeface="Helvetica" panose="020B0604020202020204"/>
              </a:rPr>
              <a:t>visit(</a:t>
            </a:r>
            <a:r>
              <a:rPr lang="en-US" dirty="0" err="1">
                <a:latin typeface="Consolas" panose="020B0609020204030204" pitchFamily="49" charset="0"/>
                <a:cs typeface="Helvetica" panose="020B0604020202020204"/>
              </a:rPr>
              <a:t>CompoundShape</a:t>
            </a:r>
            <a:r>
              <a:rPr lang="en-US" dirty="0">
                <a:latin typeface="Consolas" panose="020B0609020204030204" pitchFamily="49" charset="0"/>
                <a:cs typeface="Helvetica" panose="020B0604020202020204"/>
              </a:rPr>
              <a:t> c)</a:t>
            </a:r>
            <a:endParaRPr lang="en-US" b="1" i="1" dirty="0">
              <a:latin typeface="Consolas" panose="020B0609020204030204" pitchFamily="49" charset="0"/>
              <a:cs typeface="Helvetica" panose="020B0604020202020204"/>
            </a:endParaRPr>
          </a:p>
        </p:txBody>
      </p:sp>
      <p:sp>
        <p:nvSpPr>
          <p:cNvPr id="2" name="Rectangle 1">
            <a:extLst>
              <a:ext uri="{FF2B5EF4-FFF2-40B4-BE49-F238E27FC236}">
                <a16:creationId xmlns:a16="http://schemas.microsoft.com/office/drawing/2014/main" id="{7EC8B33E-D944-3AE9-0141-96E24B61DC56}"/>
              </a:ext>
            </a:extLst>
          </p:cNvPr>
          <p:cNvSpPr/>
          <p:nvPr/>
        </p:nvSpPr>
        <p:spPr>
          <a:xfrm>
            <a:off x="6096000" y="1026543"/>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BBDADD4-5D8C-8111-3C67-1FE0F00F9898}"/>
              </a:ext>
            </a:extLst>
          </p:cNvPr>
          <p:cNvSpPr/>
          <p:nvPr/>
        </p:nvSpPr>
        <p:spPr>
          <a:xfrm>
            <a:off x="6096000" y="1348154"/>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A5850E56-3C0A-53B6-8CF0-F2B592A0C158}"/>
              </a:ext>
            </a:extLst>
          </p:cNvPr>
          <p:cNvSpPr/>
          <p:nvPr/>
        </p:nvSpPr>
        <p:spPr>
          <a:xfrm>
            <a:off x="6096000" y="1689893"/>
            <a:ext cx="5871110" cy="4202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EF12ECC-99AB-9727-3DBD-3EF07703D346}"/>
              </a:ext>
            </a:extLst>
          </p:cNvPr>
          <p:cNvSpPr/>
          <p:nvPr/>
        </p:nvSpPr>
        <p:spPr>
          <a:xfrm>
            <a:off x="6096000" y="1778620"/>
            <a:ext cx="5871110" cy="12928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153097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4" grpId="0" animBg="1"/>
      <p:bldP spid="4" grpId="1" animBg="1"/>
      <p:bldP spid="6" grpId="0" animBg="1"/>
      <p:bldP spid="6" grpId="1" animBg="1"/>
      <p:bldP spid="8"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BA876-1710-AC94-41A4-17714B0EFE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5F92D3-EE67-456B-53E0-C38677DD65CA}"/>
              </a:ext>
            </a:extLst>
          </p:cNvPr>
          <p:cNvSpPr>
            <a:spLocks noGrp="1"/>
          </p:cNvSpPr>
          <p:nvPr>
            <p:ph idx="1"/>
          </p:nvPr>
        </p:nvSpPr>
        <p:spPr/>
        <p:txBody>
          <a:bodyPr>
            <a:normAutofit/>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@Override</a:t>
            </a:r>
          </a:p>
          <a:p>
            <a:r>
              <a:rPr lang="en-US" dirty="0"/>
              <a:t>    	public void visit(Rectangle rectangle) {</a:t>
            </a:r>
          </a:p>
          <a:p>
            <a:r>
              <a:rPr lang="en-US" dirty="0"/>
              <a:t>		// translate 4 points</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1AB9A579-C67D-137A-CC0E-48997392C4F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5244C4C3-6384-AC34-42EC-D1A51CA4BF1B}"/>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ShapeVisitor</a:t>
            </a:r>
            <a:endParaRPr lang="en-US" dirty="0">
              <a:latin typeface="Consolas" panose="020B0609020204030204" pitchFamily="49" charset="0"/>
            </a:endParaRPr>
          </a:p>
          <a:p>
            <a:r>
              <a:rPr lang="en-US" dirty="0">
                <a:latin typeface="Helvetica" panose="020B0604020202020204"/>
                <a:cs typeface="Helvetica" panose="020B0604020202020204"/>
              </a:rPr>
              <a:t>Implement the </a:t>
            </a:r>
            <a:r>
              <a:rPr lang="en-US" dirty="0">
                <a:latin typeface="Consolas" panose="020B0609020204030204" pitchFamily="49" charset="0"/>
                <a:cs typeface="Helvetica" panose="020B0604020202020204"/>
              </a:rPr>
              <a:t>visit</a:t>
            </a:r>
            <a:r>
              <a:rPr lang="en-US" dirty="0">
                <a:latin typeface="Helvetica" panose="020B0604020202020204"/>
                <a:cs typeface="Helvetica" panose="020B0604020202020204"/>
              </a:rPr>
              <a:t> method for each shape</a:t>
            </a:r>
          </a:p>
          <a:p>
            <a:r>
              <a:rPr lang="en-US" dirty="0" err="1">
                <a:latin typeface="Consolas" panose="020B0609020204030204" pitchFamily="49" charset="0"/>
              </a:rPr>
              <a:t>TranslationVisitor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110B8713-CE21-84BB-81A3-9942450FA302}"/>
              </a:ext>
            </a:extLst>
          </p:cNvPr>
          <p:cNvSpPr/>
          <p:nvPr/>
        </p:nvSpPr>
        <p:spPr>
          <a:xfrm>
            <a:off x="6424862" y="2277979"/>
            <a:ext cx="5542247" cy="24785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168988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AEC57-CB25-0A29-E350-8B127A62A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E38B1B-A3CC-E961-DDBF-57CA93367519}"/>
              </a:ext>
            </a:extLst>
          </p:cNvPr>
          <p:cNvSpPr>
            <a:spLocks noGrp="1"/>
          </p:cNvSpPr>
          <p:nvPr>
            <p:ph idx="1"/>
          </p:nvPr>
        </p:nvSpPr>
        <p:spPr/>
        <p:txBody>
          <a:bodyPr>
            <a:normAutofit/>
          </a:bodyPr>
          <a:lstStyle/>
          <a:p>
            <a:r>
              <a:rPr lang="en-US" dirty="0"/>
              <a:t>class </a:t>
            </a:r>
            <a:r>
              <a:rPr lang="en-US" dirty="0" err="1"/>
              <a:t>ScalingVisitor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ScalingVisitor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 do scaling</a:t>
            </a:r>
          </a:p>
          <a:p>
            <a:r>
              <a:rPr lang="en-US" dirty="0"/>
              <a:t>	}</a:t>
            </a:r>
          </a:p>
          <a:p>
            <a:endParaRPr lang="en-US" dirty="0"/>
          </a:p>
          <a:p>
            <a:r>
              <a:rPr lang="en-US" dirty="0"/>
              <a:t>    	@Override</a:t>
            </a:r>
          </a:p>
          <a:p>
            <a:r>
              <a:rPr lang="en-US" dirty="0"/>
              <a:t>    	public void visit(Rectangle rectangle) {</a:t>
            </a:r>
          </a:p>
          <a:p>
            <a:r>
              <a:rPr lang="en-US" dirty="0"/>
              <a:t>		// scale!!!</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0BD98798-05F6-F07D-61B3-A9A880AB116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380F4B8F-FC0A-D802-41C3-AC921BBA39C1}"/>
              </a:ext>
            </a:extLst>
          </p:cNvPr>
          <p:cNvSpPr>
            <a:spLocks noGrp="1"/>
          </p:cNvSpPr>
          <p:nvPr>
            <p:ph idx="13"/>
          </p:nvPr>
        </p:nvSpPr>
        <p:spPr/>
        <p:txBody>
          <a:bodyPr/>
          <a:lstStyle/>
          <a:p>
            <a:r>
              <a:rPr lang="en-US" dirty="0" err="1">
                <a:latin typeface="Consolas" panose="020B0609020204030204" pitchFamily="49" charset="0"/>
              </a:rPr>
              <a:t>ScalingVisitor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BCB6D458-74D7-AB6B-8284-DE952792D18C}"/>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89752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D6866D56-3C3A-5D0A-BEE9-CF4178229849}"/>
              </a:ext>
            </a:extLst>
          </p:cNvPr>
          <p:cNvSpPr>
            <a:spLocks noGrp="1"/>
          </p:cNvSpPr>
          <p:nvPr>
            <p:ph idx="1"/>
          </p:nvPr>
        </p:nvSpPr>
        <p:spPr>
          <a:xfrm>
            <a:off x="6176512" y="785004"/>
            <a:ext cx="5633413" cy="5046453"/>
          </a:xfrm>
        </p:spPr>
        <p:txBody>
          <a:bodyPr>
            <a:normAutofit fontScale="92500" lnSpcReduction="10000"/>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public void visit(Rectangle rectangle) {</a:t>
            </a:r>
          </a:p>
          <a:p>
            <a:r>
              <a:rPr lang="en-US" dirty="0"/>
              <a:t>		// translate 4 points</a:t>
            </a:r>
          </a:p>
          <a:p>
            <a:r>
              <a:rPr lang="en-US" dirty="0"/>
              <a:t>    	}</a:t>
            </a:r>
          </a:p>
          <a:p>
            <a:endParaRPr lang="en-US" dirty="0"/>
          </a:p>
          <a:p>
            <a:r>
              <a:rPr lang="en-US" dirty="0"/>
              <a:t>}</a:t>
            </a:r>
          </a:p>
          <a:p>
            <a:endParaRPr lang="en-US" dirty="0"/>
          </a:p>
          <a:p>
            <a:r>
              <a:rPr lang="en-US" dirty="0"/>
              <a:t>Rectangle </a:t>
            </a:r>
            <a:r>
              <a:rPr lang="en-US" dirty="0" err="1"/>
              <a:t>rect</a:t>
            </a:r>
            <a:r>
              <a:rPr lang="en-US" dirty="0"/>
              <a:t> = new …; </a:t>
            </a:r>
          </a:p>
          <a:p>
            <a:r>
              <a:rPr lang="en-US" dirty="0"/>
              <a:t>Triangle </a:t>
            </a:r>
            <a:r>
              <a:rPr lang="en-US" dirty="0" err="1"/>
              <a:t>tria</a:t>
            </a:r>
            <a:r>
              <a:rPr lang="en-US" dirty="0"/>
              <a:t> = new …;</a:t>
            </a:r>
          </a:p>
          <a:p>
            <a:r>
              <a:rPr lang="en-US" dirty="0" err="1"/>
              <a:t>CompoundShape</a:t>
            </a:r>
            <a:r>
              <a:rPr lang="en-US" dirty="0"/>
              <a:t> </a:t>
            </a:r>
            <a:r>
              <a:rPr lang="en-US" dirty="0" err="1"/>
              <a:t>cShape</a:t>
            </a:r>
            <a:r>
              <a:rPr lang="en-US" dirty="0"/>
              <a:t> = new ...;</a:t>
            </a:r>
          </a:p>
          <a:p>
            <a:r>
              <a:rPr lang="en-US" dirty="0" err="1"/>
              <a:t>cShape.setShapeList</a:t>
            </a:r>
            <a:r>
              <a:rPr lang="en-US" dirty="0"/>
              <a:t>(new </a:t>
            </a:r>
            <a:r>
              <a:rPr lang="en-US" dirty="0" err="1"/>
              <a:t>ArrayList</a:t>
            </a:r>
            <a:r>
              <a:rPr lang="en-US" dirty="0"/>
              <a:t>(</a:t>
            </a:r>
            <a:r>
              <a:rPr lang="en-US" dirty="0" err="1"/>
              <a:t>rect</a:t>
            </a:r>
            <a:r>
              <a:rPr lang="en-US" dirty="0"/>
              <a:t>, </a:t>
            </a:r>
            <a:r>
              <a:rPr lang="en-US" dirty="0" err="1"/>
              <a:t>tria</a:t>
            </a:r>
            <a:r>
              <a:rPr lang="en-US" dirty="0"/>
              <a:t>));</a:t>
            </a:r>
          </a:p>
          <a:p>
            <a:r>
              <a:rPr lang="en-US" dirty="0"/>
              <a:t>Visitor </a:t>
            </a:r>
            <a:r>
              <a:rPr lang="en-US" dirty="0" err="1"/>
              <a:t>translationVisitor</a:t>
            </a:r>
            <a:r>
              <a:rPr lang="en-US" dirty="0"/>
              <a:t> = new </a:t>
            </a:r>
            <a:r>
              <a:rPr lang="en-US" dirty="0" err="1"/>
              <a:t>TranslationVisitor</a:t>
            </a:r>
            <a:r>
              <a:rPr lang="en-US" dirty="0"/>
              <a:t>();</a:t>
            </a:r>
          </a:p>
          <a:p>
            <a:r>
              <a:rPr lang="en-US" dirty="0" err="1"/>
              <a:t>translationVisitor.visit</a:t>
            </a:r>
            <a:r>
              <a:rPr lang="en-US" dirty="0"/>
              <a:t>(</a:t>
            </a:r>
            <a:r>
              <a:rPr lang="en-US" dirty="0" err="1"/>
              <a:t>cShape</a:t>
            </a:r>
            <a:r>
              <a:rPr lang="en-US" dirty="0"/>
              <a:t>);</a:t>
            </a:r>
          </a:p>
          <a:p>
            <a:endParaRPr lang="en-US" dirty="0"/>
          </a:p>
        </p:txBody>
      </p:sp>
      <p:sp>
        <p:nvSpPr>
          <p:cNvPr id="3" name="Title 2">
            <a:extLst>
              <a:ext uri="{FF2B5EF4-FFF2-40B4-BE49-F238E27FC236}">
                <a16:creationId xmlns:a16="http://schemas.microsoft.com/office/drawing/2014/main" id="{C2D34B80-F500-EC19-ACFF-5836BFA205D0}"/>
              </a:ext>
            </a:extLst>
          </p:cNvPr>
          <p:cNvSpPr>
            <a:spLocks noGrp="1"/>
          </p:cNvSpPr>
          <p:nvPr>
            <p:ph type="title"/>
          </p:nvPr>
        </p:nvSpPr>
        <p:spPr>
          <a:xfrm>
            <a:off x="0" y="0"/>
            <a:ext cx="12192000" cy="696277"/>
          </a:xfrm>
        </p:spPr>
        <p:txBody>
          <a:bodyPr wrap="square" anchor="b">
            <a:normAutofit/>
          </a:bodyPr>
          <a:lstStyle/>
          <a:p>
            <a:r>
              <a:rPr lang="en-US" dirty="0"/>
              <a:t>Visitor pattern – full code</a:t>
            </a:r>
          </a:p>
        </p:txBody>
      </p:sp>
      <p:sp>
        <p:nvSpPr>
          <p:cNvPr id="10" name="Content Placeholder 3">
            <a:extLst>
              <a:ext uri="{FF2B5EF4-FFF2-40B4-BE49-F238E27FC236}">
                <a16:creationId xmlns:a16="http://schemas.microsoft.com/office/drawing/2014/main" id="{B69274DA-0B7C-A30D-A4DF-CDB1A3368F52}"/>
              </a:ext>
            </a:extLst>
          </p:cNvPr>
          <p:cNvSpPr>
            <a:spLocks noGrp="1"/>
          </p:cNvSpPr>
          <p:nvPr>
            <p:ph idx="14"/>
          </p:nvPr>
        </p:nvSpPr>
        <p:spPr>
          <a:xfrm>
            <a:off x="369276" y="785004"/>
            <a:ext cx="5633413" cy="5046453"/>
          </a:xfrm>
        </p:spPr>
        <p:txBody>
          <a:bodyPr>
            <a:normAutofit fontScale="77500" lnSpcReduction="20000"/>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6" name="Rectangle 5">
            <a:extLst>
              <a:ext uri="{FF2B5EF4-FFF2-40B4-BE49-F238E27FC236}">
                <a16:creationId xmlns:a16="http://schemas.microsoft.com/office/drawing/2014/main" id="{123B9559-BCB0-1042-40FB-1010F205970F}"/>
              </a:ext>
            </a:extLst>
          </p:cNvPr>
          <p:cNvSpPr/>
          <p:nvPr/>
        </p:nvSpPr>
        <p:spPr>
          <a:xfrm>
            <a:off x="0" y="1014750"/>
            <a:ext cx="5871110" cy="56786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TextBox 6">
            <a:extLst>
              <a:ext uri="{FF2B5EF4-FFF2-40B4-BE49-F238E27FC236}">
                <a16:creationId xmlns:a16="http://schemas.microsoft.com/office/drawing/2014/main" id="{CC3A39EC-792B-9752-1EED-B789017BEA5F}"/>
              </a:ext>
            </a:extLst>
          </p:cNvPr>
          <p:cNvSpPr txBox="1"/>
          <p:nvPr/>
        </p:nvSpPr>
        <p:spPr>
          <a:xfrm>
            <a:off x="27284" y="2220764"/>
            <a:ext cx="5116593" cy="400110"/>
          </a:xfrm>
          <a:prstGeom prst="rect">
            <a:avLst/>
          </a:prstGeom>
          <a:noFill/>
        </p:spPr>
        <p:txBody>
          <a:bodyPr wrap="none" rtlCol="0">
            <a:spAutoFit/>
          </a:bodyPr>
          <a:lstStyle/>
          <a:p>
            <a:r>
              <a:rPr lang="en-US" sz="2000" b="1" i="1" dirty="0"/>
              <a:t>accept invokes the visitor on the current object</a:t>
            </a:r>
          </a:p>
        </p:txBody>
      </p:sp>
      <p:sp>
        <p:nvSpPr>
          <p:cNvPr id="9" name="Rectangle 8">
            <a:extLst>
              <a:ext uri="{FF2B5EF4-FFF2-40B4-BE49-F238E27FC236}">
                <a16:creationId xmlns:a16="http://schemas.microsoft.com/office/drawing/2014/main" id="{9C8D9F0C-211B-99D2-4CF5-E2337B2CE579}"/>
              </a:ext>
            </a:extLst>
          </p:cNvPr>
          <p:cNvSpPr/>
          <p:nvPr/>
        </p:nvSpPr>
        <p:spPr>
          <a:xfrm>
            <a:off x="36334" y="3701412"/>
            <a:ext cx="5871110" cy="213004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6AD060DE-DC58-0F26-D822-505DC8813356}"/>
              </a:ext>
            </a:extLst>
          </p:cNvPr>
          <p:cNvSpPr txBox="1"/>
          <p:nvPr/>
        </p:nvSpPr>
        <p:spPr>
          <a:xfrm>
            <a:off x="549027" y="5089187"/>
            <a:ext cx="5201232" cy="707886"/>
          </a:xfrm>
          <a:prstGeom prst="rect">
            <a:avLst/>
          </a:prstGeom>
          <a:noFill/>
        </p:spPr>
        <p:txBody>
          <a:bodyPr wrap="square" rtlCol="0">
            <a:spAutoFit/>
          </a:bodyPr>
          <a:lstStyle/>
          <a:p>
            <a:r>
              <a:rPr lang="en-US" sz="2000" b="1" i="1" dirty="0"/>
              <a:t>Abstract visitor defines overloaded visit method for each shape. Abstracts the visiting logic</a:t>
            </a:r>
          </a:p>
        </p:txBody>
      </p:sp>
      <p:sp>
        <p:nvSpPr>
          <p:cNvPr id="12" name="Rectangle 11">
            <a:extLst>
              <a:ext uri="{FF2B5EF4-FFF2-40B4-BE49-F238E27FC236}">
                <a16:creationId xmlns:a16="http://schemas.microsoft.com/office/drawing/2014/main" id="{F3456103-4D06-8FD4-9CDD-56A4E4ADB1C1}"/>
              </a:ext>
            </a:extLst>
          </p:cNvPr>
          <p:cNvSpPr/>
          <p:nvPr/>
        </p:nvSpPr>
        <p:spPr>
          <a:xfrm>
            <a:off x="6096000" y="696276"/>
            <a:ext cx="5871110" cy="288434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3" name="TextBox 12">
            <a:extLst>
              <a:ext uri="{FF2B5EF4-FFF2-40B4-BE49-F238E27FC236}">
                <a16:creationId xmlns:a16="http://schemas.microsoft.com/office/drawing/2014/main" id="{D7DE0BCC-7DDB-F823-F41C-D233BA3925B5}"/>
              </a:ext>
            </a:extLst>
          </p:cNvPr>
          <p:cNvSpPr txBox="1"/>
          <p:nvPr/>
        </p:nvSpPr>
        <p:spPr>
          <a:xfrm>
            <a:off x="6608693" y="3528638"/>
            <a:ext cx="5201232" cy="707886"/>
          </a:xfrm>
          <a:prstGeom prst="rect">
            <a:avLst/>
          </a:prstGeom>
          <a:noFill/>
        </p:spPr>
        <p:txBody>
          <a:bodyPr wrap="square" rtlCol="0">
            <a:spAutoFit/>
          </a:bodyPr>
          <a:lstStyle/>
          <a:p>
            <a:r>
              <a:rPr lang="en-US" sz="2000" b="1" i="1" dirty="0"/>
              <a:t>Concrete visitor defines behavior of visitor for each shape</a:t>
            </a:r>
          </a:p>
        </p:txBody>
      </p:sp>
      <p:sp>
        <p:nvSpPr>
          <p:cNvPr id="14" name="Rectangle 13">
            <a:extLst>
              <a:ext uri="{FF2B5EF4-FFF2-40B4-BE49-F238E27FC236}">
                <a16:creationId xmlns:a16="http://schemas.microsoft.com/office/drawing/2014/main" id="{54C627D9-FE09-B6CA-F065-D7B79A9E1261}"/>
              </a:ext>
            </a:extLst>
          </p:cNvPr>
          <p:cNvSpPr/>
          <p:nvPr/>
        </p:nvSpPr>
        <p:spPr>
          <a:xfrm>
            <a:off x="6002689" y="4236525"/>
            <a:ext cx="5871110" cy="168366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240106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9"/>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12"/>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13"/>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p:bldP spid="7" grpId="1"/>
      <p:bldP spid="9" grpId="0" animBg="1"/>
      <p:bldP spid="9" grpId="1" animBg="1"/>
      <p:bldP spid="11" grpId="0"/>
      <p:bldP spid="11" grpId="1"/>
      <p:bldP spid="12" grpId="0" animBg="1"/>
      <p:bldP spid="12" grpId="1" animBg="1"/>
      <p:bldP spid="13" grpId="0"/>
      <p:bldP spid="13" grpId="1"/>
      <p:bldP spid="14" grpId="0" animBg="1"/>
      <p:bldP spid="14" grpId="1"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9B9F577-AE64-7D6E-8430-D4D8FA113BB1}"/>
              </a:ext>
            </a:extLst>
          </p:cNvPr>
          <p:cNvSpPr>
            <a:spLocks noGrp="1"/>
          </p:cNvSpPr>
          <p:nvPr>
            <p:ph idx="1"/>
          </p:nvPr>
        </p:nvSpPr>
        <p:spPr/>
        <p:txBody>
          <a:bodyPr>
            <a:normAutofit lnSpcReduction="10000"/>
          </a:bodyPr>
          <a:lstStyle/>
          <a:p>
            <a:r>
              <a:rPr lang="en-US" dirty="0"/>
              <a:t>Allows adding new operations to a group of related objects without modifying their structure</a:t>
            </a:r>
          </a:p>
          <a:p>
            <a:r>
              <a:rPr lang="en-US" dirty="0"/>
              <a:t>Separates operations (behavior) from the object structure (elements) they act upon</a:t>
            </a:r>
          </a:p>
          <a:p>
            <a:r>
              <a:rPr lang="en-US" dirty="0"/>
              <a:t>Makes it easy to add operations after class is created</a:t>
            </a:r>
            <a:endParaRPr lang="en-US" b="1" i="1" dirty="0"/>
          </a:p>
          <a:p>
            <a:r>
              <a:rPr lang="en-US" dirty="0"/>
              <a:t>Widely used in </a:t>
            </a:r>
          </a:p>
          <a:p>
            <a:pPr lvl="1"/>
            <a:r>
              <a:rPr lang="en-US" dirty="0"/>
              <a:t>Compilers/interpreters</a:t>
            </a:r>
          </a:p>
          <a:p>
            <a:pPr lvl="1"/>
            <a:r>
              <a:rPr lang="en-US" dirty="0"/>
              <a:t>Serialization/deserialization (JSON parsing)</a:t>
            </a:r>
          </a:p>
          <a:p>
            <a:pPr lvl="1"/>
            <a:r>
              <a:rPr lang="en-US" dirty="0"/>
              <a:t>Static analysis/code auditing</a:t>
            </a:r>
          </a:p>
        </p:txBody>
      </p:sp>
      <p:sp>
        <p:nvSpPr>
          <p:cNvPr id="5" name="Title 4">
            <a:extLst>
              <a:ext uri="{FF2B5EF4-FFF2-40B4-BE49-F238E27FC236}">
                <a16:creationId xmlns:a16="http://schemas.microsoft.com/office/drawing/2014/main" id="{754D0007-5D78-C237-5757-901B4B549B59}"/>
              </a:ext>
            </a:extLst>
          </p:cNvPr>
          <p:cNvSpPr>
            <a:spLocks noGrp="1"/>
          </p:cNvSpPr>
          <p:nvPr>
            <p:ph type="title"/>
          </p:nvPr>
        </p:nvSpPr>
        <p:spPr/>
        <p:txBody>
          <a:bodyPr/>
          <a:lstStyle/>
          <a:p>
            <a:r>
              <a:rPr lang="en-US" dirty="0"/>
              <a:t>Visitor design pattern</a:t>
            </a:r>
          </a:p>
        </p:txBody>
      </p:sp>
    </p:spTree>
    <p:extLst>
      <p:ext uri="{BB962C8B-B14F-4D97-AF65-F5344CB8AC3E}">
        <p14:creationId xmlns:p14="http://schemas.microsoft.com/office/powerpoint/2010/main" val="3097541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98BE9-4292-82D1-3F07-0298B9D810E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FDE036-603C-DA73-941D-D043396D9B60}"/>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307576E-80BA-D1FA-3DAB-7A9ED6F4DEBC}"/>
              </a:ext>
            </a:extLst>
          </p:cNvPr>
          <p:cNvSpPr>
            <a:spLocks noGrp="1"/>
          </p:cNvSpPr>
          <p:nvPr>
            <p:ph type="title"/>
          </p:nvPr>
        </p:nvSpPr>
        <p:spPr/>
        <p:txBody>
          <a:bodyPr/>
          <a:lstStyle/>
          <a:p>
            <a:r>
              <a:rPr lang="en-US" dirty="0"/>
              <a:t>High-level case study – compiler code generation</a:t>
            </a:r>
          </a:p>
        </p:txBody>
      </p:sp>
      <p:sp>
        <p:nvSpPr>
          <p:cNvPr id="2" name="Content Placeholder 1">
            <a:extLst>
              <a:ext uri="{FF2B5EF4-FFF2-40B4-BE49-F238E27FC236}">
                <a16:creationId xmlns:a16="http://schemas.microsoft.com/office/drawing/2014/main" id="{05E440B8-924E-D674-D5D3-19854BE8CFD2}"/>
              </a:ext>
            </a:extLst>
          </p:cNvPr>
          <p:cNvSpPr>
            <a:spLocks noGrp="1"/>
          </p:cNvSpPr>
          <p:nvPr>
            <p:ph idx="13"/>
          </p:nvPr>
        </p:nvSpPr>
        <p:spPr/>
        <p:txBody>
          <a:bodyPr>
            <a:normAutofit/>
          </a:bodyPr>
          <a:lstStyle/>
          <a:p>
            <a:r>
              <a:rPr lang="en-US" dirty="0"/>
              <a:t>Abstract Syntax Tree (AST) used in compilers to represent source code</a:t>
            </a:r>
          </a:p>
          <a:p>
            <a:r>
              <a:rPr lang="en-US" dirty="0"/>
              <a:t>You want to perform many different types of operations on each node</a:t>
            </a:r>
          </a:p>
          <a:p>
            <a:pPr lvl="1"/>
            <a:r>
              <a:rPr lang="en-US" dirty="0"/>
              <a:t>E.g., </a:t>
            </a:r>
            <a:r>
              <a:rPr lang="en-US" dirty="0" err="1"/>
              <a:t>CountConstants</a:t>
            </a:r>
            <a:r>
              <a:rPr lang="en-US" dirty="0"/>
              <a:t>, </a:t>
            </a:r>
            <a:r>
              <a:rPr lang="en-US" dirty="0" err="1"/>
              <a:t>EvaluateExprs</a:t>
            </a:r>
            <a:r>
              <a:rPr lang="en-US" dirty="0"/>
              <a:t>, </a:t>
            </a:r>
            <a:r>
              <a:rPr lang="en-US" dirty="0" err="1"/>
              <a:t>GenerateCode</a:t>
            </a:r>
            <a:endParaRPr lang="en-US" dirty="0"/>
          </a:p>
        </p:txBody>
      </p:sp>
      <p:pic>
        <p:nvPicPr>
          <p:cNvPr id="5122" name="Picture 2" descr="Fast and accurate syntax searching for C and C++ | Trail of Bits Blog">
            <a:extLst>
              <a:ext uri="{FF2B5EF4-FFF2-40B4-BE49-F238E27FC236}">
                <a16:creationId xmlns:a16="http://schemas.microsoft.com/office/drawing/2014/main" id="{0386AB58-0AAC-A43F-A172-A4A9DF5751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389" y="785004"/>
            <a:ext cx="4607658" cy="48138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517597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6D2BAA-B31A-88DA-8D84-A2EA9ED39733}"/>
              </a:ext>
            </a:extLst>
          </p:cNvPr>
          <p:cNvSpPr>
            <a:spLocks noGrp="1"/>
          </p:cNvSpPr>
          <p:nvPr>
            <p:ph idx="1"/>
          </p:nvPr>
        </p:nvSpPr>
        <p:spPr/>
        <p:txBody>
          <a:bodyPr/>
          <a:lstStyle/>
          <a:p>
            <a:r>
              <a:rPr lang="en-US" dirty="0"/>
              <a:t>abstract class </a:t>
            </a:r>
            <a:r>
              <a:rPr lang="en-US" dirty="0" err="1"/>
              <a:t>ASTNode</a:t>
            </a:r>
            <a:r>
              <a:rPr lang="en-US" dirty="0"/>
              <a:t> {</a:t>
            </a:r>
          </a:p>
          <a:p>
            <a:r>
              <a:rPr lang="en-US" dirty="0"/>
              <a:t>	void accept(</a:t>
            </a:r>
            <a:r>
              <a:rPr lang="en-US" dirty="0" err="1"/>
              <a:t>ASTVisitor</a:t>
            </a:r>
            <a:r>
              <a:rPr lang="en-US" dirty="0"/>
              <a:t> visitor);</a:t>
            </a:r>
          </a:p>
          <a:p>
            <a:r>
              <a:rPr lang="en-US" dirty="0"/>
              <a:t>}</a:t>
            </a:r>
            <a:br>
              <a:rPr lang="en-US" dirty="0"/>
            </a:br>
            <a:br>
              <a:rPr lang="en-US" dirty="0"/>
            </a:br>
            <a:r>
              <a:rPr lang="en-US" dirty="0"/>
              <a:t>class </a:t>
            </a:r>
            <a:r>
              <a:rPr lang="en-US" dirty="0" err="1"/>
              <a:t>DeclStmt</a:t>
            </a:r>
            <a:r>
              <a:rPr lang="en-US" dirty="0"/>
              <a:t> extends </a:t>
            </a:r>
            <a:r>
              <a:rPr lang="en-US" dirty="0" err="1"/>
              <a:t>ASTNode</a:t>
            </a:r>
            <a:r>
              <a:rPr lang="en-US" dirty="0"/>
              <a:t> {</a:t>
            </a:r>
          </a:p>
          <a:p>
            <a:r>
              <a:rPr lang="en-US" dirty="0"/>
              <a:t>	/// … fields and getters/setters</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a:t>
            </a:r>
            <a:r>
              <a:rPr lang="en-US" dirty="0" err="1"/>
              <a:t>BinaryOperator</a:t>
            </a:r>
            <a:r>
              <a:rPr lang="en-US" dirty="0"/>
              <a:t> extends </a:t>
            </a:r>
            <a:r>
              <a:rPr lang="en-US" dirty="0" err="1"/>
              <a:t>ASTNode</a:t>
            </a:r>
            <a:r>
              <a:rPr lang="en-US" dirty="0"/>
              <a:t> {</a:t>
            </a:r>
          </a:p>
          <a:p>
            <a:r>
              <a:rPr lang="en-US" dirty="0"/>
              <a:t>	private </a:t>
            </a:r>
            <a:r>
              <a:rPr lang="en-US" dirty="0" err="1"/>
              <a:t>ASTNode</a:t>
            </a:r>
            <a:r>
              <a:rPr lang="en-US" dirty="0"/>
              <a:t> </a:t>
            </a:r>
            <a:r>
              <a:rPr lang="en-US" dirty="0" err="1"/>
              <a:t>leftNode</a:t>
            </a:r>
            <a:r>
              <a:rPr lang="en-US" dirty="0"/>
              <a:t>;</a:t>
            </a:r>
          </a:p>
          <a:p>
            <a:r>
              <a:rPr lang="en-US" dirty="0"/>
              <a:t>	private </a:t>
            </a:r>
            <a:r>
              <a:rPr lang="en-US" dirty="0" err="1"/>
              <a:t>ASTNode</a:t>
            </a:r>
            <a:r>
              <a:rPr lang="en-US" dirty="0"/>
              <a:t> </a:t>
            </a:r>
            <a:r>
              <a:rPr lang="en-US" dirty="0" err="1"/>
              <a:t>rightNode</a:t>
            </a:r>
            <a:r>
              <a:rPr lang="en-US" dirty="0"/>
              <a:t>;</a:t>
            </a:r>
          </a:p>
          <a:p>
            <a:endParaRPr lang="en-US" dirty="0"/>
          </a:p>
          <a:p>
            <a:r>
              <a:rPr lang="en-US" dirty="0"/>
              <a:t>	void accept(</a:t>
            </a:r>
            <a:r>
              <a:rPr lang="en-US" dirty="0" err="1"/>
              <a:t>ASTVisitor</a:t>
            </a:r>
            <a:r>
              <a:rPr lang="en-US" dirty="0"/>
              <a:t> visitor) {</a:t>
            </a:r>
          </a:p>
          <a:p>
            <a:r>
              <a:rPr lang="en-US" dirty="0"/>
              <a:t>		</a:t>
            </a:r>
            <a:r>
              <a:rPr lang="en-US" dirty="0" err="1"/>
              <a:t>visitor.visit</a:t>
            </a:r>
            <a:r>
              <a:rPr lang="en-US" dirty="0"/>
              <a:t>(</a:t>
            </a:r>
            <a:r>
              <a:rPr lang="en-US" dirty="0" err="1"/>
              <a:t>this.leftNode</a:t>
            </a:r>
            <a:r>
              <a:rPr lang="en-US" dirty="0"/>
              <a:t>);</a:t>
            </a:r>
          </a:p>
          <a:p>
            <a:r>
              <a:rPr lang="en-US" dirty="0"/>
              <a:t>		</a:t>
            </a:r>
            <a:r>
              <a:rPr lang="en-US" dirty="0" err="1"/>
              <a:t>visitor.visit</a:t>
            </a:r>
            <a:r>
              <a:rPr lang="en-US" dirty="0"/>
              <a:t>(</a:t>
            </a:r>
            <a:r>
              <a:rPr lang="en-US" dirty="0" err="1"/>
              <a:t>this.rightNode</a:t>
            </a:r>
            <a:r>
              <a:rPr lang="en-US" dirty="0"/>
              <a:t>);</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717EBCB-2841-939E-EE16-1EEBE2258C7D}"/>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3DCDE81A-B316-F22E-49F7-2B50C820728B}"/>
              </a:ext>
            </a:extLst>
          </p:cNvPr>
          <p:cNvSpPr>
            <a:spLocks noGrp="1"/>
          </p:cNvSpPr>
          <p:nvPr>
            <p:ph idx="13"/>
          </p:nvPr>
        </p:nvSpPr>
        <p:spPr/>
        <p:txBody>
          <a:bodyPr/>
          <a:lstStyle/>
          <a:p>
            <a:r>
              <a:rPr lang="en-US" dirty="0"/>
              <a:t>Create an abstract class to represent an AST node with an abstract </a:t>
            </a:r>
            <a:r>
              <a:rPr lang="en-US" dirty="0">
                <a:latin typeface="Consolas" panose="020B0609020204030204" pitchFamily="49" charset="0"/>
              </a:rPr>
              <a:t>accept</a:t>
            </a:r>
            <a:r>
              <a:rPr lang="en-US" dirty="0"/>
              <a:t> method</a:t>
            </a:r>
          </a:p>
          <a:p>
            <a:r>
              <a:rPr lang="en-US" dirty="0"/>
              <a:t>Create concrete subclasses with concrete </a:t>
            </a:r>
            <a:r>
              <a:rPr lang="en-US" dirty="0">
                <a:latin typeface="Consolas" panose="020B0609020204030204" pitchFamily="49" charset="0"/>
              </a:rPr>
              <a:t>accept</a:t>
            </a:r>
            <a:r>
              <a:rPr lang="en-US" dirty="0"/>
              <a:t> methods</a:t>
            </a:r>
          </a:p>
        </p:txBody>
      </p:sp>
    </p:spTree>
    <p:extLst>
      <p:ext uri="{BB962C8B-B14F-4D97-AF65-F5344CB8AC3E}">
        <p14:creationId xmlns:p14="http://schemas.microsoft.com/office/powerpoint/2010/main" val="443633138"/>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2FBAB-6334-5C5D-DACD-E24597BB7A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64AB71-7940-7BAA-E9FD-D2121027356C}"/>
              </a:ext>
            </a:extLst>
          </p:cNvPr>
          <p:cNvSpPr>
            <a:spLocks noGrp="1"/>
          </p:cNvSpPr>
          <p:nvPr>
            <p:ph idx="1"/>
          </p:nvPr>
        </p:nvSpPr>
        <p:spPr/>
        <p:txBody>
          <a:bodyPr>
            <a:normAutofit fontScale="92500" lnSpcReduction="20000"/>
          </a:bodyPr>
          <a:lstStyle/>
          <a:p>
            <a:r>
              <a:rPr lang="en-US" dirty="0"/>
              <a:t>abstract class </a:t>
            </a:r>
            <a:r>
              <a:rPr lang="en-US" dirty="0" err="1"/>
              <a:t>ASTVisitor</a:t>
            </a:r>
            <a:r>
              <a:rPr lang="en-US" dirty="0"/>
              <a:t> {</a:t>
            </a:r>
            <a:br>
              <a:rPr lang="en-US" dirty="0"/>
            </a:br>
            <a:r>
              <a:rPr lang="en-US" dirty="0"/>
              <a:t> void visit(</a:t>
            </a:r>
            <a:r>
              <a:rPr lang="en-US" dirty="0" err="1"/>
              <a:t>DeclStmt</a:t>
            </a:r>
            <a:r>
              <a:rPr lang="en-US" dirty="0"/>
              <a:t> </a:t>
            </a:r>
            <a:r>
              <a:rPr lang="en-US" dirty="0" err="1"/>
              <a:t>stmt</a:t>
            </a:r>
            <a:r>
              <a:rPr lang="en-US" dirty="0"/>
              <a:t>);</a:t>
            </a:r>
            <a:br>
              <a:rPr lang="en-US" dirty="0"/>
            </a:br>
            <a:r>
              <a:rPr lang="en-US" dirty="0"/>
              <a:t> void visit(</a:t>
            </a:r>
            <a:r>
              <a:rPr lang="en-US" dirty="0" err="1"/>
              <a:t>BinaryOperator</a:t>
            </a:r>
            <a:r>
              <a:rPr lang="en-US" dirty="0"/>
              <a:t> op);</a:t>
            </a:r>
          </a:p>
          <a:p>
            <a:r>
              <a:rPr lang="en-US" dirty="0"/>
              <a:t> void visit(</a:t>
            </a:r>
            <a:r>
              <a:rPr lang="en-US" dirty="0" err="1"/>
              <a:t>BinaryOperator</a:t>
            </a:r>
            <a:r>
              <a:rPr lang="en-US" dirty="0"/>
              <a:t> op) {</a:t>
            </a:r>
          </a:p>
          <a:p>
            <a:r>
              <a:rPr lang="en-US" dirty="0"/>
              <a:t>	</a:t>
            </a:r>
            <a:r>
              <a:rPr lang="en-US" dirty="0" err="1"/>
              <a:t>op.getLeft</a:t>
            </a:r>
            <a:r>
              <a:rPr lang="en-US" dirty="0"/>
              <a:t>().accept(this);</a:t>
            </a:r>
          </a:p>
          <a:p>
            <a:r>
              <a:rPr lang="en-US" dirty="0"/>
              <a:t>	</a:t>
            </a:r>
            <a:r>
              <a:rPr lang="en-US" dirty="0" err="1"/>
              <a:t>op.getRight</a:t>
            </a:r>
            <a:r>
              <a:rPr lang="en-US" dirty="0"/>
              <a:t>().accept(this);</a:t>
            </a:r>
          </a:p>
          <a:p>
            <a:r>
              <a:rPr lang="en-US" dirty="0"/>
              <a:t> }</a:t>
            </a:r>
          </a:p>
          <a:p>
            <a:r>
              <a:rPr lang="en-US" dirty="0"/>
              <a:t>}</a:t>
            </a:r>
          </a:p>
          <a:p>
            <a:endParaRPr lang="en-US" dirty="0"/>
          </a:p>
          <a:p>
            <a:r>
              <a:rPr lang="en-US" dirty="0"/>
              <a:t>class </a:t>
            </a:r>
            <a:r>
              <a:rPr lang="en-US" dirty="0" err="1"/>
              <a:t>CodeGenVisitor</a:t>
            </a:r>
            <a:r>
              <a:rPr lang="en-US" dirty="0"/>
              <a:t> extends </a:t>
            </a:r>
            <a:r>
              <a:rPr lang="en-US" dirty="0" err="1"/>
              <a:t>ASTVisitor</a:t>
            </a:r>
            <a:r>
              <a:rPr lang="en-US" dirty="0"/>
              <a:t> {</a:t>
            </a:r>
          </a:p>
          <a:p>
            <a:r>
              <a:rPr lang="en-US" dirty="0"/>
              <a:t> private String </a:t>
            </a:r>
            <a:r>
              <a:rPr lang="en-US" dirty="0" err="1"/>
              <a:t>generatedBinaryCode</a:t>
            </a:r>
            <a:r>
              <a:rPr lang="en-US" dirty="0"/>
              <a:t>;</a:t>
            </a:r>
          </a:p>
          <a:p>
            <a:endParaRPr lang="en-US" dirty="0"/>
          </a:p>
          <a:p>
            <a:r>
              <a:rPr lang="en-US" dirty="0"/>
              <a:t> void visit(</a:t>
            </a:r>
            <a:r>
              <a:rPr lang="en-US" dirty="0" err="1"/>
              <a:t>DeclStmt</a:t>
            </a:r>
            <a:r>
              <a:rPr lang="en-US" dirty="0"/>
              <a:t> </a:t>
            </a:r>
            <a:r>
              <a:rPr lang="en-US" dirty="0" err="1"/>
              <a:t>declStmt</a:t>
            </a:r>
            <a:r>
              <a:rPr lang="en-US" dirty="0"/>
              <a:t>) {</a:t>
            </a:r>
          </a:p>
          <a:p>
            <a:r>
              <a:rPr lang="en-US" dirty="0"/>
              <a:t>	// Create space on the stack</a:t>
            </a:r>
          </a:p>
          <a:p>
            <a:r>
              <a:rPr lang="en-US" dirty="0"/>
              <a:t>	</a:t>
            </a:r>
            <a:r>
              <a:rPr lang="en-US" dirty="0" err="1"/>
              <a:t>generatedBinaryCode.append</a:t>
            </a:r>
            <a:r>
              <a:rPr lang="en-US" dirty="0"/>
              <a:t>(“sub </a:t>
            </a:r>
            <a:r>
              <a:rPr lang="en-US" dirty="0" err="1"/>
              <a:t>rsp</a:t>
            </a:r>
            <a:r>
              <a:rPr lang="en-US" dirty="0"/>
              <a:t>,” + </a:t>
            </a:r>
            <a:r>
              <a:rPr lang="en-US" dirty="0" err="1"/>
              <a:t>declStmt.getSize</a:t>
            </a:r>
            <a:r>
              <a:rPr lang="en-US" dirty="0"/>
              <a:t>());		</a:t>
            </a:r>
          </a:p>
          <a:p>
            <a:r>
              <a:rPr lang="en-US" dirty="0"/>
              <a:t> }</a:t>
            </a:r>
          </a:p>
          <a:p>
            <a:endParaRPr lang="en-US" dirty="0"/>
          </a:p>
          <a:p>
            <a:r>
              <a:rPr lang="en-US" dirty="0"/>
              <a:t> void visit(</a:t>
            </a:r>
            <a:r>
              <a:rPr lang="en-US" dirty="0" err="1"/>
              <a:t>BinaryOperator</a:t>
            </a:r>
            <a:r>
              <a:rPr lang="en-US" dirty="0"/>
              <a:t> op) {</a:t>
            </a:r>
          </a:p>
          <a:p>
            <a:r>
              <a:rPr lang="en-US" dirty="0"/>
              <a:t>	</a:t>
            </a:r>
            <a:r>
              <a:rPr lang="en-US" dirty="0" err="1"/>
              <a:t>super.visit</a:t>
            </a:r>
            <a:r>
              <a:rPr lang="en-US" dirty="0"/>
              <a:t>(op);</a:t>
            </a:r>
          </a:p>
          <a:p>
            <a:r>
              <a:rPr lang="en-US" dirty="0"/>
              <a:t>	switch(</a:t>
            </a:r>
            <a:r>
              <a:rPr lang="en-US" dirty="0" err="1"/>
              <a:t>op.getKind</a:t>
            </a:r>
            <a:r>
              <a:rPr lang="en-US" dirty="0"/>
              <a:t>()) {</a:t>
            </a:r>
          </a:p>
          <a:p>
            <a:r>
              <a:rPr lang="en-US" dirty="0"/>
              <a:t>		case “+”: ///; </a:t>
            </a:r>
          </a:p>
          <a:p>
            <a:r>
              <a:rPr lang="en-US" dirty="0"/>
              <a:t>		case “-”: ///;</a:t>
            </a:r>
          </a:p>
          <a:p>
            <a:r>
              <a:rPr lang="en-US" dirty="0"/>
              <a:t>	}</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250C009-2447-C8BF-7C6E-E60107AABE58}"/>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FC7CC83C-025D-4991-B73C-76CD5FFED4CC}"/>
              </a:ext>
            </a:extLst>
          </p:cNvPr>
          <p:cNvSpPr>
            <a:spLocks noGrp="1"/>
          </p:cNvSpPr>
          <p:nvPr>
            <p:ph idx="13"/>
          </p:nvPr>
        </p:nvSpPr>
        <p:spPr/>
        <p:txBody>
          <a:bodyPr/>
          <a:lstStyle/>
          <a:p>
            <a:r>
              <a:rPr lang="en-US" dirty="0"/>
              <a:t>Define an abstract class </a:t>
            </a:r>
            <a:r>
              <a:rPr lang="en-US" dirty="0" err="1">
                <a:latin typeface="Consolas" panose="020B0609020204030204" pitchFamily="49" charset="0"/>
              </a:rPr>
              <a:t>ASTVisitor</a:t>
            </a:r>
            <a:endParaRPr lang="en-US" dirty="0">
              <a:latin typeface="Consolas" panose="020B0609020204030204" pitchFamily="49" charset="0"/>
            </a:endParaRPr>
          </a:p>
          <a:p>
            <a:r>
              <a:rPr lang="en-US" dirty="0"/>
              <a:t>Define concrete visitors subclasses </a:t>
            </a:r>
            <a:r>
              <a:rPr lang="en-US" dirty="0" err="1">
                <a:latin typeface="Consolas" panose="020B0609020204030204" pitchFamily="49" charset="0"/>
              </a:rPr>
              <a:t>ASTVisitor</a:t>
            </a:r>
            <a:endParaRPr lang="en-US" dirty="0">
              <a:latin typeface="Consolas" panose="020B0609020204030204" pitchFamily="49" charset="0"/>
            </a:endParaRPr>
          </a:p>
        </p:txBody>
      </p:sp>
    </p:spTree>
    <p:extLst>
      <p:ext uri="{BB962C8B-B14F-4D97-AF65-F5344CB8AC3E}">
        <p14:creationId xmlns:p14="http://schemas.microsoft.com/office/powerpoint/2010/main" val="46036642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D1A18-2189-BEB2-77D3-2C2707C6E86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6768AA2-9BEB-6C49-6A82-18EA68483CA8}"/>
              </a:ext>
            </a:extLst>
          </p:cNvPr>
          <p:cNvSpPr>
            <a:spLocks noGrp="1"/>
          </p:cNvSpPr>
          <p:nvPr>
            <p:ph idx="1"/>
          </p:nvPr>
        </p:nvSpPr>
        <p:spPr/>
        <p:txBody>
          <a:bodyPr>
            <a:normAutofit fontScale="92500" lnSpcReduction="20000"/>
          </a:bodyPr>
          <a:lstStyle/>
          <a:p>
            <a:r>
              <a:rPr lang="en-US" dirty="0"/>
              <a:t>Design patterns abstract object instantiation, composition, and behavior</a:t>
            </a:r>
          </a:p>
          <a:p>
            <a:r>
              <a:rPr lang="en-US" dirty="0"/>
              <a:t>Three types – creational, structural, behavioral</a:t>
            </a:r>
          </a:p>
          <a:p>
            <a:r>
              <a:rPr lang="en-US" dirty="0"/>
              <a:t>Creational – deals with object creation</a:t>
            </a:r>
          </a:p>
          <a:p>
            <a:pPr lvl="1"/>
            <a:r>
              <a:rPr lang="en-US" dirty="0"/>
              <a:t>Singleton, Factory/Abstract Factory</a:t>
            </a:r>
          </a:p>
          <a:p>
            <a:r>
              <a:rPr lang="en-US" dirty="0"/>
              <a:t>Structural – deals with how objects are composed</a:t>
            </a:r>
          </a:p>
          <a:p>
            <a:pPr lvl="1"/>
            <a:r>
              <a:rPr lang="en-US" dirty="0"/>
              <a:t>Adapter, Composite, Decorator, Bridge, Facade, Flyweight</a:t>
            </a:r>
          </a:p>
          <a:p>
            <a:r>
              <a:rPr lang="en-US" dirty="0"/>
              <a:t>Behavioral – how objects distribute responsibilities </a:t>
            </a:r>
          </a:p>
          <a:p>
            <a:pPr lvl="1"/>
            <a:r>
              <a:rPr lang="en-US" dirty="0"/>
              <a:t>Observer, state, template method, visitor</a:t>
            </a:r>
          </a:p>
          <a:p>
            <a:r>
              <a:rPr lang="en-US" dirty="0"/>
              <a:t>Design patterns can be combined to solve complex tasks</a:t>
            </a:r>
          </a:p>
          <a:p>
            <a:endParaRPr lang="en-US" dirty="0"/>
          </a:p>
        </p:txBody>
      </p:sp>
      <p:sp>
        <p:nvSpPr>
          <p:cNvPr id="5" name="Title 4">
            <a:extLst>
              <a:ext uri="{FF2B5EF4-FFF2-40B4-BE49-F238E27FC236}">
                <a16:creationId xmlns:a16="http://schemas.microsoft.com/office/drawing/2014/main" id="{A77D08B2-FD09-D2DC-00C3-C72A556D1BA7}"/>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01890807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8FD759-BF12-3BC7-BC95-628DE6D80564}"/>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A85CC82-9241-6E07-B98D-6FB088A198D9}"/>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512549441"/>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877949-8D2F-F9C2-9394-AB1C82BABCFC}"/>
              </a:ext>
            </a:extLst>
          </p:cNvPr>
          <p:cNvSpPr>
            <a:spLocks noGrp="1"/>
          </p:cNvSpPr>
          <p:nvPr>
            <p:ph idx="1"/>
          </p:nvPr>
        </p:nvSpPr>
        <p:spPr/>
        <p:txBody>
          <a:bodyPr>
            <a:normAutofit fontScale="92500" lnSpcReduction="10000"/>
          </a:bodyPr>
          <a:lstStyle/>
          <a:p>
            <a:pPr marL="0" indent="0">
              <a:buNone/>
            </a:pPr>
            <a:r>
              <a:rPr lang="en-US" dirty="0"/>
              <a:t>Suppose you are implementing a Chess board game. You want to separate the game logic (which moves are legal, how a player wins, how a player loses, </a:t>
            </a:r>
            <a:r>
              <a:rPr lang="en-US" dirty="0" err="1"/>
              <a:t>etc</a:t>
            </a:r>
            <a:r>
              <a:rPr lang="en-US" dirty="0"/>
              <a:t>) from the actual display logic. Why? Because you want to reuse the same game logic to display for 1) web pages, 2) text-only terminals, 3) hi-resolution graphics terminals, 4) low-resolution small screens. The idea would be that you simply encapsulate the type of device in a “display” object, create an instance of this object for a particular kind of device,  and pass it off to the game logic when you begin the game; the game logic simply calls the methods on the display object to display all the different pieces. Consider two main display method, </a:t>
            </a:r>
            <a:r>
              <a:rPr lang="en-US" dirty="0" err="1"/>
              <a:t>displayBoard</a:t>
            </a:r>
            <a:r>
              <a:rPr lang="en-US" dirty="0"/>
              <a:t> and </a:t>
            </a:r>
            <a:r>
              <a:rPr lang="en-US" dirty="0" err="1"/>
              <a:t>displayPiece</a:t>
            </a:r>
            <a:r>
              <a:rPr lang="en-US" dirty="0"/>
              <a:t>. Which pattern would you use?</a:t>
            </a:r>
          </a:p>
        </p:txBody>
      </p:sp>
      <p:sp>
        <p:nvSpPr>
          <p:cNvPr id="4" name="Title 3">
            <a:extLst>
              <a:ext uri="{FF2B5EF4-FFF2-40B4-BE49-F238E27FC236}">
                <a16:creationId xmlns:a16="http://schemas.microsoft.com/office/drawing/2014/main" id="{2C880C1A-199A-DCD8-2C65-606B8B867FDD}"/>
              </a:ext>
            </a:extLst>
          </p:cNvPr>
          <p:cNvSpPr>
            <a:spLocks noGrp="1"/>
          </p:cNvSpPr>
          <p:nvPr>
            <p:ph type="title"/>
          </p:nvPr>
        </p:nvSpPr>
        <p:spPr/>
        <p:txBody>
          <a:bodyPr/>
          <a:lstStyle/>
          <a:p>
            <a:r>
              <a:rPr lang="en-US" dirty="0"/>
              <a:t>Question 1</a:t>
            </a:r>
          </a:p>
        </p:txBody>
      </p:sp>
    </p:spTree>
    <p:extLst>
      <p:ext uri="{BB962C8B-B14F-4D97-AF65-F5344CB8AC3E}">
        <p14:creationId xmlns:p14="http://schemas.microsoft.com/office/powerpoint/2010/main" val="3619608998"/>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B71D3-07D4-8DA2-BB5B-1796727A3A7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ABF6E9-C3E2-7FB1-E10C-EDDAB44A187F}"/>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6FC26A6-C239-F78E-F836-A5F644B4794D}"/>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90890651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B3D627A-3F79-6CA6-F2E3-9ADEC172C478}"/>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845D1D29-8A46-0F2E-3DF3-2A3FC0B66362}"/>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104847250"/>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4828AE5-AC81-B8D1-913E-02591C7E822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D95FF0-F82E-A398-C93E-376D7A7F342A}"/>
              </a:ext>
            </a:extLst>
          </p:cNvPr>
          <p:cNvSpPr>
            <a:spLocks noGrp="1"/>
          </p:cNvSpPr>
          <p:nvPr>
            <p:ph idx="1"/>
          </p:nvPr>
        </p:nvSpPr>
        <p:spPr/>
        <p:txBody>
          <a:bodyPr>
            <a:normAutofit fontScale="85000" lnSpcReduction="20000"/>
          </a:bodyPr>
          <a:lstStyle/>
          <a:p>
            <a:r>
              <a:rPr lang="en-US" dirty="0"/>
              <a:t>abstract class </a:t>
            </a:r>
            <a:r>
              <a:rPr lang="en-US" dirty="0" err="1"/>
              <a:t>TreeNode</a:t>
            </a:r>
            <a:r>
              <a:rPr lang="en-US" dirty="0"/>
              <a:t> {</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 concrete subclasses for AST nodes</a:t>
            </a:r>
          </a:p>
          <a:p>
            <a:r>
              <a:rPr lang="en-US" dirty="0"/>
              <a:t>class Literal extends </a:t>
            </a:r>
            <a:r>
              <a:rPr lang="en-US" dirty="0" err="1"/>
              <a:t>TreeNode</a:t>
            </a:r>
            <a:r>
              <a:rPr lang="en-US" dirty="0"/>
              <a:t> {</a:t>
            </a:r>
          </a:p>
          <a:p>
            <a:r>
              <a:rPr lang="en-US" dirty="0"/>
              <a:t>	private final int value;</a:t>
            </a:r>
          </a:p>
          <a:p>
            <a:r>
              <a:rPr lang="en-US" dirty="0"/>
              <a:t>	public Literal(int value) {</a:t>
            </a:r>
          </a:p>
          <a:p>
            <a:r>
              <a:rPr lang="en-US" dirty="0"/>
              <a:t>		</a:t>
            </a:r>
            <a:r>
              <a:rPr lang="en-US" dirty="0" err="1"/>
              <a:t>this.value</a:t>
            </a:r>
            <a:r>
              <a:rPr lang="en-US" dirty="0"/>
              <a:t> = value;</a:t>
            </a:r>
          </a:p>
          <a:p>
            <a:r>
              <a:rPr lang="en-US" dirty="0"/>
              <a:t>	}</a:t>
            </a:r>
          </a:p>
          <a:p>
            <a:r>
              <a:rPr lang="en-US" dirty="0"/>
              <a:t>}</a:t>
            </a:r>
          </a:p>
          <a:p>
            <a:r>
              <a:rPr lang="en-US" dirty="0"/>
              <a:t>class Variable extends </a:t>
            </a:r>
            <a:r>
              <a:rPr lang="en-US" dirty="0" err="1"/>
              <a:t>TreeNode</a:t>
            </a:r>
            <a:r>
              <a:rPr lang="en-US" dirty="0"/>
              <a:t> {</a:t>
            </a:r>
          </a:p>
          <a:p>
            <a:r>
              <a:rPr lang="en-US" dirty="0"/>
              <a:t>	private final name; </a:t>
            </a:r>
          </a:p>
          <a:p>
            <a:r>
              <a:rPr lang="en-US" dirty="0"/>
              <a:t>	...</a:t>
            </a:r>
          </a:p>
          <a:p>
            <a:r>
              <a:rPr lang="en-US" dirty="0"/>
              <a:t>}</a:t>
            </a:r>
          </a:p>
          <a:p>
            <a:r>
              <a:rPr lang="en-US" dirty="0"/>
              <a:t>class </a:t>
            </a:r>
            <a:r>
              <a:rPr lang="en-US" dirty="0" err="1"/>
              <a:t>BinaryOperator</a:t>
            </a:r>
            <a:r>
              <a:rPr lang="en-US" dirty="0"/>
              <a:t> extends </a:t>
            </a:r>
            <a:r>
              <a:rPr lang="en-US" dirty="0" err="1"/>
              <a:t>TreeNode</a:t>
            </a:r>
            <a:r>
              <a:rPr lang="en-US" dirty="0"/>
              <a:t> {</a:t>
            </a:r>
          </a:p>
          <a:p>
            <a:r>
              <a:rPr lang="en-US" dirty="0"/>
              <a:t>	private final String operator;</a:t>
            </a:r>
          </a:p>
          <a:p>
            <a:r>
              <a:rPr lang="en-US" dirty="0"/>
              <a:t>	private final </a:t>
            </a:r>
            <a:r>
              <a:rPr lang="en-US" dirty="0" err="1"/>
              <a:t>TreeNode</a:t>
            </a:r>
            <a:r>
              <a:rPr lang="en-US" dirty="0"/>
              <a:t> left, right;</a:t>
            </a:r>
          </a:p>
          <a:p>
            <a:endParaRPr lang="en-US" dirty="0"/>
          </a:p>
          <a:p>
            <a:r>
              <a:rPr lang="en-US" dirty="0"/>
              <a:t>	public </a:t>
            </a:r>
            <a:r>
              <a:rPr lang="en-US" dirty="0" err="1"/>
              <a:t>BinaryOperator</a:t>
            </a:r>
            <a:r>
              <a:rPr lang="en-US" dirty="0"/>
              <a:t>(String operator, </a:t>
            </a:r>
            <a:r>
              <a:rPr lang="en-US" dirty="0" err="1"/>
              <a:t>TreeNode</a:t>
            </a:r>
            <a:r>
              <a:rPr lang="en-US" dirty="0"/>
              <a:t> left, </a:t>
            </a:r>
            <a:r>
              <a:rPr lang="en-US" dirty="0" err="1"/>
              <a:t>TreeNode</a:t>
            </a:r>
            <a:r>
              <a:rPr lang="en-US" dirty="0"/>
              <a:t> right) {</a:t>
            </a:r>
          </a:p>
          <a:p>
            <a:r>
              <a:rPr lang="en-US" dirty="0"/>
              <a:t>		</a:t>
            </a:r>
            <a:r>
              <a:rPr lang="en-US" dirty="0" err="1"/>
              <a:t>this.operator</a:t>
            </a:r>
            <a:r>
              <a:rPr lang="en-US" dirty="0"/>
              <a:t> = operator;</a:t>
            </a:r>
          </a:p>
          <a:p>
            <a:r>
              <a:rPr lang="en-US" dirty="0"/>
              <a:t>		</a:t>
            </a:r>
            <a:r>
              <a:rPr lang="en-US" dirty="0" err="1"/>
              <a:t>this.left</a:t>
            </a:r>
            <a:r>
              <a:rPr lang="en-US" dirty="0"/>
              <a:t> = left;</a:t>
            </a:r>
          </a:p>
          <a:p>
            <a:r>
              <a:rPr lang="en-US" dirty="0"/>
              <a:t>		</a:t>
            </a:r>
            <a:r>
              <a:rPr lang="en-US" dirty="0" err="1"/>
              <a:t>this.right</a:t>
            </a:r>
            <a:r>
              <a:rPr lang="en-US" dirty="0"/>
              <a:t> = right;</a:t>
            </a:r>
          </a:p>
          <a:p>
            <a:r>
              <a:rPr lang="en-US" dirty="0"/>
              <a:t>	}</a:t>
            </a:r>
          </a:p>
          <a:p>
            <a:r>
              <a:rPr lang="en-US" dirty="0"/>
              <a:t>}</a:t>
            </a:r>
          </a:p>
        </p:txBody>
      </p:sp>
      <p:sp>
        <p:nvSpPr>
          <p:cNvPr id="5" name="Title 4">
            <a:extLst>
              <a:ext uri="{FF2B5EF4-FFF2-40B4-BE49-F238E27FC236}">
                <a16:creationId xmlns:a16="http://schemas.microsoft.com/office/drawing/2014/main" id="{A2C9229E-DECD-3D1F-BF78-FA052D69AF3B}"/>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9EBEE4E5-2525-9E82-E72C-E9A85C1BD382}"/>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p:txBody>
      </p:sp>
      <p:sp>
        <p:nvSpPr>
          <p:cNvPr id="8" name="Rectangle 7">
            <a:extLst>
              <a:ext uri="{FF2B5EF4-FFF2-40B4-BE49-F238E27FC236}">
                <a16:creationId xmlns:a16="http://schemas.microsoft.com/office/drawing/2014/main" id="{4579FD81-3DD5-71BE-FD22-1569556141E4}"/>
              </a:ext>
            </a:extLst>
          </p:cNvPr>
          <p:cNvSpPr/>
          <p:nvPr/>
        </p:nvSpPr>
        <p:spPr>
          <a:xfrm>
            <a:off x="6330461" y="991374"/>
            <a:ext cx="3950677" cy="497457"/>
          </a:xfrm>
          <a:prstGeom prst="rect">
            <a:avLst/>
          </a:prstGeom>
          <a:noFill/>
          <a:ln w="444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117357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7E21C40-8956-0925-430E-79BBD8772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8E36FA-E88B-9875-1378-5C3BD42ED4CF}"/>
              </a:ext>
            </a:extLst>
          </p:cNvPr>
          <p:cNvSpPr>
            <a:spLocks noGrp="1"/>
          </p:cNvSpPr>
          <p:nvPr>
            <p:ph idx="1"/>
          </p:nvPr>
        </p:nvSpPr>
        <p:spPr/>
        <p:txBody>
          <a:bodyPr>
            <a:normAutofit/>
          </a:bodyPr>
          <a:lstStyle/>
          <a:p>
            <a:r>
              <a:rPr lang="en-US" dirty="0"/>
              <a:t>abstract class </a:t>
            </a:r>
            <a:r>
              <a:rPr lang="en-US" dirty="0" err="1"/>
              <a:t>ASTVisitor</a:t>
            </a:r>
            <a:r>
              <a:rPr lang="en-US" dirty="0"/>
              <a:t> {</a:t>
            </a:r>
          </a:p>
          <a:p>
            <a:r>
              <a:rPr lang="en-US" dirty="0"/>
              <a:t>    void visit(Literal literal) {}</a:t>
            </a:r>
          </a:p>
          <a:p>
            <a:r>
              <a:rPr lang="en-US" dirty="0"/>
              <a:t>    void visit(Variable variable) {}</a:t>
            </a:r>
          </a:p>
          <a:p>
            <a:endParaRPr lang="en-US" dirty="0"/>
          </a:p>
          <a:p>
            <a:r>
              <a:rPr lang="en-US" dirty="0"/>
              <a:t>    void visit(</a:t>
            </a:r>
            <a:r>
              <a:rPr lang="en-US" dirty="0" err="1"/>
              <a:t>BinaryOperator</a:t>
            </a:r>
            <a:r>
              <a:rPr lang="en-US" dirty="0"/>
              <a:t> </a:t>
            </a:r>
            <a:r>
              <a:rPr lang="en-US" dirty="0" err="1"/>
              <a:t>binaryOperator</a:t>
            </a:r>
            <a:r>
              <a:rPr lang="en-US" dirty="0"/>
              <a:t>) {</a:t>
            </a:r>
          </a:p>
          <a:p>
            <a:r>
              <a:rPr lang="en-US" dirty="0"/>
              <a:t>		</a:t>
            </a:r>
            <a:r>
              <a:rPr lang="en-US" dirty="0" err="1"/>
              <a:t>this.left.accept</a:t>
            </a:r>
            <a:r>
              <a:rPr lang="en-US" dirty="0"/>
              <a:t>(this);</a:t>
            </a:r>
          </a:p>
          <a:p>
            <a:r>
              <a:rPr lang="en-US" dirty="0"/>
              <a:t>		</a:t>
            </a:r>
            <a:r>
              <a:rPr lang="en-US" dirty="0" err="1"/>
              <a:t>this.right.accept</a:t>
            </a:r>
            <a:r>
              <a:rPr lang="en-US" dirty="0"/>
              <a:t>(this);</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972E57B2-8A7F-C759-2D21-7762AA7CA680}"/>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4A7C435D-CE8F-D59C-015D-FECA2C418BF5}"/>
              </a:ext>
            </a:extLst>
          </p:cNvPr>
          <p:cNvSpPr>
            <a:spLocks noGrp="1"/>
          </p:cNvSpPr>
          <p:nvPr>
            <p:ph idx="13"/>
          </p:nvPr>
        </p:nvSpPr>
        <p:spPr/>
        <p:txBody>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err="1">
                <a:latin typeface="Consolas" panose="020B0609020204030204" pitchFamily="49" charset="0"/>
              </a:rPr>
              <a:t>TreeNode</a:t>
            </a:r>
            <a:endParaRPr lang="en-US" dirty="0">
              <a:latin typeface="Consolas" panose="020B0609020204030204" pitchFamily="49" charset="0"/>
            </a:endParaRPr>
          </a:p>
        </p:txBody>
      </p:sp>
    </p:spTree>
    <p:extLst>
      <p:ext uri="{BB962C8B-B14F-4D97-AF65-F5344CB8AC3E}">
        <p14:creationId xmlns:p14="http://schemas.microsoft.com/office/powerpoint/2010/main" val="208349487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2FCEDA6-BE1F-0040-2624-5321D8882A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C23379-E726-121A-137E-E60B817DD8F9}"/>
              </a:ext>
            </a:extLst>
          </p:cNvPr>
          <p:cNvSpPr>
            <a:spLocks noGrp="1"/>
          </p:cNvSpPr>
          <p:nvPr>
            <p:ph idx="1"/>
          </p:nvPr>
        </p:nvSpPr>
        <p:spPr/>
        <p:txBody>
          <a:bodyPr>
            <a:normAutofit fontScale="85000" lnSpcReduction="20000"/>
          </a:bodyPr>
          <a:lstStyle/>
          <a:p>
            <a:r>
              <a:rPr lang="en-US" dirty="0"/>
              <a:t>class </a:t>
            </a:r>
            <a:r>
              <a:rPr lang="en-US" dirty="0" err="1"/>
              <a:t>CodeGeneratorVisitor</a:t>
            </a:r>
            <a:r>
              <a:rPr lang="en-US" dirty="0"/>
              <a:t> extends </a:t>
            </a:r>
            <a:r>
              <a:rPr lang="en-US" dirty="0" err="1"/>
              <a:t>ASTVisitor</a:t>
            </a:r>
            <a:r>
              <a:rPr lang="en-US" dirty="0"/>
              <a:t> {</a:t>
            </a:r>
          </a:p>
          <a:p>
            <a:r>
              <a:rPr lang="en-US" dirty="0"/>
              <a:t>    private final StringBuilder code = new StringBuilder();</a:t>
            </a:r>
          </a:p>
          <a:p>
            <a:endParaRPr lang="en-US" dirty="0"/>
          </a:p>
          <a:p>
            <a:r>
              <a:rPr lang="en-US" dirty="0"/>
              <a:t>    public String </a:t>
            </a:r>
            <a:r>
              <a:rPr lang="en-US" dirty="0" err="1"/>
              <a:t>getCode</a:t>
            </a:r>
            <a:r>
              <a:rPr lang="en-US" dirty="0"/>
              <a:t>() {</a:t>
            </a:r>
          </a:p>
          <a:p>
            <a:r>
              <a:rPr lang="en-US" dirty="0"/>
              <a:t>        return </a:t>
            </a:r>
            <a:r>
              <a:rPr lang="en-US" dirty="0" err="1"/>
              <a:t>code.toString</a:t>
            </a:r>
            <a:r>
              <a:rPr lang="en-US" dirty="0"/>
              <a:t>();</a:t>
            </a:r>
          </a:p>
          <a:p>
            <a:r>
              <a:rPr lang="en-US" dirty="0"/>
              <a:t>    }</a:t>
            </a:r>
          </a:p>
          <a:p>
            <a:endParaRPr lang="en-US" dirty="0"/>
          </a:p>
          <a:p>
            <a:r>
              <a:rPr lang="en-US" dirty="0"/>
              <a:t>    @Override</a:t>
            </a:r>
          </a:p>
          <a:p>
            <a:r>
              <a:rPr lang="en-US" dirty="0"/>
              <a:t>    public void visit(Literal literal) {</a:t>
            </a:r>
          </a:p>
          <a:p>
            <a:r>
              <a:rPr lang="en-US" dirty="0"/>
              <a:t>        </a:t>
            </a:r>
            <a:r>
              <a:rPr lang="en-US" dirty="0" err="1"/>
              <a:t>code.append</a:t>
            </a:r>
            <a:r>
              <a:rPr lang="en-US" dirty="0"/>
              <a:t>(</a:t>
            </a:r>
            <a:r>
              <a:rPr lang="en-US" dirty="0" err="1"/>
              <a:t>literal.getValue</a:t>
            </a:r>
            <a:r>
              <a:rPr lang="en-US" dirty="0"/>
              <a:t>());</a:t>
            </a:r>
          </a:p>
          <a:p>
            <a:r>
              <a:rPr lang="en-US" dirty="0"/>
              <a:t>    }</a:t>
            </a:r>
          </a:p>
          <a:p>
            <a:endParaRPr lang="en-US" dirty="0"/>
          </a:p>
          <a:p>
            <a:r>
              <a:rPr lang="en-US" dirty="0"/>
              <a:t>    @Override</a:t>
            </a:r>
          </a:p>
          <a:p>
            <a:r>
              <a:rPr lang="en-US" dirty="0"/>
              <a:t>    public void visit(Variable variable) {</a:t>
            </a:r>
          </a:p>
          <a:p>
            <a:r>
              <a:rPr lang="en-US" dirty="0"/>
              <a:t>        </a:t>
            </a:r>
            <a:r>
              <a:rPr lang="en-US" dirty="0" err="1"/>
              <a:t>code.append</a:t>
            </a:r>
            <a:r>
              <a:rPr lang="en-US" dirty="0"/>
              <a:t>(</a:t>
            </a:r>
            <a:r>
              <a:rPr lang="en-US" dirty="0" err="1"/>
              <a:t>variable.getName</a:t>
            </a:r>
            <a:r>
              <a:rPr lang="en-US" dirty="0"/>
              <a:t>());</a:t>
            </a:r>
          </a:p>
          <a:p>
            <a:r>
              <a:rPr lang="en-US" dirty="0"/>
              <a:t>    }</a:t>
            </a:r>
          </a:p>
          <a:p>
            <a:endParaRPr lang="en-US" dirty="0"/>
          </a:p>
          <a:p>
            <a:r>
              <a:rPr lang="en-US" dirty="0"/>
              <a:t>    @Override</a:t>
            </a:r>
          </a:p>
          <a:p>
            <a:r>
              <a:rPr lang="en-US" dirty="0"/>
              <a:t>    public void visit(</a:t>
            </a:r>
            <a:r>
              <a:rPr lang="en-US" dirty="0" err="1"/>
              <a:t>BinaryExpression</a:t>
            </a:r>
            <a:r>
              <a:rPr lang="en-US" dirty="0"/>
              <a:t> </a:t>
            </a:r>
            <a:r>
              <a:rPr lang="en-US" dirty="0" err="1"/>
              <a:t>binaryExpression</a:t>
            </a:r>
            <a:r>
              <a:rPr lang="en-US" dirty="0"/>
              <a:t>) {</a:t>
            </a:r>
          </a:p>
          <a:p>
            <a:r>
              <a:rPr lang="en-US" dirty="0"/>
              <a:t>        </a:t>
            </a:r>
            <a:r>
              <a:rPr lang="en-US" dirty="0" err="1"/>
              <a:t>code.append</a:t>
            </a:r>
            <a:r>
              <a:rPr lang="en-US" dirty="0"/>
              <a:t>("(");</a:t>
            </a:r>
          </a:p>
          <a:p>
            <a:r>
              <a:rPr lang="en-US" dirty="0"/>
              <a:t>        </a:t>
            </a:r>
            <a:r>
              <a:rPr lang="en-US" dirty="0" err="1"/>
              <a:t>binaryExpression.getLeft</a:t>
            </a:r>
            <a:r>
              <a:rPr lang="en-US" dirty="0"/>
              <a:t>().accept(this);</a:t>
            </a:r>
          </a:p>
          <a:p>
            <a:r>
              <a:rPr lang="en-US" dirty="0"/>
              <a:t>        </a:t>
            </a:r>
            <a:r>
              <a:rPr lang="en-US" dirty="0" err="1"/>
              <a:t>code.append</a:t>
            </a:r>
            <a:r>
              <a:rPr lang="en-US" dirty="0"/>
              <a:t>(" ").append(</a:t>
            </a:r>
            <a:r>
              <a:rPr lang="en-US" dirty="0" err="1"/>
              <a:t>binaryExpression.getOperator</a:t>
            </a:r>
            <a:r>
              <a:rPr lang="en-US" dirty="0"/>
              <a:t>()).append(" ");</a:t>
            </a:r>
          </a:p>
          <a:p>
            <a:r>
              <a:rPr lang="en-US" dirty="0"/>
              <a:t>        </a:t>
            </a:r>
            <a:r>
              <a:rPr lang="en-US" dirty="0" err="1"/>
              <a:t>binaryExpression.getRight</a:t>
            </a:r>
            <a:r>
              <a:rPr lang="en-US" dirty="0"/>
              <a:t>().accept(this);</a:t>
            </a:r>
          </a:p>
          <a:p>
            <a:r>
              <a:rPr lang="en-US" dirty="0"/>
              <a:t>        </a:t>
            </a:r>
            <a:r>
              <a:rPr lang="en-US" dirty="0" err="1"/>
              <a:t>code.append</a:t>
            </a:r>
            <a:r>
              <a:rPr lang="en-US" dirty="0"/>
              <a:t>(")");</a:t>
            </a:r>
          </a:p>
          <a:p>
            <a:r>
              <a:rPr lang="en-US" dirty="0"/>
              <a:t>    }</a:t>
            </a:r>
          </a:p>
          <a:p>
            <a:r>
              <a:rPr lang="en-US" dirty="0"/>
              <a:t>}</a:t>
            </a:r>
          </a:p>
        </p:txBody>
      </p:sp>
      <p:sp>
        <p:nvSpPr>
          <p:cNvPr id="5" name="Title 4">
            <a:extLst>
              <a:ext uri="{FF2B5EF4-FFF2-40B4-BE49-F238E27FC236}">
                <a16:creationId xmlns:a16="http://schemas.microsoft.com/office/drawing/2014/main" id="{2C63EBB8-1429-8623-8BCF-8636B1B6B5A8}"/>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F57F20B3-87A3-5DE1-B120-647BB13F08EA}"/>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ASTVisitor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976222484"/>
      </p:ext>
    </p:extLst>
  </p:cSld>
  <p:clrMapOvr>
    <a:masterClrMapping/>
  </p:clrMapOvr>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14270</TotalTime>
  <Words>11356</Words>
  <Application>Microsoft Office PowerPoint</Application>
  <PresentationFormat>Widescreen</PresentationFormat>
  <Paragraphs>1975</Paragraphs>
  <Slides>142</Slides>
  <Notes>70</Notes>
  <HiddenSlides>6</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142</vt:i4>
      </vt:variant>
    </vt:vector>
  </HeadingPairs>
  <TitlesOfParts>
    <vt:vector size="148" baseType="lpstr">
      <vt:lpstr>Arial</vt:lpstr>
      <vt:lpstr>Calibri</vt:lpstr>
      <vt:lpstr>Consolas</vt:lpstr>
      <vt:lpstr>Helvetica</vt:lpstr>
      <vt:lpstr>Wingdings</vt:lpstr>
      <vt:lpstr>Preso 2022 Watertower Stats</vt:lpstr>
      <vt:lpstr>PowerPoint Presentation</vt:lpstr>
      <vt:lpstr>Announcements</vt:lpstr>
      <vt:lpstr>What are design patterns?</vt:lpstr>
      <vt:lpstr>What are design patterns?</vt:lpstr>
      <vt:lpstr>Social media platform</vt:lpstr>
      <vt:lpstr>OO, testing, reflection – single component focus</vt:lpstr>
      <vt:lpstr>Software architecture</vt:lpstr>
      <vt:lpstr>Design patterns – single component focus</vt:lpstr>
      <vt:lpstr>Why do we need design patterns?</vt:lpstr>
      <vt:lpstr>Why do we need design patterns?</vt:lpstr>
      <vt:lpstr>Question</vt:lpstr>
      <vt:lpstr>static field</vt:lpstr>
      <vt:lpstr>static field</vt:lpstr>
      <vt:lpstr>Preventing misuse</vt:lpstr>
      <vt:lpstr>Solution: singleton design pattern</vt:lpstr>
      <vt:lpstr>Solution: singleton design pattern</vt:lpstr>
      <vt:lpstr>Why do we need design patterns?</vt:lpstr>
      <vt:lpstr>Why should we study design patterns?</vt:lpstr>
      <vt:lpstr>Design pattern classification</vt:lpstr>
      <vt:lpstr>Creational patterns </vt:lpstr>
      <vt:lpstr>PowerPoint Presentation</vt:lpstr>
      <vt:lpstr>Case study: UI toolkit</vt:lpstr>
      <vt:lpstr>Abstract factory pattern for UI toolkit</vt:lpstr>
      <vt:lpstr>Abstract factory pattern for UI toolkit</vt:lpstr>
      <vt:lpstr>Abstract factory</vt:lpstr>
      <vt:lpstr>Characteristics</vt:lpstr>
      <vt:lpstr>Characteristics</vt:lpstr>
      <vt:lpstr>Characteristics</vt:lpstr>
      <vt:lpstr>Design pattern classification</vt:lpstr>
      <vt:lpstr>Structural patterns</vt:lpstr>
      <vt:lpstr>PowerPoint Presentation</vt:lpstr>
      <vt:lpstr>Adapter design pattern</vt:lpstr>
      <vt:lpstr>Adapter design pattern</vt:lpstr>
      <vt:lpstr>Payment interface adapter</vt:lpstr>
      <vt:lpstr>Adapter design pattern</vt:lpstr>
      <vt:lpstr>Payment interface adapter</vt:lpstr>
      <vt:lpstr>What did we achieve?</vt:lpstr>
      <vt:lpstr>Payment interface adapter</vt:lpstr>
      <vt:lpstr>Adapter vs. proxy design pattern</vt:lpstr>
      <vt:lpstr>Characteristics</vt:lpstr>
      <vt:lpstr>PowerPoint Presentation</vt:lpstr>
      <vt:lpstr>Announcements</vt:lpstr>
      <vt:lpstr>Agenda</vt:lpstr>
      <vt:lpstr>Sample question 1</vt:lpstr>
      <vt:lpstr>Sample question 2</vt:lpstr>
      <vt:lpstr>Sample question 2</vt:lpstr>
      <vt:lpstr>Design pattern classification</vt:lpstr>
      <vt:lpstr>PowerPoint Presentation</vt:lpstr>
      <vt:lpstr>Case study: social media posts</vt:lpstr>
      <vt:lpstr>Composite design pattern for social media post</vt:lpstr>
      <vt:lpstr>Benefits</vt:lpstr>
      <vt:lpstr>Benefits</vt:lpstr>
      <vt:lpstr>Benefits</vt:lpstr>
      <vt:lpstr>Benefits</vt:lpstr>
      <vt:lpstr>Composite design pattern</vt:lpstr>
      <vt:lpstr>Characteristics</vt:lpstr>
      <vt:lpstr>PowerPoint Presentation</vt:lpstr>
      <vt:lpstr>Case study: vehicle class hierarchy</vt:lpstr>
      <vt:lpstr>Case study: vehicle class hierarchy</vt:lpstr>
      <vt:lpstr>Case study: vehicle class hierarchy</vt:lpstr>
      <vt:lpstr>Case study: vehicle class hierarchy</vt:lpstr>
      <vt:lpstr>Case study: vehicle class hierarchy</vt:lpstr>
      <vt:lpstr>Bridge design pattern</vt:lpstr>
      <vt:lpstr>Characteristics</vt:lpstr>
      <vt:lpstr>Design pattern classification</vt:lpstr>
      <vt:lpstr>PowerPoint Presentation</vt:lpstr>
      <vt:lpstr>Case study – compiler library</vt:lpstr>
      <vt:lpstr>Case study – compiler library</vt:lpstr>
      <vt:lpstr>Case study – compiler library</vt:lpstr>
      <vt:lpstr>Characteristics</vt:lpstr>
      <vt:lpstr>PowerPoint Presentation</vt:lpstr>
      <vt:lpstr>Design pattern classification</vt:lpstr>
      <vt:lpstr>PowerPoint Presentation</vt:lpstr>
      <vt:lpstr>Decorator design pattern</vt:lpstr>
      <vt:lpstr>Case study – fraud detecting payment processor</vt:lpstr>
      <vt:lpstr>Fraud detection decorator for payment processor</vt:lpstr>
      <vt:lpstr>Decorators visually</vt:lpstr>
      <vt:lpstr>Fraud detection decorator for payment processor</vt:lpstr>
      <vt:lpstr>Fraud detection decorator for payment processor</vt:lpstr>
      <vt:lpstr>Fraud detection decorator for payment processor</vt:lpstr>
      <vt:lpstr>Decorators visually</vt:lpstr>
      <vt:lpstr>Combining adapter and decorator patters</vt:lpstr>
      <vt:lpstr>Isn’t this a proxy??</vt:lpstr>
      <vt:lpstr>Non-ideal alternate implementations: subclass?</vt:lpstr>
      <vt:lpstr>Problem 1: breaks SRP</vt:lpstr>
      <vt:lpstr>Problem 2: class explosion</vt:lpstr>
      <vt:lpstr>Characteristics</vt:lpstr>
      <vt:lpstr>PowerPoint Presentation</vt:lpstr>
      <vt:lpstr>Case study – game system</vt:lpstr>
      <vt:lpstr>Flyweight design pattern</vt:lpstr>
      <vt:lpstr>Flyweight design pattern</vt:lpstr>
      <vt:lpstr>Putting it all together</vt:lpstr>
      <vt:lpstr>Characteristics</vt:lpstr>
      <vt:lpstr>Design pattern classification</vt:lpstr>
      <vt:lpstr>Behavioral pattern</vt:lpstr>
      <vt:lpstr>PowerPoint Presentation</vt:lpstr>
      <vt:lpstr>Case study - Graphical views for application data</vt:lpstr>
      <vt:lpstr>Observer designer pattern</vt:lpstr>
      <vt:lpstr>Observer design pattern</vt:lpstr>
      <vt:lpstr>Graphical views for application data</vt:lpstr>
      <vt:lpstr>Graphical views for application data</vt:lpstr>
      <vt:lpstr>Graphical views for application data</vt:lpstr>
      <vt:lpstr>Characteristics</vt:lpstr>
      <vt:lpstr>PowerPoint Presentation</vt:lpstr>
      <vt:lpstr>Case study: media player state diagram</vt:lpstr>
      <vt:lpstr>Media player states</vt:lpstr>
      <vt:lpstr>Without design pattern</vt:lpstr>
      <vt:lpstr>With state design pattern</vt:lpstr>
      <vt:lpstr>With state design pattern</vt:lpstr>
      <vt:lpstr>State design pattern</vt:lpstr>
      <vt:lpstr>Characteristics</vt:lpstr>
      <vt:lpstr>PowerPoint Presentation</vt:lpstr>
      <vt:lpstr>Case study: find all paths from source to destination</vt:lpstr>
      <vt:lpstr>Case study: find all paths from source to destination</vt:lpstr>
      <vt:lpstr>Case study: find all paths from source to destination</vt:lpstr>
      <vt:lpstr>Template method design pattern</vt:lpstr>
      <vt:lpstr>Characteristics</vt:lpstr>
      <vt:lpstr>Sample design pattern question</vt:lpstr>
      <vt:lpstr>PowerPoint Presentation</vt:lpstr>
      <vt:lpstr>Case study – transform nested shapes</vt:lpstr>
      <vt:lpstr>Case study – transform nested shapes</vt:lpstr>
      <vt:lpstr>Case study – transform nested shapes</vt:lpstr>
      <vt:lpstr>Design option 1</vt:lpstr>
      <vt:lpstr>Design option 1</vt:lpstr>
      <vt:lpstr>Disadvantages</vt:lpstr>
      <vt:lpstr>Visitor design pattern</vt:lpstr>
      <vt:lpstr>Visitor design pattern</vt:lpstr>
      <vt:lpstr>Visitor design pattern</vt:lpstr>
      <vt:lpstr>Visitor design pattern</vt:lpstr>
      <vt:lpstr>Visitor pattern – full code</vt:lpstr>
      <vt:lpstr>Visitor design pattern</vt:lpstr>
      <vt:lpstr>High-level case study – compiler code generation</vt:lpstr>
      <vt:lpstr>ASTVisitor</vt:lpstr>
      <vt:lpstr>ASTVisitor</vt:lpstr>
      <vt:lpstr>Summary</vt:lpstr>
      <vt:lpstr>PowerPoint Presentation</vt:lpstr>
      <vt:lpstr>Question 1</vt:lpstr>
      <vt:lpstr>Question 2</vt:lpstr>
      <vt:lpstr>Question 3</vt:lpstr>
      <vt:lpstr>With visitor design pattern</vt:lpstr>
      <vt:lpstr>With visitor design pattern</vt:lpstr>
      <vt:lpstr>With visitor design pattern</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1536</cp:revision>
  <dcterms:created xsi:type="dcterms:W3CDTF">2019-06-30T03:25:06Z</dcterms:created>
  <dcterms:modified xsi:type="dcterms:W3CDTF">2025-12-01T05:31:43Z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