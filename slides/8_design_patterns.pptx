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43"/>
  </p:notesMasterIdLst>
  <p:handoutMasterIdLst>
    <p:handoutMasterId r:id="rId144"/>
  </p:handoutMasterIdLst>
  <p:sldIdLst>
    <p:sldId id="256" r:id="rId2"/>
    <p:sldId id="1216" r:id="rId3"/>
    <p:sldId id="257" r:id="rId4"/>
    <p:sldId id="344" r:id="rId5"/>
    <p:sldId id="326" r:id="rId6"/>
    <p:sldId id="327" r:id="rId7"/>
    <p:sldId id="328" r:id="rId8"/>
    <p:sldId id="329" r:id="rId9"/>
    <p:sldId id="258" r:id="rId10"/>
    <p:sldId id="263" r:id="rId11"/>
    <p:sldId id="338" r:id="rId12"/>
    <p:sldId id="264" r:id="rId13"/>
    <p:sldId id="1215" r:id="rId14"/>
    <p:sldId id="330" r:id="rId15"/>
    <p:sldId id="267" r:id="rId16"/>
    <p:sldId id="268" r:id="rId17"/>
    <p:sldId id="259" r:id="rId18"/>
    <p:sldId id="325" r:id="rId19"/>
    <p:sldId id="333" r:id="rId20"/>
    <p:sldId id="262" r:id="rId21"/>
    <p:sldId id="340" r:id="rId22"/>
    <p:sldId id="270" r:id="rId23"/>
    <p:sldId id="272" r:id="rId24"/>
    <p:sldId id="271" r:id="rId25"/>
    <p:sldId id="269" r:id="rId26"/>
    <p:sldId id="273" r:id="rId27"/>
    <p:sldId id="331" r:id="rId28"/>
    <p:sldId id="332" r:id="rId29"/>
    <p:sldId id="345" r:id="rId30"/>
    <p:sldId id="274" r:id="rId31"/>
    <p:sldId id="341" r:id="rId32"/>
    <p:sldId id="275" r:id="rId33"/>
    <p:sldId id="335" r:id="rId34"/>
    <p:sldId id="276" r:id="rId35"/>
    <p:sldId id="334" r:id="rId36"/>
    <p:sldId id="277" r:id="rId37"/>
    <p:sldId id="339" r:id="rId38"/>
    <p:sldId id="336" r:id="rId39"/>
    <p:sldId id="337" r:id="rId40"/>
    <p:sldId id="287" r:id="rId41"/>
    <p:sldId id="1220" r:id="rId42"/>
    <p:sldId id="1221" r:id="rId43"/>
    <p:sldId id="1222" r:id="rId44"/>
    <p:sldId id="1219" r:id="rId45"/>
    <p:sldId id="1224" r:id="rId46"/>
    <p:sldId id="1225" r:id="rId47"/>
    <p:sldId id="1223" r:id="rId48"/>
    <p:sldId id="342" r:id="rId49"/>
    <p:sldId id="284" r:id="rId50"/>
    <p:sldId id="285" r:id="rId51"/>
    <p:sldId id="347" r:id="rId52"/>
    <p:sldId id="1217" r:id="rId53"/>
    <p:sldId id="348" r:id="rId54"/>
    <p:sldId id="349" r:id="rId55"/>
    <p:sldId id="283" r:id="rId56"/>
    <p:sldId id="286" r:id="rId57"/>
    <p:sldId id="358" r:id="rId58"/>
    <p:sldId id="279" r:id="rId59"/>
    <p:sldId id="280" r:id="rId60"/>
    <p:sldId id="281" r:id="rId61"/>
    <p:sldId id="282" r:id="rId62"/>
    <p:sldId id="361" r:id="rId63"/>
    <p:sldId id="278" r:id="rId64"/>
    <p:sldId id="288" r:id="rId65"/>
    <p:sldId id="370" r:id="rId66"/>
    <p:sldId id="371" r:id="rId67"/>
    <p:sldId id="372" r:id="rId68"/>
    <p:sldId id="374" r:id="rId69"/>
    <p:sldId id="375" r:id="rId70"/>
    <p:sldId id="377" r:id="rId71"/>
    <p:sldId id="343" r:id="rId72"/>
    <p:sldId id="289" r:id="rId73"/>
    <p:sldId id="351" r:id="rId74"/>
    <p:sldId id="291" r:id="rId75"/>
    <p:sldId id="1218" r:id="rId76"/>
    <p:sldId id="292" r:id="rId77"/>
    <p:sldId id="293" r:id="rId78"/>
    <p:sldId id="294" r:id="rId79"/>
    <p:sldId id="355" r:id="rId80"/>
    <p:sldId id="368" r:id="rId81"/>
    <p:sldId id="350" r:id="rId82"/>
    <p:sldId id="352" r:id="rId83"/>
    <p:sldId id="353" r:id="rId84"/>
    <p:sldId id="354" r:id="rId85"/>
    <p:sldId id="295" r:id="rId86"/>
    <p:sldId id="376" r:id="rId87"/>
    <p:sldId id="378" r:id="rId88"/>
    <p:sldId id="379" r:id="rId89"/>
    <p:sldId id="380" r:id="rId90"/>
    <p:sldId id="381" r:id="rId91"/>
    <p:sldId id="382" r:id="rId92"/>
    <p:sldId id="385" r:id="rId93"/>
    <p:sldId id="296" r:id="rId94"/>
    <p:sldId id="364" r:id="rId95"/>
    <p:sldId id="298" r:id="rId96"/>
    <p:sldId id="297" r:id="rId97"/>
    <p:sldId id="383" r:id="rId98"/>
    <p:sldId id="299" r:id="rId99"/>
    <p:sldId id="300" r:id="rId100"/>
    <p:sldId id="301" r:id="rId101"/>
    <p:sldId id="302" r:id="rId102"/>
    <p:sldId id="365" r:id="rId103"/>
    <p:sldId id="367" r:id="rId104"/>
    <p:sldId id="305" r:id="rId105"/>
    <p:sldId id="306" r:id="rId106"/>
    <p:sldId id="307" r:id="rId107"/>
    <p:sldId id="308" r:id="rId108"/>
    <p:sldId id="303" r:id="rId109"/>
    <p:sldId id="309" r:id="rId110"/>
    <p:sldId id="366" r:id="rId111"/>
    <p:sldId id="311" r:id="rId112"/>
    <p:sldId id="312" r:id="rId113"/>
    <p:sldId id="313" r:id="rId114"/>
    <p:sldId id="310" r:id="rId115"/>
    <p:sldId id="314" r:id="rId116"/>
    <p:sldId id="401" r:id="rId117"/>
    <p:sldId id="402" r:id="rId118"/>
    <p:sldId id="384" r:id="rId119"/>
    <p:sldId id="386" r:id="rId120"/>
    <p:sldId id="387" r:id="rId121"/>
    <p:sldId id="388" r:id="rId122"/>
    <p:sldId id="389" r:id="rId123"/>
    <p:sldId id="390" r:id="rId124"/>
    <p:sldId id="391" r:id="rId125"/>
    <p:sldId id="392" r:id="rId126"/>
    <p:sldId id="393" r:id="rId127"/>
    <p:sldId id="394" r:id="rId128"/>
    <p:sldId id="395" r:id="rId129"/>
    <p:sldId id="399" r:id="rId130"/>
    <p:sldId id="396" r:id="rId131"/>
    <p:sldId id="315" r:id="rId132"/>
    <p:sldId id="397" r:id="rId133"/>
    <p:sldId id="398" r:id="rId134"/>
    <p:sldId id="400" r:id="rId135"/>
    <p:sldId id="1211" r:id="rId136"/>
    <p:sldId id="1212" r:id="rId137"/>
    <p:sldId id="1213" r:id="rId138"/>
    <p:sldId id="1214" r:id="rId139"/>
    <p:sldId id="319" r:id="rId140"/>
    <p:sldId id="321" r:id="rId141"/>
    <p:sldId id="323" r:id="rId142"/>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77378" autoAdjust="0"/>
  </p:normalViewPr>
  <p:slideViewPr>
    <p:cSldViewPr snapToGrid="0">
      <p:cViewPr varScale="1">
        <p:scale>
          <a:sx n="119" d="100"/>
          <a:sy n="119" d="100"/>
        </p:scale>
        <p:origin x="3780" y="114"/>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microsoft.com/office/2016/11/relationships/changesInfo" Target="changesInfos/changesInfo1.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microsoft.com/office/2015/10/relationships/revisionInfo" Target="revisionInfo.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microsoft.com/office/2018/10/relationships/authors" Target="author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notesMaster" Target="notesMasters/notesMaster1.xml"/><Relationship Id="rId14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handoutMaster" Target="handoutMasters/handoutMaster1.xml"/><Relationship Id="rId90"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11/26/2025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71453-65AA-8288-9B47-203808FDA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1E07E7-E138-87AB-C827-F2F6F6C18D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3ECC5A-0B0B-6110-093A-365B7CED344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070504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34305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8437898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321138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01691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8587352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2652361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CA48D-0813-2461-734B-9F0302CA07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C007F-DE83-A823-08F2-C6006298A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AE322-DAA3-504A-9FD9-7AF57C1E4D9A}"/>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77722688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715945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312619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4902924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November 26,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Wednesday, November 26,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D186415-4B8E-5341-EFF6-0BA04978345A}"/>
              </a:ext>
            </a:extLst>
          </p:cNvPr>
          <p:cNvSpPr>
            <a:spLocks noGrp="1"/>
          </p:cNvSpPr>
          <p:nvPr>
            <p:ph idx="1"/>
          </p:nvPr>
        </p:nvSpPr>
        <p:spPr/>
        <p:txBody>
          <a:bodyPr>
            <a:normAutofit/>
          </a:bodyPr>
          <a:lstStyle/>
          <a:p>
            <a:r>
              <a:rPr lang="en-US" dirty="0"/>
              <a:t>Quiz 4 was more difficult than other quizzes</a:t>
            </a:r>
          </a:p>
          <a:p>
            <a:pPr lvl="1"/>
            <a:r>
              <a:rPr lang="en-US" dirty="0"/>
              <a:t>Feedback: explain each step</a:t>
            </a:r>
          </a:p>
          <a:p>
            <a:pPr lvl="1"/>
            <a:r>
              <a:rPr lang="en-US" dirty="0"/>
              <a:t>“If </a:t>
            </a:r>
            <a:r>
              <a:rPr lang="en-US" dirty="0" err="1">
                <a:latin typeface="Consolas" panose="020B0609020204030204" pitchFamily="49" charset="0"/>
              </a:rPr>
              <a:t>fptr</a:t>
            </a:r>
            <a:r>
              <a:rPr lang="en-US" dirty="0"/>
              <a:t> can be leaked…” =&gt; How can </a:t>
            </a:r>
            <a:r>
              <a:rPr lang="en-US" dirty="0" err="1">
                <a:latin typeface="Consolas" panose="020B0609020204030204" pitchFamily="49" charset="0"/>
              </a:rPr>
              <a:t>fptr</a:t>
            </a:r>
            <a:r>
              <a:rPr lang="en-US" dirty="0"/>
              <a:t> be leaked?</a:t>
            </a:r>
          </a:p>
          <a:p>
            <a:pPr lvl="1"/>
            <a:r>
              <a:rPr lang="en-US" dirty="0"/>
              <a:t>Explain each step using the code provided</a:t>
            </a:r>
          </a:p>
          <a:p>
            <a:r>
              <a:rPr lang="en-US" dirty="0"/>
              <a:t>Quiz 5 will be a take-home quiz on Dec 5</a:t>
            </a:r>
          </a:p>
          <a:p>
            <a:r>
              <a:rPr lang="en-US" dirty="0"/>
              <a:t>No office hours on 11/26; we will have class though</a:t>
            </a:r>
          </a:p>
          <a:p>
            <a:r>
              <a:rPr lang="en-US" dirty="0"/>
              <a:t>HW3 will be released tonight – deadline Dec 12</a:t>
            </a:r>
            <a:br>
              <a:rPr lang="en-US" dirty="0"/>
            </a:br>
            <a:endParaRPr lang="en-US" dirty="0"/>
          </a:p>
        </p:txBody>
      </p:sp>
      <p:sp>
        <p:nvSpPr>
          <p:cNvPr id="4" name="Title 3">
            <a:extLst>
              <a:ext uri="{FF2B5EF4-FFF2-40B4-BE49-F238E27FC236}">
                <a16:creationId xmlns:a16="http://schemas.microsoft.com/office/drawing/2014/main" id="{99B42F82-2925-06A7-B05B-F6E2AD4F20C7}"/>
              </a:ext>
            </a:extLst>
          </p:cNvPr>
          <p:cNvSpPr>
            <a:spLocks noGrp="1"/>
          </p:cNvSpPr>
          <p:nvPr>
            <p:ph type="title"/>
          </p:nvPr>
        </p:nvSpPr>
        <p:spPr/>
        <p:txBody>
          <a:bodyPr/>
          <a:lstStyle/>
          <a:p>
            <a:r>
              <a:rPr lang="en-US" dirty="0"/>
              <a:t>Announcements</a:t>
            </a:r>
          </a:p>
        </p:txBody>
      </p:sp>
      <p:graphicFrame>
        <p:nvGraphicFramePr>
          <p:cNvPr id="6" name="Table 5">
            <a:extLst>
              <a:ext uri="{FF2B5EF4-FFF2-40B4-BE49-F238E27FC236}">
                <a16:creationId xmlns:a16="http://schemas.microsoft.com/office/drawing/2014/main" id="{F4AEFEFA-EC40-121B-295D-7742460FF5F4}"/>
              </a:ext>
            </a:extLst>
          </p:cNvPr>
          <p:cNvGraphicFramePr>
            <a:graphicFrameLocks noGrp="1"/>
          </p:cNvGraphicFramePr>
          <p:nvPr>
            <p:extLst>
              <p:ext uri="{D42A27DB-BD31-4B8C-83A1-F6EECF244321}">
                <p14:modId xmlns:p14="http://schemas.microsoft.com/office/powerpoint/2010/main" val="1712872376"/>
              </p:ext>
            </p:extLst>
          </p:nvPr>
        </p:nvGraphicFramePr>
        <p:xfrm>
          <a:off x="8649369" y="808008"/>
          <a:ext cx="2884906" cy="1879155"/>
        </p:xfrm>
        <a:graphic>
          <a:graphicData uri="http://schemas.openxmlformats.org/drawingml/2006/table">
            <a:tbl>
              <a:tblPr firstRow="1" bandRow="1">
                <a:tableStyleId>{073A0DAA-6AF3-43AB-8588-CEC1D06C72B9}</a:tableStyleId>
              </a:tblPr>
              <a:tblGrid>
                <a:gridCol w="1442453">
                  <a:extLst>
                    <a:ext uri="{9D8B030D-6E8A-4147-A177-3AD203B41FA5}">
                      <a16:colId xmlns:a16="http://schemas.microsoft.com/office/drawing/2014/main" val="3956407124"/>
                    </a:ext>
                  </a:extLst>
                </a:gridCol>
                <a:gridCol w="1442453">
                  <a:extLst>
                    <a:ext uri="{9D8B030D-6E8A-4147-A177-3AD203B41FA5}">
                      <a16:colId xmlns:a16="http://schemas.microsoft.com/office/drawing/2014/main" val="3439681437"/>
                    </a:ext>
                  </a:extLst>
                </a:gridCol>
              </a:tblGrid>
              <a:tr h="375831">
                <a:tc>
                  <a:txBody>
                    <a:bodyPr/>
                    <a:lstStyle/>
                    <a:p>
                      <a:r>
                        <a:rPr lang="en-US" dirty="0"/>
                        <a:t>Quiz</a:t>
                      </a:r>
                    </a:p>
                  </a:txBody>
                  <a:tcPr/>
                </a:tc>
                <a:tc>
                  <a:txBody>
                    <a:bodyPr/>
                    <a:lstStyle/>
                    <a:p>
                      <a:r>
                        <a:rPr lang="en-US" dirty="0"/>
                        <a:t>Avg score</a:t>
                      </a:r>
                    </a:p>
                  </a:txBody>
                  <a:tcPr/>
                </a:tc>
                <a:extLst>
                  <a:ext uri="{0D108BD9-81ED-4DB2-BD59-A6C34878D82A}">
                    <a16:rowId xmlns:a16="http://schemas.microsoft.com/office/drawing/2014/main" val="952738593"/>
                  </a:ext>
                </a:extLst>
              </a:tr>
              <a:tr h="375831">
                <a:tc>
                  <a:txBody>
                    <a:bodyPr/>
                    <a:lstStyle/>
                    <a:p>
                      <a:r>
                        <a:rPr lang="en-US" dirty="0"/>
                        <a:t>Quiz 1</a:t>
                      </a:r>
                    </a:p>
                  </a:txBody>
                  <a:tcPr/>
                </a:tc>
                <a:tc>
                  <a:txBody>
                    <a:bodyPr/>
                    <a:lstStyle/>
                    <a:p>
                      <a:r>
                        <a:rPr lang="en-US" dirty="0"/>
                        <a:t>83%</a:t>
                      </a:r>
                    </a:p>
                  </a:txBody>
                  <a:tcPr/>
                </a:tc>
                <a:extLst>
                  <a:ext uri="{0D108BD9-81ED-4DB2-BD59-A6C34878D82A}">
                    <a16:rowId xmlns:a16="http://schemas.microsoft.com/office/drawing/2014/main" val="1958718066"/>
                  </a:ext>
                </a:extLst>
              </a:tr>
              <a:tr h="375831">
                <a:tc>
                  <a:txBody>
                    <a:bodyPr/>
                    <a:lstStyle/>
                    <a:p>
                      <a:r>
                        <a:rPr lang="en-US" dirty="0"/>
                        <a:t>Quiz 2</a:t>
                      </a:r>
                    </a:p>
                  </a:txBody>
                  <a:tcPr/>
                </a:tc>
                <a:tc>
                  <a:txBody>
                    <a:bodyPr/>
                    <a:lstStyle/>
                    <a:p>
                      <a:r>
                        <a:rPr lang="en-US" dirty="0"/>
                        <a:t>70%</a:t>
                      </a:r>
                    </a:p>
                  </a:txBody>
                  <a:tcPr/>
                </a:tc>
                <a:extLst>
                  <a:ext uri="{0D108BD9-81ED-4DB2-BD59-A6C34878D82A}">
                    <a16:rowId xmlns:a16="http://schemas.microsoft.com/office/drawing/2014/main" val="2631434036"/>
                  </a:ext>
                </a:extLst>
              </a:tr>
              <a:tr h="375831">
                <a:tc>
                  <a:txBody>
                    <a:bodyPr/>
                    <a:lstStyle/>
                    <a:p>
                      <a:r>
                        <a:rPr lang="en-US" dirty="0"/>
                        <a:t>Quiz 3</a:t>
                      </a:r>
                    </a:p>
                  </a:txBody>
                  <a:tcPr/>
                </a:tc>
                <a:tc>
                  <a:txBody>
                    <a:bodyPr/>
                    <a:lstStyle/>
                    <a:p>
                      <a:r>
                        <a:rPr lang="en-US" dirty="0"/>
                        <a:t>95%</a:t>
                      </a:r>
                    </a:p>
                  </a:txBody>
                  <a:tcPr/>
                </a:tc>
                <a:extLst>
                  <a:ext uri="{0D108BD9-81ED-4DB2-BD59-A6C34878D82A}">
                    <a16:rowId xmlns:a16="http://schemas.microsoft.com/office/drawing/2014/main" val="4082474393"/>
                  </a:ext>
                </a:extLst>
              </a:tr>
              <a:tr h="375831">
                <a:tc>
                  <a:txBody>
                    <a:bodyPr/>
                    <a:lstStyle/>
                    <a:p>
                      <a:r>
                        <a:rPr lang="en-US" dirty="0"/>
                        <a:t>Quiz 4</a:t>
                      </a:r>
                    </a:p>
                  </a:txBody>
                  <a:tcPr/>
                </a:tc>
                <a:tc>
                  <a:txBody>
                    <a:bodyPr/>
                    <a:lstStyle/>
                    <a:p>
                      <a:r>
                        <a:rPr lang="en-US" dirty="0"/>
                        <a:t>63%</a:t>
                      </a:r>
                    </a:p>
                  </a:txBody>
                  <a:tcPr/>
                </a:tc>
                <a:extLst>
                  <a:ext uri="{0D108BD9-81ED-4DB2-BD59-A6C34878D82A}">
                    <a16:rowId xmlns:a16="http://schemas.microsoft.com/office/drawing/2014/main" val="2898835715"/>
                  </a:ext>
                </a:extLst>
              </a:tr>
            </a:tbl>
          </a:graphicData>
        </a:graphic>
      </p:graphicFrame>
    </p:spTree>
    <p:extLst>
      <p:ext uri="{BB962C8B-B14F-4D97-AF65-F5344CB8AC3E}">
        <p14:creationId xmlns:p14="http://schemas.microsoft.com/office/powerpoint/2010/main" val="60561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lnSpcReduction="10000"/>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 // </a:t>
            </a:r>
            <a:r>
              <a:rPr lang="en-US" sz="1600" dirty="0" err="1">
                <a:latin typeface="Consolas" panose="020B0609020204030204" pitchFamily="49" charset="0"/>
              </a:rPr>
              <a:t>WinButton</a:t>
            </a:r>
            <a:r>
              <a:rPr lang="en-US" sz="1600" dirty="0">
                <a:latin typeface="Consolas" panose="020B0609020204030204" pitchFamily="49" charset="0"/>
              </a:rPr>
              <a:t> extends Button</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 // Extends Button</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CD7228-F96E-3B29-3AD0-46815D02264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765F51ED-8528-7B10-84BF-BA7E1900AEF1}"/>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31204172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0FFA9DB-D120-76AD-D05D-0B75487B0C3E}"/>
              </a:ext>
            </a:extLst>
          </p:cNvPr>
          <p:cNvSpPr>
            <a:spLocks noGrp="1"/>
          </p:cNvSpPr>
          <p:nvPr>
            <p:ph idx="1"/>
          </p:nvPr>
        </p:nvSpPr>
        <p:spPr/>
        <p:txBody>
          <a:bodyPr/>
          <a:lstStyle/>
          <a:p>
            <a:r>
              <a:rPr lang="en-US" dirty="0"/>
              <a:t>Late day count pauses tonight at 11:59 PM and resumes on 12/1 at 12:00 AM</a:t>
            </a:r>
          </a:p>
        </p:txBody>
      </p:sp>
      <p:sp>
        <p:nvSpPr>
          <p:cNvPr id="4" name="Title 3">
            <a:extLst>
              <a:ext uri="{FF2B5EF4-FFF2-40B4-BE49-F238E27FC236}">
                <a16:creationId xmlns:a16="http://schemas.microsoft.com/office/drawing/2014/main" id="{A2778FD1-A4F5-0B04-DFDA-B51847FB0CF5}"/>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1315788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4C20D4-74A4-6080-30B7-A67DAAFCBBBD}"/>
              </a:ext>
            </a:extLst>
          </p:cNvPr>
          <p:cNvSpPr>
            <a:spLocks noGrp="1"/>
          </p:cNvSpPr>
          <p:nvPr>
            <p:ph idx="1"/>
          </p:nvPr>
        </p:nvSpPr>
        <p:spPr/>
        <p:txBody>
          <a:bodyPr/>
          <a:lstStyle/>
          <a:p>
            <a:r>
              <a:rPr lang="en-US" dirty="0"/>
              <a:t>Sample questions</a:t>
            </a:r>
          </a:p>
          <a:p>
            <a:r>
              <a:rPr lang="en-US" dirty="0"/>
              <a:t>Composite pattern</a:t>
            </a:r>
          </a:p>
          <a:p>
            <a:r>
              <a:rPr lang="en-US" dirty="0"/>
              <a:t>Bridge pattern</a:t>
            </a:r>
          </a:p>
          <a:p>
            <a:r>
              <a:rPr lang="en-US" dirty="0"/>
              <a:t>Façade pattern</a:t>
            </a:r>
          </a:p>
          <a:p>
            <a:r>
              <a:rPr lang="en-US" dirty="0"/>
              <a:t>Decorator pattern</a:t>
            </a:r>
          </a:p>
        </p:txBody>
      </p:sp>
      <p:sp>
        <p:nvSpPr>
          <p:cNvPr id="4" name="Title 3">
            <a:extLst>
              <a:ext uri="{FF2B5EF4-FFF2-40B4-BE49-F238E27FC236}">
                <a16:creationId xmlns:a16="http://schemas.microsoft.com/office/drawing/2014/main" id="{2794FD43-6F40-29BF-5BCF-F38D8BD109ED}"/>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538F96ED-FD4D-DBF9-63AB-4594813C43A6}"/>
              </a:ext>
            </a:extLst>
          </p:cNvPr>
          <p:cNvCxnSpPr/>
          <p:nvPr/>
        </p:nvCxnSpPr>
        <p:spPr>
          <a:xfrm>
            <a:off x="0" y="3681663"/>
            <a:ext cx="12192000" cy="0"/>
          </a:xfrm>
          <a:prstGeom prst="line">
            <a:avLst/>
          </a:prstGeom>
          <a:ln>
            <a:prstDash val="sysDot"/>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527455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2F2B5-6A42-24A9-03E3-198C2183404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1B9CC5-8517-4702-28A9-1C6AE542FA73}"/>
              </a:ext>
            </a:extLst>
          </p:cNvPr>
          <p:cNvSpPr>
            <a:spLocks noGrp="1"/>
          </p:cNvSpPr>
          <p:nvPr>
            <p:ph idx="1"/>
          </p:nvPr>
        </p:nvSpPr>
        <p:spPr/>
        <p:txBody>
          <a:bodyPr>
            <a:normAutofit lnSpcReduction="10000"/>
          </a:bodyPr>
          <a:lstStyle/>
          <a:p>
            <a:pPr>
              <a:spcBef>
                <a:spcPct val="50000"/>
              </a:spcBef>
            </a:pPr>
            <a:r>
              <a:rPr lang="en-US" altLang="en-US" dirty="0">
                <a:latin typeface="Helvetica" panose="020B0604020202020204" pitchFamily="34" charset="0"/>
                <a:cs typeface="Helvetica" panose="020B0604020202020204" pitchFamily="34" charset="0"/>
              </a:rPr>
              <a:t>Design patterns: singleton pattern, abstract factory pattern, adapter pattern, proxy pattern </a:t>
            </a:r>
          </a:p>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5C7127F8-0147-23E3-141C-DCE863876644}"/>
              </a:ext>
            </a:extLst>
          </p:cNvPr>
          <p:cNvSpPr>
            <a:spLocks noGrp="1"/>
          </p:cNvSpPr>
          <p:nvPr>
            <p:ph type="title"/>
          </p:nvPr>
        </p:nvSpPr>
        <p:spPr/>
        <p:txBody>
          <a:bodyPr/>
          <a:lstStyle/>
          <a:p>
            <a:r>
              <a:rPr lang="en-US" dirty="0"/>
              <a:t>Sample question 1</a:t>
            </a:r>
          </a:p>
        </p:txBody>
      </p:sp>
    </p:spTree>
    <p:extLst>
      <p:ext uri="{BB962C8B-B14F-4D97-AF65-F5344CB8AC3E}">
        <p14:creationId xmlns:p14="http://schemas.microsoft.com/office/powerpoint/2010/main" val="3133067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EF6EB27-19E3-5031-55DB-79E91D48F275}"/>
              </a:ext>
            </a:extLst>
          </p:cNvPr>
          <p:cNvSpPr>
            <a:spLocks noGrp="1"/>
          </p:cNvSpPr>
          <p:nvPr>
            <p:ph idx="1"/>
          </p:nvPr>
        </p:nvSpPr>
        <p:spPr/>
        <p:txBody>
          <a:bodyPr/>
          <a:lstStyle/>
          <a:p>
            <a:r>
              <a:rPr lang="en-US" dirty="0"/>
              <a:t>I have a </a:t>
            </a:r>
            <a:r>
              <a:rPr lang="en-US" dirty="0" err="1">
                <a:latin typeface="Consolas" panose="020B0609020204030204" pitchFamily="49" charset="0"/>
              </a:rPr>
              <a:t>GitHubRepo</a:t>
            </a:r>
            <a:r>
              <a:rPr lang="en-US" dirty="0"/>
              <a:t> class with fields for – </a:t>
            </a:r>
            <a:r>
              <a:rPr lang="en-US" dirty="0">
                <a:latin typeface="Consolas" panose="020B0609020204030204" pitchFamily="49" charset="0"/>
              </a:rPr>
              <a:t>author</a:t>
            </a:r>
            <a:r>
              <a:rPr lang="en-US" dirty="0"/>
              <a:t>, </a:t>
            </a:r>
            <a:r>
              <a:rPr lang="en-US" dirty="0" err="1">
                <a:latin typeface="Consolas" panose="020B0609020204030204" pitchFamily="49" charset="0"/>
              </a:rPr>
              <a:t>url</a:t>
            </a:r>
            <a:r>
              <a:rPr lang="en-US" dirty="0"/>
              <a:t>, </a:t>
            </a:r>
            <a:r>
              <a:rPr lang="en-US" dirty="0" err="1">
                <a:latin typeface="Consolas" panose="020B0609020204030204" pitchFamily="49" charset="0"/>
              </a:rPr>
              <a:t>creationDate</a:t>
            </a:r>
            <a:r>
              <a:rPr lang="en-US" dirty="0"/>
              <a:t>, and </a:t>
            </a:r>
            <a:r>
              <a:rPr lang="en-US" dirty="0" err="1">
                <a:latin typeface="Consolas" panose="020B0609020204030204" pitchFamily="49" charset="0"/>
              </a:rPr>
              <a:t>lastTenCommitList</a:t>
            </a:r>
            <a:r>
              <a:rPr lang="en-US" dirty="0"/>
              <a:t>. The </a:t>
            </a:r>
            <a:r>
              <a:rPr lang="en-US" dirty="0" err="1">
                <a:latin typeface="Consolas" panose="020B0609020204030204" pitchFamily="49" charset="0"/>
              </a:rPr>
              <a:t>lastTenCommitList</a:t>
            </a:r>
            <a:r>
              <a:rPr lang="en-US" dirty="0"/>
              <a:t> contains a list of the last ten commits – the code diffs, the file names – everything. </a:t>
            </a:r>
          </a:p>
          <a:p>
            <a:pPr lvl="1"/>
            <a:r>
              <a:rPr lang="en-US" dirty="0"/>
              <a:t>The details of the </a:t>
            </a:r>
            <a:r>
              <a:rPr lang="en-US" dirty="0" err="1"/>
              <a:t>GitHubRepo</a:t>
            </a:r>
            <a:r>
              <a:rPr lang="en-US" dirty="0"/>
              <a:t> class is fetched using API calls </a:t>
            </a:r>
          </a:p>
          <a:p>
            <a:pPr lvl="2"/>
            <a:r>
              <a:rPr lang="en-US" dirty="0">
                <a:latin typeface="Consolas" panose="020B0609020204030204" pitchFamily="49" charset="0"/>
              </a:rPr>
              <a:t>https://api.github.com/repo?name=&lt;repo_name&gt;</a:t>
            </a:r>
          </a:p>
          <a:p>
            <a:pPr lvl="2"/>
            <a:r>
              <a:rPr lang="en-US" dirty="0">
                <a:latin typeface="Consolas" panose="020B0609020204030204" pitchFamily="49" charset="0"/>
              </a:rPr>
              <a:t>https://api.github.com/repo_commits?name=&lt;repo_name&gt;&amp;limit=&lt;num_commits&gt;</a:t>
            </a:r>
          </a:p>
          <a:p>
            <a:pPr lvl="1"/>
            <a:r>
              <a:rPr lang="en-US" dirty="0"/>
              <a:t>I want the </a:t>
            </a:r>
            <a:r>
              <a:rPr lang="en-US" dirty="0" err="1">
                <a:latin typeface="Consolas" panose="020B0609020204030204" pitchFamily="49" charset="0"/>
              </a:rPr>
              <a:t>lastTenCommitList</a:t>
            </a:r>
            <a:r>
              <a:rPr lang="en-US" dirty="0"/>
              <a:t> field, which is a List object, to be lazy-loaded. Only when the user performs a call to </a:t>
            </a:r>
            <a:r>
              <a:rPr lang="en-US" dirty="0" err="1">
                <a:latin typeface="Consolas" panose="020B0609020204030204" pitchFamily="49" charset="0"/>
              </a:rPr>
              <a:t>getLastTenCommitlist</a:t>
            </a:r>
            <a:r>
              <a:rPr lang="en-US" dirty="0">
                <a:latin typeface="Consolas" panose="020B0609020204030204" pitchFamily="49" charset="0"/>
              </a:rPr>
              <a:t>()</a:t>
            </a:r>
            <a:r>
              <a:rPr lang="en-US" dirty="0"/>
              <a:t> should the commits be fetched. How should I design this?</a:t>
            </a:r>
          </a:p>
        </p:txBody>
      </p:sp>
      <p:sp>
        <p:nvSpPr>
          <p:cNvPr id="4" name="Title 3">
            <a:extLst>
              <a:ext uri="{FF2B5EF4-FFF2-40B4-BE49-F238E27FC236}">
                <a16:creationId xmlns:a16="http://schemas.microsoft.com/office/drawing/2014/main" id="{D4E6D1E7-D3EE-8D44-E451-0B464CA5BFC6}"/>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25406738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A0BD6-0B9E-07A2-A3DC-4C49CE7CF2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BBDFA3-5218-4FFC-13B4-7EF217A115D3}"/>
              </a:ext>
            </a:extLst>
          </p:cNvPr>
          <p:cNvSpPr>
            <a:spLocks noGrp="1"/>
          </p:cNvSpPr>
          <p:nvPr>
            <p:ph idx="1"/>
          </p:nvPr>
        </p:nvSpPr>
        <p:spPr/>
        <p:txBody>
          <a:bodyPr>
            <a:normAutofit fontScale="92500" lnSpcReduction="10000"/>
          </a:bodyPr>
          <a:lstStyle/>
          <a:p>
            <a:r>
              <a:rPr lang="en-US" dirty="0"/>
              <a:t>I want to design a framework that supports lazy loading from an API. The framework should support a class-level annotation </a:t>
            </a:r>
            <a:r>
              <a:rPr lang="en-US" dirty="0">
                <a:latin typeface="Consolas" panose="020B0609020204030204" pitchFamily="49" charset="0"/>
              </a:rPr>
              <a:t>@Remote</a:t>
            </a:r>
            <a:r>
              <a:rPr lang="en-US" dirty="0"/>
              <a:t> and a method-level annotation </a:t>
            </a:r>
            <a:r>
              <a:rPr lang="en-US" dirty="0">
                <a:latin typeface="Consolas" panose="020B0609020204030204" pitchFamily="49" charset="0"/>
              </a:rPr>
              <a:t>@RemoteField(url = “/</a:t>
            </a:r>
            <a:r>
              <a:rPr lang="en-US" dirty="0" err="1">
                <a:latin typeface="Consolas" panose="020B0609020204030204" pitchFamily="49" charset="0"/>
              </a:rPr>
              <a:t>api</a:t>
            </a:r>
            <a:r>
              <a:rPr lang="en-US" dirty="0">
                <a:latin typeface="Consolas" panose="020B0609020204030204" pitchFamily="49" charset="0"/>
              </a:rPr>
              <a:t>/endpoint”)</a:t>
            </a:r>
            <a:r>
              <a:rPr lang="en-US" dirty="0"/>
              <a:t>. When the getter of a field annotated with </a:t>
            </a:r>
            <a:r>
              <a:rPr lang="en-US" dirty="0">
                <a:latin typeface="Consolas" panose="020B0609020204030204" pitchFamily="49" charset="0"/>
              </a:rPr>
              <a:t>@RemoteField </a:t>
            </a:r>
            <a:r>
              <a:rPr lang="en-US" dirty="0"/>
              <a:t>is invoked, the </a:t>
            </a:r>
            <a:r>
              <a:rPr lang="en-US" dirty="0" err="1"/>
              <a:t>url</a:t>
            </a:r>
            <a:r>
              <a:rPr lang="en-US" dirty="0"/>
              <a:t> endpoint should be invoked, which would return a JSON array object. This JSON array object should be deserialized into a Java </a:t>
            </a:r>
            <a:r>
              <a:rPr lang="en-US" dirty="0">
                <a:latin typeface="Consolas" panose="020B0609020204030204" pitchFamily="49" charset="0"/>
              </a:rPr>
              <a:t>List</a:t>
            </a:r>
            <a:r>
              <a:rPr lang="en-US" dirty="0"/>
              <a:t> and stored to the field annotated with the </a:t>
            </a:r>
            <a:r>
              <a:rPr lang="en-US" dirty="0">
                <a:latin typeface="Consolas" panose="020B0609020204030204" pitchFamily="49" charset="0"/>
              </a:rPr>
              <a:t>@RemoteField</a:t>
            </a:r>
            <a:r>
              <a:rPr lang="en-US" dirty="0"/>
              <a:t> annotation. </a:t>
            </a:r>
          </a:p>
          <a:p>
            <a:r>
              <a:rPr lang="en-US" dirty="0"/>
              <a:t>How should I design this framework? Assume that fields annotated with </a:t>
            </a:r>
            <a:r>
              <a:rPr lang="en-US" dirty="0">
                <a:latin typeface="Consolas" panose="020B0609020204030204" pitchFamily="49" charset="0"/>
              </a:rPr>
              <a:t>@RemoteField </a:t>
            </a:r>
            <a:r>
              <a:rPr lang="en-US" dirty="0"/>
              <a:t>are only accessed by their getters and that a getter named </a:t>
            </a:r>
            <a:r>
              <a:rPr lang="en-US" dirty="0">
                <a:latin typeface="Consolas" panose="020B0609020204030204" pitchFamily="49" charset="0"/>
              </a:rPr>
              <a:t>get&lt;Field&gt;</a:t>
            </a:r>
            <a:r>
              <a:rPr lang="en-US" dirty="0"/>
              <a:t> is always present for that field. Also, assume that only fields of type </a:t>
            </a:r>
            <a:r>
              <a:rPr lang="en-US" dirty="0">
                <a:latin typeface="Consolas" panose="020B0609020204030204" pitchFamily="49" charset="0"/>
              </a:rPr>
              <a:t>List</a:t>
            </a:r>
            <a:r>
              <a:rPr lang="en-US" dirty="0"/>
              <a:t> are annotated with the </a:t>
            </a:r>
            <a:r>
              <a:rPr lang="en-US" dirty="0" err="1">
                <a:latin typeface="Consolas" panose="020B0609020204030204" pitchFamily="49" charset="0"/>
              </a:rPr>
              <a:t>RemoteField</a:t>
            </a:r>
            <a:r>
              <a:rPr lang="en-US" dirty="0"/>
              <a:t> annotation</a:t>
            </a:r>
          </a:p>
        </p:txBody>
      </p:sp>
      <p:sp>
        <p:nvSpPr>
          <p:cNvPr id="4" name="Title 3">
            <a:extLst>
              <a:ext uri="{FF2B5EF4-FFF2-40B4-BE49-F238E27FC236}">
                <a16:creationId xmlns:a16="http://schemas.microsoft.com/office/drawing/2014/main" id="{6E98A586-00B1-A299-1442-AB17088800D7}"/>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18794403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43838-EEFE-24AF-1D4F-7D1AB8C7A1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52CE6C9-1FCC-DD40-7EA4-ABAA1CC37E1C}"/>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6BB9B28-1E7D-1716-EAE5-3B1331A89B8A}"/>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1CB8DF37-E7B9-E74E-060F-ED59C9302429}"/>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a:t>
            </a:r>
            <a:r>
              <a:rPr lang="en-US" b="1" dirty="0"/>
              <a:t>Composite</a:t>
            </a:r>
            <a:r>
              <a:rPr lang="en-US" dirty="0"/>
              <a:t>, Bridge, Façade, Decorator</a:t>
            </a:r>
          </a:p>
        </p:txBody>
      </p:sp>
      <p:sp>
        <p:nvSpPr>
          <p:cNvPr id="6" name="Content Placeholder 4">
            <a:extLst>
              <a:ext uri="{FF2B5EF4-FFF2-40B4-BE49-F238E27FC236}">
                <a16:creationId xmlns:a16="http://schemas.microsoft.com/office/drawing/2014/main" id="{B705B6CE-61AF-8839-FE88-3A5FA6EED45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942D88DF-6AC3-625C-55FA-A2BD76DD8978}"/>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74330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lnSpcReduction="10000"/>
          </a:bodyPr>
          <a:lstStyle/>
          <a:p>
            <a:r>
              <a:rPr lang="en-US" dirty="0"/>
              <a:t>A </a:t>
            </a:r>
            <a:r>
              <a:rPr lang="en-US" dirty="0">
                <a:latin typeface="Consolas" panose="020B0609020204030204" pitchFamily="49" charset="0"/>
              </a:rPr>
              <a:t>Post</a:t>
            </a:r>
            <a:r>
              <a:rPr lang="en-US" dirty="0"/>
              <a:t> is a leaf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r>
              <a:rPr lang="en-US" b="1" i="1" dirty="0"/>
              <a:t>… bring them under same type hierarchy</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986833" y="4445170"/>
            <a:ext cx="5267607" cy="928341"/>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696277"/>
            <a:ext cx="5619178" cy="5002711"/>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75073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2980267"/>
            <a:ext cx="5633412" cy="250613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411983" y="2518602"/>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7CFE5-E4B0-E798-1A67-F32912B28BD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BBF9A764-028F-11C7-4570-CA0DEABAC8F5}"/>
              </a:ext>
            </a:extLst>
          </p:cNvPr>
          <p:cNvSpPr>
            <a:spLocks noGrp="1"/>
          </p:cNvSpPr>
          <p:nvPr>
            <p:ph idx="1"/>
          </p:nvPr>
        </p:nvSpPr>
        <p:spPr>
          <a:xfrm>
            <a:off x="6176512" y="785004"/>
            <a:ext cx="6015488" cy="5046453"/>
          </a:xfrm>
        </p:spPr>
        <p:txBody>
          <a:bodyPr>
            <a:normAutofit lnSpcReduction="10000"/>
          </a:bodyPr>
          <a:lstStyle/>
          <a:p>
            <a:r>
              <a:rPr lang="en-US" b="1" dirty="0"/>
              <a:t>// With composite design pattern</a:t>
            </a:r>
          </a:p>
          <a:p>
            <a:r>
              <a:rPr lang="en-US" dirty="0"/>
              <a:t>public abstract class </a:t>
            </a:r>
            <a:r>
              <a:rPr lang="en-US" dirty="0" err="1"/>
              <a:t>SocialMediaComponent</a:t>
            </a:r>
            <a:r>
              <a:rPr lang="en-US" dirty="0"/>
              <a:t> {</a:t>
            </a:r>
            <a:br>
              <a:rPr lang="en-US" dirty="0"/>
            </a:br>
            <a:r>
              <a:rPr lang="en-US" dirty="0"/>
              <a:t>    public void show(); </a:t>
            </a:r>
            <a:br>
              <a:rPr lang="en-US" dirty="0"/>
            </a:br>
            <a:r>
              <a:rPr lang="en-US" dirty="0"/>
              <a:t>    // other methods</a:t>
            </a:r>
            <a:br>
              <a:rPr lang="en-US" dirty="0"/>
            </a:br>
            <a:r>
              <a:rPr lang="en-US" dirty="0"/>
              <a:t>}</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a:t>
            </a:r>
            <a:r>
              <a:rPr lang="en-US" dirty="0" err="1"/>
              <a:t>SocialMediaContent</a:t>
            </a:r>
            <a:r>
              <a:rPr lang="en-US" dirty="0"/>
              <a:t>&gt; children; </a:t>
            </a:r>
          </a:p>
          <a:p>
            <a:r>
              <a:rPr lang="en-US" dirty="0"/>
              <a:t>	public void show() {</a:t>
            </a:r>
          </a:p>
          <a:p>
            <a:r>
              <a:rPr lang="en-US" dirty="0"/>
              <a:t>		for (</a:t>
            </a:r>
            <a:r>
              <a:rPr lang="en-US" dirty="0" err="1"/>
              <a:t>SocialMediaContent</a:t>
            </a:r>
            <a:r>
              <a:rPr lang="en-US" dirty="0"/>
              <a:t> child: children) {</a:t>
            </a:r>
          </a:p>
          <a:p>
            <a:r>
              <a:rPr lang="en-US" dirty="0"/>
              <a:t>		  </a:t>
            </a:r>
            <a:r>
              <a:rPr lang="en-US" dirty="0" err="1"/>
              <a:t>child.show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341E90-7D69-6F1F-CC55-3FD834B8AFE8}"/>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0762206-145A-000F-356C-4D337B1CEDD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5B360C48-41E0-366B-A83C-2B09578B7DBA}"/>
              </a:ext>
            </a:extLst>
          </p:cNvPr>
          <p:cNvSpPr/>
          <p:nvPr/>
        </p:nvSpPr>
        <p:spPr>
          <a:xfrm>
            <a:off x="6479822" y="3826934"/>
            <a:ext cx="5429956" cy="14449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810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getString</a:t>
            </a:r>
            <a:r>
              <a:rPr lang="en-US" dirty="0"/>
              <a:t>() {</a:t>
            </a:r>
          </a:p>
          <a:p>
            <a:r>
              <a:rPr lang="en-US" dirty="0"/>
              <a:t>		</a:t>
            </a:r>
            <a:r>
              <a:rPr lang="en-US" dirty="0" err="1"/>
              <a:t>post.getString</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getString</a:t>
            </a:r>
            <a:r>
              <a:rPr lang="en-US" dirty="0"/>
              <a:t>() {</a:t>
            </a:r>
          </a:p>
          <a:p>
            <a:r>
              <a:rPr lang="en-US" dirty="0"/>
              <a:t>		</a:t>
            </a:r>
            <a:r>
              <a:rPr lang="en-US" dirty="0" err="1"/>
              <a:t>thread.getString</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getString</a:t>
            </a:r>
            <a:r>
              <a:rPr lang="en-US" dirty="0"/>
              <a:t> () { </a:t>
            </a:r>
            <a:r>
              <a:rPr lang="en-US" dirty="0" err="1"/>
              <a:t>content.getString</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Prevents 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lvl="1"/>
            <a:r>
              <a:rPr lang="en-US" dirty="0">
                <a:latin typeface="Helvetica" panose="020B0604020202020204" pitchFamily="34" charset="0"/>
                <a:cs typeface="Helvetica" panose="020B0604020202020204" pitchFamily="34" charset="0"/>
              </a:rPr>
              <a:t>E.g., UI components for post and threads can have unified handling</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
        <p:nvSpPr>
          <p:cNvPr id="6" name="Rectangle 5">
            <a:extLst>
              <a:ext uri="{FF2B5EF4-FFF2-40B4-BE49-F238E27FC236}">
                <a16:creationId xmlns:a16="http://schemas.microsoft.com/office/drawing/2014/main" id="{5C745F70-2044-DE3B-5541-7E44D630DBE0}"/>
              </a:ext>
            </a:extLst>
          </p:cNvPr>
          <p:cNvSpPr/>
          <p:nvPr/>
        </p:nvSpPr>
        <p:spPr>
          <a:xfrm>
            <a:off x="6095999" y="4378932"/>
            <a:ext cx="5633412" cy="145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23883DEA-7AC1-0B32-7FD2-F764B57C2E89}"/>
              </a:ext>
            </a:extLst>
          </p:cNvPr>
          <p:cNvSpPr txBox="1"/>
          <p:nvPr/>
        </p:nvSpPr>
        <p:spPr>
          <a:xfrm>
            <a:off x="9095071" y="3917266"/>
            <a:ext cx="2713692" cy="461665"/>
          </a:xfrm>
          <a:prstGeom prst="rect">
            <a:avLst/>
          </a:prstGeom>
          <a:noFill/>
        </p:spPr>
        <p:txBody>
          <a:bodyPr wrap="none" rtlCol="0">
            <a:spAutoFit/>
          </a:bodyPr>
          <a:lstStyle/>
          <a:p>
            <a:r>
              <a:rPr lang="en-US" sz="2400" b="1" i="1" dirty="0"/>
              <a:t>No 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5" grpId="0"/>
      <p:bldP spid="5" grpId="1"/>
      <p:bldP spid="6" grpId="0" animBg="1"/>
      <p:bldP spid="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fontScale="925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Spaces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a:t>
            </a:r>
          </a:p>
          <a:p>
            <a:r>
              <a:rPr lang="en-US" dirty="0"/>
              <a:t>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a:t>
            </a:r>
            <a:r>
              <a:rPr lang="en-US" u="sng" dirty="0"/>
              <a:t>Façade, </a:t>
            </a:r>
            <a:r>
              <a:rPr lang="en-US" dirty="0"/>
              <a:t>Decorator</a:t>
            </a:r>
            <a:endParaRPr lang="en-US" u="sng" dirty="0"/>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837717" cy="1800202"/>
              <a:chOff x="2073583" y="1661658"/>
              <a:chExt cx="3837717"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837717" cy="1800202"/>
                <a:chOff x="2073583" y="1661658"/>
                <a:chExt cx="3837717"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5170392" y="2356418"/>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582980"/>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279258"/>
            <a:ext cx="7688" cy="88916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512637" y="2277022"/>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333020635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125911452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3770986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70967072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49593" y="1457568"/>
            <a:ext cx="4892814" cy="3697333"/>
            <a:chOff x="6087997" y="1477107"/>
            <a:chExt cx="4892814" cy="3697333"/>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94923430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905143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09216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617156"/>
            <a:ext cx="5633412" cy="11037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2" y="2006954"/>
            <a:ext cx="5633412" cy="7596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0833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4020560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Decorators visually</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StripeProcessor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70604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 a remote proxy will not contain a direct reference to its real subject but only an indirect reference,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19244529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98339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7815107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15887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pPr lvl="1"/>
            <a:r>
              <a:rPr lang="en-US" dirty="0"/>
              <a:t>No longer necessary to anticipate all possible functionalities during class creation</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63134780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image is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rmAutofit fontScale="77500" lnSpcReduction="20000"/>
          </a:bodyPr>
          <a:lstStyle/>
          <a:p>
            <a:r>
              <a:rPr lang="en-US" sz="1600" b="1" i="1" dirty="0"/>
              <a:t>// Without flyweight design pattern -&gt; memory wastage</a:t>
            </a:r>
          </a:p>
          <a:p>
            <a:r>
              <a:rPr lang="en-US" sz="1600" dirty="0"/>
              <a:t>class </a:t>
            </a:r>
            <a:r>
              <a:rPr lang="en-US" sz="1600" dirty="0" err="1"/>
              <a:t>TerrainTile</a:t>
            </a:r>
            <a:r>
              <a:rPr lang="en-US" sz="1600" dirty="0"/>
              <a:t> {</a:t>
            </a:r>
          </a:p>
          <a:p>
            <a:r>
              <a:rPr lang="en-US" sz="1600" dirty="0"/>
              <a:t>	private int </a:t>
            </a:r>
            <a:r>
              <a:rPr lang="en-US" sz="1600" dirty="0" err="1"/>
              <a:t>xLoc</a:t>
            </a:r>
            <a:r>
              <a:rPr lang="en-US" sz="1600" dirty="0"/>
              <a:t>;</a:t>
            </a:r>
          </a:p>
          <a:p>
            <a:r>
              <a:rPr lang="en-US" sz="1600" dirty="0"/>
              <a:t>	private int </a:t>
            </a:r>
            <a:r>
              <a:rPr lang="en-US" sz="1600" dirty="0" err="1"/>
              <a:t>yLoc</a:t>
            </a:r>
            <a:r>
              <a:rPr lang="en-US" sz="1600" dirty="0"/>
              <a:t>;</a:t>
            </a:r>
          </a:p>
          <a:p>
            <a:r>
              <a:rPr lang="en-US" sz="1600" dirty="0"/>
              <a:t>	private Sprite </a:t>
            </a:r>
            <a:r>
              <a:rPr lang="en-US" sz="1600" dirty="0" err="1"/>
              <a:t>terrainSprite</a:t>
            </a:r>
            <a:r>
              <a:rPr lang="en-US" sz="1600" dirty="0"/>
              <a:t>;</a:t>
            </a:r>
          </a:p>
          <a:p>
            <a:r>
              <a:rPr lang="en-US" sz="1600" dirty="0"/>
              <a:t>	public </a:t>
            </a:r>
            <a:r>
              <a:rPr lang="en-US" sz="1600" dirty="0" err="1"/>
              <a:t>TerrainTile</a:t>
            </a:r>
            <a:r>
              <a:rPr lang="en-US" sz="1600" dirty="0"/>
              <a:t>(String </a:t>
            </a:r>
            <a:r>
              <a:rPr lang="en-US" sz="1600" dirty="0" err="1"/>
              <a:t>spriteLocation</a:t>
            </a:r>
            <a:r>
              <a:rPr lang="en-US" sz="1600" dirty="0"/>
              <a:t>) {</a:t>
            </a:r>
          </a:p>
          <a:p>
            <a:r>
              <a:rPr lang="en-US" sz="1600" dirty="0"/>
              <a:t>		</a:t>
            </a:r>
            <a:r>
              <a:rPr lang="en-US" sz="1600" dirty="0" err="1"/>
              <a:t>this.terrainSprite</a:t>
            </a:r>
            <a:r>
              <a:rPr lang="en-US" sz="1600" dirty="0"/>
              <a:t> = </a:t>
            </a:r>
            <a:r>
              <a:rPr lang="en-US" sz="1600" dirty="0" err="1"/>
              <a:t>Sprite.loadSprite</a:t>
            </a:r>
            <a:r>
              <a:rPr lang="en-US" sz="1600" dirty="0"/>
              <a:t>(</a:t>
            </a:r>
            <a:r>
              <a:rPr lang="en-US" sz="1600" dirty="0" err="1"/>
              <a:t>spriteLocation</a:t>
            </a:r>
            <a:r>
              <a:rPr lang="en-US" sz="1600" dirty="0"/>
              <a:t>);</a:t>
            </a:r>
          </a:p>
          <a:p>
            <a:r>
              <a:rPr lang="en-US" sz="1600" dirty="0"/>
              <a:t>	}</a:t>
            </a:r>
          </a:p>
          <a:p>
            <a:r>
              <a:rPr lang="en-US" sz="1600" dirty="0"/>
              <a:t>}</a:t>
            </a:r>
          </a:p>
          <a:p>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endParaRPr lang="en-US" sz="1600" dirty="0"/>
          </a:p>
          <a:p>
            <a:endParaRPr lang="en-US" dirty="0"/>
          </a:p>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a:t>
            </a:r>
            <a:br>
              <a:rPr lang="en-US" dirty="0"/>
            </a:br>
            <a:r>
              <a:rPr lang="en-US" dirty="0"/>
              <a:t>	 if (key == “indoor”) {</a:t>
            </a:r>
          </a:p>
          <a:p>
            <a:r>
              <a:rPr lang="en-US" dirty="0"/>
              <a:t>		</a:t>
            </a:r>
            <a:r>
              <a:rPr lang="en-US" dirty="0" err="1"/>
              <a:t>terrainSprite</a:t>
            </a:r>
            <a:r>
              <a:rPr lang="en-US" dirty="0"/>
              <a:t> = </a:t>
            </a:r>
            <a:r>
              <a:rPr lang="en-US" dirty="0" err="1"/>
              <a:t>Sprite.load</a:t>
            </a:r>
            <a:r>
              <a:rPr lang="en-US" dirty="0"/>
              <a:t>(“sprites/indoor”);</a:t>
            </a:r>
          </a:p>
          <a:p>
            <a:r>
              <a:rPr lang="en-US" dirty="0"/>
              <a:t>	 } else { </a:t>
            </a:r>
            <a:r>
              <a:rPr lang="en-US" dirty="0" err="1"/>
              <a:t>terrainSprite</a:t>
            </a:r>
            <a:r>
              <a:rPr lang="en-US" dirty="0"/>
              <a:t> = </a:t>
            </a:r>
            <a:r>
              <a:rPr lang="en-US" dirty="0" err="1"/>
              <a:t>Sprite.load</a:t>
            </a:r>
            <a:r>
              <a:rPr lang="en-US" dirty="0"/>
              <a:t>(“sprites/outdoor”);</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6152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76512" y="1142555"/>
            <a:ext cx="5674612" cy="592461"/>
            <a:chOff x="6176512" y="1142555"/>
            <a:chExt cx="5674612" cy="592461"/>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4" y="1142555"/>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176512" y="918634"/>
            <a:ext cx="5686635" cy="685585"/>
            <a:chOff x="6176512" y="1259024"/>
            <a:chExt cx="5686635" cy="475992"/>
          </a:xfrm>
        </p:grpSpPr>
        <p:sp>
          <p:nvSpPr>
            <p:cNvPr id="11" name="Rectangle 10">
              <a:extLst>
                <a:ext uri="{FF2B5EF4-FFF2-40B4-BE49-F238E27FC236}">
                  <a16:creationId xmlns:a16="http://schemas.microsoft.com/office/drawing/2014/main" id="{31F3A1E3-22AA-94A9-C7EA-6F5C024EAE9E}"/>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058101" y="1259024"/>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render(</a:t>
            </a:r>
            <a:r>
              <a:rPr lang="en-US" dirty="0" err="1"/>
              <a:t>indoorTile</a:t>
            </a:r>
            <a:r>
              <a:rPr lang="en-US" dirty="0"/>
              <a:t>, </a:t>
            </a:r>
            <a:r>
              <a:rPr lang="en-US" dirty="0" err="1"/>
              <a:t>indoorTileIcon</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render(</a:t>
            </a:r>
            <a:r>
              <a:rPr lang="en-US" dirty="0" err="1"/>
              <a:t>outdoorTile</a:t>
            </a:r>
            <a:r>
              <a:rPr lang="en-US" dirty="0"/>
              <a:t>, </a:t>
            </a:r>
            <a:r>
              <a:rPr lang="en-US" dirty="0" err="1"/>
              <a:t>outdoorTileIcon</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68F69-B24B-D9B2-DC39-FEA7EDDDFAAE}"/>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84BD36B2-F888-8E6D-D1BC-E3C0BC31A064}"/>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AA0BC4A7-D5D1-6F8C-5904-3BDA70FD7E52}"/>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2665233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7D2D7F-2FE3-3104-5BB6-946C4AC58B2F}"/>
              </a:ext>
            </a:extLst>
          </p:cNvPr>
          <p:cNvSpPr>
            <a:spLocks noGrp="1"/>
          </p:cNvSpPr>
          <p:nvPr>
            <p:ph idx="1"/>
          </p:nvPr>
        </p:nvSpPr>
        <p:spPr/>
        <p:txBody>
          <a:bodyPr/>
          <a:lstStyle/>
          <a:p>
            <a:r>
              <a:rPr lang="en-US" dirty="0"/>
              <a:t>Visitor design pattern</a:t>
            </a:r>
          </a:p>
          <a:p>
            <a:r>
              <a:rPr lang="en-US" dirty="0"/>
              <a:t>Software security</a:t>
            </a:r>
          </a:p>
        </p:txBody>
      </p:sp>
      <p:sp>
        <p:nvSpPr>
          <p:cNvPr id="4" name="Title 3">
            <a:extLst>
              <a:ext uri="{FF2B5EF4-FFF2-40B4-BE49-F238E27FC236}">
                <a16:creationId xmlns:a16="http://schemas.microsoft.com/office/drawing/2014/main" id="{9FAD9294-10C5-1C46-AB8C-7C73E3F2AC6F}"/>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97883565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r>
              <a:rPr lang="en-US" dirty="0"/>
              <a:t>The </a:t>
            </a:r>
            <a:r>
              <a:rPr lang="en-US" dirty="0">
                <a:latin typeface="Consolas" panose="020B0609020204030204" pitchFamily="49" charset="0"/>
              </a:rPr>
              <a:t>accept</a:t>
            </a:r>
            <a:r>
              <a:rPr lang="en-US" dirty="0"/>
              <a:t> method invokes the visitor on the shape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11790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5309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16898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8975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14171</TotalTime>
  <Words>11152</Words>
  <Application>Microsoft Office PowerPoint</Application>
  <PresentationFormat>Widescreen</PresentationFormat>
  <Paragraphs>1968</Paragraphs>
  <Slides>141</Slides>
  <Notes>70</Notes>
  <HiddenSlides>12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141</vt:i4>
      </vt:variant>
    </vt:vector>
  </HeadingPairs>
  <TitlesOfParts>
    <vt:vector size="147" baseType="lpstr">
      <vt:lpstr>Arial</vt:lpstr>
      <vt:lpstr>Calibri</vt:lpstr>
      <vt:lpstr>Consolas</vt:lpstr>
      <vt:lpstr>Helvetica</vt:lpstr>
      <vt:lpstr>Wingdings</vt:lpstr>
      <vt:lpstr>Preso 2022 Watertower Stats</vt:lpstr>
      <vt:lpstr>PowerPoint Presentation</vt:lpstr>
      <vt:lpstr>Announcements</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Announcements</vt:lpstr>
      <vt:lpstr>Agenda</vt:lpstr>
      <vt:lpstr>Sample question 1</vt:lpstr>
      <vt:lpstr>Sample question 2</vt:lpstr>
      <vt:lpstr>Sample question 2</vt:lpstr>
      <vt:lpstr>Design pattern classification</vt:lpstr>
      <vt:lpstr>PowerPoint Presentation</vt:lpstr>
      <vt:lpstr>Case study: social media posts</vt:lpstr>
      <vt:lpstr>Composite design pattern for social media post</vt:lpstr>
      <vt:lpstr>Benefits</vt:lpstr>
      <vt:lpstr>Benefits</vt:lpstr>
      <vt:lpstr>Benefits</vt:lpstr>
      <vt:lpstr>Benefits</vt:lpstr>
      <vt:lpstr>Composite design pattern</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Decorator design pattern</vt:lpstr>
      <vt:lpstr>Case study – fraud detecting payment processor</vt:lpstr>
      <vt:lpstr>Fraud detection decorator for payment processor</vt:lpstr>
      <vt:lpstr>Decorators visually</vt:lpstr>
      <vt:lpstr>Fraud detection decorator for payment processor</vt:lpstr>
      <vt:lpstr>Fraud detection decorator for payment processor</vt:lpstr>
      <vt:lpstr>Fraud detection decorator for payment processor</vt:lpstr>
      <vt:lpstr>Decorators visually</vt:lpstr>
      <vt:lpstr>Decorators visually</vt:lpstr>
      <vt:lpstr>Isn’t this a proxy??</vt:lpstr>
      <vt:lpstr>Non-ideal alternate implementations: subclass?</vt:lpstr>
      <vt:lpstr>Problem 1: breaks SRP</vt:lpstr>
      <vt:lpstr>Problem 2: class explosion</vt:lpstr>
      <vt:lpstr>Characteristics</vt:lpstr>
      <vt:lpstr>PowerPoint Presentation</vt:lpstr>
      <vt:lpstr>Case study – game system</vt:lpstr>
      <vt:lpstr>Flyweight design pattern</vt:lpstr>
      <vt:lpstr>Flyweight design pattern</vt:lpstr>
      <vt:lpstr>Putting it all together</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Agenda</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pattern – full code</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1514</cp:revision>
  <dcterms:created xsi:type="dcterms:W3CDTF">2019-06-30T03:25:06Z</dcterms:created>
  <dcterms:modified xsi:type="dcterms:W3CDTF">2025-11-26T19:46:39Z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