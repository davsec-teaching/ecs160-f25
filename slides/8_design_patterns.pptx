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54"/>
  </p:notesMasterIdLst>
  <p:handoutMasterIdLst>
    <p:handoutMasterId r:id="rId155"/>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31" r:id="rId73"/>
    <p:sldId id="1232" r:id="rId74"/>
    <p:sldId id="1227" r:id="rId75"/>
    <p:sldId id="343" r:id="rId76"/>
    <p:sldId id="289" r:id="rId77"/>
    <p:sldId id="351" r:id="rId78"/>
    <p:sldId id="291" r:id="rId79"/>
    <p:sldId id="1218" r:id="rId80"/>
    <p:sldId id="292" r:id="rId81"/>
    <p:sldId id="293" r:id="rId82"/>
    <p:sldId id="294" r:id="rId83"/>
    <p:sldId id="355" r:id="rId84"/>
    <p:sldId id="368" r:id="rId85"/>
    <p:sldId id="350" r:id="rId86"/>
    <p:sldId id="352" r:id="rId87"/>
    <p:sldId id="353" r:id="rId88"/>
    <p:sldId id="354" r:id="rId89"/>
    <p:sldId id="295" r:id="rId90"/>
    <p:sldId id="376" r:id="rId91"/>
    <p:sldId id="378" r:id="rId92"/>
    <p:sldId id="379" r:id="rId93"/>
    <p:sldId id="380" r:id="rId94"/>
    <p:sldId id="381" r:id="rId95"/>
    <p:sldId id="382" r:id="rId96"/>
    <p:sldId id="1229" r:id="rId97"/>
    <p:sldId id="385" r:id="rId98"/>
    <p:sldId id="296" r:id="rId99"/>
    <p:sldId id="364" r:id="rId100"/>
    <p:sldId id="298" r:id="rId101"/>
    <p:sldId id="297" r:id="rId102"/>
    <p:sldId id="383" r:id="rId103"/>
    <p:sldId id="299" r:id="rId104"/>
    <p:sldId id="300" r:id="rId105"/>
    <p:sldId id="301" r:id="rId106"/>
    <p:sldId id="302" r:id="rId107"/>
    <p:sldId id="1233" r:id="rId108"/>
    <p:sldId id="1234" r:id="rId109"/>
    <p:sldId id="1240" r:id="rId110"/>
    <p:sldId id="365" r:id="rId111"/>
    <p:sldId id="367" r:id="rId112"/>
    <p:sldId id="305" r:id="rId113"/>
    <p:sldId id="306" r:id="rId114"/>
    <p:sldId id="307" r:id="rId115"/>
    <p:sldId id="308" r:id="rId116"/>
    <p:sldId id="303" r:id="rId117"/>
    <p:sldId id="309" r:id="rId118"/>
    <p:sldId id="366" r:id="rId119"/>
    <p:sldId id="311" r:id="rId120"/>
    <p:sldId id="312" r:id="rId121"/>
    <p:sldId id="313" r:id="rId122"/>
    <p:sldId id="310" r:id="rId123"/>
    <p:sldId id="314" r:id="rId124"/>
    <p:sldId id="384" r:id="rId125"/>
    <p:sldId id="386" r:id="rId126"/>
    <p:sldId id="387" r:id="rId127"/>
    <p:sldId id="388" r:id="rId128"/>
    <p:sldId id="389" r:id="rId129"/>
    <p:sldId id="390" r:id="rId130"/>
    <p:sldId id="391" r:id="rId131"/>
    <p:sldId id="1235" r:id="rId132"/>
    <p:sldId id="1236" r:id="rId133"/>
    <p:sldId id="392" r:id="rId134"/>
    <p:sldId id="1238" r:id="rId135"/>
    <p:sldId id="1239" r:id="rId136"/>
    <p:sldId id="396" r:id="rId137"/>
    <p:sldId id="315" r:id="rId138"/>
    <p:sldId id="397" r:id="rId139"/>
    <p:sldId id="398" r:id="rId140"/>
    <p:sldId id="400" r:id="rId141"/>
    <p:sldId id="1211" r:id="rId142"/>
    <p:sldId id="1228" r:id="rId143"/>
    <p:sldId id="1230" r:id="rId144"/>
    <p:sldId id="1214" r:id="rId145"/>
    <p:sldId id="1242" r:id="rId146"/>
    <p:sldId id="1241" r:id="rId147"/>
    <p:sldId id="319" r:id="rId148"/>
    <p:sldId id="321" r:id="rId149"/>
    <p:sldId id="323" r:id="rId150"/>
    <p:sldId id="393" r:id="rId151"/>
    <p:sldId id="394" r:id="rId152"/>
    <p:sldId id="395" r:id="rId153"/>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8/10/relationships/authors" Target="author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12/2/2025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53BC-1E48-E753-F58E-E380DABE75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F7913-ED81-6A48-EEAD-180CD49BC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C5FD8-B6B1-A858-3C77-F95C42C469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99813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9086237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74857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556543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December 2,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8C0055-A2EF-91DD-73C3-4752EEED6ADE}"/>
              </a:ext>
            </a:extLst>
          </p:cNvPr>
          <p:cNvSpPr>
            <a:spLocks noGrp="1"/>
          </p:cNvSpPr>
          <p:nvPr>
            <p:ph idx="1"/>
          </p:nvPr>
        </p:nvSpPr>
        <p:spPr/>
        <p:txBody>
          <a:bodyPr/>
          <a:lstStyle/>
          <a:p>
            <a:r>
              <a:rPr lang="en-US" dirty="0"/>
              <a:t>HW2 grades should be out by next Sunday</a:t>
            </a:r>
          </a:p>
          <a:p>
            <a:r>
              <a:rPr lang="en-US" dirty="0"/>
              <a:t>Extra Zoom office hours 12/4 from 11 AM – 12:30 PM</a:t>
            </a:r>
          </a:p>
          <a:p>
            <a:r>
              <a:rPr lang="en-US" dirty="0"/>
              <a:t>Next class: sample software security and design pattern questions</a:t>
            </a:r>
          </a:p>
          <a:p>
            <a:r>
              <a:rPr lang="en-US" dirty="0"/>
              <a:t>Final lecture: revision</a:t>
            </a:r>
          </a:p>
          <a:p>
            <a:pPr marL="0" indent="0">
              <a:buNone/>
            </a:pPr>
            <a:endParaRPr lang="en-US" dirty="0"/>
          </a:p>
        </p:txBody>
      </p:sp>
      <p:sp>
        <p:nvSpPr>
          <p:cNvPr id="6" name="Title 5">
            <a:extLst>
              <a:ext uri="{FF2B5EF4-FFF2-40B4-BE49-F238E27FC236}">
                <a16:creationId xmlns:a16="http://schemas.microsoft.com/office/drawing/2014/main" id="{119D7FF9-6187-D527-6073-ACCC36B99D3C}"/>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47734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EC64041-FF27-B102-390E-870A9BE1511B}"/>
              </a:ext>
            </a:extLst>
          </p:cNvPr>
          <p:cNvSpPr>
            <a:spLocks noGrp="1"/>
          </p:cNvSpPr>
          <p:nvPr>
            <p:ph idx="1"/>
          </p:nvPr>
        </p:nvSpPr>
        <p:spPr/>
        <p:txBody>
          <a:bodyPr>
            <a:normAutofit fontScale="92500" lnSpcReduction="10000"/>
          </a:bodyPr>
          <a:lstStyle/>
          <a:p>
            <a:r>
              <a:rPr lang="en-US" dirty="0"/>
              <a:t>Structural design patterns</a:t>
            </a:r>
          </a:p>
          <a:p>
            <a:pPr lvl="1"/>
            <a:r>
              <a:rPr lang="en-US" dirty="0"/>
              <a:t>Decorator pattern</a:t>
            </a:r>
          </a:p>
          <a:p>
            <a:pPr lvl="1"/>
            <a:r>
              <a:rPr lang="en-US" dirty="0"/>
              <a:t>Flyweight pattern</a:t>
            </a:r>
          </a:p>
          <a:p>
            <a:r>
              <a:rPr lang="en-US" dirty="0"/>
              <a:t>Behavioral design pattern</a:t>
            </a:r>
          </a:p>
          <a:p>
            <a:pPr lvl="1"/>
            <a:r>
              <a:rPr lang="en-US" dirty="0"/>
              <a:t>Observer pattern</a:t>
            </a:r>
          </a:p>
          <a:p>
            <a:pPr lvl="1"/>
            <a:r>
              <a:rPr lang="en-US" dirty="0"/>
              <a:t>State pattern</a:t>
            </a:r>
          </a:p>
          <a:p>
            <a:pPr lvl="1"/>
            <a:r>
              <a:rPr lang="en-US" dirty="0"/>
              <a:t>Template method pattern</a:t>
            </a:r>
          </a:p>
          <a:p>
            <a:r>
              <a:rPr lang="en-US" dirty="0"/>
              <a:t>Sample design pattern questions</a:t>
            </a:r>
          </a:p>
          <a:p>
            <a:r>
              <a:rPr lang="en-US" dirty="0"/>
              <a:t>Behavioral design pattern – Visitor pattern</a:t>
            </a:r>
          </a:p>
        </p:txBody>
      </p:sp>
      <p:sp>
        <p:nvSpPr>
          <p:cNvPr id="4" name="Title 3">
            <a:extLst>
              <a:ext uri="{FF2B5EF4-FFF2-40B4-BE49-F238E27FC236}">
                <a16:creationId xmlns:a16="http://schemas.microsoft.com/office/drawing/2014/main" id="{F4B32381-F078-29B1-40DB-52B21DF62712}"/>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ED942B02-2599-649A-C669-FEA09849750C}"/>
              </a:ext>
            </a:extLst>
          </p:cNvPr>
          <p:cNvCxnSpPr/>
          <p:nvPr/>
        </p:nvCxnSpPr>
        <p:spPr>
          <a:xfrm>
            <a:off x="0" y="5197642"/>
            <a:ext cx="1219200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037730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a:t>
            </a:r>
            <a:r>
              <a:rPr lang="en-US" dirty="0" err="1"/>
              <a:t>processPayment</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a:t>
            </a:r>
            <a:r>
              <a:rPr lang="en-US" dirty="0" err="1"/>
              <a:t>processPayment</a:t>
            </a:r>
            <a:r>
              <a:rPr lang="en-US" dirty="0"/>
              <a:t>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Autofit/>
          </a:bodyPr>
          <a:lstStyle/>
          <a:p>
            <a:r>
              <a:rPr lang="en-US" sz="1400" b="1" i="1" dirty="0"/>
              <a:t>// Without flyweight design pattern -&gt; memory wastage</a:t>
            </a:r>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a:p>
            <a:endParaRPr lang="en-US" sz="1400" dirty="0"/>
          </a:p>
          <a:p>
            <a:endParaRPr lang="en-US" sz="1400" dirty="0"/>
          </a:p>
          <a:p>
            <a:r>
              <a:rPr lang="en-US" sz="1400" b="1" i="1" dirty="0"/>
              <a:t>// With flyweight design pattern</a:t>
            </a:r>
          </a:p>
          <a:p>
            <a:r>
              <a:rPr lang="en-US" sz="1400" dirty="0"/>
              <a:t>class Flyweight {</a:t>
            </a:r>
          </a:p>
          <a:p>
            <a:r>
              <a:rPr lang="en-US" sz="1400" dirty="0"/>
              <a:t>	private Sprite </a:t>
            </a:r>
            <a:r>
              <a:rPr lang="en-US" sz="1400" dirty="0" err="1"/>
              <a:t>terrainSprite</a:t>
            </a:r>
            <a:r>
              <a:rPr lang="en-US" sz="1400" dirty="0"/>
              <a:t>;</a:t>
            </a:r>
          </a:p>
          <a:p>
            <a:r>
              <a:rPr lang="en-US" sz="1400" dirty="0"/>
              <a:t>	public </a:t>
            </a:r>
            <a:r>
              <a:rPr lang="en-US" sz="1400" dirty="0" err="1"/>
              <a:t>FlyWeight</a:t>
            </a:r>
            <a:r>
              <a:rPr lang="en-US" sz="1400" dirty="0"/>
              <a:t>(String key) { </a:t>
            </a:r>
            <a:br>
              <a:rPr lang="en-US" sz="1400" dirty="0"/>
            </a:br>
            <a:r>
              <a:rPr lang="en-US" sz="1400" dirty="0"/>
              <a:t>	 if (key == “indoor”) {</a:t>
            </a:r>
          </a:p>
          <a:p>
            <a:r>
              <a:rPr lang="en-US" sz="1400" dirty="0"/>
              <a:t>		</a:t>
            </a:r>
            <a:r>
              <a:rPr lang="en-US" sz="1400" dirty="0" err="1"/>
              <a:t>terrainSprite</a:t>
            </a:r>
            <a:r>
              <a:rPr lang="en-US" sz="1400" dirty="0"/>
              <a:t> = </a:t>
            </a:r>
            <a:r>
              <a:rPr lang="en-US" sz="1400" dirty="0" err="1"/>
              <a:t>Sprite.load</a:t>
            </a:r>
            <a:r>
              <a:rPr lang="en-US" sz="1400" dirty="0"/>
              <a:t>(“sprites/indoor”);</a:t>
            </a:r>
          </a:p>
          <a:p>
            <a:r>
              <a:rPr lang="en-US" sz="1400" dirty="0"/>
              <a:t>	 } else { </a:t>
            </a:r>
            <a:r>
              <a:rPr lang="en-US" sz="1400" dirty="0" err="1"/>
              <a:t>terrainSprite</a:t>
            </a:r>
            <a:r>
              <a:rPr lang="en-US" sz="1400" dirty="0"/>
              <a:t> = </a:t>
            </a:r>
            <a:r>
              <a:rPr lang="en-US" sz="1400" dirty="0" err="1"/>
              <a:t>Sprite.load</a:t>
            </a:r>
            <a:r>
              <a:rPr lang="en-US" sz="1400" dirty="0"/>
              <a:t>(“sprites/outdoor”); }</a:t>
            </a:r>
            <a:br>
              <a:rPr lang="en-US" sz="1400" dirty="0"/>
            </a:br>
            <a:r>
              <a:rPr lang="en-US" sz="1400" dirty="0"/>
              <a:t>     public void render(</a:t>
            </a:r>
            <a:r>
              <a:rPr lang="en-US" sz="1400" dirty="0" err="1"/>
              <a:t>TerrainTile</a:t>
            </a:r>
            <a:r>
              <a:rPr lang="en-US" sz="1400" dirty="0"/>
              <a:t> tile) { ..}</a:t>
            </a:r>
          </a:p>
          <a:p>
            <a:r>
              <a:rPr lang="en-US" sz="1400" dirty="0"/>
              <a:t>	// getters and setters</a:t>
            </a:r>
          </a:p>
          <a:p>
            <a:r>
              <a:rPr lang="en-US" sz="1400" dirty="0"/>
              <a:t>}</a:t>
            </a:r>
          </a:p>
          <a:p>
            <a:endParaRPr lang="en-US" sz="1400" dirty="0"/>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a:t>
            </a:r>
            <a:br>
              <a:rPr lang="en-US" sz="1400" dirty="0"/>
            </a:br>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8329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public void render(</a:t>
            </a:r>
            <a:r>
              <a:rPr lang="en-US" dirty="0" err="1"/>
              <a:t>TerrainTile</a:t>
            </a:r>
            <a:r>
              <a:rPr lang="en-US" dirty="0"/>
              <a:t> tile) { ..}	</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a:t>
            </a:r>
            <a:r>
              <a:rPr lang="en-US" dirty="0" err="1"/>
              <a:t>indoorTileIcon.render</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a:t>
            </a:r>
            <a:r>
              <a:rPr lang="en-US" dirty="0" err="1"/>
              <a:t>outdoorTileIcon.render</a:t>
            </a:r>
            <a:r>
              <a:rPr lang="en-US" dirty="0"/>
              <a:t>(</a:t>
            </a:r>
            <a:r>
              <a:rPr lang="en-US" dirty="0" err="1"/>
              <a:t>outdoorTile</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C239DE-6777-AB94-F069-61E774C9A7E7}"/>
              </a:ext>
            </a:extLst>
          </p:cNvPr>
          <p:cNvSpPr>
            <a:spLocks noGrp="1"/>
          </p:cNvSpPr>
          <p:nvPr>
            <p:ph idx="1"/>
          </p:nvPr>
        </p:nvSpPr>
        <p:spPr>
          <a:xfrm>
            <a:off x="360607" y="785004"/>
            <a:ext cx="11449319" cy="5218981"/>
          </a:xfrm>
        </p:spPr>
        <p:txBody>
          <a:bodyPr>
            <a:normAutofit lnSpcReduction="10000"/>
          </a:bodyPr>
          <a:lstStyle/>
          <a:p>
            <a:r>
              <a:rPr lang="en-US" dirty="0"/>
              <a:t>You are designing an email system for your company. The email system automatically must insert the company header and footer images to each email that is being sent. The company header and footer images are 16 KB each. You expect the email system to store tens of thousands of emails. Moreover, some users can enable optional features such as spell-check annotations and keyword highlighting that stores additional metadata with the email and influences how the email is rendered on the email screen (spell-check feature highlights misspelled words in red, for example). You want future developers to be able to easily add new optional features as well. How would you design this system?</a:t>
            </a:r>
          </a:p>
        </p:txBody>
      </p:sp>
      <p:sp>
        <p:nvSpPr>
          <p:cNvPr id="4" name="Title 3">
            <a:extLst>
              <a:ext uri="{FF2B5EF4-FFF2-40B4-BE49-F238E27FC236}">
                <a16:creationId xmlns:a16="http://schemas.microsoft.com/office/drawing/2014/main" id="{805E4ED4-98AC-D27F-EC34-65DEB19C2AE9}"/>
              </a:ext>
            </a:extLst>
          </p:cNvPr>
          <p:cNvSpPr>
            <a:spLocks noGrp="1"/>
          </p:cNvSpPr>
          <p:nvPr>
            <p:ph type="title"/>
          </p:nvPr>
        </p:nvSpPr>
        <p:spPr>
          <a:xfrm>
            <a:off x="0" y="0"/>
            <a:ext cx="12192000" cy="696277"/>
          </a:xfrm>
        </p:spPr>
        <p:txBody>
          <a:bodyPr/>
          <a:lstStyle/>
          <a:p>
            <a:r>
              <a:rPr lang="en-US" dirty="0"/>
              <a:t>Sample design pattern question</a:t>
            </a:r>
          </a:p>
        </p:txBody>
      </p:sp>
    </p:spTree>
    <p:extLst>
      <p:ext uri="{BB962C8B-B14F-4D97-AF65-F5344CB8AC3E}">
        <p14:creationId xmlns:p14="http://schemas.microsoft.com/office/powerpoint/2010/main" val="3248730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31F57-2FC8-4D87-05B0-CCBA931753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78A716-1DFF-84A8-2ADA-B0D144D8974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B44EB15-E3E8-921B-0522-F18E0361A61E}"/>
              </a:ext>
            </a:extLst>
          </p:cNvPr>
          <p:cNvSpPr>
            <a:spLocks noGrp="1"/>
          </p:cNvSpPr>
          <p:nvPr>
            <p:ph type="body" sz="quarter" idx="13"/>
          </p:nvPr>
        </p:nvSpPr>
        <p:spPr/>
        <p:txBody>
          <a:bodyPr/>
          <a:lstStyle/>
          <a:p>
            <a:r>
              <a:rPr lang="en-US" sz="3200" dirty="0"/>
              <a:t>Design patterns</a:t>
            </a:r>
          </a:p>
        </p:txBody>
      </p:sp>
    </p:spTree>
    <p:extLst>
      <p:ext uri="{BB962C8B-B14F-4D97-AF65-F5344CB8AC3E}">
        <p14:creationId xmlns:p14="http://schemas.microsoft.com/office/powerpoint/2010/main" val="108421248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DF13D8-6296-2C5D-AF8F-DE236933CEBE}"/>
              </a:ext>
            </a:extLst>
          </p:cNvPr>
          <p:cNvSpPr>
            <a:spLocks noGrp="1"/>
          </p:cNvSpPr>
          <p:nvPr>
            <p:ph idx="1"/>
          </p:nvPr>
        </p:nvSpPr>
        <p:spPr/>
        <p:txBody>
          <a:bodyPr/>
          <a:lstStyle/>
          <a:p>
            <a:r>
              <a:rPr lang="en-US" dirty="0"/>
              <a:t>Design patterns quiz will close on Friday EOD</a:t>
            </a:r>
          </a:p>
          <a:p>
            <a:r>
              <a:rPr lang="en-US" dirty="0" err="1"/>
              <a:t>Xingming</a:t>
            </a:r>
            <a:r>
              <a:rPr lang="en-US" dirty="0"/>
              <a:t> will conduct the revision lecture</a:t>
            </a:r>
          </a:p>
          <a:p>
            <a:r>
              <a:rPr lang="en-US" dirty="0"/>
              <a:t>Final will have 2 design/security questions and 2-3 smaller questions</a:t>
            </a:r>
          </a:p>
        </p:txBody>
      </p:sp>
      <p:sp>
        <p:nvSpPr>
          <p:cNvPr id="4" name="Title 3">
            <a:extLst>
              <a:ext uri="{FF2B5EF4-FFF2-40B4-BE49-F238E27FC236}">
                <a16:creationId xmlns:a16="http://schemas.microsoft.com/office/drawing/2014/main" id="{920AC614-0F7C-CCB7-6164-975EDB65A77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74919159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4854-D128-1DEF-F6CF-53CB4A39A2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035728-71A5-2A49-5D81-6C4A08E064EF}"/>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ABF77AF1-2C3A-65B2-61C4-2D553BB6616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F68EDB2D-89FF-B3BD-B72C-E316579432D3}"/>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DB3046BA-2D24-5C07-5F26-36B9663D31A3}"/>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Observer, </a:t>
            </a:r>
            <a:r>
              <a:rPr lang="en-US" b="1" dirty="0"/>
              <a:t>Template method, State, Visitor</a:t>
            </a:r>
          </a:p>
          <a:p>
            <a:pPr lvl="1"/>
            <a:endParaRPr lang="en-US" dirty="0"/>
          </a:p>
        </p:txBody>
      </p:sp>
      <p:sp>
        <p:nvSpPr>
          <p:cNvPr id="2" name="Rectangle 1">
            <a:extLst>
              <a:ext uri="{FF2B5EF4-FFF2-40B4-BE49-F238E27FC236}">
                <a16:creationId xmlns:a16="http://schemas.microsoft.com/office/drawing/2014/main" id="{45929B6C-E17B-CF4E-A151-63D19CBE0DF3}"/>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2912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Translate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fontScale="92500"/>
          </a:bodyPr>
          <a:lstStyle/>
          <a:p>
            <a:r>
              <a:rPr lang="en-US" dirty="0"/>
              <a:t>Encapsulate the operational logic in a “Visitor” class</a:t>
            </a:r>
          </a:p>
          <a:p>
            <a:r>
              <a:rPr lang="en-US" dirty="0"/>
              <a:t>Abstract visitor class provides concrete implementation for the </a:t>
            </a:r>
            <a:r>
              <a:rPr lang="en-US" dirty="0">
                <a:latin typeface="Consolas" panose="020B0609020204030204" pitchFamily="49" charset="0"/>
              </a:rPr>
              <a:t>visit</a:t>
            </a:r>
            <a:r>
              <a:rPr lang="en-US" dirty="0"/>
              <a:t> method for </a:t>
            </a:r>
            <a:r>
              <a:rPr lang="en-US" dirty="0" err="1"/>
              <a:t>CompoundShape</a:t>
            </a:r>
            <a:endParaRPr lang="en-US" dirty="0"/>
          </a:p>
          <a:p>
            <a:r>
              <a:rPr lang="en-US" dirty="0">
                <a:latin typeface="Consolas" panose="020B0609020204030204" pitchFamily="49" charset="0"/>
              </a:rPr>
              <a:t>accept</a:t>
            </a:r>
            <a:r>
              <a:rPr lang="en-US" dirty="0"/>
              <a:t> method is the “glue” that holds this design pattern together</a:t>
            </a:r>
          </a:p>
          <a:p>
            <a:pPr lvl="1"/>
            <a:r>
              <a:rPr lang="en-US" dirty="0"/>
              <a:t>Ensures the </a:t>
            </a:r>
            <a:r>
              <a:rPr lang="en-US" dirty="0">
                <a:latin typeface="Consolas" panose="020B0609020204030204" pitchFamily="49" charset="0"/>
              </a:rPr>
              <a:t>Visitor</a:t>
            </a:r>
            <a:r>
              <a:rPr lang="en-US" dirty="0"/>
              <a:t> object visits each </a:t>
            </a:r>
            <a:r>
              <a:rPr lang="en-US" dirty="0">
                <a:latin typeface="Consolas" panose="020B0609020204030204" pitchFamily="49" charset="0"/>
              </a:rPr>
              <a:t>Shape</a:t>
            </a:r>
            <a:r>
              <a:rPr lang="en-US" dirty="0"/>
              <a:t> object</a:t>
            </a:r>
          </a:p>
          <a:p>
            <a:pPr marL="0" indent="0">
              <a:buNone/>
            </a:pPr>
            <a:endParaRPr lang="en-US" dirty="0"/>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8868C43-1913-2D58-B60C-5B106934A1A2}"/>
              </a:ext>
            </a:extLst>
          </p:cNvPr>
          <p:cNvSpPr txBox="1"/>
          <p:nvPr/>
        </p:nvSpPr>
        <p:spPr>
          <a:xfrm>
            <a:off x="7620000" y="2730328"/>
            <a:ext cx="3934410" cy="369332"/>
          </a:xfrm>
          <a:prstGeom prst="rect">
            <a:avLst/>
          </a:prstGeom>
          <a:noFill/>
        </p:spPr>
        <p:txBody>
          <a:bodyPr wrap="none" rtlCol="0">
            <a:spAutoFit/>
          </a:bodyPr>
          <a:lstStyle/>
          <a:p>
            <a:r>
              <a:rPr lang="en-US" b="1" i="1" dirty="0"/>
              <a:t>We will discuss this in a couple of slides</a:t>
            </a:r>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visit(Triangle t) {</a:t>
            </a:r>
          </a:p>
          <a:p>
            <a:r>
              <a:rPr lang="en-US" dirty="0"/>
              <a:t>        </a:t>
            </a:r>
            <a:r>
              <a:rPr lang="en-US" b="1" dirty="0"/>
              <a:t>	/// translate 3 points</a:t>
            </a:r>
            <a:r>
              <a:rPr lang="en-US" dirty="0"/>
              <a:t>		</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lstStyle/>
          <a:p>
            <a:r>
              <a:rPr lang="en-US" dirty="0"/>
              <a:t>Concrete visitor subclasses implement the particular visitor logic</a:t>
            </a:r>
          </a:p>
          <a:p>
            <a:r>
              <a:rPr lang="en-US" dirty="0"/>
              <a:t>The visitor logic is encapsulated in its own visitor class</a:t>
            </a:r>
          </a:p>
          <a:p>
            <a:r>
              <a:rPr lang="en-US" dirty="0"/>
              <a:t>Now, all we have to do is ensure the </a:t>
            </a:r>
            <a:r>
              <a:rPr lang="en-US" dirty="0">
                <a:latin typeface="Consolas" panose="020B0609020204030204" pitchFamily="49" charset="0"/>
              </a:rPr>
              <a:t>Shape</a:t>
            </a:r>
            <a:r>
              <a:rPr lang="en-US" dirty="0"/>
              <a:t> objects “accept” a </a:t>
            </a:r>
            <a:r>
              <a:rPr lang="en-US" dirty="0">
                <a:latin typeface="Consolas" panose="020B0609020204030204" pitchFamily="49" charset="0"/>
              </a:rPr>
              <a:t>Visitor</a:t>
            </a:r>
            <a:r>
              <a:rPr lang="en-US" dirty="0"/>
              <a:t> object</a:t>
            </a:r>
          </a:p>
          <a:p>
            <a:endParaRPr lang="en-US" dirty="0"/>
          </a:p>
          <a:p>
            <a:pPr marL="0" indent="0">
              <a:buNone/>
            </a:pP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fontScale="92500" lnSpcReduction="10000"/>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pPr lvl="1"/>
            <a:r>
              <a:rPr lang="en-US" dirty="0"/>
              <a:t>Just invokes </a:t>
            </a:r>
            <a:r>
              <a:rPr lang="en-US" dirty="0">
                <a:latin typeface="Consolas" panose="020B0609020204030204" pitchFamily="49" charset="0"/>
              </a:rPr>
              <a:t>visit</a:t>
            </a:r>
            <a:r>
              <a:rPr lang="en-US" dirty="0"/>
              <a:t> on the Visitor</a:t>
            </a:r>
          </a:p>
          <a:p>
            <a:r>
              <a:rPr lang="en-US" dirty="0"/>
              <a:t>The </a:t>
            </a:r>
            <a:r>
              <a:rPr lang="en-US" dirty="0">
                <a:latin typeface="Consolas" panose="020B0609020204030204" pitchFamily="49" charset="0"/>
              </a:rPr>
              <a:t>accept</a:t>
            </a:r>
            <a:r>
              <a:rPr lang="en-US" dirty="0"/>
              <a:t> method invokes the visitor on the shape object</a:t>
            </a:r>
          </a:p>
          <a:p>
            <a:r>
              <a:rPr lang="en-US" dirty="0"/>
              <a:t>Note: it accepts an abstract </a:t>
            </a:r>
            <a:r>
              <a:rPr lang="en-US" dirty="0">
                <a:latin typeface="Consolas" panose="020B0609020204030204" pitchFamily="49" charset="0"/>
              </a:rPr>
              <a:t>Visitor</a:t>
            </a:r>
            <a:r>
              <a:rPr lang="en-US" dirty="0"/>
              <a:t> type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4F9CCCC-B0C8-5F3C-0D38-43979E03F48A}"/>
              </a:ext>
            </a:extLst>
          </p:cNvPr>
          <p:cNvSpPr>
            <a:spLocks noGrp="1"/>
          </p:cNvSpPr>
          <p:nvPr>
            <p:ph idx="1"/>
          </p:nvPr>
        </p:nvSpPr>
        <p:spPr/>
        <p:txBody>
          <a:bodyPr>
            <a:normAutofit/>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p:txBody>
      </p:sp>
      <p:sp>
        <p:nvSpPr>
          <p:cNvPr id="5" name="Title 4">
            <a:extLst>
              <a:ext uri="{FF2B5EF4-FFF2-40B4-BE49-F238E27FC236}">
                <a16:creationId xmlns:a16="http://schemas.microsoft.com/office/drawing/2014/main" id="{F509E971-9715-6F98-7EA0-B82F694EE417}"/>
              </a:ext>
            </a:extLst>
          </p:cNvPr>
          <p:cNvSpPr>
            <a:spLocks noGrp="1"/>
          </p:cNvSpPr>
          <p:nvPr>
            <p:ph type="title"/>
          </p:nvPr>
        </p:nvSpPr>
        <p:spPr/>
        <p:txBody>
          <a:bodyPr/>
          <a:lstStyle/>
          <a:p>
            <a:r>
              <a:rPr lang="en-US" dirty="0"/>
              <a:t>Visitor design pattern – putting it all together</a:t>
            </a:r>
          </a:p>
        </p:txBody>
      </p:sp>
      <p:sp>
        <p:nvSpPr>
          <p:cNvPr id="7" name="Content Placeholder 6">
            <a:extLst>
              <a:ext uri="{FF2B5EF4-FFF2-40B4-BE49-F238E27FC236}">
                <a16:creationId xmlns:a16="http://schemas.microsoft.com/office/drawing/2014/main" id="{209F2420-A4E4-7E64-B021-1EB356D2BB24}"/>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8" name="TextBox 7">
            <a:extLst>
              <a:ext uri="{FF2B5EF4-FFF2-40B4-BE49-F238E27FC236}">
                <a16:creationId xmlns:a16="http://schemas.microsoft.com/office/drawing/2014/main" id="{60800C92-B66D-6DAD-1C90-89C6C8A5243A}"/>
              </a:ext>
            </a:extLst>
          </p:cNvPr>
          <p:cNvSpPr txBox="1"/>
          <p:nvPr/>
        </p:nvSpPr>
        <p:spPr>
          <a:xfrm>
            <a:off x="894768" y="2908120"/>
            <a:ext cx="5201232" cy="400110"/>
          </a:xfrm>
          <a:prstGeom prst="rect">
            <a:avLst/>
          </a:prstGeom>
          <a:noFill/>
        </p:spPr>
        <p:txBody>
          <a:bodyPr wrap="square" rtlCol="0">
            <a:spAutoFit/>
          </a:bodyPr>
          <a:lstStyle/>
          <a:p>
            <a:r>
              <a:rPr lang="en-US" sz="2000" b="1" i="1" u="sng" dirty="0"/>
              <a:t>Visitors encapsulate the operation logic</a:t>
            </a:r>
          </a:p>
        </p:txBody>
      </p:sp>
      <p:sp>
        <p:nvSpPr>
          <p:cNvPr id="9" name="TextBox 8">
            <a:extLst>
              <a:ext uri="{FF2B5EF4-FFF2-40B4-BE49-F238E27FC236}">
                <a16:creationId xmlns:a16="http://schemas.microsoft.com/office/drawing/2014/main" id="{5F4A4D6B-8C6B-7423-4516-20BCFF84DA6A}"/>
              </a:ext>
            </a:extLst>
          </p:cNvPr>
          <p:cNvSpPr txBox="1"/>
          <p:nvPr/>
        </p:nvSpPr>
        <p:spPr>
          <a:xfrm>
            <a:off x="6392602" y="4663542"/>
            <a:ext cx="5201232" cy="707886"/>
          </a:xfrm>
          <a:prstGeom prst="rect">
            <a:avLst/>
          </a:prstGeom>
          <a:noFill/>
        </p:spPr>
        <p:txBody>
          <a:bodyPr wrap="square" rtlCol="0">
            <a:spAutoFit/>
          </a:bodyPr>
          <a:lstStyle/>
          <a:p>
            <a:r>
              <a:rPr lang="en-US" sz="2000" b="1" i="1" u="sng" dirty="0"/>
              <a:t>Shapes provide an accept method to accept a visitor and invoke it</a:t>
            </a:r>
          </a:p>
        </p:txBody>
      </p:sp>
    </p:spTree>
    <p:extLst>
      <p:ext uri="{BB962C8B-B14F-4D97-AF65-F5344CB8AC3E}">
        <p14:creationId xmlns:p14="http://schemas.microsoft.com/office/powerpoint/2010/main" val="1866438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E1247-DFFA-4A9D-8C3C-3A5E26945546}"/>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BEE49D9-96D8-ED49-3C17-9C44B279E0DE}"/>
              </a:ext>
            </a:extLst>
          </p:cNvPr>
          <p:cNvSpPr>
            <a:spLocks noGrp="1"/>
          </p:cNvSpPr>
          <p:nvPr>
            <p:ph idx="1"/>
          </p:nvPr>
        </p:nvSpPr>
        <p:spPr/>
        <p:txBody>
          <a:bodyPr>
            <a:normAutofit fontScale="92500" lnSpcReduction="10000"/>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br>
              <a:rPr lang="en-US" sz="1400" dirty="0"/>
            </a:br>
            <a:br>
              <a:rPr lang="en-US" sz="1400" dirty="0"/>
            </a:br>
            <a:r>
              <a:rPr lang="en-US" sz="1400" dirty="0"/>
              <a:t>main() {</a:t>
            </a:r>
            <a:br>
              <a:rPr lang="en-US" sz="1400" dirty="0"/>
            </a:br>
            <a:r>
              <a:rPr lang="en-US" sz="1400" dirty="0"/>
              <a:t>	Rectangle </a:t>
            </a:r>
            <a:r>
              <a:rPr lang="en-US" sz="1400" dirty="0" err="1"/>
              <a:t>rect</a:t>
            </a:r>
            <a:r>
              <a:rPr lang="en-US" sz="1400" dirty="0"/>
              <a:t> = new …; </a:t>
            </a:r>
          </a:p>
          <a:p>
            <a:r>
              <a:rPr lang="en-US" sz="1400" dirty="0"/>
              <a:t>	Triangle </a:t>
            </a:r>
            <a:r>
              <a:rPr lang="en-US" sz="1400" dirty="0" err="1"/>
              <a:t>tria</a:t>
            </a:r>
            <a:r>
              <a:rPr lang="en-US" sz="1400" dirty="0"/>
              <a:t> = new …;</a:t>
            </a:r>
          </a:p>
          <a:p>
            <a:r>
              <a:rPr lang="en-US" sz="1400" dirty="0"/>
              <a:t>	</a:t>
            </a:r>
            <a:r>
              <a:rPr lang="en-US" sz="1400" dirty="0" err="1"/>
              <a:t>CompoundShape</a:t>
            </a:r>
            <a:r>
              <a:rPr lang="en-US" sz="1400" dirty="0"/>
              <a:t> </a:t>
            </a:r>
            <a:r>
              <a:rPr lang="en-US" sz="1400" dirty="0" err="1"/>
              <a:t>cShape</a:t>
            </a:r>
            <a:r>
              <a:rPr lang="en-US" sz="1400" dirty="0"/>
              <a:t> = new ...;</a:t>
            </a:r>
          </a:p>
          <a:p>
            <a:r>
              <a:rPr lang="en-US" sz="1400" dirty="0"/>
              <a:t>	</a:t>
            </a:r>
            <a:r>
              <a:rPr lang="en-US" sz="1400" dirty="0" err="1"/>
              <a:t>cShape.setShapeList</a:t>
            </a:r>
            <a:r>
              <a:rPr lang="en-US" sz="1400" dirty="0"/>
              <a:t>(new </a:t>
            </a:r>
            <a:r>
              <a:rPr lang="en-US" sz="1400" dirty="0" err="1"/>
              <a:t>ArrayList</a:t>
            </a:r>
            <a:r>
              <a:rPr lang="en-US" sz="1400" dirty="0"/>
              <a:t>(</a:t>
            </a:r>
            <a:r>
              <a:rPr lang="en-US" sz="1400" dirty="0" err="1"/>
              <a:t>rect</a:t>
            </a:r>
            <a:r>
              <a:rPr lang="en-US" sz="1400" dirty="0"/>
              <a:t>, </a:t>
            </a:r>
            <a:r>
              <a:rPr lang="en-US" sz="1400" dirty="0" err="1"/>
              <a:t>tria</a:t>
            </a:r>
            <a:r>
              <a:rPr lang="en-US" sz="1400" dirty="0"/>
              <a:t>));</a:t>
            </a:r>
          </a:p>
          <a:p>
            <a:r>
              <a:rPr lang="en-US" sz="1400" dirty="0"/>
              <a:t>	Visitor </a:t>
            </a:r>
            <a:r>
              <a:rPr lang="en-US" sz="1400" dirty="0" err="1"/>
              <a:t>translationVisitor</a:t>
            </a:r>
            <a:r>
              <a:rPr lang="en-US" sz="1400" dirty="0"/>
              <a:t> = new </a:t>
            </a:r>
            <a:r>
              <a:rPr lang="en-US" sz="1400" dirty="0" err="1"/>
              <a:t>TranslationVisitor</a:t>
            </a:r>
            <a:r>
              <a:rPr lang="en-US" sz="1400" dirty="0"/>
              <a:t>();</a:t>
            </a:r>
          </a:p>
          <a:p>
            <a:r>
              <a:rPr lang="en-US" sz="1400" dirty="0"/>
              <a:t>	</a:t>
            </a:r>
            <a:r>
              <a:rPr lang="en-US" sz="1400" dirty="0" err="1"/>
              <a:t>translationVisitor.visit</a:t>
            </a:r>
            <a:r>
              <a:rPr lang="en-US" sz="1400" dirty="0"/>
              <a:t>(</a:t>
            </a:r>
            <a:r>
              <a:rPr lang="en-US" sz="1400" dirty="0" err="1"/>
              <a:t>cShape</a:t>
            </a:r>
            <a:r>
              <a:rPr lang="en-US" sz="1400" dirty="0"/>
              <a:t>);</a:t>
            </a:r>
            <a:br>
              <a:rPr lang="en-US" sz="1400" dirty="0"/>
            </a:br>
            <a:r>
              <a:rPr lang="en-US" sz="1400" dirty="0"/>
              <a:t>}</a:t>
            </a:r>
          </a:p>
          <a:p>
            <a:endParaRPr lang="en-US" sz="1400" dirty="0"/>
          </a:p>
        </p:txBody>
      </p:sp>
      <p:sp>
        <p:nvSpPr>
          <p:cNvPr id="5" name="Title 4">
            <a:extLst>
              <a:ext uri="{FF2B5EF4-FFF2-40B4-BE49-F238E27FC236}">
                <a16:creationId xmlns:a16="http://schemas.microsoft.com/office/drawing/2014/main" id="{E3084EA2-A2CF-8F2F-C89C-1BE9078B05F0}"/>
              </a:ext>
            </a:extLst>
          </p:cNvPr>
          <p:cNvSpPr>
            <a:spLocks noGrp="1"/>
          </p:cNvSpPr>
          <p:nvPr>
            <p:ph type="title"/>
          </p:nvPr>
        </p:nvSpPr>
        <p:spPr/>
        <p:txBody>
          <a:bodyPr/>
          <a:lstStyle/>
          <a:p>
            <a:r>
              <a:rPr lang="en-US" dirty="0"/>
              <a:t>Visitor design pattern – putting it all together</a:t>
            </a:r>
          </a:p>
        </p:txBody>
      </p:sp>
      <p:sp>
        <p:nvSpPr>
          <p:cNvPr id="7" name="Content Placeholder 6">
            <a:extLst>
              <a:ext uri="{FF2B5EF4-FFF2-40B4-BE49-F238E27FC236}">
                <a16:creationId xmlns:a16="http://schemas.microsoft.com/office/drawing/2014/main" id="{C8D59AAA-842B-DB97-D096-DDBED2FF5285}"/>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2" name="Rectangle 1">
            <a:extLst>
              <a:ext uri="{FF2B5EF4-FFF2-40B4-BE49-F238E27FC236}">
                <a16:creationId xmlns:a16="http://schemas.microsoft.com/office/drawing/2014/main" id="{4F46E00F-8DA6-08F7-35FA-1CBB56EE0039}"/>
              </a:ext>
            </a:extLst>
          </p:cNvPr>
          <p:cNvSpPr/>
          <p:nvPr/>
        </p:nvSpPr>
        <p:spPr>
          <a:xfrm>
            <a:off x="6015487" y="3943014"/>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12343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302122865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3AE43A5-73C4-3E15-4398-306518F3B640}"/>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9CEB8FD2-A1D0-3717-3180-E9FEA362F79E}"/>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59184111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B508507-DA4C-C568-35A4-875897FBF17B}"/>
              </a:ext>
            </a:extLst>
          </p:cNvPr>
          <p:cNvSpPr>
            <a:spLocks noGrp="1"/>
          </p:cNvSpPr>
          <p:nvPr>
            <p:ph idx="1"/>
          </p:nvPr>
        </p:nvSpPr>
        <p:spPr/>
        <p:txBody>
          <a:bodyPr>
            <a:normAutofit/>
          </a:bodyPr>
          <a:lstStyle/>
          <a:p>
            <a:r>
              <a:rPr lang="en-US" dirty="0"/>
              <a:t>Covered a broad breadth of topics</a:t>
            </a:r>
          </a:p>
          <a:p>
            <a:pPr lvl="1"/>
            <a:r>
              <a:rPr lang="en-US" dirty="0"/>
              <a:t>Annotations, reflection, dynamic proxies</a:t>
            </a:r>
          </a:p>
          <a:p>
            <a:pPr lvl="1"/>
            <a:r>
              <a:rPr lang="en-US" dirty="0"/>
              <a:t>Microservices</a:t>
            </a:r>
          </a:p>
          <a:p>
            <a:pPr lvl="1"/>
            <a:r>
              <a:rPr lang="en-US" dirty="0"/>
              <a:t>Software security</a:t>
            </a:r>
          </a:p>
          <a:p>
            <a:pPr lvl="1"/>
            <a:r>
              <a:rPr lang="en-US" dirty="0"/>
              <a:t>Fuzz testing</a:t>
            </a:r>
          </a:p>
          <a:p>
            <a:pPr lvl="1"/>
            <a:r>
              <a:rPr lang="en-US" dirty="0"/>
              <a:t>Design patterns</a:t>
            </a:r>
          </a:p>
          <a:p>
            <a:r>
              <a:rPr lang="en-US" dirty="0"/>
              <a:t>Homework covered framework design and fuzzing</a:t>
            </a:r>
          </a:p>
        </p:txBody>
      </p:sp>
      <p:sp>
        <p:nvSpPr>
          <p:cNvPr id="4" name="Title 3">
            <a:extLst>
              <a:ext uri="{FF2B5EF4-FFF2-40B4-BE49-F238E27FC236}">
                <a16:creationId xmlns:a16="http://schemas.microsoft.com/office/drawing/2014/main" id="{CBF92B6E-1B03-6B41-1B8C-75BA2537DE4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3758594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61F462E-10EE-B713-F5F1-72EAC14B656A}"/>
              </a:ext>
            </a:extLst>
          </p:cNvPr>
          <p:cNvSpPr txBox="1"/>
          <p:nvPr/>
        </p:nvSpPr>
        <p:spPr>
          <a:xfrm>
            <a:off x="297223" y="2799644"/>
            <a:ext cx="11512703" cy="923330"/>
          </a:xfrm>
          <a:prstGeom prst="rect">
            <a:avLst/>
          </a:prstGeom>
          <a:noFill/>
        </p:spPr>
        <p:txBody>
          <a:bodyPr wrap="none" rtlCol="0">
            <a:spAutoFit/>
          </a:bodyPr>
          <a:lstStyle/>
          <a:p>
            <a:r>
              <a:rPr lang="en-US" sz="5400" b="1" dirty="0"/>
              <a:t>Thank you and all the best for the final!</a:t>
            </a:r>
          </a:p>
        </p:txBody>
      </p:sp>
    </p:spTree>
    <p:extLst>
      <p:ext uri="{BB962C8B-B14F-4D97-AF65-F5344CB8AC3E}">
        <p14:creationId xmlns:p14="http://schemas.microsoft.com/office/powerpoint/2010/main" val="205004903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87887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8367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807993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14609</TotalTime>
  <Words>11786</Words>
  <Application>Microsoft Office PowerPoint</Application>
  <PresentationFormat>Widescreen</PresentationFormat>
  <Paragraphs>2075</Paragraphs>
  <Slides>152</Slides>
  <Notes>71</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152</vt:i4>
      </vt:variant>
    </vt:vector>
  </HeadingPairs>
  <TitlesOfParts>
    <vt:vector size="158"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Announcements</vt:lpstr>
      <vt:lpstr>Agenda</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Sample design pattern question</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Announcements</vt:lpstr>
      <vt:lpstr>Design pattern classification</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 – putting it all together</vt:lpstr>
      <vt:lpstr>Visitor design pattern – putting it all together</vt:lpstr>
      <vt:lpstr>Visitor design pattern</vt:lpstr>
      <vt:lpstr>High-level case study – compiler code generation</vt:lpstr>
      <vt:lpstr>ASTVisitor</vt:lpstr>
      <vt:lpstr>ASTVisitor</vt:lpstr>
      <vt:lpstr>Summary</vt:lpstr>
      <vt:lpstr>PowerPoint Presentation</vt:lpstr>
      <vt:lpstr>Sample design pattern question</vt:lpstr>
      <vt:lpstr>PowerPoint Presentation</vt:lpstr>
      <vt:lpstr>Question 3</vt:lpstr>
      <vt:lpstr>Summary</vt:lpstr>
      <vt:lpstr>PowerPoint Presentation</vt:lpstr>
      <vt:lpstr>With visitor design pattern</vt:lpstr>
      <vt:lpstr>With visitor design pattern</vt:lpstr>
      <vt:lpstr>With visitor design pattern</vt:lpstr>
      <vt:lpstr>Visitor design pattern</vt:lpstr>
      <vt:lpstr>Visitor design pattern</vt:lpstr>
      <vt:lpstr>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1602</cp:revision>
  <dcterms:created xsi:type="dcterms:W3CDTF">2019-06-30T03:25:06Z</dcterms:created>
  <dcterms:modified xsi:type="dcterms:W3CDTF">2025-12-03T06:30:53Z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