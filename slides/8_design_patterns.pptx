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45"/>
  </p:notesMasterIdLst>
  <p:handoutMasterIdLst>
    <p:handoutMasterId r:id="rId146"/>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1220" r:id="rId42"/>
    <p:sldId id="1221" r:id="rId43"/>
    <p:sldId id="1222" r:id="rId44"/>
    <p:sldId id="1219" r:id="rId45"/>
    <p:sldId id="1224" r:id="rId46"/>
    <p:sldId id="1225" r:id="rId47"/>
    <p:sldId id="1223" r:id="rId48"/>
    <p:sldId id="342" r:id="rId49"/>
    <p:sldId id="284" r:id="rId50"/>
    <p:sldId id="285" r:id="rId51"/>
    <p:sldId id="347" r:id="rId52"/>
    <p:sldId id="1217" r:id="rId53"/>
    <p:sldId id="348" r:id="rId54"/>
    <p:sldId id="349" r:id="rId55"/>
    <p:sldId id="283" r:id="rId56"/>
    <p:sldId id="286" r:id="rId57"/>
    <p:sldId id="358" r:id="rId58"/>
    <p:sldId id="279" r:id="rId59"/>
    <p:sldId id="280" r:id="rId60"/>
    <p:sldId id="281" r:id="rId61"/>
    <p:sldId id="282" r:id="rId62"/>
    <p:sldId id="361" r:id="rId63"/>
    <p:sldId id="278" r:id="rId64"/>
    <p:sldId id="288" r:id="rId65"/>
    <p:sldId id="370" r:id="rId66"/>
    <p:sldId id="371" r:id="rId67"/>
    <p:sldId id="372" r:id="rId68"/>
    <p:sldId id="374" r:id="rId69"/>
    <p:sldId id="375" r:id="rId70"/>
    <p:sldId id="377" r:id="rId71"/>
    <p:sldId id="1226" r:id="rId72"/>
    <p:sldId id="1227" r:id="rId73"/>
    <p:sldId id="343" r:id="rId74"/>
    <p:sldId id="289" r:id="rId75"/>
    <p:sldId id="351" r:id="rId76"/>
    <p:sldId id="291" r:id="rId77"/>
    <p:sldId id="1218" r:id="rId78"/>
    <p:sldId id="292" r:id="rId79"/>
    <p:sldId id="293" r:id="rId80"/>
    <p:sldId id="294" r:id="rId81"/>
    <p:sldId id="355" r:id="rId82"/>
    <p:sldId id="368" r:id="rId83"/>
    <p:sldId id="350" r:id="rId84"/>
    <p:sldId id="352" r:id="rId85"/>
    <p:sldId id="353" r:id="rId86"/>
    <p:sldId id="354" r:id="rId87"/>
    <p:sldId id="295" r:id="rId88"/>
    <p:sldId id="376" r:id="rId89"/>
    <p:sldId id="378" r:id="rId90"/>
    <p:sldId id="379" r:id="rId91"/>
    <p:sldId id="380" r:id="rId92"/>
    <p:sldId id="381" r:id="rId93"/>
    <p:sldId id="382" r:id="rId94"/>
    <p:sldId id="385" r:id="rId95"/>
    <p:sldId id="296" r:id="rId96"/>
    <p:sldId id="364" r:id="rId97"/>
    <p:sldId id="298" r:id="rId98"/>
    <p:sldId id="297" r:id="rId99"/>
    <p:sldId id="383" r:id="rId100"/>
    <p:sldId id="299" r:id="rId101"/>
    <p:sldId id="300" r:id="rId102"/>
    <p:sldId id="301" r:id="rId103"/>
    <p:sldId id="302" r:id="rId104"/>
    <p:sldId id="365" r:id="rId105"/>
    <p:sldId id="367" r:id="rId106"/>
    <p:sldId id="305" r:id="rId107"/>
    <p:sldId id="306" r:id="rId108"/>
    <p:sldId id="307" r:id="rId109"/>
    <p:sldId id="308" r:id="rId110"/>
    <p:sldId id="303" r:id="rId111"/>
    <p:sldId id="309" r:id="rId112"/>
    <p:sldId id="366" r:id="rId113"/>
    <p:sldId id="311" r:id="rId114"/>
    <p:sldId id="312" r:id="rId115"/>
    <p:sldId id="313" r:id="rId116"/>
    <p:sldId id="310" r:id="rId117"/>
    <p:sldId id="314" r:id="rId118"/>
    <p:sldId id="1228" r:id="rId119"/>
    <p:sldId id="1229" r:id="rId120"/>
    <p:sldId id="384" r:id="rId121"/>
    <p:sldId id="386" r:id="rId122"/>
    <p:sldId id="387" r:id="rId123"/>
    <p:sldId id="388" r:id="rId124"/>
    <p:sldId id="389" r:id="rId125"/>
    <p:sldId id="390" r:id="rId126"/>
    <p:sldId id="391" r:id="rId127"/>
    <p:sldId id="392" r:id="rId128"/>
    <p:sldId id="393" r:id="rId129"/>
    <p:sldId id="394" r:id="rId130"/>
    <p:sldId id="395" r:id="rId131"/>
    <p:sldId id="399" r:id="rId132"/>
    <p:sldId id="396" r:id="rId133"/>
    <p:sldId id="315" r:id="rId134"/>
    <p:sldId id="397" r:id="rId135"/>
    <p:sldId id="398" r:id="rId136"/>
    <p:sldId id="400" r:id="rId137"/>
    <p:sldId id="1211" r:id="rId138"/>
    <p:sldId id="1212" r:id="rId139"/>
    <p:sldId id="1213" r:id="rId140"/>
    <p:sldId id="1214" r:id="rId141"/>
    <p:sldId id="319" r:id="rId142"/>
    <p:sldId id="321" r:id="rId143"/>
    <p:sldId id="323" r:id="rId144"/>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77378" autoAdjust="0"/>
  </p:normalViewPr>
  <p:slideViewPr>
    <p:cSldViewPr snapToGrid="0">
      <p:cViewPr varScale="1">
        <p:scale>
          <a:sx n="119" d="100"/>
          <a:sy n="119" d="100"/>
        </p:scale>
        <p:origin x="4356" y="114"/>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theme" Target="theme/theme1.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tableStyles" Target="tableStyle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microsoft.com/office/2016/11/relationships/changesInfo" Target="changesInfos/changesInfo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microsoft.com/office/2018/10/relationships/authors" Target="author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12/1/2025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A7259-A459-CCEE-EC35-90F92C7485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5B4CD2-931A-8B21-B345-F6121BD8B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E8B16-317E-AC47-38E3-EB0560F0917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14309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843789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321138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December 1,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Monday, December 1,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CD7228-F96E-3B29-3AD0-46815D02264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65F51ED-8528-7B10-84BF-BA7E1900AEF1}"/>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31204172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0FFA9DB-D120-76AD-D05D-0B75487B0C3E}"/>
              </a:ext>
            </a:extLst>
          </p:cNvPr>
          <p:cNvSpPr>
            <a:spLocks noGrp="1"/>
          </p:cNvSpPr>
          <p:nvPr>
            <p:ph idx="1"/>
          </p:nvPr>
        </p:nvSpPr>
        <p:spPr/>
        <p:txBody>
          <a:bodyPr/>
          <a:lstStyle/>
          <a:p>
            <a:r>
              <a:rPr lang="en-US" dirty="0"/>
              <a:t>Late day count pauses tonight at 11:59 PM and resumes on 12/1 at 12:00 AM</a:t>
            </a:r>
          </a:p>
        </p:txBody>
      </p:sp>
      <p:sp>
        <p:nvSpPr>
          <p:cNvPr id="4" name="Title 3">
            <a:extLst>
              <a:ext uri="{FF2B5EF4-FFF2-40B4-BE49-F238E27FC236}">
                <a16:creationId xmlns:a16="http://schemas.microsoft.com/office/drawing/2014/main" id="{A2778FD1-A4F5-0B04-DFDA-B51847FB0CF5}"/>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31578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4C20D4-74A4-6080-30B7-A67DAAFCBBBD}"/>
              </a:ext>
            </a:extLst>
          </p:cNvPr>
          <p:cNvSpPr>
            <a:spLocks noGrp="1"/>
          </p:cNvSpPr>
          <p:nvPr>
            <p:ph idx="1"/>
          </p:nvPr>
        </p:nvSpPr>
        <p:spPr/>
        <p:txBody>
          <a:bodyPr/>
          <a:lstStyle/>
          <a:p>
            <a:r>
              <a:rPr lang="en-US" dirty="0"/>
              <a:t>Sample questions</a:t>
            </a:r>
          </a:p>
          <a:p>
            <a:r>
              <a:rPr lang="en-US" dirty="0"/>
              <a:t>Composite pattern</a:t>
            </a:r>
          </a:p>
          <a:p>
            <a:r>
              <a:rPr lang="en-US" dirty="0"/>
              <a:t>Bridge pattern</a:t>
            </a:r>
          </a:p>
          <a:p>
            <a:r>
              <a:rPr lang="en-US" dirty="0"/>
              <a:t>Façade pattern</a:t>
            </a:r>
          </a:p>
          <a:p>
            <a:r>
              <a:rPr lang="en-US" dirty="0"/>
              <a:t>Decorator pattern</a:t>
            </a:r>
          </a:p>
        </p:txBody>
      </p:sp>
      <p:sp>
        <p:nvSpPr>
          <p:cNvPr id="4" name="Title 3">
            <a:extLst>
              <a:ext uri="{FF2B5EF4-FFF2-40B4-BE49-F238E27FC236}">
                <a16:creationId xmlns:a16="http://schemas.microsoft.com/office/drawing/2014/main" id="{2794FD43-6F40-29BF-5BCF-F38D8BD109ED}"/>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538F96ED-FD4D-DBF9-63AB-4594813C43A6}"/>
              </a:ext>
            </a:extLst>
          </p:cNvPr>
          <p:cNvCxnSpPr/>
          <p:nvPr/>
        </p:nvCxnSpPr>
        <p:spPr>
          <a:xfrm>
            <a:off x="0" y="3681663"/>
            <a:ext cx="12192000" cy="0"/>
          </a:xfrm>
          <a:prstGeom prst="line">
            <a:avLst/>
          </a:prstGeom>
          <a:ln>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5274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lnSpcReduction="10000"/>
          </a:bodyPr>
          <a:lstStyle/>
          <a:p>
            <a:pPr>
              <a:spcBef>
                <a:spcPct val="50000"/>
              </a:spcBef>
            </a:pPr>
            <a:r>
              <a:rPr lang="en-US" altLang="en-US" dirty="0">
                <a:latin typeface="Helvetica" panose="020B0604020202020204" pitchFamily="34" charset="0"/>
                <a:cs typeface="Helvetica" panose="020B0604020202020204" pitchFamily="34" charset="0"/>
              </a:rPr>
              <a:t>Design patterns: singleton pattern, abstract factory pattern, adapter pattern, proxy pattern </a:t>
            </a:r>
          </a:p>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3133067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EF6EB27-19E3-5031-55DB-79E91D48F275}"/>
              </a:ext>
            </a:extLst>
          </p:cNvPr>
          <p:cNvSpPr>
            <a:spLocks noGrp="1"/>
          </p:cNvSpPr>
          <p:nvPr>
            <p:ph idx="1"/>
          </p:nvPr>
        </p:nvSpPr>
        <p:spPr/>
        <p:txBody>
          <a:bodyPr/>
          <a:lstStyle/>
          <a:p>
            <a:r>
              <a:rPr lang="en-US" dirty="0"/>
              <a:t>I have a </a:t>
            </a:r>
            <a:r>
              <a:rPr lang="en-US" dirty="0" err="1">
                <a:latin typeface="Consolas" panose="020B0609020204030204" pitchFamily="49" charset="0"/>
              </a:rPr>
              <a:t>GitHubRepo</a:t>
            </a:r>
            <a:r>
              <a:rPr lang="en-US" dirty="0"/>
              <a:t> class with fields for – </a:t>
            </a:r>
            <a:r>
              <a:rPr lang="en-US" dirty="0">
                <a:latin typeface="Consolas" panose="020B0609020204030204" pitchFamily="49" charset="0"/>
              </a:rPr>
              <a:t>author</a:t>
            </a:r>
            <a:r>
              <a:rPr lang="en-US" dirty="0"/>
              <a:t>, </a:t>
            </a:r>
            <a:r>
              <a:rPr lang="en-US" dirty="0" err="1">
                <a:latin typeface="Consolas" panose="020B0609020204030204" pitchFamily="49" charset="0"/>
              </a:rPr>
              <a:t>url</a:t>
            </a:r>
            <a:r>
              <a:rPr lang="en-US" dirty="0"/>
              <a:t>, </a:t>
            </a:r>
            <a:r>
              <a:rPr lang="en-US" dirty="0" err="1">
                <a:latin typeface="Consolas" panose="020B0609020204030204" pitchFamily="49" charset="0"/>
              </a:rPr>
              <a:t>creationDate</a:t>
            </a:r>
            <a:r>
              <a:rPr lang="en-US" dirty="0"/>
              <a:t>, and </a:t>
            </a:r>
            <a:r>
              <a:rPr lang="en-US" dirty="0" err="1">
                <a:latin typeface="Consolas" panose="020B0609020204030204" pitchFamily="49" charset="0"/>
              </a:rPr>
              <a:t>lastTenCommitList</a:t>
            </a:r>
            <a:r>
              <a:rPr lang="en-US" dirty="0"/>
              <a:t>. The </a:t>
            </a:r>
            <a:r>
              <a:rPr lang="en-US" dirty="0" err="1">
                <a:latin typeface="Consolas" panose="020B0609020204030204" pitchFamily="49" charset="0"/>
              </a:rPr>
              <a:t>lastTenCommitList</a:t>
            </a:r>
            <a:r>
              <a:rPr lang="en-US" dirty="0"/>
              <a:t> contains a list of the last ten commits – the code diffs, the file names – everything. </a:t>
            </a:r>
          </a:p>
          <a:p>
            <a:pPr lvl="1"/>
            <a:r>
              <a:rPr lang="en-US" dirty="0"/>
              <a:t>The details of the </a:t>
            </a:r>
            <a:r>
              <a:rPr lang="en-US" dirty="0" err="1"/>
              <a:t>GitHubRepo</a:t>
            </a:r>
            <a:r>
              <a:rPr lang="en-US" dirty="0"/>
              <a:t> class is fetched using API calls </a:t>
            </a:r>
          </a:p>
          <a:p>
            <a:pPr lvl="2"/>
            <a:r>
              <a:rPr lang="en-US" dirty="0">
                <a:latin typeface="Consolas" panose="020B0609020204030204" pitchFamily="49" charset="0"/>
              </a:rPr>
              <a:t>https://api.github.com/repo?name=&lt;repo_name&gt;</a:t>
            </a:r>
          </a:p>
          <a:p>
            <a:pPr lvl="2"/>
            <a:r>
              <a:rPr lang="en-US" dirty="0">
                <a:latin typeface="Consolas" panose="020B0609020204030204" pitchFamily="49" charset="0"/>
              </a:rPr>
              <a:t>https://api.github.com/repo_commits?name=&lt;repo_name&gt;&amp;limit=&lt;num_commits&gt;</a:t>
            </a:r>
          </a:p>
          <a:p>
            <a:pPr lvl="1"/>
            <a:r>
              <a:rPr lang="en-US" dirty="0"/>
              <a:t>I want the </a:t>
            </a:r>
            <a:r>
              <a:rPr lang="en-US" dirty="0" err="1">
                <a:latin typeface="Consolas" panose="020B0609020204030204" pitchFamily="49" charset="0"/>
              </a:rPr>
              <a:t>lastTenCommitList</a:t>
            </a:r>
            <a:r>
              <a:rPr lang="en-US" dirty="0"/>
              <a:t> field, which is a List object, to be lazy-loaded. Only when the user performs a call to </a:t>
            </a:r>
            <a:r>
              <a:rPr lang="en-US" dirty="0" err="1">
                <a:latin typeface="Consolas" panose="020B0609020204030204" pitchFamily="49" charset="0"/>
              </a:rPr>
              <a:t>getLastTenCommitlist</a:t>
            </a:r>
            <a:r>
              <a:rPr lang="en-US" dirty="0">
                <a:latin typeface="Consolas" panose="020B0609020204030204" pitchFamily="49" charset="0"/>
              </a:rPr>
              <a:t>()</a:t>
            </a:r>
            <a:r>
              <a:rPr lang="en-US" dirty="0"/>
              <a:t> should the commits be fetched. How should I design this?</a:t>
            </a:r>
          </a:p>
        </p:txBody>
      </p:sp>
      <p:sp>
        <p:nvSpPr>
          <p:cNvPr id="4" name="Title 3">
            <a:extLst>
              <a:ext uri="{FF2B5EF4-FFF2-40B4-BE49-F238E27FC236}">
                <a16:creationId xmlns:a16="http://schemas.microsoft.com/office/drawing/2014/main" id="{D4E6D1E7-D3EE-8D44-E451-0B464CA5BFC6}"/>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2540673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A0BD6-0B9E-07A2-A3DC-4C49CE7CF2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BBDFA3-5218-4FFC-13B4-7EF217A115D3}"/>
              </a:ext>
            </a:extLst>
          </p:cNvPr>
          <p:cNvSpPr>
            <a:spLocks noGrp="1"/>
          </p:cNvSpPr>
          <p:nvPr>
            <p:ph idx="1"/>
          </p:nvPr>
        </p:nvSpPr>
        <p:spPr/>
        <p:txBody>
          <a:bodyPr>
            <a:normAutofit fontScale="92500" lnSpcReduction="10000"/>
          </a:bodyPr>
          <a:lstStyle/>
          <a:p>
            <a:r>
              <a:rPr lang="en-US" dirty="0"/>
              <a:t>I want to design a framework that supports lazy loading from an API. The framework should support a class-level annotation </a:t>
            </a:r>
            <a:r>
              <a:rPr lang="en-US" dirty="0">
                <a:latin typeface="Consolas" panose="020B0609020204030204" pitchFamily="49" charset="0"/>
              </a:rPr>
              <a:t>@Remote</a:t>
            </a:r>
            <a:r>
              <a:rPr lang="en-US" dirty="0"/>
              <a:t> and a method-level annotation </a:t>
            </a:r>
            <a:r>
              <a:rPr lang="en-US" dirty="0">
                <a:latin typeface="Consolas" panose="020B0609020204030204" pitchFamily="49" charset="0"/>
              </a:rPr>
              <a:t>@RemoteField(url = “/</a:t>
            </a:r>
            <a:r>
              <a:rPr lang="en-US" dirty="0" err="1">
                <a:latin typeface="Consolas" panose="020B0609020204030204" pitchFamily="49" charset="0"/>
              </a:rPr>
              <a:t>api</a:t>
            </a:r>
            <a:r>
              <a:rPr lang="en-US" dirty="0">
                <a:latin typeface="Consolas" panose="020B0609020204030204" pitchFamily="49" charset="0"/>
              </a:rPr>
              <a:t>/endpoint”)</a:t>
            </a:r>
            <a:r>
              <a:rPr lang="en-US" dirty="0"/>
              <a:t>. When the getter of a field annotated with </a:t>
            </a:r>
            <a:r>
              <a:rPr lang="en-US" dirty="0">
                <a:latin typeface="Consolas" panose="020B0609020204030204" pitchFamily="49" charset="0"/>
              </a:rPr>
              <a:t>@RemoteField </a:t>
            </a:r>
            <a:r>
              <a:rPr lang="en-US" dirty="0"/>
              <a:t>is invoked, the </a:t>
            </a:r>
            <a:r>
              <a:rPr lang="en-US" dirty="0" err="1"/>
              <a:t>url</a:t>
            </a:r>
            <a:r>
              <a:rPr lang="en-US" dirty="0"/>
              <a:t> endpoint should be invoked, which would return a JSON array object. This JSON array object should be deserialized into a Java </a:t>
            </a:r>
            <a:r>
              <a:rPr lang="en-US" dirty="0">
                <a:latin typeface="Consolas" panose="020B0609020204030204" pitchFamily="49" charset="0"/>
              </a:rPr>
              <a:t>List</a:t>
            </a:r>
            <a:r>
              <a:rPr lang="en-US" dirty="0"/>
              <a:t> and stored to the field annotated with the </a:t>
            </a:r>
            <a:r>
              <a:rPr lang="en-US" dirty="0">
                <a:latin typeface="Consolas" panose="020B0609020204030204" pitchFamily="49" charset="0"/>
              </a:rPr>
              <a:t>@RemoteField</a:t>
            </a:r>
            <a:r>
              <a:rPr lang="en-US" dirty="0"/>
              <a:t> annotation. </a:t>
            </a:r>
          </a:p>
          <a:p>
            <a:r>
              <a:rPr lang="en-US" dirty="0"/>
              <a:t>How should I design this framework? Assume that fields annotated with </a:t>
            </a:r>
            <a:r>
              <a:rPr lang="en-US" dirty="0">
                <a:latin typeface="Consolas" panose="020B0609020204030204" pitchFamily="49" charset="0"/>
              </a:rPr>
              <a:t>@RemoteField </a:t>
            </a:r>
            <a:r>
              <a:rPr lang="en-US" dirty="0"/>
              <a:t>are only accessed by their getters and that a getter named </a:t>
            </a:r>
            <a:r>
              <a:rPr lang="en-US" dirty="0">
                <a:latin typeface="Consolas" panose="020B0609020204030204" pitchFamily="49" charset="0"/>
              </a:rPr>
              <a:t>get&lt;Field&gt;</a:t>
            </a:r>
            <a:r>
              <a:rPr lang="en-US" dirty="0"/>
              <a:t> is always present for that field. Also, assume that only fields of type </a:t>
            </a:r>
            <a:r>
              <a:rPr lang="en-US" dirty="0">
                <a:latin typeface="Consolas" panose="020B0609020204030204" pitchFamily="49" charset="0"/>
              </a:rPr>
              <a:t>List</a:t>
            </a:r>
            <a:r>
              <a:rPr lang="en-US" dirty="0"/>
              <a:t> are annotated with the </a:t>
            </a:r>
            <a:r>
              <a:rPr lang="en-US" dirty="0" err="1">
                <a:latin typeface="Consolas" panose="020B0609020204030204" pitchFamily="49" charset="0"/>
              </a:rPr>
              <a:t>RemoteField</a:t>
            </a:r>
            <a:r>
              <a:rPr lang="en-US" dirty="0"/>
              <a:t> annotation</a:t>
            </a:r>
          </a:p>
        </p:txBody>
      </p:sp>
      <p:sp>
        <p:nvSpPr>
          <p:cNvPr id="4" name="Title 3">
            <a:extLst>
              <a:ext uri="{FF2B5EF4-FFF2-40B4-BE49-F238E27FC236}">
                <a16:creationId xmlns:a16="http://schemas.microsoft.com/office/drawing/2014/main" id="{6E98A586-00B1-A299-1442-AB17088800D7}"/>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18794403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43838-EEFE-24AF-1D4F-7D1AB8C7A1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52CE6C9-1FCC-DD40-7EA4-ABAA1CC37E1C}"/>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6BB9B28-1E7D-1716-EAE5-3B1331A89B8A}"/>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1CB8DF37-E7B9-E74E-060F-ED59C9302429}"/>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a:t>
            </a:r>
            <a:r>
              <a:rPr lang="en-US" b="1" dirty="0"/>
              <a:t>Composite</a:t>
            </a:r>
            <a:r>
              <a:rPr lang="en-US" dirty="0"/>
              <a:t>, Bridge, Façade, Decorator</a:t>
            </a:r>
          </a:p>
        </p:txBody>
      </p:sp>
      <p:sp>
        <p:nvSpPr>
          <p:cNvPr id="6" name="Content Placeholder 4">
            <a:extLst>
              <a:ext uri="{FF2B5EF4-FFF2-40B4-BE49-F238E27FC236}">
                <a16:creationId xmlns:a16="http://schemas.microsoft.com/office/drawing/2014/main" id="{B705B6CE-61AF-8839-FE88-3A5FA6EED45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942D88DF-6AC3-625C-55FA-A2BD76DD8978}"/>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743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 leaf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type hierarchy</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986833" y="4445170"/>
            <a:ext cx="5267607" cy="928341"/>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696277"/>
            <a:ext cx="5619178" cy="5002711"/>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75073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2980267"/>
            <a:ext cx="5633412" cy="250613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411983" y="2518602"/>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826934"/>
            <a:ext cx="5429956" cy="14449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getString</a:t>
            </a:r>
            <a:r>
              <a:rPr lang="en-US" dirty="0"/>
              <a:t>() {</a:t>
            </a:r>
          </a:p>
          <a:p>
            <a:r>
              <a:rPr lang="en-US" dirty="0"/>
              <a:t>		</a:t>
            </a:r>
            <a:r>
              <a:rPr lang="en-US" dirty="0" err="1"/>
              <a:t>post.getString</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getString</a:t>
            </a:r>
            <a:r>
              <a:rPr lang="en-US" dirty="0"/>
              <a:t>() {</a:t>
            </a:r>
          </a:p>
          <a:p>
            <a:r>
              <a:rPr lang="en-US" dirty="0"/>
              <a:t>		</a:t>
            </a:r>
            <a:r>
              <a:rPr lang="en-US" dirty="0" err="1"/>
              <a:t>thread.getString</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getString</a:t>
            </a:r>
            <a:r>
              <a:rPr lang="en-US" dirty="0"/>
              <a:t> () { </a:t>
            </a:r>
            <a:r>
              <a:rPr lang="en-US" dirty="0" err="1"/>
              <a:t>content.getString</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
        <p:nvSpPr>
          <p:cNvPr id="6" name="Rectangle 5">
            <a:extLst>
              <a:ext uri="{FF2B5EF4-FFF2-40B4-BE49-F238E27FC236}">
                <a16:creationId xmlns:a16="http://schemas.microsoft.com/office/drawing/2014/main" id="{5C745F70-2044-DE3B-5541-7E44D630DBE0}"/>
              </a:ext>
            </a:extLst>
          </p:cNvPr>
          <p:cNvSpPr/>
          <p:nvPr/>
        </p:nvSpPr>
        <p:spPr>
          <a:xfrm>
            <a:off x="6095999" y="4378932"/>
            <a:ext cx="5633412" cy="145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23883DEA-7AC1-0B32-7FD2-F764B57C2E89}"/>
              </a:ext>
            </a:extLst>
          </p:cNvPr>
          <p:cNvSpPr txBox="1"/>
          <p:nvPr/>
        </p:nvSpPr>
        <p:spPr>
          <a:xfrm>
            <a:off x="9095071" y="3917266"/>
            <a:ext cx="2713692" cy="461665"/>
          </a:xfrm>
          <a:prstGeom prst="rect">
            <a:avLst/>
          </a:prstGeom>
          <a:noFill/>
        </p:spPr>
        <p:txBody>
          <a:bodyPr wrap="none" rtlCol="0">
            <a:spAutoFit/>
          </a:bodyPr>
          <a:lstStyle/>
          <a:p>
            <a:r>
              <a:rPr lang="en-US" sz="2400" b="1" i="1" dirty="0"/>
              <a:t>No 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5" grpId="0"/>
      <p:bldP spid="5" grpId="1"/>
      <p:bldP spid="6" grpId="0" animBg="1"/>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fontScale="925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Spaces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a:t>
            </a:r>
            <a:r>
              <a:rPr lang="en-US" u="sng" dirty="0"/>
              <a:t>Façade, </a:t>
            </a:r>
            <a:r>
              <a:rPr lang="en-US" dirty="0"/>
              <a:t>Decorator</a:t>
            </a:r>
            <a:endParaRPr lang="en-US" u="sng" dirty="0"/>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F31D4-943B-68B2-2C23-BAD8BBDB4C8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01F5768-3AED-0F33-CAC7-909DF379F895}"/>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29071844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11F9C-A8F7-E2E5-D6FA-7FDADD4051C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54FA7E-5DAB-726A-B488-7B76E3A550CA}"/>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ED9ED130-FC92-4348-CF88-D5D0089E91BF}"/>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71ABD2D-F459-BDC8-799B-6C9597B1DC71}"/>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Façade, </a:t>
            </a:r>
            <a:r>
              <a:rPr lang="en-US" b="1" dirty="0"/>
              <a:t>Decorator, Flyweight</a:t>
            </a:r>
          </a:p>
          <a:p>
            <a:pPr lvl="1"/>
            <a:endParaRPr lang="en-US" dirty="0"/>
          </a:p>
        </p:txBody>
      </p:sp>
      <p:sp>
        <p:nvSpPr>
          <p:cNvPr id="6" name="Content Placeholder 4">
            <a:extLst>
              <a:ext uri="{FF2B5EF4-FFF2-40B4-BE49-F238E27FC236}">
                <a16:creationId xmlns:a16="http://schemas.microsoft.com/office/drawing/2014/main" id="{BBFF2212-84AD-2E96-6970-5690E7E79396}"/>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35938677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70967072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94923430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096000" y="3328339"/>
            <a:ext cx="5633412" cy="9275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Combining adapter and decorator patters</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1" name="Group 20">
            <a:extLst>
              <a:ext uri="{FF2B5EF4-FFF2-40B4-BE49-F238E27FC236}">
                <a16:creationId xmlns:a16="http://schemas.microsoft.com/office/drawing/2014/main" id="{5A92B337-9A51-7DDA-4FB7-8479F434A6F0}"/>
              </a:ext>
            </a:extLst>
          </p:cNvPr>
          <p:cNvGrpSpPr/>
          <p:nvPr/>
        </p:nvGrpSpPr>
        <p:grpSpPr>
          <a:xfrm>
            <a:off x="7767898" y="1897006"/>
            <a:ext cx="2483228" cy="1135138"/>
            <a:chOff x="7097010" y="2039815"/>
            <a:chExt cx="3688834" cy="1593279"/>
          </a:xfrm>
        </p:grpSpPr>
        <p:sp>
          <p:nvSpPr>
            <p:cNvPr id="22" name="Rectangle 21">
              <a:extLst>
                <a:ext uri="{FF2B5EF4-FFF2-40B4-BE49-F238E27FC236}">
                  <a16:creationId xmlns:a16="http://schemas.microsoft.com/office/drawing/2014/main" id="{30E13742-BF18-4621-6278-0F0FB7A56D13}"/>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err="1">
                  <a:ln w="0"/>
                  <a:solidFill>
                    <a:schemeClr val="tx1"/>
                  </a:solidFill>
                  <a:effectLst>
                    <a:outerShdw blurRad="38100" dist="19050" dir="2700000" algn="tl" rotWithShape="0">
                      <a:schemeClr val="dk1">
                        <a:alpha val="40000"/>
                      </a:schemeClr>
                    </a:outerShdw>
                  </a:effectLst>
                </a:rPr>
                <a:t>StripeProcessor</a:t>
              </a:r>
              <a:r>
                <a:rPr lang="en-US" dirty="0">
                  <a:ln w="0"/>
                  <a:solidFill>
                    <a:schemeClr val="tx1"/>
                  </a:solidFill>
                  <a:effectLst>
                    <a:outerShdw blurRad="38100" dist="19050" dir="2700000" algn="tl" rotWithShape="0">
                      <a:schemeClr val="dk1">
                        <a:alpha val="40000"/>
                      </a:schemeClr>
                    </a:outerShdw>
                  </a:effectLst>
                </a:rPr>
                <a:t> object</a:t>
              </a:r>
              <a:endParaRPr lang="en-US" dirty="0"/>
            </a:p>
          </p:txBody>
        </p:sp>
        <p:sp>
          <p:nvSpPr>
            <p:cNvPr id="23" name="Rectangle 22">
              <a:extLst>
                <a:ext uri="{FF2B5EF4-FFF2-40B4-BE49-F238E27FC236}">
                  <a16:creationId xmlns:a16="http://schemas.microsoft.com/office/drawing/2014/main" id="{7F926F37-5E80-2E9B-41F3-6D84D4C98087}"/>
                </a:ext>
              </a:extLst>
            </p:cNvPr>
            <p:cNvSpPr/>
            <p:nvPr/>
          </p:nvSpPr>
          <p:spPr>
            <a:xfrm>
              <a:off x="7566738" y="3420205"/>
              <a:ext cx="662862" cy="20222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CD83F2D2-AD1A-94C5-4C95-75FE2AB4C13E}"/>
                </a:ext>
              </a:extLst>
            </p:cNvPr>
            <p:cNvSpPr txBox="1"/>
            <p:nvPr/>
          </p:nvSpPr>
          <p:spPr>
            <a:xfrm>
              <a:off x="8210738" y="3201098"/>
              <a:ext cx="2575106" cy="431996"/>
            </a:xfrm>
            <a:prstGeom prst="rect">
              <a:avLst/>
            </a:prstGeom>
            <a:noFill/>
          </p:spPr>
          <p:txBody>
            <a:bodyPr wrap="square" rtlCol="0">
              <a:spAutoFit/>
            </a:bodyPr>
            <a:lstStyle/>
            <a:p>
              <a:r>
                <a:rPr lang="en-US" sz="1400" dirty="0" err="1">
                  <a:latin typeface="Consolas" panose="020B0609020204030204" pitchFamily="49" charset="0"/>
                </a:rPr>
                <a:t>makePayment</a:t>
              </a:r>
              <a:r>
                <a:rPr lang="en-US" sz="1400" dirty="0"/>
                <a:t>()</a:t>
              </a:r>
            </a:p>
          </p:txBody>
        </p:sp>
      </p:grpSp>
      <p:cxnSp>
        <p:nvCxnSpPr>
          <p:cNvPr id="26" name="Straight Arrow Connector 25">
            <a:extLst>
              <a:ext uri="{FF2B5EF4-FFF2-40B4-BE49-F238E27FC236}">
                <a16:creationId xmlns:a16="http://schemas.microsoft.com/office/drawing/2014/main" id="{2C85EB03-115F-CAD0-1F4B-C6CCD35FA5CF}"/>
              </a:ext>
            </a:extLst>
          </p:cNvPr>
          <p:cNvCxnSpPr>
            <a:cxnSpLocks/>
            <a:stCxn id="57" idx="0"/>
            <a:endCxn id="23" idx="2"/>
          </p:cNvCxnSpPr>
          <p:nvPr/>
        </p:nvCxnSpPr>
        <p:spPr>
          <a:xfrm flipV="1">
            <a:off x="8305793" y="3024545"/>
            <a:ext cx="1425" cy="172923"/>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a:t>
            </a:r>
            <a:r>
              <a:rPr lang="en-US" b="1" dirty="0"/>
              <a:t>, a remote proxy will not contain a direct reference to its real subject but only an indirect reference</a:t>
            </a:r>
            <a:r>
              <a:rPr lang="en-US" dirty="0"/>
              <a:t>,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consists of two images of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88534" y="969301"/>
            <a:ext cx="5674613" cy="679744"/>
            <a:chOff x="6176512" y="1055272"/>
            <a:chExt cx="5674613" cy="679744"/>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5" y="1055272"/>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209134" y="476203"/>
            <a:ext cx="5761816" cy="1019795"/>
            <a:chOff x="6209134" y="951850"/>
            <a:chExt cx="5761816" cy="708029"/>
          </a:xfrm>
        </p:grpSpPr>
        <p:sp>
          <p:nvSpPr>
            <p:cNvPr id="11" name="Rectangle 10">
              <a:extLst>
                <a:ext uri="{FF2B5EF4-FFF2-40B4-BE49-F238E27FC236}">
                  <a16:creationId xmlns:a16="http://schemas.microsoft.com/office/drawing/2014/main" id="{31F3A1E3-22AA-94A9-C7EA-6F5C024EAE9E}"/>
                </a:ext>
              </a:extLst>
            </p:cNvPr>
            <p:cNvSpPr/>
            <p:nvPr/>
          </p:nvSpPr>
          <p:spPr>
            <a:xfrm>
              <a:off x="6209134" y="1355803"/>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165904" y="951850"/>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8A6CA-1CB8-C944-B9A4-BE232C1E37A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260E37-1D46-520A-BAC2-5D654F5A5BC8}"/>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B7E274BA-1C90-3039-0AC0-0EEA1F2D8517}"/>
              </a:ext>
            </a:extLst>
          </p:cNvPr>
          <p:cNvSpPr>
            <a:spLocks noGrp="1"/>
          </p:cNvSpPr>
          <p:nvPr>
            <p:ph type="title"/>
          </p:nvPr>
        </p:nvSpPr>
        <p:spPr/>
        <p:txBody>
          <a:bodyPr/>
          <a:lstStyle/>
          <a:p>
            <a:r>
              <a:rPr lang="en-US" dirty="0"/>
              <a:t>Sample design pattern question</a:t>
            </a:r>
          </a:p>
        </p:txBody>
      </p:sp>
    </p:spTree>
    <p:extLst>
      <p:ext uri="{BB962C8B-B14F-4D97-AF65-F5344CB8AC3E}">
        <p14:creationId xmlns:p14="http://schemas.microsoft.com/office/powerpoint/2010/main" val="144449804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C239DE-6777-AB94-F069-61E774C9A7E7}"/>
              </a:ext>
            </a:extLst>
          </p:cNvPr>
          <p:cNvSpPr>
            <a:spLocks noGrp="1"/>
          </p:cNvSpPr>
          <p:nvPr>
            <p:ph idx="1"/>
          </p:nvPr>
        </p:nvSpPr>
        <p:spPr>
          <a:xfrm>
            <a:off x="360607" y="785004"/>
            <a:ext cx="11449319" cy="5218981"/>
          </a:xfrm>
        </p:spPr>
        <p:txBody>
          <a:bodyPr>
            <a:normAutofit lnSpcReduction="10000"/>
          </a:bodyPr>
          <a:lstStyle/>
          <a:p>
            <a:r>
              <a:rPr lang="en-US" dirty="0"/>
              <a:t>You are designing an email system for your company. The email system automatically must insert the company header and footer images to each email that is being sent. The company header and footer images are 16 KB each. You expect the email system to store tens of thousands of emails. Moreover, some users can enable optional features such as spell-check annotations and keyword highlighting that stores additional metadata with the email and influences how the email is rendered on the email screen (spell-check feature highlights misspelled words in red, for example). You want future developers to be able to easily add new optional features as well. How would you design this system?</a:t>
            </a:r>
          </a:p>
        </p:txBody>
      </p:sp>
      <p:sp>
        <p:nvSpPr>
          <p:cNvPr id="4" name="Title 3">
            <a:extLst>
              <a:ext uri="{FF2B5EF4-FFF2-40B4-BE49-F238E27FC236}">
                <a16:creationId xmlns:a16="http://schemas.microsoft.com/office/drawing/2014/main" id="{805E4ED4-98AC-D27F-EC34-65DEB19C2AE9}"/>
              </a:ext>
            </a:extLst>
          </p:cNvPr>
          <p:cNvSpPr>
            <a:spLocks noGrp="1"/>
          </p:cNvSpPr>
          <p:nvPr>
            <p:ph type="title"/>
          </p:nvPr>
        </p:nvSpPr>
        <p:spPr>
          <a:xfrm>
            <a:off x="0" y="0"/>
            <a:ext cx="12192000" cy="696277"/>
          </a:xfrm>
        </p:spPr>
        <p:txBody>
          <a:bodyPr/>
          <a:lstStyle/>
          <a:p>
            <a:r>
              <a:rPr lang="en-US" dirty="0"/>
              <a:t>Sample design pattern question</a:t>
            </a:r>
          </a:p>
        </p:txBody>
      </p:sp>
    </p:spTree>
    <p:extLst>
      <p:ext uri="{BB962C8B-B14F-4D97-AF65-F5344CB8AC3E}">
        <p14:creationId xmlns:p14="http://schemas.microsoft.com/office/powerpoint/2010/main" val="32487307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14281</TotalTime>
  <Words>11482</Words>
  <Application>Microsoft Office PowerPoint</Application>
  <PresentationFormat>Widescreen</PresentationFormat>
  <Paragraphs>1977</Paragraphs>
  <Slides>143</Slides>
  <Notes>70</Notes>
  <HiddenSlides>6</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143</vt:i4>
      </vt:variant>
    </vt:vector>
  </HeadingPairs>
  <TitlesOfParts>
    <vt:vector size="149"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Sample question 1</vt:lpstr>
      <vt:lpstr>Sample question 2</vt:lpstr>
      <vt:lpstr>Sample question 2</vt:lpstr>
      <vt:lpstr>Design pattern classification</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Design pattern classification</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Combining adapter and decorator patters</vt:lpstr>
      <vt:lpstr>Isn’t this a proxy??</vt:lpstr>
      <vt:lpstr>Non-ideal alternate implementations: subclass?</vt:lpstr>
      <vt:lpstr>Problem 1: breaks SRP</vt:lpstr>
      <vt:lpstr>Problem 2: class explosion</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Sample design pattern question</vt:lpstr>
      <vt:lpstr>Sample design pattern question</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1537</cp:revision>
  <dcterms:created xsi:type="dcterms:W3CDTF">2019-06-30T03:25:06Z</dcterms:created>
  <dcterms:modified xsi:type="dcterms:W3CDTF">2025-12-01T16:27:37Z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