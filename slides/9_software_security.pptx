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63"/>
  </p:notesMasterIdLst>
  <p:handoutMasterIdLst>
    <p:handoutMasterId r:id="rId164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72" r:id="rId105"/>
    <p:sldId id="1265" r:id="rId106"/>
    <p:sldId id="1266" r:id="rId107"/>
    <p:sldId id="1267" r:id="rId108"/>
    <p:sldId id="1169" r:id="rId109"/>
    <p:sldId id="1170" r:id="rId110"/>
    <p:sldId id="1171" r:id="rId111"/>
    <p:sldId id="1261" r:id="rId112"/>
    <p:sldId id="1174" r:id="rId113"/>
    <p:sldId id="1268" r:id="rId114"/>
    <p:sldId id="1269" r:id="rId115"/>
    <p:sldId id="1186" r:id="rId116"/>
    <p:sldId id="1172" r:id="rId117"/>
    <p:sldId id="1175" r:id="rId118"/>
    <p:sldId id="1263" r:id="rId119"/>
    <p:sldId id="1178" r:id="rId120"/>
    <p:sldId id="1177" r:id="rId121"/>
    <p:sldId id="1270" r:id="rId122"/>
    <p:sldId id="1179" r:id="rId123"/>
    <p:sldId id="1180" r:id="rId124"/>
    <p:sldId id="1160" r:id="rId125"/>
    <p:sldId id="1181" r:id="rId126"/>
    <p:sldId id="1271" r:id="rId127"/>
    <p:sldId id="1194" r:id="rId128"/>
    <p:sldId id="1183" r:id="rId129"/>
    <p:sldId id="1184" r:id="rId130"/>
    <p:sldId id="1185" r:id="rId131"/>
    <p:sldId id="1205" r:id="rId132"/>
    <p:sldId id="1105" r:id="rId133"/>
    <p:sldId id="1187" r:id="rId134"/>
    <p:sldId id="1188" r:id="rId135"/>
    <p:sldId id="1110" r:id="rId136"/>
    <p:sldId id="1111" r:id="rId137"/>
    <p:sldId id="1190" r:id="rId138"/>
    <p:sldId id="1192" r:id="rId139"/>
    <p:sldId id="1189" r:id="rId140"/>
    <p:sldId id="1208" r:id="rId141"/>
    <p:sldId id="1209" r:id="rId142"/>
    <p:sldId id="1210" r:id="rId143"/>
    <p:sldId id="1191" r:id="rId144"/>
    <p:sldId id="1113" r:id="rId145"/>
    <p:sldId id="1193" r:id="rId146"/>
    <p:sldId id="1219" r:id="rId147"/>
    <p:sldId id="1114" r:id="rId148"/>
    <p:sldId id="1215" r:id="rId149"/>
    <p:sldId id="1216" r:id="rId150"/>
    <p:sldId id="1217" r:id="rId151"/>
    <p:sldId id="1218" r:id="rId152"/>
    <p:sldId id="258" r:id="rId153"/>
    <p:sldId id="1106" r:id="rId154"/>
    <p:sldId id="257" r:id="rId155"/>
    <p:sldId id="1091" r:id="rId156"/>
    <p:sldId id="1096" r:id="rId157"/>
    <p:sldId id="1100" r:id="rId158"/>
    <p:sldId id="1099" r:id="rId159"/>
    <p:sldId id="1107" r:id="rId160"/>
    <p:sldId id="1109" r:id="rId161"/>
    <p:sldId id="1095" r:id="rId162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81840" autoAdjust="0"/>
  </p:normalViewPr>
  <p:slideViewPr>
    <p:cSldViewPr snapToGrid="0">
      <p:cViewPr varScale="1">
        <p:scale>
          <a:sx n="126" d="100"/>
          <a:sy n="126" d="100"/>
        </p:scale>
        <p:origin x="41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microsoft.com/office/2015/10/relationships/revisionInfo" Target="revisionInfo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microsoft.com/office/2018/10/relationships/authors" Target="author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handoutMaster" Target="handoutMasters/handoutMaster1.xml"/><Relationship Id="rId16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-smart-pointers" TargetMode="Externa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jpeg"/><Relationship Id="rId10" Type="http://schemas.openxmlformats.org/officeDocument/2006/relationships/image" Target="../media/image31.jpe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EDDA0-EF02-BE69-02B5-22D0849DF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discussion</a:t>
            </a:r>
          </a:p>
          <a:p>
            <a:r>
              <a:rPr lang="en-US" dirty="0"/>
              <a:t>LLM policy for discussion text</a:t>
            </a:r>
          </a:p>
          <a:p>
            <a:r>
              <a:rPr lang="en-US" dirty="0"/>
              <a:t>Quiz next Friday</a:t>
            </a:r>
          </a:p>
          <a:p>
            <a:pPr lvl="1"/>
            <a:r>
              <a:rPr lang="en-US" dirty="0"/>
              <a:t>Will cover materials until next Monday</a:t>
            </a:r>
          </a:p>
          <a:p>
            <a:pPr lvl="1"/>
            <a:r>
              <a:rPr lang="en-US" dirty="0"/>
              <a:t>Mostly 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6738D9-60F5-D262-1B5C-04F7E3813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21833995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r>
              <a:rPr lang="en-US" dirty="0"/>
              <a:t>Fuzzing</a:t>
            </a:r>
          </a:p>
          <a:p>
            <a:r>
              <a:rPr lang="en-US" dirty="0"/>
              <a:t>Design patterns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998573-570C-B7D8-C63E-AB1C1AA84A92}"/>
              </a:ext>
            </a:extLst>
          </p:cNvPr>
          <p:cNvCxnSpPr/>
          <p:nvPr/>
        </p:nvCxnSpPr>
        <p:spPr>
          <a:xfrm>
            <a:off x="0" y="362570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Works only if you use them correctly! 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  <a:p>
            <a:pPr lvl="2"/>
            <a:r>
              <a:rPr lang="en-US" dirty="0"/>
              <a:t>But programmer still has to use them correctly!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// Please check the actual implementation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913142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226AFB-37C7-3C18-D6F3-76097E1CDB14}"/>
              </a:ext>
            </a:extLst>
          </p:cNvPr>
          <p:cNvSpPr/>
          <p:nvPr/>
        </p:nvSpPr>
        <p:spPr>
          <a:xfrm>
            <a:off x="6229851" y="2277775"/>
            <a:ext cx="5633413" cy="823565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  <a:p>
            <a:r>
              <a:rPr lang="en-US" dirty="0">
                <a:hlinkClick r:id="rId2"/>
              </a:rPr>
              <a:t>https://github.com/davsec-teaching/c-smart-pointers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452B-876C-7DBC-FFF4-079303CC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11E61C-8A6B-C76F-94A0-C2FA4523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br>
              <a:rPr lang="en-US" dirty="0"/>
            </a:br>
            <a:r>
              <a:rPr lang="en-US" dirty="0"/>
              <a:t>    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rawptr</a:t>
            </a:r>
            <a:r>
              <a:rPr lang="en-US" dirty="0"/>
              <a:t> = </a:t>
            </a:r>
            <a:r>
              <a:rPr lang="en-US" dirty="0" err="1"/>
              <a:t>ptr</a:t>
            </a:r>
            <a:r>
              <a:rPr lang="en-US" dirty="0"/>
              <a:t>-&gt;get(); // Leak ownership</a:t>
            </a:r>
          </a:p>
          <a:p>
            <a:r>
              <a:rPr lang="en-US" dirty="0"/>
              <a:t>	delete </a:t>
            </a:r>
            <a:r>
              <a:rPr lang="en-US" dirty="0" err="1"/>
              <a:t>rawptr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2DA5D-2516-9E8F-1FB3-07AC27C77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r>
              <a:rPr lang="en-US" dirty="0"/>
              <a:t>: Incorrect use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F3921-0F7E-4F6B-0675-DB47D24BE4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Programmer still must make sure they don’t do something unsafe</a:t>
            </a:r>
          </a:p>
          <a:p>
            <a:r>
              <a:rPr lang="en-US" dirty="0"/>
              <a:t>Argument: calling </a:t>
            </a:r>
            <a:r>
              <a:rPr lang="en-US" dirty="0">
                <a:latin typeface="Consolas" panose="020B0609020204030204" pitchFamily="49" charset="0"/>
              </a:rPr>
              <a:t>get() </a:t>
            </a:r>
            <a:r>
              <a:rPr lang="en-US" dirty="0"/>
              <a:t>should send more alarm bells ringing than calling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free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A6107-88E9-8B94-1613-6500F71C292D}"/>
              </a:ext>
            </a:extLst>
          </p:cNvPr>
          <p:cNvSpPr/>
          <p:nvPr/>
        </p:nvSpPr>
        <p:spPr>
          <a:xfrm>
            <a:off x="6252712" y="4156108"/>
            <a:ext cx="5633413" cy="69627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0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smart pointers provide safe abstractions in this case?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06DD9-2C39-2769-950E-9E785DB44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makes smart pointers </a:t>
            </a:r>
            <a:r>
              <a:rPr lang="en-US" b="1" i="1" dirty="0"/>
              <a:t>opt-in</a:t>
            </a:r>
          </a:p>
          <a:p>
            <a:r>
              <a:rPr lang="en-US" dirty="0"/>
              <a:t>Programmer can still make mistakes (e.g. leaking a raw pointer by calling get() and deleting using the raw pointer)</a:t>
            </a:r>
          </a:p>
          <a:p>
            <a:r>
              <a:rPr lang="en-US" dirty="0"/>
              <a:t>It is hard to audit such “mistakes” because safe code and unsafe code is intermixed</a:t>
            </a:r>
          </a:p>
          <a:p>
            <a:r>
              <a:rPr lang="en-US" dirty="0"/>
              <a:t>… Rust fixes many of these problems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118D94-9AF5-9282-9391-717976C19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thoughts</a:t>
            </a:r>
          </a:p>
        </p:txBody>
      </p:sp>
    </p:spTree>
    <p:extLst>
      <p:ext uri="{BB962C8B-B14F-4D97-AF65-F5344CB8AC3E}">
        <p14:creationId xmlns:p14="http://schemas.microsoft.com/office/powerpoint/2010/main" val="360022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5998640" y="5353912"/>
            <a:ext cx="57361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 stack canaries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be freed 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ECA28A-B961-1FC4-661C-2477F180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Rust avoids temporal memory safety bugs</a:t>
            </a:r>
          </a:p>
          <a:p>
            <a:r>
              <a:rPr lang="en-US" dirty="0"/>
              <a:t>How Rust avoids spatial memory safety bugs</a:t>
            </a:r>
          </a:p>
          <a:p>
            <a:r>
              <a:rPr lang="en-US" dirty="0"/>
              <a:t>Rust compile </a:t>
            </a:r>
            <a:r>
              <a:rPr lang="en-US"/>
              <a:t>time reflection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B27254-192D-FC80-3109-688CDCC13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</a:t>
            </a:r>
          </a:p>
        </p:txBody>
      </p:sp>
    </p:spTree>
    <p:extLst>
      <p:ext uri="{BB962C8B-B14F-4D97-AF65-F5344CB8AC3E}">
        <p14:creationId xmlns:p14="http://schemas.microsoft.com/office/powerpoint/2010/main" val="426403992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Other languages achieve temporal memory safety through garbage collection</a:t>
            </a:r>
          </a:p>
          <a:p>
            <a:pPr lvl="1"/>
            <a:r>
              <a:rPr lang="en-US" dirty="0"/>
              <a:t>High overhead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9112</TotalTime>
  <Words>13496</Words>
  <Application>Microsoft Office PowerPoint</Application>
  <PresentationFormat>Widescreen</PresentationFormat>
  <Paragraphs>1992</Paragraphs>
  <Slides>161</Slides>
  <Notes>28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161</vt:i4>
      </vt:variant>
    </vt:vector>
  </HeadingPairs>
  <TitlesOfParts>
    <vt:vector size="167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Announcements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How does it work? (Not in syllabus)</vt:lpstr>
      <vt:lpstr>unique_ptr</vt:lpstr>
      <vt:lpstr>unique_ptr</vt:lpstr>
      <vt:lpstr>unique_ptr: Incorrect use</vt:lpstr>
      <vt:lpstr>What about multiple pointers to same var?</vt:lpstr>
      <vt:lpstr>Desired behavior</vt:lpstr>
      <vt:lpstr>shared_ptr</vt:lpstr>
      <vt:lpstr>More about smart pointers</vt:lpstr>
      <vt:lpstr>Concluding thoughts</vt:lpstr>
      <vt:lpstr>PowerPoint Presentation</vt:lpstr>
      <vt:lpstr>Warm up – find vulnerabilities in code and fix them</vt:lpstr>
      <vt:lpstr>Can the code below result in control flow hijack?</vt:lpstr>
      <vt:lpstr>Can the code below result in control flow hijack?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1541</cp:revision>
  <dcterms:created xsi:type="dcterms:W3CDTF">2019-06-30T03:25:06Z</dcterms:created>
  <dcterms:modified xsi:type="dcterms:W3CDTF">2025-11-14T19:47:54Z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