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39"/>
  </p:notesMasterIdLst>
  <p:handoutMasterIdLst>
    <p:handoutMasterId r:id="rId140"/>
  </p:handoutMasterIdLst>
  <p:sldIdLst>
    <p:sldId id="256" r:id="rId2"/>
    <p:sldId id="1220" r:id="rId3"/>
    <p:sldId id="1115" r:id="rId4"/>
    <p:sldId id="1116" r:id="rId5"/>
    <p:sldId id="1117" r:id="rId6"/>
    <p:sldId id="1221" r:id="rId7"/>
    <p:sldId id="1118" r:id="rId8"/>
    <p:sldId id="1119" r:id="rId9"/>
    <p:sldId id="1088" r:id="rId10"/>
    <p:sldId id="1121" r:id="rId11"/>
    <p:sldId id="1122" r:id="rId12"/>
    <p:sldId id="1124" r:id="rId13"/>
    <p:sldId id="1102" r:id="rId14"/>
    <p:sldId id="1103" r:id="rId15"/>
    <p:sldId id="1222" r:id="rId16"/>
    <p:sldId id="1223" r:id="rId17"/>
    <p:sldId id="1104" r:id="rId18"/>
    <p:sldId id="1101" r:id="rId19"/>
    <p:sldId id="1126" r:id="rId20"/>
    <p:sldId id="1108" r:id="rId21"/>
    <p:sldId id="1224" r:id="rId22"/>
    <p:sldId id="1225" r:id="rId23"/>
    <p:sldId id="1092" r:id="rId24"/>
    <p:sldId id="1161" r:id="rId25"/>
    <p:sldId id="1162" r:id="rId26"/>
    <p:sldId id="1163" r:id="rId27"/>
    <p:sldId id="259" r:id="rId28"/>
    <p:sldId id="1123" r:id="rId29"/>
    <p:sldId id="1125" r:id="rId30"/>
    <p:sldId id="1089" r:id="rId31"/>
    <p:sldId id="1090" r:id="rId32"/>
    <p:sldId id="1087" r:id="rId33"/>
    <p:sldId id="1226" r:id="rId34"/>
    <p:sldId id="1130" r:id="rId35"/>
    <p:sldId id="1129" r:id="rId36"/>
    <p:sldId id="1131" r:id="rId37"/>
    <p:sldId id="1132" r:id="rId38"/>
    <p:sldId id="1164" r:id="rId39"/>
    <p:sldId id="1134" r:id="rId40"/>
    <p:sldId id="1135" r:id="rId41"/>
    <p:sldId id="1136" r:id="rId42"/>
    <p:sldId id="1137" r:id="rId43"/>
    <p:sldId id="1138" r:id="rId44"/>
    <p:sldId id="1139" r:id="rId45"/>
    <p:sldId id="1140" r:id="rId46"/>
    <p:sldId id="1141" r:id="rId47"/>
    <p:sldId id="1142" r:id="rId48"/>
    <p:sldId id="1143" r:id="rId49"/>
    <p:sldId id="1158" r:id="rId50"/>
    <p:sldId id="1145" r:id="rId51"/>
    <p:sldId id="1147" r:id="rId52"/>
    <p:sldId id="1148" r:id="rId53"/>
    <p:sldId id="1151" r:id="rId54"/>
    <p:sldId id="1094" r:id="rId55"/>
    <p:sldId id="1227" r:id="rId56"/>
    <p:sldId id="1228" r:id="rId57"/>
    <p:sldId id="1229" r:id="rId58"/>
    <p:sldId id="1230" r:id="rId59"/>
    <p:sldId id="1231" r:id="rId60"/>
    <p:sldId id="1232" r:id="rId61"/>
    <p:sldId id="1233" r:id="rId62"/>
    <p:sldId id="1234" r:id="rId63"/>
    <p:sldId id="1149" r:id="rId64"/>
    <p:sldId id="1152" r:id="rId65"/>
    <p:sldId id="1153" r:id="rId66"/>
    <p:sldId id="1154" r:id="rId67"/>
    <p:sldId id="1155" r:id="rId68"/>
    <p:sldId id="1156" r:id="rId69"/>
    <p:sldId id="1157" r:id="rId70"/>
    <p:sldId id="1165" r:id="rId71"/>
    <p:sldId id="1182" r:id="rId72"/>
    <p:sldId id="1166" r:id="rId73"/>
    <p:sldId id="1168" r:id="rId74"/>
    <p:sldId id="1167" r:id="rId75"/>
    <p:sldId id="1144" r:id="rId76"/>
    <p:sldId id="1198" r:id="rId77"/>
    <p:sldId id="1199" r:id="rId78"/>
    <p:sldId id="1200" r:id="rId79"/>
    <p:sldId id="1201" r:id="rId80"/>
    <p:sldId id="1202" r:id="rId81"/>
    <p:sldId id="1146" r:id="rId82"/>
    <p:sldId id="1169" r:id="rId83"/>
    <p:sldId id="1170" r:id="rId84"/>
    <p:sldId id="1171" r:id="rId85"/>
    <p:sldId id="1174" r:id="rId86"/>
    <p:sldId id="1186" r:id="rId87"/>
    <p:sldId id="1172" r:id="rId88"/>
    <p:sldId id="1175" r:id="rId89"/>
    <p:sldId id="1178" r:id="rId90"/>
    <p:sldId id="1177" r:id="rId91"/>
    <p:sldId id="1179" r:id="rId92"/>
    <p:sldId id="1180" r:id="rId93"/>
    <p:sldId id="1160" r:id="rId94"/>
    <p:sldId id="1181" r:id="rId95"/>
    <p:sldId id="1194" r:id="rId96"/>
    <p:sldId id="1183" r:id="rId97"/>
    <p:sldId id="1184" r:id="rId98"/>
    <p:sldId id="1185" r:id="rId99"/>
    <p:sldId id="1204" r:id="rId100"/>
    <p:sldId id="1203" r:id="rId101"/>
    <p:sldId id="1205" r:id="rId102"/>
    <p:sldId id="1206" r:id="rId103"/>
    <p:sldId id="1207" r:id="rId104"/>
    <p:sldId id="1105" r:id="rId105"/>
    <p:sldId id="1187" r:id="rId106"/>
    <p:sldId id="1188" r:id="rId107"/>
    <p:sldId id="1110" r:id="rId108"/>
    <p:sldId id="1111" r:id="rId109"/>
    <p:sldId id="1190" r:id="rId110"/>
    <p:sldId id="1192" r:id="rId111"/>
    <p:sldId id="1189" r:id="rId112"/>
    <p:sldId id="1208" r:id="rId113"/>
    <p:sldId id="1209" r:id="rId114"/>
    <p:sldId id="1210" r:id="rId115"/>
    <p:sldId id="1191" r:id="rId116"/>
    <p:sldId id="1113" r:id="rId117"/>
    <p:sldId id="1193" r:id="rId118"/>
    <p:sldId id="1219" r:id="rId119"/>
    <p:sldId id="1114" r:id="rId120"/>
    <p:sldId id="1211" r:id="rId121"/>
    <p:sldId id="1212" r:id="rId122"/>
    <p:sldId id="1213" r:id="rId123"/>
    <p:sldId id="1214" r:id="rId124"/>
    <p:sldId id="1215" r:id="rId125"/>
    <p:sldId id="1216" r:id="rId126"/>
    <p:sldId id="1217" r:id="rId127"/>
    <p:sldId id="1218" r:id="rId128"/>
    <p:sldId id="258" r:id="rId129"/>
    <p:sldId id="1106" r:id="rId130"/>
    <p:sldId id="257" r:id="rId131"/>
    <p:sldId id="1091" r:id="rId132"/>
    <p:sldId id="1096" r:id="rId133"/>
    <p:sldId id="1100" r:id="rId134"/>
    <p:sldId id="1099" r:id="rId135"/>
    <p:sldId id="1107" r:id="rId136"/>
    <p:sldId id="1109" r:id="rId137"/>
    <p:sldId id="1095" r:id="rId138"/>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FFFF"/>
    <a:srgbClr val="003399"/>
    <a:srgbClr val="0000FF"/>
    <a:srgbClr val="B9B9FF"/>
    <a:srgbClr val="DDDDFF"/>
    <a:srgbClr val="E6E0EC"/>
    <a:srgbClr val="FFD5D5"/>
    <a:srgbClr val="00823B"/>
    <a:srgbClr val="FFB3B3"/>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73" autoAdjust="0"/>
    <p:restoredTop sz="81840" autoAdjust="0"/>
  </p:normalViewPr>
  <p:slideViewPr>
    <p:cSldViewPr snapToGrid="0">
      <p:cViewPr varScale="1">
        <p:scale>
          <a:sx n="126" d="100"/>
          <a:sy n="126" d="100"/>
        </p:scale>
        <p:origin x="3264" y="132"/>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notesMaster" Target="notesMasters/notesMaster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handoutMaster" Target="handoutMasters/handoutMaster1.xml"/><Relationship Id="rId145"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presProps" Target="presProps.xml"/><Relationship Id="rId146"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microsoft.com/office/2018/10/relationships/authors" Targe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400" b="0" i="0" u="none" strike="noStrike" kern="1200" spc="0" baseline="0">
                <a:solidFill>
                  <a:schemeClr val="tx1">
                    <a:lumMod val="65000"/>
                    <a:lumOff val="35000"/>
                  </a:schemeClr>
                </a:solidFill>
                <a:latin typeface="+mn-lt"/>
                <a:ea typeface="+mn-ea"/>
                <a:cs typeface="+mn-cs"/>
              </a:defRPr>
            </a:pPr>
            <a:r>
              <a:rPr lang="en-US" sz="2400" dirty="0"/>
              <a:t>Runtime (in </a:t>
            </a:r>
            <a:r>
              <a:rPr lang="en-US" sz="2400" dirty="0" err="1"/>
              <a:t>ms</a:t>
            </a:r>
            <a:r>
              <a:rPr lang="en-US" sz="2400" dirty="0"/>
              <a:t>)</a:t>
            </a:r>
          </a:p>
        </c:rich>
      </c:tx>
      <c:overlay val="0"/>
      <c:spPr>
        <a:noFill/>
        <a:ln>
          <a:noFill/>
        </a:ln>
        <a:effectLst/>
      </c:spPr>
      <c:txPr>
        <a:bodyPr rot="0" spcFirstLastPara="1" vertOverflow="ellipsis" vert="horz" wrap="square" anchor="ctr" anchorCtr="1"/>
        <a:lstStyle/>
        <a:p>
          <a:pPr>
            <a:defRPr sz="2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C (gcc-14)</c:v>
                </c:pt>
              </c:strCache>
            </c:strRef>
          </c:tx>
          <c:spPr>
            <a:solidFill>
              <a:schemeClr val="accent1"/>
            </a:solidFill>
            <a:ln>
              <a:noFill/>
            </a:ln>
            <a:effectLst/>
          </c:spPr>
          <c:invertIfNegative val="0"/>
          <c:cat>
            <c:strRef>
              <c:f>Sheet1!$A$2:$A$6</c:f>
              <c:strCache>
                <c:ptCount val="5"/>
                <c:pt idx="0">
                  <c:v>Hello world</c:v>
                </c:pt>
                <c:pt idx="1">
                  <c:v>knucleotide</c:v>
                </c:pt>
                <c:pt idx="2">
                  <c:v>nbody</c:v>
                </c:pt>
                <c:pt idx="3">
                  <c:v>nsieve</c:v>
                </c:pt>
                <c:pt idx="4">
                  <c:v>spectral-norm</c:v>
                </c:pt>
              </c:strCache>
            </c:strRef>
          </c:cat>
          <c:val>
            <c:numRef>
              <c:f>Sheet1!$B$2:$B$6</c:f>
              <c:numCache>
                <c:formatCode>General</c:formatCode>
                <c:ptCount val="5"/>
                <c:pt idx="0">
                  <c:v>1</c:v>
                </c:pt>
                <c:pt idx="1">
                  <c:v>180</c:v>
                </c:pt>
                <c:pt idx="2">
                  <c:v>308</c:v>
                </c:pt>
                <c:pt idx="3">
                  <c:v>278</c:v>
                </c:pt>
                <c:pt idx="4">
                  <c:v>956</c:v>
                </c:pt>
              </c:numCache>
            </c:numRef>
          </c:val>
          <c:extLst>
            <c:ext xmlns:c16="http://schemas.microsoft.com/office/drawing/2014/chart" uri="{C3380CC4-5D6E-409C-BE32-E72D297353CC}">
              <c16:uniqueId val="{00000000-2989-4F48-9787-6A969CB494E6}"/>
            </c:ext>
          </c:extLst>
        </c:ser>
        <c:ser>
          <c:idx val="1"/>
          <c:order val="1"/>
          <c:tx>
            <c:strRef>
              <c:f>Sheet1!$C$1</c:f>
              <c:strCache>
                <c:ptCount val="1"/>
                <c:pt idx="0">
                  <c:v>Java (openjdk-23)</c:v>
                </c:pt>
              </c:strCache>
            </c:strRef>
          </c:tx>
          <c:spPr>
            <a:solidFill>
              <a:schemeClr val="accent2"/>
            </a:solidFill>
            <a:ln>
              <a:noFill/>
            </a:ln>
            <a:effectLst/>
          </c:spPr>
          <c:invertIfNegative val="0"/>
          <c:cat>
            <c:strRef>
              <c:f>Sheet1!$A$2:$A$6</c:f>
              <c:strCache>
                <c:ptCount val="5"/>
                <c:pt idx="0">
                  <c:v>Hello world</c:v>
                </c:pt>
                <c:pt idx="1">
                  <c:v>knucleotide</c:v>
                </c:pt>
                <c:pt idx="2">
                  <c:v>nbody</c:v>
                </c:pt>
                <c:pt idx="3">
                  <c:v>nsieve</c:v>
                </c:pt>
                <c:pt idx="4">
                  <c:v>spectral-norm</c:v>
                </c:pt>
              </c:strCache>
            </c:strRef>
          </c:cat>
          <c:val>
            <c:numRef>
              <c:f>Sheet1!$C$2:$C$6</c:f>
              <c:numCache>
                <c:formatCode>General</c:formatCode>
                <c:ptCount val="5"/>
                <c:pt idx="0">
                  <c:v>73</c:v>
                </c:pt>
                <c:pt idx="1">
                  <c:v>992</c:v>
                </c:pt>
                <c:pt idx="2">
                  <c:v>448</c:v>
                </c:pt>
                <c:pt idx="3">
                  <c:v>781</c:v>
                </c:pt>
                <c:pt idx="4">
                  <c:v>1972</c:v>
                </c:pt>
              </c:numCache>
            </c:numRef>
          </c:val>
          <c:extLst>
            <c:ext xmlns:c16="http://schemas.microsoft.com/office/drawing/2014/chart" uri="{C3380CC4-5D6E-409C-BE32-E72D297353CC}">
              <c16:uniqueId val="{00000001-2989-4F48-9787-6A969CB494E6}"/>
            </c:ext>
          </c:extLst>
        </c:ser>
        <c:dLbls>
          <c:showLegendKey val="0"/>
          <c:showVal val="0"/>
          <c:showCatName val="0"/>
          <c:showSerName val="0"/>
          <c:showPercent val="0"/>
          <c:showBubbleSize val="0"/>
        </c:dLbls>
        <c:gapWidth val="219"/>
        <c:overlap val="-27"/>
        <c:axId val="2067544239"/>
        <c:axId val="2067527919"/>
      </c:barChart>
      <c:catAx>
        <c:axId val="206754423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crossAx val="2067527919"/>
        <c:crosses val="autoZero"/>
        <c:auto val="1"/>
        <c:lblAlgn val="ctr"/>
        <c:lblOffset val="100"/>
        <c:noMultiLvlLbl val="0"/>
      </c:catAx>
      <c:valAx>
        <c:axId val="206752791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crossAx val="206754423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11/10/2025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11/10/2025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586558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265946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Mathematical benchmarks</a:t>
            </a:r>
          </a:p>
        </p:txBody>
      </p:sp>
    </p:spTree>
    <p:extLst>
      <p:ext uri="{BB962C8B-B14F-4D97-AF65-F5344CB8AC3E}">
        <p14:creationId xmlns:p14="http://schemas.microsoft.com/office/powerpoint/2010/main" val="35993160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997214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06EF5-E564-E625-5F40-A54E369EE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34BFE-74F3-2137-A62E-C15EBCE260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8B31A4-197F-5929-FE1E-F7AEFFEA58FE}"/>
              </a:ext>
            </a:extLst>
          </p:cNvPr>
          <p:cNvSpPr>
            <a:spLocks noGrp="1"/>
          </p:cNvSpPr>
          <p:nvPr>
            <p:ph type="body" idx="1"/>
          </p:nvPr>
        </p:nvSpPr>
        <p:spPr/>
        <p:txBody>
          <a:bodyPr/>
          <a:lstStyle/>
          <a:p>
            <a:r>
              <a:rPr lang="en-US" dirty="0"/>
              <a:t>- Specific to x86.. Most common </a:t>
            </a:r>
            <a:r>
              <a:rPr lang="en-US" dirty="0" err="1"/>
              <a:t>archs</a:t>
            </a:r>
            <a:r>
              <a:rPr lang="en-US" dirty="0"/>
              <a:t> operate in this way</a:t>
            </a:r>
          </a:p>
        </p:txBody>
      </p:sp>
    </p:spTree>
    <p:extLst>
      <p:ext uri="{BB962C8B-B14F-4D97-AF65-F5344CB8AC3E}">
        <p14:creationId xmlns:p14="http://schemas.microsoft.com/office/powerpoint/2010/main" val="14719533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F6B0B-9D60-ED3B-AC0D-440C6FC221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850D41-E76B-8A04-473C-90155E60DC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E5F86B-F462-C8C1-198B-BD5756CE664B}"/>
              </a:ext>
            </a:extLst>
          </p:cNvPr>
          <p:cNvSpPr>
            <a:spLocks noGrp="1"/>
          </p:cNvSpPr>
          <p:nvPr>
            <p:ph type="body" idx="1"/>
          </p:nvPr>
        </p:nvSpPr>
        <p:spPr/>
        <p:txBody>
          <a:bodyPr/>
          <a:lstStyle/>
          <a:p>
            <a:r>
              <a:rPr lang="en-US" dirty="0"/>
              <a:t>- What else can you do with stack vulnerabilities</a:t>
            </a:r>
          </a:p>
        </p:txBody>
      </p:sp>
    </p:spTree>
    <p:extLst>
      <p:ext uri="{BB962C8B-B14F-4D97-AF65-F5344CB8AC3E}">
        <p14:creationId xmlns:p14="http://schemas.microsoft.com/office/powerpoint/2010/main" val="14865641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3396-3D2E-65C0-24D6-FDA2D1D6B2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F11C5-8D30-6B6D-61DD-101309F639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FC5CDF-B9E0-31C2-650E-4B7D97512F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71748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20ACC-CCEF-871F-BC62-970FA84850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5581C0-A2C8-7A6E-8953-F95FABBC80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CC2125-E0D2-5BB1-5312-F9892F7785E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621259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D1E95-4B4B-54F4-E498-1A7C38F05F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8783B-991A-A392-F953-3A8F75CBE3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25171A-D53F-6C39-F4CC-38DC0C223D8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606128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D51D2-CFB8-FA91-D642-2FD9C25D88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2EB285-3C92-93C7-5E8E-056AFF4E2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1FC74D-D1B9-ADBB-6F4A-66DBAD8852D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844258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64C51-0A7F-C15C-73E5-CB3423A22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C3777C-1BC4-ED78-90B8-0D012D865E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8B72CF-4E06-0998-9CDC-601EA10507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595961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B6368-9DC5-BBFE-DEC8-44F504B095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684B3-9949-FDF2-04EE-D22AC63503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D0978-049B-6642-D0C0-C7F8BBE64EC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659720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multi-step attacks</a:t>
            </a:r>
          </a:p>
          <a:p>
            <a:pPr marL="171450" indent="-171450">
              <a:buFontTx/>
              <a:buChar char="-"/>
            </a:pPr>
            <a:r>
              <a:rPr lang="en-US" dirty="0"/>
              <a:t>ransomware</a:t>
            </a:r>
          </a:p>
        </p:txBody>
      </p:sp>
    </p:spTree>
    <p:extLst>
      <p:ext uri="{BB962C8B-B14F-4D97-AF65-F5344CB8AC3E}">
        <p14:creationId xmlns:p14="http://schemas.microsoft.com/office/powerpoint/2010/main" val="19585653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Not just individual hackers or hacker groups</a:t>
            </a:r>
          </a:p>
        </p:txBody>
      </p:sp>
    </p:spTree>
    <p:extLst>
      <p:ext uri="{BB962C8B-B14F-4D97-AF65-F5344CB8AC3E}">
        <p14:creationId xmlns:p14="http://schemas.microsoft.com/office/powerpoint/2010/main" val="12256667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AA022-1789-5924-8D45-54138CC6F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4DE32F-C703-E2F7-98B2-556B7F11C1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5CA4D0-EA30-1B2D-D78F-D40BF2FBBB5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10060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46F9D-96A8-F11E-5BA5-EE133EC5DF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EC6F2-50E0-B031-20FE-FA68020476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E82FB-8D9E-F673-A4FB-2F1466A80CD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338973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440740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38AB7-011D-7939-D9AB-85F40E6211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608112-FE61-FB3D-CD76-F6CB63C076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7D1D63-12D0-5F93-8B2F-E6DD71E109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383366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2A706D-6631-DCC7-434E-C6176FC934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030FB5-7696-7F74-55EB-CD66045D16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CA2106-6112-CEFF-98FD-2318DB27EF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793959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B64B8F-3CA4-8682-F3D7-0262F533AF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11F6CB-1E66-2880-B82E-8D67A87B28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5AC49F-16D0-3274-7648-015FB89918D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9291661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9C4FE-033F-0CCE-3C50-F71A79F56D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7F5DA-35FB-6D9A-6710-69DB436108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031191-CE19-B06F-8258-3C9F8FD7DED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542749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05261-39B2-06E1-B810-260DB6C5C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54BC27-3CAC-4179-0BA5-EF05E18302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46DABD-00B0-1D33-2A2A-CB56A752112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860488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832270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88374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10,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10,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10,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10,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10,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10,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Monday, November 10,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hyperlink" Target="https://github.com/davsec-teaching/buffer-overflow-demo" TargetMode="Externa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0.jpe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hyperlink" Target="https://github.com/davsec-teaching/control-flow-hijack-demo" TargetMode="Externa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hyperlink" Target="https://en.cppreference.com/w/cpp/memory" TargetMode="Externa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8" Type="http://schemas.openxmlformats.org/officeDocument/2006/relationships/image" Target="../media/image29.jpe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1.xml"/><Relationship Id="rId6" Type="http://schemas.openxmlformats.org/officeDocument/2006/relationships/image" Target="../media/image27.png"/><Relationship Id="rId11" Type="http://schemas.openxmlformats.org/officeDocument/2006/relationships/image" Target="../media/image32.png"/><Relationship Id="rId5" Type="http://schemas.openxmlformats.org/officeDocument/2006/relationships/image" Target="../media/image26.jpeg"/><Relationship Id="rId10" Type="http://schemas.openxmlformats.org/officeDocument/2006/relationships/image" Target="../media/image31.jpeg"/><Relationship Id="rId4" Type="http://schemas.openxmlformats.org/officeDocument/2006/relationships/image" Target="../media/image25.png"/><Relationship Id="rId9" Type="http://schemas.openxmlformats.org/officeDocument/2006/relationships/image" Target="../media/image30.png"/></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dirty="0"/>
              <a:t>Software security</a:t>
            </a:r>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1BF1ACB-6ACA-6597-DC4E-E127D8504F96}"/>
              </a:ext>
            </a:extLst>
          </p:cNvPr>
          <p:cNvSpPr>
            <a:spLocks noGrp="1"/>
          </p:cNvSpPr>
          <p:nvPr>
            <p:ph idx="1"/>
          </p:nvPr>
        </p:nvSpPr>
        <p:spPr/>
        <p:txBody>
          <a:bodyPr/>
          <a:lstStyle/>
          <a:p>
            <a:r>
              <a:rPr lang="en-US" dirty="0"/>
              <a:t>HW2 – should finish the persistence framework with some sample test cases by this weekend</a:t>
            </a:r>
          </a:p>
          <a:p>
            <a:r>
              <a:rPr lang="en-US" dirty="0"/>
              <a:t>Quiz today</a:t>
            </a:r>
          </a:p>
          <a:p>
            <a:pPr lvl="1"/>
            <a:r>
              <a:rPr lang="en-US" dirty="0"/>
              <a:t>Do not share access code</a:t>
            </a:r>
          </a:p>
          <a:p>
            <a:pPr lvl="1"/>
            <a:r>
              <a:rPr lang="en-US" dirty="0"/>
              <a:t>Do not sign up on others’ behalf</a:t>
            </a:r>
          </a:p>
          <a:p>
            <a:pPr marL="461963" lvl="2" indent="0">
              <a:buNone/>
            </a:pPr>
            <a:endParaRPr lang="en-US" dirty="0"/>
          </a:p>
        </p:txBody>
      </p:sp>
      <p:sp>
        <p:nvSpPr>
          <p:cNvPr id="4" name="Title 3">
            <a:extLst>
              <a:ext uri="{FF2B5EF4-FFF2-40B4-BE49-F238E27FC236}">
                <a16:creationId xmlns:a16="http://schemas.microsoft.com/office/drawing/2014/main" id="{B1FCBD2E-F99F-87AE-B5F4-D4F0C04C90CD}"/>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4227436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DAC0071-ED1A-963D-E46F-90C28FB95A4B}"/>
              </a:ext>
            </a:extLst>
          </p:cNvPr>
          <p:cNvSpPr>
            <a:spLocks noGrp="1"/>
          </p:cNvSpPr>
          <p:nvPr>
            <p:ph idx="1"/>
          </p:nvPr>
        </p:nvSpPr>
        <p:spPr/>
        <p:txBody>
          <a:bodyPr/>
          <a:lstStyle/>
          <a:p>
            <a:r>
              <a:rPr lang="en-US" dirty="0"/>
              <a:t>Understand software security concerns that influence software engineering</a:t>
            </a:r>
          </a:p>
          <a:p>
            <a:r>
              <a:rPr lang="en-US" dirty="0"/>
              <a:t>Memory safety and memory unsafe languages</a:t>
            </a:r>
          </a:p>
          <a:p>
            <a:r>
              <a:rPr lang="en-US" dirty="0"/>
              <a:t>Secure programming</a:t>
            </a:r>
          </a:p>
          <a:p>
            <a:r>
              <a:rPr lang="en-US" dirty="0"/>
              <a:t>Deeper dive in any topics “on-demand”</a:t>
            </a:r>
          </a:p>
          <a:p>
            <a:endParaRPr lang="en-US" dirty="0"/>
          </a:p>
        </p:txBody>
      </p:sp>
      <p:sp>
        <p:nvSpPr>
          <p:cNvPr id="4" name="Title 3">
            <a:extLst>
              <a:ext uri="{FF2B5EF4-FFF2-40B4-BE49-F238E27FC236}">
                <a16:creationId xmlns:a16="http://schemas.microsoft.com/office/drawing/2014/main" id="{6E9FADE6-5783-CCE9-5D5A-B1F5B89DF948}"/>
              </a:ext>
            </a:extLst>
          </p:cNvPr>
          <p:cNvSpPr>
            <a:spLocks noGrp="1"/>
          </p:cNvSpPr>
          <p:nvPr>
            <p:ph type="title"/>
          </p:nvPr>
        </p:nvSpPr>
        <p:spPr/>
        <p:txBody>
          <a:bodyPr/>
          <a:lstStyle/>
          <a:p>
            <a:r>
              <a:rPr lang="en-US" dirty="0"/>
              <a:t>Module goals</a:t>
            </a:r>
          </a:p>
        </p:txBody>
      </p:sp>
    </p:spTree>
    <p:extLst>
      <p:ext uri="{BB962C8B-B14F-4D97-AF65-F5344CB8AC3E}">
        <p14:creationId xmlns:p14="http://schemas.microsoft.com/office/powerpoint/2010/main" val="21290510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AC36BC1-4A02-9019-B46C-C9141F4E1E1A}"/>
              </a:ext>
            </a:extLst>
          </p:cNvPr>
          <p:cNvSpPr>
            <a:spLocks noGrp="1"/>
          </p:cNvSpPr>
          <p:nvPr>
            <p:ph idx="1"/>
          </p:nvPr>
        </p:nvSpPr>
        <p:spPr>
          <a:xfrm>
            <a:off x="4862686" y="1289097"/>
            <a:ext cx="5633413" cy="3084600"/>
          </a:xfrm>
          <a:ln>
            <a:solidFill>
              <a:schemeClr val="accent1"/>
            </a:solidFill>
          </a:ln>
        </p:spPr>
        <p:txBody>
          <a:bodyPr/>
          <a:lstStyle/>
          <a:p>
            <a:r>
              <a:rPr lang="en-US" dirty="0"/>
              <a:t>class </a:t>
            </a:r>
            <a:r>
              <a:rPr lang="en-US" dirty="0" err="1"/>
              <a:t>MyApp</a:t>
            </a:r>
            <a:r>
              <a:rPr lang="en-US" dirty="0"/>
              <a:t> {</a:t>
            </a:r>
          </a:p>
          <a:p>
            <a:r>
              <a:rPr lang="en-US" dirty="0"/>
              <a:t>	public static void main(String[] </a:t>
            </a:r>
            <a:r>
              <a:rPr lang="en-US" dirty="0" err="1"/>
              <a:t>args</a:t>
            </a:r>
            <a:r>
              <a:rPr lang="en-US" dirty="0"/>
              <a:t>) {</a:t>
            </a:r>
            <a:br>
              <a:rPr lang="en-US" dirty="0"/>
            </a:br>
            <a:r>
              <a:rPr lang="en-US" dirty="0"/>
              <a:t>		char a = ‘A’;</a:t>
            </a:r>
          </a:p>
          <a:p>
            <a:r>
              <a:rPr lang="en-US" dirty="0"/>
              <a:t>		char </a:t>
            </a:r>
            <a:r>
              <a:rPr lang="en-US" dirty="0" err="1"/>
              <a:t>arr</a:t>
            </a:r>
            <a:r>
              <a:rPr lang="en-US" dirty="0"/>
              <a:t>[] = {‘a’, ‘b’, ‘c’, ‘d’};</a:t>
            </a:r>
          </a:p>
          <a:p>
            <a:r>
              <a:rPr lang="en-US" dirty="0"/>
              <a:t>		int index = </a:t>
            </a:r>
            <a:r>
              <a:rPr lang="en-US" dirty="0" err="1"/>
              <a:t>Integer.parseInt</a:t>
            </a:r>
            <a:r>
              <a:rPr lang="en-US" dirty="0"/>
              <a:t>(</a:t>
            </a:r>
            <a:r>
              <a:rPr lang="en-US" dirty="0" err="1"/>
              <a:t>args</a:t>
            </a:r>
            <a:r>
              <a:rPr lang="en-US" dirty="0"/>
              <a:t>[0]);</a:t>
            </a:r>
          </a:p>
          <a:p>
            <a:r>
              <a:rPr lang="en-US" dirty="0"/>
              <a:t>		</a:t>
            </a:r>
            <a:r>
              <a:rPr lang="en-US" dirty="0" err="1"/>
              <a:t>System.out.println</a:t>
            </a:r>
            <a:r>
              <a:rPr lang="en-US" dirty="0"/>
              <a:t>(</a:t>
            </a:r>
            <a:r>
              <a:rPr lang="en-US" dirty="0" err="1"/>
              <a:t>arr</a:t>
            </a:r>
            <a:r>
              <a:rPr lang="en-US" dirty="0"/>
              <a:t>[index]);</a:t>
            </a:r>
          </a:p>
          <a:p>
            <a:r>
              <a:rPr lang="en-US" dirty="0"/>
              <a:t>	}</a:t>
            </a:r>
          </a:p>
          <a:p>
            <a:r>
              <a:rPr lang="en-US" dirty="0"/>
              <a:t>}</a:t>
            </a:r>
          </a:p>
          <a:p>
            <a:endParaRPr lang="en-US" dirty="0"/>
          </a:p>
          <a:p>
            <a:r>
              <a:rPr lang="en-US" b="1" dirty="0"/>
              <a:t>&gt; </a:t>
            </a:r>
            <a:r>
              <a:rPr lang="en-US" b="1" dirty="0" err="1"/>
              <a:t>javac</a:t>
            </a:r>
            <a:r>
              <a:rPr lang="en-US" b="1" dirty="0"/>
              <a:t> MyApp.java</a:t>
            </a:r>
            <a:br>
              <a:rPr lang="en-US" b="1" dirty="0"/>
            </a:br>
            <a:r>
              <a:rPr lang="en-US" b="1" dirty="0"/>
              <a:t>&gt; java </a:t>
            </a:r>
            <a:r>
              <a:rPr lang="en-US" b="1" dirty="0" err="1"/>
              <a:t>MyApp.class</a:t>
            </a:r>
            <a:r>
              <a:rPr lang="en-US" b="1" dirty="0"/>
              <a:t> 10</a:t>
            </a:r>
            <a:br>
              <a:rPr lang="en-US" b="1" dirty="0"/>
            </a:br>
            <a:r>
              <a:rPr lang="en-US" b="1" dirty="0"/>
              <a:t>&gt; # Output?</a:t>
            </a:r>
          </a:p>
        </p:txBody>
      </p:sp>
      <p:sp>
        <p:nvSpPr>
          <p:cNvPr id="4" name="Title 3">
            <a:extLst>
              <a:ext uri="{FF2B5EF4-FFF2-40B4-BE49-F238E27FC236}">
                <a16:creationId xmlns:a16="http://schemas.microsoft.com/office/drawing/2014/main" id="{329E22A3-C738-D6C4-30FA-04029E6C1B3F}"/>
              </a:ext>
            </a:extLst>
          </p:cNvPr>
          <p:cNvSpPr>
            <a:spLocks noGrp="1"/>
          </p:cNvSpPr>
          <p:nvPr>
            <p:ph type="title"/>
          </p:nvPr>
        </p:nvSpPr>
        <p:spPr/>
        <p:txBody>
          <a:bodyPr/>
          <a:lstStyle/>
          <a:p>
            <a:r>
              <a:rPr lang="en-US" dirty="0"/>
              <a:t>C vs Java vs Python</a:t>
            </a:r>
          </a:p>
        </p:txBody>
      </p:sp>
      <p:sp>
        <p:nvSpPr>
          <p:cNvPr id="6" name="Content Placeholder 5">
            <a:extLst>
              <a:ext uri="{FF2B5EF4-FFF2-40B4-BE49-F238E27FC236}">
                <a16:creationId xmlns:a16="http://schemas.microsoft.com/office/drawing/2014/main" id="{BE72F30D-AA15-7EF0-8381-DDE9321978ED}"/>
              </a:ext>
            </a:extLst>
          </p:cNvPr>
          <p:cNvSpPr>
            <a:spLocks noGrp="1"/>
          </p:cNvSpPr>
          <p:nvPr>
            <p:ph idx="13"/>
          </p:nvPr>
        </p:nvSpPr>
        <p:spPr>
          <a:xfrm>
            <a:off x="404745" y="1289097"/>
            <a:ext cx="4107864" cy="3084600"/>
          </a:xfrm>
          <a:ln>
            <a:solidFill>
              <a:schemeClr val="accent1"/>
            </a:solidFill>
          </a:ln>
        </p:spPr>
        <p:txBody>
          <a:bodyPr>
            <a:normAutofit fontScale="92500" lnSpcReduction="10000"/>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Output???</a:t>
            </a:r>
          </a:p>
        </p:txBody>
      </p:sp>
      <p:sp>
        <p:nvSpPr>
          <p:cNvPr id="7" name="Content Placeholder 4">
            <a:extLst>
              <a:ext uri="{FF2B5EF4-FFF2-40B4-BE49-F238E27FC236}">
                <a16:creationId xmlns:a16="http://schemas.microsoft.com/office/drawing/2014/main" id="{C2C9EAE5-05C7-DE48-E902-B25826183FD4}"/>
              </a:ext>
            </a:extLst>
          </p:cNvPr>
          <p:cNvSpPr txBox="1">
            <a:spLocks/>
          </p:cNvSpPr>
          <p:nvPr/>
        </p:nvSpPr>
        <p:spPr bwMode="auto">
          <a:xfrm>
            <a:off x="4099910" y="4167916"/>
            <a:ext cx="5633413" cy="3271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8" name="Content Placeholder 5">
            <a:extLst>
              <a:ext uri="{FF2B5EF4-FFF2-40B4-BE49-F238E27FC236}">
                <a16:creationId xmlns:a16="http://schemas.microsoft.com/office/drawing/2014/main" id="{ACE768CB-E658-6088-DA10-C9B45A42BF57}"/>
              </a:ext>
            </a:extLst>
          </p:cNvPr>
          <p:cNvSpPr txBox="1">
            <a:spLocks/>
          </p:cNvSpPr>
          <p:nvPr/>
        </p:nvSpPr>
        <p:spPr bwMode="auto">
          <a:xfrm>
            <a:off x="3810369" y="4539599"/>
            <a:ext cx="4107864" cy="1366798"/>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168275" indent="-168275"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68325"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746125" indent="-177800"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914400" indent="-168275"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600" dirty="0">
                <a:latin typeface="Consolas" panose="020B0609020204030204" pitchFamily="49" charset="0"/>
              </a:rPr>
              <a:t>import sys</a:t>
            </a:r>
            <a:br>
              <a:rPr lang="en-US" sz="1600" dirty="0">
                <a:latin typeface="Consolas" panose="020B0609020204030204" pitchFamily="49" charset="0"/>
              </a:rPr>
            </a:br>
            <a:r>
              <a:rPr lang="en-US" sz="1600" dirty="0" err="1">
                <a:latin typeface="Consolas" panose="020B0609020204030204" pitchFamily="49" charset="0"/>
              </a:rPr>
              <a:t>arr</a:t>
            </a:r>
            <a:r>
              <a:rPr lang="en-US" sz="1600" dirty="0">
                <a:latin typeface="Consolas" panose="020B0609020204030204" pitchFamily="49" charset="0"/>
              </a:rPr>
              <a:t> = [‘a’, ‘b’, ‘c’, ‘d’]</a:t>
            </a:r>
            <a:br>
              <a:rPr lang="en-US" sz="1600" dirty="0">
                <a:latin typeface="Consolas" panose="020B0609020204030204" pitchFamily="49" charset="0"/>
              </a:rPr>
            </a:br>
            <a:r>
              <a:rPr lang="en-US" sz="1600" dirty="0">
                <a:latin typeface="Consolas" panose="020B0609020204030204" pitchFamily="49" charset="0"/>
              </a:rPr>
              <a:t>index = int(</a:t>
            </a:r>
            <a:r>
              <a:rPr lang="en-US" sz="1600" dirty="0" err="1">
                <a:latin typeface="Consolas" panose="020B0609020204030204" pitchFamily="49" charset="0"/>
              </a:rPr>
              <a:t>sys.argv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print(</a:t>
            </a:r>
            <a:r>
              <a:rPr lang="en-US" sz="1600" dirty="0" err="1">
                <a:latin typeface="Consolas" panose="020B0609020204030204" pitchFamily="49" charset="0"/>
              </a:rPr>
              <a:t>arr</a:t>
            </a:r>
            <a:r>
              <a:rPr lang="en-US" sz="1600" dirty="0">
                <a:latin typeface="Consolas" panose="020B0609020204030204" pitchFamily="49" charset="0"/>
              </a:rPr>
              <a:t>[index])</a:t>
            </a:r>
            <a:br>
              <a:rPr lang="en-US" sz="1600" b="1" dirty="0">
                <a:latin typeface="Consolas" panose="020B0609020204030204" pitchFamily="49" charset="0"/>
              </a:rPr>
            </a:br>
            <a:r>
              <a:rPr lang="en-US" sz="1600" b="1" dirty="0">
                <a:latin typeface="Consolas" panose="020B0609020204030204" pitchFamily="49" charset="0"/>
              </a:rPr>
              <a:t>&gt; python3 test.py 10</a:t>
            </a:r>
          </a:p>
        </p:txBody>
      </p:sp>
      <p:sp>
        <p:nvSpPr>
          <p:cNvPr id="9" name="TextBox 8">
            <a:extLst>
              <a:ext uri="{FF2B5EF4-FFF2-40B4-BE49-F238E27FC236}">
                <a16:creationId xmlns:a16="http://schemas.microsoft.com/office/drawing/2014/main" id="{DBB251AB-0408-35A0-5523-A192846C6D0B}"/>
              </a:ext>
            </a:extLst>
          </p:cNvPr>
          <p:cNvSpPr txBox="1"/>
          <p:nvPr/>
        </p:nvSpPr>
        <p:spPr>
          <a:xfrm>
            <a:off x="1983739" y="827432"/>
            <a:ext cx="949875" cy="461665"/>
          </a:xfrm>
          <a:prstGeom prst="rect">
            <a:avLst/>
          </a:prstGeom>
          <a:noFill/>
        </p:spPr>
        <p:txBody>
          <a:bodyPr wrap="none" rtlCol="0">
            <a:spAutoFit/>
          </a:bodyPr>
          <a:lstStyle/>
          <a:p>
            <a:r>
              <a:rPr lang="en-US" sz="2400" b="1" i="1" dirty="0"/>
              <a:t>C/C++</a:t>
            </a:r>
          </a:p>
        </p:txBody>
      </p:sp>
      <p:sp>
        <p:nvSpPr>
          <p:cNvPr id="10" name="TextBox 9">
            <a:extLst>
              <a:ext uri="{FF2B5EF4-FFF2-40B4-BE49-F238E27FC236}">
                <a16:creationId xmlns:a16="http://schemas.microsoft.com/office/drawing/2014/main" id="{441163CB-9298-63AC-B4B1-26D5157C5194}"/>
              </a:ext>
            </a:extLst>
          </p:cNvPr>
          <p:cNvSpPr txBox="1"/>
          <p:nvPr/>
        </p:nvSpPr>
        <p:spPr>
          <a:xfrm>
            <a:off x="7204454" y="827431"/>
            <a:ext cx="755335" cy="461665"/>
          </a:xfrm>
          <a:prstGeom prst="rect">
            <a:avLst/>
          </a:prstGeom>
          <a:noFill/>
        </p:spPr>
        <p:txBody>
          <a:bodyPr wrap="none" rtlCol="0">
            <a:spAutoFit/>
          </a:bodyPr>
          <a:lstStyle/>
          <a:p>
            <a:r>
              <a:rPr lang="en-US" sz="2400" b="1" i="1" dirty="0"/>
              <a:t>Java</a:t>
            </a:r>
          </a:p>
        </p:txBody>
      </p:sp>
      <p:sp>
        <p:nvSpPr>
          <p:cNvPr id="11" name="TextBox 10">
            <a:extLst>
              <a:ext uri="{FF2B5EF4-FFF2-40B4-BE49-F238E27FC236}">
                <a16:creationId xmlns:a16="http://schemas.microsoft.com/office/drawing/2014/main" id="{86749DCE-C9B6-B904-CCD1-05D79A6BB79A}"/>
              </a:ext>
            </a:extLst>
          </p:cNvPr>
          <p:cNvSpPr txBox="1"/>
          <p:nvPr/>
        </p:nvSpPr>
        <p:spPr>
          <a:xfrm>
            <a:off x="8028406" y="4504852"/>
            <a:ext cx="1090042" cy="461665"/>
          </a:xfrm>
          <a:prstGeom prst="rect">
            <a:avLst/>
          </a:prstGeom>
          <a:noFill/>
        </p:spPr>
        <p:txBody>
          <a:bodyPr wrap="none" rtlCol="0">
            <a:spAutoFit/>
          </a:bodyPr>
          <a:lstStyle/>
          <a:p>
            <a:r>
              <a:rPr lang="en-US" sz="2400" b="1" i="1" dirty="0"/>
              <a:t>Python</a:t>
            </a:r>
          </a:p>
        </p:txBody>
      </p:sp>
    </p:spTree>
    <p:extLst>
      <p:ext uri="{BB962C8B-B14F-4D97-AF65-F5344CB8AC3E}">
        <p14:creationId xmlns:p14="http://schemas.microsoft.com/office/powerpoint/2010/main" val="4339989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04ACB-79EB-0F16-1B05-ECC3C2F939F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64901F9-5561-9A0F-0AF3-1095F7689C9A}"/>
              </a:ext>
            </a:extLst>
          </p:cNvPr>
          <p:cNvSpPr>
            <a:spLocks noGrp="1"/>
          </p:cNvSpPr>
          <p:nvPr>
            <p:ph idx="1"/>
          </p:nvPr>
        </p:nvSpPr>
        <p:spPr>
          <a:xfrm>
            <a:off x="4862686" y="1289097"/>
            <a:ext cx="6924569" cy="3084600"/>
          </a:xfrm>
          <a:ln>
            <a:solidFill>
              <a:schemeClr val="accent1"/>
            </a:solidFill>
          </a:ln>
        </p:spPr>
        <p:txBody>
          <a:bodyPr>
            <a:normAutofit fontScale="92500" lnSpcReduction="10000"/>
          </a:bodyPr>
          <a:lstStyle/>
          <a:p>
            <a:r>
              <a:rPr lang="en-US" dirty="0"/>
              <a:t>class </a:t>
            </a:r>
            <a:r>
              <a:rPr lang="en-US" dirty="0" err="1"/>
              <a:t>MyApp</a:t>
            </a:r>
            <a:r>
              <a:rPr lang="en-US" dirty="0"/>
              <a:t> {</a:t>
            </a:r>
          </a:p>
          <a:p>
            <a:r>
              <a:rPr lang="en-US" dirty="0"/>
              <a:t>	public static void main(String[] </a:t>
            </a:r>
            <a:r>
              <a:rPr lang="en-US" dirty="0" err="1"/>
              <a:t>args</a:t>
            </a:r>
            <a:r>
              <a:rPr lang="en-US" dirty="0"/>
              <a:t>) {</a:t>
            </a:r>
            <a:br>
              <a:rPr lang="en-US" dirty="0"/>
            </a:br>
            <a:r>
              <a:rPr lang="en-US" dirty="0"/>
              <a:t>		char a = ‘A’;</a:t>
            </a:r>
          </a:p>
          <a:p>
            <a:r>
              <a:rPr lang="en-US" dirty="0"/>
              <a:t>		char </a:t>
            </a:r>
            <a:r>
              <a:rPr lang="en-US" dirty="0" err="1"/>
              <a:t>arr</a:t>
            </a:r>
            <a:r>
              <a:rPr lang="en-US" dirty="0"/>
              <a:t>[] = {‘a’, ‘b’, ‘c’, ‘d’};</a:t>
            </a:r>
          </a:p>
          <a:p>
            <a:r>
              <a:rPr lang="en-US" dirty="0"/>
              <a:t>		int index = </a:t>
            </a:r>
            <a:r>
              <a:rPr lang="en-US" dirty="0" err="1"/>
              <a:t>Integer.parseInt</a:t>
            </a:r>
            <a:r>
              <a:rPr lang="en-US" dirty="0"/>
              <a:t>(</a:t>
            </a:r>
            <a:r>
              <a:rPr lang="en-US" dirty="0" err="1"/>
              <a:t>args</a:t>
            </a:r>
            <a:r>
              <a:rPr lang="en-US" dirty="0"/>
              <a:t>[0]);</a:t>
            </a:r>
          </a:p>
          <a:p>
            <a:r>
              <a:rPr lang="en-US" dirty="0"/>
              <a:t>		</a:t>
            </a:r>
            <a:r>
              <a:rPr lang="en-US" dirty="0" err="1"/>
              <a:t>System.out.println</a:t>
            </a:r>
            <a:r>
              <a:rPr lang="en-US" dirty="0"/>
              <a:t>(</a:t>
            </a:r>
            <a:r>
              <a:rPr lang="en-US" dirty="0" err="1"/>
              <a:t>arr</a:t>
            </a:r>
            <a:r>
              <a:rPr lang="en-US" dirty="0"/>
              <a:t>[a]);</a:t>
            </a:r>
          </a:p>
          <a:p>
            <a:r>
              <a:rPr lang="en-US" dirty="0"/>
              <a:t>	}</a:t>
            </a:r>
          </a:p>
          <a:p>
            <a:r>
              <a:rPr lang="en-US" dirty="0"/>
              <a:t>}</a:t>
            </a:r>
          </a:p>
          <a:p>
            <a:endParaRPr lang="en-US" dirty="0"/>
          </a:p>
          <a:p>
            <a:r>
              <a:rPr lang="en-US" b="1" dirty="0"/>
              <a:t>&gt; </a:t>
            </a:r>
            <a:r>
              <a:rPr lang="en-US" b="1" dirty="0" err="1"/>
              <a:t>javac</a:t>
            </a:r>
            <a:r>
              <a:rPr lang="en-US" b="1" dirty="0"/>
              <a:t> MyApp.java</a:t>
            </a:r>
            <a:br>
              <a:rPr lang="en-US" b="1" dirty="0"/>
            </a:br>
            <a:r>
              <a:rPr lang="en-US" b="1" dirty="0"/>
              <a:t>&gt; java </a:t>
            </a:r>
            <a:r>
              <a:rPr lang="en-US" b="1" dirty="0" err="1"/>
              <a:t>MyApp.class</a:t>
            </a:r>
            <a:r>
              <a:rPr lang="en-US" b="1" dirty="0"/>
              <a:t> 10</a:t>
            </a:r>
            <a:br>
              <a:rPr lang="en-US" b="1" dirty="0"/>
            </a:br>
            <a:r>
              <a:rPr lang="en-US" b="1" dirty="0"/>
              <a:t>&gt; </a:t>
            </a:r>
            <a:r>
              <a:rPr lang="en-US" b="1" dirty="0">
                <a:solidFill>
                  <a:srgbClr val="FF0000"/>
                </a:solidFill>
              </a:rPr>
              <a:t>Exception in thread "main" </a:t>
            </a:r>
            <a:r>
              <a:rPr lang="en-US" b="1" dirty="0" err="1">
                <a:solidFill>
                  <a:srgbClr val="FF0000"/>
                </a:solidFill>
              </a:rPr>
              <a:t>java.lang.ArrayIndexOutOfBoundsException</a:t>
            </a:r>
            <a:r>
              <a:rPr lang="en-US" b="1" dirty="0">
                <a:solidFill>
                  <a:srgbClr val="FF0000"/>
                </a:solidFill>
              </a:rPr>
              <a:t>: Index 10 out of bounds for length 4</a:t>
            </a:r>
          </a:p>
        </p:txBody>
      </p:sp>
      <p:sp>
        <p:nvSpPr>
          <p:cNvPr id="4" name="Title 3">
            <a:extLst>
              <a:ext uri="{FF2B5EF4-FFF2-40B4-BE49-F238E27FC236}">
                <a16:creationId xmlns:a16="http://schemas.microsoft.com/office/drawing/2014/main" id="{2C31199C-776B-5331-04F9-250201A5DBA1}"/>
              </a:ext>
            </a:extLst>
          </p:cNvPr>
          <p:cNvSpPr>
            <a:spLocks noGrp="1"/>
          </p:cNvSpPr>
          <p:nvPr>
            <p:ph type="title"/>
          </p:nvPr>
        </p:nvSpPr>
        <p:spPr/>
        <p:txBody>
          <a:bodyPr/>
          <a:lstStyle/>
          <a:p>
            <a:r>
              <a:rPr lang="en-US" dirty="0"/>
              <a:t>C vs Java vs Python</a:t>
            </a:r>
          </a:p>
        </p:txBody>
      </p:sp>
      <p:sp>
        <p:nvSpPr>
          <p:cNvPr id="6" name="Content Placeholder 5">
            <a:extLst>
              <a:ext uri="{FF2B5EF4-FFF2-40B4-BE49-F238E27FC236}">
                <a16:creationId xmlns:a16="http://schemas.microsoft.com/office/drawing/2014/main" id="{17EB472B-1835-EFAB-92BF-417538CCC57B}"/>
              </a:ext>
            </a:extLst>
          </p:cNvPr>
          <p:cNvSpPr>
            <a:spLocks noGrp="1"/>
          </p:cNvSpPr>
          <p:nvPr>
            <p:ph idx="13"/>
          </p:nvPr>
        </p:nvSpPr>
        <p:spPr>
          <a:xfrm>
            <a:off x="404745" y="1289097"/>
            <a:ext cx="4354542" cy="3084600"/>
          </a:xfrm>
          <a:ln>
            <a:solidFill>
              <a:schemeClr val="accent1"/>
            </a:solidFill>
          </a:ln>
        </p:spPr>
        <p:txBody>
          <a:bodyPr>
            <a:normAutofit fontScale="92500"/>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Output???</a:t>
            </a:r>
            <a:endParaRPr lang="en-US" sz="1600" b="1" dirty="0">
              <a:solidFill>
                <a:srgbClr val="FF0000"/>
              </a:solidFill>
              <a:latin typeface="Consolas" panose="020B0609020204030204" pitchFamily="49" charset="0"/>
            </a:endParaRPr>
          </a:p>
        </p:txBody>
      </p:sp>
      <p:sp>
        <p:nvSpPr>
          <p:cNvPr id="7" name="Content Placeholder 4">
            <a:extLst>
              <a:ext uri="{FF2B5EF4-FFF2-40B4-BE49-F238E27FC236}">
                <a16:creationId xmlns:a16="http://schemas.microsoft.com/office/drawing/2014/main" id="{9E5DA9B9-A914-77DE-AE32-D21873C3AAE0}"/>
              </a:ext>
            </a:extLst>
          </p:cNvPr>
          <p:cNvSpPr txBox="1">
            <a:spLocks/>
          </p:cNvSpPr>
          <p:nvPr/>
        </p:nvSpPr>
        <p:spPr bwMode="auto">
          <a:xfrm>
            <a:off x="4099910" y="4167916"/>
            <a:ext cx="5633413" cy="3271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8" name="Content Placeholder 5">
            <a:extLst>
              <a:ext uri="{FF2B5EF4-FFF2-40B4-BE49-F238E27FC236}">
                <a16:creationId xmlns:a16="http://schemas.microsoft.com/office/drawing/2014/main" id="{E851B4F1-4DB6-6F0A-9490-B878258936B2}"/>
              </a:ext>
            </a:extLst>
          </p:cNvPr>
          <p:cNvSpPr txBox="1">
            <a:spLocks/>
          </p:cNvSpPr>
          <p:nvPr/>
        </p:nvSpPr>
        <p:spPr bwMode="auto">
          <a:xfrm>
            <a:off x="3810369" y="4539599"/>
            <a:ext cx="4107864" cy="1366798"/>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lnSpcReduction="10000"/>
          </a:bodyPr>
          <a:lstStyle>
            <a:lvl1pPr marL="168275" indent="-168275"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68325"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746125" indent="-177800"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914400" indent="-168275"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600" dirty="0">
                <a:latin typeface="Consolas" panose="020B0609020204030204" pitchFamily="49" charset="0"/>
              </a:rPr>
              <a:t>import sys</a:t>
            </a:r>
            <a:br>
              <a:rPr lang="en-US" sz="1600" dirty="0">
                <a:latin typeface="Consolas" panose="020B0609020204030204" pitchFamily="49" charset="0"/>
              </a:rPr>
            </a:br>
            <a:r>
              <a:rPr lang="en-US" sz="1600" dirty="0" err="1">
                <a:latin typeface="Consolas" panose="020B0609020204030204" pitchFamily="49" charset="0"/>
              </a:rPr>
              <a:t>arr</a:t>
            </a:r>
            <a:r>
              <a:rPr lang="en-US" sz="1600" dirty="0">
                <a:latin typeface="Consolas" panose="020B0609020204030204" pitchFamily="49" charset="0"/>
              </a:rPr>
              <a:t> = [‘a’, ‘b’, ‘c’, ‘d’]</a:t>
            </a:r>
            <a:br>
              <a:rPr lang="en-US" sz="1600" dirty="0">
                <a:latin typeface="Consolas" panose="020B0609020204030204" pitchFamily="49" charset="0"/>
              </a:rPr>
            </a:br>
            <a:r>
              <a:rPr lang="en-US" sz="1600" dirty="0">
                <a:latin typeface="Consolas" panose="020B0609020204030204" pitchFamily="49" charset="0"/>
              </a:rPr>
              <a:t>index = int(</a:t>
            </a:r>
            <a:r>
              <a:rPr lang="en-US" sz="1600" dirty="0" err="1">
                <a:latin typeface="Consolas" panose="020B0609020204030204" pitchFamily="49" charset="0"/>
              </a:rPr>
              <a:t>sys.argv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print(</a:t>
            </a:r>
            <a:r>
              <a:rPr lang="en-US" sz="1600" dirty="0" err="1">
                <a:latin typeface="Consolas" panose="020B0609020204030204" pitchFamily="49" charset="0"/>
              </a:rPr>
              <a:t>arr</a:t>
            </a:r>
            <a:r>
              <a:rPr lang="en-US" sz="1600" dirty="0">
                <a:latin typeface="Consolas" panose="020B0609020204030204" pitchFamily="49" charset="0"/>
              </a:rPr>
              <a:t>[index])</a:t>
            </a:r>
            <a:br>
              <a:rPr lang="en-US" sz="1600" b="1" dirty="0">
                <a:latin typeface="Consolas" panose="020B0609020204030204" pitchFamily="49" charset="0"/>
              </a:rPr>
            </a:br>
            <a:r>
              <a:rPr lang="en-US" sz="1600" b="1" dirty="0">
                <a:latin typeface="Consolas" panose="020B0609020204030204" pitchFamily="49" charset="0"/>
              </a:rPr>
              <a:t>&gt; python3 test.py 10</a:t>
            </a:r>
            <a:br>
              <a:rPr lang="en-US" sz="1600" b="1" dirty="0">
                <a:latin typeface="Consolas" panose="020B0609020204030204" pitchFamily="49" charset="0"/>
              </a:rPr>
            </a:br>
            <a:r>
              <a:rPr lang="en-US" sz="1600" b="1" dirty="0" err="1">
                <a:solidFill>
                  <a:srgbClr val="FF0000"/>
                </a:solidFill>
                <a:latin typeface="Consolas" panose="020B0609020204030204" pitchFamily="49" charset="0"/>
              </a:rPr>
              <a:t>IndexError</a:t>
            </a:r>
            <a:r>
              <a:rPr lang="en-US" sz="1600" b="1" dirty="0">
                <a:solidFill>
                  <a:srgbClr val="FF0000"/>
                </a:solidFill>
                <a:latin typeface="Consolas" panose="020B0609020204030204" pitchFamily="49" charset="0"/>
              </a:rPr>
              <a:t>: list index out of range</a:t>
            </a:r>
          </a:p>
        </p:txBody>
      </p:sp>
      <p:sp>
        <p:nvSpPr>
          <p:cNvPr id="9" name="TextBox 8">
            <a:extLst>
              <a:ext uri="{FF2B5EF4-FFF2-40B4-BE49-F238E27FC236}">
                <a16:creationId xmlns:a16="http://schemas.microsoft.com/office/drawing/2014/main" id="{C259E8BD-E38D-4779-73C5-CB8EB2B38049}"/>
              </a:ext>
            </a:extLst>
          </p:cNvPr>
          <p:cNvSpPr txBox="1"/>
          <p:nvPr/>
        </p:nvSpPr>
        <p:spPr>
          <a:xfrm>
            <a:off x="1983739" y="827432"/>
            <a:ext cx="949875" cy="461665"/>
          </a:xfrm>
          <a:prstGeom prst="rect">
            <a:avLst/>
          </a:prstGeom>
          <a:noFill/>
        </p:spPr>
        <p:txBody>
          <a:bodyPr wrap="none" rtlCol="0">
            <a:spAutoFit/>
          </a:bodyPr>
          <a:lstStyle/>
          <a:p>
            <a:r>
              <a:rPr lang="en-US" sz="2400" b="1" i="1" dirty="0"/>
              <a:t>C/C++</a:t>
            </a:r>
          </a:p>
        </p:txBody>
      </p:sp>
      <p:sp>
        <p:nvSpPr>
          <p:cNvPr id="10" name="TextBox 9">
            <a:extLst>
              <a:ext uri="{FF2B5EF4-FFF2-40B4-BE49-F238E27FC236}">
                <a16:creationId xmlns:a16="http://schemas.microsoft.com/office/drawing/2014/main" id="{A6DB77F8-195E-1115-0333-881141EE2F5B}"/>
              </a:ext>
            </a:extLst>
          </p:cNvPr>
          <p:cNvSpPr txBox="1"/>
          <p:nvPr/>
        </p:nvSpPr>
        <p:spPr>
          <a:xfrm>
            <a:off x="7204454" y="827431"/>
            <a:ext cx="755335" cy="461665"/>
          </a:xfrm>
          <a:prstGeom prst="rect">
            <a:avLst/>
          </a:prstGeom>
          <a:noFill/>
        </p:spPr>
        <p:txBody>
          <a:bodyPr wrap="none" rtlCol="0">
            <a:spAutoFit/>
          </a:bodyPr>
          <a:lstStyle/>
          <a:p>
            <a:r>
              <a:rPr lang="en-US" sz="2400" b="1" i="1" dirty="0"/>
              <a:t>Java</a:t>
            </a:r>
          </a:p>
        </p:txBody>
      </p:sp>
      <p:sp>
        <p:nvSpPr>
          <p:cNvPr id="11" name="TextBox 10">
            <a:extLst>
              <a:ext uri="{FF2B5EF4-FFF2-40B4-BE49-F238E27FC236}">
                <a16:creationId xmlns:a16="http://schemas.microsoft.com/office/drawing/2014/main" id="{4702D130-2FD9-D577-B780-4C6EC927B8AD}"/>
              </a:ext>
            </a:extLst>
          </p:cNvPr>
          <p:cNvSpPr txBox="1"/>
          <p:nvPr/>
        </p:nvSpPr>
        <p:spPr>
          <a:xfrm>
            <a:off x="8028406" y="4504852"/>
            <a:ext cx="1090042" cy="461665"/>
          </a:xfrm>
          <a:prstGeom prst="rect">
            <a:avLst/>
          </a:prstGeom>
          <a:noFill/>
        </p:spPr>
        <p:txBody>
          <a:bodyPr wrap="none" rtlCol="0">
            <a:spAutoFit/>
          </a:bodyPr>
          <a:lstStyle/>
          <a:p>
            <a:r>
              <a:rPr lang="en-US" sz="2400" b="1" i="1" dirty="0"/>
              <a:t>Python</a:t>
            </a:r>
          </a:p>
        </p:txBody>
      </p:sp>
    </p:spTree>
    <p:extLst>
      <p:ext uri="{BB962C8B-B14F-4D97-AF65-F5344CB8AC3E}">
        <p14:creationId xmlns:p14="http://schemas.microsoft.com/office/powerpoint/2010/main" val="9490928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F4F03-DACC-A8BD-3F4A-C95D19B5321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BDDB8E1-EB0D-7E65-167E-89FC9C1FFEDD}"/>
              </a:ext>
            </a:extLst>
          </p:cNvPr>
          <p:cNvSpPr>
            <a:spLocks noGrp="1"/>
          </p:cNvSpPr>
          <p:nvPr>
            <p:ph idx="1"/>
          </p:nvPr>
        </p:nvSpPr>
        <p:spPr>
          <a:xfrm>
            <a:off x="4862686" y="1289097"/>
            <a:ext cx="6924569" cy="3084600"/>
          </a:xfrm>
          <a:ln>
            <a:solidFill>
              <a:schemeClr val="accent1"/>
            </a:solidFill>
          </a:ln>
        </p:spPr>
        <p:txBody>
          <a:bodyPr>
            <a:normAutofit fontScale="92500" lnSpcReduction="10000"/>
          </a:bodyPr>
          <a:lstStyle/>
          <a:p>
            <a:r>
              <a:rPr lang="en-US" dirty="0"/>
              <a:t>class </a:t>
            </a:r>
            <a:r>
              <a:rPr lang="en-US" dirty="0" err="1"/>
              <a:t>MyApp</a:t>
            </a:r>
            <a:r>
              <a:rPr lang="en-US" dirty="0"/>
              <a:t> {</a:t>
            </a:r>
          </a:p>
          <a:p>
            <a:r>
              <a:rPr lang="en-US" dirty="0"/>
              <a:t>	public static void main(String[] </a:t>
            </a:r>
            <a:r>
              <a:rPr lang="en-US" dirty="0" err="1"/>
              <a:t>args</a:t>
            </a:r>
            <a:r>
              <a:rPr lang="en-US" dirty="0"/>
              <a:t>) {</a:t>
            </a:r>
            <a:br>
              <a:rPr lang="en-US" dirty="0"/>
            </a:br>
            <a:r>
              <a:rPr lang="en-US" dirty="0"/>
              <a:t>		char a = ‘A’;</a:t>
            </a:r>
          </a:p>
          <a:p>
            <a:r>
              <a:rPr lang="en-US" dirty="0"/>
              <a:t>		char </a:t>
            </a:r>
            <a:r>
              <a:rPr lang="en-US" dirty="0" err="1"/>
              <a:t>arr</a:t>
            </a:r>
            <a:r>
              <a:rPr lang="en-US" dirty="0"/>
              <a:t>[] = {‘a’, ‘b’, ‘c’, ‘d’};</a:t>
            </a:r>
          </a:p>
          <a:p>
            <a:r>
              <a:rPr lang="en-US" dirty="0"/>
              <a:t>		int index = </a:t>
            </a:r>
            <a:r>
              <a:rPr lang="en-US" dirty="0" err="1"/>
              <a:t>Integer.parseInt</a:t>
            </a:r>
            <a:r>
              <a:rPr lang="en-US" dirty="0"/>
              <a:t>(</a:t>
            </a:r>
            <a:r>
              <a:rPr lang="en-US" dirty="0" err="1"/>
              <a:t>args</a:t>
            </a:r>
            <a:r>
              <a:rPr lang="en-US" dirty="0"/>
              <a:t>[0]);</a:t>
            </a:r>
          </a:p>
          <a:p>
            <a:r>
              <a:rPr lang="en-US" dirty="0"/>
              <a:t>		</a:t>
            </a:r>
            <a:r>
              <a:rPr lang="en-US" dirty="0" err="1"/>
              <a:t>System.out.println</a:t>
            </a:r>
            <a:r>
              <a:rPr lang="en-US" dirty="0"/>
              <a:t>(</a:t>
            </a:r>
            <a:r>
              <a:rPr lang="en-US" dirty="0" err="1"/>
              <a:t>arr</a:t>
            </a:r>
            <a:r>
              <a:rPr lang="en-US" dirty="0"/>
              <a:t>[a]);</a:t>
            </a:r>
          </a:p>
          <a:p>
            <a:r>
              <a:rPr lang="en-US" dirty="0"/>
              <a:t>	}</a:t>
            </a:r>
          </a:p>
          <a:p>
            <a:r>
              <a:rPr lang="en-US" dirty="0"/>
              <a:t>}</a:t>
            </a:r>
          </a:p>
          <a:p>
            <a:endParaRPr lang="en-US" dirty="0"/>
          </a:p>
          <a:p>
            <a:r>
              <a:rPr lang="en-US" b="1" dirty="0"/>
              <a:t>&gt; </a:t>
            </a:r>
            <a:r>
              <a:rPr lang="en-US" b="1" dirty="0" err="1"/>
              <a:t>javac</a:t>
            </a:r>
            <a:r>
              <a:rPr lang="en-US" b="1" dirty="0"/>
              <a:t> MyApp.java</a:t>
            </a:r>
            <a:br>
              <a:rPr lang="en-US" b="1" dirty="0"/>
            </a:br>
            <a:r>
              <a:rPr lang="en-US" b="1" dirty="0"/>
              <a:t>&gt; java </a:t>
            </a:r>
            <a:r>
              <a:rPr lang="en-US" b="1" dirty="0" err="1"/>
              <a:t>MyApp.class</a:t>
            </a:r>
            <a:r>
              <a:rPr lang="en-US" b="1" dirty="0"/>
              <a:t> 10</a:t>
            </a:r>
            <a:br>
              <a:rPr lang="en-US" b="1" dirty="0"/>
            </a:br>
            <a:r>
              <a:rPr lang="en-US" b="1" dirty="0"/>
              <a:t>&gt; </a:t>
            </a:r>
            <a:r>
              <a:rPr lang="en-US" b="1" dirty="0">
                <a:solidFill>
                  <a:srgbClr val="FF0000"/>
                </a:solidFill>
              </a:rPr>
              <a:t>Exception in thread "main" </a:t>
            </a:r>
            <a:r>
              <a:rPr lang="en-US" b="1" dirty="0" err="1">
                <a:solidFill>
                  <a:srgbClr val="FF0000"/>
                </a:solidFill>
              </a:rPr>
              <a:t>java.lang.ArrayIndexOutOfBoundsException</a:t>
            </a:r>
            <a:r>
              <a:rPr lang="en-US" b="1" dirty="0">
                <a:solidFill>
                  <a:srgbClr val="FF0000"/>
                </a:solidFill>
              </a:rPr>
              <a:t>: Index 10 out of bounds for length 4</a:t>
            </a:r>
          </a:p>
        </p:txBody>
      </p:sp>
      <p:sp>
        <p:nvSpPr>
          <p:cNvPr id="4" name="Title 3">
            <a:extLst>
              <a:ext uri="{FF2B5EF4-FFF2-40B4-BE49-F238E27FC236}">
                <a16:creationId xmlns:a16="http://schemas.microsoft.com/office/drawing/2014/main" id="{9705F7BC-CBA9-110D-8A00-817FFEBBE9AF}"/>
              </a:ext>
            </a:extLst>
          </p:cNvPr>
          <p:cNvSpPr>
            <a:spLocks noGrp="1"/>
          </p:cNvSpPr>
          <p:nvPr>
            <p:ph type="title"/>
          </p:nvPr>
        </p:nvSpPr>
        <p:spPr/>
        <p:txBody>
          <a:bodyPr/>
          <a:lstStyle/>
          <a:p>
            <a:r>
              <a:rPr lang="en-US" dirty="0"/>
              <a:t>C vs Java vs Python</a:t>
            </a:r>
          </a:p>
        </p:txBody>
      </p:sp>
      <p:sp>
        <p:nvSpPr>
          <p:cNvPr id="6" name="Content Placeholder 5">
            <a:extLst>
              <a:ext uri="{FF2B5EF4-FFF2-40B4-BE49-F238E27FC236}">
                <a16:creationId xmlns:a16="http://schemas.microsoft.com/office/drawing/2014/main" id="{7299C92E-6BE2-2897-32A9-E34267EB4832}"/>
              </a:ext>
            </a:extLst>
          </p:cNvPr>
          <p:cNvSpPr>
            <a:spLocks noGrp="1"/>
          </p:cNvSpPr>
          <p:nvPr>
            <p:ph idx="13"/>
          </p:nvPr>
        </p:nvSpPr>
        <p:spPr>
          <a:xfrm>
            <a:off x="404745" y="1289097"/>
            <a:ext cx="4354542" cy="3084600"/>
          </a:xfrm>
          <a:ln>
            <a:solidFill>
              <a:schemeClr val="accent1"/>
            </a:solidFill>
          </a:ln>
        </p:spPr>
        <p:txBody>
          <a:bodyPr>
            <a:normAutofit fontScale="92500"/>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a:t>
            </a:r>
            <a:r>
              <a:rPr lang="en-US" sz="1600" b="1" dirty="0">
                <a:solidFill>
                  <a:srgbClr val="FF0000"/>
                </a:solidFill>
                <a:latin typeface="Consolas" panose="020B0609020204030204" pitchFamily="49" charset="0"/>
              </a:rPr>
              <a:t>�</a:t>
            </a:r>
          </a:p>
        </p:txBody>
      </p:sp>
      <p:sp>
        <p:nvSpPr>
          <p:cNvPr id="7" name="Content Placeholder 4">
            <a:extLst>
              <a:ext uri="{FF2B5EF4-FFF2-40B4-BE49-F238E27FC236}">
                <a16:creationId xmlns:a16="http://schemas.microsoft.com/office/drawing/2014/main" id="{4DCDD856-9F60-53C3-035E-31D0203E7438}"/>
              </a:ext>
            </a:extLst>
          </p:cNvPr>
          <p:cNvSpPr txBox="1">
            <a:spLocks/>
          </p:cNvSpPr>
          <p:nvPr/>
        </p:nvSpPr>
        <p:spPr bwMode="auto">
          <a:xfrm>
            <a:off x="4099910" y="4167916"/>
            <a:ext cx="5633413" cy="3271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8" name="Content Placeholder 5">
            <a:extLst>
              <a:ext uri="{FF2B5EF4-FFF2-40B4-BE49-F238E27FC236}">
                <a16:creationId xmlns:a16="http://schemas.microsoft.com/office/drawing/2014/main" id="{67A55BD3-E44E-1DBC-5427-960731ED0A27}"/>
              </a:ext>
            </a:extLst>
          </p:cNvPr>
          <p:cNvSpPr txBox="1">
            <a:spLocks/>
          </p:cNvSpPr>
          <p:nvPr/>
        </p:nvSpPr>
        <p:spPr bwMode="auto">
          <a:xfrm>
            <a:off x="3810369" y="4539599"/>
            <a:ext cx="4107864" cy="1366798"/>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lnSpcReduction="10000"/>
          </a:bodyPr>
          <a:lstStyle>
            <a:lvl1pPr marL="168275" indent="-168275"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68325"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746125" indent="-177800"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914400" indent="-168275"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600" dirty="0">
                <a:latin typeface="Consolas" panose="020B0609020204030204" pitchFamily="49" charset="0"/>
              </a:rPr>
              <a:t>import sys</a:t>
            </a:r>
            <a:br>
              <a:rPr lang="en-US" sz="1600" dirty="0">
                <a:latin typeface="Consolas" panose="020B0609020204030204" pitchFamily="49" charset="0"/>
              </a:rPr>
            </a:br>
            <a:r>
              <a:rPr lang="en-US" sz="1600" dirty="0" err="1">
                <a:latin typeface="Consolas" panose="020B0609020204030204" pitchFamily="49" charset="0"/>
              </a:rPr>
              <a:t>arr</a:t>
            </a:r>
            <a:r>
              <a:rPr lang="en-US" sz="1600" dirty="0">
                <a:latin typeface="Consolas" panose="020B0609020204030204" pitchFamily="49" charset="0"/>
              </a:rPr>
              <a:t> = [‘a’, ‘b’, ‘c’, ‘d’]</a:t>
            </a:r>
            <a:br>
              <a:rPr lang="en-US" sz="1600" dirty="0">
                <a:latin typeface="Consolas" panose="020B0609020204030204" pitchFamily="49" charset="0"/>
              </a:rPr>
            </a:br>
            <a:r>
              <a:rPr lang="en-US" sz="1600" dirty="0">
                <a:latin typeface="Consolas" panose="020B0609020204030204" pitchFamily="49" charset="0"/>
              </a:rPr>
              <a:t>index = int(</a:t>
            </a:r>
            <a:r>
              <a:rPr lang="en-US" sz="1600" dirty="0" err="1">
                <a:latin typeface="Consolas" panose="020B0609020204030204" pitchFamily="49" charset="0"/>
              </a:rPr>
              <a:t>sys.argv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print(</a:t>
            </a:r>
            <a:r>
              <a:rPr lang="en-US" sz="1600" dirty="0" err="1">
                <a:latin typeface="Consolas" panose="020B0609020204030204" pitchFamily="49" charset="0"/>
              </a:rPr>
              <a:t>arr</a:t>
            </a:r>
            <a:r>
              <a:rPr lang="en-US" sz="1600" dirty="0">
                <a:latin typeface="Consolas" panose="020B0609020204030204" pitchFamily="49" charset="0"/>
              </a:rPr>
              <a:t>[index])</a:t>
            </a:r>
            <a:br>
              <a:rPr lang="en-US" sz="1600" b="1" dirty="0">
                <a:latin typeface="Consolas" panose="020B0609020204030204" pitchFamily="49" charset="0"/>
              </a:rPr>
            </a:br>
            <a:r>
              <a:rPr lang="en-US" sz="1600" b="1" dirty="0">
                <a:latin typeface="Consolas" panose="020B0609020204030204" pitchFamily="49" charset="0"/>
              </a:rPr>
              <a:t>&gt; python3 test.py 10</a:t>
            </a:r>
            <a:br>
              <a:rPr lang="en-US" sz="1600" b="1" dirty="0">
                <a:latin typeface="Consolas" panose="020B0609020204030204" pitchFamily="49" charset="0"/>
              </a:rPr>
            </a:br>
            <a:r>
              <a:rPr lang="en-US" sz="1600" b="1" dirty="0" err="1">
                <a:solidFill>
                  <a:srgbClr val="FF0000"/>
                </a:solidFill>
                <a:latin typeface="Consolas" panose="020B0609020204030204" pitchFamily="49" charset="0"/>
              </a:rPr>
              <a:t>IndexError</a:t>
            </a:r>
            <a:r>
              <a:rPr lang="en-US" sz="1600" b="1" dirty="0">
                <a:solidFill>
                  <a:srgbClr val="FF0000"/>
                </a:solidFill>
                <a:latin typeface="Consolas" panose="020B0609020204030204" pitchFamily="49" charset="0"/>
              </a:rPr>
              <a:t>: list index out of range</a:t>
            </a:r>
          </a:p>
        </p:txBody>
      </p:sp>
      <p:sp>
        <p:nvSpPr>
          <p:cNvPr id="9" name="TextBox 8">
            <a:extLst>
              <a:ext uri="{FF2B5EF4-FFF2-40B4-BE49-F238E27FC236}">
                <a16:creationId xmlns:a16="http://schemas.microsoft.com/office/drawing/2014/main" id="{486F8819-1C62-6EC9-4488-D32272BCE9C1}"/>
              </a:ext>
            </a:extLst>
          </p:cNvPr>
          <p:cNvSpPr txBox="1"/>
          <p:nvPr/>
        </p:nvSpPr>
        <p:spPr>
          <a:xfrm>
            <a:off x="1983739" y="827432"/>
            <a:ext cx="949875" cy="461665"/>
          </a:xfrm>
          <a:prstGeom prst="rect">
            <a:avLst/>
          </a:prstGeom>
          <a:noFill/>
        </p:spPr>
        <p:txBody>
          <a:bodyPr wrap="none" rtlCol="0">
            <a:spAutoFit/>
          </a:bodyPr>
          <a:lstStyle/>
          <a:p>
            <a:r>
              <a:rPr lang="en-US" sz="2400" b="1" i="1" dirty="0"/>
              <a:t>C/C++</a:t>
            </a:r>
          </a:p>
        </p:txBody>
      </p:sp>
      <p:sp>
        <p:nvSpPr>
          <p:cNvPr id="10" name="TextBox 9">
            <a:extLst>
              <a:ext uri="{FF2B5EF4-FFF2-40B4-BE49-F238E27FC236}">
                <a16:creationId xmlns:a16="http://schemas.microsoft.com/office/drawing/2014/main" id="{C70D9F04-EB27-B237-125B-A72B1AA1BAB7}"/>
              </a:ext>
            </a:extLst>
          </p:cNvPr>
          <p:cNvSpPr txBox="1"/>
          <p:nvPr/>
        </p:nvSpPr>
        <p:spPr>
          <a:xfrm>
            <a:off x="7204454" y="827431"/>
            <a:ext cx="755335" cy="461665"/>
          </a:xfrm>
          <a:prstGeom prst="rect">
            <a:avLst/>
          </a:prstGeom>
          <a:noFill/>
        </p:spPr>
        <p:txBody>
          <a:bodyPr wrap="none" rtlCol="0">
            <a:spAutoFit/>
          </a:bodyPr>
          <a:lstStyle/>
          <a:p>
            <a:r>
              <a:rPr lang="en-US" sz="2400" b="1" i="1" dirty="0"/>
              <a:t>Java</a:t>
            </a:r>
          </a:p>
        </p:txBody>
      </p:sp>
      <p:sp>
        <p:nvSpPr>
          <p:cNvPr id="11" name="TextBox 10">
            <a:extLst>
              <a:ext uri="{FF2B5EF4-FFF2-40B4-BE49-F238E27FC236}">
                <a16:creationId xmlns:a16="http://schemas.microsoft.com/office/drawing/2014/main" id="{9CE04533-80D0-2526-7BC8-1F2C13350FF0}"/>
              </a:ext>
            </a:extLst>
          </p:cNvPr>
          <p:cNvSpPr txBox="1"/>
          <p:nvPr/>
        </p:nvSpPr>
        <p:spPr>
          <a:xfrm>
            <a:off x="8028406" y="4504852"/>
            <a:ext cx="1090042" cy="461665"/>
          </a:xfrm>
          <a:prstGeom prst="rect">
            <a:avLst/>
          </a:prstGeom>
          <a:noFill/>
        </p:spPr>
        <p:txBody>
          <a:bodyPr wrap="none" rtlCol="0">
            <a:spAutoFit/>
          </a:bodyPr>
          <a:lstStyle/>
          <a:p>
            <a:r>
              <a:rPr lang="en-US" sz="2400" b="1" i="1" dirty="0"/>
              <a:t>Python</a:t>
            </a:r>
          </a:p>
        </p:txBody>
      </p:sp>
      <p:sp>
        <p:nvSpPr>
          <p:cNvPr id="12" name="Rectangle 11">
            <a:extLst>
              <a:ext uri="{FF2B5EF4-FFF2-40B4-BE49-F238E27FC236}">
                <a16:creationId xmlns:a16="http://schemas.microsoft.com/office/drawing/2014/main" id="{4258AD4F-4679-2E75-931E-4EE93FA4DC49}"/>
              </a:ext>
            </a:extLst>
          </p:cNvPr>
          <p:cNvSpPr/>
          <p:nvPr/>
        </p:nvSpPr>
        <p:spPr>
          <a:xfrm>
            <a:off x="404745" y="3812161"/>
            <a:ext cx="1288974" cy="429658"/>
          </a:xfrm>
          <a:prstGeom prst="rect">
            <a:avLst/>
          </a:prstGeom>
          <a:noFill/>
          <a:ln w="3175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3" name="TextBox 12">
            <a:extLst>
              <a:ext uri="{FF2B5EF4-FFF2-40B4-BE49-F238E27FC236}">
                <a16:creationId xmlns:a16="http://schemas.microsoft.com/office/drawing/2014/main" id="{DC94A039-8D60-5FF5-D4FE-9F2F2D9FA85B}"/>
              </a:ext>
            </a:extLst>
          </p:cNvPr>
          <p:cNvSpPr txBox="1"/>
          <p:nvPr/>
        </p:nvSpPr>
        <p:spPr>
          <a:xfrm>
            <a:off x="302508" y="4504851"/>
            <a:ext cx="3368038" cy="461665"/>
          </a:xfrm>
          <a:prstGeom prst="rect">
            <a:avLst/>
          </a:prstGeom>
          <a:noFill/>
        </p:spPr>
        <p:txBody>
          <a:bodyPr wrap="none" rtlCol="0">
            <a:spAutoFit/>
          </a:bodyPr>
          <a:lstStyle/>
          <a:p>
            <a:r>
              <a:rPr lang="en-US" sz="2400" b="1" i="1" u="sng" dirty="0"/>
              <a:t>Undefined Behavior (UB)</a:t>
            </a:r>
            <a:endParaRPr lang="en-US" sz="2400" b="1" i="1" dirty="0"/>
          </a:p>
        </p:txBody>
      </p:sp>
    </p:spTree>
    <p:extLst>
      <p:ext uri="{BB962C8B-B14F-4D97-AF65-F5344CB8AC3E}">
        <p14:creationId xmlns:p14="http://schemas.microsoft.com/office/powerpoint/2010/main" val="929876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Content Placeholder 27">
            <a:extLst>
              <a:ext uri="{FF2B5EF4-FFF2-40B4-BE49-F238E27FC236}">
                <a16:creationId xmlns:a16="http://schemas.microsoft.com/office/drawing/2014/main" id="{FFD50FDC-D298-E21D-E03E-58EF40E9A5CB}"/>
              </a:ext>
            </a:extLst>
          </p:cNvPr>
          <p:cNvSpPr>
            <a:spLocks noGrp="1"/>
          </p:cNvSpPr>
          <p:nvPr>
            <p:ph idx="1"/>
          </p:nvPr>
        </p:nvSpPr>
        <p:spPr/>
        <p:txBody>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a:t>
            </a:r>
            <a:r>
              <a:rPr lang="en-US" sz="1600" b="1" dirty="0">
                <a:solidFill>
                  <a:srgbClr val="FF0000"/>
                </a:solidFill>
                <a:latin typeface="Consolas" panose="020B0609020204030204" pitchFamily="49" charset="0"/>
              </a:rPr>
              <a:t>�</a:t>
            </a:r>
          </a:p>
          <a:p>
            <a:endParaRPr lang="en-US" dirty="0"/>
          </a:p>
        </p:txBody>
      </p:sp>
      <p:sp>
        <p:nvSpPr>
          <p:cNvPr id="5" name="Title 4">
            <a:extLst>
              <a:ext uri="{FF2B5EF4-FFF2-40B4-BE49-F238E27FC236}">
                <a16:creationId xmlns:a16="http://schemas.microsoft.com/office/drawing/2014/main" id="{D46065B3-0EC7-94B2-76EE-642B34F52398}"/>
              </a:ext>
            </a:extLst>
          </p:cNvPr>
          <p:cNvSpPr>
            <a:spLocks noGrp="1"/>
          </p:cNvSpPr>
          <p:nvPr>
            <p:ph type="title"/>
          </p:nvPr>
        </p:nvSpPr>
        <p:spPr/>
        <p:txBody>
          <a:bodyPr/>
          <a:lstStyle/>
          <a:p>
            <a:r>
              <a:rPr lang="en-US" dirty="0"/>
              <a:t>Memory layout</a:t>
            </a:r>
          </a:p>
        </p:txBody>
      </p:sp>
      <p:grpSp>
        <p:nvGrpSpPr>
          <p:cNvPr id="8" name="Group 7">
            <a:extLst>
              <a:ext uri="{FF2B5EF4-FFF2-40B4-BE49-F238E27FC236}">
                <a16:creationId xmlns:a16="http://schemas.microsoft.com/office/drawing/2014/main" id="{7BD9D40C-BAF6-47A1-E72F-CAD1869BEFF3}"/>
              </a:ext>
            </a:extLst>
          </p:cNvPr>
          <p:cNvGrpSpPr/>
          <p:nvPr/>
        </p:nvGrpSpPr>
        <p:grpSpPr>
          <a:xfrm>
            <a:off x="-1399860" y="1026543"/>
            <a:ext cx="6791695" cy="4396154"/>
            <a:chOff x="5033991" y="914400"/>
            <a:chExt cx="6791695" cy="4396154"/>
          </a:xfrm>
        </p:grpSpPr>
        <p:sp>
          <p:nvSpPr>
            <p:cNvPr id="10" name="TextBox 9">
              <a:extLst>
                <a:ext uri="{FF2B5EF4-FFF2-40B4-BE49-F238E27FC236}">
                  <a16:creationId xmlns:a16="http://schemas.microsoft.com/office/drawing/2014/main" id="{E1BBE8A3-601A-521B-6723-EE0A547F4A45}"/>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1" name="Group 10">
              <a:extLst>
                <a:ext uri="{FF2B5EF4-FFF2-40B4-BE49-F238E27FC236}">
                  <a16:creationId xmlns:a16="http://schemas.microsoft.com/office/drawing/2014/main" id="{1C7B0CE8-A429-62F3-D60B-A90C698A5567}"/>
                </a:ext>
              </a:extLst>
            </p:cNvPr>
            <p:cNvGrpSpPr/>
            <p:nvPr/>
          </p:nvGrpSpPr>
          <p:grpSpPr>
            <a:xfrm>
              <a:off x="7561385" y="914400"/>
              <a:ext cx="4264301" cy="4396154"/>
              <a:chOff x="7561385" y="914400"/>
              <a:chExt cx="4264301" cy="4396154"/>
            </a:xfrm>
          </p:grpSpPr>
          <p:sp>
            <p:nvSpPr>
              <p:cNvPr id="12" name="TextBox 11">
                <a:extLst>
                  <a:ext uri="{FF2B5EF4-FFF2-40B4-BE49-F238E27FC236}">
                    <a16:creationId xmlns:a16="http://schemas.microsoft.com/office/drawing/2014/main" id="{4F4357C2-A3F6-48DB-A7FF-A71B83F1E4AD}"/>
                  </a:ext>
                </a:extLst>
              </p:cNvPr>
              <p:cNvSpPr txBox="1"/>
              <p:nvPr/>
            </p:nvSpPr>
            <p:spPr>
              <a:xfrm>
                <a:off x="10562199" y="977630"/>
                <a:ext cx="1263487" cy="523220"/>
              </a:xfrm>
              <a:prstGeom prst="rect">
                <a:avLst/>
              </a:prstGeom>
              <a:noFill/>
            </p:spPr>
            <p:txBody>
              <a:bodyPr wrap="none" rtlCol="0">
                <a:spAutoFit/>
              </a:bodyPr>
              <a:lstStyle/>
              <a:p>
                <a:r>
                  <a:rPr lang="en-US" sz="2800" b="1" i="1" dirty="0"/>
                  <a:t>0x1004</a:t>
                </a:r>
              </a:p>
            </p:txBody>
          </p:sp>
          <p:sp>
            <p:nvSpPr>
              <p:cNvPr id="13" name="TextBox 12">
                <a:extLst>
                  <a:ext uri="{FF2B5EF4-FFF2-40B4-BE49-F238E27FC236}">
                    <a16:creationId xmlns:a16="http://schemas.microsoft.com/office/drawing/2014/main" id="{6A428C83-9C8F-BFBF-F88F-0B7E83909034}"/>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14" name="TextBox 13">
                <a:extLst>
                  <a:ext uri="{FF2B5EF4-FFF2-40B4-BE49-F238E27FC236}">
                    <a16:creationId xmlns:a16="http://schemas.microsoft.com/office/drawing/2014/main" id="{085B1653-D106-B4D1-DED0-124C508F1E2E}"/>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15" name="TextBox 14">
                <a:extLst>
                  <a:ext uri="{FF2B5EF4-FFF2-40B4-BE49-F238E27FC236}">
                    <a16:creationId xmlns:a16="http://schemas.microsoft.com/office/drawing/2014/main" id="{2C9EB58A-B720-83E5-7F73-AFD7BB37FDDE}"/>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16" name="TextBox 15">
                <a:extLst>
                  <a:ext uri="{FF2B5EF4-FFF2-40B4-BE49-F238E27FC236}">
                    <a16:creationId xmlns:a16="http://schemas.microsoft.com/office/drawing/2014/main" id="{5782DF5D-7957-651F-0E57-89F8FEAD2866}"/>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17" name="TextBox 16">
                <a:extLst>
                  <a:ext uri="{FF2B5EF4-FFF2-40B4-BE49-F238E27FC236}">
                    <a16:creationId xmlns:a16="http://schemas.microsoft.com/office/drawing/2014/main" id="{80784832-DD8A-7D60-003F-BD2638B5A852}"/>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18" name="Group 17">
                <a:extLst>
                  <a:ext uri="{FF2B5EF4-FFF2-40B4-BE49-F238E27FC236}">
                    <a16:creationId xmlns:a16="http://schemas.microsoft.com/office/drawing/2014/main" id="{80D7BC0F-487A-2085-0C47-404B6620227C}"/>
                  </a:ext>
                </a:extLst>
              </p:cNvPr>
              <p:cNvGrpSpPr/>
              <p:nvPr/>
            </p:nvGrpSpPr>
            <p:grpSpPr>
              <a:xfrm>
                <a:off x="7561385" y="914400"/>
                <a:ext cx="2942492" cy="4396154"/>
                <a:chOff x="6822831" y="973015"/>
                <a:chExt cx="2942492" cy="4396154"/>
              </a:xfrm>
            </p:grpSpPr>
            <p:grpSp>
              <p:nvGrpSpPr>
                <p:cNvPr id="19" name="Group 18">
                  <a:extLst>
                    <a:ext uri="{FF2B5EF4-FFF2-40B4-BE49-F238E27FC236}">
                      <a16:creationId xmlns:a16="http://schemas.microsoft.com/office/drawing/2014/main" id="{545FFD72-1AB9-0724-8720-650D11617788}"/>
                    </a:ext>
                  </a:extLst>
                </p:cNvPr>
                <p:cNvGrpSpPr/>
                <p:nvPr/>
              </p:nvGrpSpPr>
              <p:grpSpPr>
                <a:xfrm>
                  <a:off x="6822831" y="973015"/>
                  <a:ext cx="2942492" cy="4396154"/>
                  <a:chOff x="6822831" y="973015"/>
                  <a:chExt cx="2942492" cy="4396154"/>
                </a:xfrm>
              </p:grpSpPr>
              <p:cxnSp>
                <p:nvCxnSpPr>
                  <p:cNvPr id="25" name="Straight Connector 24">
                    <a:extLst>
                      <a:ext uri="{FF2B5EF4-FFF2-40B4-BE49-F238E27FC236}">
                        <a16:creationId xmlns:a16="http://schemas.microsoft.com/office/drawing/2014/main" id="{51792F26-F221-B20C-6897-4F52A72836CA}"/>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028819F7-8FE6-3F31-510C-B6E6F46919EA}"/>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0" name="Straight Connector 19">
                  <a:extLst>
                    <a:ext uri="{FF2B5EF4-FFF2-40B4-BE49-F238E27FC236}">
                      <a16:creationId xmlns:a16="http://schemas.microsoft.com/office/drawing/2014/main" id="{F5FCD9A7-CA81-0481-6E0A-A51DDAA9409F}"/>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44F55DAB-893F-589A-F2C5-C0CC6582AAD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0CAC4588-EA32-AC47-70D3-C86A4C829C9C}"/>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3" name="Straight Connector 22">
                  <a:extLst>
                    <a:ext uri="{FF2B5EF4-FFF2-40B4-BE49-F238E27FC236}">
                      <a16:creationId xmlns:a16="http://schemas.microsoft.com/office/drawing/2014/main" id="{49B8BB15-F471-983B-36B6-53DF8FB5679F}"/>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93659BC1-B379-3B8B-7B7F-585E80EAEACE}"/>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31" name="Rectangle: Rounded Corners 30">
            <a:extLst>
              <a:ext uri="{FF2B5EF4-FFF2-40B4-BE49-F238E27FC236}">
                <a16:creationId xmlns:a16="http://schemas.microsoft.com/office/drawing/2014/main" id="{231D5992-D114-92AB-C2CC-2B8F0C6D0152}"/>
              </a:ext>
            </a:extLst>
          </p:cNvPr>
          <p:cNvSpPr/>
          <p:nvPr/>
        </p:nvSpPr>
        <p:spPr>
          <a:xfrm>
            <a:off x="1914061" y="5053558"/>
            <a:ext cx="1158642"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a:t>
            </a:r>
            <a:endParaRPr lang="en-US" dirty="0"/>
          </a:p>
        </p:txBody>
      </p:sp>
      <p:sp>
        <p:nvSpPr>
          <p:cNvPr id="32" name="Rectangle: Rounded Corners 31">
            <a:extLst>
              <a:ext uri="{FF2B5EF4-FFF2-40B4-BE49-F238E27FC236}">
                <a16:creationId xmlns:a16="http://schemas.microsoft.com/office/drawing/2014/main" id="{566D0DEE-1B26-701B-4B65-D7B8AB5F7A6C}"/>
              </a:ext>
            </a:extLst>
          </p:cNvPr>
          <p:cNvSpPr/>
          <p:nvPr/>
        </p:nvSpPr>
        <p:spPr>
          <a:xfrm>
            <a:off x="1888372" y="4326893"/>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[0]</a:t>
            </a:r>
            <a:endParaRPr lang="en-US" dirty="0"/>
          </a:p>
        </p:txBody>
      </p:sp>
      <p:sp>
        <p:nvSpPr>
          <p:cNvPr id="33" name="Rectangle: Rounded Corners 32">
            <a:extLst>
              <a:ext uri="{FF2B5EF4-FFF2-40B4-BE49-F238E27FC236}">
                <a16:creationId xmlns:a16="http://schemas.microsoft.com/office/drawing/2014/main" id="{5AE86BD6-DD16-E839-F1C1-BBB350331FBC}"/>
              </a:ext>
            </a:extLst>
          </p:cNvPr>
          <p:cNvSpPr/>
          <p:nvPr/>
        </p:nvSpPr>
        <p:spPr>
          <a:xfrm>
            <a:off x="1850770" y="3663913"/>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[1]</a:t>
            </a:r>
            <a:endParaRPr lang="en-US" dirty="0"/>
          </a:p>
        </p:txBody>
      </p:sp>
      <p:sp>
        <p:nvSpPr>
          <p:cNvPr id="34" name="Rectangle: Rounded Corners 33">
            <a:extLst>
              <a:ext uri="{FF2B5EF4-FFF2-40B4-BE49-F238E27FC236}">
                <a16:creationId xmlns:a16="http://schemas.microsoft.com/office/drawing/2014/main" id="{9DE60871-C9A0-F123-5C94-0A8C8926588E}"/>
              </a:ext>
            </a:extLst>
          </p:cNvPr>
          <p:cNvSpPr/>
          <p:nvPr/>
        </p:nvSpPr>
        <p:spPr>
          <a:xfrm>
            <a:off x="1858351" y="3001943"/>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[2]</a:t>
            </a:r>
            <a:endParaRPr lang="en-US" dirty="0"/>
          </a:p>
        </p:txBody>
      </p:sp>
      <p:sp>
        <p:nvSpPr>
          <p:cNvPr id="35" name="Rectangle: Rounded Corners 34">
            <a:extLst>
              <a:ext uri="{FF2B5EF4-FFF2-40B4-BE49-F238E27FC236}">
                <a16:creationId xmlns:a16="http://schemas.microsoft.com/office/drawing/2014/main" id="{4A0BA6AD-76A1-3F4F-51B1-525802D96621}"/>
              </a:ext>
            </a:extLst>
          </p:cNvPr>
          <p:cNvSpPr/>
          <p:nvPr/>
        </p:nvSpPr>
        <p:spPr>
          <a:xfrm>
            <a:off x="1842586" y="2328188"/>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[3]</a:t>
            </a:r>
            <a:endParaRPr lang="en-US" dirty="0"/>
          </a:p>
        </p:txBody>
      </p:sp>
      <p:cxnSp>
        <p:nvCxnSpPr>
          <p:cNvPr id="36" name="Straight Connector 35">
            <a:extLst>
              <a:ext uri="{FF2B5EF4-FFF2-40B4-BE49-F238E27FC236}">
                <a16:creationId xmlns:a16="http://schemas.microsoft.com/office/drawing/2014/main" id="{110C3A85-FC3B-CF50-CCE2-CC8BE61896F1}"/>
              </a:ext>
            </a:extLst>
          </p:cNvPr>
          <p:cNvCxnSpPr>
            <a:cxnSpLocks/>
          </p:cNvCxnSpPr>
          <p:nvPr/>
        </p:nvCxnSpPr>
        <p:spPr>
          <a:xfrm flipH="1">
            <a:off x="1127534" y="4988863"/>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7" name="Straight Connector 36">
            <a:extLst>
              <a:ext uri="{FF2B5EF4-FFF2-40B4-BE49-F238E27FC236}">
                <a16:creationId xmlns:a16="http://schemas.microsoft.com/office/drawing/2014/main" id="{55EF6859-A72B-EE85-12E4-565BBFD447EC}"/>
              </a:ext>
            </a:extLst>
          </p:cNvPr>
          <p:cNvCxnSpPr>
            <a:cxnSpLocks/>
          </p:cNvCxnSpPr>
          <p:nvPr/>
        </p:nvCxnSpPr>
        <p:spPr>
          <a:xfrm flipH="1">
            <a:off x="1134559" y="110678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38" name="TextBox 37">
            <a:extLst>
              <a:ext uri="{FF2B5EF4-FFF2-40B4-BE49-F238E27FC236}">
                <a16:creationId xmlns:a16="http://schemas.microsoft.com/office/drawing/2014/main" id="{F916BC52-2750-405B-C824-B276CD5C5773}"/>
              </a:ext>
            </a:extLst>
          </p:cNvPr>
          <p:cNvSpPr txBox="1"/>
          <p:nvPr/>
        </p:nvSpPr>
        <p:spPr>
          <a:xfrm>
            <a:off x="1672296" y="1746046"/>
            <a:ext cx="1665712" cy="461665"/>
          </a:xfrm>
          <a:prstGeom prst="rect">
            <a:avLst/>
          </a:prstGeom>
          <a:noFill/>
        </p:spPr>
        <p:txBody>
          <a:bodyPr wrap="none" rtlCol="0">
            <a:spAutoFit/>
          </a:bodyPr>
          <a:lstStyle/>
          <a:p>
            <a:r>
              <a:rPr lang="en-US" sz="2400" b="1" i="1" dirty="0"/>
              <a:t>… 6 bytes …</a:t>
            </a:r>
          </a:p>
        </p:txBody>
      </p:sp>
      <p:sp>
        <p:nvSpPr>
          <p:cNvPr id="39" name="Rectangle: Rounded Corners 38">
            <a:extLst>
              <a:ext uri="{FF2B5EF4-FFF2-40B4-BE49-F238E27FC236}">
                <a16:creationId xmlns:a16="http://schemas.microsoft.com/office/drawing/2014/main" id="{D92A93B5-E491-F11A-A73B-9DA2786D2676}"/>
              </a:ext>
            </a:extLst>
          </p:cNvPr>
          <p:cNvSpPr/>
          <p:nvPr/>
        </p:nvSpPr>
        <p:spPr>
          <a:xfrm>
            <a:off x="1134559" y="1164047"/>
            <a:ext cx="2877146" cy="461811"/>
          </a:xfrm>
          <a:prstGeom prst="round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 garbage value ..</a:t>
            </a:r>
            <a:endParaRPr lang="en-US" dirty="0"/>
          </a:p>
        </p:txBody>
      </p:sp>
      <p:sp>
        <p:nvSpPr>
          <p:cNvPr id="40" name="TextBox 39">
            <a:extLst>
              <a:ext uri="{FF2B5EF4-FFF2-40B4-BE49-F238E27FC236}">
                <a16:creationId xmlns:a16="http://schemas.microsoft.com/office/drawing/2014/main" id="{FDF98E53-4584-45FE-A379-979C26B8C2B0}"/>
              </a:ext>
            </a:extLst>
          </p:cNvPr>
          <p:cNvSpPr txBox="1"/>
          <p:nvPr/>
        </p:nvSpPr>
        <p:spPr>
          <a:xfrm>
            <a:off x="4107449" y="4959312"/>
            <a:ext cx="1064715" cy="523220"/>
          </a:xfrm>
          <a:prstGeom prst="rect">
            <a:avLst/>
          </a:prstGeom>
          <a:noFill/>
        </p:spPr>
        <p:txBody>
          <a:bodyPr wrap="none" rtlCol="0">
            <a:spAutoFit/>
          </a:bodyPr>
          <a:lstStyle/>
          <a:p>
            <a:r>
              <a:rPr lang="en-US" sz="2800" b="1" i="1" dirty="0"/>
              <a:t>0xFFA</a:t>
            </a:r>
          </a:p>
        </p:txBody>
      </p:sp>
      <p:grpSp>
        <p:nvGrpSpPr>
          <p:cNvPr id="47" name="Group 46">
            <a:extLst>
              <a:ext uri="{FF2B5EF4-FFF2-40B4-BE49-F238E27FC236}">
                <a16:creationId xmlns:a16="http://schemas.microsoft.com/office/drawing/2014/main" id="{DD93448F-F7BD-765D-5DC7-3FD24BAEFC34}"/>
              </a:ext>
            </a:extLst>
          </p:cNvPr>
          <p:cNvGrpSpPr/>
          <p:nvPr/>
        </p:nvGrpSpPr>
        <p:grpSpPr>
          <a:xfrm>
            <a:off x="-48706" y="1625858"/>
            <a:ext cx="1051241" cy="3363005"/>
            <a:chOff x="-48706" y="1625858"/>
            <a:chExt cx="1051241" cy="3363005"/>
          </a:xfrm>
        </p:grpSpPr>
        <p:cxnSp>
          <p:nvCxnSpPr>
            <p:cNvPr id="42" name="Straight Connector 41">
              <a:extLst>
                <a:ext uri="{FF2B5EF4-FFF2-40B4-BE49-F238E27FC236}">
                  <a16:creationId xmlns:a16="http://schemas.microsoft.com/office/drawing/2014/main" id="{836C6D42-30E7-96F1-43CA-5C2D64FF3833}"/>
                </a:ext>
              </a:extLst>
            </p:cNvPr>
            <p:cNvCxnSpPr/>
            <p:nvPr/>
          </p:nvCxnSpPr>
          <p:spPr>
            <a:xfrm>
              <a:off x="165253" y="4988863"/>
              <a:ext cx="837282" cy="0"/>
            </a:xfrm>
            <a:prstGeom prst="line">
              <a:avLst/>
            </a:prstGeom>
            <a:ln w="34925">
              <a:solidFill>
                <a:schemeClr val="accent4"/>
              </a:solidFill>
            </a:ln>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E25C055D-F878-BE6A-6514-95352CFE8954}"/>
                </a:ext>
              </a:extLst>
            </p:cNvPr>
            <p:cNvCxnSpPr/>
            <p:nvPr/>
          </p:nvCxnSpPr>
          <p:spPr>
            <a:xfrm>
              <a:off x="165253" y="1625858"/>
              <a:ext cx="837282" cy="0"/>
            </a:xfrm>
            <a:prstGeom prst="line">
              <a:avLst/>
            </a:prstGeom>
            <a:ln w="34925">
              <a:solidFill>
                <a:schemeClr val="accent4"/>
              </a:solidFill>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5721A238-FD2F-5373-9552-21F3703B3ABA}"/>
                </a:ext>
              </a:extLst>
            </p:cNvPr>
            <p:cNvCxnSpPr/>
            <p:nvPr/>
          </p:nvCxnSpPr>
          <p:spPr>
            <a:xfrm>
              <a:off x="572877" y="1660357"/>
              <a:ext cx="0" cy="3298955"/>
            </a:xfrm>
            <a:prstGeom prst="straightConnector1">
              <a:avLst/>
            </a:prstGeom>
            <a:ln w="31750">
              <a:solidFill>
                <a:schemeClr val="accent4"/>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CECAA67D-CF5B-EE97-2C56-3052A79ADB01}"/>
                </a:ext>
              </a:extLst>
            </p:cNvPr>
            <p:cNvSpPr txBox="1"/>
            <p:nvPr/>
          </p:nvSpPr>
          <p:spPr>
            <a:xfrm>
              <a:off x="-48706" y="2894981"/>
              <a:ext cx="649537" cy="461665"/>
            </a:xfrm>
            <a:prstGeom prst="rect">
              <a:avLst/>
            </a:prstGeom>
            <a:noFill/>
          </p:spPr>
          <p:txBody>
            <a:bodyPr wrap="none" rtlCol="0">
              <a:spAutoFit/>
            </a:bodyPr>
            <a:lstStyle/>
            <a:p>
              <a:r>
                <a:rPr lang="en-US" sz="2400" b="1" dirty="0"/>
                <a:t>+10</a:t>
              </a:r>
            </a:p>
          </p:txBody>
        </p:sp>
      </p:grpSp>
      <p:cxnSp>
        <p:nvCxnSpPr>
          <p:cNvPr id="49" name="Connector: Curved 48">
            <a:extLst>
              <a:ext uri="{FF2B5EF4-FFF2-40B4-BE49-F238E27FC236}">
                <a16:creationId xmlns:a16="http://schemas.microsoft.com/office/drawing/2014/main" id="{EA9D0F08-40F3-70F0-0B3E-4FADE08DD760}"/>
              </a:ext>
            </a:extLst>
          </p:cNvPr>
          <p:cNvCxnSpPr>
            <a:stCxn id="39" idx="3"/>
          </p:cNvCxnSpPr>
          <p:nvPr/>
        </p:nvCxnSpPr>
        <p:spPr>
          <a:xfrm>
            <a:off x="4011705" y="1394953"/>
            <a:ext cx="2444179" cy="2034047"/>
          </a:xfrm>
          <a:prstGeom prst="curvedConnector3">
            <a:avLst/>
          </a:prstGeom>
          <a:ln w="3810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3425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3D05BF6-03AA-3829-D5F6-F49AC92ECF11}"/>
              </a:ext>
            </a:extLst>
          </p:cNvPr>
          <p:cNvSpPr>
            <a:spLocks noGrp="1"/>
          </p:cNvSpPr>
          <p:nvPr>
            <p:ph idx="1"/>
          </p:nvPr>
        </p:nvSpPr>
        <p:spPr/>
        <p:txBody>
          <a:bodyPr>
            <a:normAutofit lnSpcReduction="10000"/>
          </a:bodyPr>
          <a:lstStyle/>
          <a:p>
            <a:r>
              <a:rPr lang="en-US" dirty="0"/>
              <a:t>Buffers (arrays, strings) have bounds</a:t>
            </a:r>
          </a:p>
          <a:p>
            <a:pPr lvl="1"/>
            <a:r>
              <a:rPr lang="en-US" dirty="0"/>
              <a:t>[0, Size of the buffer]</a:t>
            </a:r>
          </a:p>
          <a:p>
            <a:pPr lvl="1"/>
            <a:r>
              <a:rPr lang="en-US" dirty="0">
                <a:latin typeface="Consolas" panose="020B0609020204030204" pitchFamily="49" charset="0"/>
              </a:rPr>
              <a:t>char* p = malloc(128); // Bounds [0, 128]</a:t>
            </a:r>
          </a:p>
          <a:p>
            <a:r>
              <a:rPr lang="en-US" dirty="0"/>
              <a:t>C lacks bounds checks</a:t>
            </a:r>
          </a:p>
          <a:p>
            <a:r>
              <a:rPr lang="en-US" dirty="0">
                <a:latin typeface="Consolas" panose="020B0609020204030204" pitchFamily="49" charset="0"/>
              </a:rPr>
              <a:t>p[1000]</a:t>
            </a:r>
          </a:p>
          <a:p>
            <a:pPr lvl="1"/>
            <a:r>
              <a:rPr lang="en-US" b="1" i="1" dirty="0"/>
              <a:t>Assume </a:t>
            </a:r>
            <a:r>
              <a:rPr lang="en-US" dirty="0"/>
              <a:t>that p is pointing to a buffer that has at least 1000 elements</a:t>
            </a:r>
          </a:p>
          <a:p>
            <a:pPr lvl="1"/>
            <a:r>
              <a:rPr lang="en-US" b="1" i="1" dirty="0"/>
              <a:t>Try </a:t>
            </a:r>
            <a:r>
              <a:rPr lang="en-US" dirty="0"/>
              <a:t>to access the 1000</a:t>
            </a:r>
            <a:r>
              <a:rPr lang="en-US" baseline="30000" dirty="0"/>
              <a:t>th</a:t>
            </a:r>
            <a:r>
              <a:rPr lang="en-US" dirty="0"/>
              <a:t> element</a:t>
            </a:r>
          </a:p>
          <a:p>
            <a:pPr lvl="2"/>
            <a:r>
              <a:rPr lang="en-US" b="1" i="1" dirty="0"/>
              <a:t>Might</a:t>
            </a:r>
            <a:r>
              <a:rPr lang="en-US" dirty="0"/>
              <a:t> crash if memory isn’t mapped</a:t>
            </a:r>
          </a:p>
          <a:p>
            <a:pPr lvl="2"/>
            <a:r>
              <a:rPr lang="en-US" b="1" i="1" dirty="0"/>
              <a:t>Might</a:t>
            </a:r>
            <a:r>
              <a:rPr lang="en-US" dirty="0"/>
              <a:t> print whatever was in that memory</a:t>
            </a:r>
          </a:p>
          <a:p>
            <a:pPr lvl="2"/>
            <a:endParaRPr lang="en-US" b="1" i="1" dirty="0"/>
          </a:p>
        </p:txBody>
      </p:sp>
      <p:sp>
        <p:nvSpPr>
          <p:cNvPr id="5" name="Title 4">
            <a:extLst>
              <a:ext uri="{FF2B5EF4-FFF2-40B4-BE49-F238E27FC236}">
                <a16:creationId xmlns:a16="http://schemas.microsoft.com/office/drawing/2014/main" id="{3032836C-C6AA-B267-4896-CCF6A6AC0AE4}"/>
              </a:ext>
            </a:extLst>
          </p:cNvPr>
          <p:cNvSpPr>
            <a:spLocks noGrp="1"/>
          </p:cNvSpPr>
          <p:nvPr>
            <p:ph type="title"/>
          </p:nvPr>
        </p:nvSpPr>
        <p:spPr/>
        <p:txBody>
          <a:bodyPr/>
          <a:lstStyle/>
          <a:p>
            <a:r>
              <a:rPr lang="en-US" dirty="0"/>
              <a:t>C: lack of bounds checks</a:t>
            </a:r>
          </a:p>
        </p:txBody>
      </p:sp>
    </p:spTree>
    <p:extLst>
      <p:ext uri="{BB962C8B-B14F-4D97-AF65-F5344CB8AC3E}">
        <p14:creationId xmlns:p14="http://schemas.microsoft.com/office/powerpoint/2010/main" val="3109617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58DA12A-E779-BCAB-06CE-585DD0354749}"/>
              </a:ext>
            </a:extLst>
          </p:cNvPr>
          <p:cNvSpPr>
            <a:spLocks noGrp="1"/>
          </p:cNvSpPr>
          <p:nvPr>
            <p:ph idx="1"/>
          </p:nvPr>
        </p:nvSpPr>
        <p:spPr>
          <a:xfrm>
            <a:off x="360607" y="785004"/>
            <a:ext cx="11449319" cy="5228933"/>
          </a:xfrm>
        </p:spPr>
        <p:txBody>
          <a:bodyPr/>
          <a:lstStyle/>
          <a:p>
            <a:r>
              <a:rPr lang="en-US" dirty="0"/>
              <a:t>Java compiler inserts bounds checks for array accesses that are inserted at runtime</a:t>
            </a:r>
          </a:p>
          <a:p>
            <a:pPr lvl="1"/>
            <a:endParaRPr lang="en-US" dirty="0"/>
          </a:p>
          <a:p>
            <a:pPr lvl="1"/>
            <a:endParaRPr lang="en-US" dirty="0"/>
          </a:p>
          <a:p>
            <a:pPr lvl="1"/>
            <a:endParaRPr lang="en-US" dirty="0"/>
          </a:p>
          <a:p>
            <a:pPr lvl="1"/>
            <a:endParaRPr lang="en-US" dirty="0"/>
          </a:p>
          <a:p>
            <a:pPr lvl="1"/>
            <a:endParaRPr lang="en-US" dirty="0"/>
          </a:p>
          <a:p>
            <a:r>
              <a:rPr lang="en-US" dirty="0"/>
              <a:t>Additional runtime checks reduces performance</a:t>
            </a:r>
          </a:p>
        </p:txBody>
      </p:sp>
      <p:sp>
        <p:nvSpPr>
          <p:cNvPr id="4" name="Title 3">
            <a:extLst>
              <a:ext uri="{FF2B5EF4-FFF2-40B4-BE49-F238E27FC236}">
                <a16:creationId xmlns:a16="http://schemas.microsoft.com/office/drawing/2014/main" id="{54C930FE-12C1-C92E-CC7B-25B07588EEF2}"/>
              </a:ext>
            </a:extLst>
          </p:cNvPr>
          <p:cNvSpPr>
            <a:spLocks noGrp="1"/>
          </p:cNvSpPr>
          <p:nvPr>
            <p:ph type="title"/>
          </p:nvPr>
        </p:nvSpPr>
        <p:spPr/>
        <p:txBody>
          <a:bodyPr/>
          <a:lstStyle/>
          <a:p>
            <a:r>
              <a:rPr lang="en-US" dirty="0"/>
              <a:t>Memory safety and performance</a:t>
            </a:r>
          </a:p>
        </p:txBody>
      </p:sp>
      <p:sp>
        <p:nvSpPr>
          <p:cNvPr id="7" name="TextBox 6">
            <a:extLst>
              <a:ext uri="{FF2B5EF4-FFF2-40B4-BE49-F238E27FC236}">
                <a16:creationId xmlns:a16="http://schemas.microsoft.com/office/drawing/2014/main" id="{8B52E6C2-2AF2-3B9A-1F76-6687553B97AE}"/>
              </a:ext>
            </a:extLst>
          </p:cNvPr>
          <p:cNvSpPr txBox="1"/>
          <p:nvPr/>
        </p:nvSpPr>
        <p:spPr>
          <a:xfrm>
            <a:off x="735525" y="2580073"/>
            <a:ext cx="5016270" cy="1077218"/>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p:txBody>
      </p:sp>
      <p:sp>
        <p:nvSpPr>
          <p:cNvPr id="8" name="TextBox 7">
            <a:extLst>
              <a:ext uri="{FF2B5EF4-FFF2-40B4-BE49-F238E27FC236}">
                <a16:creationId xmlns:a16="http://schemas.microsoft.com/office/drawing/2014/main" id="{756DBAF5-E578-0BB8-36D0-8D26B0E74685}"/>
              </a:ext>
            </a:extLst>
          </p:cNvPr>
          <p:cNvSpPr txBox="1"/>
          <p:nvPr/>
        </p:nvSpPr>
        <p:spPr>
          <a:xfrm>
            <a:off x="6252637" y="2690444"/>
            <a:ext cx="5310554" cy="2339102"/>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if (index &lt; </a:t>
            </a:r>
            <a:r>
              <a:rPr lang="en-US" sz="1600" dirty="0" err="1">
                <a:latin typeface="Consolas" panose="020B0609020204030204" pitchFamily="49" charset="0"/>
              </a:rPr>
              <a:t>arr.length</a:t>
            </a:r>
            <a:r>
              <a:rPr lang="en-US" sz="1600" dirty="0">
                <a:latin typeface="Consolas" panose="020B0609020204030204" pitchFamily="49" charset="0"/>
              </a:rPr>
              <a:t>) {</a:t>
            </a:r>
          </a:p>
          <a:p>
            <a:pPr lvl="1" indent="-455613"/>
            <a:r>
              <a:rPr lang="en-US" sz="1600" dirty="0">
                <a:latin typeface="Consolas" panose="020B0609020204030204" pitchFamily="49" charset="0"/>
              </a:rPr>
              <a:t>	</a:t>
            </a:r>
            <a:r>
              <a:rPr lang="en-US" sz="1600" dirty="0" err="1">
                <a:latin typeface="Consolas" panose="020B0609020204030204" pitchFamily="49" charset="0"/>
              </a:rPr>
              <a:t>System.out.println</a:t>
            </a:r>
            <a:r>
              <a:rPr lang="en-US" sz="1600" dirty="0">
                <a:latin typeface="Consolas" panose="020B0609020204030204" pitchFamily="49" charset="0"/>
              </a:rPr>
              <a:t>(</a:t>
            </a:r>
            <a:r>
              <a:rPr lang="en-US" sz="1600" dirty="0" err="1">
                <a:latin typeface="Consolas" panose="020B0609020204030204" pitchFamily="49" charset="0"/>
              </a:rPr>
              <a:t>arr</a:t>
            </a:r>
            <a:r>
              <a:rPr lang="en-US" sz="1600" dirty="0">
                <a:latin typeface="Consolas" panose="020B0609020204030204" pitchFamily="49" charset="0"/>
              </a:rPr>
              <a:t>[index]);</a:t>
            </a:r>
          </a:p>
          <a:p>
            <a:pPr lvl="1" indent="-455613"/>
            <a:r>
              <a:rPr lang="en-US" sz="1600" dirty="0">
                <a:latin typeface="Consolas" panose="020B0609020204030204" pitchFamily="49" charset="0"/>
              </a:rPr>
              <a:t>} else {</a:t>
            </a:r>
          </a:p>
          <a:p>
            <a:pPr lvl="1" indent="-455613"/>
            <a:r>
              <a:rPr lang="en-US" sz="1600" dirty="0">
                <a:latin typeface="Consolas" panose="020B0609020204030204" pitchFamily="49" charset="0"/>
              </a:rPr>
              <a:t>	throw new </a:t>
            </a:r>
            <a:r>
              <a:rPr lang="en-US" sz="1600" dirty="0" err="1">
                <a:latin typeface="Consolas" panose="020B0609020204030204" pitchFamily="49" charset="0"/>
              </a:rPr>
              <a:t>ArrayIndexOutOfBoundsException</a:t>
            </a:r>
            <a:r>
              <a:rPr lang="en-US" sz="1600" dirty="0">
                <a:latin typeface="Consolas" panose="020B0609020204030204" pitchFamily="49" charset="0"/>
              </a:rPr>
              <a:t>();</a:t>
            </a:r>
          </a:p>
          <a:p>
            <a:pPr lvl="1" indent="-455613"/>
            <a:r>
              <a:rPr lang="en-US" sz="1600" dirty="0">
                <a:latin typeface="Consolas" panose="020B0609020204030204" pitchFamily="49" charset="0"/>
              </a:rPr>
              <a:t>}</a:t>
            </a:r>
          </a:p>
        </p:txBody>
      </p:sp>
      <p:sp>
        <p:nvSpPr>
          <p:cNvPr id="9" name="TextBox 8">
            <a:extLst>
              <a:ext uri="{FF2B5EF4-FFF2-40B4-BE49-F238E27FC236}">
                <a16:creationId xmlns:a16="http://schemas.microsoft.com/office/drawing/2014/main" id="{E09223F5-3B61-BD5D-0C4C-82619BF723B3}"/>
              </a:ext>
            </a:extLst>
          </p:cNvPr>
          <p:cNvSpPr txBox="1"/>
          <p:nvPr/>
        </p:nvSpPr>
        <p:spPr>
          <a:xfrm>
            <a:off x="1622022" y="1933743"/>
            <a:ext cx="2517356" cy="461665"/>
          </a:xfrm>
          <a:prstGeom prst="rect">
            <a:avLst/>
          </a:prstGeom>
          <a:noFill/>
        </p:spPr>
        <p:txBody>
          <a:bodyPr wrap="none" rtlCol="0">
            <a:spAutoFit/>
          </a:bodyPr>
          <a:lstStyle/>
          <a:p>
            <a:r>
              <a:rPr lang="en-US" sz="2400" b="1" i="1" dirty="0"/>
              <a:t>Original Java code</a:t>
            </a:r>
          </a:p>
        </p:txBody>
      </p:sp>
      <p:sp>
        <p:nvSpPr>
          <p:cNvPr id="10" name="TextBox 9">
            <a:extLst>
              <a:ext uri="{FF2B5EF4-FFF2-40B4-BE49-F238E27FC236}">
                <a16:creationId xmlns:a16="http://schemas.microsoft.com/office/drawing/2014/main" id="{45BF889B-7746-F321-20E4-D2702970A139}"/>
              </a:ext>
            </a:extLst>
          </p:cNvPr>
          <p:cNvSpPr txBox="1"/>
          <p:nvPr/>
        </p:nvSpPr>
        <p:spPr>
          <a:xfrm>
            <a:off x="6440206" y="1749076"/>
            <a:ext cx="4374467" cy="830997"/>
          </a:xfrm>
          <a:prstGeom prst="rect">
            <a:avLst/>
          </a:prstGeom>
          <a:noFill/>
        </p:spPr>
        <p:txBody>
          <a:bodyPr wrap="none" rtlCol="0">
            <a:spAutoFit/>
          </a:bodyPr>
          <a:lstStyle/>
          <a:p>
            <a:pPr algn="ctr"/>
            <a:r>
              <a:rPr lang="en-US" sz="2400" b="1" i="1" dirty="0"/>
              <a:t>Pseudo-code after Java compiler </a:t>
            </a:r>
          </a:p>
          <a:p>
            <a:pPr algn="ctr"/>
            <a:r>
              <a:rPr lang="en-US" sz="2400" b="1" i="1" dirty="0"/>
              <a:t>inserts checks</a:t>
            </a:r>
          </a:p>
        </p:txBody>
      </p:sp>
      <p:sp>
        <p:nvSpPr>
          <p:cNvPr id="11" name="Rectangle 10">
            <a:extLst>
              <a:ext uri="{FF2B5EF4-FFF2-40B4-BE49-F238E27FC236}">
                <a16:creationId xmlns:a16="http://schemas.microsoft.com/office/drawing/2014/main" id="{F946CFB3-ACB3-0E4A-0829-F1F64858482F}"/>
              </a:ext>
            </a:extLst>
          </p:cNvPr>
          <p:cNvSpPr/>
          <p:nvPr/>
        </p:nvSpPr>
        <p:spPr>
          <a:xfrm>
            <a:off x="6252637" y="3461411"/>
            <a:ext cx="4360985" cy="3283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pic>
        <p:nvPicPr>
          <p:cNvPr id="1026" name="Picture 2" descr="IconExperience » V-Collection » Pin 2 Red Icon">
            <a:extLst>
              <a:ext uri="{FF2B5EF4-FFF2-40B4-BE49-F238E27FC236}">
                <a16:creationId xmlns:a16="http://schemas.microsoft.com/office/drawing/2014/main" id="{EC02EF4A-2380-2387-F5B8-0C7FA24F9A1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264800" y="4848226"/>
            <a:ext cx="362639" cy="3626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847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DFA1-A21C-4D23-2D23-8955E218B89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42C7161-8186-4B3F-4FD7-759FE3D1B539}"/>
              </a:ext>
            </a:extLst>
          </p:cNvPr>
          <p:cNvSpPr>
            <a:spLocks noGrp="1"/>
          </p:cNvSpPr>
          <p:nvPr>
            <p:ph idx="1"/>
          </p:nvPr>
        </p:nvSpPr>
        <p:spPr/>
        <p:txBody>
          <a:bodyPr/>
          <a:lstStyle/>
          <a:p>
            <a:r>
              <a:rPr lang="en-US" dirty="0"/>
              <a:t>In case of all programming languages, the program didn’t do what we wanted it to do</a:t>
            </a:r>
          </a:p>
          <a:p>
            <a:r>
              <a:rPr lang="en-US" dirty="0"/>
              <a:t>Java, Python -&gt; it crashed [defined behavior]</a:t>
            </a:r>
          </a:p>
          <a:p>
            <a:r>
              <a:rPr lang="en-US" dirty="0"/>
              <a:t>C -&gt; printed garbage or might crash [undefined behavior]</a:t>
            </a:r>
          </a:p>
          <a:p>
            <a:r>
              <a:rPr lang="en-US" b="1" i="1" dirty="0"/>
              <a:t>… why is the second option worse than the first?</a:t>
            </a:r>
          </a:p>
        </p:txBody>
      </p:sp>
      <p:sp>
        <p:nvSpPr>
          <p:cNvPr id="4" name="Title 3">
            <a:extLst>
              <a:ext uri="{FF2B5EF4-FFF2-40B4-BE49-F238E27FC236}">
                <a16:creationId xmlns:a16="http://schemas.microsoft.com/office/drawing/2014/main" id="{C64E9886-2634-A232-1ED4-303A5C7BC186}"/>
              </a:ext>
            </a:extLst>
          </p:cNvPr>
          <p:cNvSpPr>
            <a:spLocks noGrp="1"/>
          </p:cNvSpPr>
          <p:nvPr>
            <p:ph type="title"/>
          </p:nvPr>
        </p:nvSpPr>
        <p:spPr/>
        <p:txBody>
          <a:bodyPr/>
          <a:lstStyle/>
          <a:p>
            <a:r>
              <a:rPr lang="en-US" dirty="0"/>
              <a:t>So what?</a:t>
            </a:r>
          </a:p>
        </p:txBody>
      </p:sp>
    </p:spTree>
    <p:extLst>
      <p:ext uri="{BB962C8B-B14F-4D97-AF65-F5344CB8AC3E}">
        <p14:creationId xmlns:p14="http://schemas.microsoft.com/office/powerpoint/2010/main" val="1893807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8F52EAE-8ACE-0BF0-716D-F03224E2D179}"/>
              </a:ext>
            </a:extLst>
          </p:cNvPr>
          <p:cNvSpPr>
            <a:spLocks noGrp="1"/>
          </p:cNvSpPr>
          <p:nvPr>
            <p:ph idx="1"/>
          </p:nvPr>
        </p:nvSpPr>
        <p:spPr/>
        <p:txBody>
          <a:bodyPr/>
          <a:lstStyle/>
          <a:p>
            <a:r>
              <a:rPr lang="en-US" dirty="0"/>
              <a:t>Undefined behavior leaves system in inconsistent state</a:t>
            </a:r>
          </a:p>
          <a:p>
            <a:r>
              <a:rPr lang="en-US" dirty="0"/>
              <a:t>Inconsistent state can be exploited by the attacker</a:t>
            </a:r>
          </a:p>
          <a:p>
            <a:r>
              <a:rPr lang="en-US" b="1" i="1" dirty="0"/>
              <a:t>… How??</a:t>
            </a:r>
          </a:p>
        </p:txBody>
      </p:sp>
      <p:sp>
        <p:nvSpPr>
          <p:cNvPr id="4" name="Title 3">
            <a:extLst>
              <a:ext uri="{FF2B5EF4-FFF2-40B4-BE49-F238E27FC236}">
                <a16:creationId xmlns:a16="http://schemas.microsoft.com/office/drawing/2014/main" id="{D583DF96-8737-A3FE-2DF2-0987653DD50C}"/>
              </a:ext>
            </a:extLst>
          </p:cNvPr>
          <p:cNvSpPr>
            <a:spLocks noGrp="1"/>
          </p:cNvSpPr>
          <p:nvPr>
            <p:ph type="title"/>
          </p:nvPr>
        </p:nvSpPr>
        <p:spPr/>
        <p:txBody>
          <a:bodyPr/>
          <a:lstStyle/>
          <a:p>
            <a:r>
              <a:rPr lang="en-US" dirty="0"/>
              <a:t>Why is UB worse?</a:t>
            </a:r>
          </a:p>
        </p:txBody>
      </p:sp>
    </p:spTree>
    <p:extLst>
      <p:ext uri="{BB962C8B-B14F-4D97-AF65-F5344CB8AC3E}">
        <p14:creationId xmlns:p14="http://schemas.microsoft.com/office/powerpoint/2010/main" val="3617151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308F301-6663-0FD8-B771-8AF137EC0E82}"/>
              </a:ext>
            </a:extLst>
          </p:cNvPr>
          <p:cNvSpPr>
            <a:spLocks noGrp="1"/>
          </p:cNvSpPr>
          <p:nvPr>
            <p:ph idx="1"/>
          </p:nvPr>
        </p:nvSpPr>
        <p:spPr/>
        <p:txBody>
          <a:bodyPr/>
          <a:lstStyle/>
          <a:p>
            <a:r>
              <a:rPr lang="en-US" dirty="0"/>
              <a:t>int </a:t>
            </a:r>
            <a:r>
              <a:rPr lang="en-US" dirty="0" err="1"/>
              <a:t>global_arr</a:t>
            </a:r>
            <a:r>
              <a:rPr lang="en-US" dirty="0"/>
              <a:t>[10];</a:t>
            </a:r>
          </a:p>
          <a:p>
            <a:endParaRPr lang="en-US" dirty="0"/>
          </a:p>
          <a:p>
            <a:r>
              <a:rPr lang="en-US" dirty="0"/>
              <a:t>int main(void) {</a:t>
            </a:r>
          </a:p>
          <a:p>
            <a:r>
              <a:rPr lang="en-US" dirty="0"/>
              <a:t>	int a;</a:t>
            </a:r>
          </a:p>
          <a:p>
            <a:r>
              <a:rPr lang="en-US" dirty="0"/>
              <a:t>	int b;</a:t>
            </a:r>
          </a:p>
          <a:p>
            <a:r>
              <a:rPr lang="en-US" dirty="0"/>
              <a:t>	int </a:t>
            </a:r>
            <a:r>
              <a:rPr lang="en-US" dirty="0" err="1"/>
              <a:t>local_arr</a:t>
            </a:r>
            <a:r>
              <a:rPr lang="en-US" dirty="0"/>
              <a:t>[10];</a:t>
            </a:r>
          </a:p>
          <a:p>
            <a:r>
              <a:rPr lang="en-US" dirty="0"/>
              <a:t>	</a:t>
            </a:r>
          </a:p>
          <a:p>
            <a:r>
              <a:rPr lang="en-US" dirty="0"/>
              <a:t>	int* p = malloc(10*</a:t>
            </a:r>
            <a:r>
              <a:rPr lang="en-US" dirty="0" err="1"/>
              <a:t>sizeof</a:t>
            </a:r>
            <a:r>
              <a:rPr lang="en-US" dirty="0"/>
              <a:t>(int)); </a:t>
            </a:r>
          </a:p>
          <a:p>
            <a:r>
              <a:rPr lang="en-US" dirty="0"/>
              <a:t>}</a:t>
            </a:r>
          </a:p>
        </p:txBody>
      </p:sp>
      <p:sp>
        <p:nvSpPr>
          <p:cNvPr id="4" name="Title 3">
            <a:extLst>
              <a:ext uri="{FF2B5EF4-FFF2-40B4-BE49-F238E27FC236}">
                <a16:creationId xmlns:a16="http://schemas.microsoft.com/office/drawing/2014/main" id="{DC1A68C3-3FD0-7739-2546-9030E3688F37}"/>
              </a:ext>
            </a:extLst>
          </p:cNvPr>
          <p:cNvSpPr>
            <a:spLocks noGrp="1"/>
          </p:cNvSpPr>
          <p:nvPr>
            <p:ph type="title"/>
          </p:nvPr>
        </p:nvSpPr>
        <p:spPr/>
        <p:txBody>
          <a:bodyPr/>
          <a:lstStyle/>
          <a:p>
            <a:r>
              <a:rPr lang="en-US" dirty="0"/>
              <a:t>Background: types of memory</a:t>
            </a:r>
          </a:p>
        </p:txBody>
      </p:sp>
      <p:sp>
        <p:nvSpPr>
          <p:cNvPr id="6" name="Content Placeholder 5">
            <a:extLst>
              <a:ext uri="{FF2B5EF4-FFF2-40B4-BE49-F238E27FC236}">
                <a16:creationId xmlns:a16="http://schemas.microsoft.com/office/drawing/2014/main" id="{BF58519F-BC20-2D0C-4083-60F96DCE974C}"/>
              </a:ext>
            </a:extLst>
          </p:cNvPr>
          <p:cNvSpPr>
            <a:spLocks noGrp="1"/>
          </p:cNvSpPr>
          <p:nvPr>
            <p:ph idx="13"/>
          </p:nvPr>
        </p:nvSpPr>
        <p:spPr/>
        <p:txBody>
          <a:bodyPr/>
          <a:lstStyle/>
          <a:p>
            <a:r>
              <a:rPr lang="en-US" dirty="0"/>
              <a:t>Applications have (at least) 3 types of memory</a:t>
            </a:r>
          </a:p>
          <a:p>
            <a:r>
              <a:rPr lang="en-US" dirty="0"/>
              <a:t>Function local variables allocated on the “stack”</a:t>
            </a:r>
          </a:p>
          <a:p>
            <a:r>
              <a:rPr lang="en-US" dirty="0"/>
              <a:t>Heap variables allocated via malloc </a:t>
            </a:r>
          </a:p>
          <a:p>
            <a:r>
              <a:rPr lang="en-US" dirty="0"/>
              <a:t>Global variables</a:t>
            </a:r>
          </a:p>
          <a:p>
            <a:endParaRPr lang="en-US" dirty="0"/>
          </a:p>
        </p:txBody>
      </p:sp>
      <p:sp>
        <p:nvSpPr>
          <p:cNvPr id="7" name="TextBox 6">
            <a:extLst>
              <a:ext uri="{FF2B5EF4-FFF2-40B4-BE49-F238E27FC236}">
                <a16:creationId xmlns:a16="http://schemas.microsoft.com/office/drawing/2014/main" id="{942D2DBB-3A9F-3174-8176-6E5E08BE0CDA}"/>
              </a:ext>
            </a:extLst>
          </p:cNvPr>
          <p:cNvSpPr txBox="1"/>
          <p:nvPr/>
        </p:nvSpPr>
        <p:spPr>
          <a:xfrm>
            <a:off x="8692308" y="785004"/>
            <a:ext cx="1645002" cy="369332"/>
          </a:xfrm>
          <a:prstGeom prst="rect">
            <a:avLst/>
          </a:prstGeom>
          <a:noFill/>
        </p:spPr>
        <p:txBody>
          <a:bodyPr wrap="none" rtlCol="0">
            <a:spAutoFit/>
          </a:bodyPr>
          <a:lstStyle/>
          <a:p>
            <a:r>
              <a:rPr lang="en-US" b="1" i="1" dirty="0"/>
              <a:t>Global variable</a:t>
            </a:r>
          </a:p>
        </p:txBody>
      </p:sp>
      <p:sp>
        <p:nvSpPr>
          <p:cNvPr id="8" name="TextBox 7">
            <a:extLst>
              <a:ext uri="{FF2B5EF4-FFF2-40B4-BE49-F238E27FC236}">
                <a16:creationId xmlns:a16="http://schemas.microsoft.com/office/drawing/2014/main" id="{B5AF1B21-8F61-369F-40DC-A77B8F251E29}"/>
              </a:ext>
            </a:extLst>
          </p:cNvPr>
          <p:cNvSpPr txBox="1"/>
          <p:nvPr/>
        </p:nvSpPr>
        <p:spPr>
          <a:xfrm>
            <a:off x="8811657" y="1576382"/>
            <a:ext cx="1531701" cy="369332"/>
          </a:xfrm>
          <a:prstGeom prst="rect">
            <a:avLst/>
          </a:prstGeom>
          <a:noFill/>
        </p:spPr>
        <p:txBody>
          <a:bodyPr wrap="none" rtlCol="0">
            <a:spAutoFit/>
          </a:bodyPr>
          <a:lstStyle/>
          <a:p>
            <a:r>
              <a:rPr lang="en-US" b="1" i="1" dirty="0"/>
              <a:t>Stack variable</a:t>
            </a:r>
          </a:p>
        </p:txBody>
      </p:sp>
      <p:sp>
        <p:nvSpPr>
          <p:cNvPr id="10" name="Rectangle 9">
            <a:extLst>
              <a:ext uri="{FF2B5EF4-FFF2-40B4-BE49-F238E27FC236}">
                <a16:creationId xmlns:a16="http://schemas.microsoft.com/office/drawing/2014/main" id="{6AE8E6A3-193B-6202-4DC3-BD57CCD19671}"/>
              </a:ext>
            </a:extLst>
          </p:cNvPr>
          <p:cNvSpPr/>
          <p:nvPr/>
        </p:nvSpPr>
        <p:spPr>
          <a:xfrm>
            <a:off x="6115145" y="696277"/>
            <a:ext cx="2416138" cy="45805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1" name="Rectangle 10">
            <a:extLst>
              <a:ext uri="{FF2B5EF4-FFF2-40B4-BE49-F238E27FC236}">
                <a16:creationId xmlns:a16="http://schemas.microsoft.com/office/drawing/2014/main" id="{0F814F17-5097-B5D6-D749-83BA5C849C1E}"/>
              </a:ext>
            </a:extLst>
          </p:cNvPr>
          <p:cNvSpPr/>
          <p:nvPr/>
        </p:nvSpPr>
        <p:spPr>
          <a:xfrm>
            <a:off x="6364836" y="1576382"/>
            <a:ext cx="2416138" cy="7812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nvGrpSpPr>
          <p:cNvPr id="13" name="Group 12">
            <a:extLst>
              <a:ext uri="{FF2B5EF4-FFF2-40B4-BE49-F238E27FC236}">
                <a16:creationId xmlns:a16="http://schemas.microsoft.com/office/drawing/2014/main" id="{9740C153-A03E-6116-CDA1-33E0ACEAD9A9}"/>
              </a:ext>
            </a:extLst>
          </p:cNvPr>
          <p:cNvGrpSpPr/>
          <p:nvPr/>
        </p:nvGrpSpPr>
        <p:grpSpPr>
          <a:xfrm>
            <a:off x="6630586" y="2389042"/>
            <a:ext cx="5178064" cy="781228"/>
            <a:chOff x="6630586" y="2389042"/>
            <a:chExt cx="5178064" cy="781228"/>
          </a:xfrm>
        </p:grpSpPr>
        <p:sp>
          <p:nvSpPr>
            <p:cNvPr id="9" name="TextBox 8">
              <a:extLst>
                <a:ext uri="{FF2B5EF4-FFF2-40B4-BE49-F238E27FC236}">
                  <a16:creationId xmlns:a16="http://schemas.microsoft.com/office/drawing/2014/main" id="{F4DEAA2D-535C-EF21-780A-3C21C07F94DC}"/>
                </a:ext>
              </a:extLst>
            </p:cNvPr>
            <p:cNvSpPr txBox="1"/>
            <p:nvPr/>
          </p:nvSpPr>
          <p:spPr>
            <a:xfrm>
              <a:off x="10285476" y="2480839"/>
              <a:ext cx="1523174" cy="369332"/>
            </a:xfrm>
            <a:prstGeom prst="rect">
              <a:avLst/>
            </a:prstGeom>
            <a:noFill/>
          </p:spPr>
          <p:txBody>
            <a:bodyPr wrap="none" rtlCol="0">
              <a:spAutoFit/>
            </a:bodyPr>
            <a:lstStyle/>
            <a:p>
              <a:r>
                <a:rPr lang="en-US" b="1" i="1" dirty="0"/>
                <a:t>Heap variable</a:t>
              </a:r>
            </a:p>
          </p:txBody>
        </p:sp>
        <p:sp>
          <p:nvSpPr>
            <p:cNvPr id="12" name="Rectangle 11">
              <a:extLst>
                <a:ext uri="{FF2B5EF4-FFF2-40B4-BE49-F238E27FC236}">
                  <a16:creationId xmlns:a16="http://schemas.microsoft.com/office/drawing/2014/main" id="{181C1261-BC85-2849-F80C-3339FEBD6E03}"/>
                </a:ext>
              </a:extLst>
            </p:cNvPr>
            <p:cNvSpPr/>
            <p:nvPr/>
          </p:nvSpPr>
          <p:spPr>
            <a:xfrm>
              <a:off x="6630586" y="2389042"/>
              <a:ext cx="3706724" cy="7812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Tree>
    <p:extLst>
      <p:ext uri="{BB962C8B-B14F-4D97-AF65-F5344CB8AC3E}">
        <p14:creationId xmlns:p14="http://schemas.microsoft.com/office/powerpoint/2010/main" val="3090701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10"/>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11"/>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nodeType="clickEffect">
                                  <p:stCondLst>
                                    <p:cond delay="0"/>
                                  </p:stCondLst>
                                  <p:childTnLst>
                                    <p:set>
                                      <p:cBhvr>
                                        <p:cTn id="34"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8" grpId="0"/>
      <p:bldP spid="8" grpId="1"/>
      <p:bldP spid="10" grpId="0" animBg="1"/>
      <p:bldP spid="10" grpId="1" animBg="1"/>
      <p:bldP spid="11" grpId="0" animBg="1"/>
      <p:bldP spid="11"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F8587-7E83-0FBF-06A0-11DC3072862B}"/>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F0B6453-80AD-92C1-05EF-A4C10C4A75D7}"/>
              </a:ext>
            </a:extLst>
          </p:cNvPr>
          <p:cNvSpPr>
            <a:spLocks noGrp="1"/>
          </p:cNvSpPr>
          <p:nvPr>
            <p:ph idx="1"/>
          </p:nvPr>
        </p:nvSpPr>
        <p:spPr/>
        <p:txBody>
          <a:bodyPr/>
          <a:lstStyle/>
          <a:p>
            <a:endParaRPr lang="en-US" dirty="0"/>
          </a:p>
          <a:p>
            <a:endParaRPr lang="en-US" dirty="0"/>
          </a:p>
        </p:txBody>
      </p:sp>
      <p:sp>
        <p:nvSpPr>
          <p:cNvPr id="4" name="Title 3">
            <a:extLst>
              <a:ext uri="{FF2B5EF4-FFF2-40B4-BE49-F238E27FC236}">
                <a16:creationId xmlns:a16="http://schemas.microsoft.com/office/drawing/2014/main" id="{7628ECF4-2D4F-B623-0E9B-8FCB1663ACDE}"/>
              </a:ext>
            </a:extLst>
          </p:cNvPr>
          <p:cNvSpPr>
            <a:spLocks noGrp="1"/>
          </p:cNvSpPr>
          <p:nvPr>
            <p:ph type="title"/>
          </p:nvPr>
        </p:nvSpPr>
        <p:spPr/>
        <p:txBody>
          <a:bodyPr/>
          <a:lstStyle/>
          <a:p>
            <a:r>
              <a:rPr lang="en-US" dirty="0"/>
              <a:t>Background: stack layout</a:t>
            </a:r>
          </a:p>
        </p:txBody>
      </p:sp>
      <p:sp>
        <p:nvSpPr>
          <p:cNvPr id="2" name="Content Placeholder 1">
            <a:extLst>
              <a:ext uri="{FF2B5EF4-FFF2-40B4-BE49-F238E27FC236}">
                <a16:creationId xmlns:a16="http://schemas.microsoft.com/office/drawing/2014/main" id="{332F5915-01ED-DD1C-8323-E7F3EC59B5E6}"/>
              </a:ext>
            </a:extLst>
          </p:cNvPr>
          <p:cNvSpPr>
            <a:spLocks noGrp="1"/>
          </p:cNvSpPr>
          <p:nvPr>
            <p:ph idx="13"/>
          </p:nvPr>
        </p:nvSpPr>
        <p:spPr/>
        <p:txBody>
          <a:bodyPr/>
          <a:lstStyle/>
          <a:p>
            <a:r>
              <a:rPr lang="en-US" dirty="0"/>
              <a:t>Stack </a:t>
            </a:r>
            <a:r>
              <a:rPr lang="en-US" i="1" dirty="0"/>
              <a:t>grows </a:t>
            </a:r>
            <a:r>
              <a:rPr lang="en-US" dirty="0"/>
              <a:t>downward</a:t>
            </a:r>
          </a:p>
        </p:txBody>
      </p:sp>
      <p:grpSp>
        <p:nvGrpSpPr>
          <p:cNvPr id="51" name="Group 50">
            <a:extLst>
              <a:ext uri="{FF2B5EF4-FFF2-40B4-BE49-F238E27FC236}">
                <a16:creationId xmlns:a16="http://schemas.microsoft.com/office/drawing/2014/main" id="{51118673-66B5-AD81-0EB9-64D6164E35AA}"/>
              </a:ext>
            </a:extLst>
          </p:cNvPr>
          <p:cNvGrpSpPr/>
          <p:nvPr/>
        </p:nvGrpSpPr>
        <p:grpSpPr>
          <a:xfrm>
            <a:off x="5033991" y="914400"/>
            <a:ext cx="6791695" cy="4396154"/>
            <a:chOff x="5033991" y="914400"/>
            <a:chExt cx="6791695" cy="4396154"/>
          </a:xfrm>
        </p:grpSpPr>
        <p:cxnSp>
          <p:nvCxnSpPr>
            <p:cNvPr id="26" name="Straight Arrow Connector 25">
              <a:extLst>
                <a:ext uri="{FF2B5EF4-FFF2-40B4-BE49-F238E27FC236}">
                  <a16:creationId xmlns:a16="http://schemas.microsoft.com/office/drawing/2014/main" id="{05E2FF74-31B4-9702-328A-865659480E26}"/>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FD909E0-3418-4BF5-EE78-78E5C587E5C5}"/>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50" name="Group 49">
              <a:extLst>
                <a:ext uri="{FF2B5EF4-FFF2-40B4-BE49-F238E27FC236}">
                  <a16:creationId xmlns:a16="http://schemas.microsoft.com/office/drawing/2014/main" id="{09FBBB6A-4DF4-D392-6DB9-C82B853CCCDE}"/>
                </a:ext>
              </a:extLst>
            </p:cNvPr>
            <p:cNvGrpSpPr/>
            <p:nvPr/>
          </p:nvGrpSpPr>
          <p:grpSpPr>
            <a:xfrm>
              <a:off x="7561385" y="914400"/>
              <a:ext cx="4264301" cy="4396154"/>
              <a:chOff x="7561385" y="914400"/>
              <a:chExt cx="4264301" cy="4396154"/>
            </a:xfrm>
          </p:grpSpPr>
          <p:sp>
            <p:nvSpPr>
              <p:cNvPr id="13" name="TextBox 12">
                <a:extLst>
                  <a:ext uri="{FF2B5EF4-FFF2-40B4-BE49-F238E27FC236}">
                    <a16:creationId xmlns:a16="http://schemas.microsoft.com/office/drawing/2014/main" id="{066E5BB8-D644-024C-8A06-802C9989429A}"/>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4" name="TextBox 13">
                <a:extLst>
                  <a:ext uri="{FF2B5EF4-FFF2-40B4-BE49-F238E27FC236}">
                    <a16:creationId xmlns:a16="http://schemas.microsoft.com/office/drawing/2014/main" id="{37705A2D-6C1F-4565-7884-B8095FBA5A2F}"/>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19" name="TextBox 18">
                <a:extLst>
                  <a:ext uri="{FF2B5EF4-FFF2-40B4-BE49-F238E27FC236}">
                    <a16:creationId xmlns:a16="http://schemas.microsoft.com/office/drawing/2014/main" id="{2DF291BD-AD0A-5B4F-D11A-5855FE9F99F6}"/>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20" name="TextBox 19">
                <a:extLst>
                  <a:ext uri="{FF2B5EF4-FFF2-40B4-BE49-F238E27FC236}">
                    <a16:creationId xmlns:a16="http://schemas.microsoft.com/office/drawing/2014/main" id="{C2B0831F-B6B2-A0A9-E65B-F2167EDEF505}"/>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21" name="TextBox 20">
                <a:extLst>
                  <a:ext uri="{FF2B5EF4-FFF2-40B4-BE49-F238E27FC236}">
                    <a16:creationId xmlns:a16="http://schemas.microsoft.com/office/drawing/2014/main" id="{45C35311-3DEC-EDE5-2DAD-D76CC6C75DEE}"/>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23" name="TextBox 22">
                <a:extLst>
                  <a:ext uri="{FF2B5EF4-FFF2-40B4-BE49-F238E27FC236}">
                    <a16:creationId xmlns:a16="http://schemas.microsoft.com/office/drawing/2014/main" id="{FDCEB95E-AE6C-65BB-B19E-8581021EF74F}"/>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40" name="Group 39">
                <a:extLst>
                  <a:ext uri="{FF2B5EF4-FFF2-40B4-BE49-F238E27FC236}">
                    <a16:creationId xmlns:a16="http://schemas.microsoft.com/office/drawing/2014/main" id="{80C76563-9894-3AF6-8F5F-084568009CA5}"/>
                  </a:ext>
                </a:extLst>
              </p:cNvPr>
              <p:cNvGrpSpPr/>
              <p:nvPr/>
            </p:nvGrpSpPr>
            <p:grpSpPr>
              <a:xfrm>
                <a:off x="7561385" y="914400"/>
                <a:ext cx="2942492" cy="4396154"/>
                <a:chOff x="6822831" y="973015"/>
                <a:chExt cx="2942492" cy="4396154"/>
              </a:xfrm>
            </p:grpSpPr>
            <p:grpSp>
              <p:nvGrpSpPr>
                <p:cNvPr id="41" name="Group 40">
                  <a:extLst>
                    <a:ext uri="{FF2B5EF4-FFF2-40B4-BE49-F238E27FC236}">
                      <a16:creationId xmlns:a16="http://schemas.microsoft.com/office/drawing/2014/main" id="{85A5DF16-CF7A-8E8C-EFD7-E5E3F61194CD}"/>
                    </a:ext>
                  </a:extLst>
                </p:cNvPr>
                <p:cNvGrpSpPr/>
                <p:nvPr/>
              </p:nvGrpSpPr>
              <p:grpSpPr>
                <a:xfrm>
                  <a:off x="6822831" y="973015"/>
                  <a:ext cx="2942492" cy="4396154"/>
                  <a:chOff x="6822831" y="973015"/>
                  <a:chExt cx="2942492" cy="4396154"/>
                </a:xfrm>
              </p:grpSpPr>
              <p:cxnSp>
                <p:nvCxnSpPr>
                  <p:cNvPr id="47" name="Straight Connector 46">
                    <a:extLst>
                      <a:ext uri="{FF2B5EF4-FFF2-40B4-BE49-F238E27FC236}">
                        <a16:creationId xmlns:a16="http://schemas.microsoft.com/office/drawing/2014/main" id="{52D0A4ED-2FA5-11CE-56A4-CAAB890F8177}"/>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2242B8B5-85DD-C660-F7A7-476DD7DF7CA9}"/>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9" name="Straight Connector 48">
                    <a:extLst>
                      <a:ext uri="{FF2B5EF4-FFF2-40B4-BE49-F238E27FC236}">
                        <a16:creationId xmlns:a16="http://schemas.microsoft.com/office/drawing/2014/main" id="{2A3A0117-E820-ECFC-3633-6F7C9A04FE65}"/>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2" name="Straight Connector 41">
                  <a:extLst>
                    <a:ext uri="{FF2B5EF4-FFF2-40B4-BE49-F238E27FC236}">
                      <a16:creationId xmlns:a16="http://schemas.microsoft.com/office/drawing/2014/main" id="{084983C2-0827-0081-2CFC-E1EB79E0BBC4}"/>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156ADDCA-332D-B1AF-872E-D9C9EFABBA9A}"/>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B7F6608F-24AC-3517-8942-387CF508256F}"/>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38D043ED-D394-488F-5905-8C9C664ECF38}"/>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6" name="Straight Connector 45">
                  <a:extLst>
                    <a:ext uri="{FF2B5EF4-FFF2-40B4-BE49-F238E27FC236}">
                      <a16:creationId xmlns:a16="http://schemas.microsoft.com/office/drawing/2014/main" id="{DE7C2C80-06AF-5A5E-C67C-08E538DEED32}"/>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Tree>
    <p:extLst>
      <p:ext uri="{BB962C8B-B14F-4D97-AF65-F5344CB8AC3E}">
        <p14:creationId xmlns:p14="http://schemas.microsoft.com/office/powerpoint/2010/main" val="42510343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25774-DE6A-0797-10CD-B3E6A136B81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FD03E68-9998-C315-BA7B-D952CF5D51A5}"/>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39B94DC1-691D-F815-E480-033327A4CBBD}"/>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6B6192DC-9E31-2B63-4ED6-24FEC7B66FF8}"/>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1D0DAFB0-D470-DC18-01D6-6C8837EA392B}"/>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957A4016-CDD8-9916-DCD2-4D3BFFADD0C6}"/>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0BA981E0-B1EB-6211-8C67-6F0196C971BB}"/>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8B9300E3-874E-A79A-DD4D-1CDAC8B43AA4}"/>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8F6B16D6-7056-E369-B3E2-510FD8DE7E00}"/>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09BC1841-887E-217E-5770-AF44A4F182B6}"/>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EAC1D9E6-D713-E11C-308E-E17326CE2022}"/>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C1245453-BB65-8D81-8A28-4A28066430A2}"/>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65E32E36-E7EF-168B-3F1E-1F8E5250DEA1}"/>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23B82E5A-FB94-40EA-06EE-AFE3202D9AE7}"/>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B8B14D0D-E724-F7F1-569B-503D0AF27ACF}"/>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41FE298D-C976-4413-1E5D-E21A3A90BA3F}"/>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C4264C06-E33D-C67E-7125-32DA5656B649}"/>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F93D7B6E-5395-8267-E4C7-AAFD4C8BD95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22B99B43-A31D-9EBC-D7FD-D555BEECCCE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9790B9F7-03E5-A429-1683-D43743232F1C}"/>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7D33E805-A715-81CF-DDB6-D44AD0D85E4F}"/>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3C026ED9-EEFD-69E6-80D6-A244657A5EC8}"/>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4991BB3A-7BDC-38BF-123F-772F37D8CDDC}"/>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E25CC7FA-3820-2AB5-3B1D-500980B49E28}"/>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CFA528FC-8A6D-0C58-2C5E-64016BCA39D9}"/>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AC23451F-3E7D-19FC-D175-DBABE19EFCBC}"/>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3" name="Rectangle 2">
            <a:extLst>
              <a:ext uri="{FF2B5EF4-FFF2-40B4-BE49-F238E27FC236}">
                <a16:creationId xmlns:a16="http://schemas.microsoft.com/office/drawing/2014/main" id="{434F05CE-F695-417D-FE8E-CE8CC6985D42}"/>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4100266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P spid="53" grpId="0" animBg="1"/>
      <p:bldP spid="54" grpId="0" animBg="1"/>
      <p:bldP spid="5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C9241-5495-256B-B544-120A68D657F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F42D6D4-8646-072F-3595-493791EE3B81}"/>
              </a:ext>
            </a:extLst>
          </p:cNvPr>
          <p:cNvSpPr>
            <a:spLocks noGrp="1"/>
          </p:cNvSpPr>
          <p:nvPr>
            <p:ph type="title"/>
          </p:nvPr>
        </p:nvSpPr>
        <p:spPr/>
        <p:txBody>
          <a:bodyPr/>
          <a:lstStyle/>
          <a:p>
            <a:r>
              <a:rPr lang="en-US" dirty="0"/>
              <a:t>Alternative layout: Buffer overflow not possible</a:t>
            </a:r>
          </a:p>
        </p:txBody>
      </p:sp>
      <p:sp>
        <p:nvSpPr>
          <p:cNvPr id="7" name="Content Placeholder 6">
            <a:extLst>
              <a:ext uri="{FF2B5EF4-FFF2-40B4-BE49-F238E27FC236}">
                <a16:creationId xmlns:a16="http://schemas.microsoft.com/office/drawing/2014/main" id="{2098E379-D944-CC86-41C8-9635A624A96E}"/>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65E116EC-05C0-CD8C-27FB-968377B4C28B}"/>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27FC8A02-80A8-9AF3-0A6F-DC56D41ED02E}"/>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FA7FE4FC-091F-218D-3C8B-19396DEB3081}"/>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5FD58192-C559-0935-1307-B04338744824}"/>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F5E11453-D428-1956-5872-A85E8496E53E}"/>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C7416A47-3026-98E6-74F3-62A477F31C89}"/>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F80EB8A3-6452-251B-0953-26F48BBD3F26}"/>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FB3C44B2-9E18-148C-64F7-D3EE7F535B92}"/>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1E79D182-24F9-1AD0-48FF-E229FAB2F24D}"/>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39DFBD23-37DA-E618-674C-8A4ACCAF1148}"/>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5ED1687E-F09F-2759-AF04-C3C095E53479}"/>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DA6DF146-A277-C0BF-056C-277A72556200}"/>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3BE54F5D-67B9-B8C6-9D87-D61CC6067D1E}"/>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EC83B003-B4D6-2D8C-9D22-9744727F1903}"/>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63F4D62D-0EFF-B99C-4CF0-AC0BBFCD09F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A0EE4C8E-A207-0555-75E7-8D0B0B0D04F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D9E019CE-5301-0F25-0E60-A3E6942FF5C2}"/>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DC602611-A520-A68A-A4C7-EBB481656EBF}"/>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E062A06C-D3C3-0C55-F725-3CB7E35E2129}"/>
              </a:ext>
            </a:extLst>
          </p:cNvPr>
          <p:cNvSpPr/>
          <p:nvPr/>
        </p:nvSpPr>
        <p:spPr>
          <a:xfrm>
            <a:off x="7685298" y="4243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5054576E-AA0A-1352-1FD8-0701F6D7F9E1}"/>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A40D8C4F-6024-15C4-CACC-C6A9C47E3F5B}"/>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C0D6352D-86E8-AEA1-536D-D5E734602D8B}"/>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973A9BC4-B3E9-C3FA-69E9-1735C7929458}"/>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3" name="Rectangle 2">
            <a:extLst>
              <a:ext uri="{FF2B5EF4-FFF2-40B4-BE49-F238E27FC236}">
                <a16:creationId xmlns:a16="http://schemas.microsoft.com/office/drawing/2014/main" id="{5DC23AD1-9F08-D429-100B-695B14E444B1}"/>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6922338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P spid="53" grpId="0" animBg="1"/>
      <p:bldP spid="54" grpId="0" animBg="1"/>
      <p:bldP spid="5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71F66-FCAB-E515-0A71-26B52CDE5E9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7D3A77-F9F2-EF46-3609-3641E8756EDF}"/>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EDBD672E-65E5-811C-CB49-0F9636DDF8B7}"/>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19BA45A6-426E-AC92-8831-75DD042F1E27}"/>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CE0219D9-EFE7-1730-DED2-DBE6CD0BC863}"/>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284F411F-6414-EBDB-0797-6AB6770CA14F}"/>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85312054-5E02-2E50-7897-4A47E82A8DC7}"/>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F2C906FE-9C62-0F23-8470-F27BFF5D6196}"/>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BCD5243A-F611-3706-6063-49ABD683A26E}"/>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DB345B59-F89B-879D-59AA-58DE2EFFE8B8}"/>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9180D439-EC1C-E018-BD0B-DDBE546E3275}"/>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2C95D7C6-8D9E-42D4-5BBC-4C5BC50DB4A8}"/>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32E9B2A5-D69F-6A76-BB7A-DE04C152E95C}"/>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10A5785A-7208-CAA2-A79A-15A2B9A1016B}"/>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D4F115D7-6CA3-EB5D-CD95-8A44E35795EF}"/>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F9A9572C-7515-7B91-2432-E3CBD63ADCC6}"/>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3AA45FA2-4B7F-C630-298E-8C28657ECB90}"/>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8ED642C4-7360-A1CE-839E-B00C4D469CD9}"/>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CE6FACA1-BE90-8944-0E7C-C220D9A0D4A2}"/>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80006580-D558-6F04-A5A9-9290CB658A26}"/>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6208F538-56B3-AFF2-503E-29C0D9C62AF1}"/>
              </a:ext>
            </a:extLst>
          </p:cNvPr>
          <p:cNvSpPr>
            <a:spLocks noGrp="1"/>
          </p:cNvSpPr>
          <p:nvPr>
            <p:ph idx="13"/>
          </p:nvPr>
        </p:nvSpPr>
        <p:spPr>
          <a:xfrm>
            <a:off x="382074" y="785005"/>
            <a:ext cx="5633413" cy="696278"/>
          </a:xfrm>
        </p:spPr>
        <p:txBody>
          <a:bodyPr/>
          <a:lstStyle/>
          <a:p>
            <a:pPr marL="0" indent="0">
              <a:buNone/>
            </a:pPr>
            <a:endParaRPr lang="en-US" dirty="0"/>
          </a:p>
        </p:txBody>
      </p:sp>
      <p:sp>
        <p:nvSpPr>
          <p:cNvPr id="3" name="Rectangle 2">
            <a:extLst>
              <a:ext uri="{FF2B5EF4-FFF2-40B4-BE49-F238E27FC236}">
                <a16:creationId xmlns:a16="http://schemas.microsoft.com/office/drawing/2014/main" id="{0C9C6A7A-879B-E74D-C44E-2F6AA5B2D985}"/>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2" name="Rectangle: Rounded Corners 1">
            <a:extLst>
              <a:ext uri="{FF2B5EF4-FFF2-40B4-BE49-F238E27FC236}">
                <a16:creationId xmlns:a16="http://schemas.microsoft.com/office/drawing/2014/main" id="{8DD1E001-BCA9-D4DF-2683-AD60170E915A}"/>
              </a:ext>
            </a:extLst>
          </p:cNvPr>
          <p:cNvSpPr/>
          <p:nvPr/>
        </p:nvSpPr>
        <p:spPr>
          <a:xfrm>
            <a:off x="7619707" y="359863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 name="Rectangle: Rounded Corners 4">
            <a:extLst>
              <a:ext uri="{FF2B5EF4-FFF2-40B4-BE49-F238E27FC236}">
                <a16:creationId xmlns:a16="http://schemas.microsoft.com/office/drawing/2014/main" id="{E9ADDF39-425B-4AA1-1E46-5EBA5303846D}"/>
              </a:ext>
            </a:extLst>
          </p:cNvPr>
          <p:cNvSpPr/>
          <p:nvPr/>
        </p:nvSpPr>
        <p:spPr>
          <a:xfrm>
            <a:off x="7619709" y="954957"/>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6" name="Rectangle: Rounded Corners 5">
            <a:extLst>
              <a:ext uri="{FF2B5EF4-FFF2-40B4-BE49-F238E27FC236}">
                <a16:creationId xmlns:a16="http://schemas.microsoft.com/office/drawing/2014/main" id="{C254D644-3B73-6780-DB61-CDC49BA2C276}"/>
              </a:ext>
            </a:extLst>
          </p:cNvPr>
          <p:cNvSpPr/>
          <p:nvPr/>
        </p:nvSpPr>
        <p:spPr>
          <a:xfrm>
            <a:off x="7619709" y="1608462"/>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8" name="Rectangle: Rounded Corners 7">
            <a:extLst>
              <a:ext uri="{FF2B5EF4-FFF2-40B4-BE49-F238E27FC236}">
                <a16:creationId xmlns:a16="http://schemas.microsoft.com/office/drawing/2014/main" id="{3EAB518D-EB0D-FEE0-D78D-F2B7DDA66E2D}"/>
              </a:ext>
            </a:extLst>
          </p:cNvPr>
          <p:cNvSpPr/>
          <p:nvPr/>
        </p:nvSpPr>
        <p:spPr>
          <a:xfrm>
            <a:off x="7619708" y="2298880"/>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9" name="Rectangle: Rounded Corners 8">
            <a:extLst>
              <a:ext uri="{FF2B5EF4-FFF2-40B4-BE49-F238E27FC236}">
                <a16:creationId xmlns:a16="http://schemas.microsoft.com/office/drawing/2014/main" id="{B61DAEA8-D0EC-B234-D34E-52804D2B972B}"/>
              </a:ext>
            </a:extLst>
          </p:cNvPr>
          <p:cNvSpPr/>
          <p:nvPr/>
        </p:nvSpPr>
        <p:spPr>
          <a:xfrm>
            <a:off x="7619707" y="293663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10" name="Rectangle: Rounded Corners 9">
            <a:extLst>
              <a:ext uri="{FF2B5EF4-FFF2-40B4-BE49-F238E27FC236}">
                <a16:creationId xmlns:a16="http://schemas.microsoft.com/office/drawing/2014/main" id="{1BA89A26-44B9-8B5A-E44C-773ABE416CA7}"/>
              </a:ext>
            </a:extLst>
          </p:cNvPr>
          <p:cNvSpPr/>
          <p:nvPr/>
        </p:nvSpPr>
        <p:spPr>
          <a:xfrm>
            <a:off x="7597848" y="4256245"/>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solidFill>
                  <a:schemeClr val="tx1"/>
                </a:solidFill>
              </a:rPr>
              <a:t>Scanf’s</a:t>
            </a:r>
            <a:r>
              <a:rPr lang="en-US" sz="3200">
                <a:solidFill>
                  <a:schemeClr val="tx1"/>
                </a:solidFill>
              </a:rPr>
              <a:t> &amp;</a:t>
            </a:r>
            <a:r>
              <a:rPr lang="en-US" sz="3200" dirty="0" err="1">
                <a:solidFill>
                  <a:schemeClr val="tx1"/>
                </a:solidFill>
              </a:rPr>
              <a:t>num</a:t>
            </a:r>
            <a:endParaRPr lang="en-US" sz="3200" dirty="0">
              <a:solidFill>
                <a:schemeClr val="tx1"/>
              </a:solidFill>
            </a:endParaRPr>
          </a:p>
        </p:txBody>
      </p:sp>
    </p:spTree>
    <p:extLst>
      <p:ext uri="{BB962C8B-B14F-4D97-AF65-F5344CB8AC3E}">
        <p14:creationId xmlns:p14="http://schemas.microsoft.com/office/powerpoint/2010/main" val="3555904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8" grpId="0" animBg="1"/>
      <p:bldP spid="9" grpId="0" animBg="1"/>
      <p:bldP spid="1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00D18-88D9-C47B-E301-620F9F8BE9E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38AF213-4086-FA0F-929F-383698BD0AE2}"/>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45F7E97F-EF54-B57F-1DF6-6CA7BEBA5757}"/>
              </a:ext>
            </a:extLst>
          </p:cNvPr>
          <p:cNvSpPr>
            <a:spLocks noGrp="1"/>
          </p:cNvSpPr>
          <p:nvPr>
            <p:ph idx="14"/>
          </p:nvPr>
        </p:nvSpPr>
        <p:spPr/>
        <p:txBody>
          <a:bodyPr>
            <a:normAutofit lnSpcReduction="10000"/>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a:t>
            </a:r>
          </a:p>
          <a:p>
            <a:r>
              <a:rPr lang="en-US" dirty="0"/>
              <a:t>		array[</a:t>
            </a:r>
            <a:r>
              <a:rPr lang="en-US" dirty="0" err="1"/>
              <a:t>i</a:t>
            </a:r>
            <a:r>
              <a:rPr lang="en-US" dirty="0"/>
              <a:t>] = num;		</a:t>
            </a:r>
          </a:p>
          <a:p>
            <a:r>
              <a:rPr lang="en-US" dirty="0"/>
              <a:t>	}</a:t>
            </a:r>
          </a:p>
          <a:p>
            <a:r>
              <a:rPr lang="en-US" dirty="0"/>
              <a:t>	return 0;</a:t>
            </a:r>
          </a:p>
          <a:p>
            <a:r>
              <a:rPr lang="en-US" dirty="0"/>
              <a:t>}</a:t>
            </a:r>
            <a:br>
              <a:rPr lang="en-US" dirty="0"/>
            </a:br>
            <a:r>
              <a:rPr lang="en-US" dirty="0"/>
              <a:t>&gt; Enter a number:</a:t>
            </a:r>
          </a:p>
          <a:p>
            <a:r>
              <a:rPr lang="en-US" dirty="0"/>
              <a:t>1 # 5 times</a:t>
            </a:r>
          </a:p>
        </p:txBody>
      </p:sp>
      <p:grpSp>
        <p:nvGrpSpPr>
          <p:cNvPr id="32" name="Group 31">
            <a:extLst>
              <a:ext uri="{FF2B5EF4-FFF2-40B4-BE49-F238E27FC236}">
                <a16:creationId xmlns:a16="http://schemas.microsoft.com/office/drawing/2014/main" id="{4DC85581-791E-B7DC-D64A-EDB68B93AECD}"/>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5E5C2F00-BE93-63F4-BB08-60CC41FFE4AB}"/>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980BE036-635B-D73A-0169-04946F7735B3}"/>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C6EA1014-1550-71B4-CD19-1AA7B6E8EB8C}"/>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C19466E4-FF0E-ED99-E2BD-CEECAAF1074F}"/>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4907B5E0-1D04-CE6A-9C57-A97549396305}"/>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6AF860F4-5165-76AF-059D-AE676C02B071}"/>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632C4D33-61AB-D6EC-0B1C-B5F957F72D64}"/>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7BC3621D-202F-24DD-0C0E-58E7FAAA44B5}"/>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03FE7BAE-D691-DD69-E2C5-2A32482B499B}"/>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239E5FD1-F3C5-DF8C-8162-9CE229461213}"/>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AA0314A1-2B76-FB75-F82A-C773493A3993}"/>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EC92E900-D30A-B2CF-76E8-444310A12DC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785FAC96-A0C1-8E6A-9237-8B4A492AE35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324D5903-1A96-95F3-3554-41F110B1EF76}"/>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39B870B2-4EA3-7DF7-9593-D0011545653C}"/>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91B2692E-ACC9-B586-1FA4-8C71B02949A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9563DF93-1A83-1D68-1C05-CF66DD8F5D8E}"/>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85E00812-1BEC-53FB-B220-96394FDAB6F3}"/>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22672605-EF47-1C3A-E5DB-C478D8ACD811}"/>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3B45D70C-3040-F940-4764-242CECA6E1C9}"/>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A9B86257-B76D-936F-26A2-833CBCA92BC6}"/>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FEBA54C2-A30B-A6DD-FE85-C43F91BAE182}"/>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2" name="Rectangle 1">
            <a:extLst>
              <a:ext uri="{FF2B5EF4-FFF2-40B4-BE49-F238E27FC236}">
                <a16:creationId xmlns:a16="http://schemas.microsoft.com/office/drawing/2014/main" id="{54D7392D-A49B-B1D7-098A-AE7F7615D6F4}"/>
              </a:ext>
            </a:extLst>
          </p:cNvPr>
          <p:cNvSpPr/>
          <p:nvPr/>
        </p:nvSpPr>
        <p:spPr>
          <a:xfrm>
            <a:off x="560007" y="3758468"/>
            <a:ext cx="4355124" cy="95542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TextBox 5">
            <a:extLst>
              <a:ext uri="{FF2B5EF4-FFF2-40B4-BE49-F238E27FC236}">
                <a16:creationId xmlns:a16="http://schemas.microsoft.com/office/drawing/2014/main" id="{CA72FE76-EC58-8D78-0D13-4474CFC90173}"/>
              </a:ext>
            </a:extLst>
          </p:cNvPr>
          <p:cNvSpPr txBox="1"/>
          <p:nvPr/>
        </p:nvSpPr>
        <p:spPr>
          <a:xfrm>
            <a:off x="9832361" y="3588414"/>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8" name="TextBox 7">
            <a:extLst>
              <a:ext uri="{FF2B5EF4-FFF2-40B4-BE49-F238E27FC236}">
                <a16:creationId xmlns:a16="http://schemas.microsoft.com/office/drawing/2014/main" id="{D188DB7D-7446-96DB-F6EB-1920C5763584}"/>
              </a:ext>
            </a:extLst>
          </p:cNvPr>
          <p:cNvSpPr txBox="1"/>
          <p:nvPr/>
        </p:nvSpPr>
        <p:spPr>
          <a:xfrm>
            <a:off x="9828363" y="294395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9" name="TextBox 8">
            <a:extLst>
              <a:ext uri="{FF2B5EF4-FFF2-40B4-BE49-F238E27FC236}">
                <a16:creationId xmlns:a16="http://schemas.microsoft.com/office/drawing/2014/main" id="{A852EDCC-E269-C283-1405-17649BBB4E62}"/>
              </a:ext>
            </a:extLst>
          </p:cNvPr>
          <p:cNvSpPr txBox="1"/>
          <p:nvPr/>
        </p:nvSpPr>
        <p:spPr>
          <a:xfrm>
            <a:off x="9832361" y="222884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0" name="TextBox 9">
            <a:extLst>
              <a:ext uri="{FF2B5EF4-FFF2-40B4-BE49-F238E27FC236}">
                <a16:creationId xmlns:a16="http://schemas.microsoft.com/office/drawing/2014/main" id="{882EB7D1-3C45-305B-D4D1-C15F128D1F41}"/>
              </a:ext>
            </a:extLst>
          </p:cNvPr>
          <p:cNvSpPr txBox="1"/>
          <p:nvPr/>
        </p:nvSpPr>
        <p:spPr>
          <a:xfrm>
            <a:off x="9824363" y="1560627"/>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1" name="TextBox 10">
            <a:extLst>
              <a:ext uri="{FF2B5EF4-FFF2-40B4-BE49-F238E27FC236}">
                <a16:creationId xmlns:a16="http://schemas.microsoft.com/office/drawing/2014/main" id="{B79727D9-9151-2B56-21BF-5D68B2EA84F8}"/>
              </a:ext>
            </a:extLst>
          </p:cNvPr>
          <p:cNvSpPr txBox="1"/>
          <p:nvPr/>
        </p:nvSpPr>
        <p:spPr>
          <a:xfrm>
            <a:off x="9834777" y="927648"/>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3" name="Rectangle 12">
            <a:extLst>
              <a:ext uri="{FF2B5EF4-FFF2-40B4-BE49-F238E27FC236}">
                <a16:creationId xmlns:a16="http://schemas.microsoft.com/office/drawing/2014/main" id="{DD34861C-8642-B2E4-3E6B-EF9ACA029518}"/>
              </a:ext>
            </a:extLst>
          </p:cNvPr>
          <p:cNvSpPr/>
          <p:nvPr/>
        </p:nvSpPr>
        <p:spPr>
          <a:xfrm>
            <a:off x="382074" y="5212130"/>
            <a:ext cx="2372849" cy="6193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8E3F6C6-4657-2BE3-2523-F9739226ED88}"/>
              </a:ext>
            </a:extLst>
          </p:cNvPr>
          <p:cNvSpPr txBox="1"/>
          <p:nvPr/>
        </p:nvSpPr>
        <p:spPr>
          <a:xfrm>
            <a:off x="3548324" y="1646970"/>
            <a:ext cx="3849644" cy="954107"/>
          </a:xfrm>
          <a:prstGeom prst="rect">
            <a:avLst/>
          </a:prstGeom>
          <a:noFill/>
        </p:spPr>
        <p:txBody>
          <a:bodyPr wrap="none" rtlCol="0">
            <a:spAutoFit/>
          </a:bodyPr>
          <a:lstStyle/>
          <a:p>
            <a:r>
              <a:rPr lang="en-US" sz="2800" b="1" i="1" dirty="0"/>
              <a:t>Overwrite authenticated</a:t>
            </a:r>
          </a:p>
          <a:p>
            <a:r>
              <a:rPr lang="en-US" sz="2800" b="1" i="1" dirty="0"/>
              <a:t>variable!!!</a:t>
            </a:r>
          </a:p>
        </p:txBody>
      </p:sp>
    </p:spTree>
    <p:extLst>
      <p:ext uri="{BB962C8B-B14F-4D97-AF65-F5344CB8AC3E}">
        <p14:creationId xmlns:p14="http://schemas.microsoft.com/office/powerpoint/2010/main" val="2879969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3"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CCCB387-1720-F115-C174-A1CAFE5EC71C}"/>
              </a:ext>
            </a:extLst>
          </p:cNvPr>
          <p:cNvSpPr>
            <a:spLocks noGrp="1"/>
          </p:cNvSpPr>
          <p:nvPr>
            <p:ph idx="1"/>
          </p:nvPr>
        </p:nvSpPr>
        <p:spPr/>
        <p:txBody>
          <a:bodyPr/>
          <a:lstStyle/>
          <a:p>
            <a:r>
              <a:rPr lang="en-US" dirty="0" err="1">
                <a:latin typeface="Consolas" panose="020B0609020204030204" pitchFamily="49" charset="0"/>
              </a:rPr>
              <a:t>scanf</a:t>
            </a:r>
            <a:r>
              <a:rPr lang="en-US" dirty="0">
                <a:latin typeface="Consolas" panose="020B0609020204030204" pitchFamily="49" charset="0"/>
              </a:rPr>
              <a:t> </a:t>
            </a:r>
            <a:r>
              <a:rPr lang="en-US" dirty="0">
                <a:latin typeface="Helvetica" panose="020B0604020202020204" pitchFamily="34" charset="0"/>
                <a:cs typeface="Helvetica" panose="020B0604020202020204" pitchFamily="34" charset="0"/>
              </a:rPr>
              <a:t>(with the </a:t>
            </a:r>
            <a:r>
              <a:rPr lang="en-US" dirty="0">
                <a:latin typeface="Consolas" panose="020B0609020204030204" pitchFamily="49" charset="0"/>
                <a:cs typeface="Helvetica" panose="020B0604020202020204" pitchFamily="34" charset="0"/>
              </a:rPr>
              <a:t>%s</a:t>
            </a:r>
            <a:r>
              <a:rPr lang="en-US" dirty="0">
                <a:latin typeface="Helvetica" panose="020B0604020202020204" pitchFamily="34" charset="0"/>
                <a:cs typeface="Helvetica" panose="020B0604020202020204" pitchFamily="34" charset="0"/>
              </a:rPr>
              <a:t> modifier) </a:t>
            </a:r>
            <a:r>
              <a:rPr lang="en-US" dirty="0"/>
              <a:t>, </a:t>
            </a:r>
            <a:r>
              <a:rPr lang="en-US" dirty="0" err="1">
                <a:latin typeface="Consolas" panose="020B0609020204030204" pitchFamily="49" charset="0"/>
              </a:rPr>
              <a:t>strcpy</a:t>
            </a:r>
            <a:r>
              <a:rPr lang="en-US" dirty="0"/>
              <a:t>, </a:t>
            </a:r>
            <a:r>
              <a:rPr lang="en-US" dirty="0" err="1">
                <a:latin typeface="Consolas" panose="020B0609020204030204" pitchFamily="49" charset="0"/>
              </a:rPr>
              <a:t>printf</a:t>
            </a:r>
            <a:r>
              <a:rPr lang="en-US" dirty="0"/>
              <a:t> (with </a:t>
            </a:r>
            <a:r>
              <a:rPr lang="en-US" dirty="0">
                <a:latin typeface="Consolas" panose="020B0609020204030204" pitchFamily="49" charset="0"/>
              </a:rPr>
              <a:t>%n</a:t>
            </a:r>
            <a:r>
              <a:rPr lang="en-US" dirty="0"/>
              <a:t> modifier)</a:t>
            </a:r>
          </a:p>
          <a:p>
            <a:r>
              <a:rPr lang="en-US" dirty="0"/>
              <a:t>String stored can be </a:t>
            </a:r>
            <a:r>
              <a:rPr lang="en-US" b="1" i="1" dirty="0"/>
              <a:t>larger </a:t>
            </a:r>
            <a:r>
              <a:rPr lang="en-US" dirty="0"/>
              <a:t>than the variable size</a:t>
            </a:r>
          </a:p>
          <a:p>
            <a:pPr lvl="1"/>
            <a:r>
              <a:rPr lang="en-US" dirty="0"/>
              <a:t>Will overwrite the contents of the adjacent memory</a:t>
            </a:r>
          </a:p>
          <a:p>
            <a:r>
              <a:rPr lang="en-US" dirty="0">
                <a:latin typeface="Consolas" panose="020B0609020204030204" pitchFamily="49" charset="0"/>
              </a:rPr>
              <a:t>char* password = malloc(5);</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(“%s”, password); </a:t>
            </a:r>
            <a:br>
              <a:rPr lang="en-US" dirty="0">
                <a:latin typeface="Consolas" panose="020B0609020204030204" pitchFamily="49" charset="0"/>
              </a:rPr>
            </a:br>
            <a:r>
              <a:rPr lang="en-US" dirty="0">
                <a:latin typeface="Consolas" panose="020B0609020204030204" pitchFamily="49" charset="0"/>
              </a:rPr>
              <a:t>			// will overflow if user enters “AAAAAA”</a:t>
            </a:r>
          </a:p>
          <a:p>
            <a:r>
              <a:rPr lang="en-US" dirty="0">
                <a:latin typeface="Helvetica" panose="020B0604020202020204" pitchFamily="34" charset="0"/>
                <a:cs typeface="Helvetica" panose="020B0604020202020204" pitchFamily="34" charset="0"/>
              </a:rPr>
              <a:t>Solution: use size-limited functions such as </a:t>
            </a:r>
            <a:r>
              <a:rPr lang="en-US" dirty="0" err="1">
                <a:latin typeface="Consolas" panose="020B0609020204030204" pitchFamily="49" charset="0"/>
                <a:cs typeface="Helvetica" panose="020B0604020202020204" pitchFamily="34" charset="0"/>
              </a:rPr>
              <a:t>snprintf</a:t>
            </a:r>
            <a:r>
              <a:rPr lang="en-US" dirty="0">
                <a:latin typeface="Helvetica" panose="020B0604020202020204" pitchFamily="34" charset="0"/>
                <a:cs typeface="Helvetica" panose="020B0604020202020204" pitchFamily="34" charset="0"/>
              </a:rPr>
              <a:t>, </a:t>
            </a:r>
            <a:r>
              <a:rPr lang="en-US" dirty="0" err="1">
                <a:latin typeface="Consolas" panose="020B0609020204030204" pitchFamily="49" charset="0"/>
                <a:cs typeface="Helvetica" panose="020B0604020202020204" pitchFamily="34" charset="0"/>
              </a:rPr>
              <a:t>scanf</a:t>
            </a:r>
            <a:r>
              <a:rPr lang="en-US" dirty="0">
                <a:latin typeface="Consolas" panose="020B0609020204030204" pitchFamily="49" charset="0"/>
                <a:cs typeface="Helvetica" panose="020B0604020202020204" pitchFamily="34" charset="0"/>
              </a:rPr>
              <a:t>(“%5s”, password)</a:t>
            </a:r>
            <a:r>
              <a:rPr lang="en-US" dirty="0">
                <a:latin typeface="Helvetica" panose="020B0604020202020204" pitchFamily="34" charset="0"/>
                <a:cs typeface="Helvetica" panose="020B0604020202020204" pitchFamily="34" charset="0"/>
              </a:rPr>
              <a:t>, </a:t>
            </a:r>
            <a:r>
              <a:rPr lang="en-US" dirty="0" err="1">
                <a:latin typeface="Consolas" panose="020B0609020204030204" pitchFamily="49" charset="0"/>
                <a:cs typeface="Helvetica" panose="020B0604020202020204" pitchFamily="34" charset="0"/>
              </a:rPr>
              <a:t>strncpy</a:t>
            </a:r>
            <a:r>
              <a:rPr lang="en-US" dirty="0">
                <a:latin typeface="Helvetica" panose="020B0604020202020204" pitchFamily="34" charset="0"/>
                <a:cs typeface="Helvetica" panose="020B0604020202020204" pitchFamily="34" charset="0"/>
              </a:rPr>
              <a:t>, and so on</a:t>
            </a:r>
          </a:p>
        </p:txBody>
      </p:sp>
      <p:sp>
        <p:nvSpPr>
          <p:cNvPr id="5" name="Title 4">
            <a:extLst>
              <a:ext uri="{FF2B5EF4-FFF2-40B4-BE49-F238E27FC236}">
                <a16:creationId xmlns:a16="http://schemas.microsoft.com/office/drawing/2014/main" id="{C00A6E01-D7BE-AD61-AD65-A4A3EB3B1CB1}"/>
              </a:ext>
            </a:extLst>
          </p:cNvPr>
          <p:cNvSpPr>
            <a:spLocks noGrp="1"/>
          </p:cNvSpPr>
          <p:nvPr>
            <p:ph type="title"/>
          </p:nvPr>
        </p:nvSpPr>
        <p:spPr/>
        <p:txBody>
          <a:bodyPr/>
          <a:lstStyle/>
          <a:p>
            <a:r>
              <a:rPr lang="en-US" dirty="0"/>
              <a:t>Vulnerable string-related </a:t>
            </a:r>
            <a:r>
              <a:rPr lang="en-US" dirty="0" err="1">
                <a:latin typeface="Consolas" panose="020B0609020204030204" pitchFamily="49" charset="0"/>
              </a:rPr>
              <a:t>libc</a:t>
            </a:r>
            <a:r>
              <a:rPr lang="en-US" dirty="0"/>
              <a:t> functions</a:t>
            </a:r>
          </a:p>
        </p:txBody>
      </p:sp>
      <p:pic>
        <p:nvPicPr>
          <p:cNvPr id="2" name="Picture 2" descr="IconExperience » V-Collection » Pin 2 Red Icon">
            <a:extLst>
              <a:ext uri="{FF2B5EF4-FFF2-40B4-BE49-F238E27FC236}">
                <a16:creationId xmlns:a16="http://schemas.microsoft.com/office/drawing/2014/main" id="{EDE0C9DA-C82C-B3AE-C8E9-B2B6DF960D5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5266" y="5079580"/>
            <a:ext cx="362639" cy="3626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926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F683B-BA77-14A3-1A77-1AAF60EF520B}"/>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D6D6B9B9-AABC-FE1C-FA62-1E008046986C}"/>
              </a:ext>
            </a:extLst>
          </p:cNvPr>
          <p:cNvSpPr>
            <a:spLocks noGrp="1"/>
          </p:cNvSpPr>
          <p:nvPr>
            <p:ph type="title"/>
          </p:nvPr>
        </p:nvSpPr>
        <p:spPr/>
        <p:txBody>
          <a:bodyPr/>
          <a:lstStyle/>
          <a:p>
            <a:r>
              <a:rPr lang="en-US" dirty="0"/>
              <a:t>Vulnerable string-related </a:t>
            </a:r>
            <a:r>
              <a:rPr lang="en-US" dirty="0" err="1">
                <a:latin typeface="Consolas" panose="020B0609020204030204" pitchFamily="49" charset="0"/>
              </a:rPr>
              <a:t>libc</a:t>
            </a:r>
            <a:r>
              <a:rPr lang="en-US" dirty="0"/>
              <a:t> functions</a:t>
            </a:r>
          </a:p>
        </p:txBody>
      </p:sp>
      <p:sp>
        <p:nvSpPr>
          <p:cNvPr id="3" name="Content Placeholder 2">
            <a:extLst>
              <a:ext uri="{FF2B5EF4-FFF2-40B4-BE49-F238E27FC236}">
                <a16:creationId xmlns:a16="http://schemas.microsoft.com/office/drawing/2014/main" id="{61FFED48-4089-872F-28AA-1BC685018D58}"/>
              </a:ext>
            </a:extLst>
          </p:cNvPr>
          <p:cNvSpPr>
            <a:spLocks noGrp="1"/>
          </p:cNvSpPr>
          <p:nvPr>
            <p:ph idx="13"/>
          </p:nvPr>
        </p:nvSpPr>
        <p:spPr/>
        <p:txBody>
          <a:bodyPr>
            <a:normAutofit/>
          </a:bodyPr>
          <a:lstStyle/>
          <a:p>
            <a:r>
              <a:rPr lang="en-US" dirty="0">
                <a:latin typeface="Consolas" panose="020B0609020204030204" pitchFamily="49" charset="0"/>
              </a:rPr>
              <a:t>char* password = malloc(5);</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(“%s”, password)</a:t>
            </a:r>
          </a:p>
          <a:p>
            <a:r>
              <a:rPr lang="en-US" dirty="0">
                <a:latin typeface="Helvetica" panose="020B0604020202020204" pitchFamily="34" charset="0"/>
                <a:cs typeface="Helvetica" panose="020B0604020202020204" pitchFamily="34" charset="0"/>
              </a:rPr>
              <a:t>overflow if user enters “AAAAAA”</a:t>
            </a:r>
          </a:p>
          <a:p>
            <a:endParaRPr lang="en-US" dirty="0"/>
          </a:p>
        </p:txBody>
      </p:sp>
      <p:grpSp>
        <p:nvGrpSpPr>
          <p:cNvPr id="24" name="Group 23">
            <a:extLst>
              <a:ext uri="{FF2B5EF4-FFF2-40B4-BE49-F238E27FC236}">
                <a16:creationId xmlns:a16="http://schemas.microsoft.com/office/drawing/2014/main" id="{389589AC-D3C2-2498-5440-074FBA9FF5A0}"/>
              </a:ext>
            </a:extLst>
          </p:cNvPr>
          <p:cNvGrpSpPr/>
          <p:nvPr/>
        </p:nvGrpSpPr>
        <p:grpSpPr>
          <a:xfrm>
            <a:off x="6613934" y="991518"/>
            <a:ext cx="4264301" cy="4396154"/>
            <a:chOff x="6613934" y="991518"/>
            <a:chExt cx="4264301" cy="4396154"/>
          </a:xfrm>
        </p:grpSpPr>
        <p:sp>
          <p:nvSpPr>
            <p:cNvPr id="7" name="TextBox 6">
              <a:extLst>
                <a:ext uri="{FF2B5EF4-FFF2-40B4-BE49-F238E27FC236}">
                  <a16:creationId xmlns:a16="http://schemas.microsoft.com/office/drawing/2014/main" id="{6E85F3A4-DCFC-4E1C-3AA8-F319084C6049}"/>
                </a:ext>
              </a:extLst>
            </p:cNvPr>
            <p:cNvSpPr txBox="1"/>
            <p:nvPr/>
          </p:nvSpPr>
          <p:spPr>
            <a:xfrm>
              <a:off x="9614748" y="1054748"/>
              <a:ext cx="1263487" cy="523220"/>
            </a:xfrm>
            <a:prstGeom prst="rect">
              <a:avLst/>
            </a:prstGeom>
            <a:noFill/>
          </p:spPr>
          <p:txBody>
            <a:bodyPr wrap="none" rtlCol="0">
              <a:spAutoFit/>
            </a:bodyPr>
            <a:lstStyle/>
            <a:p>
              <a:r>
                <a:rPr lang="en-US" sz="2800" b="1" i="1" dirty="0"/>
                <a:t>0x1000</a:t>
              </a:r>
            </a:p>
          </p:txBody>
        </p:sp>
        <p:sp>
          <p:nvSpPr>
            <p:cNvPr id="8" name="TextBox 7">
              <a:extLst>
                <a:ext uri="{FF2B5EF4-FFF2-40B4-BE49-F238E27FC236}">
                  <a16:creationId xmlns:a16="http://schemas.microsoft.com/office/drawing/2014/main" id="{208B75EC-EAC3-8FC5-5406-08AC88B36003}"/>
                </a:ext>
              </a:extLst>
            </p:cNvPr>
            <p:cNvSpPr txBox="1"/>
            <p:nvPr/>
          </p:nvSpPr>
          <p:spPr>
            <a:xfrm>
              <a:off x="9614748" y="1680244"/>
              <a:ext cx="1027845" cy="523220"/>
            </a:xfrm>
            <a:prstGeom prst="rect">
              <a:avLst/>
            </a:prstGeom>
            <a:noFill/>
          </p:spPr>
          <p:txBody>
            <a:bodyPr wrap="none" rtlCol="0">
              <a:spAutoFit/>
            </a:bodyPr>
            <a:lstStyle/>
            <a:p>
              <a:r>
                <a:rPr lang="en-US" sz="2800" b="1" i="1" dirty="0"/>
                <a:t>0xFFF</a:t>
              </a:r>
            </a:p>
          </p:txBody>
        </p:sp>
        <p:sp>
          <p:nvSpPr>
            <p:cNvPr id="9" name="TextBox 8">
              <a:extLst>
                <a:ext uri="{FF2B5EF4-FFF2-40B4-BE49-F238E27FC236}">
                  <a16:creationId xmlns:a16="http://schemas.microsoft.com/office/drawing/2014/main" id="{B5575E3C-BF68-76D0-A961-DA23E0195EE3}"/>
                </a:ext>
              </a:extLst>
            </p:cNvPr>
            <p:cNvSpPr txBox="1"/>
            <p:nvPr/>
          </p:nvSpPr>
          <p:spPr>
            <a:xfrm>
              <a:off x="9614748" y="2336736"/>
              <a:ext cx="1037463" cy="523220"/>
            </a:xfrm>
            <a:prstGeom prst="rect">
              <a:avLst/>
            </a:prstGeom>
            <a:noFill/>
          </p:spPr>
          <p:txBody>
            <a:bodyPr wrap="none" rtlCol="0">
              <a:spAutoFit/>
            </a:bodyPr>
            <a:lstStyle/>
            <a:p>
              <a:r>
                <a:rPr lang="en-US" sz="2800" b="1" i="1" dirty="0"/>
                <a:t>0xFFE</a:t>
              </a:r>
            </a:p>
          </p:txBody>
        </p:sp>
        <p:sp>
          <p:nvSpPr>
            <p:cNvPr id="10" name="TextBox 9">
              <a:extLst>
                <a:ext uri="{FF2B5EF4-FFF2-40B4-BE49-F238E27FC236}">
                  <a16:creationId xmlns:a16="http://schemas.microsoft.com/office/drawing/2014/main" id="{E60033B2-18D8-5706-73D3-56A0A56B8E5F}"/>
                </a:ext>
              </a:extLst>
            </p:cNvPr>
            <p:cNvSpPr txBox="1"/>
            <p:nvPr/>
          </p:nvSpPr>
          <p:spPr>
            <a:xfrm>
              <a:off x="9605130" y="2972396"/>
              <a:ext cx="1088760" cy="523220"/>
            </a:xfrm>
            <a:prstGeom prst="rect">
              <a:avLst/>
            </a:prstGeom>
            <a:noFill/>
          </p:spPr>
          <p:txBody>
            <a:bodyPr wrap="none" rtlCol="0">
              <a:spAutoFit/>
            </a:bodyPr>
            <a:lstStyle/>
            <a:p>
              <a:r>
                <a:rPr lang="en-US" sz="2800" b="1" i="1" dirty="0"/>
                <a:t>0xFFD</a:t>
              </a:r>
            </a:p>
          </p:txBody>
        </p:sp>
        <p:sp>
          <p:nvSpPr>
            <p:cNvPr id="11" name="TextBox 10">
              <a:extLst>
                <a:ext uri="{FF2B5EF4-FFF2-40B4-BE49-F238E27FC236}">
                  <a16:creationId xmlns:a16="http://schemas.microsoft.com/office/drawing/2014/main" id="{DB02EA82-A818-837B-031A-55C6CA084DFB}"/>
                </a:ext>
              </a:extLst>
            </p:cNvPr>
            <p:cNvSpPr txBox="1"/>
            <p:nvPr/>
          </p:nvSpPr>
          <p:spPr>
            <a:xfrm>
              <a:off x="9563451" y="3628888"/>
              <a:ext cx="1046056" cy="523220"/>
            </a:xfrm>
            <a:prstGeom prst="rect">
              <a:avLst/>
            </a:prstGeom>
            <a:noFill/>
          </p:spPr>
          <p:txBody>
            <a:bodyPr wrap="none" rtlCol="0">
              <a:spAutoFit/>
            </a:bodyPr>
            <a:lstStyle/>
            <a:p>
              <a:r>
                <a:rPr lang="en-US" sz="2800" b="1" i="1" dirty="0"/>
                <a:t>0xFFC</a:t>
              </a:r>
            </a:p>
          </p:txBody>
        </p:sp>
        <p:sp>
          <p:nvSpPr>
            <p:cNvPr id="12" name="TextBox 11">
              <a:extLst>
                <a:ext uri="{FF2B5EF4-FFF2-40B4-BE49-F238E27FC236}">
                  <a16:creationId xmlns:a16="http://schemas.microsoft.com/office/drawing/2014/main" id="{B6E349D2-53C3-2E77-7559-7F0161B38F23}"/>
                </a:ext>
              </a:extLst>
            </p:cNvPr>
            <p:cNvSpPr txBox="1"/>
            <p:nvPr/>
          </p:nvSpPr>
          <p:spPr>
            <a:xfrm>
              <a:off x="9563451" y="4267795"/>
              <a:ext cx="1064715" cy="523220"/>
            </a:xfrm>
            <a:prstGeom prst="rect">
              <a:avLst/>
            </a:prstGeom>
            <a:noFill/>
          </p:spPr>
          <p:txBody>
            <a:bodyPr wrap="none" rtlCol="0">
              <a:spAutoFit/>
            </a:bodyPr>
            <a:lstStyle/>
            <a:p>
              <a:r>
                <a:rPr lang="en-US" sz="2800" b="1" i="1" dirty="0"/>
                <a:t>0xFFB</a:t>
              </a:r>
            </a:p>
          </p:txBody>
        </p:sp>
        <p:grpSp>
          <p:nvGrpSpPr>
            <p:cNvPr id="13" name="Group 12">
              <a:extLst>
                <a:ext uri="{FF2B5EF4-FFF2-40B4-BE49-F238E27FC236}">
                  <a16:creationId xmlns:a16="http://schemas.microsoft.com/office/drawing/2014/main" id="{4C96D14C-C1CD-573F-D9C9-8ED4D0B27D85}"/>
                </a:ext>
              </a:extLst>
            </p:cNvPr>
            <p:cNvGrpSpPr/>
            <p:nvPr/>
          </p:nvGrpSpPr>
          <p:grpSpPr>
            <a:xfrm>
              <a:off x="6613934" y="991518"/>
              <a:ext cx="2942492" cy="4396154"/>
              <a:chOff x="6822831" y="973015"/>
              <a:chExt cx="2942492" cy="4396154"/>
            </a:xfrm>
          </p:grpSpPr>
          <p:grpSp>
            <p:nvGrpSpPr>
              <p:cNvPr id="14" name="Group 13">
                <a:extLst>
                  <a:ext uri="{FF2B5EF4-FFF2-40B4-BE49-F238E27FC236}">
                    <a16:creationId xmlns:a16="http://schemas.microsoft.com/office/drawing/2014/main" id="{AE639BA0-FCFF-8B03-ED31-B34187ECA2FD}"/>
                  </a:ext>
                </a:extLst>
              </p:cNvPr>
              <p:cNvGrpSpPr/>
              <p:nvPr/>
            </p:nvGrpSpPr>
            <p:grpSpPr>
              <a:xfrm>
                <a:off x="6822831" y="973015"/>
                <a:ext cx="2942492" cy="4396154"/>
                <a:chOff x="6822831" y="973015"/>
                <a:chExt cx="2942492" cy="4396154"/>
              </a:xfrm>
            </p:grpSpPr>
            <p:cxnSp>
              <p:nvCxnSpPr>
                <p:cNvPr id="20" name="Straight Connector 19">
                  <a:extLst>
                    <a:ext uri="{FF2B5EF4-FFF2-40B4-BE49-F238E27FC236}">
                      <a16:creationId xmlns:a16="http://schemas.microsoft.com/office/drawing/2014/main" id="{9B3AB0EF-D900-F415-3D80-4E043A142087}"/>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61D8BF86-FBFA-EA6D-A0F4-E7CF651B0A88}"/>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5" name="Straight Connector 14">
                <a:extLst>
                  <a:ext uri="{FF2B5EF4-FFF2-40B4-BE49-F238E27FC236}">
                    <a16:creationId xmlns:a16="http://schemas.microsoft.com/office/drawing/2014/main" id="{D77A3858-F7D6-99FC-6BEE-5D4D41649678}"/>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6" name="Straight Connector 15">
                <a:extLst>
                  <a:ext uri="{FF2B5EF4-FFF2-40B4-BE49-F238E27FC236}">
                    <a16:creationId xmlns:a16="http://schemas.microsoft.com/office/drawing/2014/main" id="{26C0945E-7BC1-56A7-CD11-F96EC35164AF}"/>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7" name="Straight Connector 16">
                <a:extLst>
                  <a:ext uri="{FF2B5EF4-FFF2-40B4-BE49-F238E27FC236}">
                    <a16:creationId xmlns:a16="http://schemas.microsoft.com/office/drawing/2014/main" id="{1ACFD50E-9CF3-0A73-AEF0-76E499596AB7}"/>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8" name="Straight Connector 17">
                <a:extLst>
                  <a:ext uri="{FF2B5EF4-FFF2-40B4-BE49-F238E27FC236}">
                    <a16:creationId xmlns:a16="http://schemas.microsoft.com/office/drawing/2014/main" id="{80F4EA34-BD86-F070-206C-08DB5E66DF84}"/>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87CB63C9-BD51-5AF7-8305-35E857E403B0}"/>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3" name="Straight Connector 22">
              <a:extLst>
                <a:ext uri="{FF2B5EF4-FFF2-40B4-BE49-F238E27FC236}">
                  <a16:creationId xmlns:a16="http://schemas.microsoft.com/office/drawing/2014/main" id="{CB11C18A-D6F6-2D4E-1335-23E710723E86}"/>
                </a:ext>
              </a:extLst>
            </p:cNvPr>
            <p:cNvCxnSpPr>
              <a:cxnSpLocks/>
            </p:cNvCxnSpPr>
            <p:nvPr/>
          </p:nvCxnSpPr>
          <p:spPr>
            <a:xfrm flipH="1">
              <a:off x="6613934" y="4791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sp>
        <p:nvSpPr>
          <p:cNvPr id="26" name="Left Brace 25">
            <a:extLst>
              <a:ext uri="{FF2B5EF4-FFF2-40B4-BE49-F238E27FC236}">
                <a16:creationId xmlns:a16="http://schemas.microsoft.com/office/drawing/2014/main" id="{06AB3930-E1D6-207F-8E9E-9B1344493513}"/>
              </a:ext>
            </a:extLst>
          </p:cNvPr>
          <p:cNvSpPr/>
          <p:nvPr/>
        </p:nvSpPr>
        <p:spPr>
          <a:xfrm>
            <a:off x="5916058" y="1680244"/>
            <a:ext cx="341523" cy="3189211"/>
          </a:xfrm>
          <a:prstGeom prst="leftBrace">
            <a:avLst/>
          </a:prstGeom>
          <a:ln w="254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143906C7-99F0-2575-5056-9F5987E6FCFC}"/>
              </a:ext>
            </a:extLst>
          </p:cNvPr>
          <p:cNvSpPr txBox="1"/>
          <p:nvPr/>
        </p:nvSpPr>
        <p:spPr>
          <a:xfrm>
            <a:off x="4327200" y="2962101"/>
            <a:ext cx="1612493" cy="523220"/>
          </a:xfrm>
          <a:prstGeom prst="rect">
            <a:avLst/>
          </a:prstGeom>
          <a:noFill/>
        </p:spPr>
        <p:txBody>
          <a:bodyPr wrap="none" rtlCol="0">
            <a:spAutoFit/>
          </a:bodyPr>
          <a:lstStyle/>
          <a:p>
            <a:r>
              <a:rPr lang="en-US" sz="2800" b="1" i="1" dirty="0"/>
              <a:t>Password</a:t>
            </a:r>
          </a:p>
        </p:txBody>
      </p:sp>
      <p:sp>
        <p:nvSpPr>
          <p:cNvPr id="28" name="TextBox 27">
            <a:extLst>
              <a:ext uri="{FF2B5EF4-FFF2-40B4-BE49-F238E27FC236}">
                <a16:creationId xmlns:a16="http://schemas.microsoft.com/office/drawing/2014/main" id="{B16B787B-80DC-37B3-DEAF-24DCC69E755D}"/>
              </a:ext>
            </a:extLst>
          </p:cNvPr>
          <p:cNvSpPr txBox="1"/>
          <p:nvPr/>
        </p:nvSpPr>
        <p:spPr>
          <a:xfrm>
            <a:off x="7888652" y="4267795"/>
            <a:ext cx="402674" cy="523220"/>
          </a:xfrm>
          <a:prstGeom prst="rect">
            <a:avLst/>
          </a:prstGeom>
          <a:noFill/>
        </p:spPr>
        <p:txBody>
          <a:bodyPr wrap="none" rtlCol="0">
            <a:spAutoFit/>
          </a:bodyPr>
          <a:lstStyle/>
          <a:p>
            <a:r>
              <a:rPr lang="en-US" sz="2800" b="1" dirty="0"/>
              <a:t>A</a:t>
            </a:r>
            <a:endParaRPr lang="en-US" b="1" dirty="0"/>
          </a:p>
        </p:txBody>
      </p:sp>
      <p:sp>
        <p:nvSpPr>
          <p:cNvPr id="29" name="TextBox 28">
            <a:extLst>
              <a:ext uri="{FF2B5EF4-FFF2-40B4-BE49-F238E27FC236}">
                <a16:creationId xmlns:a16="http://schemas.microsoft.com/office/drawing/2014/main" id="{D65D637A-7928-EA87-D07A-741B6024A0CA}"/>
              </a:ext>
            </a:extLst>
          </p:cNvPr>
          <p:cNvSpPr txBox="1"/>
          <p:nvPr/>
        </p:nvSpPr>
        <p:spPr>
          <a:xfrm>
            <a:off x="7888652" y="3702250"/>
            <a:ext cx="402674" cy="523220"/>
          </a:xfrm>
          <a:prstGeom prst="rect">
            <a:avLst/>
          </a:prstGeom>
          <a:noFill/>
        </p:spPr>
        <p:txBody>
          <a:bodyPr wrap="none" rtlCol="0">
            <a:spAutoFit/>
          </a:bodyPr>
          <a:lstStyle/>
          <a:p>
            <a:r>
              <a:rPr lang="en-US" sz="2800" b="1" dirty="0"/>
              <a:t>A</a:t>
            </a:r>
            <a:endParaRPr lang="en-US" b="1" dirty="0"/>
          </a:p>
        </p:txBody>
      </p:sp>
      <p:sp>
        <p:nvSpPr>
          <p:cNvPr id="30" name="TextBox 29">
            <a:extLst>
              <a:ext uri="{FF2B5EF4-FFF2-40B4-BE49-F238E27FC236}">
                <a16:creationId xmlns:a16="http://schemas.microsoft.com/office/drawing/2014/main" id="{37F01460-19DE-E1EA-D38E-EF13B68DC337}"/>
              </a:ext>
            </a:extLst>
          </p:cNvPr>
          <p:cNvSpPr txBox="1"/>
          <p:nvPr/>
        </p:nvSpPr>
        <p:spPr>
          <a:xfrm>
            <a:off x="7888652" y="3063569"/>
            <a:ext cx="402674" cy="523220"/>
          </a:xfrm>
          <a:prstGeom prst="rect">
            <a:avLst/>
          </a:prstGeom>
          <a:noFill/>
        </p:spPr>
        <p:txBody>
          <a:bodyPr wrap="none" rtlCol="0">
            <a:spAutoFit/>
          </a:bodyPr>
          <a:lstStyle/>
          <a:p>
            <a:r>
              <a:rPr lang="en-US" sz="2800" b="1" dirty="0"/>
              <a:t>A</a:t>
            </a:r>
            <a:endParaRPr lang="en-US" b="1" dirty="0"/>
          </a:p>
        </p:txBody>
      </p:sp>
      <p:sp>
        <p:nvSpPr>
          <p:cNvPr id="31" name="TextBox 30">
            <a:extLst>
              <a:ext uri="{FF2B5EF4-FFF2-40B4-BE49-F238E27FC236}">
                <a16:creationId xmlns:a16="http://schemas.microsoft.com/office/drawing/2014/main" id="{03CFB502-24D3-81BA-3E63-ED0CB7C2386B}"/>
              </a:ext>
            </a:extLst>
          </p:cNvPr>
          <p:cNvSpPr txBox="1"/>
          <p:nvPr/>
        </p:nvSpPr>
        <p:spPr>
          <a:xfrm>
            <a:off x="7888652" y="2379384"/>
            <a:ext cx="402674" cy="523220"/>
          </a:xfrm>
          <a:prstGeom prst="rect">
            <a:avLst/>
          </a:prstGeom>
          <a:noFill/>
        </p:spPr>
        <p:txBody>
          <a:bodyPr wrap="none" rtlCol="0">
            <a:spAutoFit/>
          </a:bodyPr>
          <a:lstStyle/>
          <a:p>
            <a:r>
              <a:rPr lang="en-US" sz="2800" b="1" dirty="0"/>
              <a:t>A</a:t>
            </a:r>
            <a:endParaRPr lang="en-US" b="1" dirty="0"/>
          </a:p>
        </p:txBody>
      </p:sp>
      <p:sp>
        <p:nvSpPr>
          <p:cNvPr id="32" name="TextBox 31">
            <a:extLst>
              <a:ext uri="{FF2B5EF4-FFF2-40B4-BE49-F238E27FC236}">
                <a16:creationId xmlns:a16="http://schemas.microsoft.com/office/drawing/2014/main" id="{FB5AB42D-9B28-E196-B796-C538A23343D7}"/>
              </a:ext>
            </a:extLst>
          </p:cNvPr>
          <p:cNvSpPr txBox="1"/>
          <p:nvPr/>
        </p:nvSpPr>
        <p:spPr>
          <a:xfrm>
            <a:off x="7888652" y="1683383"/>
            <a:ext cx="402674" cy="523220"/>
          </a:xfrm>
          <a:prstGeom prst="rect">
            <a:avLst/>
          </a:prstGeom>
          <a:noFill/>
        </p:spPr>
        <p:txBody>
          <a:bodyPr wrap="none" rtlCol="0">
            <a:spAutoFit/>
          </a:bodyPr>
          <a:lstStyle/>
          <a:p>
            <a:r>
              <a:rPr lang="en-US" sz="2800" b="1" dirty="0"/>
              <a:t>A</a:t>
            </a:r>
            <a:endParaRPr lang="en-US" b="1" dirty="0"/>
          </a:p>
        </p:txBody>
      </p:sp>
      <p:cxnSp>
        <p:nvCxnSpPr>
          <p:cNvPr id="33" name="Straight Connector 32">
            <a:extLst>
              <a:ext uri="{FF2B5EF4-FFF2-40B4-BE49-F238E27FC236}">
                <a16:creationId xmlns:a16="http://schemas.microsoft.com/office/drawing/2014/main" id="{0DDAB820-2557-5D62-7B9D-FB34EC004709}"/>
              </a:ext>
            </a:extLst>
          </p:cNvPr>
          <p:cNvCxnSpPr>
            <a:cxnSpLocks/>
          </p:cNvCxnSpPr>
          <p:nvPr/>
        </p:nvCxnSpPr>
        <p:spPr>
          <a:xfrm flipH="1">
            <a:off x="6613934" y="105876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34" name="TextBox 33">
            <a:extLst>
              <a:ext uri="{FF2B5EF4-FFF2-40B4-BE49-F238E27FC236}">
                <a16:creationId xmlns:a16="http://schemas.microsoft.com/office/drawing/2014/main" id="{B8004852-00FE-F4F5-B1B3-7CC09E8AA806}"/>
              </a:ext>
            </a:extLst>
          </p:cNvPr>
          <p:cNvSpPr txBox="1"/>
          <p:nvPr/>
        </p:nvSpPr>
        <p:spPr>
          <a:xfrm>
            <a:off x="7888652" y="1099661"/>
            <a:ext cx="402674" cy="523220"/>
          </a:xfrm>
          <a:prstGeom prst="rect">
            <a:avLst/>
          </a:prstGeom>
          <a:solidFill>
            <a:srgbClr val="FF0000"/>
          </a:solidFill>
        </p:spPr>
        <p:txBody>
          <a:bodyPr wrap="none" rtlCol="0">
            <a:spAutoFit/>
          </a:bodyPr>
          <a:lstStyle/>
          <a:p>
            <a:r>
              <a:rPr lang="en-US" sz="2800" b="1" dirty="0"/>
              <a:t>A</a:t>
            </a:r>
            <a:endParaRPr lang="en-US" b="1" dirty="0"/>
          </a:p>
        </p:txBody>
      </p:sp>
      <p:sp>
        <p:nvSpPr>
          <p:cNvPr id="35" name="Rectangle 34">
            <a:extLst>
              <a:ext uri="{FF2B5EF4-FFF2-40B4-BE49-F238E27FC236}">
                <a16:creationId xmlns:a16="http://schemas.microsoft.com/office/drawing/2014/main" id="{AB92F865-A4CA-CCF8-B271-75111CCF56C1}"/>
              </a:ext>
            </a:extLst>
          </p:cNvPr>
          <p:cNvSpPr/>
          <p:nvPr/>
        </p:nvSpPr>
        <p:spPr>
          <a:xfrm>
            <a:off x="537973" y="1291104"/>
            <a:ext cx="4355124" cy="60379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6" name="Rectangle 35">
            <a:extLst>
              <a:ext uri="{FF2B5EF4-FFF2-40B4-BE49-F238E27FC236}">
                <a16:creationId xmlns:a16="http://schemas.microsoft.com/office/drawing/2014/main" id="{2442D87D-6F25-2A87-0D7F-82083820A673}"/>
              </a:ext>
            </a:extLst>
          </p:cNvPr>
          <p:cNvSpPr/>
          <p:nvPr/>
        </p:nvSpPr>
        <p:spPr>
          <a:xfrm>
            <a:off x="537972" y="785003"/>
            <a:ext cx="5477513" cy="4617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7" name="Rectangle 36">
            <a:extLst>
              <a:ext uri="{FF2B5EF4-FFF2-40B4-BE49-F238E27FC236}">
                <a16:creationId xmlns:a16="http://schemas.microsoft.com/office/drawing/2014/main" id="{BDEC7DCE-9F39-1FEA-14CA-BBF9371933B8}"/>
              </a:ext>
            </a:extLst>
          </p:cNvPr>
          <p:cNvSpPr/>
          <p:nvPr/>
        </p:nvSpPr>
        <p:spPr>
          <a:xfrm>
            <a:off x="4483870" y="1564984"/>
            <a:ext cx="6394366" cy="3491751"/>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2724749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9" grpId="0"/>
      <p:bldP spid="30" grpId="0"/>
      <p:bldP spid="31" grpId="0"/>
      <p:bldP spid="32" grpId="0"/>
      <p:bldP spid="34" grpId="0" animBg="1"/>
      <p:bldP spid="35" grpId="0" animBg="1"/>
      <p:bldP spid="36" grpId="0" animBg="1"/>
      <p:bldP spid="36" grpId="1" animBg="1"/>
      <p:bldP spid="37" grpId="0" animBg="1"/>
      <p:bldP spid="37"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932C27B-833C-00D6-8702-4B8122D2EA35}"/>
              </a:ext>
            </a:extLst>
          </p:cNvPr>
          <p:cNvSpPr>
            <a:spLocks noGrp="1"/>
          </p:cNvSpPr>
          <p:nvPr>
            <p:ph idx="1"/>
          </p:nvPr>
        </p:nvSpPr>
        <p:spPr/>
        <p:txBody>
          <a:bodyPr>
            <a:normAutofit/>
          </a:bodyPr>
          <a:lstStyle/>
          <a:p>
            <a:r>
              <a:rPr lang="en-US" sz="2000" dirty="0">
                <a:latin typeface="Consolas" panose="020B0609020204030204" pitchFamily="49" charset="0"/>
                <a:hlinkClick r:id="rId2"/>
              </a:rPr>
              <a:t>https://github.com/davsec-teaching/buffer-overflow-demo</a:t>
            </a:r>
            <a:endParaRPr lang="en-US" sz="2000" dirty="0">
              <a:latin typeface="Consolas" panose="020B0609020204030204" pitchFamily="49" charset="0"/>
            </a:endParaRPr>
          </a:p>
          <a:p>
            <a:endParaRPr lang="en-US" sz="2000" dirty="0">
              <a:latin typeface="Consolas" panose="020B0609020204030204" pitchFamily="49" charset="0"/>
            </a:endParaRPr>
          </a:p>
        </p:txBody>
      </p:sp>
      <p:sp>
        <p:nvSpPr>
          <p:cNvPr id="4" name="Title 3">
            <a:extLst>
              <a:ext uri="{FF2B5EF4-FFF2-40B4-BE49-F238E27FC236}">
                <a16:creationId xmlns:a16="http://schemas.microsoft.com/office/drawing/2014/main" id="{63703CD8-0666-E57D-E341-C781517E5953}"/>
              </a:ext>
            </a:extLst>
          </p:cNvPr>
          <p:cNvSpPr>
            <a:spLocks noGrp="1"/>
          </p:cNvSpPr>
          <p:nvPr>
            <p:ph type="title"/>
          </p:nvPr>
        </p:nvSpPr>
        <p:spPr/>
        <p:txBody>
          <a:bodyPr/>
          <a:lstStyle/>
          <a:p>
            <a:r>
              <a:rPr lang="en-US" dirty="0"/>
              <a:t>Buffer overflow demo</a:t>
            </a:r>
          </a:p>
        </p:txBody>
      </p:sp>
    </p:spTree>
    <p:extLst>
      <p:ext uri="{BB962C8B-B14F-4D97-AF65-F5344CB8AC3E}">
        <p14:creationId xmlns:p14="http://schemas.microsoft.com/office/powerpoint/2010/main" val="24772588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66AE579-49E5-E85D-DBA6-C82471DE1E0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5F938DE-80FB-C524-6D26-F840883E196D}"/>
              </a:ext>
            </a:extLst>
          </p:cNvPr>
          <p:cNvSpPr>
            <a:spLocks noGrp="1"/>
          </p:cNvSpPr>
          <p:nvPr>
            <p:ph type="body" sz="quarter" idx="13"/>
          </p:nvPr>
        </p:nvSpPr>
        <p:spPr/>
        <p:txBody>
          <a:bodyPr/>
          <a:lstStyle/>
          <a:p>
            <a:r>
              <a:rPr lang="en-US" dirty="0"/>
              <a:t>Software security</a:t>
            </a:r>
          </a:p>
        </p:txBody>
      </p:sp>
    </p:spTree>
    <p:extLst>
      <p:ext uri="{BB962C8B-B14F-4D97-AF65-F5344CB8AC3E}">
        <p14:creationId xmlns:p14="http://schemas.microsoft.com/office/powerpoint/2010/main" val="41652117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BA966F-C1B0-5C9C-BB56-3B75D7A4A66E}"/>
              </a:ext>
            </a:extLst>
          </p:cNvPr>
          <p:cNvSpPr>
            <a:spLocks noGrp="1"/>
          </p:cNvSpPr>
          <p:nvPr>
            <p:ph idx="1"/>
          </p:nvPr>
        </p:nvSpPr>
        <p:spPr/>
        <p:txBody>
          <a:bodyPr/>
          <a:lstStyle/>
          <a:p>
            <a:r>
              <a:rPr lang="en-US" dirty="0"/>
              <a:t>HW2 handout updated</a:t>
            </a:r>
          </a:p>
          <a:p>
            <a:pPr lvl="1"/>
            <a:r>
              <a:rPr lang="en-US" dirty="0"/>
              <a:t>Sample code to get all loaded classes</a:t>
            </a:r>
          </a:p>
          <a:p>
            <a:pPr lvl="1"/>
            <a:r>
              <a:rPr lang="en-US" dirty="0"/>
              <a:t>Part D requirements updated to reduce the number of LLM calls</a:t>
            </a:r>
          </a:p>
          <a:p>
            <a:r>
              <a:rPr lang="en-US" dirty="0"/>
              <a:t>HW1 grades will be released by today EOD</a:t>
            </a:r>
          </a:p>
          <a:p>
            <a:pPr lvl="1"/>
            <a:r>
              <a:rPr lang="en-US" dirty="0"/>
              <a:t>We could not run some submissions. These currently have a 0.</a:t>
            </a:r>
          </a:p>
          <a:p>
            <a:pPr lvl="1"/>
            <a:r>
              <a:rPr lang="en-US" dirty="0"/>
              <a:t>Please email me and set up a meeting with me.</a:t>
            </a:r>
          </a:p>
          <a:p>
            <a:r>
              <a:rPr lang="en-US" dirty="0"/>
              <a:t>Autoscaling content will be uploaded </a:t>
            </a:r>
            <a:r>
              <a:rPr lang="en-US"/>
              <a:t>by this week</a:t>
            </a:r>
            <a:endParaRPr lang="en-US" dirty="0"/>
          </a:p>
        </p:txBody>
      </p:sp>
      <p:sp>
        <p:nvSpPr>
          <p:cNvPr id="4" name="Title 3">
            <a:extLst>
              <a:ext uri="{FF2B5EF4-FFF2-40B4-BE49-F238E27FC236}">
                <a16:creationId xmlns:a16="http://schemas.microsoft.com/office/drawing/2014/main" id="{108F5B16-E1DD-B4FE-1016-0446C372FF36}"/>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34590519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A2A0433-2CD6-0C95-79DC-CAC28F9F68DC}"/>
              </a:ext>
            </a:extLst>
          </p:cNvPr>
          <p:cNvSpPr>
            <a:spLocks noGrp="1"/>
          </p:cNvSpPr>
          <p:nvPr>
            <p:ph idx="1"/>
          </p:nvPr>
        </p:nvSpPr>
        <p:spPr/>
        <p:txBody>
          <a:bodyPr>
            <a:normAutofit fontScale="92500" lnSpcReduction="20000"/>
          </a:bodyPr>
          <a:lstStyle/>
          <a:p>
            <a:r>
              <a:rPr lang="en-US" dirty="0"/>
              <a:t>More about stack memory on x86</a:t>
            </a:r>
          </a:p>
          <a:p>
            <a:pPr lvl="1"/>
            <a:r>
              <a:rPr lang="en-US" dirty="0"/>
              <a:t>Stack-based control flow hijack attacks</a:t>
            </a:r>
          </a:p>
          <a:p>
            <a:r>
              <a:rPr lang="en-US" dirty="0"/>
              <a:t>Heap-based attacks</a:t>
            </a:r>
          </a:p>
          <a:p>
            <a:r>
              <a:rPr lang="en-US" dirty="0"/>
              <a:t>Spatial and temporal memory safety</a:t>
            </a:r>
          </a:p>
          <a:p>
            <a:r>
              <a:rPr lang="en-US" dirty="0"/>
              <a:t>Defenses</a:t>
            </a:r>
          </a:p>
          <a:p>
            <a:r>
              <a:rPr lang="en-US" dirty="0"/>
              <a:t>Secure programming</a:t>
            </a:r>
          </a:p>
          <a:p>
            <a:r>
              <a:rPr lang="en-US" dirty="0"/>
              <a:t>Temporal safety approaches</a:t>
            </a:r>
          </a:p>
          <a:p>
            <a:pPr lvl="1"/>
            <a:r>
              <a:rPr lang="en-US" dirty="0"/>
              <a:t>Garbage Collection</a:t>
            </a:r>
          </a:p>
          <a:p>
            <a:pPr lvl="1"/>
            <a:r>
              <a:rPr lang="en-US" dirty="0"/>
              <a:t>The Rust way</a:t>
            </a:r>
          </a:p>
        </p:txBody>
      </p:sp>
      <p:sp>
        <p:nvSpPr>
          <p:cNvPr id="4" name="Title 3">
            <a:extLst>
              <a:ext uri="{FF2B5EF4-FFF2-40B4-BE49-F238E27FC236}">
                <a16:creationId xmlns:a16="http://schemas.microsoft.com/office/drawing/2014/main" id="{5F889DF7-9DB0-140C-3687-DA370A524C4C}"/>
              </a:ext>
            </a:extLst>
          </p:cNvPr>
          <p:cNvSpPr>
            <a:spLocks noGrp="1"/>
          </p:cNvSpPr>
          <p:nvPr>
            <p:ph type="title"/>
          </p:nvPr>
        </p:nvSpPr>
        <p:spPr/>
        <p:txBody>
          <a:bodyPr/>
          <a:lstStyle/>
          <a:p>
            <a:r>
              <a:rPr lang="en-US" dirty="0"/>
              <a:t>Agenda</a:t>
            </a:r>
          </a:p>
        </p:txBody>
      </p:sp>
      <p:cxnSp>
        <p:nvCxnSpPr>
          <p:cNvPr id="9" name="Straight Connector 8">
            <a:extLst>
              <a:ext uri="{FF2B5EF4-FFF2-40B4-BE49-F238E27FC236}">
                <a16:creationId xmlns:a16="http://schemas.microsoft.com/office/drawing/2014/main" id="{F702C548-403D-C93F-C58C-3BB47A81C656}"/>
              </a:ext>
            </a:extLst>
          </p:cNvPr>
          <p:cNvCxnSpPr/>
          <p:nvPr/>
        </p:nvCxnSpPr>
        <p:spPr>
          <a:xfrm>
            <a:off x="0" y="3035300"/>
            <a:ext cx="12192000" cy="0"/>
          </a:xfrm>
          <a:prstGeom prst="line">
            <a:avLst/>
          </a:prstGeom>
          <a:ln w="19050">
            <a:prstDash val="sysDot"/>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663390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58583-737D-D94B-A609-E855059B3CD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835E0ED-B406-60F3-8D46-6839F92FCF6D}"/>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0EE85EBE-BCCC-CC62-4E03-36943380AA3D}"/>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043A8F6C-F0B2-8E3D-8A40-7C862F81D1E3}"/>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3170DE4E-AD4A-E346-C3E5-BB3A4F799879}"/>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61365776-4778-E8A4-4A79-49D0034A94B4}"/>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F80F4512-1866-4830-C8F6-83B1B3BBDDEC}"/>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53150720-A917-900E-7E22-A593A1233CCF}"/>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A0287E76-C01C-00A1-A32E-510A8557410A}"/>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B6C3EF05-233E-56AE-BE9C-80889B7F5B9A}"/>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0428E092-8C1B-2451-6CB2-CA0BF63F19C7}"/>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5F72EFE6-00F9-A099-6D2F-84F64059A501}"/>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FAAA9F9A-BC64-A1A8-EB3C-A98850827883}"/>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18348472-1E38-5725-3E16-DFA31CDAFB12}"/>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6CBB6E2C-6532-AFCE-C474-BB13E00DF28E}"/>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E3A76DB4-0763-CA44-A3ED-704A914AB95D}"/>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467EE1F3-E946-E689-C9B1-429F8241A192}"/>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D75AA56E-0A7B-6F2D-0C7E-5AAE30FCBCA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E2145167-B8C6-7790-26DF-A8B6AAF9A27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017C2102-7F1F-42B0-1536-FC56108E397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F76DE08F-5167-9E08-7600-B54D7F7D47B6}"/>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64D72C84-E0A6-2D80-0E78-830C797DC18A}"/>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2F009C64-7500-8BCD-4B9A-DA8D1288BFF0}"/>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5FDEAD9D-0BD0-86E3-E85B-F5206E151C19}"/>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789D2904-B8D2-F0F9-6A6E-308457F5FF20}"/>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9C1866C4-AB17-E0D5-16FF-6D6C52DEE30D}"/>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3" name="Rectangle 2">
            <a:extLst>
              <a:ext uri="{FF2B5EF4-FFF2-40B4-BE49-F238E27FC236}">
                <a16:creationId xmlns:a16="http://schemas.microsoft.com/office/drawing/2014/main" id="{97E767B8-6B84-E69A-8A17-70764CFBEE4E}"/>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69438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P spid="53" grpId="0" animBg="1"/>
      <p:bldP spid="54" grpId="0" animBg="1"/>
      <p:bldP spid="5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CB3BB-97AE-EAC7-EA5A-804E4119263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538A4C9-0C64-D9C5-9222-18446897FE6A}"/>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090FE4B2-9352-19B6-3EF6-3F7123C65F90}"/>
              </a:ext>
            </a:extLst>
          </p:cNvPr>
          <p:cNvSpPr>
            <a:spLocks noGrp="1"/>
          </p:cNvSpPr>
          <p:nvPr>
            <p:ph idx="14"/>
          </p:nvPr>
        </p:nvSpPr>
        <p:spPr/>
        <p:txBody>
          <a:bodyPr>
            <a:normAutofit lnSpcReduction="10000"/>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a:t>
            </a:r>
          </a:p>
          <a:p>
            <a:r>
              <a:rPr lang="en-US" dirty="0"/>
              <a:t>		array[</a:t>
            </a:r>
            <a:r>
              <a:rPr lang="en-US" dirty="0" err="1"/>
              <a:t>i</a:t>
            </a:r>
            <a:r>
              <a:rPr lang="en-US" dirty="0"/>
              <a:t>] = num;		</a:t>
            </a:r>
          </a:p>
          <a:p>
            <a:r>
              <a:rPr lang="en-US" dirty="0"/>
              <a:t>	}</a:t>
            </a:r>
          </a:p>
          <a:p>
            <a:r>
              <a:rPr lang="en-US" dirty="0"/>
              <a:t>	return 0;</a:t>
            </a:r>
          </a:p>
          <a:p>
            <a:r>
              <a:rPr lang="en-US" dirty="0"/>
              <a:t>}</a:t>
            </a:r>
            <a:br>
              <a:rPr lang="en-US" dirty="0"/>
            </a:br>
            <a:r>
              <a:rPr lang="en-US" dirty="0"/>
              <a:t>&gt; Enter a number:</a:t>
            </a:r>
          </a:p>
          <a:p>
            <a:r>
              <a:rPr lang="en-US" dirty="0"/>
              <a:t>1 # 5 times</a:t>
            </a:r>
          </a:p>
        </p:txBody>
      </p:sp>
      <p:grpSp>
        <p:nvGrpSpPr>
          <p:cNvPr id="32" name="Group 31">
            <a:extLst>
              <a:ext uri="{FF2B5EF4-FFF2-40B4-BE49-F238E27FC236}">
                <a16:creationId xmlns:a16="http://schemas.microsoft.com/office/drawing/2014/main" id="{60B8BBD1-D849-C599-96BD-9664250B819A}"/>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102209B2-7E1E-39F6-9081-EE6C45F7BC10}"/>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9874BA21-D95C-995D-D22E-04E4A00009A5}"/>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69683F25-9445-EB4B-6EDC-490E4DE7A8AA}"/>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23EC705D-D572-BA35-2D49-2A78CDE05BF4}"/>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0A8CD4B0-83B4-A834-F81E-61142DA9ECBE}"/>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17C3B3AF-C613-221E-C055-E125CC401AFF}"/>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05461940-E41A-164E-FC24-D589657789EB}"/>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F9BD0721-21CC-BECF-F96B-D98E7D1F17BC}"/>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3ECA8A59-CE4D-6170-BC7E-F3BBA479EDBD}"/>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50C2FB28-28E6-FFEC-33ED-1064F62A7B69}"/>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1D8089E3-A3FC-FFC0-9A83-740F46B210C1}"/>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E68B1EC2-1A1C-B71E-5DEF-380B389E0D15}"/>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2563774E-B997-5C9E-DFF7-53753C992DBA}"/>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AF659908-EBB5-7613-6E43-F7404A81DC35}"/>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00AF7973-28CF-565E-D004-048132CC2BB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5205D32A-0297-1286-0B38-77E572EB00E9}"/>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57208CC8-9ED9-A7EA-11E0-E3E2E698930F}"/>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4908FF0F-1ECD-13DC-A2EF-A39F3A72CEA0}"/>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AF527EAE-F808-ECFD-0084-818B4AACC7F6}"/>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7FA408D7-A651-4418-309D-31B730863C3A}"/>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F37541BB-AF5F-A850-2D06-7DF46B6FFAA8}"/>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8BF59513-8D15-3D47-CF01-103C8696B2D1}"/>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2" name="Rectangle 1">
            <a:extLst>
              <a:ext uri="{FF2B5EF4-FFF2-40B4-BE49-F238E27FC236}">
                <a16:creationId xmlns:a16="http://schemas.microsoft.com/office/drawing/2014/main" id="{90C9115A-EF77-06FC-C940-1370EAC1CF6B}"/>
              </a:ext>
            </a:extLst>
          </p:cNvPr>
          <p:cNvSpPr/>
          <p:nvPr/>
        </p:nvSpPr>
        <p:spPr>
          <a:xfrm>
            <a:off x="560007" y="3758468"/>
            <a:ext cx="4355124" cy="95542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TextBox 5">
            <a:extLst>
              <a:ext uri="{FF2B5EF4-FFF2-40B4-BE49-F238E27FC236}">
                <a16:creationId xmlns:a16="http://schemas.microsoft.com/office/drawing/2014/main" id="{7563B891-4E8F-BB33-C41E-6F354059C504}"/>
              </a:ext>
            </a:extLst>
          </p:cNvPr>
          <p:cNvSpPr txBox="1"/>
          <p:nvPr/>
        </p:nvSpPr>
        <p:spPr>
          <a:xfrm>
            <a:off x="9832361" y="3588414"/>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8" name="TextBox 7">
            <a:extLst>
              <a:ext uri="{FF2B5EF4-FFF2-40B4-BE49-F238E27FC236}">
                <a16:creationId xmlns:a16="http://schemas.microsoft.com/office/drawing/2014/main" id="{15B08E88-BCDA-1F36-4407-2E445185EB8A}"/>
              </a:ext>
            </a:extLst>
          </p:cNvPr>
          <p:cNvSpPr txBox="1"/>
          <p:nvPr/>
        </p:nvSpPr>
        <p:spPr>
          <a:xfrm>
            <a:off x="9828363" y="294395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9" name="TextBox 8">
            <a:extLst>
              <a:ext uri="{FF2B5EF4-FFF2-40B4-BE49-F238E27FC236}">
                <a16:creationId xmlns:a16="http://schemas.microsoft.com/office/drawing/2014/main" id="{40627A69-4B6E-0EFD-A39E-754D3D8356DB}"/>
              </a:ext>
            </a:extLst>
          </p:cNvPr>
          <p:cNvSpPr txBox="1"/>
          <p:nvPr/>
        </p:nvSpPr>
        <p:spPr>
          <a:xfrm>
            <a:off x="9832361" y="222884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0" name="TextBox 9">
            <a:extLst>
              <a:ext uri="{FF2B5EF4-FFF2-40B4-BE49-F238E27FC236}">
                <a16:creationId xmlns:a16="http://schemas.microsoft.com/office/drawing/2014/main" id="{E11ED4D0-C86C-4C04-408C-D3B9D57390CF}"/>
              </a:ext>
            </a:extLst>
          </p:cNvPr>
          <p:cNvSpPr txBox="1"/>
          <p:nvPr/>
        </p:nvSpPr>
        <p:spPr>
          <a:xfrm>
            <a:off x="9824363" y="1560627"/>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1" name="TextBox 10">
            <a:extLst>
              <a:ext uri="{FF2B5EF4-FFF2-40B4-BE49-F238E27FC236}">
                <a16:creationId xmlns:a16="http://schemas.microsoft.com/office/drawing/2014/main" id="{48E555DF-BF06-4083-0DF1-0FF855DCA281}"/>
              </a:ext>
            </a:extLst>
          </p:cNvPr>
          <p:cNvSpPr txBox="1"/>
          <p:nvPr/>
        </p:nvSpPr>
        <p:spPr>
          <a:xfrm>
            <a:off x="9834777" y="927648"/>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3" name="Rectangle 12">
            <a:extLst>
              <a:ext uri="{FF2B5EF4-FFF2-40B4-BE49-F238E27FC236}">
                <a16:creationId xmlns:a16="http://schemas.microsoft.com/office/drawing/2014/main" id="{E7E74FEA-9FE7-534B-2997-3DCA95631F8D}"/>
              </a:ext>
            </a:extLst>
          </p:cNvPr>
          <p:cNvSpPr/>
          <p:nvPr/>
        </p:nvSpPr>
        <p:spPr>
          <a:xfrm>
            <a:off x="382074" y="5212130"/>
            <a:ext cx="2372849" cy="6193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00ED81FB-248B-FC61-20F5-76436B64A836}"/>
              </a:ext>
            </a:extLst>
          </p:cNvPr>
          <p:cNvSpPr txBox="1"/>
          <p:nvPr/>
        </p:nvSpPr>
        <p:spPr>
          <a:xfrm>
            <a:off x="3548324" y="1646970"/>
            <a:ext cx="3849644" cy="954107"/>
          </a:xfrm>
          <a:prstGeom prst="rect">
            <a:avLst/>
          </a:prstGeom>
          <a:noFill/>
        </p:spPr>
        <p:txBody>
          <a:bodyPr wrap="none" rtlCol="0">
            <a:spAutoFit/>
          </a:bodyPr>
          <a:lstStyle/>
          <a:p>
            <a:r>
              <a:rPr lang="en-US" sz="2800" b="1" i="1" dirty="0"/>
              <a:t>Overwrite authenticated</a:t>
            </a:r>
          </a:p>
          <a:p>
            <a:r>
              <a:rPr lang="en-US" sz="2800" b="1" i="1" dirty="0"/>
              <a:t>variable!!!</a:t>
            </a:r>
          </a:p>
        </p:txBody>
      </p:sp>
    </p:spTree>
    <p:extLst>
      <p:ext uri="{BB962C8B-B14F-4D97-AF65-F5344CB8AC3E}">
        <p14:creationId xmlns:p14="http://schemas.microsoft.com/office/powerpoint/2010/main" val="357590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3"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65DB2-942F-67FD-C00E-B8F90C1FBF79}"/>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51BB6F2-912D-26A3-0936-ED0ECD9DEA80}"/>
              </a:ext>
            </a:extLst>
          </p:cNvPr>
          <p:cNvSpPr>
            <a:spLocks noGrp="1"/>
          </p:cNvSpPr>
          <p:nvPr>
            <p:ph type="title"/>
          </p:nvPr>
        </p:nvSpPr>
        <p:spPr/>
        <p:txBody>
          <a:bodyPr/>
          <a:lstStyle/>
          <a:p>
            <a:r>
              <a:rPr lang="en-US" dirty="0"/>
              <a:t>Vulnerable string-related </a:t>
            </a:r>
            <a:r>
              <a:rPr lang="en-US" dirty="0" err="1">
                <a:latin typeface="Consolas" panose="020B0609020204030204" pitchFamily="49" charset="0"/>
              </a:rPr>
              <a:t>libc</a:t>
            </a:r>
            <a:r>
              <a:rPr lang="en-US" dirty="0"/>
              <a:t> functions</a:t>
            </a:r>
          </a:p>
        </p:txBody>
      </p:sp>
      <p:sp>
        <p:nvSpPr>
          <p:cNvPr id="3" name="Content Placeholder 2">
            <a:extLst>
              <a:ext uri="{FF2B5EF4-FFF2-40B4-BE49-F238E27FC236}">
                <a16:creationId xmlns:a16="http://schemas.microsoft.com/office/drawing/2014/main" id="{42736BDB-B266-9594-CC54-71CCD18675F3}"/>
              </a:ext>
            </a:extLst>
          </p:cNvPr>
          <p:cNvSpPr>
            <a:spLocks noGrp="1"/>
          </p:cNvSpPr>
          <p:nvPr>
            <p:ph idx="13"/>
          </p:nvPr>
        </p:nvSpPr>
        <p:spPr/>
        <p:txBody>
          <a:bodyPr>
            <a:normAutofit/>
          </a:bodyPr>
          <a:lstStyle/>
          <a:p>
            <a:r>
              <a:rPr lang="en-US" dirty="0">
                <a:latin typeface="Consolas" panose="020B0609020204030204" pitchFamily="49" charset="0"/>
              </a:rPr>
              <a:t>char* password = malloc(5);</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(“%s”, password)</a:t>
            </a:r>
          </a:p>
          <a:p>
            <a:r>
              <a:rPr lang="en-US" dirty="0">
                <a:latin typeface="Helvetica" panose="020B0604020202020204" pitchFamily="34" charset="0"/>
                <a:cs typeface="Helvetica" panose="020B0604020202020204" pitchFamily="34" charset="0"/>
              </a:rPr>
              <a:t>overflow if user enters “AAAAAA”</a:t>
            </a:r>
          </a:p>
          <a:p>
            <a:endParaRPr lang="en-US" dirty="0"/>
          </a:p>
        </p:txBody>
      </p:sp>
      <p:grpSp>
        <p:nvGrpSpPr>
          <p:cNvPr id="24" name="Group 23">
            <a:extLst>
              <a:ext uri="{FF2B5EF4-FFF2-40B4-BE49-F238E27FC236}">
                <a16:creationId xmlns:a16="http://schemas.microsoft.com/office/drawing/2014/main" id="{ABD414C5-AF13-F303-0A51-32AC9FD722A5}"/>
              </a:ext>
            </a:extLst>
          </p:cNvPr>
          <p:cNvGrpSpPr/>
          <p:nvPr/>
        </p:nvGrpSpPr>
        <p:grpSpPr>
          <a:xfrm>
            <a:off x="6613934" y="991518"/>
            <a:ext cx="4264301" cy="4396154"/>
            <a:chOff x="6613934" y="991518"/>
            <a:chExt cx="4264301" cy="4396154"/>
          </a:xfrm>
        </p:grpSpPr>
        <p:sp>
          <p:nvSpPr>
            <p:cNvPr id="7" name="TextBox 6">
              <a:extLst>
                <a:ext uri="{FF2B5EF4-FFF2-40B4-BE49-F238E27FC236}">
                  <a16:creationId xmlns:a16="http://schemas.microsoft.com/office/drawing/2014/main" id="{A7373B82-55D2-B831-9A79-2FD70707D3B8}"/>
                </a:ext>
              </a:extLst>
            </p:cNvPr>
            <p:cNvSpPr txBox="1"/>
            <p:nvPr/>
          </p:nvSpPr>
          <p:spPr>
            <a:xfrm>
              <a:off x="9614748" y="1054748"/>
              <a:ext cx="1263487" cy="523220"/>
            </a:xfrm>
            <a:prstGeom prst="rect">
              <a:avLst/>
            </a:prstGeom>
            <a:noFill/>
          </p:spPr>
          <p:txBody>
            <a:bodyPr wrap="none" rtlCol="0">
              <a:spAutoFit/>
            </a:bodyPr>
            <a:lstStyle/>
            <a:p>
              <a:r>
                <a:rPr lang="en-US" sz="2800" b="1" i="1" dirty="0"/>
                <a:t>0x1000</a:t>
              </a:r>
            </a:p>
          </p:txBody>
        </p:sp>
        <p:sp>
          <p:nvSpPr>
            <p:cNvPr id="8" name="TextBox 7">
              <a:extLst>
                <a:ext uri="{FF2B5EF4-FFF2-40B4-BE49-F238E27FC236}">
                  <a16:creationId xmlns:a16="http://schemas.microsoft.com/office/drawing/2014/main" id="{3972641C-00E0-6527-B382-C4811700BA08}"/>
                </a:ext>
              </a:extLst>
            </p:cNvPr>
            <p:cNvSpPr txBox="1"/>
            <p:nvPr/>
          </p:nvSpPr>
          <p:spPr>
            <a:xfrm>
              <a:off x="9614748" y="1680244"/>
              <a:ext cx="1027845" cy="523220"/>
            </a:xfrm>
            <a:prstGeom prst="rect">
              <a:avLst/>
            </a:prstGeom>
            <a:noFill/>
          </p:spPr>
          <p:txBody>
            <a:bodyPr wrap="none" rtlCol="0">
              <a:spAutoFit/>
            </a:bodyPr>
            <a:lstStyle/>
            <a:p>
              <a:r>
                <a:rPr lang="en-US" sz="2800" b="1" i="1" dirty="0"/>
                <a:t>0xFFF</a:t>
              </a:r>
            </a:p>
          </p:txBody>
        </p:sp>
        <p:sp>
          <p:nvSpPr>
            <p:cNvPr id="9" name="TextBox 8">
              <a:extLst>
                <a:ext uri="{FF2B5EF4-FFF2-40B4-BE49-F238E27FC236}">
                  <a16:creationId xmlns:a16="http://schemas.microsoft.com/office/drawing/2014/main" id="{794BF2C3-76D1-5B0D-EEA4-3A6C91E571A0}"/>
                </a:ext>
              </a:extLst>
            </p:cNvPr>
            <p:cNvSpPr txBox="1"/>
            <p:nvPr/>
          </p:nvSpPr>
          <p:spPr>
            <a:xfrm>
              <a:off x="9614748" y="2336736"/>
              <a:ext cx="1037463" cy="523220"/>
            </a:xfrm>
            <a:prstGeom prst="rect">
              <a:avLst/>
            </a:prstGeom>
            <a:noFill/>
          </p:spPr>
          <p:txBody>
            <a:bodyPr wrap="none" rtlCol="0">
              <a:spAutoFit/>
            </a:bodyPr>
            <a:lstStyle/>
            <a:p>
              <a:r>
                <a:rPr lang="en-US" sz="2800" b="1" i="1" dirty="0"/>
                <a:t>0xFFE</a:t>
              </a:r>
            </a:p>
          </p:txBody>
        </p:sp>
        <p:sp>
          <p:nvSpPr>
            <p:cNvPr id="10" name="TextBox 9">
              <a:extLst>
                <a:ext uri="{FF2B5EF4-FFF2-40B4-BE49-F238E27FC236}">
                  <a16:creationId xmlns:a16="http://schemas.microsoft.com/office/drawing/2014/main" id="{7D94B55C-417C-B7A0-EC10-4D65E6D68307}"/>
                </a:ext>
              </a:extLst>
            </p:cNvPr>
            <p:cNvSpPr txBox="1"/>
            <p:nvPr/>
          </p:nvSpPr>
          <p:spPr>
            <a:xfrm>
              <a:off x="9605130" y="2972396"/>
              <a:ext cx="1088760" cy="523220"/>
            </a:xfrm>
            <a:prstGeom prst="rect">
              <a:avLst/>
            </a:prstGeom>
            <a:noFill/>
          </p:spPr>
          <p:txBody>
            <a:bodyPr wrap="none" rtlCol="0">
              <a:spAutoFit/>
            </a:bodyPr>
            <a:lstStyle/>
            <a:p>
              <a:r>
                <a:rPr lang="en-US" sz="2800" b="1" i="1" dirty="0"/>
                <a:t>0xFFD</a:t>
              </a:r>
            </a:p>
          </p:txBody>
        </p:sp>
        <p:sp>
          <p:nvSpPr>
            <p:cNvPr id="11" name="TextBox 10">
              <a:extLst>
                <a:ext uri="{FF2B5EF4-FFF2-40B4-BE49-F238E27FC236}">
                  <a16:creationId xmlns:a16="http://schemas.microsoft.com/office/drawing/2014/main" id="{0C02E186-672D-80BB-0D28-6F809E045EC0}"/>
                </a:ext>
              </a:extLst>
            </p:cNvPr>
            <p:cNvSpPr txBox="1"/>
            <p:nvPr/>
          </p:nvSpPr>
          <p:spPr>
            <a:xfrm>
              <a:off x="9563451" y="3628888"/>
              <a:ext cx="1046056" cy="523220"/>
            </a:xfrm>
            <a:prstGeom prst="rect">
              <a:avLst/>
            </a:prstGeom>
            <a:noFill/>
          </p:spPr>
          <p:txBody>
            <a:bodyPr wrap="none" rtlCol="0">
              <a:spAutoFit/>
            </a:bodyPr>
            <a:lstStyle/>
            <a:p>
              <a:r>
                <a:rPr lang="en-US" sz="2800" b="1" i="1" dirty="0"/>
                <a:t>0xFFC</a:t>
              </a:r>
            </a:p>
          </p:txBody>
        </p:sp>
        <p:sp>
          <p:nvSpPr>
            <p:cNvPr id="12" name="TextBox 11">
              <a:extLst>
                <a:ext uri="{FF2B5EF4-FFF2-40B4-BE49-F238E27FC236}">
                  <a16:creationId xmlns:a16="http://schemas.microsoft.com/office/drawing/2014/main" id="{FE9C3FDB-18C7-5E93-E6AC-8ED0B7F3878F}"/>
                </a:ext>
              </a:extLst>
            </p:cNvPr>
            <p:cNvSpPr txBox="1"/>
            <p:nvPr/>
          </p:nvSpPr>
          <p:spPr>
            <a:xfrm>
              <a:off x="9563451" y="4267795"/>
              <a:ext cx="1064715" cy="523220"/>
            </a:xfrm>
            <a:prstGeom prst="rect">
              <a:avLst/>
            </a:prstGeom>
            <a:noFill/>
          </p:spPr>
          <p:txBody>
            <a:bodyPr wrap="none" rtlCol="0">
              <a:spAutoFit/>
            </a:bodyPr>
            <a:lstStyle/>
            <a:p>
              <a:r>
                <a:rPr lang="en-US" sz="2800" b="1" i="1" dirty="0"/>
                <a:t>0xFFB</a:t>
              </a:r>
            </a:p>
          </p:txBody>
        </p:sp>
        <p:grpSp>
          <p:nvGrpSpPr>
            <p:cNvPr id="13" name="Group 12">
              <a:extLst>
                <a:ext uri="{FF2B5EF4-FFF2-40B4-BE49-F238E27FC236}">
                  <a16:creationId xmlns:a16="http://schemas.microsoft.com/office/drawing/2014/main" id="{3D442D31-5AF9-F7C0-DE2B-99DC144DE7F6}"/>
                </a:ext>
              </a:extLst>
            </p:cNvPr>
            <p:cNvGrpSpPr/>
            <p:nvPr/>
          </p:nvGrpSpPr>
          <p:grpSpPr>
            <a:xfrm>
              <a:off x="6613934" y="991518"/>
              <a:ext cx="2942492" cy="4396154"/>
              <a:chOff x="6822831" y="973015"/>
              <a:chExt cx="2942492" cy="4396154"/>
            </a:xfrm>
          </p:grpSpPr>
          <p:grpSp>
            <p:nvGrpSpPr>
              <p:cNvPr id="14" name="Group 13">
                <a:extLst>
                  <a:ext uri="{FF2B5EF4-FFF2-40B4-BE49-F238E27FC236}">
                    <a16:creationId xmlns:a16="http://schemas.microsoft.com/office/drawing/2014/main" id="{B5D4D701-35BA-C086-789C-22A0097D856B}"/>
                  </a:ext>
                </a:extLst>
              </p:cNvPr>
              <p:cNvGrpSpPr/>
              <p:nvPr/>
            </p:nvGrpSpPr>
            <p:grpSpPr>
              <a:xfrm>
                <a:off x="6822831" y="973015"/>
                <a:ext cx="2942492" cy="4396154"/>
                <a:chOff x="6822831" y="973015"/>
                <a:chExt cx="2942492" cy="4396154"/>
              </a:xfrm>
            </p:grpSpPr>
            <p:cxnSp>
              <p:nvCxnSpPr>
                <p:cNvPr id="20" name="Straight Connector 19">
                  <a:extLst>
                    <a:ext uri="{FF2B5EF4-FFF2-40B4-BE49-F238E27FC236}">
                      <a16:creationId xmlns:a16="http://schemas.microsoft.com/office/drawing/2014/main" id="{E616416A-A084-4E4A-E12E-4B12C496E89E}"/>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E2F9AEE9-4954-A184-3052-255701C2970E}"/>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5" name="Straight Connector 14">
                <a:extLst>
                  <a:ext uri="{FF2B5EF4-FFF2-40B4-BE49-F238E27FC236}">
                    <a16:creationId xmlns:a16="http://schemas.microsoft.com/office/drawing/2014/main" id="{44F3C944-BAB1-5E1F-A4FE-E8B25A7DAC76}"/>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6" name="Straight Connector 15">
                <a:extLst>
                  <a:ext uri="{FF2B5EF4-FFF2-40B4-BE49-F238E27FC236}">
                    <a16:creationId xmlns:a16="http://schemas.microsoft.com/office/drawing/2014/main" id="{27BE76DC-CE9D-5C62-4A30-B543A3A87547}"/>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7" name="Straight Connector 16">
                <a:extLst>
                  <a:ext uri="{FF2B5EF4-FFF2-40B4-BE49-F238E27FC236}">
                    <a16:creationId xmlns:a16="http://schemas.microsoft.com/office/drawing/2014/main" id="{84EDA37A-7875-7D1F-33A2-F5D1C868493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8" name="Straight Connector 17">
                <a:extLst>
                  <a:ext uri="{FF2B5EF4-FFF2-40B4-BE49-F238E27FC236}">
                    <a16:creationId xmlns:a16="http://schemas.microsoft.com/office/drawing/2014/main" id="{BECA8295-0582-2DD1-1BCB-4AA91C04B5DC}"/>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89A206F1-958E-B926-1A02-D2B1273023D0}"/>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3" name="Straight Connector 22">
              <a:extLst>
                <a:ext uri="{FF2B5EF4-FFF2-40B4-BE49-F238E27FC236}">
                  <a16:creationId xmlns:a16="http://schemas.microsoft.com/office/drawing/2014/main" id="{9BC0FAAA-5923-E015-814C-CCE0555D8826}"/>
                </a:ext>
              </a:extLst>
            </p:cNvPr>
            <p:cNvCxnSpPr>
              <a:cxnSpLocks/>
            </p:cNvCxnSpPr>
            <p:nvPr/>
          </p:nvCxnSpPr>
          <p:spPr>
            <a:xfrm flipH="1">
              <a:off x="6613934" y="4791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sp>
        <p:nvSpPr>
          <p:cNvPr id="26" name="Left Brace 25">
            <a:extLst>
              <a:ext uri="{FF2B5EF4-FFF2-40B4-BE49-F238E27FC236}">
                <a16:creationId xmlns:a16="http://schemas.microsoft.com/office/drawing/2014/main" id="{05CA4EB6-8981-5163-78E6-19D5A345E8C4}"/>
              </a:ext>
            </a:extLst>
          </p:cNvPr>
          <p:cNvSpPr/>
          <p:nvPr/>
        </p:nvSpPr>
        <p:spPr>
          <a:xfrm>
            <a:off x="5916058" y="1680244"/>
            <a:ext cx="341523" cy="3189211"/>
          </a:xfrm>
          <a:prstGeom prst="leftBrace">
            <a:avLst/>
          </a:prstGeom>
          <a:ln w="254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1FD7C228-87B2-CA12-4179-8A9632642593}"/>
              </a:ext>
            </a:extLst>
          </p:cNvPr>
          <p:cNvSpPr txBox="1"/>
          <p:nvPr/>
        </p:nvSpPr>
        <p:spPr>
          <a:xfrm>
            <a:off x="4327200" y="2962101"/>
            <a:ext cx="1612493" cy="523220"/>
          </a:xfrm>
          <a:prstGeom prst="rect">
            <a:avLst/>
          </a:prstGeom>
          <a:noFill/>
        </p:spPr>
        <p:txBody>
          <a:bodyPr wrap="none" rtlCol="0">
            <a:spAutoFit/>
          </a:bodyPr>
          <a:lstStyle/>
          <a:p>
            <a:r>
              <a:rPr lang="en-US" sz="2800" b="1" i="1" dirty="0"/>
              <a:t>Password</a:t>
            </a:r>
          </a:p>
        </p:txBody>
      </p:sp>
      <p:sp>
        <p:nvSpPr>
          <p:cNvPr id="28" name="TextBox 27">
            <a:extLst>
              <a:ext uri="{FF2B5EF4-FFF2-40B4-BE49-F238E27FC236}">
                <a16:creationId xmlns:a16="http://schemas.microsoft.com/office/drawing/2014/main" id="{CC46C538-EB31-5EC1-EFBA-79174A703B5B}"/>
              </a:ext>
            </a:extLst>
          </p:cNvPr>
          <p:cNvSpPr txBox="1"/>
          <p:nvPr/>
        </p:nvSpPr>
        <p:spPr>
          <a:xfrm>
            <a:off x="7888652" y="4267795"/>
            <a:ext cx="402674" cy="523220"/>
          </a:xfrm>
          <a:prstGeom prst="rect">
            <a:avLst/>
          </a:prstGeom>
          <a:noFill/>
        </p:spPr>
        <p:txBody>
          <a:bodyPr wrap="none" rtlCol="0">
            <a:spAutoFit/>
          </a:bodyPr>
          <a:lstStyle/>
          <a:p>
            <a:r>
              <a:rPr lang="en-US" sz="2800" b="1" dirty="0"/>
              <a:t>A</a:t>
            </a:r>
            <a:endParaRPr lang="en-US" b="1" dirty="0"/>
          </a:p>
        </p:txBody>
      </p:sp>
      <p:sp>
        <p:nvSpPr>
          <p:cNvPr id="29" name="TextBox 28">
            <a:extLst>
              <a:ext uri="{FF2B5EF4-FFF2-40B4-BE49-F238E27FC236}">
                <a16:creationId xmlns:a16="http://schemas.microsoft.com/office/drawing/2014/main" id="{7EE2EC7D-F6DA-9690-A59E-286D15D63BB2}"/>
              </a:ext>
            </a:extLst>
          </p:cNvPr>
          <p:cNvSpPr txBox="1"/>
          <p:nvPr/>
        </p:nvSpPr>
        <p:spPr>
          <a:xfrm>
            <a:off x="7888652" y="3702250"/>
            <a:ext cx="402674" cy="523220"/>
          </a:xfrm>
          <a:prstGeom prst="rect">
            <a:avLst/>
          </a:prstGeom>
          <a:noFill/>
        </p:spPr>
        <p:txBody>
          <a:bodyPr wrap="none" rtlCol="0">
            <a:spAutoFit/>
          </a:bodyPr>
          <a:lstStyle/>
          <a:p>
            <a:r>
              <a:rPr lang="en-US" sz="2800" b="1" dirty="0"/>
              <a:t>A</a:t>
            </a:r>
            <a:endParaRPr lang="en-US" b="1" dirty="0"/>
          </a:p>
        </p:txBody>
      </p:sp>
      <p:sp>
        <p:nvSpPr>
          <p:cNvPr id="30" name="TextBox 29">
            <a:extLst>
              <a:ext uri="{FF2B5EF4-FFF2-40B4-BE49-F238E27FC236}">
                <a16:creationId xmlns:a16="http://schemas.microsoft.com/office/drawing/2014/main" id="{FAFC51A8-BEEF-D515-5CA7-55E3C0FECCB2}"/>
              </a:ext>
            </a:extLst>
          </p:cNvPr>
          <p:cNvSpPr txBox="1"/>
          <p:nvPr/>
        </p:nvSpPr>
        <p:spPr>
          <a:xfrm>
            <a:off x="7888652" y="3063569"/>
            <a:ext cx="402674" cy="523220"/>
          </a:xfrm>
          <a:prstGeom prst="rect">
            <a:avLst/>
          </a:prstGeom>
          <a:noFill/>
        </p:spPr>
        <p:txBody>
          <a:bodyPr wrap="none" rtlCol="0">
            <a:spAutoFit/>
          </a:bodyPr>
          <a:lstStyle/>
          <a:p>
            <a:r>
              <a:rPr lang="en-US" sz="2800" b="1" dirty="0"/>
              <a:t>A</a:t>
            </a:r>
            <a:endParaRPr lang="en-US" b="1" dirty="0"/>
          </a:p>
        </p:txBody>
      </p:sp>
      <p:sp>
        <p:nvSpPr>
          <p:cNvPr id="31" name="TextBox 30">
            <a:extLst>
              <a:ext uri="{FF2B5EF4-FFF2-40B4-BE49-F238E27FC236}">
                <a16:creationId xmlns:a16="http://schemas.microsoft.com/office/drawing/2014/main" id="{6938740C-6287-EB6C-6B06-DCD10DE6B070}"/>
              </a:ext>
            </a:extLst>
          </p:cNvPr>
          <p:cNvSpPr txBox="1"/>
          <p:nvPr/>
        </p:nvSpPr>
        <p:spPr>
          <a:xfrm>
            <a:off x="7888652" y="2379384"/>
            <a:ext cx="402674" cy="523220"/>
          </a:xfrm>
          <a:prstGeom prst="rect">
            <a:avLst/>
          </a:prstGeom>
          <a:noFill/>
        </p:spPr>
        <p:txBody>
          <a:bodyPr wrap="none" rtlCol="0">
            <a:spAutoFit/>
          </a:bodyPr>
          <a:lstStyle/>
          <a:p>
            <a:r>
              <a:rPr lang="en-US" sz="2800" b="1" dirty="0"/>
              <a:t>A</a:t>
            </a:r>
            <a:endParaRPr lang="en-US" b="1" dirty="0"/>
          </a:p>
        </p:txBody>
      </p:sp>
      <p:sp>
        <p:nvSpPr>
          <p:cNvPr id="32" name="TextBox 31">
            <a:extLst>
              <a:ext uri="{FF2B5EF4-FFF2-40B4-BE49-F238E27FC236}">
                <a16:creationId xmlns:a16="http://schemas.microsoft.com/office/drawing/2014/main" id="{D1FA6445-F56B-B9BF-CF8D-D15C3464F8FE}"/>
              </a:ext>
            </a:extLst>
          </p:cNvPr>
          <p:cNvSpPr txBox="1"/>
          <p:nvPr/>
        </p:nvSpPr>
        <p:spPr>
          <a:xfrm>
            <a:off x="7888652" y="1683383"/>
            <a:ext cx="402674" cy="523220"/>
          </a:xfrm>
          <a:prstGeom prst="rect">
            <a:avLst/>
          </a:prstGeom>
          <a:noFill/>
        </p:spPr>
        <p:txBody>
          <a:bodyPr wrap="none" rtlCol="0">
            <a:spAutoFit/>
          </a:bodyPr>
          <a:lstStyle/>
          <a:p>
            <a:r>
              <a:rPr lang="en-US" sz="2800" b="1" dirty="0"/>
              <a:t>A</a:t>
            </a:r>
            <a:endParaRPr lang="en-US" b="1" dirty="0"/>
          </a:p>
        </p:txBody>
      </p:sp>
      <p:cxnSp>
        <p:nvCxnSpPr>
          <p:cNvPr id="33" name="Straight Connector 32">
            <a:extLst>
              <a:ext uri="{FF2B5EF4-FFF2-40B4-BE49-F238E27FC236}">
                <a16:creationId xmlns:a16="http://schemas.microsoft.com/office/drawing/2014/main" id="{163BA8A2-A264-7A12-FBA0-F906B24246C8}"/>
              </a:ext>
            </a:extLst>
          </p:cNvPr>
          <p:cNvCxnSpPr>
            <a:cxnSpLocks/>
          </p:cNvCxnSpPr>
          <p:nvPr/>
        </p:nvCxnSpPr>
        <p:spPr>
          <a:xfrm flipH="1">
            <a:off x="6613934" y="105876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34" name="TextBox 33">
            <a:extLst>
              <a:ext uri="{FF2B5EF4-FFF2-40B4-BE49-F238E27FC236}">
                <a16:creationId xmlns:a16="http://schemas.microsoft.com/office/drawing/2014/main" id="{9515E166-CBCD-5847-76A8-F9F523546F7E}"/>
              </a:ext>
            </a:extLst>
          </p:cNvPr>
          <p:cNvSpPr txBox="1"/>
          <p:nvPr/>
        </p:nvSpPr>
        <p:spPr>
          <a:xfrm>
            <a:off x="7888652" y="1099661"/>
            <a:ext cx="402674" cy="523220"/>
          </a:xfrm>
          <a:prstGeom prst="rect">
            <a:avLst/>
          </a:prstGeom>
          <a:solidFill>
            <a:srgbClr val="FF0000"/>
          </a:solidFill>
        </p:spPr>
        <p:txBody>
          <a:bodyPr wrap="none" rtlCol="0">
            <a:spAutoFit/>
          </a:bodyPr>
          <a:lstStyle/>
          <a:p>
            <a:r>
              <a:rPr lang="en-US" sz="2800" b="1" dirty="0"/>
              <a:t>A</a:t>
            </a:r>
            <a:endParaRPr lang="en-US" b="1" dirty="0"/>
          </a:p>
        </p:txBody>
      </p:sp>
      <p:sp>
        <p:nvSpPr>
          <p:cNvPr id="35" name="Rectangle 34">
            <a:extLst>
              <a:ext uri="{FF2B5EF4-FFF2-40B4-BE49-F238E27FC236}">
                <a16:creationId xmlns:a16="http://schemas.microsoft.com/office/drawing/2014/main" id="{82B0349D-837D-C52E-84C1-8446A974E4CA}"/>
              </a:ext>
            </a:extLst>
          </p:cNvPr>
          <p:cNvSpPr/>
          <p:nvPr/>
        </p:nvSpPr>
        <p:spPr>
          <a:xfrm>
            <a:off x="537973" y="1291104"/>
            <a:ext cx="4355124" cy="60379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6" name="Rectangle 35">
            <a:extLst>
              <a:ext uri="{FF2B5EF4-FFF2-40B4-BE49-F238E27FC236}">
                <a16:creationId xmlns:a16="http://schemas.microsoft.com/office/drawing/2014/main" id="{F10442B0-A97F-B3AC-04C4-3CDDA62B17D8}"/>
              </a:ext>
            </a:extLst>
          </p:cNvPr>
          <p:cNvSpPr/>
          <p:nvPr/>
        </p:nvSpPr>
        <p:spPr>
          <a:xfrm>
            <a:off x="537972" y="785003"/>
            <a:ext cx="5477513" cy="4617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7" name="Rectangle 36">
            <a:extLst>
              <a:ext uri="{FF2B5EF4-FFF2-40B4-BE49-F238E27FC236}">
                <a16:creationId xmlns:a16="http://schemas.microsoft.com/office/drawing/2014/main" id="{989E81EC-75AF-F83F-9553-A0A65A7ED7AC}"/>
              </a:ext>
            </a:extLst>
          </p:cNvPr>
          <p:cNvSpPr/>
          <p:nvPr/>
        </p:nvSpPr>
        <p:spPr>
          <a:xfrm>
            <a:off x="4483870" y="1564984"/>
            <a:ext cx="6394366" cy="3491751"/>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11073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9" grpId="0"/>
      <p:bldP spid="30" grpId="0"/>
      <p:bldP spid="31" grpId="0"/>
      <p:bldP spid="32" grpId="0"/>
      <p:bldP spid="34" grpId="0" animBg="1"/>
      <p:bldP spid="35" grpId="0" animBg="1"/>
      <p:bldP spid="36" grpId="0" animBg="1"/>
      <p:bldP spid="36" grpId="1" animBg="1"/>
      <p:bldP spid="37" grpId="0" animBg="1"/>
      <p:bldP spid="37" grpId="1"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3A77D-3A8E-81C5-0E2C-2656F9527C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968CF39-D4EC-190F-A2ED-6F106B68A6BB}"/>
              </a:ext>
            </a:extLst>
          </p:cNvPr>
          <p:cNvSpPr>
            <a:spLocks noGrp="1"/>
          </p:cNvSpPr>
          <p:nvPr>
            <p:ph idx="1"/>
          </p:nvPr>
        </p:nvSpPr>
        <p:spPr>
          <a:xfrm>
            <a:off x="360607" y="785004"/>
            <a:ext cx="5735393" cy="5218981"/>
          </a:xfrm>
        </p:spPr>
        <p:txBody>
          <a:bodyPr>
            <a:normAutofit/>
          </a:bodyPr>
          <a:lstStyle/>
          <a:p>
            <a:r>
              <a:rPr lang="en-US" dirty="0"/>
              <a:t>Memory safety is a property of a programming language that ensures all memory accesses are</a:t>
            </a:r>
          </a:p>
          <a:p>
            <a:pPr lvl="1"/>
            <a:r>
              <a:rPr lang="en-US" dirty="0"/>
              <a:t>Well-defined</a:t>
            </a:r>
          </a:p>
          <a:p>
            <a:pPr lvl="1"/>
            <a:r>
              <a:rPr lang="en-US" dirty="0"/>
              <a:t>Adhere to object boundaries</a:t>
            </a:r>
          </a:p>
          <a:p>
            <a:pPr lvl="1"/>
            <a:r>
              <a:rPr lang="en-US" dirty="0"/>
              <a:t>Adhere to types of allocated objects</a:t>
            </a:r>
          </a:p>
          <a:p>
            <a:r>
              <a:rPr lang="en-US" dirty="0"/>
              <a:t>Some programming languages have memory safety and some do not</a:t>
            </a:r>
          </a:p>
        </p:txBody>
      </p:sp>
      <p:sp>
        <p:nvSpPr>
          <p:cNvPr id="4" name="Title 3">
            <a:extLst>
              <a:ext uri="{FF2B5EF4-FFF2-40B4-BE49-F238E27FC236}">
                <a16:creationId xmlns:a16="http://schemas.microsoft.com/office/drawing/2014/main" id="{516D176A-9741-BA4E-113F-570537B4831F}"/>
              </a:ext>
            </a:extLst>
          </p:cNvPr>
          <p:cNvSpPr>
            <a:spLocks noGrp="1"/>
          </p:cNvSpPr>
          <p:nvPr>
            <p:ph type="title"/>
          </p:nvPr>
        </p:nvSpPr>
        <p:spPr/>
        <p:txBody>
          <a:bodyPr/>
          <a:lstStyle/>
          <a:p>
            <a:r>
              <a:rPr lang="en-US" dirty="0"/>
              <a:t>Programming languages and memory safety</a:t>
            </a:r>
          </a:p>
        </p:txBody>
      </p:sp>
      <p:grpSp>
        <p:nvGrpSpPr>
          <p:cNvPr id="9" name="Group 8">
            <a:extLst>
              <a:ext uri="{FF2B5EF4-FFF2-40B4-BE49-F238E27FC236}">
                <a16:creationId xmlns:a16="http://schemas.microsoft.com/office/drawing/2014/main" id="{3395E452-9D49-9F45-BC69-F5A841BA093C}"/>
              </a:ext>
            </a:extLst>
          </p:cNvPr>
          <p:cNvGrpSpPr/>
          <p:nvPr/>
        </p:nvGrpSpPr>
        <p:grpSpPr>
          <a:xfrm>
            <a:off x="6283569" y="916213"/>
            <a:ext cx="5476968" cy="4533996"/>
            <a:chOff x="6283569" y="916213"/>
            <a:chExt cx="5476968" cy="4533996"/>
          </a:xfrm>
        </p:grpSpPr>
        <p:pic>
          <p:nvPicPr>
            <p:cNvPr id="1028" name="Picture 4" descr="Java logo and symbol, meaning, history, PNG">
              <a:extLst>
                <a:ext uri="{FF2B5EF4-FFF2-40B4-BE49-F238E27FC236}">
                  <a16:creationId xmlns:a16="http://schemas.microsoft.com/office/drawing/2014/main" id="{A75E0CE6-013C-8B97-B384-52961CC2FF8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95806" y="916213"/>
              <a:ext cx="1723292" cy="1077057"/>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he Python Logo | Python Software Foundation">
              <a:extLst>
                <a:ext uri="{FF2B5EF4-FFF2-40B4-BE49-F238E27FC236}">
                  <a16:creationId xmlns:a16="http://schemas.microsoft.com/office/drawing/2014/main" id="{AEB7066C-AC5C-D901-DEBF-E333459FAB9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571811" y="953379"/>
              <a:ext cx="3188726" cy="107705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rust&quot; Icon - Download for free – Iconduck">
              <a:extLst>
                <a:ext uri="{FF2B5EF4-FFF2-40B4-BE49-F238E27FC236}">
                  <a16:creationId xmlns:a16="http://schemas.microsoft.com/office/drawing/2014/main" id="{53F19287-56A8-1BED-7409-246730D1FE8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99701" y="2032269"/>
              <a:ext cx="1195754" cy="119520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DAQ | Multi-Function DAQ | ADLINK">
              <a:extLst>
                <a:ext uri="{FF2B5EF4-FFF2-40B4-BE49-F238E27FC236}">
                  <a16:creationId xmlns:a16="http://schemas.microsoft.com/office/drawing/2014/main" id="{951A1ECF-F1EC-3AA6-905D-EF242AF1549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096436" y="3976724"/>
              <a:ext cx="1685881" cy="1277581"/>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Exercism: Track maintenance tool - Dashboard">
              <a:extLst>
                <a:ext uri="{FF2B5EF4-FFF2-40B4-BE49-F238E27FC236}">
                  <a16:creationId xmlns:a16="http://schemas.microsoft.com/office/drawing/2014/main" id="{310DBAD5-D7EF-6167-47F3-F4A72270884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448135" y="3976724"/>
              <a:ext cx="1359163" cy="1473485"/>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javascript logo png, javascript icon transparent png ...">
              <a:extLst>
                <a:ext uri="{FF2B5EF4-FFF2-40B4-BE49-F238E27FC236}">
                  <a16:creationId xmlns:a16="http://schemas.microsoft.com/office/drawing/2014/main" id="{C6E1D2B0-1B06-77A6-07A0-5C0BEE6C788A}"/>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9448135" y="2030436"/>
              <a:ext cx="1436077" cy="1436077"/>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0E5589AB-A48D-0667-C714-F72BD5D1CBEF}"/>
                </a:ext>
              </a:extLst>
            </p:cNvPr>
            <p:cNvCxnSpPr/>
            <p:nvPr/>
          </p:nvCxnSpPr>
          <p:spPr>
            <a:xfrm>
              <a:off x="6283569" y="3634154"/>
              <a:ext cx="5310554" cy="0"/>
            </a:xfrm>
            <a:prstGeom prst="line">
              <a:avLst/>
            </a:prstGeom>
            <a:ln w="25400">
              <a:solidFill>
                <a:schemeClr val="tx2">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6CD0D358-DE91-565F-D4F6-A49698076C17}"/>
                </a:ext>
              </a:extLst>
            </p:cNvPr>
            <p:cNvSpPr txBox="1"/>
            <p:nvPr/>
          </p:nvSpPr>
          <p:spPr>
            <a:xfrm>
              <a:off x="7971134" y="3208190"/>
              <a:ext cx="1866152" cy="461665"/>
            </a:xfrm>
            <a:prstGeom prst="rect">
              <a:avLst/>
            </a:prstGeom>
            <a:noFill/>
          </p:spPr>
          <p:txBody>
            <a:bodyPr wrap="none" rtlCol="0">
              <a:spAutoFit/>
            </a:bodyPr>
            <a:lstStyle/>
            <a:p>
              <a:r>
                <a:rPr lang="en-US" sz="2400" b="1" i="1" dirty="0"/>
                <a:t>Memory safe</a:t>
              </a:r>
            </a:p>
          </p:txBody>
        </p:sp>
        <p:sp>
          <p:nvSpPr>
            <p:cNvPr id="8" name="TextBox 7">
              <a:extLst>
                <a:ext uri="{FF2B5EF4-FFF2-40B4-BE49-F238E27FC236}">
                  <a16:creationId xmlns:a16="http://schemas.microsoft.com/office/drawing/2014/main" id="{3B8C0C2C-946E-5BD6-D78E-662BBA3AE150}"/>
                </a:ext>
              </a:extLst>
            </p:cNvPr>
            <p:cNvSpPr txBox="1"/>
            <p:nvPr/>
          </p:nvSpPr>
          <p:spPr>
            <a:xfrm>
              <a:off x="7971134" y="3570039"/>
              <a:ext cx="2189958" cy="461665"/>
            </a:xfrm>
            <a:prstGeom prst="rect">
              <a:avLst/>
            </a:prstGeom>
            <a:noFill/>
          </p:spPr>
          <p:txBody>
            <a:bodyPr wrap="none" rtlCol="0">
              <a:spAutoFit/>
            </a:bodyPr>
            <a:lstStyle/>
            <a:p>
              <a:r>
                <a:rPr lang="en-US" sz="2400" b="1" i="1" dirty="0"/>
                <a:t>Memory unsafe</a:t>
              </a:r>
            </a:p>
          </p:txBody>
        </p:sp>
      </p:grpSp>
    </p:spTree>
    <p:extLst>
      <p:ext uri="{BB962C8B-B14F-4D97-AF65-F5344CB8AC3E}">
        <p14:creationId xmlns:p14="http://schemas.microsoft.com/office/powerpoint/2010/main" val="19782879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B519A8C9-7D48-EFBD-43C9-5D52F5BF66D8}"/>
              </a:ext>
            </a:extLst>
          </p:cNvPr>
          <p:cNvSpPr txBox="1"/>
          <p:nvPr/>
        </p:nvSpPr>
        <p:spPr>
          <a:xfrm>
            <a:off x="1957702" y="2844225"/>
            <a:ext cx="9240222" cy="584775"/>
          </a:xfrm>
          <a:prstGeom prst="rect">
            <a:avLst/>
          </a:prstGeom>
          <a:noFill/>
        </p:spPr>
        <p:txBody>
          <a:bodyPr wrap="none" rtlCol="0">
            <a:spAutoFit/>
          </a:bodyPr>
          <a:lstStyle/>
          <a:p>
            <a:r>
              <a:rPr lang="en-US" sz="3200" b="1" i="1" dirty="0"/>
              <a:t>Then why would one use C/C++ over Java/Python??? </a:t>
            </a:r>
          </a:p>
        </p:txBody>
      </p:sp>
    </p:spTree>
    <p:extLst>
      <p:ext uri="{BB962C8B-B14F-4D97-AF65-F5344CB8AC3E}">
        <p14:creationId xmlns:p14="http://schemas.microsoft.com/office/powerpoint/2010/main" val="2910183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6EAC-DD5F-F0A3-EB44-4E4ACB85BD5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8EB6211-3E36-8A48-485E-64215E8D410E}"/>
              </a:ext>
            </a:extLst>
          </p:cNvPr>
          <p:cNvSpPr>
            <a:spLocks noGrp="1"/>
          </p:cNvSpPr>
          <p:nvPr>
            <p:ph idx="1"/>
          </p:nvPr>
        </p:nvSpPr>
        <p:spPr>
          <a:xfrm>
            <a:off x="360607" y="785004"/>
            <a:ext cx="11449319" cy="5228933"/>
          </a:xfrm>
        </p:spPr>
        <p:txBody>
          <a:bodyPr/>
          <a:lstStyle/>
          <a:p>
            <a:r>
              <a:rPr lang="en-US" dirty="0"/>
              <a:t>Java compiler inserts bounds checks for array accesses that are inserted at runtime</a:t>
            </a:r>
          </a:p>
          <a:p>
            <a:pPr lvl="1"/>
            <a:endParaRPr lang="en-US" dirty="0"/>
          </a:p>
          <a:p>
            <a:pPr lvl="1"/>
            <a:endParaRPr lang="en-US" dirty="0"/>
          </a:p>
          <a:p>
            <a:pPr lvl="1"/>
            <a:endParaRPr lang="en-US" dirty="0"/>
          </a:p>
          <a:p>
            <a:pPr lvl="1"/>
            <a:endParaRPr lang="en-US" dirty="0"/>
          </a:p>
          <a:p>
            <a:pPr lvl="1"/>
            <a:endParaRPr lang="en-US" dirty="0"/>
          </a:p>
          <a:p>
            <a:r>
              <a:rPr lang="en-US" b="1" i="1" u="sng" dirty="0"/>
              <a:t>Additional runtime checks reduces performance</a:t>
            </a:r>
          </a:p>
        </p:txBody>
      </p:sp>
      <p:sp>
        <p:nvSpPr>
          <p:cNvPr id="4" name="Title 3">
            <a:extLst>
              <a:ext uri="{FF2B5EF4-FFF2-40B4-BE49-F238E27FC236}">
                <a16:creationId xmlns:a16="http://schemas.microsoft.com/office/drawing/2014/main" id="{3C53AABF-5088-302D-27E3-97D3FF826A81}"/>
              </a:ext>
            </a:extLst>
          </p:cNvPr>
          <p:cNvSpPr>
            <a:spLocks noGrp="1"/>
          </p:cNvSpPr>
          <p:nvPr>
            <p:ph type="title"/>
          </p:nvPr>
        </p:nvSpPr>
        <p:spPr/>
        <p:txBody>
          <a:bodyPr/>
          <a:lstStyle/>
          <a:p>
            <a:r>
              <a:rPr lang="en-US" dirty="0"/>
              <a:t>Memory safety and performance</a:t>
            </a:r>
          </a:p>
        </p:txBody>
      </p:sp>
      <p:sp>
        <p:nvSpPr>
          <p:cNvPr id="7" name="TextBox 6">
            <a:extLst>
              <a:ext uri="{FF2B5EF4-FFF2-40B4-BE49-F238E27FC236}">
                <a16:creationId xmlns:a16="http://schemas.microsoft.com/office/drawing/2014/main" id="{B5A62CD6-0C59-B5C7-D7DD-C7C3D921886B}"/>
              </a:ext>
            </a:extLst>
          </p:cNvPr>
          <p:cNvSpPr txBox="1"/>
          <p:nvPr/>
        </p:nvSpPr>
        <p:spPr>
          <a:xfrm>
            <a:off x="735525" y="2580073"/>
            <a:ext cx="5016270" cy="1077218"/>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p:txBody>
      </p:sp>
      <p:sp>
        <p:nvSpPr>
          <p:cNvPr id="8" name="TextBox 7">
            <a:extLst>
              <a:ext uri="{FF2B5EF4-FFF2-40B4-BE49-F238E27FC236}">
                <a16:creationId xmlns:a16="http://schemas.microsoft.com/office/drawing/2014/main" id="{C9140D1D-4980-B024-AB9F-7F9404F09D9A}"/>
              </a:ext>
            </a:extLst>
          </p:cNvPr>
          <p:cNvSpPr txBox="1"/>
          <p:nvPr/>
        </p:nvSpPr>
        <p:spPr>
          <a:xfrm>
            <a:off x="6252637" y="2690444"/>
            <a:ext cx="5310554" cy="2339102"/>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Integer.parseInt</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if (index &lt; </a:t>
            </a:r>
            <a:r>
              <a:rPr lang="en-US" sz="1600" dirty="0" err="1">
                <a:latin typeface="Consolas" panose="020B0609020204030204" pitchFamily="49" charset="0"/>
              </a:rPr>
              <a:t>arr.length</a:t>
            </a:r>
            <a:r>
              <a:rPr lang="en-US" sz="1600" dirty="0">
                <a:latin typeface="Consolas" panose="020B0609020204030204" pitchFamily="49" charset="0"/>
              </a:rPr>
              <a:t>) {</a:t>
            </a:r>
          </a:p>
          <a:p>
            <a:pPr lvl="1" indent="-455613"/>
            <a:r>
              <a:rPr lang="en-US" sz="1600" dirty="0">
                <a:latin typeface="Consolas" panose="020B0609020204030204" pitchFamily="49" charset="0"/>
              </a:rPr>
              <a:t>	</a:t>
            </a:r>
            <a:r>
              <a:rPr lang="en-US" sz="1600" dirty="0" err="1">
                <a:latin typeface="Consolas" panose="020B0609020204030204" pitchFamily="49" charset="0"/>
              </a:rPr>
              <a:t>System.out.println</a:t>
            </a:r>
            <a:r>
              <a:rPr lang="en-US" sz="1600" dirty="0">
                <a:latin typeface="Consolas" panose="020B0609020204030204" pitchFamily="49" charset="0"/>
              </a:rPr>
              <a:t>(</a:t>
            </a:r>
            <a:r>
              <a:rPr lang="en-US" sz="1600" dirty="0" err="1">
                <a:latin typeface="Consolas" panose="020B0609020204030204" pitchFamily="49" charset="0"/>
              </a:rPr>
              <a:t>arr</a:t>
            </a:r>
            <a:r>
              <a:rPr lang="en-US" sz="1600" dirty="0">
                <a:latin typeface="Consolas" panose="020B0609020204030204" pitchFamily="49" charset="0"/>
              </a:rPr>
              <a:t>[index]);</a:t>
            </a:r>
          </a:p>
          <a:p>
            <a:pPr lvl="1" indent="-455613"/>
            <a:r>
              <a:rPr lang="en-US" sz="1600" dirty="0">
                <a:latin typeface="Consolas" panose="020B0609020204030204" pitchFamily="49" charset="0"/>
              </a:rPr>
              <a:t>} else {</a:t>
            </a:r>
          </a:p>
          <a:p>
            <a:pPr lvl="1" indent="-455613"/>
            <a:r>
              <a:rPr lang="en-US" sz="1600" dirty="0">
                <a:latin typeface="Consolas" panose="020B0609020204030204" pitchFamily="49" charset="0"/>
              </a:rPr>
              <a:t>	throw new </a:t>
            </a:r>
            <a:r>
              <a:rPr lang="en-US" sz="1600" dirty="0" err="1">
                <a:latin typeface="Consolas" panose="020B0609020204030204" pitchFamily="49" charset="0"/>
              </a:rPr>
              <a:t>ArrayIndexOutOfBoundsException</a:t>
            </a:r>
            <a:r>
              <a:rPr lang="en-US" sz="1600" dirty="0">
                <a:latin typeface="Consolas" panose="020B0609020204030204" pitchFamily="49" charset="0"/>
              </a:rPr>
              <a:t>();</a:t>
            </a:r>
          </a:p>
          <a:p>
            <a:pPr lvl="1" indent="-455613"/>
            <a:r>
              <a:rPr lang="en-US" sz="1600" dirty="0">
                <a:latin typeface="Consolas" panose="020B0609020204030204" pitchFamily="49" charset="0"/>
              </a:rPr>
              <a:t>}</a:t>
            </a:r>
          </a:p>
        </p:txBody>
      </p:sp>
      <p:sp>
        <p:nvSpPr>
          <p:cNvPr id="9" name="TextBox 8">
            <a:extLst>
              <a:ext uri="{FF2B5EF4-FFF2-40B4-BE49-F238E27FC236}">
                <a16:creationId xmlns:a16="http://schemas.microsoft.com/office/drawing/2014/main" id="{A733A8CE-999F-39EB-0C49-4F7170533458}"/>
              </a:ext>
            </a:extLst>
          </p:cNvPr>
          <p:cNvSpPr txBox="1"/>
          <p:nvPr/>
        </p:nvSpPr>
        <p:spPr>
          <a:xfrm>
            <a:off x="1622022" y="1933743"/>
            <a:ext cx="2517356" cy="461665"/>
          </a:xfrm>
          <a:prstGeom prst="rect">
            <a:avLst/>
          </a:prstGeom>
          <a:noFill/>
        </p:spPr>
        <p:txBody>
          <a:bodyPr wrap="none" rtlCol="0">
            <a:spAutoFit/>
          </a:bodyPr>
          <a:lstStyle/>
          <a:p>
            <a:r>
              <a:rPr lang="en-US" sz="2400" b="1" i="1" dirty="0"/>
              <a:t>Original Java code</a:t>
            </a:r>
          </a:p>
        </p:txBody>
      </p:sp>
      <p:sp>
        <p:nvSpPr>
          <p:cNvPr id="10" name="TextBox 9">
            <a:extLst>
              <a:ext uri="{FF2B5EF4-FFF2-40B4-BE49-F238E27FC236}">
                <a16:creationId xmlns:a16="http://schemas.microsoft.com/office/drawing/2014/main" id="{403DD3A0-293F-619A-FD05-BD42970FD25D}"/>
              </a:ext>
            </a:extLst>
          </p:cNvPr>
          <p:cNvSpPr txBox="1"/>
          <p:nvPr/>
        </p:nvSpPr>
        <p:spPr>
          <a:xfrm>
            <a:off x="6440206" y="1749076"/>
            <a:ext cx="4374467" cy="830997"/>
          </a:xfrm>
          <a:prstGeom prst="rect">
            <a:avLst/>
          </a:prstGeom>
          <a:noFill/>
        </p:spPr>
        <p:txBody>
          <a:bodyPr wrap="none" rtlCol="0">
            <a:spAutoFit/>
          </a:bodyPr>
          <a:lstStyle/>
          <a:p>
            <a:pPr algn="ctr"/>
            <a:r>
              <a:rPr lang="en-US" sz="2400" b="1" i="1" dirty="0"/>
              <a:t>Pseudo-code after Java compiler </a:t>
            </a:r>
          </a:p>
          <a:p>
            <a:pPr algn="ctr"/>
            <a:r>
              <a:rPr lang="en-US" sz="2400" b="1" i="1" dirty="0"/>
              <a:t>inserts checks</a:t>
            </a:r>
          </a:p>
        </p:txBody>
      </p:sp>
      <p:sp>
        <p:nvSpPr>
          <p:cNvPr id="11" name="Rectangle 10">
            <a:extLst>
              <a:ext uri="{FF2B5EF4-FFF2-40B4-BE49-F238E27FC236}">
                <a16:creationId xmlns:a16="http://schemas.microsoft.com/office/drawing/2014/main" id="{F726F9C5-4FFF-7F8F-0DC7-D97F04147631}"/>
              </a:ext>
            </a:extLst>
          </p:cNvPr>
          <p:cNvSpPr/>
          <p:nvPr/>
        </p:nvSpPr>
        <p:spPr>
          <a:xfrm>
            <a:off x="6252637" y="3461411"/>
            <a:ext cx="4360985" cy="3283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41023753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7">
            <a:extLst>
              <a:ext uri="{FF2B5EF4-FFF2-40B4-BE49-F238E27FC236}">
                <a16:creationId xmlns:a16="http://schemas.microsoft.com/office/drawing/2014/main" id="{ED8B494B-3626-D8FE-2540-B4FC44EBD951}"/>
              </a:ext>
            </a:extLst>
          </p:cNvPr>
          <p:cNvGraphicFramePr>
            <a:graphicFrameLocks noGrp="1"/>
          </p:cNvGraphicFramePr>
          <p:nvPr>
            <p:ph idx="1"/>
            <p:extLst>
              <p:ext uri="{D42A27DB-BD31-4B8C-83A1-F6EECF244321}">
                <p14:modId xmlns:p14="http://schemas.microsoft.com/office/powerpoint/2010/main" val="868090621"/>
              </p:ext>
            </p:extLst>
          </p:nvPr>
        </p:nvGraphicFramePr>
        <p:xfrm>
          <a:off x="360363" y="784225"/>
          <a:ext cx="11449050" cy="5219700"/>
        </p:xfrm>
        <a:graphic>
          <a:graphicData uri="http://schemas.openxmlformats.org/drawingml/2006/chart">
            <c:chart xmlns:c="http://schemas.openxmlformats.org/drawingml/2006/chart" xmlns:r="http://schemas.openxmlformats.org/officeDocument/2006/relationships" r:id="rId3"/>
          </a:graphicData>
        </a:graphic>
      </p:graphicFrame>
      <p:sp>
        <p:nvSpPr>
          <p:cNvPr id="4" name="Title 3">
            <a:extLst>
              <a:ext uri="{FF2B5EF4-FFF2-40B4-BE49-F238E27FC236}">
                <a16:creationId xmlns:a16="http://schemas.microsoft.com/office/drawing/2014/main" id="{B4A142E6-F5CB-58C5-6FB5-AF932198F32E}"/>
              </a:ext>
            </a:extLst>
          </p:cNvPr>
          <p:cNvSpPr>
            <a:spLocks noGrp="1"/>
          </p:cNvSpPr>
          <p:nvPr>
            <p:ph type="title"/>
          </p:nvPr>
        </p:nvSpPr>
        <p:spPr/>
        <p:txBody>
          <a:bodyPr/>
          <a:lstStyle/>
          <a:p>
            <a:r>
              <a:rPr lang="en-US" dirty="0"/>
              <a:t>C vs. Java performance</a:t>
            </a:r>
          </a:p>
        </p:txBody>
      </p:sp>
      <p:sp>
        <p:nvSpPr>
          <p:cNvPr id="9" name="TextBox 8">
            <a:extLst>
              <a:ext uri="{FF2B5EF4-FFF2-40B4-BE49-F238E27FC236}">
                <a16:creationId xmlns:a16="http://schemas.microsoft.com/office/drawing/2014/main" id="{47B46927-DF2C-8E47-C0BE-4F4098381F9D}"/>
              </a:ext>
            </a:extLst>
          </p:cNvPr>
          <p:cNvSpPr txBox="1"/>
          <p:nvPr/>
        </p:nvSpPr>
        <p:spPr>
          <a:xfrm>
            <a:off x="7502770" y="1160585"/>
            <a:ext cx="4196983" cy="276999"/>
          </a:xfrm>
          <a:prstGeom prst="rect">
            <a:avLst/>
          </a:prstGeom>
          <a:noFill/>
        </p:spPr>
        <p:txBody>
          <a:bodyPr wrap="none" rtlCol="0">
            <a:spAutoFit/>
          </a:bodyPr>
          <a:lstStyle/>
          <a:p>
            <a:r>
              <a:rPr lang="en-US" sz="1200" dirty="0"/>
              <a:t>https://programming-language-benchmarks.vercel.app/c-vs-java</a:t>
            </a:r>
          </a:p>
        </p:txBody>
      </p:sp>
    </p:spTree>
    <p:extLst>
      <p:ext uri="{BB962C8B-B14F-4D97-AF65-F5344CB8AC3E}">
        <p14:creationId xmlns:p14="http://schemas.microsoft.com/office/powerpoint/2010/main" val="12676381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B4E1CE3-C6F8-98DF-D371-39BC78C5E2A1}"/>
              </a:ext>
            </a:extLst>
          </p:cNvPr>
          <p:cNvSpPr>
            <a:spLocks noGrp="1"/>
          </p:cNvSpPr>
          <p:nvPr>
            <p:ph idx="1"/>
          </p:nvPr>
        </p:nvSpPr>
        <p:spPr/>
        <p:txBody>
          <a:bodyPr/>
          <a:lstStyle/>
          <a:p>
            <a:r>
              <a:rPr lang="en-US" dirty="0"/>
              <a:t>Web servers</a:t>
            </a:r>
          </a:p>
          <a:p>
            <a:pPr lvl="1"/>
            <a:r>
              <a:rPr lang="en-US" dirty="0"/>
              <a:t>Nginx, Apache Httpd</a:t>
            </a:r>
          </a:p>
          <a:p>
            <a:r>
              <a:rPr lang="en-US" dirty="0"/>
              <a:t>Key-value stores</a:t>
            </a:r>
          </a:p>
          <a:p>
            <a:pPr lvl="1"/>
            <a:r>
              <a:rPr lang="en-US" dirty="0"/>
              <a:t>Redis, Memcached</a:t>
            </a:r>
          </a:p>
          <a:p>
            <a:r>
              <a:rPr lang="en-US" dirty="0"/>
              <a:t>Database servers</a:t>
            </a:r>
          </a:p>
          <a:p>
            <a:pPr lvl="1"/>
            <a:r>
              <a:rPr lang="en-US" dirty="0"/>
              <a:t>MySQL</a:t>
            </a:r>
          </a:p>
          <a:p>
            <a:pPr lvl="1"/>
            <a:r>
              <a:rPr lang="en-US" dirty="0" err="1"/>
              <a:t>Postgresql</a:t>
            </a:r>
            <a:endParaRPr lang="en-US" dirty="0"/>
          </a:p>
          <a:p>
            <a:pPr lvl="1"/>
            <a:r>
              <a:rPr lang="en-US" dirty="0" err="1"/>
              <a:t>SQLLite</a:t>
            </a:r>
            <a:endParaRPr lang="en-US" dirty="0"/>
          </a:p>
        </p:txBody>
      </p:sp>
      <p:sp>
        <p:nvSpPr>
          <p:cNvPr id="4" name="Title 3">
            <a:extLst>
              <a:ext uri="{FF2B5EF4-FFF2-40B4-BE49-F238E27FC236}">
                <a16:creationId xmlns:a16="http://schemas.microsoft.com/office/drawing/2014/main" id="{E0DECA4F-3FE6-823A-F380-368BF060A0E8}"/>
              </a:ext>
            </a:extLst>
          </p:cNvPr>
          <p:cNvSpPr>
            <a:spLocks noGrp="1"/>
          </p:cNvSpPr>
          <p:nvPr>
            <p:ph type="title"/>
          </p:nvPr>
        </p:nvSpPr>
        <p:spPr/>
        <p:txBody>
          <a:bodyPr/>
          <a:lstStyle/>
          <a:p>
            <a:r>
              <a:rPr lang="en-US" dirty="0"/>
              <a:t>Performance critical software in C/C++</a:t>
            </a:r>
          </a:p>
        </p:txBody>
      </p:sp>
      <p:pic>
        <p:nvPicPr>
          <p:cNvPr id="2052" name="Picture 4" descr="Applying custom configuration to Nginx Gateway Fabric :: blog.oddbit.com">
            <a:extLst>
              <a:ext uri="{FF2B5EF4-FFF2-40B4-BE49-F238E27FC236}">
                <a16:creationId xmlns:a16="http://schemas.microsoft.com/office/drawing/2014/main" id="{BC984CDB-B2E6-4A73-E00B-06536F38886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5611" y="854015"/>
            <a:ext cx="1877158" cy="1126295"/>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How to launch an Apache Web Server from the CLI | by Marshall Hubbard |  Nerd For Tech | Medium">
            <a:extLst>
              <a:ext uri="{FF2B5EF4-FFF2-40B4-BE49-F238E27FC236}">
                <a16:creationId xmlns:a16="http://schemas.microsoft.com/office/drawing/2014/main" id="{2E41A565-F705-61E9-6611-472EFBE3469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35816" y="854015"/>
            <a:ext cx="2625969" cy="1312985"/>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descr="Redis (company) - Wikipedia">
            <a:extLst>
              <a:ext uri="{FF2B5EF4-FFF2-40B4-BE49-F238E27FC236}">
                <a16:creationId xmlns:a16="http://schemas.microsoft.com/office/drawing/2014/main" id="{0B6DEA3B-DD86-C0AD-9653-A30F75F4A07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72354" y="2684868"/>
            <a:ext cx="3030415" cy="1012664"/>
          </a:xfrm>
          <a:prstGeom prst="rect">
            <a:avLst/>
          </a:prstGeom>
          <a:noFill/>
          <a:extLst>
            <a:ext uri="{909E8E84-426E-40DD-AFC4-6F175D3DCCD1}">
              <a14:hiddenFill xmlns:a14="http://schemas.microsoft.com/office/drawing/2010/main">
                <a:solidFill>
                  <a:srgbClr val="FFFFFF"/>
                </a:solidFill>
              </a14:hiddenFill>
            </a:ext>
          </a:extLst>
        </p:spPr>
      </p:pic>
      <p:pic>
        <p:nvPicPr>
          <p:cNvPr id="2060" name="Picture 12" descr="Why we should use Memcache">
            <a:extLst>
              <a:ext uri="{FF2B5EF4-FFF2-40B4-BE49-F238E27FC236}">
                <a16:creationId xmlns:a16="http://schemas.microsoft.com/office/drawing/2014/main" id="{E4D414FD-CDE5-CF59-DDC1-CCD19A832BF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12234" y="2236011"/>
            <a:ext cx="4088227" cy="1858285"/>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descr="What Is MySQL?. MySQL is a freely available open-source… | by Visualmodo |  Medium">
            <a:extLst>
              <a:ext uri="{FF2B5EF4-FFF2-40B4-BE49-F238E27FC236}">
                <a16:creationId xmlns:a16="http://schemas.microsoft.com/office/drawing/2014/main" id="{E0D86ED0-9B11-D6E9-2472-8CC182E5B260}"/>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974981" y="3912204"/>
            <a:ext cx="2527788" cy="1685192"/>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What Is PostgreSQL?">
            <a:extLst>
              <a:ext uri="{FF2B5EF4-FFF2-40B4-BE49-F238E27FC236}">
                <a16:creationId xmlns:a16="http://schemas.microsoft.com/office/drawing/2014/main" id="{24616841-0358-E9C9-A2C5-FDA9C364CEC6}"/>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229600" y="4183022"/>
            <a:ext cx="2775618" cy="15612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68796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6D72392A-E88A-C54A-91D4-6F8FE4A7D146}"/>
              </a:ext>
            </a:extLst>
          </p:cNvPr>
          <p:cNvPicPr>
            <a:picLocks noChangeAspect="1"/>
          </p:cNvPicPr>
          <p:nvPr/>
        </p:nvPicPr>
        <p:blipFill>
          <a:blip r:embed="rId3"/>
          <a:stretch>
            <a:fillRect/>
          </a:stretch>
        </p:blipFill>
        <p:spPr>
          <a:xfrm>
            <a:off x="1591788" y="802638"/>
            <a:ext cx="7850956" cy="5828065"/>
          </a:xfrm>
          <a:prstGeom prst="rect">
            <a:avLst/>
          </a:prstGeom>
        </p:spPr>
      </p:pic>
      <p:sp>
        <p:nvSpPr>
          <p:cNvPr id="3" name="Title 2">
            <a:extLst>
              <a:ext uri="{FF2B5EF4-FFF2-40B4-BE49-F238E27FC236}">
                <a16:creationId xmlns:a16="http://schemas.microsoft.com/office/drawing/2014/main" id="{4C6324ED-DF4B-FBBD-1976-2F0ED68DABB1}"/>
              </a:ext>
            </a:extLst>
          </p:cNvPr>
          <p:cNvSpPr>
            <a:spLocks noGrp="1"/>
          </p:cNvSpPr>
          <p:nvPr>
            <p:ph type="title"/>
          </p:nvPr>
        </p:nvSpPr>
        <p:spPr/>
        <p:txBody>
          <a:bodyPr/>
          <a:lstStyle/>
          <a:p>
            <a:r>
              <a:rPr lang="en-US"/>
              <a:t>Security attacks</a:t>
            </a:r>
          </a:p>
        </p:txBody>
      </p:sp>
      <p:pic>
        <p:nvPicPr>
          <p:cNvPr id="7" name="Picture 6">
            <a:extLst>
              <a:ext uri="{FF2B5EF4-FFF2-40B4-BE49-F238E27FC236}">
                <a16:creationId xmlns:a16="http://schemas.microsoft.com/office/drawing/2014/main" id="{85323F75-202E-72FA-643E-31521F9BAAFE}"/>
              </a:ext>
            </a:extLst>
          </p:cNvPr>
          <p:cNvPicPr>
            <a:picLocks noChangeAspect="1"/>
          </p:cNvPicPr>
          <p:nvPr/>
        </p:nvPicPr>
        <p:blipFill>
          <a:blip r:embed="rId4"/>
          <a:stretch>
            <a:fillRect/>
          </a:stretch>
        </p:blipFill>
        <p:spPr>
          <a:xfrm>
            <a:off x="523006" y="802638"/>
            <a:ext cx="10269383" cy="2124371"/>
          </a:xfrm>
          <a:prstGeom prst="rect">
            <a:avLst/>
          </a:prstGeom>
        </p:spPr>
      </p:pic>
      <p:pic>
        <p:nvPicPr>
          <p:cNvPr id="12" name="Picture 11">
            <a:extLst>
              <a:ext uri="{FF2B5EF4-FFF2-40B4-BE49-F238E27FC236}">
                <a16:creationId xmlns:a16="http://schemas.microsoft.com/office/drawing/2014/main" id="{D8E4EB8B-B0DC-DF46-311D-08FC30D485B2}"/>
              </a:ext>
            </a:extLst>
          </p:cNvPr>
          <p:cNvPicPr>
            <a:picLocks noChangeAspect="1"/>
          </p:cNvPicPr>
          <p:nvPr/>
        </p:nvPicPr>
        <p:blipFill>
          <a:blip r:embed="rId5"/>
          <a:stretch>
            <a:fillRect/>
          </a:stretch>
        </p:blipFill>
        <p:spPr>
          <a:xfrm>
            <a:off x="3111336" y="1110403"/>
            <a:ext cx="5969328" cy="5212533"/>
          </a:xfrm>
          <a:prstGeom prst="rect">
            <a:avLst/>
          </a:prstGeom>
        </p:spPr>
      </p:pic>
      <p:pic>
        <p:nvPicPr>
          <p:cNvPr id="6" name="Picture 5">
            <a:extLst>
              <a:ext uri="{FF2B5EF4-FFF2-40B4-BE49-F238E27FC236}">
                <a16:creationId xmlns:a16="http://schemas.microsoft.com/office/drawing/2014/main" id="{174226FA-E35A-D6FF-782A-F41BD58B6B9B}"/>
              </a:ext>
            </a:extLst>
          </p:cNvPr>
          <p:cNvPicPr>
            <a:picLocks noChangeAspect="1"/>
          </p:cNvPicPr>
          <p:nvPr/>
        </p:nvPicPr>
        <p:blipFill>
          <a:blip r:embed="rId6"/>
          <a:stretch>
            <a:fillRect/>
          </a:stretch>
        </p:blipFill>
        <p:spPr>
          <a:xfrm>
            <a:off x="221437" y="1937472"/>
            <a:ext cx="10378775" cy="2841383"/>
          </a:xfrm>
          <a:prstGeom prst="rect">
            <a:avLst/>
          </a:prstGeom>
        </p:spPr>
      </p:pic>
    </p:spTree>
    <p:extLst>
      <p:ext uri="{BB962C8B-B14F-4D97-AF65-F5344CB8AC3E}">
        <p14:creationId xmlns:p14="http://schemas.microsoft.com/office/powerpoint/2010/main" val="2192467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EC2AE5E2-0AC2-302A-EAFC-07D035035DCF}"/>
              </a:ext>
            </a:extLst>
          </p:cNvPr>
          <p:cNvPicPr>
            <a:picLocks noGrp="1" noChangeAspect="1"/>
          </p:cNvPicPr>
          <p:nvPr>
            <p:ph idx="1"/>
          </p:nvPr>
        </p:nvPicPr>
        <p:blipFill>
          <a:blip r:embed="rId2"/>
          <a:stretch>
            <a:fillRect/>
          </a:stretch>
        </p:blipFill>
        <p:spPr bwMode="auto">
          <a:xfrm>
            <a:off x="1833687" y="784225"/>
            <a:ext cx="7211253" cy="44270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itle 3">
            <a:extLst>
              <a:ext uri="{FF2B5EF4-FFF2-40B4-BE49-F238E27FC236}">
                <a16:creationId xmlns:a16="http://schemas.microsoft.com/office/drawing/2014/main" id="{02570204-9E68-AE73-6781-8B7B947C0081}"/>
              </a:ext>
            </a:extLst>
          </p:cNvPr>
          <p:cNvSpPr>
            <a:spLocks noGrp="1"/>
          </p:cNvSpPr>
          <p:nvPr>
            <p:ph type="title"/>
          </p:nvPr>
        </p:nvSpPr>
        <p:spPr/>
        <p:txBody>
          <a:bodyPr/>
          <a:lstStyle/>
          <a:p>
            <a:r>
              <a:rPr lang="en-US" dirty="0"/>
              <a:t>Potential solution: Rust?</a:t>
            </a:r>
          </a:p>
        </p:txBody>
      </p:sp>
      <p:sp>
        <p:nvSpPr>
          <p:cNvPr id="8" name="TextBox 7">
            <a:extLst>
              <a:ext uri="{FF2B5EF4-FFF2-40B4-BE49-F238E27FC236}">
                <a16:creationId xmlns:a16="http://schemas.microsoft.com/office/drawing/2014/main" id="{6937C16E-0049-C21E-7439-EC49E4FB44C3}"/>
              </a:ext>
            </a:extLst>
          </p:cNvPr>
          <p:cNvSpPr txBox="1"/>
          <p:nvPr/>
        </p:nvSpPr>
        <p:spPr>
          <a:xfrm>
            <a:off x="1231766" y="5299226"/>
            <a:ext cx="9372374" cy="646331"/>
          </a:xfrm>
          <a:prstGeom prst="rect">
            <a:avLst/>
          </a:prstGeom>
          <a:noFill/>
        </p:spPr>
        <p:txBody>
          <a:bodyPr wrap="none" rtlCol="0">
            <a:spAutoFit/>
          </a:bodyPr>
          <a:lstStyle/>
          <a:p>
            <a:r>
              <a:rPr lang="en-US" sz="3600" b="1" i="1" dirty="0"/>
              <a:t>We will discuss Rust on Friday and next Monday</a:t>
            </a:r>
          </a:p>
        </p:txBody>
      </p:sp>
    </p:spTree>
    <p:extLst>
      <p:ext uri="{BB962C8B-B14F-4D97-AF65-F5344CB8AC3E}">
        <p14:creationId xmlns:p14="http://schemas.microsoft.com/office/powerpoint/2010/main" val="3857644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47000-E7A0-6242-8AA3-8DD563F6B18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27E082C-E272-7039-A590-C958633156C7}"/>
              </a:ext>
            </a:extLst>
          </p:cNvPr>
          <p:cNvSpPr>
            <a:spLocks noGrp="1"/>
          </p:cNvSpPr>
          <p:nvPr>
            <p:ph idx="1"/>
          </p:nvPr>
        </p:nvSpPr>
        <p:spPr/>
        <p:txBody>
          <a:bodyPr>
            <a:normAutofit/>
          </a:bodyPr>
          <a:lstStyle/>
          <a:p>
            <a:r>
              <a:rPr lang="en-US" dirty="0"/>
              <a:t>Function local variables are stored on stack</a:t>
            </a:r>
          </a:p>
        </p:txBody>
      </p:sp>
      <p:sp>
        <p:nvSpPr>
          <p:cNvPr id="4" name="Title 3">
            <a:extLst>
              <a:ext uri="{FF2B5EF4-FFF2-40B4-BE49-F238E27FC236}">
                <a16:creationId xmlns:a16="http://schemas.microsoft.com/office/drawing/2014/main" id="{DC14F333-1CE8-87C2-AF4A-816DDBCA15AD}"/>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8698C1BD-413E-287D-D09F-5CD14900AB8A}"/>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B0AC7311-9ADE-7973-F5FB-113EB9D3D8C0}"/>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206983D-9156-185A-C8C1-6E6814006602}"/>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3819F8D3-304B-D9C5-D1F0-C11F36179C11}"/>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F9A65950-DDE6-5785-31D2-5B9C9247FA07}"/>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23D25A6D-ED8D-E042-4CEA-69E4B9AE2587}"/>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0CE38E0-D2D1-30AD-71DF-3B278FA96DF6}"/>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ADE8F62A-4887-02F2-A7C0-E383EDCE3B45}"/>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73CE9E93-B092-AFA2-7182-C61EA7FA0536}"/>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11A2E41D-B11F-5117-B6AC-59047265B3B0}"/>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08FE0CE7-E5E0-A273-5329-CBA0D3E185DB}"/>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1B3139B4-210B-689B-2BF8-BD36F4A35CE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DAC8B170-85D2-9FA7-2FFA-0F45A9DA2992}"/>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0AF1CE41-B506-30E8-7E93-A5B2F64D265B}"/>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D5928F7C-679D-5552-3CFD-779424D3B4D9}"/>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ECE133B3-0233-3B21-12D3-C688D1407B4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45A63818-21C6-6E5B-5DC1-C11DFBDABFA5}"/>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4A1C82F3-40AC-E45C-41EE-A0EB6CB91998}"/>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446FD3CC-F4CC-D8B0-B250-5CB18F7EA1AE}"/>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Tree>
    <p:extLst>
      <p:ext uri="{BB962C8B-B14F-4D97-AF65-F5344CB8AC3E}">
        <p14:creationId xmlns:p14="http://schemas.microsoft.com/office/powerpoint/2010/main" val="19295969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2CAFB-4C1B-75C0-1BDA-C2C24063A53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9D020A8-317D-2869-E5BC-B2B3B12F41CB}"/>
              </a:ext>
            </a:extLst>
          </p:cNvPr>
          <p:cNvSpPr>
            <a:spLocks noGrp="1"/>
          </p:cNvSpPr>
          <p:nvPr>
            <p:ph idx="1"/>
          </p:nvPr>
        </p:nvSpPr>
        <p:spPr/>
        <p:txBody>
          <a:bodyPr>
            <a:normAutofit fontScale="92500" lnSpcReduction="10000"/>
          </a:bodyPr>
          <a:lstStyle/>
          <a:p>
            <a:r>
              <a:rPr lang="en-US" dirty="0"/>
              <a:t>Function local variables </a:t>
            </a:r>
            <a:r>
              <a:rPr lang="en-US" b="1" dirty="0"/>
              <a:t>and return addresses</a:t>
            </a:r>
            <a:r>
              <a:rPr lang="en-US" dirty="0"/>
              <a:t> are stored on stack</a:t>
            </a:r>
          </a:p>
          <a:p>
            <a:endParaRPr lang="en-US" dirty="0"/>
          </a:p>
          <a:p>
            <a:pPr lvl="1"/>
            <a:r>
              <a:rPr lang="en-US" sz="1800" dirty="0">
                <a:latin typeface="Consolas" panose="020B0609020204030204" pitchFamily="49" charset="0"/>
              </a:rPr>
              <a:t>1. int </a:t>
            </a:r>
            <a:r>
              <a:rPr lang="en-US" sz="1800" dirty="0" err="1">
                <a:latin typeface="Consolas" panose="020B0609020204030204" pitchFamily="49" charset="0"/>
              </a:rPr>
              <a:t>my_func</a:t>
            </a:r>
            <a:r>
              <a:rPr lang="en-US" sz="1800" dirty="0">
                <a:latin typeface="Consolas" panose="020B0609020204030204" pitchFamily="49" charset="0"/>
              </a:rPr>
              <a:t>(int a, int b) {</a:t>
            </a:r>
            <a:br>
              <a:rPr lang="en-US" sz="1800" dirty="0">
                <a:latin typeface="Consolas" panose="020B0609020204030204" pitchFamily="49" charset="0"/>
              </a:rPr>
            </a:br>
            <a:r>
              <a:rPr lang="en-US" sz="1800" dirty="0">
                <a:latin typeface="Consolas" panose="020B0609020204030204" pitchFamily="49" charset="0"/>
              </a:rPr>
              <a:t>2.	int result = 0;</a:t>
            </a:r>
            <a:br>
              <a:rPr lang="en-US" sz="1800" dirty="0">
                <a:latin typeface="Consolas" panose="020B0609020204030204" pitchFamily="49" charset="0"/>
              </a:rPr>
            </a:br>
            <a:r>
              <a:rPr lang="en-US" sz="1800" dirty="0">
                <a:latin typeface="Consolas" panose="020B0609020204030204" pitchFamily="49" charset="0"/>
              </a:rPr>
              <a:t>3.	if (a &gt; b) { result = a – b; }</a:t>
            </a:r>
            <a:br>
              <a:rPr lang="en-US" sz="1800" dirty="0">
                <a:latin typeface="Consolas" panose="020B0609020204030204" pitchFamily="49" charset="0"/>
              </a:rPr>
            </a:br>
            <a:r>
              <a:rPr lang="en-US" sz="1800" dirty="0">
                <a:latin typeface="Consolas" panose="020B0609020204030204" pitchFamily="49" charset="0"/>
              </a:rPr>
              <a:t>4.	else { result = b – a; }</a:t>
            </a:r>
            <a:br>
              <a:rPr lang="en-US" sz="1800" dirty="0">
                <a:latin typeface="Consolas" panose="020B0609020204030204" pitchFamily="49" charset="0"/>
              </a:rPr>
            </a:br>
            <a:r>
              <a:rPr lang="en-US" sz="1800" dirty="0">
                <a:latin typeface="Consolas" panose="020B0609020204030204" pitchFamily="49" charset="0"/>
              </a:rPr>
              <a:t>5.	return result; </a:t>
            </a:r>
            <a:br>
              <a:rPr lang="en-US" sz="1800" dirty="0">
                <a:latin typeface="Consolas" panose="020B0609020204030204" pitchFamily="49" charset="0"/>
              </a:rPr>
            </a:br>
            <a:r>
              <a:rPr lang="en-US" sz="1800" dirty="0">
                <a:latin typeface="Consolas" panose="020B0609020204030204" pitchFamily="49" charset="0"/>
              </a:rPr>
              <a:t>6.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8. int main(void) {</a:t>
            </a:r>
            <a:br>
              <a:rPr lang="en-US" sz="1800" dirty="0">
                <a:latin typeface="Consolas" panose="020B0609020204030204" pitchFamily="49" charset="0"/>
              </a:rPr>
            </a:br>
            <a:r>
              <a:rPr lang="en-US" sz="1800" dirty="0">
                <a:latin typeface="Consolas" panose="020B0609020204030204" pitchFamily="49" charset="0"/>
              </a:rPr>
              <a:t>9.	int p = 10;</a:t>
            </a:r>
            <a:br>
              <a:rPr lang="en-US" sz="1800" dirty="0">
                <a:latin typeface="Consolas" panose="020B0609020204030204" pitchFamily="49" charset="0"/>
              </a:rPr>
            </a:br>
            <a:r>
              <a:rPr lang="en-US" sz="1800" dirty="0">
                <a:latin typeface="Consolas" panose="020B0609020204030204" pitchFamily="49" charset="0"/>
              </a:rPr>
              <a:t>10.	int q = 30;</a:t>
            </a:r>
            <a:br>
              <a:rPr lang="en-US" sz="1800" dirty="0">
                <a:latin typeface="Consolas" panose="020B0609020204030204" pitchFamily="49" charset="0"/>
              </a:rPr>
            </a:br>
            <a:r>
              <a:rPr lang="en-US" sz="1800" dirty="0">
                <a:latin typeface="Consolas" panose="020B0609020204030204" pitchFamily="49" charset="0"/>
              </a:rPr>
              <a:t>11.	int sub = </a:t>
            </a:r>
            <a:r>
              <a:rPr lang="en-US" sz="1800" dirty="0" err="1">
                <a:latin typeface="Consolas" panose="020B0609020204030204" pitchFamily="49" charset="0"/>
              </a:rPr>
              <a:t>my_func</a:t>
            </a:r>
            <a:r>
              <a:rPr lang="en-US" sz="1800" dirty="0">
                <a:latin typeface="Consolas" panose="020B0609020204030204" pitchFamily="49" charset="0"/>
              </a:rPr>
              <a:t>(p, q);</a:t>
            </a:r>
            <a:br>
              <a:rPr lang="en-US" sz="1800" dirty="0">
                <a:latin typeface="Consolas" panose="020B0609020204030204" pitchFamily="49" charset="0"/>
              </a:rPr>
            </a:br>
            <a:r>
              <a:rPr lang="en-US" sz="1800" dirty="0">
                <a:latin typeface="Consolas" panose="020B0609020204030204" pitchFamily="49" charset="0"/>
              </a:rPr>
              <a:t>12.	</a:t>
            </a:r>
            <a:r>
              <a:rPr lang="en-US" sz="1800" dirty="0" err="1">
                <a:latin typeface="Consolas" panose="020B0609020204030204" pitchFamily="49" charset="0"/>
              </a:rPr>
              <a:t>printf</a:t>
            </a:r>
            <a:r>
              <a:rPr lang="en-US" sz="1800" dirty="0">
                <a:latin typeface="Consolas" panose="020B0609020204030204" pitchFamily="49" charset="0"/>
              </a:rPr>
              <a:t>(“%d\n”, sub);</a:t>
            </a:r>
            <a:br>
              <a:rPr lang="en-US" sz="1800" dirty="0">
                <a:latin typeface="Consolas" panose="020B0609020204030204" pitchFamily="49" charset="0"/>
              </a:rPr>
            </a:br>
            <a:r>
              <a:rPr lang="en-US" sz="1800" dirty="0">
                <a:latin typeface="Consolas" panose="020B0609020204030204" pitchFamily="49" charset="0"/>
              </a:rPr>
              <a:t>}</a:t>
            </a:r>
          </a:p>
        </p:txBody>
      </p:sp>
      <p:sp>
        <p:nvSpPr>
          <p:cNvPr id="4" name="Title 3">
            <a:extLst>
              <a:ext uri="{FF2B5EF4-FFF2-40B4-BE49-F238E27FC236}">
                <a16:creationId xmlns:a16="http://schemas.microsoft.com/office/drawing/2014/main" id="{19371DB9-DFB4-BA9E-D330-80FF3554F6C1}"/>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106FC52C-2A77-79AE-3362-0A38EC36A99B}"/>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6F1AD401-94D3-0BF3-DE95-2F6072E743D5}"/>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9AE9BBD-E5F6-D7F4-99CA-3B4E827564AF}"/>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5DF6DCA2-1F69-7C6C-18DF-CFEB0895A8B7}"/>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9F7EF816-6F9F-1CE6-9B29-A3B3C19FA932}"/>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16E596AB-C689-CB6A-58FA-9EC9E95E38E0}"/>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FAADA98-D87A-80E0-DC14-62DC37349583}"/>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496A0F57-1DB1-54F0-0226-09DDB185E0DA}"/>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B151CB15-A07E-1705-7040-B224AA584E70}"/>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6727844B-70AD-4AE0-B6ED-FA8871E9FA57}"/>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012A5A30-2A3C-7F05-8CE7-571570FD2ED8}"/>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920E6542-E518-1BA7-B052-C4EC81DBB67E}"/>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8A891BCC-351F-2997-71FF-91E4CCEA30A4}"/>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974B19BA-7475-F783-E4CC-EB106B6A6697}"/>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E314A322-15EB-5EB2-DCC5-5972606384E1}"/>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1DB86B2C-B564-0F4C-D5FE-DEFE0FDCD02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77220A50-6AE8-6DD7-7B11-FA5F7D4BCAD9}"/>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8CC09783-8BCF-4F18-50DF-6B69755E17E0}"/>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ADE1B3F3-E131-00E9-3F8F-FD18C66BA4D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EF6F94A1-C99A-D6DE-6DF5-68CD88EAFD78}"/>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F47A906C-0A86-0D3C-8130-6A61A60D206A}"/>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15" name="Arrow: Right 14">
            <a:extLst>
              <a:ext uri="{FF2B5EF4-FFF2-40B4-BE49-F238E27FC236}">
                <a16:creationId xmlns:a16="http://schemas.microsoft.com/office/drawing/2014/main" id="{4F37995E-5CB0-6FAF-FFCB-5EBDB986BFB2}"/>
              </a:ext>
            </a:extLst>
          </p:cNvPr>
          <p:cNvSpPr/>
          <p:nvPr/>
        </p:nvSpPr>
        <p:spPr>
          <a:xfrm>
            <a:off x="88135" y="483415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16744904-E246-D853-F039-C06FBE91917B}"/>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29" name="Arrow: Right 28">
            <a:extLst>
              <a:ext uri="{FF2B5EF4-FFF2-40B4-BE49-F238E27FC236}">
                <a16:creationId xmlns:a16="http://schemas.microsoft.com/office/drawing/2014/main" id="{ACCB14A3-C260-783A-1939-2676739FA5D4}"/>
              </a:ext>
            </a:extLst>
          </p:cNvPr>
          <p:cNvSpPr/>
          <p:nvPr/>
        </p:nvSpPr>
        <p:spPr>
          <a:xfrm>
            <a:off x="69425" y="2228480"/>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D94C34A5-F3FC-E1E7-5117-AA180F4A5881}"/>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grpSp>
        <p:nvGrpSpPr>
          <p:cNvPr id="35" name="Group 34">
            <a:extLst>
              <a:ext uri="{FF2B5EF4-FFF2-40B4-BE49-F238E27FC236}">
                <a16:creationId xmlns:a16="http://schemas.microsoft.com/office/drawing/2014/main" id="{E37C1F98-6843-0E3A-1808-CF784F149D03}"/>
              </a:ext>
            </a:extLst>
          </p:cNvPr>
          <p:cNvGrpSpPr/>
          <p:nvPr/>
        </p:nvGrpSpPr>
        <p:grpSpPr>
          <a:xfrm>
            <a:off x="4150880" y="3763390"/>
            <a:ext cx="3890241" cy="1547662"/>
            <a:chOff x="4175393" y="3763390"/>
            <a:chExt cx="3865728" cy="1282335"/>
          </a:xfrm>
        </p:grpSpPr>
        <p:cxnSp>
          <p:nvCxnSpPr>
            <p:cNvPr id="32" name="Connector: Curved 31">
              <a:extLst>
                <a:ext uri="{FF2B5EF4-FFF2-40B4-BE49-F238E27FC236}">
                  <a16:creationId xmlns:a16="http://schemas.microsoft.com/office/drawing/2014/main" id="{68C56D5C-CE0F-D177-DBA7-28ADB8A8B24E}"/>
                </a:ext>
              </a:extLst>
            </p:cNvPr>
            <p:cNvCxnSpPr>
              <a:cxnSpLocks/>
              <a:endCxn id="28" idx="1"/>
            </p:cNvCxnSpPr>
            <p:nvPr/>
          </p:nvCxnSpPr>
          <p:spPr>
            <a:xfrm flipV="1">
              <a:off x="4175393" y="3763390"/>
              <a:ext cx="3865728" cy="1282335"/>
            </a:xfrm>
            <a:prstGeom prst="curvedConnector3">
              <a:avLst/>
            </a:prstGeom>
            <a:ln w="34925" cmpd="sng">
              <a:prstDash val="sysDash"/>
              <a:tailEnd type="stealth"/>
            </a:ln>
          </p:spPr>
          <p:style>
            <a:lnRef idx="1">
              <a:schemeClr val="accent4"/>
            </a:lnRef>
            <a:fillRef idx="0">
              <a:schemeClr val="accent4"/>
            </a:fillRef>
            <a:effectRef idx="0">
              <a:schemeClr val="accent4"/>
            </a:effectRef>
            <a:fontRef idx="minor">
              <a:schemeClr val="tx1"/>
            </a:fontRef>
          </p:style>
        </p:cxnSp>
        <p:sp>
          <p:nvSpPr>
            <p:cNvPr id="34" name="TextBox 33">
              <a:extLst>
                <a:ext uri="{FF2B5EF4-FFF2-40B4-BE49-F238E27FC236}">
                  <a16:creationId xmlns:a16="http://schemas.microsoft.com/office/drawing/2014/main" id="{3A1A2FB4-30C0-E420-3D19-7F5FC36728E4}"/>
                </a:ext>
              </a:extLst>
            </p:cNvPr>
            <p:cNvSpPr txBox="1"/>
            <p:nvPr/>
          </p:nvSpPr>
          <p:spPr>
            <a:xfrm>
              <a:off x="5302943" y="3942892"/>
              <a:ext cx="792205" cy="461665"/>
            </a:xfrm>
            <a:prstGeom prst="rect">
              <a:avLst/>
            </a:prstGeom>
            <a:noFill/>
          </p:spPr>
          <p:txBody>
            <a:bodyPr wrap="none" rtlCol="0">
              <a:spAutoFit/>
            </a:bodyPr>
            <a:lstStyle/>
            <a:p>
              <a:r>
                <a:rPr lang="en-US" sz="2400" b="1" i="1" dirty="0"/>
                <a:t>push</a:t>
              </a:r>
            </a:p>
          </p:txBody>
        </p:sp>
      </p:grpSp>
    </p:spTree>
    <p:extLst>
      <p:ext uri="{BB962C8B-B14F-4D97-AF65-F5344CB8AC3E}">
        <p14:creationId xmlns:p14="http://schemas.microsoft.com/office/powerpoint/2010/main" val="820060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5"/>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5" grpId="1" animBg="1"/>
      <p:bldP spid="28" grpId="0" animBg="1"/>
      <p:bldP spid="29" grpId="0" animBg="1"/>
      <p:bldP spid="30"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1CF34-F286-FFAC-E14F-53F936C87FC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30F7F9A-4174-B850-D21F-E7B53F64D4D2}"/>
              </a:ext>
            </a:extLst>
          </p:cNvPr>
          <p:cNvSpPr>
            <a:spLocks noGrp="1"/>
          </p:cNvSpPr>
          <p:nvPr>
            <p:ph idx="1"/>
          </p:nvPr>
        </p:nvSpPr>
        <p:spPr/>
        <p:txBody>
          <a:bodyPr>
            <a:normAutofit fontScale="92500" lnSpcReduction="10000"/>
          </a:bodyPr>
          <a:lstStyle/>
          <a:p>
            <a:r>
              <a:rPr lang="en-US" dirty="0"/>
              <a:t>Function local variables </a:t>
            </a:r>
            <a:r>
              <a:rPr lang="en-US" b="1" dirty="0"/>
              <a:t>and return addresses </a:t>
            </a:r>
            <a:r>
              <a:rPr lang="en-US" dirty="0"/>
              <a:t>are stored on stack</a:t>
            </a:r>
          </a:p>
          <a:p>
            <a:endParaRPr lang="en-US" dirty="0"/>
          </a:p>
          <a:p>
            <a:pPr lvl="1"/>
            <a:r>
              <a:rPr lang="en-US" sz="1800" dirty="0">
                <a:latin typeface="Consolas" panose="020B0609020204030204" pitchFamily="49" charset="0"/>
              </a:rPr>
              <a:t>1. int </a:t>
            </a:r>
            <a:r>
              <a:rPr lang="en-US" sz="1800" dirty="0" err="1">
                <a:latin typeface="Consolas" panose="020B0609020204030204" pitchFamily="49" charset="0"/>
              </a:rPr>
              <a:t>my_func</a:t>
            </a:r>
            <a:r>
              <a:rPr lang="en-US" sz="1800" dirty="0">
                <a:latin typeface="Consolas" panose="020B0609020204030204" pitchFamily="49" charset="0"/>
              </a:rPr>
              <a:t>(int a, int b) {</a:t>
            </a:r>
            <a:br>
              <a:rPr lang="en-US" sz="1800" dirty="0">
                <a:latin typeface="Consolas" panose="020B0609020204030204" pitchFamily="49" charset="0"/>
              </a:rPr>
            </a:br>
            <a:r>
              <a:rPr lang="en-US" sz="1800" dirty="0">
                <a:latin typeface="Consolas" panose="020B0609020204030204" pitchFamily="49" charset="0"/>
              </a:rPr>
              <a:t>2.	int result = 0;</a:t>
            </a:r>
            <a:br>
              <a:rPr lang="en-US" sz="1800" dirty="0">
                <a:latin typeface="Consolas" panose="020B0609020204030204" pitchFamily="49" charset="0"/>
              </a:rPr>
            </a:br>
            <a:r>
              <a:rPr lang="en-US" sz="1800" dirty="0">
                <a:latin typeface="Consolas" panose="020B0609020204030204" pitchFamily="49" charset="0"/>
              </a:rPr>
              <a:t>3.	if (a &gt; b) { result = a – b; }</a:t>
            </a:r>
            <a:br>
              <a:rPr lang="en-US" sz="1800" dirty="0">
                <a:latin typeface="Consolas" panose="020B0609020204030204" pitchFamily="49" charset="0"/>
              </a:rPr>
            </a:br>
            <a:r>
              <a:rPr lang="en-US" sz="1800" dirty="0">
                <a:latin typeface="Consolas" panose="020B0609020204030204" pitchFamily="49" charset="0"/>
              </a:rPr>
              <a:t>4.	else { result = b – a; }</a:t>
            </a:r>
            <a:br>
              <a:rPr lang="en-US" sz="1800" dirty="0">
                <a:latin typeface="Consolas" panose="020B0609020204030204" pitchFamily="49" charset="0"/>
              </a:rPr>
            </a:br>
            <a:r>
              <a:rPr lang="en-US" sz="1800" dirty="0">
                <a:latin typeface="Consolas" panose="020B0609020204030204" pitchFamily="49" charset="0"/>
              </a:rPr>
              <a:t>5.	return result; </a:t>
            </a:r>
            <a:br>
              <a:rPr lang="en-US" sz="1800" dirty="0">
                <a:latin typeface="Consolas" panose="020B0609020204030204" pitchFamily="49" charset="0"/>
              </a:rPr>
            </a:br>
            <a:r>
              <a:rPr lang="en-US" sz="1800" dirty="0">
                <a:latin typeface="Consolas" panose="020B0609020204030204" pitchFamily="49" charset="0"/>
              </a:rPr>
              <a:t>6.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8. int main(void) {</a:t>
            </a:r>
            <a:br>
              <a:rPr lang="en-US" sz="1800" dirty="0">
                <a:latin typeface="Consolas" panose="020B0609020204030204" pitchFamily="49" charset="0"/>
              </a:rPr>
            </a:br>
            <a:r>
              <a:rPr lang="en-US" sz="1800" dirty="0">
                <a:latin typeface="Consolas" panose="020B0609020204030204" pitchFamily="49" charset="0"/>
              </a:rPr>
              <a:t>9.	int p = 10;</a:t>
            </a:r>
            <a:br>
              <a:rPr lang="en-US" sz="1800" dirty="0">
                <a:latin typeface="Consolas" panose="020B0609020204030204" pitchFamily="49" charset="0"/>
              </a:rPr>
            </a:br>
            <a:r>
              <a:rPr lang="en-US" sz="1800" dirty="0">
                <a:latin typeface="Consolas" panose="020B0609020204030204" pitchFamily="49" charset="0"/>
              </a:rPr>
              <a:t>10.	int q = 30;</a:t>
            </a:r>
            <a:br>
              <a:rPr lang="en-US" sz="1800" dirty="0">
                <a:latin typeface="Consolas" panose="020B0609020204030204" pitchFamily="49" charset="0"/>
              </a:rPr>
            </a:br>
            <a:r>
              <a:rPr lang="en-US" sz="1800" dirty="0">
                <a:latin typeface="Consolas" panose="020B0609020204030204" pitchFamily="49" charset="0"/>
              </a:rPr>
              <a:t>11.	int sub = </a:t>
            </a:r>
            <a:r>
              <a:rPr lang="en-US" sz="1800" dirty="0" err="1">
                <a:latin typeface="Consolas" panose="020B0609020204030204" pitchFamily="49" charset="0"/>
              </a:rPr>
              <a:t>my_func</a:t>
            </a:r>
            <a:r>
              <a:rPr lang="en-US" sz="1800" dirty="0">
                <a:latin typeface="Consolas" panose="020B0609020204030204" pitchFamily="49" charset="0"/>
              </a:rPr>
              <a:t>(p, q);</a:t>
            </a:r>
            <a:br>
              <a:rPr lang="en-US" sz="1800" dirty="0">
                <a:latin typeface="Consolas" panose="020B0609020204030204" pitchFamily="49" charset="0"/>
              </a:rPr>
            </a:br>
            <a:r>
              <a:rPr lang="en-US" sz="1800" dirty="0">
                <a:latin typeface="Consolas" panose="020B0609020204030204" pitchFamily="49" charset="0"/>
              </a:rPr>
              <a:t>12.	</a:t>
            </a:r>
            <a:r>
              <a:rPr lang="en-US" sz="1800" dirty="0" err="1">
                <a:latin typeface="Consolas" panose="020B0609020204030204" pitchFamily="49" charset="0"/>
              </a:rPr>
              <a:t>printf</a:t>
            </a:r>
            <a:r>
              <a:rPr lang="en-US" sz="1800" dirty="0">
                <a:latin typeface="Consolas" panose="020B0609020204030204" pitchFamily="49" charset="0"/>
              </a:rPr>
              <a:t>(“%d\n”, sub);</a:t>
            </a:r>
            <a:br>
              <a:rPr lang="en-US" sz="1800" dirty="0">
                <a:latin typeface="Consolas" panose="020B0609020204030204" pitchFamily="49" charset="0"/>
              </a:rPr>
            </a:br>
            <a:r>
              <a:rPr lang="en-US" sz="1800" dirty="0">
                <a:latin typeface="Consolas" panose="020B0609020204030204" pitchFamily="49" charset="0"/>
              </a:rPr>
              <a:t>}</a:t>
            </a:r>
          </a:p>
        </p:txBody>
      </p:sp>
      <p:sp>
        <p:nvSpPr>
          <p:cNvPr id="4" name="Title 3">
            <a:extLst>
              <a:ext uri="{FF2B5EF4-FFF2-40B4-BE49-F238E27FC236}">
                <a16:creationId xmlns:a16="http://schemas.microsoft.com/office/drawing/2014/main" id="{0FF754D9-B4BD-2CEE-E85D-D168BA45BA3D}"/>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BE0338A5-29DE-7A2F-F7C8-D553AEE7D81E}"/>
              </a:ext>
            </a:extLst>
          </p:cNvPr>
          <p:cNvGrpSpPr/>
          <p:nvPr/>
        </p:nvGrpSpPr>
        <p:grpSpPr>
          <a:xfrm>
            <a:off x="5316437" y="1700181"/>
            <a:ext cx="6784671" cy="4846437"/>
            <a:chOff x="5041015" y="464117"/>
            <a:chExt cx="6784671" cy="4846437"/>
          </a:xfrm>
        </p:grpSpPr>
        <p:cxnSp>
          <p:nvCxnSpPr>
            <p:cNvPr id="7" name="Straight Arrow Connector 6">
              <a:extLst>
                <a:ext uri="{FF2B5EF4-FFF2-40B4-BE49-F238E27FC236}">
                  <a16:creationId xmlns:a16="http://schemas.microsoft.com/office/drawing/2014/main" id="{2D5F0223-3C2F-0D52-BA0F-4ECA0C8BDB1B}"/>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B5104D5-CBAF-863B-6D0E-FD44BD7C593A}"/>
                </a:ext>
              </a:extLst>
            </p:cNvPr>
            <p:cNvSpPr txBox="1"/>
            <p:nvPr/>
          </p:nvSpPr>
          <p:spPr>
            <a:xfrm>
              <a:off x="5041015" y="464117"/>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E8533568-FE53-C644-F5E8-532475CBFEC0}"/>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D3229DDF-88CE-728F-9184-C23655AC6B95}"/>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4D25627F-C989-3A51-53C1-F9129B9C456E}"/>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59F565C-CA92-DCD7-6B8A-15B4BC12D211}"/>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3AD58266-BA03-7C4E-AB16-9A32AFECCDEC}"/>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4424FC21-22B8-4B18-BBE5-3FA68167DB83}"/>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BD5A334B-B759-4B5B-4B86-29D7415F3703}"/>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919A9620-8691-AF24-5FEB-76286D673710}"/>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0E960E96-3528-F67F-BF04-7CDDE313A37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7819203E-9005-6B73-DA1C-87A94E757EE4}"/>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A982C30C-DDFA-D03B-F2FA-2901FB0F1FDD}"/>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C7A577C3-8BE7-D700-00EA-DCF7861E5B05}"/>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5DC5D102-6999-160C-3327-D9A0BCAD4616}"/>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A9C0F5CB-6F8D-84B4-38F8-0FE6A20C4931}"/>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2DDD9D11-8C5B-CD6C-FA79-FEC02B55088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CD0D4B10-6C98-BD25-1671-0D09F8E04E9D}"/>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423E48C8-ECFF-28E8-501A-91F9EF637C07}"/>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A1A50F8A-DD4E-9BE0-F36A-48C519E56303}"/>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191C5047-18AA-E5BB-A678-BD315E35709E}"/>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7DE686B0-F0D8-82C3-D333-073362057E38}"/>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sp>
        <p:nvSpPr>
          <p:cNvPr id="26" name="Left Brace 25">
            <a:extLst>
              <a:ext uri="{FF2B5EF4-FFF2-40B4-BE49-F238E27FC236}">
                <a16:creationId xmlns:a16="http://schemas.microsoft.com/office/drawing/2014/main" id="{352D3CFE-92DE-DA00-8B28-440541540153}"/>
              </a:ext>
            </a:extLst>
          </p:cNvPr>
          <p:cNvSpPr/>
          <p:nvPr/>
        </p:nvSpPr>
        <p:spPr>
          <a:xfrm>
            <a:off x="6885542" y="2223401"/>
            <a:ext cx="660082" cy="1161441"/>
          </a:xfrm>
          <a:prstGeom prst="leftBrace">
            <a:avLst>
              <a:gd name="adj1" fmla="val 8333"/>
              <a:gd name="adj2" fmla="val 49051"/>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7" name="Left Brace 26">
            <a:extLst>
              <a:ext uri="{FF2B5EF4-FFF2-40B4-BE49-F238E27FC236}">
                <a16:creationId xmlns:a16="http://schemas.microsoft.com/office/drawing/2014/main" id="{E2F82565-8457-BEF6-8F84-E28AFE0E7A4F}"/>
              </a:ext>
            </a:extLst>
          </p:cNvPr>
          <p:cNvSpPr/>
          <p:nvPr/>
        </p:nvSpPr>
        <p:spPr>
          <a:xfrm>
            <a:off x="6873601" y="3477890"/>
            <a:ext cx="660082" cy="1309943"/>
          </a:xfrm>
          <a:prstGeom prst="leftBrace">
            <a:avLst>
              <a:gd name="adj1" fmla="val 8333"/>
              <a:gd name="adj2" fmla="val 49051"/>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1" name="TextBox 30">
            <a:extLst>
              <a:ext uri="{FF2B5EF4-FFF2-40B4-BE49-F238E27FC236}">
                <a16:creationId xmlns:a16="http://schemas.microsoft.com/office/drawing/2014/main" id="{B28423A4-47F6-99D6-7E21-C4742E04FC63}"/>
              </a:ext>
            </a:extLst>
          </p:cNvPr>
          <p:cNvSpPr txBox="1"/>
          <p:nvPr/>
        </p:nvSpPr>
        <p:spPr>
          <a:xfrm>
            <a:off x="5190175" y="2407021"/>
            <a:ext cx="1811650" cy="707886"/>
          </a:xfrm>
          <a:prstGeom prst="rect">
            <a:avLst/>
          </a:prstGeom>
          <a:noFill/>
        </p:spPr>
        <p:txBody>
          <a:bodyPr wrap="none" rtlCol="0">
            <a:spAutoFit/>
          </a:bodyPr>
          <a:lstStyle/>
          <a:p>
            <a:r>
              <a:rPr lang="en-US" sz="2000" b="1" i="1" dirty="0"/>
              <a:t>Stack frame for</a:t>
            </a:r>
          </a:p>
          <a:p>
            <a:r>
              <a:rPr lang="en-US" sz="2000" b="1" i="1" dirty="0"/>
              <a:t>main</a:t>
            </a:r>
          </a:p>
        </p:txBody>
      </p:sp>
      <p:sp>
        <p:nvSpPr>
          <p:cNvPr id="33" name="TextBox 32">
            <a:extLst>
              <a:ext uri="{FF2B5EF4-FFF2-40B4-BE49-F238E27FC236}">
                <a16:creationId xmlns:a16="http://schemas.microsoft.com/office/drawing/2014/main" id="{AA7E997C-C41D-2AE8-8052-93C3F6C225C4}"/>
              </a:ext>
            </a:extLst>
          </p:cNvPr>
          <p:cNvSpPr txBox="1"/>
          <p:nvPr/>
        </p:nvSpPr>
        <p:spPr>
          <a:xfrm>
            <a:off x="5221490" y="3778057"/>
            <a:ext cx="1811650" cy="707886"/>
          </a:xfrm>
          <a:prstGeom prst="rect">
            <a:avLst/>
          </a:prstGeom>
          <a:noFill/>
        </p:spPr>
        <p:txBody>
          <a:bodyPr wrap="none" rtlCol="0">
            <a:spAutoFit/>
          </a:bodyPr>
          <a:lstStyle/>
          <a:p>
            <a:r>
              <a:rPr lang="en-US" sz="2000" b="1" i="1" dirty="0"/>
              <a:t>Stack frame for</a:t>
            </a:r>
          </a:p>
          <a:p>
            <a:r>
              <a:rPr lang="en-US" sz="2000" b="1" i="1" dirty="0" err="1"/>
              <a:t>my_func</a:t>
            </a:r>
            <a:endParaRPr lang="en-US" sz="2000" b="1" i="1" dirty="0"/>
          </a:p>
        </p:txBody>
      </p:sp>
      <p:sp>
        <p:nvSpPr>
          <p:cNvPr id="36" name="TextBox 35">
            <a:extLst>
              <a:ext uri="{FF2B5EF4-FFF2-40B4-BE49-F238E27FC236}">
                <a16:creationId xmlns:a16="http://schemas.microsoft.com/office/drawing/2014/main" id="{B3F08198-DC52-E46C-3B78-A94ADD219ED6}"/>
              </a:ext>
            </a:extLst>
          </p:cNvPr>
          <p:cNvSpPr txBox="1"/>
          <p:nvPr/>
        </p:nvSpPr>
        <p:spPr>
          <a:xfrm>
            <a:off x="1235407" y="4786110"/>
            <a:ext cx="6333209" cy="646331"/>
          </a:xfrm>
          <a:prstGeom prst="rect">
            <a:avLst/>
          </a:prstGeom>
          <a:solidFill>
            <a:schemeClr val="accent2">
              <a:lumMod val="20000"/>
              <a:lumOff val="80000"/>
            </a:schemeClr>
          </a:solidFill>
          <a:ln w="28575">
            <a:solidFill>
              <a:schemeClr val="accent4"/>
            </a:solidFill>
          </a:ln>
        </p:spPr>
        <p:txBody>
          <a:bodyPr wrap="none" rtlCol="0">
            <a:spAutoFit/>
          </a:bodyPr>
          <a:lstStyle/>
          <a:p>
            <a:r>
              <a:rPr lang="en-US" sz="3600" b="1" i="1" dirty="0">
                <a:solidFill>
                  <a:srgbClr val="003399"/>
                </a:solidFill>
              </a:rPr>
              <a:t>On x86, stack grows downwards</a:t>
            </a:r>
          </a:p>
        </p:txBody>
      </p:sp>
    </p:spTree>
    <p:extLst>
      <p:ext uri="{BB962C8B-B14F-4D97-AF65-F5344CB8AC3E}">
        <p14:creationId xmlns:p14="http://schemas.microsoft.com/office/powerpoint/2010/main" val="3329195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153EE-75A3-88C2-E01E-910B689DABA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37F9E8F-BF8C-1B78-AE97-24E4D181EAB3}"/>
              </a:ext>
            </a:extLst>
          </p:cNvPr>
          <p:cNvSpPr>
            <a:spLocks noGrp="1"/>
          </p:cNvSpPr>
          <p:nvPr>
            <p:ph idx="1"/>
          </p:nvPr>
        </p:nvSpPr>
        <p:spPr/>
        <p:txBody>
          <a:bodyPr>
            <a:normAutofit fontScale="92500" lnSpcReduction="10000"/>
          </a:bodyPr>
          <a:lstStyle/>
          <a:p>
            <a:r>
              <a:rPr lang="en-US" dirty="0"/>
              <a:t>Function local variables </a:t>
            </a:r>
            <a:r>
              <a:rPr lang="en-US" b="1" dirty="0"/>
              <a:t>and return addresses </a:t>
            </a:r>
            <a:r>
              <a:rPr lang="en-US" dirty="0"/>
              <a:t>are stored on stack</a:t>
            </a:r>
          </a:p>
          <a:p>
            <a:endParaRPr lang="en-US" dirty="0"/>
          </a:p>
          <a:p>
            <a:pPr lvl="1"/>
            <a:r>
              <a:rPr lang="en-US" sz="1800" dirty="0">
                <a:latin typeface="Consolas" panose="020B0609020204030204" pitchFamily="49" charset="0"/>
              </a:rPr>
              <a:t>1. int </a:t>
            </a:r>
            <a:r>
              <a:rPr lang="en-US" sz="1800" dirty="0" err="1">
                <a:latin typeface="Consolas" panose="020B0609020204030204" pitchFamily="49" charset="0"/>
              </a:rPr>
              <a:t>my_func</a:t>
            </a:r>
            <a:r>
              <a:rPr lang="en-US" sz="1800" dirty="0">
                <a:latin typeface="Consolas" panose="020B0609020204030204" pitchFamily="49" charset="0"/>
              </a:rPr>
              <a:t>(int a, int b) {</a:t>
            </a:r>
            <a:br>
              <a:rPr lang="en-US" sz="1800" dirty="0">
                <a:latin typeface="Consolas" panose="020B0609020204030204" pitchFamily="49" charset="0"/>
              </a:rPr>
            </a:br>
            <a:r>
              <a:rPr lang="en-US" sz="1800" dirty="0">
                <a:latin typeface="Consolas" panose="020B0609020204030204" pitchFamily="49" charset="0"/>
              </a:rPr>
              <a:t>2.	int result = 0;</a:t>
            </a:r>
            <a:br>
              <a:rPr lang="en-US" sz="1800" dirty="0">
                <a:latin typeface="Consolas" panose="020B0609020204030204" pitchFamily="49" charset="0"/>
              </a:rPr>
            </a:br>
            <a:r>
              <a:rPr lang="en-US" sz="1800" dirty="0">
                <a:latin typeface="Consolas" panose="020B0609020204030204" pitchFamily="49" charset="0"/>
              </a:rPr>
              <a:t>3.	if (a &gt; b) { result = a – b; }</a:t>
            </a:r>
            <a:br>
              <a:rPr lang="en-US" sz="1800" dirty="0">
                <a:latin typeface="Consolas" panose="020B0609020204030204" pitchFamily="49" charset="0"/>
              </a:rPr>
            </a:br>
            <a:r>
              <a:rPr lang="en-US" sz="1800" dirty="0">
                <a:latin typeface="Consolas" panose="020B0609020204030204" pitchFamily="49" charset="0"/>
              </a:rPr>
              <a:t>4.	else { result = b – a; }</a:t>
            </a:r>
            <a:br>
              <a:rPr lang="en-US" sz="1800" dirty="0">
                <a:latin typeface="Consolas" panose="020B0609020204030204" pitchFamily="49" charset="0"/>
              </a:rPr>
            </a:br>
            <a:r>
              <a:rPr lang="en-US" sz="1800" dirty="0">
                <a:latin typeface="Consolas" panose="020B0609020204030204" pitchFamily="49" charset="0"/>
              </a:rPr>
              <a:t>5.	return result; </a:t>
            </a:r>
            <a:br>
              <a:rPr lang="en-US" sz="1800" dirty="0">
                <a:latin typeface="Consolas" panose="020B0609020204030204" pitchFamily="49" charset="0"/>
              </a:rPr>
            </a:br>
            <a:r>
              <a:rPr lang="en-US" sz="1800" dirty="0">
                <a:latin typeface="Consolas" panose="020B0609020204030204" pitchFamily="49" charset="0"/>
              </a:rPr>
              <a:t>6.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8. int main(void) {</a:t>
            </a:r>
            <a:br>
              <a:rPr lang="en-US" sz="1800" dirty="0">
                <a:latin typeface="Consolas" panose="020B0609020204030204" pitchFamily="49" charset="0"/>
              </a:rPr>
            </a:br>
            <a:r>
              <a:rPr lang="en-US" sz="1800" dirty="0">
                <a:latin typeface="Consolas" panose="020B0609020204030204" pitchFamily="49" charset="0"/>
              </a:rPr>
              <a:t>9.	int p = 10;</a:t>
            </a:r>
            <a:br>
              <a:rPr lang="en-US" sz="1800" dirty="0">
                <a:latin typeface="Consolas" panose="020B0609020204030204" pitchFamily="49" charset="0"/>
              </a:rPr>
            </a:br>
            <a:r>
              <a:rPr lang="en-US" sz="1800" dirty="0">
                <a:latin typeface="Consolas" panose="020B0609020204030204" pitchFamily="49" charset="0"/>
              </a:rPr>
              <a:t>10.	int q = 30;</a:t>
            </a:r>
            <a:br>
              <a:rPr lang="en-US" sz="1800" dirty="0">
                <a:latin typeface="Consolas" panose="020B0609020204030204" pitchFamily="49" charset="0"/>
              </a:rPr>
            </a:br>
            <a:r>
              <a:rPr lang="en-US" sz="1800" dirty="0">
                <a:latin typeface="Consolas" panose="020B0609020204030204" pitchFamily="49" charset="0"/>
              </a:rPr>
              <a:t>11.	int sub = </a:t>
            </a:r>
            <a:r>
              <a:rPr lang="en-US" sz="1800" dirty="0" err="1">
                <a:latin typeface="Consolas" panose="020B0609020204030204" pitchFamily="49" charset="0"/>
              </a:rPr>
              <a:t>my_func</a:t>
            </a:r>
            <a:r>
              <a:rPr lang="en-US" sz="1800" dirty="0">
                <a:latin typeface="Consolas" panose="020B0609020204030204" pitchFamily="49" charset="0"/>
              </a:rPr>
              <a:t>(p, q);</a:t>
            </a:r>
            <a:br>
              <a:rPr lang="en-US" sz="1800" dirty="0">
                <a:latin typeface="Consolas" panose="020B0609020204030204" pitchFamily="49" charset="0"/>
              </a:rPr>
            </a:br>
            <a:r>
              <a:rPr lang="en-US" sz="1800" dirty="0">
                <a:latin typeface="Consolas" panose="020B0609020204030204" pitchFamily="49" charset="0"/>
              </a:rPr>
              <a:t>12.	</a:t>
            </a:r>
            <a:r>
              <a:rPr lang="en-US" sz="1800" dirty="0" err="1">
                <a:latin typeface="Consolas" panose="020B0609020204030204" pitchFamily="49" charset="0"/>
              </a:rPr>
              <a:t>printf</a:t>
            </a:r>
            <a:r>
              <a:rPr lang="en-US" sz="1800" dirty="0">
                <a:latin typeface="Consolas" panose="020B0609020204030204" pitchFamily="49" charset="0"/>
              </a:rPr>
              <a:t>(“%d\n”, sub);</a:t>
            </a:r>
            <a:br>
              <a:rPr lang="en-US" sz="1800" dirty="0">
                <a:latin typeface="Consolas" panose="020B0609020204030204" pitchFamily="49" charset="0"/>
              </a:rPr>
            </a:br>
            <a:r>
              <a:rPr lang="en-US" sz="1800" dirty="0">
                <a:latin typeface="Consolas" panose="020B0609020204030204" pitchFamily="49" charset="0"/>
              </a:rPr>
              <a:t>}</a:t>
            </a:r>
          </a:p>
        </p:txBody>
      </p:sp>
      <p:sp>
        <p:nvSpPr>
          <p:cNvPr id="4" name="Title 3">
            <a:extLst>
              <a:ext uri="{FF2B5EF4-FFF2-40B4-BE49-F238E27FC236}">
                <a16:creationId xmlns:a16="http://schemas.microsoft.com/office/drawing/2014/main" id="{ADE070B4-7A85-6F9A-44CC-85037F74EAA1}"/>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2217D219-1F95-A5AA-B21A-C0836E3F4BB1}"/>
              </a:ext>
            </a:extLst>
          </p:cNvPr>
          <p:cNvGrpSpPr/>
          <p:nvPr/>
        </p:nvGrpSpPr>
        <p:grpSpPr>
          <a:xfrm>
            <a:off x="5316437" y="1700181"/>
            <a:ext cx="6784671" cy="4846437"/>
            <a:chOff x="5041015" y="464117"/>
            <a:chExt cx="6784671" cy="4846437"/>
          </a:xfrm>
        </p:grpSpPr>
        <p:cxnSp>
          <p:nvCxnSpPr>
            <p:cNvPr id="7" name="Straight Arrow Connector 6">
              <a:extLst>
                <a:ext uri="{FF2B5EF4-FFF2-40B4-BE49-F238E27FC236}">
                  <a16:creationId xmlns:a16="http://schemas.microsoft.com/office/drawing/2014/main" id="{EE92E1A2-7FF3-E1D3-F3A4-53915DD7F670}"/>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9FAC712A-ADBC-FEDA-C4FE-67397245A21B}"/>
                </a:ext>
              </a:extLst>
            </p:cNvPr>
            <p:cNvSpPr txBox="1"/>
            <p:nvPr/>
          </p:nvSpPr>
          <p:spPr>
            <a:xfrm>
              <a:off x="5041015" y="464117"/>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F31FD96E-D20F-14F5-FE5B-1BD6F60F7548}"/>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8CE0AB64-6209-32B1-AC98-4C7B339B867F}"/>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087A2A9D-D57D-228D-4AFE-3EB7329860AA}"/>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5832BCD0-BB6F-2C6A-9596-0EC24046B27C}"/>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64568031-FEB0-EE7A-8D31-46511F31CD3F}"/>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5A7342D7-0203-486B-DB68-A5E3FA19CE77}"/>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9BBDF18C-905C-40CD-C58B-66EB0BBE8759}"/>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94F243E6-5407-3BA3-6282-D7C7C6BCEC12}"/>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987CA654-26FE-A772-C767-E6CBB91C478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13EED8E6-F547-2684-5381-E0A7B6B91182}"/>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3123BC77-4B13-83E6-029B-DC2EF5E01612}"/>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86F11CA4-BDB1-2D7A-1FB6-4182BC9A5878}"/>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F41F1B43-A79B-0E80-F49D-AAD23D694D8C}"/>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820D575B-67A0-852E-590A-EB538D7DA52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50F840C-BBE4-8235-30B3-30A0CE56340D}"/>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013A7E0C-134E-5451-B5C8-364893B36AC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FF42C98A-0A7E-8DFB-53F3-D9B350360589}"/>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A13E9E07-7355-5464-7C3E-38BC9C256B7D}"/>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7B7AB8D8-B630-FA02-A73E-D539B906CEB6}"/>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36A10E15-6159-E621-134C-25E783FC5EFF}"/>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sp>
        <p:nvSpPr>
          <p:cNvPr id="15" name="Arrow: Right 14">
            <a:extLst>
              <a:ext uri="{FF2B5EF4-FFF2-40B4-BE49-F238E27FC236}">
                <a16:creationId xmlns:a16="http://schemas.microsoft.com/office/drawing/2014/main" id="{9D351EDD-F750-D79A-AC59-11E0A0FD81F7}"/>
              </a:ext>
            </a:extLst>
          </p:cNvPr>
          <p:cNvSpPr/>
          <p:nvPr/>
        </p:nvSpPr>
        <p:spPr>
          <a:xfrm>
            <a:off x="243481" y="3147119"/>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Connector: Curved 28">
            <a:extLst>
              <a:ext uri="{FF2B5EF4-FFF2-40B4-BE49-F238E27FC236}">
                <a16:creationId xmlns:a16="http://schemas.microsoft.com/office/drawing/2014/main" id="{5FC02C68-C18C-CAD3-8093-CA3A371B2C65}"/>
              </a:ext>
            </a:extLst>
          </p:cNvPr>
          <p:cNvCxnSpPr>
            <a:cxnSpLocks/>
            <a:stCxn id="28" idx="1"/>
          </p:cNvCxnSpPr>
          <p:nvPr/>
        </p:nvCxnSpPr>
        <p:spPr>
          <a:xfrm rot="10800000" flipV="1">
            <a:off x="3966073" y="3763390"/>
            <a:ext cx="4075049" cy="1547664"/>
          </a:xfrm>
          <a:prstGeom prst="curvedConnector3">
            <a:avLst/>
          </a:prstGeom>
          <a:ln w="34925" cmpd="sng">
            <a:prstDash val="sysDash"/>
            <a:tailEnd type="stealth"/>
          </a:ln>
        </p:spPr>
        <p:style>
          <a:lnRef idx="1">
            <a:schemeClr val="accent4"/>
          </a:lnRef>
          <a:fillRef idx="0">
            <a:schemeClr val="accent4"/>
          </a:fillRef>
          <a:effectRef idx="0">
            <a:schemeClr val="accent4"/>
          </a:effectRef>
          <a:fontRef idx="minor">
            <a:schemeClr val="tx1"/>
          </a:fontRef>
        </p:style>
      </p:cxnSp>
      <p:sp>
        <p:nvSpPr>
          <p:cNvPr id="36" name="TextBox 35">
            <a:extLst>
              <a:ext uri="{FF2B5EF4-FFF2-40B4-BE49-F238E27FC236}">
                <a16:creationId xmlns:a16="http://schemas.microsoft.com/office/drawing/2014/main" id="{9D1BE50A-D45E-DDD5-EC7B-C98B0BEC6C38}"/>
              </a:ext>
            </a:extLst>
          </p:cNvPr>
          <p:cNvSpPr txBox="1"/>
          <p:nvPr/>
        </p:nvSpPr>
        <p:spPr>
          <a:xfrm>
            <a:off x="4875286" y="2736914"/>
            <a:ext cx="2726205" cy="830997"/>
          </a:xfrm>
          <a:prstGeom prst="rect">
            <a:avLst/>
          </a:prstGeom>
          <a:noFill/>
        </p:spPr>
        <p:txBody>
          <a:bodyPr wrap="square" rtlCol="0">
            <a:spAutoFit/>
          </a:bodyPr>
          <a:lstStyle/>
          <a:p>
            <a:r>
              <a:rPr lang="en-US" sz="2400" b="1" i="1" dirty="0"/>
              <a:t>Execution returns to</a:t>
            </a:r>
          </a:p>
          <a:p>
            <a:r>
              <a:rPr lang="en-US" sz="2400" b="1" i="1" dirty="0"/>
              <a:t>return_addr@12</a:t>
            </a:r>
          </a:p>
        </p:txBody>
      </p:sp>
    </p:spTree>
    <p:extLst>
      <p:ext uri="{BB962C8B-B14F-4D97-AF65-F5344CB8AC3E}">
        <p14:creationId xmlns:p14="http://schemas.microsoft.com/office/powerpoint/2010/main" val="919445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36"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3CA85E-F3B3-9DCC-1442-701C8340A589}"/>
              </a:ext>
            </a:extLst>
          </p:cNvPr>
          <p:cNvSpPr>
            <a:spLocks noGrp="1"/>
          </p:cNvSpPr>
          <p:nvPr>
            <p:ph idx="1"/>
          </p:nvPr>
        </p:nvSpPr>
        <p:spPr/>
        <p:txBody>
          <a:bodyPr/>
          <a:lstStyle/>
          <a:p>
            <a:r>
              <a:rPr lang="en-US" dirty="0"/>
              <a:t>C function calls -&gt; </a:t>
            </a:r>
            <a:r>
              <a:rPr lang="en-US" dirty="0" err="1"/>
              <a:t>callq</a:t>
            </a:r>
            <a:r>
              <a:rPr lang="en-US" dirty="0"/>
              <a:t> instruction</a:t>
            </a:r>
          </a:p>
          <a:p>
            <a:pPr lvl="1"/>
            <a:r>
              <a:rPr lang="en-US" dirty="0" err="1"/>
              <a:t>callq</a:t>
            </a:r>
            <a:r>
              <a:rPr lang="en-US" dirty="0"/>
              <a:t> instruction pushes the address of the next instruction on the stack</a:t>
            </a:r>
          </a:p>
          <a:p>
            <a:pPr lvl="1"/>
            <a:r>
              <a:rPr lang="en-US" dirty="0"/>
              <a:t>Then, transfers control to the called function</a:t>
            </a:r>
          </a:p>
          <a:p>
            <a:r>
              <a:rPr lang="en-US" dirty="0"/>
              <a:t>C return statements -&gt; </a:t>
            </a:r>
            <a:r>
              <a:rPr lang="en-US" dirty="0" err="1"/>
              <a:t>retq</a:t>
            </a:r>
            <a:r>
              <a:rPr lang="en-US" dirty="0"/>
              <a:t> instruction</a:t>
            </a:r>
          </a:p>
          <a:p>
            <a:pPr lvl="1"/>
            <a:r>
              <a:rPr lang="en-US" dirty="0" err="1"/>
              <a:t>retq</a:t>
            </a:r>
            <a:r>
              <a:rPr lang="en-US" dirty="0"/>
              <a:t> instruction pops the return address from the stack</a:t>
            </a:r>
          </a:p>
          <a:p>
            <a:pPr lvl="1"/>
            <a:r>
              <a:rPr lang="en-US" dirty="0"/>
              <a:t>Then, transfers control to the return address</a:t>
            </a:r>
          </a:p>
        </p:txBody>
      </p:sp>
      <p:sp>
        <p:nvSpPr>
          <p:cNvPr id="4" name="Title 3">
            <a:extLst>
              <a:ext uri="{FF2B5EF4-FFF2-40B4-BE49-F238E27FC236}">
                <a16:creationId xmlns:a16="http://schemas.microsoft.com/office/drawing/2014/main" id="{490E619B-24BA-DFBC-F4A3-2AB77032588B}"/>
              </a:ext>
            </a:extLst>
          </p:cNvPr>
          <p:cNvSpPr>
            <a:spLocks noGrp="1"/>
          </p:cNvSpPr>
          <p:nvPr>
            <p:ph type="title"/>
          </p:nvPr>
        </p:nvSpPr>
        <p:spPr/>
        <p:txBody>
          <a:bodyPr/>
          <a:lstStyle/>
          <a:p>
            <a:r>
              <a:rPr lang="en-US" dirty="0"/>
              <a:t>x86 feature</a:t>
            </a:r>
          </a:p>
        </p:txBody>
      </p:sp>
    </p:spTree>
    <p:extLst>
      <p:ext uri="{BB962C8B-B14F-4D97-AF65-F5344CB8AC3E}">
        <p14:creationId xmlns:p14="http://schemas.microsoft.com/office/powerpoint/2010/main" val="76990024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D4222C-DD32-A670-E4EA-DABBFDA5D77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F1E952-88E1-01D6-AAA8-7AE0DD556F32}"/>
              </a:ext>
            </a:extLst>
          </p:cNvPr>
          <p:cNvSpPr>
            <a:spLocks noGrp="1"/>
          </p:cNvSpPr>
          <p:nvPr>
            <p:ph idx="1"/>
          </p:nvPr>
        </p:nvSpPr>
        <p:spPr/>
        <p:txBody>
          <a:bodyPr>
            <a:normAutofit/>
          </a:bodyPr>
          <a:lstStyle/>
          <a:p>
            <a:r>
              <a:rPr lang="en-US" dirty="0"/>
              <a:t>Return addresses on the stack</a:t>
            </a:r>
          </a:p>
          <a:p>
            <a:pPr lvl="1"/>
            <a:r>
              <a:rPr lang="en-US" dirty="0"/>
              <a:t>At a higher address than function </a:t>
            </a:r>
            <a:r>
              <a:rPr lang="en-US"/>
              <a:t>local variables</a:t>
            </a:r>
            <a:endParaRPr lang="en-US" dirty="0"/>
          </a:p>
          <a:p>
            <a:r>
              <a:rPr lang="en-US" dirty="0"/>
              <a:t>From the last lecture – </a:t>
            </a:r>
          </a:p>
          <a:p>
            <a:pPr lvl="1"/>
            <a:r>
              <a:rPr lang="en-US" dirty="0"/>
              <a:t>C has no protection against buffer overflows</a:t>
            </a:r>
          </a:p>
          <a:p>
            <a:pPr lvl="1"/>
            <a:endParaRPr lang="en-US" dirty="0"/>
          </a:p>
        </p:txBody>
      </p:sp>
      <p:sp>
        <p:nvSpPr>
          <p:cNvPr id="4" name="Title 3">
            <a:extLst>
              <a:ext uri="{FF2B5EF4-FFF2-40B4-BE49-F238E27FC236}">
                <a16:creationId xmlns:a16="http://schemas.microsoft.com/office/drawing/2014/main" id="{7518B049-085E-D7D0-6B54-E148C8AAA80E}"/>
              </a:ext>
            </a:extLst>
          </p:cNvPr>
          <p:cNvSpPr>
            <a:spLocks noGrp="1"/>
          </p:cNvSpPr>
          <p:nvPr>
            <p:ph type="title"/>
          </p:nvPr>
        </p:nvSpPr>
        <p:spPr/>
        <p:txBody>
          <a:bodyPr/>
          <a:lstStyle/>
          <a:p>
            <a:r>
              <a:rPr lang="en-US" dirty="0"/>
              <a:t>Implications…</a:t>
            </a:r>
          </a:p>
        </p:txBody>
      </p:sp>
      <p:grpSp>
        <p:nvGrpSpPr>
          <p:cNvPr id="9" name="Group 8">
            <a:extLst>
              <a:ext uri="{FF2B5EF4-FFF2-40B4-BE49-F238E27FC236}">
                <a16:creationId xmlns:a16="http://schemas.microsoft.com/office/drawing/2014/main" id="{0110409D-0D2A-CE22-104C-F1F52C1CE696}"/>
              </a:ext>
            </a:extLst>
          </p:cNvPr>
          <p:cNvGrpSpPr/>
          <p:nvPr/>
        </p:nvGrpSpPr>
        <p:grpSpPr>
          <a:xfrm>
            <a:off x="7836807" y="2150464"/>
            <a:ext cx="4264301" cy="4396154"/>
            <a:chOff x="7561385" y="914400"/>
            <a:chExt cx="4264301" cy="4396154"/>
          </a:xfrm>
        </p:grpSpPr>
        <p:sp>
          <p:nvSpPr>
            <p:cNvPr id="10" name="TextBox 9">
              <a:extLst>
                <a:ext uri="{FF2B5EF4-FFF2-40B4-BE49-F238E27FC236}">
                  <a16:creationId xmlns:a16="http://schemas.microsoft.com/office/drawing/2014/main" id="{9F78D434-D9B2-9A7C-076D-7475F35FD5F4}"/>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7994AF61-BEB8-A67A-A34C-34CA6D8B0F90}"/>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A831BA5-6628-BB88-5D2C-AF3BD944FC2A}"/>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FC9FABAE-834C-FABD-48EF-D7F5DA364E33}"/>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55A86F97-2F22-9725-71B0-3E6EFBFB3F03}"/>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DBA77860-F879-3F11-6A55-06FD744A8CBE}"/>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E42A4515-D12D-740F-1366-6B9D5B4081CD}"/>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B9BA0BD9-51D1-E05B-BA5E-00F9D49573A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CED92C8E-68D6-0CD0-718D-8AC1847402BB}"/>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8D12A309-4A73-B31F-EA15-E9C854470C18}"/>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903474FE-BB1D-9954-41AC-6145C63F4B2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71F27523-807A-8D09-9D81-D470EAA6854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30BFC4C1-11A9-DE68-6E6C-083816A0CA95}"/>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48E2F600-F4B6-4C41-BEA5-19D6D8E7934E}"/>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605EE214-EB65-A5B0-2B10-1631B6F7659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2" name="Rectangle 1">
            <a:extLst>
              <a:ext uri="{FF2B5EF4-FFF2-40B4-BE49-F238E27FC236}">
                <a16:creationId xmlns:a16="http://schemas.microsoft.com/office/drawing/2014/main" id="{FC79FF4F-A8C3-550F-6178-961D316008D0}"/>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F7D30BAD-E100-6494-0446-9CC1BA86443F}"/>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741BC358-9660-6524-9F4A-27C7D8A558E4}"/>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39ABE4E7-C87D-E7EB-6247-075273A45D64}"/>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spTree>
    <p:extLst>
      <p:ext uri="{BB962C8B-B14F-4D97-AF65-F5344CB8AC3E}">
        <p14:creationId xmlns:p14="http://schemas.microsoft.com/office/powerpoint/2010/main" val="3945908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4E36F-46FD-277C-A7B3-36B955D63920}"/>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F58DE96-E55D-EB3F-098E-0723BF059F2B}"/>
              </a:ext>
            </a:extLst>
          </p:cNvPr>
          <p:cNvSpPr>
            <a:spLocks noGrp="1"/>
          </p:cNvSpPr>
          <p:nvPr>
            <p:ph idx="1"/>
          </p:nvPr>
        </p:nvSpPr>
        <p:spPr/>
        <p:txBody>
          <a:bodyPr>
            <a:norm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sp>
        <p:nvSpPr>
          <p:cNvPr id="4" name="Title 3">
            <a:extLst>
              <a:ext uri="{FF2B5EF4-FFF2-40B4-BE49-F238E27FC236}">
                <a16:creationId xmlns:a16="http://schemas.microsoft.com/office/drawing/2014/main" id="{894161A9-06E0-67FF-D2F4-640442B20844}"/>
              </a:ext>
            </a:extLst>
          </p:cNvPr>
          <p:cNvSpPr>
            <a:spLocks noGrp="1"/>
          </p:cNvSpPr>
          <p:nvPr>
            <p:ph type="title"/>
          </p:nvPr>
        </p:nvSpPr>
        <p:spPr/>
        <p:txBody>
          <a:bodyPr/>
          <a:lstStyle/>
          <a:p>
            <a:r>
              <a:rPr lang="en-US" dirty="0"/>
              <a:t>Implications…</a:t>
            </a:r>
          </a:p>
        </p:txBody>
      </p:sp>
      <p:grpSp>
        <p:nvGrpSpPr>
          <p:cNvPr id="6" name="Group 5">
            <a:extLst>
              <a:ext uri="{FF2B5EF4-FFF2-40B4-BE49-F238E27FC236}">
                <a16:creationId xmlns:a16="http://schemas.microsoft.com/office/drawing/2014/main" id="{8A37D881-DC1D-D623-33B1-E2CBF4419A5D}"/>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9FF0CCAE-0D38-FBE2-7AA4-4087CC20A751}"/>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3F025F44-F2E9-0085-3A2F-475D9A564E28}"/>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1263796C-2B94-F5FB-ABDE-B598CDE4238A}"/>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4FEFA67C-F60C-EEC5-7944-21029A622111}"/>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8645305D-CE29-806F-E6CB-6738A950A012}"/>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60CE3584-48FC-F884-1535-2416D3854625}"/>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CB5FF575-F5AB-CA3A-FB17-E3D9476D04C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0F282AA1-A327-495B-4312-FBC27BC5F4A6}"/>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B0A8E289-D4DD-A6C5-5098-703C0132EDF4}"/>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7D9FA3EF-2BB5-420E-C862-70E00A3B275E}"/>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605B453D-4C67-3B74-83E2-4970BED47BA6}"/>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94176A60-C319-786D-1148-2F8CCAE28CFC}"/>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B9A13FF8-692F-0EA6-9BA9-F6E104ED11A9}"/>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8CE06B0F-7A1A-0809-3A66-F11248E652F3}"/>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566E6BFB-2929-E9D6-A636-159DA8AA3E29}"/>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92D63DCF-6200-D07F-8777-395D26CC3988}"/>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64D5D2F-7F35-B77E-B428-A1C1DA377B5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01CBC8B7-5BAF-3D4E-3E79-1DA48904C5A6}"/>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DD2C0DE2-E4C2-BF7C-4412-92294AFCE4FD}"/>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1968E46D-6E30-7BD8-3404-CED75D1FABF8}"/>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E04B9CB2-D244-50C8-2A6A-FFDD4688F1DF}"/>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return_addr@7</a:t>
            </a:r>
            <a:endParaRPr lang="en-US" sz="1600" dirty="0"/>
          </a:p>
        </p:txBody>
      </p:sp>
      <p:sp>
        <p:nvSpPr>
          <p:cNvPr id="30" name="Rectangle 29">
            <a:extLst>
              <a:ext uri="{FF2B5EF4-FFF2-40B4-BE49-F238E27FC236}">
                <a16:creationId xmlns:a16="http://schemas.microsoft.com/office/drawing/2014/main" id="{9227DAA3-BA89-15A9-950E-657EF5C025FE}"/>
              </a:ext>
            </a:extLst>
          </p:cNvPr>
          <p:cNvSpPr/>
          <p:nvPr/>
        </p:nvSpPr>
        <p:spPr>
          <a:xfrm>
            <a:off x="8374415" y="4179324"/>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26" name="Arrow: Up 25">
            <a:extLst>
              <a:ext uri="{FF2B5EF4-FFF2-40B4-BE49-F238E27FC236}">
                <a16:creationId xmlns:a16="http://schemas.microsoft.com/office/drawing/2014/main" id="{9161A431-1475-763A-14A7-4165F20FDDDB}"/>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6F1A1B4C-19E8-B356-E038-E717D0B13AF8}"/>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
        <p:nvSpPr>
          <p:cNvPr id="31" name="Arrow: Right 30">
            <a:extLst>
              <a:ext uri="{FF2B5EF4-FFF2-40B4-BE49-F238E27FC236}">
                <a16:creationId xmlns:a16="http://schemas.microsoft.com/office/drawing/2014/main" id="{43B46960-B5FC-1A90-5F12-5A0C5D2C31B0}"/>
              </a:ext>
            </a:extLst>
          </p:cNvPr>
          <p:cNvSpPr/>
          <p:nvPr/>
        </p:nvSpPr>
        <p:spPr>
          <a:xfrm>
            <a:off x="269031" y="1783112"/>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489ACE40-E75E-0202-91CC-24C0806B5EBC}"/>
              </a:ext>
            </a:extLst>
          </p:cNvPr>
          <p:cNvSpPr/>
          <p:nvPr/>
        </p:nvSpPr>
        <p:spPr>
          <a:xfrm>
            <a:off x="8056570" y="3506144"/>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&amp;</a:t>
            </a:r>
            <a:r>
              <a:rPr lang="en-US" sz="2000" dirty="0" err="1">
                <a:ln w="0"/>
                <a:solidFill>
                  <a:schemeClr val="tx1"/>
                </a:solidFill>
                <a:effectLst>
                  <a:outerShdw blurRad="38100" dist="19050" dir="2700000" algn="tl" rotWithShape="0">
                    <a:schemeClr val="dk1">
                      <a:alpha val="40000"/>
                    </a:schemeClr>
                  </a:outerShdw>
                </a:effectLst>
              </a:rPr>
              <a:t>super_secret_func</a:t>
            </a:r>
            <a:endParaRPr lang="en-US" sz="1400" dirty="0"/>
          </a:p>
        </p:txBody>
      </p:sp>
      <p:sp>
        <p:nvSpPr>
          <p:cNvPr id="36" name="Arrow: Right 35">
            <a:extLst>
              <a:ext uri="{FF2B5EF4-FFF2-40B4-BE49-F238E27FC236}">
                <a16:creationId xmlns:a16="http://schemas.microsoft.com/office/drawing/2014/main" id="{B974625A-0A83-5B29-CF68-5C74136DA85F}"/>
              </a:ext>
            </a:extLst>
          </p:cNvPr>
          <p:cNvSpPr/>
          <p:nvPr/>
        </p:nvSpPr>
        <p:spPr>
          <a:xfrm>
            <a:off x="279969" y="2160840"/>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8" name="Connector: Curved 37">
            <a:extLst>
              <a:ext uri="{FF2B5EF4-FFF2-40B4-BE49-F238E27FC236}">
                <a16:creationId xmlns:a16="http://schemas.microsoft.com/office/drawing/2014/main" id="{781D7EA8-526C-8730-41DB-D79F1436C27D}"/>
              </a:ext>
            </a:extLst>
          </p:cNvPr>
          <p:cNvCxnSpPr>
            <a:stCxn id="33" idx="1"/>
          </p:cNvCxnSpPr>
          <p:nvPr/>
        </p:nvCxnSpPr>
        <p:spPr>
          <a:xfrm rot="10800000" flipV="1">
            <a:off x="4829822" y="3773852"/>
            <a:ext cx="3226749" cy="880802"/>
          </a:xfrm>
          <a:prstGeom prst="curvedConnector3">
            <a:avLst/>
          </a:prstGeom>
          <a:ln w="31750">
            <a:prstDash val="sysDot"/>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32898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dissolve">
                                      <p:cBhvr>
                                        <p:cTn id="7" dur="500"/>
                                        <p:tgtEl>
                                          <p:spTgt spid="27"/>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dissolve">
                                      <p:cBhvr>
                                        <p:cTn id="10" dur="500"/>
                                        <p:tgtEl>
                                          <p:spTgt spid="2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3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p:bldP spid="31" grpId="1" animBg="1"/>
      <p:bldP spid="33" grpId="0" animBg="1"/>
      <p:bldP spid="36" grpId="0" animBg="1"/>
      <p:bldP spid="36" grpId="1"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C2EF6-AD6A-CE7E-6041-111CC4563B40}"/>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96D290CD-8A26-2B8A-8E71-6B19E1D7FD7A}"/>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CDAA2E75-928B-77C9-BA2B-9834DA8CC44A}"/>
              </a:ext>
            </a:extLst>
          </p:cNvPr>
          <p:cNvSpPr>
            <a:spLocks noGrp="1"/>
          </p:cNvSpPr>
          <p:nvPr>
            <p:ph type="title"/>
          </p:nvPr>
        </p:nvSpPr>
        <p:spPr/>
        <p:txBody>
          <a:bodyPr/>
          <a:lstStyle/>
          <a:p>
            <a:r>
              <a:rPr lang="en-US" dirty="0"/>
              <a:t>Implications…</a:t>
            </a:r>
          </a:p>
        </p:txBody>
      </p:sp>
      <p:sp>
        <p:nvSpPr>
          <p:cNvPr id="29" name="Content Placeholder 28">
            <a:extLst>
              <a:ext uri="{FF2B5EF4-FFF2-40B4-BE49-F238E27FC236}">
                <a16:creationId xmlns:a16="http://schemas.microsoft.com/office/drawing/2014/main" id="{7EF73173-B7A7-FA08-38A1-248B7AB009A7}"/>
              </a:ext>
            </a:extLst>
          </p:cNvPr>
          <p:cNvSpPr>
            <a:spLocks noGrp="1"/>
          </p:cNvSpPr>
          <p:nvPr>
            <p:ph idx="13"/>
          </p:nvPr>
        </p:nvSpPr>
        <p:spPr/>
        <p:txBody>
          <a:bodyPr/>
          <a:lstStyle/>
          <a:p>
            <a:r>
              <a:rPr lang="en-US" dirty="0"/>
              <a:t> The attacker can not only overwrite stack variables</a:t>
            </a:r>
          </a:p>
          <a:p>
            <a:r>
              <a:rPr lang="en-US" dirty="0"/>
              <a:t>But also </a:t>
            </a:r>
            <a:r>
              <a:rPr lang="en-US" b="1" i="1" dirty="0"/>
              <a:t>hijack </a:t>
            </a:r>
            <a:r>
              <a:rPr lang="en-US" dirty="0"/>
              <a:t>control flow</a:t>
            </a:r>
          </a:p>
          <a:p>
            <a:r>
              <a:rPr lang="en-US" dirty="0"/>
              <a:t>Known as</a:t>
            </a:r>
          </a:p>
          <a:p>
            <a:pPr lvl="1"/>
            <a:r>
              <a:rPr lang="en-US" dirty="0"/>
              <a:t>Control flow hijack attacks</a:t>
            </a:r>
          </a:p>
          <a:p>
            <a:pPr lvl="1"/>
            <a:r>
              <a:rPr lang="en-US" dirty="0"/>
              <a:t>Extremely powerful!!</a:t>
            </a:r>
          </a:p>
          <a:p>
            <a:r>
              <a:rPr lang="en-US" dirty="0"/>
              <a:t>“Negative synergy” between x86 architecture and C language</a:t>
            </a:r>
          </a:p>
        </p:txBody>
      </p:sp>
      <p:grpSp>
        <p:nvGrpSpPr>
          <p:cNvPr id="6" name="Group 5">
            <a:extLst>
              <a:ext uri="{FF2B5EF4-FFF2-40B4-BE49-F238E27FC236}">
                <a16:creationId xmlns:a16="http://schemas.microsoft.com/office/drawing/2014/main" id="{6E79E71C-DD50-D5BF-94D8-FBF62DABFDF8}"/>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DD2A54E9-0B21-669F-3684-C2EC5DC6C160}"/>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5A10AEF-CF3D-118C-7052-658B85AACA85}"/>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4AA273A6-E3C3-BEDA-5A1F-728A7FA44AC8}"/>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B2D442C6-1F9B-65D9-E07D-99CDD90F4400}"/>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FBBDDAE5-F2E2-F7A2-0955-49C9C61D362C}"/>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9A6FAFF2-2B18-76D5-F76B-3B25D2568810}"/>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186B02A2-5AC2-F705-8A98-27F837A766FD}"/>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C72936AD-E26E-B5DB-D07B-E263C6E4833A}"/>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1EEDC1DF-23EB-594D-51E9-700FFC8914AF}"/>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B298E279-4E39-1E4D-FF9B-899A4EBC6C91}"/>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9CC6A6E1-7768-BF72-B134-232AC82F89C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2DF7EE30-F952-10BD-EA3E-9D50914F2A65}"/>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AF260C85-8378-ACC3-056C-8178491BC991}"/>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31F93D19-4103-D10B-7D2C-A2E2A41EB7AD}"/>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FA9EE5B7-0483-7B15-C0CA-5AAC16C1784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0EADFFE9-49F0-ACF8-0A70-3B0BC11366CA}"/>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B109C797-94DD-438E-262E-17931F4B0CB9}"/>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35A9315B-EB06-2FA4-39B4-638EFAB3DBB4}"/>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3C526D2B-F266-133F-6F88-0C46586789C2}"/>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34A7490C-5CE0-ACAB-B94B-5007BEC4EA0B}"/>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6DDDC8D3-E004-5D6F-A653-CC61AEEE0D89}"/>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E7AAF85E-CC82-2296-2CFA-B6E66343C7C7}"/>
              </a:ext>
            </a:extLst>
          </p:cNvPr>
          <p:cNvSpPr/>
          <p:nvPr/>
        </p:nvSpPr>
        <p:spPr>
          <a:xfrm>
            <a:off x="8374415" y="4179324"/>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26" name="Arrow: Up 25">
            <a:extLst>
              <a:ext uri="{FF2B5EF4-FFF2-40B4-BE49-F238E27FC236}">
                <a16:creationId xmlns:a16="http://schemas.microsoft.com/office/drawing/2014/main" id="{414386BC-CF91-F11A-839A-D6FAED5289EE}"/>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58808387-AC27-D03E-972E-4FB66BBA186E}"/>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
        <p:nvSpPr>
          <p:cNvPr id="33" name="Rectangle 32">
            <a:extLst>
              <a:ext uri="{FF2B5EF4-FFF2-40B4-BE49-F238E27FC236}">
                <a16:creationId xmlns:a16="http://schemas.microsoft.com/office/drawing/2014/main" id="{6DD7DF08-3A90-EB1C-F6F2-FD0506B62DF7}"/>
              </a:ext>
            </a:extLst>
          </p:cNvPr>
          <p:cNvSpPr/>
          <p:nvPr/>
        </p:nvSpPr>
        <p:spPr>
          <a:xfrm>
            <a:off x="8041120" y="350605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&amp;</a:t>
            </a:r>
            <a:r>
              <a:rPr lang="en-US" sz="2000" dirty="0" err="1">
                <a:ln w="0"/>
                <a:solidFill>
                  <a:schemeClr val="tx1"/>
                </a:solidFill>
                <a:effectLst>
                  <a:outerShdw blurRad="38100" dist="19050" dir="2700000" algn="tl" rotWithShape="0">
                    <a:schemeClr val="dk1">
                      <a:alpha val="40000"/>
                    </a:schemeClr>
                  </a:outerShdw>
                </a:effectLst>
              </a:rPr>
              <a:t>super_secret_func</a:t>
            </a:r>
            <a:endParaRPr lang="en-US" sz="1400" dirty="0"/>
          </a:p>
        </p:txBody>
      </p:sp>
    </p:spTree>
    <p:extLst>
      <p:ext uri="{BB962C8B-B14F-4D97-AF65-F5344CB8AC3E}">
        <p14:creationId xmlns:p14="http://schemas.microsoft.com/office/powerpoint/2010/main" val="3826190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731D23CE-B6E7-5DB9-3A8E-D7AF8ED23783}"/>
              </a:ext>
            </a:extLst>
          </p:cNvPr>
          <p:cNvSpPr>
            <a:spLocks noGrp="1"/>
          </p:cNvSpPr>
          <p:nvPr>
            <p:ph idx="1"/>
          </p:nvPr>
        </p:nvSpPr>
        <p:spPr/>
        <p:txBody>
          <a:bodyPr/>
          <a:lstStyle/>
          <a:p>
            <a:r>
              <a:rPr lang="en-US" dirty="0">
                <a:hlinkClick r:id="rId2"/>
              </a:rPr>
              <a:t>https://github.com/davsec-teaching/control-flow-hijack-demo</a:t>
            </a:r>
            <a:endParaRPr lang="en-US" dirty="0"/>
          </a:p>
          <a:p>
            <a:pPr marL="0" indent="0">
              <a:buNone/>
            </a:pPr>
            <a:endParaRPr lang="en-US" dirty="0"/>
          </a:p>
        </p:txBody>
      </p:sp>
      <p:sp>
        <p:nvSpPr>
          <p:cNvPr id="5" name="Title 4">
            <a:extLst>
              <a:ext uri="{FF2B5EF4-FFF2-40B4-BE49-F238E27FC236}">
                <a16:creationId xmlns:a16="http://schemas.microsoft.com/office/drawing/2014/main" id="{4127374A-5C6A-732C-D8FA-3D54D5C475BB}"/>
              </a:ext>
            </a:extLst>
          </p:cNvPr>
          <p:cNvSpPr>
            <a:spLocks noGrp="1"/>
          </p:cNvSpPr>
          <p:nvPr>
            <p:ph type="title"/>
          </p:nvPr>
        </p:nvSpPr>
        <p:spPr/>
        <p:txBody>
          <a:bodyPr/>
          <a:lstStyle/>
          <a:p>
            <a:r>
              <a:rPr lang="en-US" dirty="0"/>
              <a:t>Demo</a:t>
            </a:r>
          </a:p>
        </p:txBody>
      </p:sp>
    </p:spTree>
    <p:extLst>
      <p:ext uri="{BB962C8B-B14F-4D97-AF65-F5344CB8AC3E}">
        <p14:creationId xmlns:p14="http://schemas.microsoft.com/office/powerpoint/2010/main" val="230119603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3FF61D9-C5F3-8145-FBD5-22B692410FCF}"/>
              </a:ext>
            </a:extLst>
          </p:cNvPr>
          <p:cNvSpPr>
            <a:spLocks noGrp="1"/>
          </p:cNvSpPr>
          <p:nvPr>
            <p:ph idx="1"/>
          </p:nvPr>
        </p:nvSpPr>
        <p:spPr/>
        <p:txBody>
          <a:bodyPr/>
          <a:lstStyle/>
          <a:p>
            <a:r>
              <a:rPr lang="en-US" dirty="0"/>
              <a:t>Security-critical functions in the program</a:t>
            </a:r>
          </a:p>
          <a:p>
            <a:r>
              <a:rPr lang="en-US" dirty="0" err="1"/>
              <a:t>Libc</a:t>
            </a:r>
            <a:r>
              <a:rPr lang="en-US" dirty="0"/>
              <a:t> functions</a:t>
            </a:r>
          </a:p>
          <a:p>
            <a:pPr lvl="1"/>
            <a:r>
              <a:rPr lang="en-US" dirty="0" err="1"/>
              <a:t>execve</a:t>
            </a:r>
            <a:r>
              <a:rPr lang="en-US" dirty="0"/>
              <a:t>() – can start executing a completely different program!!</a:t>
            </a:r>
          </a:p>
          <a:p>
            <a:pPr lvl="1"/>
            <a:r>
              <a:rPr lang="en-US" dirty="0"/>
              <a:t>Known as </a:t>
            </a:r>
            <a:r>
              <a:rPr lang="en-US" b="1" i="1" dirty="0"/>
              <a:t>return-to-</a:t>
            </a:r>
            <a:r>
              <a:rPr lang="en-US" b="1" i="1" dirty="0" err="1"/>
              <a:t>libc</a:t>
            </a:r>
            <a:r>
              <a:rPr lang="en-US" b="1" i="1" dirty="0"/>
              <a:t> </a:t>
            </a:r>
            <a:r>
              <a:rPr lang="en-US" dirty="0"/>
              <a:t>attacks (subset of control-flow hijack attacks)</a:t>
            </a:r>
          </a:p>
          <a:p>
            <a:r>
              <a:rPr lang="en-US" dirty="0"/>
              <a:t>What else?</a:t>
            </a:r>
          </a:p>
        </p:txBody>
      </p:sp>
      <p:sp>
        <p:nvSpPr>
          <p:cNvPr id="4" name="Title 3">
            <a:extLst>
              <a:ext uri="{FF2B5EF4-FFF2-40B4-BE49-F238E27FC236}">
                <a16:creationId xmlns:a16="http://schemas.microsoft.com/office/drawing/2014/main" id="{C15D7103-9CE9-4902-B4DB-D32515830864}"/>
              </a:ext>
            </a:extLst>
          </p:cNvPr>
          <p:cNvSpPr>
            <a:spLocks noGrp="1"/>
          </p:cNvSpPr>
          <p:nvPr>
            <p:ph type="title"/>
          </p:nvPr>
        </p:nvSpPr>
        <p:spPr/>
        <p:txBody>
          <a:bodyPr/>
          <a:lstStyle/>
          <a:p>
            <a:r>
              <a:rPr lang="en-US" dirty="0"/>
              <a:t>Interesting targets for control flow hijack</a:t>
            </a:r>
          </a:p>
        </p:txBody>
      </p:sp>
    </p:spTree>
    <p:extLst>
      <p:ext uri="{BB962C8B-B14F-4D97-AF65-F5344CB8AC3E}">
        <p14:creationId xmlns:p14="http://schemas.microsoft.com/office/powerpoint/2010/main" val="1376720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9123FBD-DE6B-721D-276A-31E76257BC1A}"/>
              </a:ext>
            </a:extLst>
          </p:cNvPr>
          <p:cNvSpPr>
            <a:spLocks noGrp="1"/>
          </p:cNvSpPr>
          <p:nvPr>
            <p:ph idx="1"/>
          </p:nvPr>
        </p:nvSpPr>
        <p:spPr>
          <a:xfrm>
            <a:off x="4792337" y="785004"/>
            <a:ext cx="7017589" cy="5046453"/>
          </a:xfrm>
        </p:spPr>
        <p:txBody>
          <a:bodyPr/>
          <a:lstStyle/>
          <a:p>
            <a:r>
              <a:rPr lang="en-US" dirty="0"/>
              <a:t>00000000004012e0 &lt;</a:t>
            </a:r>
            <a:r>
              <a:rPr lang="en-US" dirty="0" err="1"/>
              <a:t>super_secret_function</a:t>
            </a:r>
            <a:r>
              <a:rPr lang="en-US" dirty="0"/>
              <a:t>&gt;:</a:t>
            </a:r>
          </a:p>
          <a:p>
            <a:r>
              <a:rPr lang="en-US" dirty="0"/>
              <a:t>  4012e0:       55                      push   %</a:t>
            </a:r>
            <a:r>
              <a:rPr lang="en-US" dirty="0" err="1"/>
              <a:t>rbp</a:t>
            </a:r>
            <a:endParaRPr lang="en-US" dirty="0"/>
          </a:p>
          <a:p>
            <a:r>
              <a:rPr lang="en-US" dirty="0"/>
              <a:t>  4012e1:       48 89 e5                mov    %</a:t>
            </a:r>
            <a:r>
              <a:rPr lang="en-US" dirty="0" err="1"/>
              <a:t>rsp</a:t>
            </a:r>
            <a:r>
              <a:rPr lang="en-US" dirty="0"/>
              <a:t>,%</a:t>
            </a:r>
            <a:r>
              <a:rPr lang="en-US" dirty="0" err="1"/>
              <a:t>rbp</a:t>
            </a:r>
            <a:endParaRPr lang="en-US" dirty="0"/>
          </a:p>
          <a:p>
            <a:r>
              <a:rPr lang="en-US" dirty="0"/>
              <a:t>  4012e4:       48 bf 15 20 40 00 00    </a:t>
            </a:r>
            <a:r>
              <a:rPr lang="en-US" dirty="0" err="1"/>
              <a:t>movabs</a:t>
            </a:r>
            <a:r>
              <a:rPr lang="en-US" dirty="0"/>
              <a:t> $0x402015,%rdi</a:t>
            </a:r>
          </a:p>
          <a:p>
            <a:r>
              <a:rPr lang="en-US" dirty="0"/>
              <a:t>  4012eb:       00 00 00</a:t>
            </a:r>
          </a:p>
          <a:p>
            <a:r>
              <a:rPr lang="en-US" dirty="0"/>
              <a:t>  4012ee:       e8 3d </a:t>
            </a:r>
            <a:r>
              <a:rPr lang="en-US" dirty="0" err="1"/>
              <a:t>fd</a:t>
            </a:r>
            <a:r>
              <a:rPr lang="en-US" dirty="0"/>
              <a:t> ff </a:t>
            </a:r>
            <a:r>
              <a:rPr lang="en-US" dirty="0" err="1"/>
              <a:t>ff</a:t>
            </a:r>
            <a:r>
              <a:rPr lang="en-US" dirty="0"/>
              <a:t>          call   401030 &lt;</a:t>
            </a:r>
            <a:r>
              <a:rPr lang="en-US" dirty="0" err="1"/>
              <a:t>puts@plt</a:t>
            </a:r>
            <a:r>
              <a:rPr lang="en-US" dirty="0"/>
              <a:t>&gt;</a:t>
            </a:r>
          </a:p>
          <a:p>
            <a:r>
              <a:rPr lang="en-US" dirty="0"/>
              <a:t>  4012f3:       5d                      pop    %</a:t>
            </a:r>
            <a:r>
              <a:rPr lang="en-US" dirty="0" err="1"/>
              <a:t>rbp</a:t>
            </a:r>
            <a:endParaRPr lang="en-US" dirty="0"/>
          </a:p>
          <a:p>
            <a:r>
              <a:rPr lang="en-US" dirty="0"/>
              <a:t>  4012f4:       c3                      ret</a:t>
            </a:r>
          </a:p>
          <a:p>
            <a:r>
              <a:rPr lang="en-US" dirty="0"/>
              <a:t>  4012f5:       66 2e 0f 1f 84 00 00    cs </a:t>
            </a:r>
            <a:r>
              <a:rPr lang="en-US" dirty="0" err="1"/>
              <a:t>nopw</a:t>
            </a:r>
            <a:r>
              <a:rPr lang="en-US" dirty="0"/>
              <a:t> 0x0(%rax,%rax,1)</a:t>
            </a:r>
          </a:p>
          <a:p>
            <a:r>
              <a:rPr lang="en-US" dirty="0"/>
              <a:t>  4012fc:       00 00 00</a:t>
            </a:r>
          </a:p>
          <a:p>
            <a:r>
              <a:rPr lang="en-US" dirty="0"/>
              <a:t>  4012ff:       90                      </a:t>
            </a:r>
            <a:r>
              <a:rPr lang="en-US" dirty="0" err="1"/>
              <a:t>nop</a:t>
            </a:r>
            <a:endParaRPr lang="en-US" dirty="0"/>
          </a:p>
        </p:txBody>
      </p:sp>
      <p:sp>
        <p:nvSpPr>
          <p:cNvPr id="4" name="Title 3">
            <a:extLst>
              <a:ext uri="{FF2B5EF4-FFF2-40B4-BE49-F238E27FC236}">
                <a16:creationId xmlns:a16="http://schemas.microsoft.com/office/drawing/2014/main" id="{196C1D35-F2C0-2714-671E-19CC0CDC8C02}"/>
              </a:ext>
            </a:extLst>
          </p:cNvPr>
          <p:cNvSpPr>
            <a:spLocks noGrp="1"/>
          </p:cNvSpPr>
          <p:nvPr>
            <p:ph type="title"/>
          </p:nvPr>
        </p:nvSpPr>
        <p:spPr/>
        <p:txBody>
          <a:bodyPr/>
          <a:lstStyle/>
          <a:p>
            <a:r>
              <a:rPr lang="en-US" dirty="0"/>
              <a:t>What else? </a:t>
            </a:r>
            <a:r>
              <a:rPr lang="en-US" sz="1200" dirty="0"/>
              <a:t>(Not in syllabus)</a:t>
            </a:r>
            <a:endParaRPr lang="en-US" dirty="0"/>
          </a:p>
        </p:txBody>
      </p:sp>
      <p:sp>
        <p:nvSpPr>
          <p:cNvPr id="6" name="Content Placeholder 5">
            <a:extLst>
              <a:ext uri="{FF2B5EF4-FFF2-40B4-BE49-F238E27FC236}">
                <a16:creationId xmlns:a16="http://schemas.microsoft.com/office/drawing/2014/main" id="{B8573E6E-569D-99D3-5576-939BA71E8CC5}"/>
              </a:ext>
            </a:extLst>
          </p:cNvPr>
          <p:cNvSpPr>
            <a:spLocks noGrp="1"/>
          </p:cNvSpPr>
          <p:nvPr>
            <p:ph idx="13"/>
          </p:nvPr>
        </p:nvSpPr>
        <p:spPr>
          <a:xfrm>
            <a:off x="382075" y="785004"/>
            <a:ext cx="4123824" cy="5046453"/>
          </a:xfrm>
        </p:spPr>
        <p:txBody>
          <a:bodyPr/>
          <a:lstStyle/>
          <a:p>
            <a:r>
              <a:rPr lang="en-US" dirty="0"/>
              <a:t>No requirement that the address should be the start of a function</a:t>
            </a:r>
          </a:p>
          <a:p>
            <a:r>
              <a:rPr lang="en-US" dirty="0"/>
              <a:t>Can “return” to the middle of a function</a:t>
            </a:r>
          </a:p>
          <a:p>
            <a:endParaRPr lang="en-US" dirty="0"/>
          </a:p>
        </p:txBody>
      </p:sp>
      <p:sp>
        <p:nvSpPr>
          <p:cNvPr id="7" name="Arrow: Right 6">
            <a:extLst>
              <a:ext uri="{FF2B5EF4-FFF2-40B4-BE49-F238E27FC236}">
                <a16:creationId xmlns:a16="http://schemas.microsoft.com/office/drawing/2014/main" id="{00DBEE96-1DE9-65F5-1862-52DB1977A980}"/>
              </a:ext>
            </a:extLst>
          </p:cNvPr>
          <p:cNvSpPr/>
          <p:nvPr/>
        </p:nvSpPr>
        <p:spPr>
          <a:xfrm>
            <a:off x="4329628" y="14856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184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7" grpId="0" animBg="1"/>
      <p:bldP spid="7" grpId="1"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3567C-C4E0-6DCE-5AA3-755A9D4FF5EA}"/>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07365BDD-69D3-EB2A-47D5-C096E12BE4DB}"/>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7F731116-F434-542F-9DA9-BEBC4CA82AA2}"/>
              </a:ext>
            </a:extLst>
          </p:cNvPr>
          <p:cNvSpPr>
            <a:spLocks noGrp="1"/>
          </p:cNvSpPr>
          <p:nvPr>
            <p:ph type="title"/>
          </p:nvPr>
        </p:nvSpPr>
        <p:spPr/>
        <p:txBody>
          <a:bodyPr/>
          <a:lstStyle/>
          <a:p>
            <a:r>
              <a:rPr lang="en-US" dirty="0"/>
              <a:t>What else?</a:t>
            </a:r>
            <a:r>
              <a:rPr kumimoji="0" lang="en-US" sz="1200" b="0" i="0" u="none" strike="noStrike" kern="1200" cap="none" spc="0" normalizeH="0" baseline="0" noProof="0" dirty="0">
                <a:ln>
                  <a:noFill/>
                </a:ln>
                <a:solidFill>
                  <a:srgbClr val="022850"/>
                </a:solidFill>
                <a:effectLst/>
                <a:uLnTx/>
                <a:uFillTx/>
                <a:latin typeface="Helvetica" panose="020B0604020202020204" pitchFamily="34" charset="0"/>
                <a:ea typeface="+mj-ea"/>
                <a:cs typeface="Helvetica" panose="020B0604020202020204" pitchFamily="34" charset="0"/>
              </a:rPr>
              <a:t> (Not in syllabus)</a:t>
            </a:r>
            <a:endParaRPr lang="en-US" dirty="0"/>
          </a:p>
        </p:txBody>
      </p:sp>
      <p:sp>
        <p:nvSpPr>
          <p:cNvPr id="29" name="Content Placeholder 28">
            <a:extLst>
              <a:ext uri="{FF2B5EF4-FFF2-40B4-BE49-F238E27FC236}">
                <a16:creationId xmlns:a16="http://schemas.microsoft.com/office/drawing/2014/main" id="{62C160DF-D8BB-469E-B837-EDCF091BA92E}"/>
              </a:ext>
            </a:extLst>
          </p:cNvPr>
          <p:cNvSpPr>
            <a:spLocks noGrp="1"/>
          </p:cNvSpPr>
          <p:nvPr>
            <p:ph idx="13"/>
          </p:nvPr>
        </p:nvSpPr>
        <p:spPr/>
        <p:txBody>
          <a:bodyPr/>
          <a:lstStyle/>
          <a:p>
            <a:r>
              <a:rPr lang="en-US" dirty="0"/>
              <a:t> No requirement that the address should be the start of a function</a:t>
            </a:r>
          </a:p>
          <a:p>
            <a:r>
              <a:rPr lang="en-US" dirty="0"/>
              <a:t>Can “return” to the middle of a function</a:t>
            </a:r>
          </a:p>
          <a:p>
            <a:pPr lvl="1"/>
            <a:r>
              <a:rPr lang="en-US" dirty="0"/>
              <a:t>Just overwrite with the address of your choice</a:t>
            </a:r>
          </a:p>
        </p:txBody>
      </p:sp>
      <p:grpSp>
        <p:nvGrpSpPr>
          <p:cNvPr id="6" name="Group 5">
            <a:extLst>
              <a:ext uri="{FF2B5EF4-FFF2-40B4-BE49-F238E27FC236}">
                <a16:creationId xmlns:a16="http://schemas.microsoft.com/office/drawing/2014/main" id="{9DC9FF2D-BB72-1986-E22B-D8FEC297B67B}"/>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EDF6C7BD-92D6-4EDA-E0B9-987B5C6CF90A}"/>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2498406-60F2-A096-44EE-DB5E844E4798}"/>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FED94573-5317-23A4-587F-01B9A863D339}"/>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B995E00B-8255-9681-DA10-3807398EE836}"/>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BE7E6633-8832-E4FB-78B8-5C7B0FAEAC03}"/>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5BD23D81-478C-220B-FCE9-F843270439B2}"/>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FF14232D-0E7F-59B1-16AF-5A46CF10C7C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18B9BA1A-A3F4-79A3-0054-BF65EC2EB6B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CF0C7879-107E-C0F9-D174-CC9EA00853F4}"/>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60FB1F57-06C5-F397-4FFE-448D28619853}"/>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FCA0A1E5-787F-FC7D-9932-356E957D7D62}"/>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3F1CC1E2-29B6-F9DC-1CBF-ED501A021807}"/>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9B6050A9-03C5-A313-4067-D3CE0A8AE309}"/>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F9238E7C-0A08-984E-B16E-93E38A08A01D}"/>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13125F51-51B2-7F3C-BE32-B38DDE8E8D0C}"/>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D7E8062C-5721-7C57-00D6-FE42A7DCDA2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C2EC2932-2C75-91AD-760D-9BFF96562342}"/>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6805E7CB-912A-7741-5A57-32E0990EE21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BA80498A-F2F2-9559-D857-404CE0592FBC}"/>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61311B15-4020-4D50-E369-128687D5CFF9}"/>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DF07D2FE-1911-7389-E0C4-E76A635FBC0B}"/>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A4DA706F-0A7E-9568-1676-42CC15869DD0}"/>
              </a:ext>
            </a:extLst>
          </p:cNvPr>
          <p:cNvSpPr/>
          <p:nvPr/>
        </p:nvSpPr>
        <p:spPr>
          <a:xfrm>
            <a:off x="8374415" y="4179324"/>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26" name="Arrow: Up 25">
            <a:extLst>
              <a:ext uri="{FF2B5EF4-FFF2-40B4-BE49-F238E27FC236}">
                <a16:creationId xmlns:a16="http://schemas.microsoft.com/office/drawing/2014/main" id="{8FF3A460-E47D-F01E-D712-5B7E68AE7DC1}"/>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5F7C6E4B-9747-42F3-FA6F-B0E6EFCD2C34}"/>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
        <p:nvSpPr>
          <p:cNvPr id="33" name="Rectangle 32">
            <a:extLst>
              <a:ext uri="{FF2B5EF4-FFF2-40B4-BE49-F238E27FC236}">
                <a16:creationId xmlns:a16="http://schemas.microsoft.com/office/drawing/2014/main" id="{DC60662D-A9F9-CDB6-86D0-4B9152DD1556}"/>
              </a:ext>
            </a:extLst>
          </p:cNvPr>
          <p:cNvSpPr/>
          <p:nvPr/>
        </p:nvSpPr>
        <p:spPr>
          <a:xfrm>
            <a:off x="8041120" y="350605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003399"/>
                </a:solidFill>
              </a:rPr>
              <a:t>0x4012e4</a:t>
            </a:r>
            <a:endParaRPr lang="en-US" b="1" dirty="0">
              <a:solidFill>
                <a:srgbClr val="003399"/>
              </a:solidFill>
            </a:endParaRPr>
          </a:p>
        </p:txBody>
      </p:sp>
    </p:spTree>
    <p:extLst>
      <p:ext uri="{BB962C8B-B14F-4D97-AF65-F5344CB8AC3E}">
        <p14:creationId xmlns:p14="http://schemas.microsoft.com/office/powerpoint/2010/main" val="55247496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40AAD-89A8-9540-6573-AA0616EB0A0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4C104B8-F6D1-0ABF-1E8A-63D9860FD5A8}"/>
              </a:ext>
            </a:extLst>
          </p:cNvPr>
          <p:cNvSpPr>
            <a:spLocks noGrp="1"/>
          </p:cNvSpPr>
          <p:nvPr>
            <p:ph idx="1"/>
          </p:nvPr>
        </p:nvSpPr>
        <p:spPr>
          <a:xfrm>
            <a:off x="4792337" y="785004"/>
            <a:ext cx="7017589" cy="5046453"/>
          </a:xfrm>
        </p:spPr>
        <p:txBody>
          <a:bodyPr/>
          <a:lstStyle/>
          <a:p>
            <a:r>
              <a:rPr lang="en-US" dirty="0"/>
              <a:t>00000000004012e0 &lt;</a:t>
            </a:r>
            <a:r>
              <a:rPr lang="en-US" dirty="0" err="1"/>
              <a:t>super_secret_function</a:t>
            </a:r>
            <a:r>
              <a:rPr lang="en-US" dirty="0"/>
              <a:t>&gt;:</a:t>
            </a:r>
          </a:p>
          <a:p>
            <a:r>
              <a:rPr lang="en-US" dirty="0"/>
              <a:t>  4012e0:       55                      push   %</a:t>
            </a:r>
            <a:r>
              <a:rPr lang="en-US" dirty="0" err="1"/>
              <a:t>rbp</a:t>
            </a:r>
            <a:endParaRPr lang="en-US" dirty="0"/>
          </a:p>
          <a:p>
            <a:r>
              <a:rPr lang="en-US" dirty="0"/>
              <a:t>  4012e1:       48 89 e5                mov    %</a:t>
            </a:r>
            <a:r>
              <a:rPr lang="en-US" dirty="0" err="1"/>
              <a:t>rsp</a:t>
            </a:r>
            <a:r>
              <a:rPr lang="en-US" dirty="0"/>
              <a:t>,%</a:t>
            </a:r>
            <a:r>
              <a:rPr lang="en-US" dirty="0" err="1"/>
              <a:t>rbp</a:t>
            </a:r>
            <a:endParaRPr lang="en-US" dirty="0"/>
          </a:p>
          <a:p>
            <a:r>
              <a:rPr lang="en-US" dirty="0"/>
              <a:t>  4012e4:       48 bf 15 20 40 00 00    </a:t>
            </a:r>
            <a:r>
              <a:rPr lang="en-US" dirty="0" err="1"/>
              <a:t>movabs</a:t>
            </a:r>
            <a:r>
              <a:rPr lang="en-US" dirty="0"/>
              <a:t> $0x402015,%rdi</a:t>
            </a:r>
          </a:p>
          <a:p>
            <a:r>
              <a:rPr lang="en-US" dirty="0"/>
              <a:t>  4012eb:       00 00 00</a:t>
            </a:r>
          </a:p>
          <a:p>
            <a:r>
              <a:rPr lang="en-US" dirty="0"/>
              <a:t>  4012ee:       e8 3d </a:t>
            </a:r>
            <a:r>
              <a:rPr lang="en-US" dirty="0" err="1"/>
              <a:t>fd</a:t>
            </a:r>
            <a:r>
              <a:rPr lang="en-US" dirty="0"/>
              <a:t> ff </a:t>
            </a:r>
            <a:r>
              <a:rPr lang="en-US" dirty="0" err="1"/>
              <a:t>ff</a:t>
            </a:r>
            <a:r>
              <a:rPr lang="en-US" dirty="0"/>
              <a:t>          call   401030 &lt;</a:t>
            </a:r>
            <a:r>
              <a:rPr lang="en-US" dirty="0" err="1"/>
              <a:t>puts@plt</a:t>
            </a:r>
            <a:r>
              <a:rPr lang="en-US" dirty="0"/>
              <a:t>&gt;</a:t>
            </a:r>
          </a:p>
          <a:p>
            <a:r>
              <a:rPr lang="en-US" dirty="0"/>
              <a:t>  4012f3:       5d                      pop    %</a:t>
            </a:r>
            <a:r>
              <a:rPr lang="en-US" dirty="0" err="1"/>
              <a:t>rbp</a:t>
            </a:r>
            <a:endParaRPr lang="en-US" dirty="0"/>
          </a:p>
          <a:p>
            <a:r>
              <a:rPr lang="en-US" dirty="0"/>
              <a:t>  4012f4:       c3                      ret</a:t>
            </a:r>
          </a:p>
          <a:p>
            <a:r>
              <a:rPr lang="en-US" dirty="0"/>
              <a:t>  4012f5:       66 2e 0f 1f 84 00 00    cs </a:t>
            </a:r>
            <a:r>
              <a:rPr lang="en-US" dirty="0" err="1"/>
              <a:t>nopw</a:t>
            </a:r>
            <a:r>
              <a:rPr lang="en-US" dirty="0"/>
              <a:t> 0x0(%rax,%rax,1)</a:t>
            </a:r>
          </a:p>
          <a:p>
            <a:r>
              <a:rPr lang="en-US" dirty="0"/>
              <a:t>  4012fc:       00 00 00</a:t>
            </a:r>
          </a:p>
          <a:p>
            <a:r>
              <a:rPr lang="en-US" dirty="0"/>
              <a:t>  4012ff:       90                      </a:t>
            </a:r>
            <a:r>
              <a:rPr lang="en-US" dirty="0" err="1"/>
              <a:t>nop</a:t>
            </a:r>
            <a:endParaRPr lang="en-US" dirty="0"/>
          </a:p>
        </p:txBody>
      </p:sp>
      <p:sp>
        <p:nvSpPr>
          <p:cNvPr id="4" name="Title 3">
            <a:extLst>
              <a:ext uri="{FF2B5EF4-FFF2-40B4-BE49-F238E27FC236}">
                <a16:creationId xmlns:a16="http://schemas.microsoft.com/office/drawing/2014/main" id="{B1D284FB-78E9-2CA3-E75D-0757986EFE83}"/>
              </a:ext>
            </a:extLst>
          </p:cNvPr>
          <p:cNvSpPr>
            <a:spLocks noGrp="1"/>
          </p:cNvSpPr>
          <p:nvPr>
            <p:ph type="title"/>
          </p:nvPr>
        </p:nvSpPr>
        <p:spPr/>
        <p:txBody>
          <a:bodyPr/>
          <a:lstStyle/>
          <a:p>
            <a:r>
              <a:rPr lang="en-US" dirty="0"/>
              <a:t>What else?</a:t>
            </a:r>
            <a:r>
              <a:rPr kumimoji="0" lang="en-US" sz="1200" b="0" i="0" u="none" strike="noStrike" kern="1200" cap="none" spc="0" normalizeH="0" baseline="0" noProof="0" dirty="0">
                <a:ln>
                  <a:noFill/>
                </a:ln>
                <a:solidFill>
                  <a:srgbClr val="022850"/>
                </a:solidFill>
                <a:effectLst/>
                <a:uLnTx/>
                <a:uFillTx/>
                <a:latin typeface="Helvetica" panose="020B0604020202020204" pitchFamily="34" charset="0"/>
                <a:ea typeface="+mj-ea"/>
                <a:cs typeface="Helvetica" panose="020B0604020202020204" pitchFamily="34" charset="0"/>
              </a:rPr>
              <a:t> (Not in syllabus)</a:t>
            </a:r>
            <a:endParaRPr lang="en-US" dirty="0"/>
          </a:p>
        </p:txBody>
      </p:sp>
      <p:sp>
        <p:nvSpPr>
          <p:cNvPr id="6" name="Content Placeholder 5">
            <a:extLst>
              <a:ext uri="{FF2B5EF4-FFF2-40B4-BE49-F238E27FC236}">
                <a16:creationId xmlns:a16="http://schemas.microsoft.com/office/drawing/2014/main" id="{EB2F1988-50AC-A6A0-3E3F-AB551C3F6A55}"/>
              </a:ext>
            </a:extLst>
          </p:cNvPr>
          <p:cNvSpPr>
            <a:spLocks noGrp="1"/>
          </p:cNvSpPr>
          <p:nvPr>
            <p:ph idx="13"/>
          </p:nvPr>
        </p:nvSpPr>
        <p:spPr>
          <a:xfrm>
            <a:off x="382075" y="785004"/>
            <a:ext cx="4123824" cy="5046453"/>
          </a:xfrm>
        </p:spPr>
        <p:txBody>
          <a:bodyPr/>
          <a:lstStyle/>
          <a:p>
            <a:r>
              <a:rPr lang="en-US" dirty="0"/>
              <a:t>On x86</a:t>
            </a:r>
          </a:p>
          <a:p>
            <a:pPr lvl="1"/>
            <a:r>
              <a:rPr lang="en-US" dirty="0"/>
              <a:t>No requirement that the address should be the start of </a:t>
            </a:r>
            <a:r>
              <a:rPr lang="en-US" b="1" i="1" dirty="0"/>
              <a:t>an instruction!!</a:t>
            </a:r>
            <a:endParaRPr lang="en-US" dirty="0"/>
          </a:p>
        </p:txBody>
      </p:sp>
      <p:grpSp>
        <p:nvGrpSpPr>
          <p:cNvPr id="9" name="Group 8">
            <a:extLst>
              <a:ext uri="{FF2B5EF4-FFF2-40B4-BE49-F238E27FC236}">
                <a16:creationId xmlns:a16="http://schemas.microsoft.com/office/drawing/2014/main" id="{2D22F070-FF33-B202-BFCA-505199EA3D97}"/>
              </a:ext>
            </a:extLst>
          </p:cNvPr>
          <p:cNvGrpSpPr/>
          <p:nvPr/>
        </p:nvGrpSpPr>
        <p:grpSpPr>
          <a:xfrm>
            <a:off x="6879572" y="348138"/>
            <a:ext cx="430582" cy="1370493"/>
            <a:chOff x="6879572" y="348138"/>
            <a:chExt cx="430582" cy="1370493"/>
          </a:xfrm>
        </p:grpSpPr>
        <p:sp>
          <p:nvSpPr>
            <p:cNvPr id="7" name="Arrow: Right 6">
              <a:extLst>
                <a:ext uri="{FF2B5EF4-FFF2-40B4-BE49-F238E27FC236}">
                  <a16:creationId xmlns:a16="http://schemas.microsoft.com/office/drawing/2014/main" id="{3BE82624-FB69-B76E-98DE-17221F786E2B}"/>
                </a:ext>
              </a:extLst>
            </p:cNvPr>
            <p:cNvSpPr/>
            <p:nvPr/>
          </p:nvSpPr>
          <p:spPr>
            <a:xfrm rot="5400000">
              <a:off x="6632154" y="5955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C1E7AF79-E8AD-E2F6-EFD2-D12CFEF04766}"/>
                </a:ext>
              </a:extLst>
            </p:cNvPr>
            <p:cNvCxnSpPr>
              <a:cxnSpLocks/>
            </p:cNvCxnSpPr>
            <p:nvPr/>
          </p:nvCxnSpPr>
          <p:spPr>
            <a:xfrm>
              <a:off x="6934656" y="1145754"/>
              <a:ext cx="0" cy="572877"/>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77585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992E9-0938-2408-C4A1-F40990B2705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7B7CC3-44F5-C30E-38F0-521792B463FE}"/>
              </a:ext>
            </a:extLst>
          </p:cNvPr>
          <p:cNvSpPr>
            <a:spLocks noGrp="1"/>
          </p:cNvSpPr>
          <p:nvPr>
            <p:ph idx="1"/>
          </p:nvPr>
        </p:nvSpPr>
        <p:spPr>
          <a:xfrm>
            <a:off x="4792337" y="785004"/>
            <a:ext cx="7017589" cy="5046453"/>
          </a:xfrm>
        </p:spPr>
        <p:txBody>
          <a:bodyPr/>
          <a:lstStyle/>
          <a:p>
            <a:r>
              <a:rPr lang="en-US" dirty="0"/>
              <a:t>00000000004012e0 &lt;</a:t>
            </a:r>
            <a:r>
              <a:rPr lang="en-US" dirty="0" err="1"/>
              <a:t>super_secret_function</a:t>
            </a:r>
            <a:r>
              <a:rPr lang="en-US" dirty="0"/>
              <a:t>&gt;:</a:t>
            </a:r>
          </a:p>
          <a:p>
            <a:r>
              <a:rPr lang="en-US" dirty="0"/>
              <a:t>  4012e0:       55                      push   %</a:t>
            </a:r>
            <a:r>
              <a:rPr lang="en-US" dirty="0" err="1"/>
              <a:t>rbp</a:t>
            </a:r>
            <a:endParaRPr lang="en-US" dirty="0"/>
          </a:p>
          <a:p>
            <a:r>
              <a:rPr lang="en-US" dirty="0"/>
              <a:t>  4012e1:       48 89 e5                mov    %</a:t>
            </a:r>
            <a:r>
              <a:rPr lang="en-US" dirty="0" err="1"/>
              <a:t>rsp</a:t>
            </a:r>
            <a:r>
              <a:rPr lang="en-US" dirty="0"/>
              <a:t>,%</a:t>
            </a:r>
            <a:r>
              <a:rPr lang="en-US" dirty="0" err="1"/>
              <a:t>rbp</a:t>
            </a:r>
            <a:endParaRPr lang="en-US" dirty="0"/>
          </a:p>
          <a:p>
            <a:r>
              <a:rPr lang="en-US" dirty="0"/>
              <a:t>  4012e4:       48 bf 15 20 40 00 00    </a:t>
            </a:r>
            <a:r>
              <a:rPr lang="en-US" dirty="0" err="1"/>
              <a:t>movabs</a:t>
            </a:r>
            <a:r>
              <a:rPr lang="en-US" dirty="0"/>
              <a:t> $0x402015,%rdi</a:t>
            </a:r>
          </a:p>
          <a:p>
            <a:r>
              <a:rPr lang="en-US" dirty="0"/>
              <a:t>  4012eb:       00 00 00</a:t>
            </a:r>
          </a:p>
          <a:p>
            <a:r>
              <a:rPr lang="en-US" dirty="0"/>
              <a:t>  4012ee:       e8 3d </a:t>
            </a:r>
            <a:r>
              <a:rPr lang="en-US" dirty="0" err="1"/>
              <a:t>fd</a:t>
            </a:r>
            <a:r>
              <a:rPr lang="en-US" dirty="0"/>
              <a:t> ff </a:t>
            </a:r>
            <a:r>
              <a:rPr lang="en-US" dirty="0" err="1"/>
              <a:t>ff</a:t>
            </a:r>
            <a:r>
              <a:rPr lang="en-US" dirty="0"/>
              <a:t>          call   401030 &lt;</a:t>
            </a:r>
            <a:r>
              <a:rPr lang="en-US" dirty="0" err="1"/>
              <a:t>puts@plt</a:t>
            </a:r>
            <a:r>
              <a:rPr lang="en-US" dirty="0"/>
              <a:t>&gt;</a:t>
            </a:r>
          </a:p>
          <a:p>
            <a:r>
              <a:rPr lang="en-US" dirty="0"/>
              <a:t>  4012f3:       5d                      pop    %</a:t>
            </a:r>
            <a:r>
              <a:rPr lang="en-US" dirty="0" err="1"/>
              <a:t>rbp</a:t>
            </a:r>
            <a:endParaRPr lang="en-US" dirty="0"/>
          </a:p>
          <a:p>
            <a:r>
              <a:rPr lang="en-US" dirty="0"/>
              <a:t>  4012f4:       c3                      ret</a:t>
            </a:r>
          </a:p>
          <a:p>
            <a:r>
              <a:rPr lang="en-US" dirty="0"/>
              <a:t>  4012f5:       66 2e 0f 1f 84 00 00    cs </a:t>
            </a:r>
            <a:r>
              <a:rPr lang="en-US" dirty="0" err="1"/>
              <a:t>nopw</a:t>
            </a:r>
            <a:r>
              <a:rPr lang="en-US" dirty="0"/>
              <a:t> 0x0(%rax,%rax,1)</a:t>
            </a:r>
          </a:p>
          <a:p>
            <a:r>
              <a:rPr lang="en-US" dirty="0"/>
              <a:t>  4012fc:       00 00 00</a:t>
            </a:r>
          </a:p>
          <a:p>
            <a:r>
              <a:rPr lang="en-US" dirty="0"/>
              <a:t>  4012ff:       90                      </a:t>
            </a:r>
            <a:r>
              <a:rPr lang="en-US" dirty="0" err="1"/>
              <a:t>nop</a:t>
            </a:r>
            <a:endParaRPr lang="en-US" dirty="0"/>
          </a:p>
        </p:txBody>
      </p:sp>
      <p:sp>
        <p:nvSpPr>
          <p:cNvPr id="4" name="Title 3">
            <a:extLst>
              <a:ext uri="{FF2B5EF4-FFF2-40B4-BE49-F238E27FC236}">
                <a16:creationId xmlns:a16="http://schemas.microsoft.com/office/drawing/2014/main" id="{9712E34D-F9A3-B570-A127-92CAA5FF15F1}"/>
              </a:ext>
            </a:extLst>
          </p:cNvPr>
          <p:cNvSpPr>
            <a:spLocks noGrp="1"/>
          </p:cNvSpPr>
          <p:nvPr>
            <p:ph type="title"/>
          </p:nvPr>
        </p:nvSpPr>
        <p:spPr/>
        <p:txBody>
          <a:bodyPr/>
          <a:lstStyle/>
          <a:p>
            <a:r>
              <a:rPr lang="en-US" dirty="0"/>
              <a:t>What else?</a:t>
            </a:r>
            <a:r>
              <a:rPr kumimoji="0" lang="en-US" sz="1200" b="0" i="0" u="none" strike="noStrike" kern="1200" cap="none" spc="0" normalizeH="0" baseline="0" noProof="0" dirty="0">
                <a:ln>
                  <a:noFill/>
                </a:ln>
                <a:solidFill>
                  <a:srgbClr val="022850"/>
                </a:solidFill>
                <a:effectLst/>
                <a:uLnTx/>
                <a:uFillTx/>
                <a:latin typeface="Helvetica" panose="020B0604020202020204" pitchFamily="34" charset="0"/>
                <a:ea typeface="+mj-ea"/>
                <a:cs typeface="Helvetica" panose="020B0604020202020204" pitchFamily="34" charset="0"/>
              </a:rPr>
              <a:t> (Not in syllabus)</a:t>
            </a:r>
            <a:endParaRPr lang="en-US" dirty="0"/>
          </a:p>
        </p:txBody>
      </p:sp>
      <p:grpSp>
        <p:nvGrpSpPr>
          <p:cNvPr id="9" name="Group 8">
            <a:extLst>
              <a:ext uri="{FF2B5EF4-FFF2-40B4-BE49-F238E27FC236}">
                <a16:creationId xmlns:a16="http://schemas.microsoft.com/office/drawing/2014/main" id="{B78DE311-A47F-9981-1DB1-B83C4ED0C483}"/>
              </a:ext>
            </a:extLst>
          </p:cNvPr>
          <p:cNvGrpSpPr/>
          <p:nvPr/>
        </p:nvGrpSpPr>
        <p:grpSpPr>
          <a:xfrm>
            <a:off x="6879572" y="348138"/>
            <a:ext cx="430582" cy="1370493"/>
            <a:chOff x="6879572" y="348138"/>
            <a:chExt cx="430582" cy="1370493"/>
          </a:xfrm>
        </p:grpSpPr>
        <p:sp>
          <p:nvSpPr>
            <p:cNvPr id="7" name="Arrow: Right 6">
              <a:extLst>
                <a:ext uri="{FF2B5EF4-FFF2-40B4-BE49-F238E27FC236}">
                  <a16:creationId xmlns:a16="http://schemas.microsoft.com/office/drawing/2014/main" id="{9B09F8FF-920B-C866-39BB-7A1702DA53CB}"/>
                </a:ext>
              </a:extLst>
            </p:cNvPr>
            <p:cNvSpPr/>
            <p:nvPr/>
          </p:nvSpPr>
          <p:spPr>
            <a:xfrm rot="5400000">
              <a:off x="6632154" y="5955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6E5B0C5F-C752-C5E8-013A-86F446AE0430}"/>
                </a:ext>
              </a:extLst>
            </p:cNvPr>
            <p:cNvCxnSpPr>
              <a:cxnSpLocks/>
            </p:cNvCxnSpPr>
            <p:nvPr/>
          </p:nvCxnSpPr>
          <p:spPr>
            <a:xfrm>
              <a:off x="6934656" y="1145754"/>
              <a:ext cx="0" cy="572877"/>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Content Placeholder 1">
            <a:extLst>
              <a:ext uri="{FF2B5EF4-FFF2-40B4-BE49-F238E27FC236}">
                <a16:creationId xmlns:a16="http://schemas.microsoft.com/office/drawing/2014/main" id="{D878B183-9B60-F0D5-7DF3-4ECC672BA272}"/>
              </a:ext>
            </a:extLst>
          </p:cNvPr>
          <p:cNvSpPr>
            <a:spLocks noGrp="1"/>
          </p:cNvSpPr>
          <p:nvPr>
            <p:ph idx="13"/>
          </p:nvPr>
        </p:nvSpPr>
        <p:spPr/>
        <p:txBody>
          <a:bodyPr/>
          <a:lstStyle/>
          <a:p>
            <a:endParaRPr lang="en-US"/>
          </a:p>
        </p:txBody>
      </p:sp>
      <p:grpSp>
        <p:nvGrpSpPr>
          <p:cNvPr id="8" name="Group 7">
            <a:extLst>
              <a:ext uri="{FF2B5EF4-FFF2-40B4-BE49-F238E27FC236}">
                <a16:creationId xmlns:a16="http://schemas.microsoft.com/office/drawing/2014/main" id="{B988F500-7EF4-7FDD-61C5-34F1AD177878}"/>
              </a:ext>
            </a:extLst>
          </p:cNvPr>
          <p:cNvGrpSpPr/>
          <p:nvPr/>
        </p:nvGrpSpPr>
        <p:grpSpPr>
          <a:xfrm>
            <a:off x="-1543079" y="1718631"/>
            <a:ext cx="6791695" cy="4585616"/>
            <a:chOff x="5033991" y="724938"/>
            <a:chExt cx="6791695" cy="4585616"/>
          </a:xfrm>
        </p:grpSpPr>
        <p:cxnSp>
          <p:nvCxnSpPr>
            <p:cNvPr id="10" name="Straight Arrow Connector 9">
              <a:extLst>
                <a:ext uri="{FF2B5EF4-FFF2-40B4-BE49-F238E27FC236}">
                  <a16:creationId xmlns:a16="http://schemas.microsoft.com/office/drawing/2014/main" id="{58B043DA-DFA1-617D-AEBB-B6138842B30D}"/>
                </a:ext>
              </a:extLst>
            </p:cNvPr>
            <p:cNvCxnSpPr/>
            <p:nvPr/>
          </p:nvCxnSpPr>
          <p:spPr>
            <a:xfrm>
              <a:off x="7039778" y="724938"/>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2BB8F17-AF4D-5DF0-17CE-259DDFFFB611}"/>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2" name="Group 11">
              <a:extLst>
                <a:ext uri="{FF2B5EF4-FFF2-40B4-BE49-F238E27FC236}">
                  <a16:creationId xmlns:a16="http://schemas.microsoft.com/office/drawing/2014/main" id="{543D7084-9302-FE97-059A-844A6FF4B62D}"/>
                </a:ext>
              </a:extLst>
            </p:cNvPr>
            <p:cNvGrpSpPr/>
            <p:nvPr/>
          </p:nvGrpSpPr>
          <p:grpSpPr>
            <a:xfrm>
              <a:off x="7561385" y="914400"/>
              <a:ext cx="4264301" cy="4396154"/>
              <a:chOff x="7561385" y="914400"/>
              <a:chExt cx="4264301" cy="4396154"/>
            </a:xfrm>
          </p:grpSpPr>
          <p:sp>
            <p:nvSpPr>
              <p:cNvPr id="13" name="TextBox 12">
                <a:extLst>
                  <a:ext uri="{FF2B5EF4-FFF2-40B4-BE49-F238E27FC236}">
                    <a16:creationId xmlns:a16="http://schemas.microsoft.com/office/drawing/2014/main" id="{94F8C7CD-4495-A192-E696-85E190AC17B2}"/>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4" name="TextBox 13">
                <a:extLst>
                  <a:ext uri="{FF2B5EF4-FFF2-40B4-BE49-F238E27FC236}">
                    <a16:creationId xmlns:a16="http://schemas.microsoft.com/office/drawing/2014/main" id="{AC9D8B3E-FC62-2F85-9CA7-13B3CC88D062}"/>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5" name="TextBox 14">
                <a:extLst>
                  <a:ext uri="{FF2B5EF4-FFF2-40B4-BE49-F238E27FC236}">
                    <a16:creationId xmlns:a16="http://schemas.microsoft.com/office/drawing/2014/main" id="{98C1A5A0-D57B-9909-7982-76CE742F308F}"/>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6" name="TextBox 15">
                <a:extLst>
                  <a:ext uri="{FF2B5EF4-FFF2-40B4-BE49-F238E27FC236}">
                    <a16:creationId xmlns:a16="http://schemas.microsoft.com/office/drawing/2014/main" id="{8EF1D180-B37F-96D2-0607-2FF3CE6E9FE4}"/>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7" name="TextBox 16">
                <a:extLst>
                  <a:ext uri="{FF2B5EF4-FFF2-40B4-BE49-F238E27FC236}">
                    <a16:creationId xmlns:a16="http://schemas.microsoft.com/office/drawing/2014/main" id="{1B879915-4D9D-F6A0-35C3-432A9F6E19B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8" name="Group 17">
                <a:extLst>
                  <a:ext uri="{FF2B5EF4-FFF2-40B4-BE49-F238E27FC236}">
                    <a16:creationId xmlns:a16="http://schemas.microsoft.com/office/drawing/2014/main" id="{4064FB63-7B6F-F4B0-C354-3634E8AF7FB3}"/>
                  </a:ext>
                </a:extLst>
              </p:cNvPr>
              <p:cNvGrpSpPr/>
              <p:nvPr/>
            </p:nvGrpSpPr>
            <p:grpSpPr>
              <a:xfrm>
                <a:off x="7561385" y="914400"/>
                <a:ext cx="2942492" cy="4396154"/>
                <a:chOff x="6822831" y="973015"/>
                <a:chExt cx="2942492" cy="4396154"/>
              </a:xfrm>
            </p:grpSpPr>
            <p:grpSp>
              <p:nvGrpSpPr>
                <p:cNvPr id="19" name="Group 18">
                  <a:extLst>
                    <a:ext uri="{FF2B5EF4-FFF2-40B4-BE49-F238E27FC236}">
                      <a16:creationId xmlns:a16="http://schemas.microsoft.com/office/drawing/2014/main" id="{B896632C-B953-AED6-82CC-AAD80B53EBB3}"/>
                    </a:ext>
                  </a:extLst>
                </p:cNvPr>
                <p:cNvGrpSpPr/>
                <p:nvPr/>
              </p:nvGrpSpPr>
              <p:grpSpPr>
                <a:xfrm>
                  <a:off x="6822831" y="973015"/>
                  <a:ext cx="2942492" cy="4396154"/>
                  <a:chOff x="6822831" y="973015"/>
                  <a:chExt cx="2942492" cy="4396154"/>
                </a:xfrm>
              </p:grpSpPr>
              <p:cxnSp>
                <p:nvCxnSpPr>
                  <p:cNvPr id="25" name="Straight Connector 24">
                    <a:extLst>
                      <a:ext uri="{FF2B5EF4-FFF2-40B4-BE49-F238E27FC236}">
                        <a16:creationId xmlns:a16="http://schemas.microsoft.com/office/drawing/2014/main" id="{233380D2-2D88-2652-F219-013DFF3B776F}"/>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6F73FCC3-D3A6-D829-AD32-A6FF22C4CDDF}"/>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06DB9DAD-F1BB-6EE9-CF78-9C31E1A4FAC5}"/>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0" name="Straight Connector 19">
                  <a:extLst>
                    <a:ext uri="{FF2B5EF4-FFF2-40B4-BE49-F238E27FC236}">
                      <a16:creationId xmlns:a16="http://schemas.microsoft.com/office/drawing/2014/main" id="{04089AE6-0B6A-C43E-8E7B-C6B35DA5D760}"/>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686AC7A9-0960-94DF-85AE-C1D1A0906F7A}"/>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A71B40FA-B311-DAD8-ADD9-5EC384FC7DB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3" name="Straight Connector 22">
                  <a:extLst>
                    <a:ext uri="{FF2B5EF4-FFF2-40B4-BE49-F238E27FC236}">
                      <a16:creationId xmlns:a16="http://schemas.microsoft.com/office/drawing/2014/main" id="{3AE98505-3E51-B166-C7B0-29A97F35A12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C2F098B0-F25F-4806-185B-91847ADDA765}"/>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8" name="Rectangle 27">
            <a:extLst>
              <a:ext uri="{FF2B5EF4-FFF2-40B4-BE49-F238E27FC236}">
                <a16:creationId xmlns:a16="http://schemas.microsoft.com/office/drawing/2014/main" id="{91D673DC-1AF9-989F-A328-82C2AE4C3D84}"/>
              </a:ext>
            </a:extLst>
          </p:cNvPr>
          <p:cNvSpPr/>
          <p:nvPr/>
        </p:nvSpPr>
        <p:spPr>
          <a:xfrm>
            <a:off x="1553378" y="1971323"/>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29" name="Rectangle 28">
            <a:extLst>
              <a:ext uri="{FF2B5EF4-FFF2-40B4-BE49-F238E27FC236}">
                <a16:creationId xmlns:a16="http://schemas.microsoft.com/office/drawing/2014/main" id="{3CE9422D-F99D-DEC0-9302-93E0EE8AFA35}"/>
              </a:ext>
            </a:extLst>
          </p:cNvPr>
          <p:cNvSpPr/>
          <p:nvPr/>
        </p:nvSpPr>
        <p:spPr>
          <a:xfrm>
            <a:off x="1553378" y="2607060"/>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30" name="Rectangle 29">
            <a:extLst>
              <a:ext uri="{FF2B5EF4-FFF2-40B4-BE49-F238E27FC236}">
                <a16:creationId xmlns:a16="http://schemas.microsoft.com/office/drawing/2014/main" id="{69331C2D-95E8-FC13-0233-5643B7348016}"/>
              </a:ext>
            </a:extLst>
          </p:cNvPr>
          <p:cNvSpPr/>
          <p:nvPr/>
        </p:nvSpPr>
        <p:spPr>
          <a:xfrm>
            <a:off x="1188629" y="3253311"/>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1" name="Rectangle 30">
            <a:extLst>
              <a:ext uri="{FF2B5EF4-FFF2-40B4-BE49-F238E27FC236}">
                <a16:creationId xmlns:a16="http://schemas.microsoft.com/office/drawing/2014/main" id="{F581485F-3D19-800D-905A-D6C58254FB4D}"/>
              </a:ext>
            </a:extLst>
          </p:cNvPr>
          <p:cNvSpPr/>
          <p:nvPr/>
        </p:nvSpPr>
        <p:spPr>
          <a:xfrm>
            <a:off x="1521923" y="3936953"/>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32" name="Arrow: Up 31">
            <a:extLst>
              <a:ext uri="{FF2B5EF4-FFF2-40B4-BE49-F238E27FC236}">
                <a16:creationId xmlns:a16="http://schemas.microsoft.com/office/drawing/2014/main" id="{1981C3E8-1BF3-1894-86E3-17AE1189859D}"/>
              </a:ext>
            </a:extLst>
          </p:cNvPr>
          <p:cNvSpPr/>
          <p:nvPr/>
        </p:nvSpPr>
        <p:spPr>
          <a:xfrm>
            <a:off x="462708" y="3253310"/>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6CC62748-72DF-DF28-89AE-E6A8CB75FC5D}"/>
              </a:ext>
            </a:extLst>
          </p:cNvPr>
          <p:cNvSpPr txBox="1"/>
          <p:nvPr/>
        </p:nvSpPr>
        <p:spPr>
          <a:xfrm>
            <a:off x="305956" y="5304079"/>
            <a:ext cx="1356718" cy="461665"/>
          </a:xfrm>
          <a:prstGeom prst="rect">
            <a:avLst/>
          </a:prstGeom>
          <a:noFill/>
        </p:spPr>
        <p:txBody>
          <a:bodyPr wrap="none" rtlCol="0">
            <a:spAutoFit/>
          </a:bodyPr>
          <a:lstStyle/>
          <a:p>
            <a:r>
              <a:rPr lang="en-US" sz="2400" b="1" i="1" dirty="0"/>
              <a:t>Overflow</a:t>
            </a:r>
            <a:endParaRPr lang="en-US" b="1" i="1" dirty="0"/>
          </a:p>
        </p:txBody>
      </p:sp>
      <p:sp>
        <p:nvSpPr>
          <p:cNvPr id="34" name="Rectangle 33">
            <a:extLst>
              <a:ext uri="{FF2B5EF4-FFF2-40B4-BE49-F238E27FC236}">
                <a16:creationId xmlns:a16="http://schemas.microsoft.com/office/drawing/2014/main" id="{CF4FD8E1-E679-8D73-BB3F-AA14282FB9DC}"/>
              </a:ext>
            </a:extLst>
          </p:cNvPr>
          <p:cNvSpPr/>
          <p:nvPr/>
        </p:nvSpPr>
        <p:spPr>
          <a:xfrm>
            <a:off x="1188628" y="3263681"/>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003399"/>
                </a:solidFill>
              </a:rPr>
              <a:t>0x4012e2</a:t>
            </a:r>
            <a:endParaRPr lang="en-US" b="1" dirty="0">
              <a:solidFill>
                <a:srgbClr val="003399"/>
              </a:solidFill>
            </a:endParaRPr>
          </a:p>
        </p:txBody>
      </p:sp>
    </p:spTree>
    <p:extLst>
      <p:ext uri="{BB962C8B-B14F-4D97-AF65-F5344CB8AC3E}">
        <p14:creationId xmlns:p14="http://schemas.microsoft.com/office/powerpoint/2010/main" val="3169523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2A19955-4075-AFF8-53C2-82A1A40D1942}"/>
              </a:ext>
            </a:extLst>
          </p:cNvPr>
          <p:cNvSpPr>
            <a:spLocks noGrp="1"/>
          </p:cNvSpPr>
          <p:nvPr>
            <p:ph idx="1"/>
          </p:nvPr>
        </p:nvSpPr>
        <p:spPr/>
        <p:txBody>
          <a:bodyPr>
            <a:normAutofit/>
          </a:bodyPr>
          <a:lstStyle/>
          <a:p>
            <a:r>
              <a:rPr lang="en-US" dirty="0"/>
              <a:t>58 5a 5e c3 5f c3 ff e0 c3 ff d0 c3 89 c2 c3 89 c1 c3 31 c0 c3 83 c0 04 c3 90 90 90 90 90 90 90 90 90 90 c3 cc c3</a:t>
            </a:r>
          </a:p>
        </p:txBody>
      </p:sp>
      <p:sp>
        <p:nvSpPr>
          <p:cNvPr id="3" name="Title 2">
            <a:extLst>
              <a:ext uri="{FF2B5EF4-FFF2-40B4-BE49-F238E27FC236}">
                <a16:creationId xmlns:a16="http://schemas.microsoft.com/office/drawing/2014/main" id="{6B7858A8-BD4B-E20F-0249-6CA24D0B9067}"/>
              </a:ext>
            </a:extLst>
          </p:cNvPr>
          <p:cNvSpPr>
            <a:spLocks noGrp="1"/>
          </p:cNvSpPr>
          <p:nvPr>
            <p:ph type="title"/>
          </p:nvPr>
        </p:nvSpPr>
        <p:spPr/>
        <p:txBody>
          <a:bodyPr/>
          <a:lstStyle/>
          <a:p>
            <a:r>
              <a:rPr lang="en-US" dirty="0"/>
              <a:t>Implications…</a:t>
            </a:r>
            <a:r>
              <a:rPr kumimoji="0" lang="en-US" sz="1200" b="0" i="0" u="none" strike="noStrike" kern="1200" cap="none" spc="0" normalizeH="0" baseline="0" noProof="0" dirty="0">
                <a:ln>
                  <a:noFill/>
                </a:ln>
                <a:solidFill>
                  <a:srgbClr val="022850"/>
                </a:solidFill>
                <a:effectLst/>
                <a:uLnTx/>
                <a:uFillTx/>
                <a:latin typeface="Helvetica" panose="020B0604020202020204" pitchFamily="34" charset="0"/>
                <a:ea typeface="+mj-ea"/>
                <a:cs typeface="Helvetica" panose="020B0604020202020204" pitchFamily="34" charset="0"/>
              </a:rPr>
              <a:t> (Not in syllabus)</a:t>
            </a:r>
            <a:endParaRPr lang="en-US" dirty="0"/>
          </a:p>
        </p:txBody>
      </p:sp>
      <p:sp>
        <p:nvSpPr>
          <p:cNvPr id="4" name="Content Placeholder 3">
            <a:extLst>
              <a:ext uri="{FF2B5EF4-FFF2-40B4-BE49-F238E27FC236}">
                <a16:creationId xmlns:a16="http://schemas.microsoft.com/office/drawing/2014/main" id="{8454E251-FF2E-519E-E579-411DB1373732}"/>
              </a:ext>
            </a:extLst>
          </p:cNvPr>
          <p:cNvSpPr>
            <a:spLocks noGrp="1"/>
          </p:cNvSpPr>
          <p:nvPr>
            <p:ph idx="13"/>
          </p:nvPr>
        </p:nvSpPr>
        <p:spPr/>
        <p:txBody>
          <a:bodyPr>
            <a:normAutofit fontScale="85000" lnSpcReduction="20000"/>
          </a:bodyPr>
          <a:lstStyle/>
          <a:p>
            <a:r>
              <a:rPr lang="en-US" dirty="0"/>
              <a:t>Can hijack control flow to middle of a real instruction</a:t>
            </a:r>
          </a:p>
          <a:p>
            <a:r>
              <a:rPr lang="en-US" dirty="0"/>
              <a:t>From the attacker’s POV the program is a set of byte-sequence terminating in a return/jump</a:t>
            </a:r>
          </a:p>
          <a:p>
            <a:r>
              <a:rPr lang="en-US" dirty="0"/>
              <a:t>Return-oriented Programming (subset of control flow hijack attacks)</a:t>
            </a:r>
          </a:p>
          <a:p>
            <a:r>
              <a:rPr lang="en-US" dirty="0"/>
              <a:t>Such byte-sequence is known as “ROP gadget”</a:t>
            </a:r>
          </a:p>
          <a:p>
            <a:r>
              <a:rPr lang="en-US" dirty="0"/>
              <a:t>Can </a:t>
            </a:r>
            <a:r>
              <a:rPr lang="en-US" b="1" i="1" dirty="0"/>
              <a:t>chain</a:t>
            </a:r>
            <a:r>
              <a:rPr lang="en-US" dirty="0"/>
              <a:t> byte sequences to perform complex attacks</a:t>
            </a:r>
          </a:p>
        </p:txBody>
      </p:sp>
      <p:grpSp>
        <p:nvGrpSpPr>
          <p:cNvPr id="44" name="Group 43">
            <a:extLst>
              <a:ext uri="{FF2B5EF4-FFF2-40B4-BE49-F238E27FC236}">
                <a16:creationId xmlns:a16="http://schemas.microsoft.com/office/drawing/2014/main" id="{1D7945DE-1CDB-928B-9A6A-21D92BB7CDB6}"/>
              </a:ext>
            </a:extLst>
          </p:cNvPr>
          <p:cNvGrpSpPr/>
          <p:nvPr/>
        </p:nvGrpSpPr>
        <p:grpSpPr>
          <a:xfrm>
            <a:off x="6096000" y="787810"/>
            <a:ext cx="4061552" cy="638168"/>
            <a:chOff x="6096000" y="787810"/>
            <a:chExt cx="4061552" cy="638168"/>
          </a:xfrm>
        </p:grpSpPr>
        <p:sp>
          <p:nvSpPr>
            <p:cNvPr id="5" name="Rectangle 4">
              <a:extLst>
                <a:ext uri="{FF2B5EF4-FFF2-40B4-BE49-F238E27FC236}">
                  <a16:creationId xmlns:a16="http://schemas.microsoft.com/office/drawing/2014/main" id="{8E8B39C9-3DF8-3BAA-5771-256E1C79C26C}"/>
                </a:ext>
              </a:extLst>
            </p:cNvPr>
            <p:cNvSpPr/>
            <p:nvPr/>
          </p:nvSpPr>
          <p:spPr>
            <a:xfrm>
              <a:off x="6096000" y="787810"/>
              <a:ext cx="1498017" cy="349733"/>
            </a:xfrm>
            <a:prstGeom prst="rect">
              <a:avLst/>
            </a:prstGeom>
            <a:noFill/>
            <a:ln w="254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6" name="Rectangle 5">
              <a:extLst>
                <a:ext uri="{FF2B5EF4-FFF2-40B4-BE49-F238E27FC236}">
                  <a16:creationId xmlns:a16="http://schemas.microsoft.com/office/drawing/2014/main" id="{6705B3B4-1DBC-0760-F0AE-3642F04986FA}"/>
                </a:ext>
              </a:extLst>
            </p:cNvPr>
            <p:cNvSpPr/>
            <p:nvPr/>
          </p:nvSpPr>
          <p:spPr>
            <a:xfrm>
              <a:off x="9221117" y="841950"/>
              <a:ext cx="936435" cy="184594"/>
            </a:xfrm>
            <a:prstGeom prst="rect">
              <a:avLst/>
            </a:prstGeom>
            <a:noFill/>
            <a:ln w="254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998D6549-11AF-08E0-D096-EB27F7393F29}"/>
                </a:ext>
              </a:extLst>
            </p:cNvPr>
            <p:cNvSpPr/>
            <p:nvPr/>
          </p:nvSpPr>
          <p:spPr>
            <a:xfrm>
              <a:off x="6955094" y="1051404"/>
              <a:ext cx="910949" cy="374574"/>
            </a:xfrm>
            <a:prstGeom prst="rect">
              <a:avLst/>
            </a:prstGeom>
            <a:noFill/>
            <a:ln w="254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nvGrpSpPr>
            <p:cNvPr id="27" name="Group 26">
              <a:extLst>
                <a:ext uri="{FF2B5EF4-FFF2-40B4-BE49-F238E27FC236}">
                  <a16:creationId xmlns:a16="http://schemas.microsoft.com/office/drawing/2014/main" id="{C3D30FC2-2680-2444-D053-E28B01933EA4}"/>
                </a:ext>
              </a:extLst>
            </p:cNvPr>
            <p:cNvGrpSpPr/>
            <p:nvPr/>
          </p:nvGrpSpPr>
          <p:grpSpPr>
            <a:xfrm>
              <a:off x="7594017" y="841950"/>
              <a:ext cx="2563535" cy="396741"/>
              <a:chOff x="7594017" y="841950"/>
              <a:chExt cx="2563535" cy="396741"/>
            </a:xfrm>
          </p:grpSpPr>
          <p:cxnSp>
            <p:nvCxnSpPr>
              <p:cNvPr id="11" name="Connector: Curved 10">
                <a:extLst>
                  <a:ext uri="{FF2B5EF4-FFF2-40B4-BE49-F238E27FC236}">
                    <a16:creationId xmlns:a16="http://schemas.microsoft.com/office/drawing/2014/main" id="{B149532A-FC72-4B83-606C-10AB1CDBF98E}"/>
                  </a:ext>
                </a:extLst>
              </p:cNvPr>
              <p:cNvCxnSpPr>
                <a:cxnSpLocks/>
                <a:stCxn id="5" idx="3"/>
                <a:endCxn id="6" idx="0"/>
              </p:cNvCxnSpPr>
              <p:nvPr/>
            </p:nvCxnSpPr>
            <p:spPr>
              <a:xfrm flipV="1">
                <a:off x="7594017" y="841950"/>
                <a:ext cx="2095318" cy="120727"/>
              </a:xfrm>
              <a:prstGeom prst="curvedConnector4">
                <a:avLst>
                  <a:gd name="adj1" fmla="val 38827"/>
                  <a:gd name="adj2" fmla="val 334198"/>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Curved 11">
                <a:extLst>
                  <a:ext uri="{FF2B5EF4-FFF2-40B4-BE49-F238E27FC236}">
                    <a16:creationId xmlns:a16="http://schemas.microsoft.com/office/drawing/2014/main" id="{4918D978-BE8B-3E4E-A090-BC7A34D0CF97}"/>
                  </a:ext>
                </a:extLst>
              </p:cNvPr>
              <p:cNvCxnSpPr>
                <a:cxnSpLocks/>
                <a:stCxn id="6" idx="3"/>
                <a:endCxn id="7" idx="3"/>
              </p:cNvCxnSpPr>
              <p:nvPr/>
            </p:nvCxnSpPr>
            <p:spPr>
              <a:xfrm flipH="1">
                <a:off x="7866043" y="934247"/>
                <a:ext cx="2291509" cy="304444"/>
              </a:xfrm>
              <a:prstGeom prst="curvedConnector3">
                <a:avLst>
                  <a:gd name="adj1" fmla="val -9976"/>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515590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B7C4A-8ADD-C95D-3D41-516DCC30C07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58843BB-9DB0-4C90-7DA4-A6F9A8DDDF33}"/>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F85EA52-292B-F6B7-EE88-F5BC7ADC25CB}"/>
              </a:ext>
            </a:extLst>
          </p:cNvPr>
          <p:cNvSpPr>
            <a:spLocks noGrp="1"/>
          </p:cNvSpPr>
          <p:nvPr>
            <p:ph type="title"/>
          </p:nvPr>
        </p:nvSpPr>
        <p:spPr/>
        <p:txBody>
          <a:bodyPr/>
          <a:lstStyle/>
          <a:p>
            <a:r>
              <a:rPr lang="en-US" dirty="0"/>
              <a:t>But isn’t all this too hard to exploit?</a:t>
            </a:r>
          </a:p>
        </p:txBody>
      </p:sp>
      <p:pic>
        <p:nvPicPr>
          <p:cNvPr id="3" name="Picture 2">
            <a:extLst>
              <a:ext uri="{FF2B5EF4-FFF2-40B4-BE49-F238E27FC236}">
                <a16:creationId xmlns:a16="http://schemas.microsoft.com/office/drawing/2014/main" id="{0D6FE321-CC23-4465-7E8D-F4587A36C9F5}"/>
              </a:ext>
            </a:extLst>
          </p:cNvPr>
          <p:cNvPicPr>
            <a:picLocks noChangeAspect="1"/>
          </p:cNvPicPr>
          <p:nvPr/>
        </p:nvPicPr>
        <p:blipFill>
          <a:blip r:embed="rId3"/>
          <a:stretch>
            <a:fillRect/>
          </a:stretch>
        </p:blipFill>
        <p:spPr>
          <a:xfrm>
            <a:off x="1403075" y="1128455"/>
            <a:ext cx="9364382" cy="3686689"/>
          </a:xfrm>
          <a:prstGeom prst="rect">
            <a:avLst/>
          </a:prstGeom>
        </p:spPr>
      </p:pic>
      <p:pic>
        <p:nvPicPr>
          <p:cNvPr id="7" name="Picture 6">
            <a:extLst>
              <a:ext uri="{FF2B5EF4-FFF2-40B4-BE49-F238E27FC236}">
                <a16:creationId xmlns:a16="http://schemas.microsoft.com/office/drawing/2014/main" id="{67002506-2131-677C-DBE0-9C4DDFC7E80A}"/>
              </a:ext>
            </a:extLst>
          </p:cNvPr>
          <p:cNvPicPr>
            <a:picLocks noChangeAspect="1"/>
          </p:cNvPicPr>
          <p:nvPr/>
        </p:nvPicPr>
        <p:blipFill>
          <a:blip r:embed="rId4"/>
          <a:stretch>
            <a:fillRect/>
          </a:stretch>
        </p:blipFill>
        <p:spPr>
          <a:xfrm>
            <a:off x="1243866" y="696277"/>
            <a:ext cx="9132034" cy="5062323"/>
          </a:xfrm>
          <a:prstGeom prst="rect">
            <a:avLst/>
          </a:prstGeom>
        </p:spPr>
      </p:pic>
      <p:pic>
        <p:nvPicPr>
          <p:cNvPr id="12" name="Picture 11">
            <a:extLst>
              <a:ext uri="{FF2B5EF4-FFF2-40B4-BE49-F238E27FC236}">
                <a16:creationId xmlns:a16="http://schemas.microsoft.com/office/drawing/2014/main" id="{FC7B56FD-1A7B-8AEC-C046-8D8A77175A9C}"/>
              </a:ext>
            </a:extLst>
          </p:cNvPr>
          <p:cNvPicPr>
            <a:picLocks noChangeAspect="1"/>
          </p:cNvPicPr>
          <p:nvPr/>
        </p:nvPicPr>
        <p:blipFill>
          <a:blip r:embed="rId5"/>
          <a:stretch>
            <a:fillRect/>
          </a:stretch>
        </p:blipFill>
        <p:spPr>
          <a:xfrm>
            <a:off x="1837730" y="623496"/>
            <a:ext cx="8516539" cy="5611008"/>
          </a:xfrm>
          <a:prstGeom prst="rect">
            <a:avLst/>
          </a:prstGeom>
        </p:spPr>
      </p:pic>
    </p:spTree>
    <p:extLst>
      <p:ext uri="{BB962C8B-B14F-4D97-AF65-F5344CB8AC3E}">
        <p14:creationId xmlns:p14="http://schemas.microsoft.com/office/powerpoint/2010/main" val="2085139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44A7A57-9572-2F96-3EDF-DFE91163524F}"/>
              </a:ext>
            </a:extLst>
          </p:cNvPr>
          <p:cNvSpPr>
            <a:spLocks noGrp="1"/>
          </p:cNvSpPr>
          <p:nvPr>
            <p:ph idx="1"/>
          </p:nvPr>
        </p:nvSpPr>
        <p:spPr/>
        <p:txBody>
          <a:bodyPr/>
          <a:lstStyle/>
          <a:p>
            <a:r>
              <a:rPr lang="en-US" dirty="0"/>
              <a:t>In 2025, the US Department of Defense (DoD) has been allocated approximately $30 billion for cybersecurity initiatives</a:t>
            </a:r>
          </a:p>
          <a:p>
            <a:pPr lvl="1"/>
            <a:r>
              <a:rPr lang="en-US" dirty="0"/>
              <a:t>Includes both defensive and offensive initiatives</a:t>
            </a:r>
          </a:p>
          <a:p>
            <a:r>
              <a:rPr lang="en-US" dirty="0"/>
              <a:t>2009-2010 Stuxnet attack disabled key part of Iranian nuclear program</a:t>
            </a:r>
          </a:p>
          <a:p>
            <a:endParaRPr lang="en-US" dirty="0"/>
          </a:p>
        </p:txBody>
      </p:sp>
      <p:sp>
        <p:nvSpPr>
          <p:cNvPr id="5" name="Title 4">
            <a:extLst>
              <a:ext uri="{FF2B5EF4-FFF2-40B4-BE49-F238E27FC236}">
                <a16:creationId xmlns:a16="http://schemas.microsoft.com/office/drawing/2014/main" id="{9E4F378D-D97B-D099-F8F4-2D05D027FCE7}"/>
              </a:ext>
            </a:extLst>
          </p:cNvPr>
          <p:cNvSpPr>
            <a:spLocks noGrp="1"/>
          </p:cNvSpPr>
          <p:nvPr>
            <p:ph type="title"/>
          </p:nvPr>
        </p:nvSpPr>
        <p:spPr/>
        <p:txBody>
          <a:bodyPr/>
          <a:lstStyle/>
          <a:p>
            <a:r>
              <a:rPr lang="en-US" dirty="0"/>
              <a:t>But isn’t all this too hard to exploit?</a:t>
            </a:r>
          </a:p>
        </p:txBody>
      </p:sp>
      <p:grpSp>
        <p:nvGrpSpPr>
          <p:cNvPr id="11" name="Group 10">
            <a:extLst>
              <a:ext uri="{FF2B5EF4-FFF2-40B4-BE49-F238E27FC236}">
                <a16:creationId xmlns:a16="http://schemas.microsoft.com/office/drawing/2014/main" id="{A99B7133-9ABD-F92F-4FCE-5828BD1891FC}"/>
              </a:ext>
            </a:extLst>
          </p:cNvPr>
          <p:cNvGrpSpPr/>
          <p:nvPr/>
        </p:nvGrpSpPr>
        <p:grpSpPr>
          <a:xfrm>
            <a:off x="6015416" y="5267124"/>
            <a:ext cx="6235700" cy="736861"/>
            <a:chOff x="6015416" y="5267124"/>
            <a:chExt cx="6235700" cy="736861"/>
          </a:xfrm>
        </p:grpSpPr>
        <p:sp>
          <p:nvSpPr>
            <p:cNvPr id="8" name="TextBox 7">
              <a:extLst>
                <a:ext uri="{FF2B5EF4-FFF2-40B4-BE49-F238E27FC236}">
                  <a16:creationId xmlns:a16="http://schemas.microsoft.com/office/drawing/2014/main" id="{3F7EE4FA-5A5A-B769-ECC9-6065999F78A6}"/>
                </a:ext>
              </a:extLst>
            </p:cNvPr>
            <p:cNvSpPr txBox="1"/>
            <p:nvPr/>
          </p:nvSpPr>
          <p:spPr>
            <a:xfrm>
              <a:off x="6015416" y="5267124"/>
              <a:ext cx="6096000" cy="430887"/>
            </a:xfrm>
            <a:prstGeom prst="rect">
              <a:avLst/>
            </a:prstGeom>
            <a:noFill/>
          </p:spPr>
          <p:txBody>
            <a:bodyPr wrap="square">
              <a:spAutoFit/>
            </a:bodyPr>
            <a:lstStyle/>
            <a:p>
              <a:r>
                <a:rPr lang="en-US" sz="1050" dirty="0"/>
                <a:t>https://www.csoonline.com/article/3632164/us-military-allocated-about-30-billion-to-spend-on-cybersecurity-in-2025.html</a:t>
              </a:r>
            </a:p>
          </p:txBody>
        </p:sp>
        <p:sp>
          <p:nvSpPr>
            <p:cNvPr id="10" name="TextBox 9">
              <a:extLst>
                <a:ext uri="{FF2B5EF4-FFF2-40B4-BE49-F238E27FC236}">
                  <a16:creationId xmlns:a16="http://schemas.microsoft.com/office/drawing/2014/main" id="{B92CDCDA-CA6B-3B57-6EBE-AF84635B75E8}"/>
                </a:ext>
              </a:extLst>
            </p:cNvPr>
            <p:cNvSpPr txBox="1"/>
            <p:nvPr/>
          </p:nvSpPr>
          <p:spPr>
            <a:xfrm>
              <a:off x="6015416" y="5742375"/>
              <a:ext cx="6235700" cy="261610"/>
            </a:xfrm>
            <a:prstGeom prst="rect">
              <a:avLst/>
            </a:prstGeom>
            <a:noFill/>
          </p:spPr>
          <p:txBody>
            <a:bodyPr wrap="square">
              <a:spAutoFit/>
            </a:bodyPr>
            <a:lstStyle/>
            <a:p>
              <a:r>
                <a:rPr lang="en-US" sz="1100" dirty="0"/>
                <a:t>https://www.csoonline.com/article/562691/stuxnet-explained-the-first-known-cyberweapon.html</a:t>
              </a:r>
            </a:p>
          </p:txBody>
        </p:sp>
      </p:grpSp>
    </p:spTree>
    <p:extLst>
      <p:ext uri="{BB962C8B-B14F-4D97-AF65-F5344CB8AC3E}">
        <p14:creationId xmlns:p14="http://schemas.microsoft.com/office/powerpoint/2010/main" val="3493769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98DC431B-F7CC-9A97-40CF-C25C0B0B9F4A}"/>
              </a:ext>
            </a:extLst>
          </p:cNvPr>
          <p:cNvSpPr>
            <a:spLocks noGrp="1"/>
          </p:cNvSpPr>
          <p:nvPr>
            <p:ph idx="1"/>
          </p:nvPr>
        </p:nvSpPr>
        <p:spPr/>
        <p:txBody>
          <a:bodyPr/>
          <a:lstStyle/>
          <a:p>
            <a:r>
              <a:rPr lang="en-US" dirty="0"/>
              <a:t>Heap memory used for dynamic memory allocation</a:t>
            </a:r>
          </a:p>
          <a:p>
            <a:pPr lvl="1"/>
            <a:r>
              <a:rPr lang="en-US" dirty="0">
                <a:latin typeface="Consolas" panose="020B0609020204030204" pitchFamily="49" charset="0"/>
              </a:rPr>
              <a:t>char* p = malloc(1024);</a:t>
            </a:r>
          </a:p>
          <a:p>
            <a:pPr lvl="1"/>
            <a:r>
              <a:rPr lang="en-US" dirty="0">
                <a:latin typeface="Consolas" panose="020B0609020204030204" pitchFamily="49" charset="0"/>
              </a:rPr>
              <a:t>free(p);</a:t>
            </a:r>
          </a:p>
          <a:p>
            <a:pPr lvl="1"/>
            <a:r>
              <a:rPr lang="en-US" dirty="0">
                <a:latin typeface="Consolas" panose="020B0609020204030204" pitchFamily="49" charset="0"/>
              </a:rPr>
              <a:t>char* s = malloc(128);</a:t>
            </a:r>
          </a:p>
          <a:p>
            <a:r>
              <a:rPr lang="en-US" dirty="0">
                <a:latin typeface="Helvetica" panose="020B0604020202020204"/>
                <a:cs typeface="Helvetica" panose="020B0604020202020204"/>
              </a:rPr>
              <a:t>Heap has no directionality of growth</a:t>
            </a:r>
          </a:p>
          <a:p>
            <a:pPr lvl="1"/>
            <a:r>
              <a:rPr lang="en-US" dirty="0">
                <a:latin typeface="Helvetica" panose="020B0604020202020204"/>
                <a:cs typeface="Helvetica" panose="020B0604020202020204"/>
              </a:rPr>
              <a:t>Objects placed according to “heap allocation policy”</a:t>
            </a:r>
          </a:p>
          <a:p>
            <a:pPr marL="0" indent="0">
              <a:buNone/>
            </a:pPr>
            <a:endParaRPr lang="en-US" dirty="0">
              <a:latin typeface="Helvetica" panose="020B0604020202020204"/>
              <a:cs typeface="Helvetica" panose="020B0604020202020204"/>
            </a:endParaRPr>
          </a:p>
          <a:p>
            <a:endParaRPr lang="en-US" dirty="0">
              <a:latin typeface="Helvetica" panose="020B0604020202020204"/>
              <a:cs typeface="Helvetica" panose="020B0604020202020204"/>
            </a:endParaRPr>
          </a:p>
          <a:p>
            <a:endParaRPr lang="en-US" dirty="0"/>
          </a:p>
        </p:txBody>
      </p:sp>
      <p:sp>
        <p:nvSpPr>
          <p:cNvPr id="4" name="Title 3">
            <a:extLst>
              <a:ext uri="{FF2B5EF4-FFF2-40B4-BE49-F238E27FC236}">
                <a16:creationId xmlns:a16="http://schemas.microsoft.com/office/drawing/2014/main" id="{D2EA86D2-918A-085B-3910-42B649E120F2}"/>
              </a:ext>
            </a:extLst>
          </p:cNvPr>
          <p:cNvSpPr>
            <a:spLocks noGrp="1"/>
          </p:cNvSpPr>
          <p:nvPr>
            <p:ph type="title"/>
          </p:nvPr>
        </p:nvSpPr>
        <p:spPr/>
        <p:txBody>
          <a:bodyPr/>
          <a:lstStyle/>
          <a:p>
            <a:r>
              <a:rPr lang="en-US" dirty="0"/>
              <a:t>Heap-based vulnerabilities/attacks</a:t>
            </a:r>
          </a:p>
        </p:txBody>
      </p:sp>
    </p:spTree>
    <p:extLst>
      <p:ext uri="{BB962C8B-B14F-4D97-AF65-F5344CB8AC3E}">
        <p14:creationId xmlns:p14="http://schemas.microsoft.com/office/powerpoint/2010/main" val="35666398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C600874E-5461-1352-B54A-06B2AF9CAA7C}"/>
              </a:ext>
            </a:extLst>
          </p:cNvPr>
          <p:cNvSpPr>
            <a:spLocks noGrp="1"/>
          </p:cNvSpPr>
          <p:nvPr>
            <p:ph idx="1"/>
          </p:nvPr>
        </p:nvSpPr>
        <p:spPr>
          <a:xfrm>
            <a:off x="742504" y="1135484"/>
            <a:ext cx="5633413" cy="5046453"/>
          </a:xfrm>
        </p:spPr>
        <p:txBody>
          <a:bodyPr/>
          <a:lstStyle/>
          <a:p>
            <a:r>
              <a:rPr lang="en-US" sz="1600" dirty="0">
                <a:latin typeface="Consolas" panose="020B0609020204030204" pitchFamily="49" charset="0"/>
              </a:rPr>
              <a:t>void authenticate () {</a:t>
            </a:r>
            <a:br>
              <a:rPr lang="en-US" sz="1600" dirty="0">
                <a:latin typeface="Consolas" panose="020B0609020204030204" pitchFamily="49" charset="0"/>
              </a:rPr>
            </a:br>
            <a:r>
              <a:rPr lang="en-US" sz="1600" dirty="0">
                <a:latin typeface="Consolas" panose="020B0609020204030204" pitchFamily="49" charset="0"/>
              </a:rPr>
              <a:t>	char* password = malloc(8);</a:t>
            </a:r>
          </a:p>
          <a:p>
            <a:r>
              <a:rPr lang="en-US" dirty="0"/>
              <a:t>	int* authenticated = malloc(</a:t>
            </a:r>
            <a:r>
              <a:rPr lang="en-US" dirty="0" err="1"/>
              <a:t>sizeof</a:t>
            </a:r>
            <a:r>
              <a:rPr lang="en-US" dirty="0"/>
              <a:t>(int));</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(“Enter the password\n”);</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scanf</a:t>
            </a:r>
            <a:r>
              <a:rPr lang="en-US" sz="1600" dirty="0">
                <a:latin typeface="Consolas" panose="020B0609020204030204" pitchFamily="49" charset="0"/>
              </a:rPr>
              <a:t>(“%s”, password);</a:t>
            </a:r>
          </a:p>
          <a:p>
            <a:endParaRPr lang="en-US" sz="1600" dirty="0">
              <a:latin typeface="Consolas" panose="020B0609020204030204" pitchFamily="49" charset="0"/>
            </a:endParaRPr>
          </a:p>
          <a:p>
            <a:r>
              <a:rPr lang="en-US" dirty="0"/>
              <a:t>	if (</a:t>
            </a:r>
            <a:r>
              <a:rPr lang="en-US" dirty="0" err="1"/>
              <a:t>strcmp</a:t>
            </a:r>
            <a:r>
              <a:rPr lang="en-US" dirty="0"/>
              <a:t>(…) </a:t>
            </a:r>
          </a:p>
          <a:p>
            <a:r>
              <a:rPr lang="en-US" dirty="0"/>
              <a:t>		authenticated = 1;</a:t>
            </a:r>
          </a:p>
          <a:p>
            <a:r>
              <a:rPr lang="en-US" dirty="0"/>
              <a:t>	if (authenticated) {</a:t>
            </a:r>
          </a:p>
          <a:p>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(“Authenticated!\n”);</a:t>
            </a:r>
          </a:p>
          <a:p>
            <a:r>
              <a:rPr lang="en-US" dirty="0"/>
              <a:t>	} else {</a:t>
            </a:r>
          </a:p>
          <a:p>
            <a:r>
              <a:rPr lang="en-US" dirty="0"/>
              <a:t>		</a:t>
            </a:r>
            <a:r>
              <a:rPr lang="en-US" dirty="0" err="1"/>
              <a:t>printf</a:t>
            </a:r>
            <a:r>
              <a:rPr lang="en-US" dirty="0"/>
              <a:t>(“Not allowed!\n”);</a:t>
            </a:r>
          </a:p>
          <a:p>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return;</a:t>
            </a:r>
            <a:br>
              <a:rPr lang="en-US" sz="1600" dirty="0">
                <a:latin typeface="Consolas" panose="020B0609020204030204" pitchFamily="49" charset="0"/>
              </a:rPr>
            </a:br>
            <a:r>
              <a:rPr lang="en-US" sz="16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main(void) {</a:t>
            </a:r>
            <a:br>
              <a:rPr lang="en-US" sz="1600" dirty="0">
                <a:latin typeface="Consolas" panose="020B0609020204030204" pitchFamily="49" charset="0"/>
              </a:rPr>
            </a:br>
            <a:r>
              <a:rPr lang="en-US" sz="1600" dirty="0">
                <a:latin typeface="Consolas" panose="020B0609020204030204" pitchFamily="49" charset="0"/>
              </a:rPr>
              <a:t>	authenticate();</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6" name="Title 5">
            <a:extLst>
              <a:ext uri="{FF2B5EF4-FFF2-40B4-BE49-F238E27FC236}">
                <a16:creationId xmlns:a16="http://schemas.microsoft.com/office/drawing/2014/main" id="{C1901CA5-A772-251C-19CE-71FD5465EACE}"/>
              </a:ext>
            </a:extLst>
          </p:cNvPr>
          <p:cNvSpPr>
            <a:spLocks noGrp="1"/>
          </p:cNvSpPr>
          <p:nvPr>
            <p:ph type="title"/>
          </p:nvPr>
        </p:nvSpPr>
        <p:spPr/>
        <p:txBody>
          <a:bodyPr/>
          <a:lstStyle/>
          <a:p>
            <a:r>
              <a:rPr lang="en-US" dirty="0"/>
              <a:t>Heap overflow attacks</a:t>
            </a:r>
          </a:p>
        </p:txBody>
      </p:sp>
      <p:grpSp>
        <p:nvGrpSpPr>
          <p:cNvPr id="13" name="Group 12">
            <a:extLst>
              <a:ext uri="{FF2B5EF4-FFF2-40B4-BE49-F238E27FC236}">
                <a16:creationId xmlns:a16="http://schemas.microsoft.com/office/drawing/2014/main" id="{8032B3B0-33D2-5868-8CE8-C5E36F360B35}"/>
              </a:ext>
            </a:extLst>
          </p:cNvPr>
          <p:cNvGrpSpPr/>
          <p:nvPr/>
        </p:nvGrpSpPr>
        <p:grpSpPr>
          <a:xfrm>
            <a:off x="4929331" y="905864"/>
            <a:ext cx="6791695" cy="4396154"/>
            <a:chOff x="5033991" y="914400"/>
            <a:chExt cx="6791695" cy="4396154"/>
          </a:xfrm>
        </p:grpSpPr>
        <p:sp>
          <p:nvSpPr>
            <p:cNvPr id="15" name="TextBox 14">
              <a:extLst>
                <a:ext uri="{FF2B5EF4-FFF2-40B4-BE49-F238E27FC236}">
                  <a16:creationId xmlns:a16="http://schemas.microsoft.com/office/drawing/2014/main" id="{7922D640-7AEE-BCAA-5B3A-942DB1FCB721}"/>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6" name="Group 15">
              <a:extLst>
                <a:ext uri="{FF2B5EF4-FFF2-40B4-BE49-F238E27FC236}">
                  <a16:creationId xmlns:a16="http://schemas.microsoft.com/office/drawing/2014/main" id="{11E397C0-B564-6178-3CA9-940811395F45}"/>
                </a:ext>
              </a:extLst>
            </p:cNvPr>
            <p:cNvGrpSpPr/>
            <p:nvPr/>
          </p:nvGrpSpPr>
          <p:grpSpPr>
            <a:xfrm>
              <a:off x="7561385" y="914400"/>
              <a:ext cx="4264301" cy="4396154"/>
              <a:chOff x="7561385" y="914400"/>
              <a:chExt cx="4264301" cy="4396154"/>
            </a:xfrm>
          </p:grpSpPr>
          <p:sp>
            <p:nvSpPr>
              <p:cNvPr id="17" name="TextBox 16">
                <a:extLst>
                  <a:ext uri="{FF2B5EF4-FFF2-40B4-BE49-F238E27FC236}">
                    <a16:creationId xmlns:a16="http://schemas.microsoft.com/office/drawing/2014/main" id="{5B7FF4CD-0E7E-8D27-AC5D-6C02AC78E70B}"/>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8" name="TextBox 17">
                <a:extLst>
                  <a:ext uri="{FF2B5EF4-FFF2-40B4-BE49-F238E27FC236}">
                    <a16:creationId xmlns:a16="http://schemas.microsoft.com/office/drawing/2014/main" id="{CFF232D0-C73E-33FC-EE07-A5F5FFDFE405}"/>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9" name="TextBox 18">
                <a:extLst>
                  <a:ext uri="{FF2B5EF4-FFF2-40B4-BE49-F238E27FC236}">
                    <a16:creationId xmlns:a16="http://schemas.microsoft.com/office/drawing/2014/main" id="{7731C05C-EA4F-087E-69A8-81A8523FED3A}"/>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20" name="TextBox 19">
                <a:extLst>
                  <a:ext uri="{FF2B5EF4-FFF2-40B4-BE49-F238E27FC236}">
                    <a16:creationId xmlns:a16="http://schemas.microsoft.com/office/drawing/2014/main" id="{C3490D03-E847-C4B3-DA8E-E656BC57D91D}"/>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21" name="TextBox 20">
                <a:extLst>
                  <a:ext uri="{FF2B5EF4-FFF2-40B4-BE49-F238E27FC236}">
                    <a16:creationId xmlns:a16="http://schemas.microsoft.com/office/drawing/2014/main" id="{D03E9DF9-360A-B301-FBF6-CE35C971B6E8}"/>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22" name="Group 21">
                <a:extLst>
                  <a:ext uri="{FF2B5EF4-FFF2-40B4-BE49-F238E27FC236}">
                    <a16:creationId xmlns:a16="http://schemas.microsoft.com/office/drawing/2014/main" id="{0DB7A948-935D-5301-A2E9-7663CE8B6816}"/>
                  </a:ext>
                </a:extLst>
              </p:cNvPr>
              <p:cNvGrpSpPr/>
              <p:nvPr/>
            </p:nvGrpSpPr>
            <p:grpSpPr>
              <a:xfrm>
                <a:off x="7561385" y="914400"/>
                <a:ext cx="2942492" cy="4396154"/>
                <a:chOff x="6822831" y="973015"/>
                <a:chExt cx="2942492" cy="4396154"/>
              </a:xfrm>
            </p:grpSpPr>
            <p:grpSp>
              <p:nvGrpSpPr>
                <p:cNvPr id="23" name="Group 22">
                  <a:extLst>
                    <a:ext uri="{FF2B5EF4-FFF2-40B4-BE49-F238E27FC236}">
                      <a16:creationId xmlns:a16="http://schemas.microsoft.com/office/drawing/2014/main" id="{F62132DB-9788-2656-F954-25AB1CE16066}"/>
                    </a:ext>
                  </a:extLst>
                </p:cNvPr>
                <p:cNvGrpSpPr/>
                <p:nvPr/>
              </p:nvGrpSpPr>
              <p:grpSpPr>
                <a:xfrm>
                  <a:off x="6822831" y="973015"/>
                  <a:ext cx="2942492" cy="4396154"/>
                  <a:chOff x="6822831" y="973015"/>
                  <a:chExt cx="2942492" cy="4396154"/>
                </a:xfrm>
              </p:grpSpPr>
              <p:cxnSp>
                <p:nvCxnSpPr>
                  <p:cNvPr id="29" name="Straight Connector 28">
                    <a:extLst>
                      <a:ext uri="{FF2B5EF4-FFF2-40B4-BE49-F238E27FC236}">
                        <a16:creationId xmlns:a16="http://schemas.microsoft.com/office/drawing/2014/main" id="{94F26B28-5357-AF39-FC44-A02F0E6BDA1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0" name="Straight Connector 29">
                    <a:extLst>
                      <a:ext uri="{FF2B5EF4-FFF2-40B4-BE49-F238E27FC236}">
                        <a16:creationId xmlns:a16="http://schemas.microsoft.com/office/drawing/2014/main" id="{78917CDD-7B34-964B-7AB6-12AF773A80C0}"/>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4" name="Straight Connector 23">
                  <a:extLst>
                    <a:ext uri="{FF2B5EF4-FFF2-40B4-BE49-F238E27FC236}">
                      <a16:creationId xmlns:a16="http://schemas.microsoft.com/office/drawing/2014/main" id="{EFC8ED52-0471-D2EB-40D7-62DFAD9E2E90}"/>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744AE2D3-FB65-7521-AE49-A5D731A2F9B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DC74D4B1-3260-A134-0B13-74653BC638FF}"/>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956A19E5-0BA0-9870-3D85-5809F02C245B}"/>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8" name="Straight Connector 27">
                  <a:extLst>
                    <a:ext uri="{FF2B5EF4-FFF2-40B4-BE49-F238E27FC236}">
                      <a16:creationId xmlns:a16="http://schemas.microsoft.com/office/drawing/2014/main" id="{A44F6E47-862B-6ECA-ABF9-D96A4C589E99}"/>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32" name="Rectangle 31">
            <a:extLst>
              <a:ext uri="{FF2B5EF4-FFF2-40B4-BE49-F238E27FC236}">
                <a16:creationId xmlns:a16="http://schemas.microsoft.com/office/drawing/2014/main" id="{AD5CBCD9-396D-9D5C-4651-C7761790BAAE}"/>
              </a:ext>
            </a:extLst>
          </p:cNvPr>
          <p:cNvSpPr/>
          <p:nvPr/>
        </p:nvSpPr>
        <p:spPr>
          <a:xfrm>
            <a:off x="7983317" y="2220862"/>
            <a:ext cx="2036977" cy="1208133"/>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33" name="Rectangle 32">
            <a:extLst>
              <a:ext uri="{FF2B5EF4-FFF2-40B4-BE49-F238E27FC236}">
                <a16:creationId xmlns:a16="http://schemas.microsoft.com/office/drawing/2014/main" id="{28623682-83F7-5DB2-DD12-E0955B409133}"/>
              </a:ext>
            </a:extLst>
          </p:cNvPr>
          <p:cNvSpPr/>
          <p:nvPr/>
        </p:nvSpPr>
        <p:spPr>
          <a:xfrm>
            <a:off x="7983317" y="1580569"/>
            <a:ext cx="2036974" cy="584991"/>
          </a:xfrm>
          <a:prstGeom prst="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authenticate</a:t>
            </a:r>
            <a:endParaRPr lang="en-US" dirty="0"/>
          </a:p>
        </p:txBody>
      </p:sp>
      <p:sp>
        <p:nvSpPr>
          <p:cNvPr id="34" name="Arrow: Right 33">
            <a:extLst>
              <a:ext uri="{FF2B5EF4-FFF2-40B4-BE49-F238E27FC236}">
                <a16:creationId xmlns:a16="http://schemas.microsoft.com/office/drawing/2014/main" id="{99D56F30-289D-5BF4-0BAE-D115E3CC9E4B}"/>
              </a:ext>
            </a:extLst>
          </p:cNvPr>
          <p:cNvSpPr/>
          <p:nvPr/>
        </p:nvSpPr>
        <p:spPr>
          <a:xfrm>
            <a:off x="215913" y="2097911"/>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Up 34">
            <a:extLst>
              <a:ext uri="{FF2B5EF4-FFF2-40B4-BE49-F238E27FC236}">
                <a16:creationId xmlns:a16="http://schemas.microsoft.com/office/drawing/2014/main" id="{063CAE46-A2B6-4991-618D-AE1071F1417A}"/>
              </a:ext>
            </a:extLst>
          </p:cNvPr>
          <p:cNvSpPr/>
          <p:nvPr/>
        </p:nvSpPr>
        <p:spPr>
          <a:xfrm>
            <a:off x="6902508" y="1596228"/>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1A9E36E2-CEE0-857A-C0CD-367796F01524}"/>
              </a:ext>
            </a:extLst>
          </p:cNvPr>
          <p:cNvSpPr txBox="1"/>
          <p:nvPr/>
        </p:nvSpPr>
        <p:spPr>
          <a:xfrm>
            <a:off x="5593686" y="2323359"/>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1859723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4" grpId="1" animBg="1"/>
      <p:bldP spid="35" grpId="0" animBg="1"/>
      <p:bldP spid="36"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7A34B-A75C-94B9-02FE-A43D80B05CF1}"/>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FE8A3F5-63DA-408E-C8E5-432473C12099}"/>
              </a:ext>
            </a:extLst>
          </p:cNvPr>
          <p:cNvSpPr>
            <a:spLocks noGrp="1"/>
          </p:cNvSpPr>
          <p:nvPr>
            <p:ph idx="1"/>
          </p:nvPr>
        </p:nvSpPr>
        <p:spPr>
          <a:xfrm>
            <a:off x="742504" y="1135484"/>
            <a:ext cx="5633413" cy="5046453"/>
          </a:xfrm>
        </p:spPr>
        <p:txBody>
          <a:bodyPr/>
          <a:lstStyle/>
          <a:p>
            <a:r>
              <a:rPr lang="en-US" sz="1600" dirty="0">
                <a:latin typeface="Consolas" panose="020B0609020204030204" pitchFamily="49" charset="0"/>
              </a:rPr>
              <a:t>void authenticate () {</a:t>
            </a:r>
            <a:br>
              <a:rPr lang="en-US" sz="1600" dirty="0">
                <a:latin typeface="Consolas" panose="020B0609020204030204" pitchFamily="49" charset="0"/>
              </a:rPr>
            </a:br>
            <a:r>
              <a:rPr lang="en-US" sz="1600" dirty="0">
                <a:latin typeface="Consolas" panose="020B0609020204030204" pitchFamily="49" charset="0"/>
              </a:rPr>
              <a:t>	char* password = malloc(8);</a:t>
            </a:r>
          </a:p>
          <a:p>
            <a:r>
              <a:rPr lang="en-US" dirty="0"/>
              <a:t>	int* authenticated = malloc(</a:t>
            </a:r>
            <a:r>
              <a:rPr lang="en-US" dirty="0" err="1"/>
              <a:t>sizeof</a:t>
            </a:r>
            <a:r>
              <a:rPr lang="en-US" dirty="0"/>
              <a:t>(int));</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(“Enter the password\n”);</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scanf</a:t>
            </a:r>
            <a:r>
              <a:rPr lang="en-US" sz="1600" dirty="0">
                <a:latin typeface="Consolas" panose="020B0609020204030204" pitchFamily="49" charset="0"/>
              </a:rPr>
              <a:t>(“%s”, password);</a:t>
            </a:r>
          </a:p>
          <a:p>
            <a:endParaRPr lang="en-US" sz="1600" dirty="0">
              <a:latin typeface="Consolas" panose="020B0609020204030204" pitchFamily="49" charset="0"/>
            </a:endParaRPr>
          </a:p>
          <a:p>
            <a:r>
              <a:rPr lang="en-US" dirty="0"/>
              <a:t>	if (</a:t>
            </a:r>
            <a:r>
              <a:rPr lang="en-US" dirty="0" err="1"/>
              <a:t>strcmp</a:t>
            </a:r>
            <a:r>
              <a:rPr lang="en-US" dirty="0"/>
              <a:t>(…) </a:t>
            </a:r>
          </a:p>
          <a:p>
            <a:r>
              <a:rPr lang="en-US" dirty="0"/>
              <a:t>		authenticated = 1;</a:t>
            </a:r>
          </a:p>
          <a:p>
            <a:r>
              <a:rPr lang="en-US" dirty="0"/>
              <a:t>	if (authenticated) {</a:t>
            </a:r>
          </a:p>
          <a:p>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(“Authenticated!\n”);</a:t>
            </a:r>
          </a:p>
          <a:p>
            <a:r>
              <a:rPr lang="en-US" dirty="0"/>
              <a:t>	} else {</a:t>
            </a:r>
          </a:p>
          <a:p>
            <a:r>
              <a:rPr lang="en-US" dirty="0"/>
              <a:t>		</a:t>
            </a:r>
            <a:r>
              <a:rPr lang="en-US" dirty="0" err="1"/>
              <a:t>printf</a:t>
            </a:r>
            <a:r>
              <a:rPr lang="en-US" dirty="0"/>
              <a:t>(“Not allowed!\n”);</a:t>
            </a:r>
          </a:p>
          <a:p>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return;</a:t>
            </a:r>
            <a:br>
              <a:rPr lang="en-US" sz="1600" dirty="0">
                <a:latin typeface="Consolas" panose="020B0609020204030204" pitchFamily="49" charset="0"/>
              </a:rPr>
            </a:br>
            <a:r>
              <a:rPr lang="en-US" sz="16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main(void) {</a:t>
            </a:r>
            <a:br>
              <a:rPr lang="en-US" sz="1600" dirty="0">
                <a:latin typeface="Consolas" panose="020B0609020204030204" pitchFamily="49" charset="0"/>
              </a:rPr>
            </a:br>
            <a:r>
              <a:rPr lang="en-US" sz="1600" dirty="0">
                <a:latin typeface="Consolas" panose="020B0609020204030204" pitchFamily="49" charset="0"/>
              </a:rPr>
              <a:t>	authenticate();</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6" name="Title 5">
            <a:extLst>
              <a:ext uri="{FF2B5EF4-FFF2-40B4-BE49-F238E27FC236}">
                <a16:creationId xmlns:a16="http://schemas.microsoft.com/office/drawing/2014/main" id="{96FAF5F3-1731-0673-6123-A748F7AFE08B}"/>
              </a:ext>
            </a:extLst>
          </p:cNvPr>
          <p:cNvSpPr>
            <a:spLocks noGrp="1"/>
          </p:cNvSpPr>
          <p:nvPr>
            <p:ph type="title"/>
          </p:nvPr>
        </p:nvSpPr>
        <p:spPr/>
        <p:txBody>
          <a:bodyPr/>
          <a:lstStyle/>
          <a:p>
            <a:r>
              <a:rPr lang="en-US" dirty="0"/>
              <a:t>Heap overflow attacks</a:t>
            </a:r>
          </a:p>
        </p:txBody>
      </p:sp>
      <p:grpSp>
        <p:nvGrpSpPr>
          <p:cNvPr id="13" name="Group 12">
            <a:extLst>
              <a:ext uri="{FF2B5EF4-FFF2-40B4-BE49-F238E27FC236}">
                <a16:creationId xmlns:a16="http://schemas.microsoft.com/office/drawing/2014/main" id="{1AD7B2C7-7086-063F-83F7-21CBE31A820D}"/>
              </a:ext>
            </a:extLst>
          </p:cNvPr>
          <p:cNvGrpSpPr/>
          <p:nvPr/>
        </p:nvGrpSpPr>
        <p:grpSpPr>
          <a:xfrm>
            <a:off x="4929331" y="905864"/>
            <a:ext cx="6791695" cy="4396154"/>
            <a:chOff x="5033991" y="914400"/>
            <a:chExt cx="6791695" cy="4396154"/>
          </a:xfrm>
        </p:grpSpPr>
        <p:sp>
          <p:nvSpPr>
            <p:cNvPr id="15" name="TextBox 14">
              <a:extLst>
                <a:ext uri="{FF2B5EF4-FFF2-40B4-BE49-F238E27FC236}">
                  <a16:creationId xmlns:a16="http://schemas.microsoft.com/office/drawing/2014/main" id="{83E13099-BB86-97C1-3601-03247DA7784F}"/>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6" name="Group 15">
              <a:extLst>
                <a:ext uri="{FF2B5EF4-FFF2-40B4-BE49-F238E27FC236}">
                  <a16:creationId xmlns:a16="http://schemas.microsoft.com/office/drawing/2014/main" id="{6934FC94-BD2C-B455-78B7-5E3357162578}"/>
                </a:ext>
              </a:extLst>
            </p:cNvPr>
            <p:cNvGrpSpPr/>
            <p:nvPr/>
          </p:nvGrpSpPr>
          <p:grpSpPr>
            <a:xfrm>
              <a:off x="7561385" y="914400"/>
              <a:ext cx="4264301" cy="4396154"/>
              <a:chOff x="7561385" y="914400"/>
              <a:chExt cx="4264301" cy="4396154"/>
            </a:xfrm>
          </p:grpSpPr>
          <p:sp>
            <p:nvSpPr>
              <p:cNvPr id="17" name="TextBox 16">
                <a:extLst>
                  <a:ext uri="{FF2B5EF4-FFF2-40B4-BE49-F238E27FC236}">
                    <a16:creationId xmlns:a16="http://schemas.microsoft.com/office/drawing/2014/main" id="{95729C5D-91AD-E96C-416B-FACB9843F325}"/>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8" name="TextBox 17">
                <a:extLst>
                  <a:ext uri="{FF2B5EF4-FFF2-40B4-BE49-F238E27FC236}">
                    <a16:creationId xmlns:a16="http://schemas.microsoft.com/office/drawing/2014/main" id="{2ABFE095-FD59-72E2-37F5-43C59071EE89}"/>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9" name="TextBox 18">
                <a:extLst>
                  <a:ext uri="{FF2B5EF4-FFF2-40B4-BE49-F238E27FC236}">
                    <a16:creationId xmlns:a16="http://schemas.microsoft.com/office/drawing/2014/main" id="{88648267-5E80-5FD6-6A84-609F0D5B33C0}"/>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20" name="TextBox 19">
                <a:extLst>
                  <a:ext uri="{FF2B5EF4-FFF2-40B4-BE49-F238E27FC236}">
                    <a16:creationId xmlns:a16="http://schemas.microsoft.com/office/drawing/2014/main" id="{58D89863-9C20-16D6-F2DA-67FBE5FF8BD9}"/>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21" name="TextBox 20">
                <a:extLst>
                  <a:ext uri="{FF2B5EF4-FFF2-40B4-BE49-F238E27FC236}">
                    <a16:creationId xmlns:a16="http://schemas.microsoft.com/office/drawing/2014/main" id="{2D454DA8-4D05-FE13-5077-33990B2F9C5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22" name="Group 21">
                <a:extLst>
                  <a:ext uri="{FF2B5EF4-FFF2-40B4-BE49-F238E27FC236}">
                    <a16:creationId xmlns:a16="http://schemas.microsoft.com/office/drawing/2014/main" id="{9B71A09C-C28A-2757-DE64-17D2EF1D8FA7}"/>
                  </a:ext>
                </a:extLst>
              </p:cNvPr>
              <p:cNvGrpSpPr/>
              <p:nvPr/>
            </p:nvGrpSpPr>
            <p:grpSpPr>
              <a:xfrm>
                <a:off x="7561385" y="914400"/>
                <a:ext cx="2942492" cy="4396154"/>
                <a:chOff x="6822831" y="973015"/>
                <a:chExt cx="2942492" cy="4396154"/>
              </a:xfrm>
            </p:grpSpPr>
            <p:grpSp>
              <p:nvGrpSpPr>
                <p:cNvPr id="23" name="Group 22">
                  <a:extLst>
                    <a:ext uri="{FF2B5EF4-FFF2-40B4-BE49-F238E27FC236}">
                      <a16:creationId xmlns:a16="http://schemas.microsoft.com/office/drawing/2014/main" id="{2B923E7A-EE47-1BEC-958A-F0AA7CF49C2E}"/>
                    </a:ext>
                  </a:extLst>
                </p:cNvPr>
                <p:cNvGrpSpPr/>
                <p:nvPr/>
              </p:nvGrpSpPr>
              <p:grpSpPr>
                <a:xfrm>
                  <a:off x="6822831" y="973015"/>
                  <a:ext cx="2942492" cy="4396154"/>
                  <a:chOff x="6822831" y="973015"/>
                  <a:chExt cx="2942492" cy="4396154"/>
                </a:xfrm>
              </p:grpSpPr>
              <p:cxnSp>
                <p:nvCxnSpPr>
                  <p:cNvPr id="29" name="Straight Connector 28">
                    <a:extLst>
                      <a:ext uri="{FF2B5EF4-FFF2-40B4-BE49-F238E27FC236}">
                        <a16:creationId xmlns:a16="http://schemas.microsoft.com/office/drawing/2014/main" id="{158614AF-B50D-CF49-4A1E-C388BA821373}"/>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0" name="Straight Connector 29">
                    <a:extLst>
                      <a:ext uri="{FF2B5EF4-FFF2-40B4-BE49-F238E27FC236}">
                        <a16:creationId xmlns:a16="http://schemas.microsoft.com/office/drawing/2014/main" id="{4FE4C323-3130-738E-BC54-42C6BDD7B73C}"/>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4" name="Straight Connector 23">
                  <a:extLst>
                    <a:ext uri="{FF2B5EF4-FFF2-40B4-BE49-F238E27FC236}">
                      <a16:creationId xmlns:a16="http://schemas.microsoft.com/office/drawing/2014/main" id="{2D403B23-56D9-CD6E-DC89-D2A5DB5EEA7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49C75731-44FA-A7AA-2005-246D50B3CBB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719B2882-A15E-E70D-FDFB-4445A8DDFD92}"/>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476F543A-B194-C9B5-6F57-0DBFC64A3C5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8" name="Straight Connector 27">
                  <a:extLst>
                    <a:ext uri="{FF2B5EF4-FFF2-40B4-BE49-F238E27FC236}">
                      <a16:creationId xmlns:a16="http://schemas.microsoft.com/office/drawing/2014/main" id="{A9BAAB5E-A4EC-AA0F-0E37-18AEFBAD13F5}"/>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32" name="Rectangle 31">
            <a:extLst>
              <a:ext uri="{FF2B5EF4-FFF2-40B4-BE49-F238E27FC236}">
                <a16:creationId xmlns:a16="http://schemas.microsoft.com/office/drawing/2014/main" id="{A2AA2FBD-F9E3-8527-ADCF-E8CFE57E7428}"/>
              </a:ext>
            </a:extLst>
          </p:cNvPr>
          <p:cNvSpPr/>
          <p:nvPr/>
        </p:nvSpPr>
        <p:spPr>
          <a:xfrm>
            <a:off x="7983317" y="2220862"/>
            <a:ext cx="2036977" cy="1208133"/>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33" name="Rectangle 32">
            <a:extLst>
              <a:ext uri="{FF2B5EF4-FFF2-40B4-BE49-F238E27FC236}">
                <a16:creationId xmlns:a16="http://schemas.microsoft.com/office/drawing/2014/main" id="{A5C5A4BA-E5F2-51E9-3C3B-66FF211491F0}"/>
              </a:ext>
            </a:extLst>
          </p:cNvPr>
          <p:cNvSpPr/>
          <p:nvPr/>
        </p:nvSpPr>
        <p:spPr>
          <a:xfrm>
            <a:off x="7983320" y="4209543"/>
            <a:ext cx="2036974" cy="584991"/>
          </a:xfrm>
          <a:prstGeom prst="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authenticate</a:t>
            </a:r>
            <a:endParaRPr lang="en-US" dirty="0"/>
          </a:p>
        </p:txBody>
      </p:sp>
      <p:sp>
        <p:nvSpPr>
          <p:cNvPr id="34" name="Arrow: Right 33">
            <a:extLst>
              <a:ext uri="{FF2B5EF4-FFF2-40B4-BE49-F238E27FC236}">
                <a16:creationId xmlns:a16="http://schemas.microsoft.com/office/drawing/2014/main" id="{1BBBFCEC-259E-DBEF-70B1-460178D95D05}"/>
              </a:ext>
            </a:extLst>
          </p:cNvPr>
          <p:cNvSpPr/>
          <p:nvPr/>
        </p:nvSpPr>
        <p:spPr>
          <a:xfrm>
            <a:off x="215913" y="2097911"/>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Up 34">
            <a:extLst>
              <a:ext uri="{FF2B5EF4-FFF2-40B4-BE49-F238E27FC236}">
                <a16:creationId xmlns:a16="http://schemas.microsoft.com/office/drawing/2014/main" id="{F4743930-8449-BF36-4671-679AE6206BDF}"/>
              </a:ext>
            </a:extLst>
          </p:cNvPr>
          <p:cNvSpPr/>
          <p:nvPr/>
        </p:nvSpPr>
        <p:spPr>
          <a:xfrm>
            <a:off x="6902508" y="1596228"/>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EAE07DEA-9761-FFE5-2F20-C9064D18A720}"/>
              </a:ext>
            </a:extLst>
          </p:cNvPr>
          <p:cNvSpPr txBox="1"/>
          <p:nvPr/>
        </p:nvSpPr>
        <p:spPr>
          <a:xfrm>
            <a:off x="5593686" y="2323359"/>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128513861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AADE97A-14FE-5F87-39D8-8C0A9DC10F0D}"/>
              </a:ext>
            </a:extLst>
          </p:cNvPr>
          <p:cNvSpPr>
            <a:spLocks noGrp="1"/>
          </p:cNvSpPr>
          <p:nvPr>
            <p:ph type="title"/>
          </p:nvPr>
        </p:nvSpPr>
        <p:spPr/>
        <p:txBody>
          <a:bodyPr/>
          <a:lstStyle/>
          <a:p>
            <a:r>
              <a:rPr lang="en-US" dirty="0"/>
              <a:t>Types of memory safety</a:t>
            </a:r>
          </a:p>
        </p:txBody>
      </p:sp>
      <p:sp>
        <p:nvSpPr>
          <p:cNvPr id="6" name="Rectangle: Rounded Corners 5">
            <a:extLst>
              <a:ext uri="{FF2B5EF4-FFF2-40B4-BE49-F238E27FC236}">
                <a16:creationId xmlns:a16="http://schemas.microsoft.com/office/drawing/2014/main" id="{C7BC3D0F-B5BC-067B-0CBA-7E1FB49FEB00}"/>
              </a:ext>
            </a:extLst>
          </p:cNvPr>
          <p:cNvSpPr/>
          <p:nvPr/>
        </p:nvSpPr>
        <p:spPr>
          <a:xfrm>
            <a:off x="4825035" y="1540781"/>
            <a:ext cx="2520462" cy="87923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Memory safety</a:t>
            </a:r>
          </a:p>
        </p:txBody>
      </p:sp>
      <p:sp>
        <p:nvSpPr>
          <p:cNvPr id="7" name="Rectangle: Rounded Corners 6">
            <a:extLst>
              <a:ext uri="{FF2B5EF4-FFF2-40B4-BE49-F238E27FC236}">
                <a16:creationId xmlns:a16="http://schemas.microsoft.com/office/drawing/2014/main" id="{F655D943-4133-FCAE-D0BE-738E6259447C}"/>
              </a:ext>
            </a:extLst>
          </p:cNvPr>
          <p:cNvSpPr/>
          <p:nvPr/>
        </p:nvSpPr>
        <p:spPr>
          <a:xfrm>
            <a:off x="3223846" y="3175788"/>
            <a:ext cx="2262553" cy="87923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Spatial safety</a:t>
            </a:r>
          </a:p>
        </p:txBody>
      </p:sp>
      <p:sp>
        <p:nvSpPr>
          <p:cNvPr id="8" name="Rectangle: Rounded Corners 7">
            <a:extLst>
              <a:ext uri="{FF2B5EF4-FFF2-40B4-BE49-F238E27FC236}">
                <a16:creationId xmlns:a16="http://schemas.microsoft.com/office/drawing/2014/main" id="{81672157-EEC6-567F-240A-E78F5B707E2F}"/>
              </a:ext>
            </a:extLst>
          </p:cNvPr>
          <p:cNvSpPr/>
          <p:nvPr/>
        </p:nvSpPr>
        <p:spPr>
          <a:xfrm>
            <a:off x="6556007" y="3175788"/>
            <a:ext cx="2670055" cy="87923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Temporal safety</a:t>
            </a:r>
          </a:p>
        </p:txBody>
      </p:sp>
      <p:cxnSp>
        <p:nvCxnSpPr>
          <p:cNvPr id="10" name="Straight Arrow Connector 9">
            <a:extLst>
              <a:ext uri="{FF2B5EF4-FFF2-40B4-BE49-F238E27FC236}">
                <a16:creationId xmlns:a16="http://schemas.microsoft.com/office/drawing/2014/main" id="{235F40AE-C0E1-6B94-CF2C-E9AF74608945}"/>
              </a:ext>
            </a:extLst>
          </p:cNvPr>
          <p:cNvCxnSpPr>
            <a:cxnSpLocks/>
            <a:stCxn id="6" idx="2"/>
            <a:endCxn id="7" idx="0"/>
          </p:cNvCxnSpPr>
          <p:nvPr/>
        </p:nvCxnSpPr>
        <p:spPr>
          <a:xfrm flipH="1">
            <a:off x="4355123" y="2420011"/>
            <a:ext cx="1730143" cy="755777"/>
          </a:xfrm>
          <a:prstGeom prst="straightConnector1">
            <a:avLst/>
          </a:prstGeom>
          <a:ln w="3175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ECBC8EA1-F0CB-B661-A35D-418CBF232EEA}"/>
              </a:ext>
            </a:extLst>
          </p:cNvPr>
          <p:cNvCxnSpPr>
            <a:cxnSpLocks/>
            <a:stCxn id="6" idx="2"/>
            <a:endCxn id="8" idx="0"/>
          </p:cNvCxnSpPr>
          <p:nvPr/>
        </p:nvCxnSpPr>
        <p:spPr>
          <a:xfrm>
            <a:off x="6085266" y="2420011"/>
            <a:ext cx="1805769" cy="755777"/>
          </a:xfrm>
          <a:prstGeom prst="straightConnector1">
            <a:avLst/>
          </a:prstGeom>
          <a:ln w="3175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D6039177-4E88-1226-A91C-6E84D29217D4}"/>
              </a:ext>
            </a:extLst>
          </p:cNvPr>
          <p:cNvSpPr txBox="1"/>
          <p:nvPr/>
        </p:nvSpPr>
        <p:spPr>
          <a:xfrm>
            <a:off x="3103529" y="4143745"/>
            <a:ext cx="2503186" cy="523220"/>
          </a:xfrm>
          <a:prstGeom prst="rect">
            <a:avLst/>
          </a:prstGeom>
          <a:noFill/>
        </p:spPr>
        <p:txBody>
          <a:bodyPr wrap="none" rtlCol="0">
            <a:spAutoFit/>
          </a:bodyPr>
          <a:lstStyle/>
          <a:p>
            <a:r>
              <a:rPr lang="en-US" sz="2800" b="1" i="1" dirty="0"/>
              <a:t>Buffer overflow</a:t>
            </a:r>
          </a:p>
        </p:txBody>
      </p:sp>
      <p:sp>
        <p:nvSpPr>
          <p:cNvPr id="14" name="TextBox 13">
            <a:extLst>
              <a:ext uri="{FF2B5EF4-FFF2-40B4-BE49-F238E27FC236}">
                <a16:creationId xmlns:a16="http://schemas.microsoft.com/office/drawing/2014/main" id="{DE47498E-1FF8-7668-B718-877C9B4BA98A}"/>
              </a:ext>
            </a:extLst>
          </p:cNvPr>
          <p:cNvSpPr txBox="1"/>
          <p:nvPr/>
        </p:nvSpPr>
        <p:spPr>
          <a:xfrm>
            <a:off x="1326524" y="4755692"/>
            <a:ext cx="7400359" cy="461665"/>
          </a:xfrm>
          <a:prstGeom prst="rect">
            <a:avLst/>
          </a:prstGeom>
          <a:noFill/>
        </p:spPr>
        <p:txBody>
          <a:bodyPr wrap="none" rtlCol="0">
            <a:spAutoFit/>
          </a:bodyPr>
          <a:lstStyle/>
          <a:p>
            <a:r>
              <a:rPr lang="en-US" sz="2400" b="1" i="1" dirty="0"/>
              <a:t>Compilers of memory-safe languages add bounds-checks</a:t>
            </a:r>
          </a:p>
        </p:txBody>
      </p:sp>
    </p:spTree>
    <p:extLst>
      <p:ext uri="{BB962C8B-B14F-4D97-AF65-F5344CB8AC3E}">
        <p14:creationId xmlns:p14="http://schemas.microsoft.com/office/powerpoint/2010/main" val="1781348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BC147D1-4732-F46E-4253-75389E103785}"/>
              </a:ext>
            </a:extLst>
          </p:cNvPr>
          <p:cNvSpPr>
            <a:spLocks noGrp="1"/>
          </p:cNvSpPr>
          <p:nvPr>
            <p:ph idx="1"/>
          </p:nvPr>
        </p:nvSpPr>
        <p:spPr/>
        <p:txBody>
          <a:bodyPr>
            <a:normAutofit/>
          </a:bodyPr>
          <a:lstStyle/>
          <a:p>
            <a:r>
              <a:rPr lang="en-US" dirty="0"/>
              <a:t>Manages how a program requests and releases memory dynamically at runtime</a:t>
            </a:r>
          </a:p>
          <a:p>
            <a:r>
              <a:rPr lang="en-US" dirty="0"/>
              <a:t>Allocators like malloc() and free() in C interface with the </a:t>
            </a:r>
            <a:r>
              <a:rPr lang="en-US" b="1" dirty="0"/>
              <a:t>heap</a:t>
            </a:r>
            <a:r>
              <a:rPr lang="en-US" dirty="0"/>
              <a:t>, a region of process memory used for dynamic allocation</a:t>
            </a:r>
          </a:p>
          <a:p>
            <a:pPr lvl="1"/>
            <a:r>
              <a:rPr lang="en-US" dirty="0"/>
              <a:t>Asks OS for a large chunk of memory (in MB)</a:t>
            </a:r>
          </a:p>
          <a:p>
            <a:pPr lvl="1"/>
            <a:r>
              <a:rPr lang="en-US" dirty="0"/>
              <a:t>Chunks it up and returns these chunks when malloc() called</a:t>
            </a:r>
          </a:p>
          <a:p>
            <a:r>
              <a:rPr lang="en-US" dirty="0"/>
              <a:t>Maintains metadata to maintain these chunks</a:t>
            </a:r>
          </a:p>
        </p:txBody>
      </p:sp>
      <p:sp>
        <p:nvSpPr>
          <p:cNvPr id="4" name="Title 3">
            <a:extLst>
              <a:ext uri="{FF2B5EF4-FFF2-40B4-BE49-F238E27FC236}">
                <a16:creationId xmlns:a16="http://schemas.microsoft.com/office/drawing/2014/main" id="{EC969486-8CAB-EB55-3CAF-2625358D4DBE}"/>
              </a:ext>
            </a:extLst>
          </p:cNvPr>
          <p:cNvSpPr>
            <a:spLocks noGrp="1"/>
          </p:cNvSpPr>
          <p:nvPr>
            <p:ph type="title"/>
          </p:nvPr>
        </p:nvSpPr>
        <p:spPr/>
        <p:txBody>
          <a:bodyPr/>
          <a:lstStyle/>
          <a:p>
            <a:r>
              <a:rPr lang="en-US" dirty="0"/>
              <a:t>Memory allocator concepts</a:t>
            </a:r>
          </a:p>
        </p:txBody>
      </p:sp>
    </p:spTree>
    <p:extLst>
      <p:ext uri="{BB962C8B-B14F-4D97-AF65-F5344CB8AC3E}">
        <p14:creationId xmlns:p14="http://schemas.microsoft.com/office/powerpoint/2010/main" val="41539714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FCFD7-5B1E-1597-C2BB-132CEB60BA7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AD2EBB8-2BEE-4AC9-5183-BD9C3BC62AAD}"/>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DFC2C8B2-3A0B-1170-43D2-31C83F32FCCC}"/>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8CA16F50-46A4-271B-98E4-F92E89371CF6}"/>
              </a:ext>
            </a:extLst>
          </p:cNvPr>
          <p:cNvSpPr>
            <a:spLocks noGrp="1"/>
          </p:cNvSpPr>
          <p:nvPr>
            <p:ph idx="14"/>
          </p:nvPr>
        </p:nvSpPr>
        <p:spPr/>
        <p:txBody>
          <a:bodyPr>
            <a:normAutofit/>
          </a:bodyPr>
          <a:lstStyle/>
          <a:p>
            <a:r>
              <a:rPr lang="en-US" dirty="0"/>
              <a:t>int main() {</a:t>
            </a:r>
            <a:br>
              <a:rPr lang="en-US" dirty="0"/>
            </a:br>
            <a:r>
              <a:rPr lang="en-US" dirty="0"/>
              <a:t>  char* p = </a:t>
            </a:r>
            <a:r>
              <a:rPr lang="en-US" b="1" dirty="0"/>
              <a:t>malloc(10);</a:t>
            </a:r>
            <a:br>
              <a:rPr lang="en-US" dirty="0"/>
            </a:br>
            <a:r>
              <a:rPr lang="en-US" dirty="0"/>
              <a:t>  *p = ‘a’;</a:t>
            </a:r>
            <a:br>
              <a:rPr lang="en-US" dirty="0"/>
            </a:br>
            <a:r>
              <a:rPr lang="en-US" dirty="0"/>
              <a:t>  char* q = 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95D76089-AE2F-2CE9-BBEE-580975FADC77}"/>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D10DE46E-41DB-D610-8B3A-AE11CB19416D}"/>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481081C4-64AB-673C-BEB0-E9750773F797}"/>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88DC6896-6C95-57E2-0F6C-1529813FC90F}"/>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0977B73A-495B-0F6B-BF39-80639B0A095E}"/>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327869C8-4CA9-2CE7-BC06-4A13D5EFF452}"/>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BBA53097-D2CF-DB2D-4E66-B0556A35C1E4}"/>
              </a:ext>
            </a:extLst>
          </p:cNvPr>
          <p:cNvSpPr txBox="1"/>
          <p:nvPr/>
        </p:nvSpPr>
        <p:spPr>
          <a:xfrm>
            <a:off x="6138930" y="2718108"/>
            <a:ext cx="1535998" cy="461665"/>
          </a:xfrm>
          <a:prstGeom prst="rect">
            <a:avLst/>
          </a:prstGeom>
          <a:noFill/>
        </p:spPr>
        <p:txBody>
          <a:bodyPr wrap="none" rtlCol="0">
            <a:spAutoFit/>
          </a:bodyPr>
          <a:lstStyle/>
          <a:p>
            <a:r>
              <a:rPr lang="en-US" sz="2400" b="1" i="1" dirty="0"/>
              <a:t>malloc(10)</a:t>
            </a:r>
          </a:p>
        </p:txBody>
      </p:sp>
    </p:spTree>
    <p:extLst>
      <p:ext uri="{BB962C8B-B14F-4D97-AF65-F5344CB8AC3E}">
        <p14:creationId xmlns:p14="http://schemas.microsoft.com/office/powerpoint/2010/main" val="264051748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FD1C9-5377-A695-663A-DA5D68BC6C9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31EAEB6-609E-BDD3-5579-A7911F603EF6}"/>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F177B875-B9D2-6BF4-7710-2480222AB860}"/>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3731F6B9-D6AD-940E-E2AB-A911BBA2FCBE}"/>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D136BFE2-7750-FF18-2EE8-9AD940EB0138}"/>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A7FBF2ED-EF0E-D5C4-AA33-0F754348AE20}"/>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E6460EE4-E601-3244-A78E-2E8274F772E6}"/>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B95CE2E0-7088-19F3-7946-6DA72734FAE0}"/>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5E88CD80-836B-C8F5-888A-374BAC426B31}"/>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1B075C74-B4E4-BC63-0367-624CDF205356}"/>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4DD65E2A-07D4-855F-0854-CE57EE9CAFB4}"/>
              </a:ext>
            </a:extLst>
          </p:cNvPr>
          <p:cNvSpPr txBox="1"/>
          <p:nvPr/>
        </p:nvSpPr>
        <p:spPr>
          <a:xfrm>
            <a:off x="6015489" y="2544939"/>
            <a:ext cx="1535998" cy="461665"/>
          </a:xfrm>
          <a:prstGeom prst="rect">
            <a:avLst/>
          </a:prstGeom>
          <a:noFill/>
        </p:spPr>
        <p:txBody>
          <a:bodyPr wrap="none" rtlCol="0">
            <a:spAutoFit/>
          </a:bodyPr>
          <a:lstStyle/>
          <a:p>
            <a:r>
              <a:rPr lang="en-US" sz="2400" b="1" i="1" dirty="0"/>
              <a:t>malloc(10)</a:t>
            </a:r>
          </a:p>
        </p:txBody>
      </p:sp>
      <p:cxnSp>
        <p:nvCxnSpPr>
          <p:cNvPr id="2" name="Connector: Curved 1">
            <a:extLst>
              <a:ext uri="{FF2B5EF4-FFF2-40B4-BE49-F238E27FC236}">
                <a16:creationId xmlns:a16="http://schemas.microsoft.com/office/drawing/2014/main" id="{5948E5FF-65DE-F4D0-815A-43CEBD5D2868}"/>
              </a:ext>
            </a:extLst>
          </p:cNvPr>
          <p:cNvCxnSpPr/>
          <p:nvPr/>
        </p:nvCxnSpPr>
        <p:spPr>
          <a:xfrm rot="10800000" flipV="1">
            <a:off x="7858759" y="3232094"/>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203B7EF-B1CE-B209-C6D1-ED8FE104A54C}"/>
              </a:ext>
            </a:extLst>
          </p:cNvPr>
          <p:cNvSpPr txBox="1"/>
          <p:nvPr/>
        </p:nvSpPr>
        <p:spPr>
          <a:xfrm>
            <a:off x="5809158" y="3931778"/>
            <a:ext cx="1816523" cy="461665"/>
          </a:xfrm>
          <a:prstGeom prst="rect">
            <a:avLst/>
          </a:prstGeom>
          <a:noFill/>
        </p:spPr>
        <p:txBody>
          <a:bodyPr wrap="none" rtlCol="0">
            <a:spAutoFit/>
          </a:bodyPr>
          <a:lstStyle/>
          <a:p>
            <a:r>
              <a:rPr lang="en-US" sz="2400" b="1" i="1" dirty="0" err="1"/>
              <a:t>mmap</a:t>
            </a:r>
            <a:r>
              <a:rPr lang="en-US" sz="2400" b="1" i="1" dirty="0"/>
              <a:t>(2048)</a:t>
            </a:r>
          </a:p>
        </p:txBody>
      </p:sp>
    </p:spTree>
    <p:extLst>
      <p:ext uri="{BB962C8B-B14F-4D97-AF65-F5344CB8AC3E}">
        <p14:creationId xmlns:p14="http://schemas.microsoft.com/office/powerpoint/2010/main" val="11281426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77CC6-AD19-2752-76AA-8A04094FE6A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84A683A-58E9-15CF-0633-DA2663CA4C40}"/>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2D613663-F171-2558-6108-861B92FE3578}"/>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C3C54924-0790-6FB3-4C4C-3D91D2F04DDA}"/>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D5EE7658-6751-14C0-7B5E-F75E0CFCD457}"/>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EBB8DB2D-BC55-C73C-A285-3951FA86CACF}"/>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B91DDACE-E428-AF8C-03EB-426B6B875896}"/>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3E66E5F9-032E-B7E5-1201-297A58230D4E}"/>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CFEEC4DD-F227-D776-E6E6-77B0D2B92252}"/>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120A1A4F-A425-2346-4573-A9F2ACB7898C}"/>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9295044-4809-88F3-CA12-3D7B51CCC711}"/>
              </a:ext>
            </a:extLst>
          </p:cNvPr>
          <p:cNvSpPr txBox="1"/>
          <p:nvPr/>
        </p:nvSpPr>
        <p:spPr>
          <a:xfrm>
            <a:off x="6015489" y="2544939"/>
            <a:ext cx="1535998" cy="461665"/>
          </a:xfrm>
          <a:prstGeom prst="rect">
            <a:avLst/>
          </a:prstGeom>
          <a:noFill/>
        </p:spPr>
        <p:txBody>
          <a:bodyPr wrap="none" rtlCol="0">
            <a:spAutoFit/>
          </a:bodyPr>
          <a:lstStyle/>
          <a:p>
            <a:r>
              <a:rPr lang="en-US" sz="2400" b="1" i="1" dirty="0"/>
              <a:t>malloc(10)</a:t>
            </a:r>
          </a:p>
        </p:txBody>
      </p:sp>
      <p:cxnSp>
        <p:nvCxnSpPr>
          <p:cNvPr id="2" name="Connector: Curved 1">
            <a:extLst>
              <a:ext uri="{FF2B5EF4-FFF2-40B4-BE49-F238E27FC236}">
                <a16:creationId xmlns:a16="http://schemas.microsoft.com/office/drawing/2014/main" id="{532067B4-A86E-041F-2193-9EC8C36F397B}"/>
              </a:ext>
            </a:extLst>
          </p:cNvPr>
          <p:cNvCxnSpPr/>
          <p:nvPr/>
        </p:nvCxnSpPr>
        <p:spPr>
          <a:xfrm rot="10800000" flipV="1">
            <a:off x="7858759" y="3232094"/>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07596021-E395-5F17-10C9-C8B20DEDA34C}"/>
              </a:ext>
            </a:extLst>
          </p:cNvPr>
          <p:cNvSpPr txBox="1"/>
          <p:nvPr/>
        </p:nvSpPr>
        <p:spPr>
          <a:xfrm>
            <a:off x="5809158" y="3931778"/>
            <a:ext cx="1816523" cy="461665"/>
          </a:xfrm>
          <a:prstGeom prst="rect">
            <a:avLst/>
          </a:prstGeom>
          <a:noFill/>
        </p:spPr>
        <p:txBody>
          <a:bodyPr wrap="none" rtlCol="0">
            <a:spAutoFit/>
          </a:bodyPr>
          <a:lstStyle/>
          <a:p>
            <a:r>
              <a:rPr lang="en-US" sz="2400" b="1" i="1" dirty="0" err="1"/>
              <a:t>mmap</a:t>
            </a:r>
            <a:r>
              <a:rPr lang="en-US" sz="2400" b="1" i="1" dirty="0"/>
              <a:t>(2048)</a:t>
            </a:r>
          </a:p>
        </p:txBody>
      </p:sp>
      <p:cxnSp>
        <p:nvCxnSpPr>
          <p:cNvPr id="8" name="Connector: Curved 7">
            <a:extLst>
              <a:ext uri="{FF2B5EF4-FFF2-40B4-BE49-F238E27FC236}">
                <a16:creationId xmlns:a16="http://schemas.microsoft.com/office/drawing/2014/main" id="{71D565A1-F8CF-E890-FB28-7281F2CFF7E3}"/>
              </a:ext>
            </a:extLst>
          </p:cNvPr>
          <p:cNvCxnSpPr>
            <a:cxnSpLocks/>
            <a:stCxn id="14" idx="3"/>
            <a:endCxn id="13" idx="3"/>
          </p:cNvCxnSpPr>
          <p:nvPr/>
        </p:nvCxnSpPr>
        <p:spPr>
          <a:xfrm flipV="1">
            <a:off x="9692640" y="3025141"/>
            <a:ext cx="12700" cy="1386839"/>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ACEA52EC-DB48-68FD-8622-943E09929B9A}"/>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94FF5F42-9C51-4691-534E-08804C4EE587}"/>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318353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3E5C2-4CFB-32F4-AB7B-7D238CE5161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5AB0035-C4F8-DC4E-FFF9-3E16753938C8}"/>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E57E2969-AC75-AE10-FC34-B7F09C2633FF}"/>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CF0FDAAF-CE98-EB4F-D6E6-BC4CB434636D}"/>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C2C901AC-FE2B-DB4A-D3D8-AF2759C20700}"/>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931B5EE1-84D3-119F-2660-5834136803CC}"/>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2D1CBC4E-F8C1-C48B-68E7-F0B462E82C6F}"/>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6E94ED1A-1A8E-5F95-72AB-480F0B38E5A3}"/>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DD173370-B2A1-CBCF-D5F9-8B771568AC06}"/>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CC42803D-D807-435A-0127-179BD117836E}"/>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EAD446B3-F9EA-1956-4928-4093BE402253}"/>
              </a:ext>
            </a:extLst>
          </p:cNvPr>
          <p:cNvSpPr txBox="1"/>
          <p:nvPr/>
        </p:nvSpPr>
        <p:spPr>
          <a:xfrm>
            <a:off x="6015489" y="2544939"/>
            <a:ext cx="1535998" cy="461665"/>
          </a:xfrm>
          <a:prstGeom prst="rect">
            <a:avLst/>
          </a:prstGeom>
          <a:noFill/>
        </p:spPr>
        <p:txBody>
          <a:bodyPr wrap="none" rtlCol="0">
            <a:spAutoFit/>
          </a:bodyPr>
          <a:lstStyle/>
          <a:p>
            <a:r>
              <a:rPr lang="en-US" sz="2400" b="1" i="1" dirty="0"/>
              <a:t>malloc(10)</a:t>
            </a:r>
          </a:p>
        </p:txBody>
      </p:sp>
      <p:cxnSp>
        <p:nvCxnSpPr>
          <p:cNvPr id="2" name="Connector: Curved 1">
            <a:extLst>
              <a:ext uri="{FF2B5EF4-FFF2-40B4-BE49-F238E27FC236}">
                <a16:creationId xmlns:a16="http://schemas.microsoft.com/office/drawing/2014/main" id="{B26D03D9-E55A-8E56-ACB6-CFBC422ABD51}"/>
              </a:ext>
            </a:extLst>
          </p:cNvPr>
          <p:cNvCxnSpPr/>
          <p:nvPr/>
        </p:nvCxnSpPr>
        <p:spPr>
          <a:xfrm rot="10800000" flipV="1">
            <a:off x="7858759" y="3232094"/>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DDFBC5C-0B5D-7DAA-8EFF-0400B4503FC2}"/>
              </a:ext>
            </a:extLst>
          </p:cNvPr>
          <p:cNvSpPr txBox="1"/>
          <p:nvPr/>
        </p:nvSpPr>
        <p:spPr>
          <a:xfrm>
            <a:off x="5809158" y="3931778"/>
            <a:ext cx="1816523" cy="461665"/>
          </a:xfrm>
          <a:prstGeom prst="rect">
            <a:avLst/>
          </a:prstGeom>
          <a:noFill/>
        </p:spPr>
        <p:txBody>
          <a:bodyPr wrap="none" rtlCol="0">
            <a:spAutoFit/>
          </a:bodyPr>
          <a:lstStyle/>
          <a:p>
            <a:r>
              <a:rPr lang="en-US" sz="2400" b="1" i="1" dirty="0" err="1"/>
              <a:t>mmap</a:t>
            </a:r>
            <a:r>
              <a:rPr lang="en-US" sz="2400" b="1" i="1" dirty="0"/>
              <a:t>(2048)</a:t>
            </a:r>
          </a:p>
        </p:txBody>
      </p:sp>
      <p:cxnSp>
        <p:nvCxnSpPr>
          <p:cNvPr id="8" name="Connector: Curved 7">
            <a:extLst>
              <a:ext uri="{FF2B5EF4-FFF2-40B4-BE49-F238E27FC236}">
                <a16:creationId xmlns:a16="http://schemas.microsoft.com/office/drawing/2014/main" id="{FD2160D1-020A-A2E1-7122-948C0662347E}"/>
              </a:ext>
            </a:extLst>
          </p:cNvPr>
          <p:cNvCxnSpPr>
            <a:cxnSpLocks/>
            <a:stCxn id="14" idx="3"/>
            <a:endCxn id="13" idx="3"/>
          </p:cNvCxnSpPr>
          <p:nvPr/>
        </p:nvCxnSpPr>
        <p:spPr>
          <a:xfrm flipV="1">
            <a:off x="9692640" y="3025141"/>
            <a:ext cx="12700" cy="1386839"/>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DE232078-01BE-7CEC-9204-0143E65A1A20}"/>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B028399B-E237-E632-028A-890B3599C712}"/>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14CB88A6-BFA0-D705-1C44-588CD73D916E}"/>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3A2980C9-C4A3-A359-5092-DFE9CB6408BD}"/>
              </a:ext>
            </a:extLst>
          </p:cNvPr>
          <p:cNvCxnSpPr>
            <a:cxnSpLocks/>
            <a:endCxn id="12" idx="3"/>
          </p:cNvCxnSpPr>
          <p:nvPr/>
        </p:nvCxnSpPr>
        <p:spPr>
          <a:xfrm rot="16200000" flipV="1">
            <a:off x="9319261" y="2180677"/>
            <a:ext cx="1165859" cy="41910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DC010217-9972-F466-0607-C0990B71C4BF}"/>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spTree>
    <p:extLst>
      <p:ext uri="{BB962C8B-B14F-4D97-AF65-F5344CB8AC3E}">
        <p14:creationId xmlns:p14="http://schemas.microsoft.com/office/powerpoint/2010/main" val="4306563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9F257-8E24-6986-C127-EF19A5AF11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174A5C4-B8EE-39C2-9F07-319537E6D992}"/>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7B5E1353-271D-02D7-5C81-C21208DF476D}"/>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592FF634-C69C-6993-81FA-AF2C00328D01}"/>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a:t>
            </a:r>
            <a:r>
              <a:rPr lang="en-US" b="1" dirty="0"/>
              <a:t>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91BAB710-15DC-AB10-7B70-3EA42DAD53BC}"/>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AF408228-A624-0F80-5B03-78D9537C1D1C}"/>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7C8EC38A-90F6-5AAF-074F-92A61DC9E6AA}"/>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304AF3BF-2361-77EF-2ACF-47324B85CB8E}"/>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6B3B43B2-5441-0867-DE96-20BAB34375DD}"/>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A759760D-BC19-7503-4702-F27B1FE66602}"/>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784B95D9-7962-F803-D227-DB8352374B13}"/>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5E6534E7-4C85-CC63-4344-B4E610DF9F29}"/>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8AC4CCDA-B3A2-AC2F-2EEF-5D31AE3604D1}"/>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D89D0F08-F428-AAE8-F297-A29D34F55C02}"/>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3DAABE7A-0240-9513-93C9-42B270DE9F99}"/>
              </a:ext>
            </a:extLst>
          </p:cNvPr>
          <p:cNvCxnSpPr>
            <a:cxnSpLocks/>
            <a:endCxn id="12" idx="3"/>
          </p:cNvCxnSpPr>
          <p:nvPr/>
        </p:nvCxnSpPr>
        <p:spPr>
          <a:xfrm rot="16200000" flipV="1">
            <a:off x="9319261" y="2180677"/>
            <a:ext cx="1165859" cy="41910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FA67EC84-2B2B-A219-CA4A-7FACE8B4B3A7}"/>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spTree>
    <p:extLst>
      <p:ext uri="{BB962C8B-B14F-4D97-AF65-F5344CB8AC3E}">
        <p14:creationId xmlns:p14="http://schemas.microsoft.com/office/powerpoint/2010/main" val="23075960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0709E-D9DD-BE61-8190-424DCC9855E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3CC6314-C994-BFB6-5F12-C65DD2AD5018}"/>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DB37CFD2-7D23-C15B-2C8A-682B95D0F6B2}"/>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73B2960D-F06D-D141-1C66-35F347767C05}"/>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a:t>
            </a:r>
            <a:r>
              <a:rPr lang="en-US" b="1" dirty="0"/>
              <a:t>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CAA70BA0-BE46-40A4-14AF-6F52CD9DADE7}"/>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00D9B29D-BC1D-1BFB-F049-2484AC9FAA33}"/>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A36C4654-43E9-1E79-0696-F7A49791CA9B}"/>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B461CEEA-10A8-DBDE-9B76-E7B5A2F7A061}"/>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174E2D86-1112-D0B4-235F-3C62F58B9A40}"/>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56EA3F6D-9718-03F8-37F3-583F8465CED4}"/>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FF715F27-9867-01CA-AFA2-F0466D74FC3A}"/>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B1938EF7-420C-BBA6-B412-303C0D1A3AAA}"/>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A4D4F695-0AAB-5F87-EBD0-0105DA06A074}"/>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C70FF57B-11AE-85FB-2CC0-59D8826F3E90}"/>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A8BCFCA6-6725-50EF-4322-5B11D0BB7EA2}"/>
              </a:ext>
            </a:extLst>
          </p:cNvPr>
          <p:cNvCxnSpPr>
            <a:cxnSpLocks/>
            <a:endCxn id="12" idx="3"/>
          </p:cNvCxnSpPr>
          <p:nvPr/>
        </p:nvCxnSpPr>
        <p:spPr>
          <a:xfrm rot="16200000" flipV="1">
            <a:off x="9496847" y="2003091"/>
            <a:ext cx="1199307" cy="80772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A06972F1-9800-AD48-1123-8F039E87F8AB}"/>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cxnSp>
        <p:nvCxnSpPr>
          <p:cNvPr id="7" name="Straight Connector 6">
            <a:extLst>
              <a:ext uri="{FF2B5EF4-FFF2-40B4-BE49-F238E27FC236}">
                <a16:creationId xmlns:a16="http://schemas.microsoft.com/office/drawing/2014/main" id="{AF5221AD-4B7B-B875-AEA0-E727BBC295B1}"/>
              </a:ext>
            </a:extLst>
          </p:cNvPr>
          <p:cNvCxnSpPr/>
          <p:nvPr/>
        </p:nvCxnSpPr>
        <p:spPr>
          <a:xfrm>
            <a:off x="106375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217950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F8D3A-83B5-4120-6BD9-70A5951A6C8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1F4638-BAE8-D782-50C7-E04B7568C3D3}"/>
              </a:ext>
            </a:extLst>
          </p:cNvPr>
          <p:cNvSpPr>
            <a:spLocks noGrp="1"/>
          </p:cNvSpPr>
          <p:nvPr>
            <p:ph idx="1"/>
          </p:nvPr>
        </p:nvSpPr>
        <p:spPr/>
        <p:txBody>
          <a:bodyPr/>
          <a:lstStyle/>
          <a:p>
            <a:endParaRPr lang="en-US"/>
          </a:p>
        </p:txBody>
      </p:sp>
      <p:sp>
        <p:nvSpPr>
          <p:cNvPr id="4" name="Title 3">
            <a:extLst>
              <a:ext uri="{FF2B5EF4-FFF2-40B4-BE49-F238E27FC236}">
                <a16:creationId xmlns:a16="http://schemas.microsoft.com/office/drawing/2014/main" id="{8A631CFD-F2CF-AB0A-A3C7-C3BCA17AFD89}"/>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C3C5E80A-9C92-60B3-9DC1-3E4E3FE4F869}"/>
              </a:ext>
            </a:extLst>
          </p:cNvPr>
          <p:cNvSpPr>
            <a:spLocks noGrp="1"/>
          </p:cNvSpPr>
          <p:nvPr>
            <p:ph idx="13"/>
          </p:nvPr>
        </p:nvSpPr>
        <p:spPr/>
        <p:txBody>
          <a:bodyPr>
            <a:normAutofit/>
          </a:bodyPr>
          <a:lstStyle/>
          <a:p>
            <a:r>
              <a:rPr lang="en-US" dirty="0"/>
              <a:t>Takeaways</a:t>
            </a:r>
          </a:p>
          <a:p>
            <a:pPr lvl="1"/>
            <a:r>
              <a:rPr lang="en-US" dirty="0"/>
              <a:t>Not all malloc calls invoke the kernel</a:t>
            </a:r>
          </a:p>
          <a:p>
            <a:pPr lvl="1"/>
            <a:r>
              <a:rPr lang="en-US" dirty="0"/>
              <a:t>Allocators maintain metadata critical for managing heap memory</a:t>
            </a:r>
          </a:p>
          <a:p>
            <a:pPr lvl="1"/>
            <a:r>
              <a:rPr lang="en-US" b="1" i="1" dirty="0"/>
              <a:t>Corrupting this metadata is bad…</a:t>
            </a:r>
          </a:p>
        </p:txBody>
      </p:sp>
      <p:cxnSp>
        <p:nvCxnSpPr>
          <p:cNvPr id="9" name="Straight Connector 8">
            <a:extLst>
              <a:ext uri="{FF2B5EF4-FFF2-40B4-BE49-F238E27FC236}">
                <a16:creationId xmlns:a16="http://schemas.microsoft.com/office/drawing/2014/main" id="{F198E7E2-EA55-DB74-C950-4E265A355606}"/>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68634ED2-B3E8-EA6B-8870-F74291D4EF23}"/>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EED49B31-7A43-E309-7E12-1DC50F9F9A63}"/>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72DD3110-57A1-65DD-35A3-2571C209B069}"/>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5BBC9683-597E-0B43-0A3B-5B777712D65D}"/>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26BFBADD-81AF-5AAC-D044-42C4BA9CF776}"/>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F4A22332-F9FC-286A-94F3-71686FFA5F67}"/>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54E4C612-3A8A-8E6A-936C-B1F6D162C726}"/>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88654176-1F4F-B6EE-9B7C-A8CB3AE3DE9B}"/>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B4B9A851-14EB-E5F7-72E1-9FA6E50F9DD9}"/>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F3935709-021A-34EB-F5EA-B16960DC7223}"/>
              </a:ext>
            </a:extLst>
          </p:cNvPr>
          <p:cNvCxnSpPr>
            <a:cxnSpLocks/>
            <a:endCxn id="12" idx="3"/>
          </p:cNvCxnSpPr>
          <p:nvPr/>
        </p:nvCxnSpPr>
        <p:spPr>
          <a:xfrm rot="16200000" flipV="1">
            <a:off x="9496847" y="2003091"/>
            <a:ext cx="1199307" cy="80772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8D6D6276-7884-7931-4376-B62B0A0B6EC8}"/>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cxnSp>
        <p:nvCxnSpPr>
          <p:cNvPr id="7" name="Straight Connector 6">
            <a:extLst>
              <a:ext uri="{FF2B5EF4-FFF2-40B4-BE49-F238E27FC236}">
                <a16:creationId xmlns:a16="http://schemas.microsoft.com/office/drawing/2014/main" id="{8040CCFA-AE33-85C3-237F-32C57548CBDE}"/>
              </a:ext>
            </a:extLst>
          </p:cNvPr>
          <p:cNvCxnSpPr/>
          <p:nvPr/>
        </p:nvCxnSpPr>
        <p:spPr>
          <a:xfrm>
            <a:off x="106375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1820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43619E78-72B6-7529-4728-F40DE756BB08}"/>
              </a:ext>
            </a:extLst>
          </p:cNvPr>
          <p:cNvSpPr>
            <a:spLocks noGrp="1"/>
          </p:cNvSpPr>
          <p:nvPr>
            <p:ph idx="1"/>
          </p:nvPr>
        </p:nvSpPr>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p>
          <a:p>
            <a:r>
              <a:rPr lang="en-US" sz="2000" dirty="0"/>
              <a:t>	//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latin typeface="Consolas" panose="020B0609020204030204" pitchFamily="49" charset="0"/>
              </a:rPr>
              <a:t>	// 1000 statements later</a:t>
            </a:r>
          </a:p>
          <a:p>
            <a:r>
              <a:rPr lang="en-US" sz="2000" dirty="0"/>
              <a:t>	buffer[2] = ‘A’;</a:t>
            </a:r>
            <a:br>
              <a:rPr lang="en-US" sz="2000" dirty="0">
                <a:latin typeface="Consolas" panose="020B0609020204030204" pitchFamily="49" charset="0"/>
              </a:rPr>
            </a:br>
            <a:r>
              <a:rPr lang="en-US" sz="2000" dirty="0">
                <a:latin typeface="Consolas" panose="020B0609020204030204" pitchFamily="49" charset="0"/>
              </a:rPr>
              <a:t>	return;</a:t>
            </a:r>
            <a:br>
              <a:rPr lang="en-US" sz="2000" dirty="0">
                <a:latin typeface="Consolas" panose="020B0609020204030204" pitchFamily="49" charset="0"/>
              </a:rPr>
            </a:br>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8E0C7F9E-50F3-4D1B-9C70-99807113F8DC}"/>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B6CC89FC-3E13-A90C-6506-E922C4FA9E3B}"/>
              </a:ext>
            </a:extLst>
          </p:cNvPr>
          <p:cNvSpPr>
            <a:spLocks noGrp="1"/>
          </p:cNvSpPr>
          <p:nvPr>
            <p:ph idx="13"/>
          </p:nvPr>
        </p:nvSpPr>
        <p:spPr/>
        <p:txBody>
          <a:bodyPr/>
          <a:lstStyle/>
          <a:p>
            <a:r>
              <a:rPr lang="en-US" dirty="0"/>
              <a:t>C compiler will not detect updates to freed memory</a:t>
            </a:r>
          </a:p>
        </p:txBody>
      </p:sp>
      <p:sp>
        <p:nvSpPr>
          <p:cNvPr id="13" name="Arrow: Right 12">
            <a:extLst>
              <a:ext uri="{FF2B5EF4-FFF2-40B4-BE49-F238E27FC236}">
                <a16:creationId xmlns:a16="http://schemas.microsoft.com/office/drawing/2014/main" id="{597BF14C-44B2-35CE-EC18-AB72FE7FD64C}"/>
              </a:ext>
            </a:extLst>
          </p:cNvPr>
          <p:cNvSpPr/>
          <p:nvPr/>
        </p:nvSpPr>
        <p:spPr>
          <a:xfrm>
            <a:off x="5713803" y="2605911"/>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0E902AA9-2519-3669-7DB8-010C2F44D2C8}"/>
              </a:ext>
            </a:extLst>
          </p:cNvPr>
          <p:cNvSpPr/>
          <p:nvPr/>
        </p:nvSpPr>
        <p:spPr>
          <a:xfrm>
            <a:off x="5713802" y="1663177"/>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85970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4"/>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3" grpId="1" animBg="1"/>
      <p:bldP spid="14" grpId="0" animBg="1"/>
      <p:bldP spid="14" grpId="1"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8EEED-382C-6E00-92AC-F8A77E83D38C}"/>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7C465E80-C159-D1E4-C7C2-C554125FD10C}"/>
              </a:ext>
            </a:extLst>
          </p:cNvPr>
          <p:cNvSpPr>
            <a:spLocks noGrp="1"/>
          </p:cNvSpPr>
          <p:nvPr>
            <p:ph idx="1"/>
          </p:nvPr>
        </p:nvSpPr>
        <p:spPr>
          <a:xfrm>
            <a:off x="6176512" y="785004"/>
            <a:ext cx="6155188" cy="5046453"/>
          </a:xfrm>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br>
              <a:rPr lang="en-US" sz="2000" dirty="0">
                <a:latin typeface="Consolas" panose="020B0609020204030204" pitchFamily="49" charset="0"/>
              </a:rPr>
            </a:br>
            <a:r>
              <a:rPr lang="en-US" sz="2000" dirty="0">
                <a:latin typeface="Consolas" panose="020B0609020204030204" pitchFamily="49" charset="0"/>
              </a:rPr>
              <a:t>	</a:t>
            </a:r>
            <a:r>
              <a:rPr lang="en-US" sz="2000" dirty="0"/>
              <a:t>//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t>	// 1000 statements later</a:t>
            </a:r>
            <a:br>
              <a:rPr lang="en-US" sz="2000" dirty="0"/>
            </a:br>
            <a:endParaRPr lang="en-US" sz="2000" dirty="0"/>
          </a:p>
          <a:p>
            <a:r>
              <a:rPr lang="en-US" sz="2000" dirty="0">
                <a:latin typeface="Consolas" panose="020B0609020204030204" pitchFamily="49" charset="0"/>
              </a:rPr>
              <a:t>	char* SSL_KEY = malloc(8);</a:t>
            </a:r>
            <a:br>
              <a:rPr lang="en-US" sz="2000" dirty="0">
                <a:latin typeface="Consolas" panose="020B0609020204030204" pitchFamily="49" charset="0"/>
              </a:rPr>
            </a:br>
            <a:endParaRPr lang="en-US" sz="2000" dirty="0">
              <a:latin typeface="Consolas" panose="020B0609020204030204" pitchFamily="49" charset="0"/>
            </a:endParaRPr>
          </a:p>
          <a:p>
            <a:r>
              <a:rPr lang="en-US" sz="2000" dirty="0"/>
              <a:t>	// 1000 statements later</a:t>
            </a:r>
            <a:endParaRPr lang="en-US" sz="2000" dirty="0">
              <a:latin typeface="Consolas" panose="020B0609020204030204" pitchFamily="49" charset="0"/>
            </a:endParaRPr>
          </a:p>
          <a:p>
            <a:r>
              <a:rPr lang="en-US" sz="2000" dirty="0"/>
              <a:t>	buffer[2] = ‘A’; // will overwrite SSL_KEY</a:t>
            </a:r>
            <a:br>
              <a:rPr lang="en-US" sz="2000" dirty="0">
                <a:latin typeface="Consolas" panose="020B0609020204030204" pitchFamily="49" charset="0"/>
              </a:rPr>
            </a:br>
            <a:r>
              <a:rPr lang="en-US" sz="2000" dirty="0">
                <a:latin typeface="Consolas" panose="020B0609020204030204" pitchFamily="49" charset="0"/>
              </a:rPr>
              <a:t>	return;</a:t>
            </a:r>
            <a:br>
              <a:rPr lang="en-US" sz="2000" dirty="0">
                <a:latin typeface="Consolas" panose="020B0609020204030204" pitchFamily="49" charset="0"/>
              </a:rPr>
            </a:br>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D36DE1AF-1248-87D5-D4D3-3C21FB5EB159}"/>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4279126C-BD3B-B6C3-B8FB-2E233E927D06}"/>
              </a:ext>
            </a:extLst>
          </p:cNvPr>
          <p:cNvSpPr>
            <a:spLocks noGrp="1"/>
          </p:cNvSpPr>
          <p:nvPr>
            <p:ph idx="13"/>
          </p:nvPr>
        </p:nvSpPr>
        <p:spPr/>
        <p:txBody>
          <a:bodyPr/>
          <a:lstStyle/>
          <a:p>
            <a:r>
              <a:rPr lang="en-US" dirty="0"/>
              <a:t>C compiler will not detect updates to freed memory</a:t>
            </a:r>
          </a:p>
        </p:txBody>
      </p:sp>
      <p:grpSp>
        <p:nvGrpSpPr>
          <p:cNvPr id="2" name="Group 1">
            <a:extLst>
              <a:ext uri="{FF2B5EF4-FFF2-40B4-BE49-F238E27FC236}">
                <a16:creationId xmlns:a16="http://schemas.microsoft.com/office/drawing/2014/main" id="{66244268-CEA7-139A-F653-F1EDBB1D80C9}"/>
              </a:ext>
            </a:extLst>
          </p:cNvPr>
          <p:cNvGrpSpPr/>
          <p:nvPr/>
        </p:nvGrpSpPr>
        <p:grpSpPr>
          <a:xfrm>
            <a:off x="-1268269" y="2150464"/>
            <a:ext cx="6791695" cy="4396154"/>
            <a:chOff x="5033991" y="914400"/>
            <a:chExt cx="6791695" cy="4396154"/>
          </a:xfrm>
        </p:grpSpPr>
        <p:sp>
          <p:nvSpPr>
            <p:cNvPr id="3" name="TextBox 2">
              <a:extLst>
                <a:ext uri="{FF2B5EF4-FFF2-40B4-BE49-F238E27FC236}">
                  <a16:creationId xmlns:a16="http://schemas.microsoft.com/office/drawing/2014/main" id="{44B0C5FF-2A2C-1563-B9E7-33B0687FCD93}"/>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4" name="Group 3">
              <a:extLst>
                <a:ext uri="{FF2B5EF4-FFF2-40B4-BE49-F238E27FC236}">
                  <a16:creationId xmlns:a16="http://schemas.microsoft.com/office/drawing/2014/main" id="{963B186C-A673-1D65-CA13-BB78C02C6F6C}"/>
                </a:ext>
              </a:extLst>
            </p:cNvPr>
            <p:cNvGrpSpPr/>
            <p:nvPr/>
          </p:nvGrpSpPr>
          <p:grpSpPr>
            <a:xfrm>
              <a:off x="7561385" y="914400"/>
              <a:ext cx="4264301" cy="4396154"/>
              <a:chOff x="7561385" y="914400"/>
              <a:chExt cx="4264301" cy="4396154"/>
            </a:xfrm>
          </p:grpSpPr>
          <p:sp>
            <p:nvSpPr>
              <p:cNvPr id="6" name="TextBox 5">
                <a:extLst>
                  <a:ext uri="{FF2B5EF4-FFF2-40B4-BE49-F238E27FC236}">
                    <a16:creationId xmlns:a16="http://schemas.microsoft.com/office/drawing/2014/main" id="{A6FAA26F-7EB9-5F7A-E6B9-DC4D1713FDBD}"/>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7" name="TextBox 6">
                <a:extLst>
                  <a:ext uri="{FF2B5EF4-FFF2-40B4-BE49-F238E27FC236}">
                    <a16:creationId xmlns:a16="http://schemas.microsoft.com/office/drawing/2014/main" id="{815740FF-3001-4F28-B066-1832B196FF6C}"/>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8" name="TextBox 7">
                <a:extLst>
                  <a:ext uri="{FF2B5EF4-FFF2-40B4-BE49-F238E27FC236}">
                    <a16:creationId xmlns:a16="http://schemas.microsoft.com/office/drawing/2014/main" id="{ED773BF3-DDD1-8C0E-9D15-47CB7CD81054}"/>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9" name="TextBox 8">
                <a:extLst>
                  <a:ext uri="{FF2B5EF4-FFF2-40B4-BE49-F238E27FC236}">
                    <a16:creationId xmlns:a16="http://schemas.microsoft.com/office/drawing/2014/main" id="{B67C8B71-80AA-7D00-1FFB-634A3454BDED}"/>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0" name="TextBox 9">
                <a:extLst>
                  <a:ext uri="{FF2B5EF4-FFF2-40B4-BE49-F238E27FC236}">
                    <a16:creationId xmlns:a16="http://schemas.microsoft.com/office/drawing/2014/main" id="{DF03CEB5-45EA-C108-47D6-5FC25460DB68}"/>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3" name="Group 12">
                <a:extLst>
                  <a:ext uri="{FF2B5EF4-FFF2-40B4-BE49-F238E27FC236}">
                    <a16:creationId xmlns:a16="http://schemas.microsoft.com/office/drawing/2014/main" id="{D866DBF4-045A-6FB4-39E3-BE2A5DC0E8D2}"/>
                  </a:ext>
                </a:extLst>
              </p:cNvPr>
              <p:cNvGrpSpPr/>
              <p:nvPr/>
            </p:nvGrpSpPr>
            <p:grpSpPr>
              <a:xfrm>
                <a:off x="7561385" y="914400"/>
                <a:ext cx="2942492" cy="4396154"/>
                <a:chOff x="6822831" y="973015"/>
                <a:chExt cx="2942492" cy="4396154"/>
              </a:xfrm>
            </p:grpSpPr>
            <p:grpSp>
              <p:nvGrpSpPr>
                <p:cNvPr id="14" name="Group 13">
                  <a:extLst>
                    <a:ext uri="{FF2B5EF4-FFF2-40B4-BE49-F238E27FC236}">
                      <a16:creationId xmlns:a16="http://schemas.microsoft.com/office/drawing/2014/main" id="{95BD6024-CF2A-4FDC-CA3D-BC52083EA59F}"/>
                    </a:ext>
                  </a:extLst>
                </p:cNvPr>
                <p:cNvGrpSpPr/>
                <p:nvPr/>
              </p:nvGrpSpPr>
              <p:grpSpPr>
                <a:xfrm>
                  <a:off x="6822831" y="973015"/>
                  <a:ext cx="2942492" cy="4396154"/>
                  <a:chOff x="6822831" y="973015"/>
                  <a:chExt cx="2942492" cy="4396154"/>
                </a:xfrm>
              </p:grpSpPr>
              <p:cxnSp>
                <p:nvCxnSpPr>
                  <p:cNvPr id="20" name="Straight Connector 19">
                    <a:extLst>
                      <a:ext uri="{FF2B5EF4-FFF2-40B4-BE49-F238E27FC236}">
                        <a16:creationId xmlns:a16="http://schemas.microsoft.com/office/drawing/2014/main" id="{E67CF128-336B-8565-4D2C-7A6479C704CF}"/>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5EC6F7B2-FCF0-EA42-2DD0-0483E5896625}"/>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5" name="Straight Connector 14">
                  <a:extLst>
                    <a:ext uri="{FF2B5EF4-FFF2-40B4-BE49-F238E27FC236}">
                      <a16:creationId xmlns:a16="http://schemas.microsoft.com/office/drawing/2014/main" id="{90A6CAAD-B27C-45E4-4BC6-EFC89AD800F5}"/>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6" name="Straight Connector 15">
                  <a:extLst>
                    <a:ext uri="{FF2B5EF4-FFF2-40B4-BE49-F238E27FC236}">
                      <a16:creationId xmlns:a16="http://schemas.microsoft.com/office/drawing/2014/main" id="{BA4B96B7-9DE4-8E14-664F-E24BB016C9EF}"/>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7" name="Straight Connector 16">
                  <a:extLst>
                    <a:ext uri="{FF2B5EF4-FFF2-40B4-BE49-F238E27FC236}">
                      <a16:creationId xmlns:a16="http://schemas.microsoft.com/office/drawing/2014/main" id="{00A40F39-14EC-A0BE-9065-E5D8C0500CAB}"/>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8" name="Straight Connector 17">
                  <a:extLst>
                    <a:ext uri="{FF2B5EF4-FFF2-40B4-BE49-F238E27FC236}">
                      <a16:creationId xmlns:a16="http://schemas.microsoft.com/office/drawing/2014/main" id="{EDA7080F-295A-1E5D-3821-689247688039}"/>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FFF85F1A-A16E-563E-1A26-B96F87AFBFA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2" name="Rectangle 21">
            <a:extLst>
              <a:ext uri="{FF2B5EF4-FFF2-40B4-BE49-F238E27FC236}">
                <a16:creationId xmlns:a16="http://schemas.microsoft.com/office/drawing/2014/main" id="{4119F219-6AC2-3D1C-52C8-3CDBC577D5A8}"/>
              </a:ext>
            </a:extLst>
          </p:cNvPr>
          <p:cNvSpPr/>
          <p:nvPr/>
        </p:nvSpPr>
        <p:spPr>
          <a:xfrm>
            <a:off x="1706249" y="2833042"/>
            <a:ext cx="2036977" cy="1240680"/>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buffer</a:t>
            </a:r>
            <a:endParaRPr lang="en-US" dirty="0"/>
          </a:p>
        </p:txBody>
      </p:sp>
      <p:sp>
        <p:nvSpPr>
          <p:cNvPr id="23" name="Arrow: Right 22">
            <a:extLst>
              <a:ext uri="{FF2B5EF4-FFF2-40B4-BE49-F238E27FC236}">
                <a16:creationId xmlns:a16="http://schemas.microsoft.com/office/drawing/2014/main" id="{67FBD160-1540-7A52-C35B-C1F3E5710445}"/>
              </a:ext>
            </a:extLst>
          </p:cNvPr>
          <p:cNvSpPr/>
          <p:nvPr/>
        </p:nvSpPr>
        <p:spPr>
          <a:xfrm>
            <a:off x="5659765" y="1118624"/>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Right 23">
            <a:extLst>
              <a:ext uri="{FF2B5EF4-FFF2-40B4-BE49-F238E27FC236}">
                <a16:creationId xmlns:a16="http://schemas.microsoft.com/office/drawing/2014/main" id="{6823E631-0389-E152-400B-3FB3F1BE8297}"/>
              </a:ext>
            </a:extLst>
          </p:cNvPr>
          <p:cNvSpPr/>
          <p:nvPr/>
        </p:nvSpPr>
        <p:spPr>
          <a:xfrm>
            <a:off x="5659765" y="1691495"/>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Right 24">
            <a:extLst>
              <a:ext uri="{FF2B5EF4-FFF2-40B4-BE49-F238E27FC236}">
                <a16:creationId xmlns:a16="http://schemas.microsoft.com/office/drawing/2014/main" id="{8740E946-8C55-51EC-ED83-5446F18C0BD8}"/>
              </a:ext>
            </a:extLst>
          </p:cNvPr>
          <p:cNvSpPr/>
          <p:nvPr/>
        </p:nvSpPr>
        <p:spPr>
          <a:xfrm>
            <a:off x="5659765" y="2903304"/>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D506D0FA-D2CF-F8B9-D10F-B90C3BCF882C}"/>
              </a:ext>
            </a:extLst>
          </p:cNvPr>
          <p:cNvSpPr/>
          <p:nvPr/>
        </p:nvSpPr>
        <p:spPr>
          <a:xfrm>
            <a:off x="1717517" y="2820336"/>
            <a:ext cx="2036977" cy="124068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SSL_KEY</a:t>
            </a:r>
            <a:endParaRPr lang="en-US" dirty="0"/>
          </a:p>
        </p:txBody>
      </p:sp>
      <p:sp>
        <p:nvSpPr>
          <p:cNvPr id="27" name="Arrow: Right 26">
            <a:extLst>
              <a:ext uri="{FF2B5EF4-FFF2-40B4-BE49-F238E27FC236}">
                <a16:creationId xmlns:a16="http://schemas.microsoft.com/office/drawing/2014/main" id="{89E9EDC8-BCE5-DA4F-0C9D-FB0F35BA5E11}"/>
              </a:ext>
            </a:extLst>
          </p:cNvPr>
          <p:cNvSpPr/>
          <p:nvPr/>
        </p:nvSpPr>
        <p:spPr>
          <a:xfrm>
            <a:off x="5713803" y="3870248"/>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D629E8AF-3414-601C-3621-2D90EE93FB4A}"/>
              </a:ext>
            </a:extLst>
          </p:cNvPr>
          <p:cNvSpPr txBox="1"/>
          <p:nvPr/>
        </p:nvSpPr>
        <p:spPr>
          <a:xfrm>
            <a:off x="2211439" y="2833042"/>
            <a:ext cx="477993" cy="534811"/>
          </a:xfrm>
          <a:prstGeom prst="rect">
            <a:avLst/>
          </a:prstGeom>
          <a:noFill/>
          <a:ln w="25400">
            <a:solidFill>
              <a:schemeClr val="accent1">
                <a:shade val="15000"/>
              </a:schemeClr>
            </a:solidFill>
          </a:ln>
        </p:spPr>
        <p:txBody>
          <a:bodyPr wrap="square" rtlCol="0">
            <a:spAutoFit/>
          </a:bodyPr>
          <a:lstStyle/>
          <a:p>
            <a:r>
              <a:rPr lang="en-US" sz="2800" dirty="0">
                <a:solidFill>
                  <a:srgbClr val="FF0000"/>
                </a:solidFill>
              </a:rPr>
              <a:t>A</a:t>
            </a:r>
          </a:p>
        </p:txBody>
      </p:sp>
    </p:spTree>
    <p:extLst>
      <p:ext uri="{BB962C8B-B14F-4D97-AF65-F5344CB8AC3E}">
        <p14:creationId xmlns:p14="http://schemas.microsoft.com/office/powerpoint/2010/main" val="3593787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2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22"/>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24"/>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25"/>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2" grpId="1" animBg="1"/>
      <p:bldP spid="23" grpId="0" animBg="1"/>
      <p:bldP spid="23" grpId="1" animBg="1"/>
      <p:bldP spid="24" grpId="0" animBg="1"/>
      <p:bldP spid="24" grpId="1" animBg="1"/>
      <p:bldP spid="25" grpId="0" animBg="1"/>
      <p:bldP spid="25" grpId="1" animBg="1"/>
      <p:bldP spid="26" grpId="0" animBg="1"/>
      <p:bldP spid="27" grpId="0" animBg="1"/>
      <p:bldP spid="28"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4069A-0163-6963-D6D6-509B81422BED}"/>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50710947-04CC-BA7F-375E-DEB16663CADA}"/>
              </a:ext>
            </a:extLst>
          </p:cNvPr>
          <p:cNvSpPr>
            <a:spLocks noGrp="1"/>
          </p:cNvSpPr>
          <p:nvPr>
            <p:ph idx="1"/>
          </p:nvPr>
        </p:nvSpPr>
        <p:spPr>
          <a:xfrm>
            <a:off x="6176512" y="785004"/>
            <a:ext cx="6155188" cy="5046453"/>
          </a:xfrm>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br>
              <a:rPr lang="en-US" sz="2000" dirty="0">
                <a:latin typeface="Consolas" panose="020B0609020204030204" pitchFamily="49" charset="0"/>
              </a:rPr>
            </a:br>
            <a:r>
              <a:rPr lang="en-US" sz="2000" dirty="0">
                <a:latin typeface="Consolas" panose="020B0609020204030204" pitchFamily="49" charset="0"/>
              </a:rPr>
              <a:t>	</a:t>
            </a:r>
            <a:r>
              <a:rPr lang="en-US" sz="2000" dirty="0"/>
              <a:t> //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t>	// 1000 statements later</a:t>
            </a:r>
            <a:br>
              <a:rPr lang="en-US" sz="2000" dirty="0"/>
            </a:br>
            <a:endParaRPr lang="en-US" sz="2000" dirty="0"/>
          </a:p>
          <a:p>
            <a:r>
              <a:rPr lang="en-US" sz="2000" dirty="0">
                <a:latin typeface="Consolas" panose="020B0609020204030204" pitchFamily="49" charset="0"/>
              </a:rPr>
              <a:t>	char* SSL_KEY = malloc(8);</a:t>
            </a:r>
            <a:br>
              <a:rPr lang="en-US" sz="2000" dirty="0">
                <a:latin typeface="Consolas" panose="020B0609020204030204" pitchFamily="49" charset="0"/>
              </a:rPr>
            </a:br>
            <a:endParaRPr lang="en-US" sz="2000" dirty="0">
              <a:latin typeface="Consolas" panose="020B0609020204030204" pitchFamily="49" charset="0"/>
            </a:endParaRPr>
          </a:p>
          <a:p>
            <a:r>
              <a:rPr lang="en-US" sz="2000" dirty="0"/>
              <a:t>	// 1000 statements later</a:t>
            </a:r>
            <a:endParaRPr lang="en-US" sz="2000" dirty="0">
              <a:latin typeface="Consolas" panose="020B0609020204030204" pitchFamily="49" charset="0"/>
            </a:endParaRPr>
          </a:p>
          <a:p>
            <a:r>
              <a:rPr lang="en-US" sz="2000" dirty="0"/>
              <a:t>	buffer[2] = ‘A’; // will overwrite SSL_KEY</a:t>
            </a:r>
            <a:br>
              <a:rPr lang="en-US" sz="2000" dirty="0">
                <a:latin typeface="Consolas" panose="020B0609020204030204" pitchFamily="49" charset="0"/>
              </a:rPr>
            </a:br>
            <a:r>
              <a:rPr lang="en-US" sz="2000" dirty="0">
                <a:latin typeface="Consolas" panose="020B0609020204030204" pitchFamily="49" charset="0"/>
              </a:rPr>
              <a:t>	return;</a:t>
            </a:r>
            <a:br>
              <a:rPr lang="en-US" sz="2000" dirty="0">
                <a:latin typeface="Consolas" panose="020B0609020204030204" pitchFamily="49" charset="0"/>
              </a:rPr>
            </a:br>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1A6324AD-CB42-3342-2645-0648CDCA58E9}"/>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66AFCE83-6471-8CCB-1AB6-6E1C945A9220}"/>
              </a:ext>
            </a:extLst>
          </p:cNvPr>
          <p:cNvSpPr>
            <a:spLocks noGrp="1"/>
          </p:cNvSpPr>
          <p:nvPr>
            <p:ph idx="13"/>
          </p:nvPr>
        </p:nvSpPr>
        <p:spPr/>
        <p:txBody>
          <a:bodyPr/>
          <a:lstStyle/>
          <a:p>
            <a:r>
              <a:rPr lang="en-US" dirty="0"/>
              <a:t>C compiler will not detect updates to freed memory</a:t>
            </a:r>
          </a:p>
          <a:p>
            <a:r>
              <a:rPr lang="en-US" b="1" i="1" dirty="0"/>
              <a:t>Use-after-free (UAF) vulnerability</a:t>
            </a:r>
          </a:p>
          <a:p>
            <a:r>
              <a:rPr lang="en-US" dirty="0"/>
              <a:t>The pointer involved is called a dangling pointer</a:t>
            </a:r>
          </a:p>
        </p:txBody>
      </p:sp>
    </p:spTree>
    <p:extLst>
      <p:ext uri="{BB962C8B-B14F-4D97-AF65-F5344CB8AC3E}">
        <p14:creationId xmlns:p14="http://schemas.microsoft.com/office/powerpoint/2010/main" val="403458111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4E6AA-F8CC-2F89-A4AB-8FE6F2D6621B}"/>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5DE0BDA0-3E3B-380E-3D9D-A960F11DFDB8}"/>
              </a:ext>
            </a:extLst>
          </p:cNvPr>
          <p:cNvSpPr>
            <a:spLocks noGrp="1"/>
          </p:cNvSpPr>
          <p:nvPr>
            <p:ph idx="1"/>
          </p:nvPr>
        </p:nvSpPr>
        <p:spPr>
          <a:xfrm>
            <a:off x="6176512" y="785004"/>
            <a:ext cx="6155188" cy="5046453"/>
          </a:xfrm>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br>
              <a:rPr lang="en-US" sz="2000" dirty="0">
                <a:latin typeface="Consolas" panose="020B0609020204030204" pitchFamily="49" charset="0"/>
              </a:rPr>
            </a:br>
            <a:r>
              <a:rPr lang="en-US" sz="2000" dirty="0">
                <a:latin typeface="Consolas" panose="020B0609020204030204" pitchFamily="49" charset="0"/>
              </a:rPr>
              <a:t>	</a:t>
            </a:r>
            <a:r>
              <a:rPr lang="en-US" sz="2000" dirty="0"/>
              <a:t> //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t>	// 1000 statements later</a:t>
            </a:r>
            <a:br>
              <a:rPr lang="en-US" sz="2000" dirty="0"/>
            </a:br>
            <a:endParaRPr lang="en-US" sz="2000" dirty="0"/>
          </a:p>
          <a:p>
            <a:r>
              <a:rPr lang="en-US" sz="2000" dirty="0">
                <a:latin typeface="Consolas" panose="020B0609020204030204" pitchFamily="49" charset="0"/>
              </a:rPr>
              <a:t>	free(buffer); // again</a:t>
            </a:r>
          </a:p>
          <a:p>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7DD73542-13A2-1F21-E84C-BC85BF4C317B}"/>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01A33F1A-12DF-DE4B-8A1A-AB1AF3873502}"/>
              </a:ext>
            </a:extLst>
          </p:cNvPr>
          <p:cNvSpPr>
            <a:spLocks noGrp="1"/>
          </p:cNvSpPr>
          <p:nvPr>
            <p:ph idx="13"/>
          </p:nvPr>
        </p:nvSpPr>
        <p:spPr/>
        <p:txBody>
          <a:bodyPr/>
          <a:lstStyle/>
          <a:p>
            <a:r>
              <a:rPr lang="en-US" dirty="0"/>
              <a:t>C compiler will not detect if an object is freed twice</a:t>
            </a:r>
          </a:p>
          <a:p>
            <a:r>
              <a:rPr lang="en-US" dirty="0"/>
              <a:t>Messes up the heap allocator’s meta-data</a:t>
            </a:r>
          </a:p>
          <a:p>
            <a:pPr lvl="1"/>
            <a:r>
              <a:rPr lang="en-US" dirty="0"/>
              <a:t>Can be exploited by the attacker</a:t>
            </a:r>
          </a:p>
          <a:p>
            <a:pPr lvl="1"/>
            <a:r>
              <a:rPr lang="en-US" b="1" i="1" dirty="0"/>
              <a:t>How? </a:t>
            </a:r>
            <a:r>
              <a:rPr lang="en-US" i="1" dirty="0"/>
              <a:t>(potentially in one of the next classes!)</a:t>
            </a:r>
          </a:p>
          <a:p>
            <a:r>
              <a:rPr lang="en-US" b="1" i="1" dirty="0"/>
              <a:t>Double-free vulnerability</a:t>
            </a:r>
          </a:p>
          <a:p>
            <a:endParaRPr lang="en-US" b="1" i="1" dirty="0"/>
          </a:p>
        </p:txBody>
      </p:sp>
      <p:sp>
        <p:nvSpPr>
          <p:cNvPr id="29" name="Arrow: Right 28">
            <a:extLst>
              <a:ext uri="{FF2B5EF4-FFF2-40B4-BE49-F238E27FC236}">
                <a16:creationId xmlns:a16="http://schemas.microsoft.com/office/drawing/2014/main" id="{F2A901F5-5014-4543-A9E3-7D1EE91B02CD}"/>
              </a:ext>
            </a:extLst>
          </p:cNvPr>
          <p:cNvSpPr/>
          <p:nvPr/>
        </p:nvSpPr>
        <p:spPr>
          <a:xfrm>
            <a:off x="5713803" y="1723948"/>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C5AA436E-90DE-5E04-8180-2602BD84AD1B}"/>
              </a:ext>
            </a:extLst>
          </p:cNvPr>
          <p:cNvSpPr/>
          <p:nvPr/>
        </p:nvSpPr>
        <p:spPr>
          <a:xfrm>
            <a:off x="5713803" y="287818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55351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67F8E24-B130-12D0-46BB-218C6D0B206A}"/>
              </a:ext>
            </a:extLst>
          </p:cNvPr>
          <p:cNvSpPr>
            <a:spLocks noGrp="1"/>
          </p:cNvSpPr>
          <p:nvPr>
            <p:ph idx="1"/>
          </p:nvPr>
        </p:nvSpPr>
        <p:spPr/>
        <p:txBody>
          <a:bodyPr/>
          <a:lstStyle/>
          <a:p>
            <a:r>
              <a:rPr lang="en-US" dirty="0"/>
              <a:t>Observation: a few programming patterns lead to the majority of vulnerabilities</a:t>
            </a:r>
          </a:p>
          <a:p>
            <a:r>
              <a:rPr lang="en-US" dirty="0"/>
              <a:t>Solution: avoid those programming patterns</a:t>
            </a:r>
          </a:p>
        </p:txBody>
      </p:sp>
      <p:sp>
        <p:nvSpPr>
          <p:cNvPr id="5" name="Title 4">
            <a:extLst>
              <a:ext uri="{FF2B5EF4-FFF2-40B4-BE49-F238E27FC236}">
                <a16:creationId xmlns:a16="http://schemas.microsoft.com/office/drawing/2014/main" id="{3B75CD14-D9AA-9EAD-02FA-568341EDE9AD}"/>
              </a:ext>
            </a:extLst>
          </p:cNvPr>
          <p:cNvSpPr>
            <a:spLocks noGrp="1"/>
          </p:cNvSpPr>
          <p:nvPr>
            <p:ph type="title"/>
          </p:nvPr>
        </p:nvSpPr>
        <p:spPr/>
        <p:txBody>
          <a:bodyPr/>
          <a:lstStyle/>
          <a:p>
            <a:r>
              <a:rPr lang="en-US" dirty="0"/>
              <a:t>Secure programming</a:t>
            </a:r>
          </a:p>
        </p:txBody>
      </p:sp>
    </p:spTree>
    <p:extLst>
      <p:ext uri="{BB962C8B-B14F-4D97-AF65-F5344CB8AC3E}">
        <p14:creationId xmlns:p14="http://schemas.microsoft.com/office/powerpoint/2010/main" val="2129659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A889F6E-2AA3-C240-5799-C2FEA5B7B05C}"/>
              </a:ext>
            </a:extLst>
          </p:cNvPr>
          <p:cNvSpPr>
            <a:spLocks noGrp="1"/>
          </p:cNvSpPr>
          <p:nvPr>
            <p:ph idx="1"/>
          </p:nvPr>
        </p:nvSpPr>
        <p:spPr/>
        <p:txBody>
          <a:bodyPr/>
          <a:lstStyle/>
          <a:p>
            <a:r>
              <a:rPr lang="en-US" dirty="0"/>
              <a:t>Strings end with </a:t>
            </a:r>
            <a:r>
              <a:rPr lang="en-US" dirty="0">
                <a:latin typeface="Consolas" panose="020B0609020204030204" pitchFamily="49" charset="0"/>
              </a:rPr>
              <a:t>‘\0’</a:t>
            </a:r>
          </a:p>
          <a:p>
            <a:r>
              <a:rPr lang="en-US" dirty="0"/>
              <a:t>Use the size-checked variants of common string functions</a:t>
            </a:r>
          </a:p>
          <a:p>
            <a:pPr lvl="1"/>
            <a:r>
              <a:rPr lang="en-US" dirty="0">
                <a:latin typeface="Consolas" panose="020B0609020204030204" pitchFamily="49" charset="0"/>
              </a:rPr>
              <a:t>char buffer[10];</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 “%9s”, buffer);</a:t>
            </a:r>
          </a:p>
          <a:p>
            <a:pPr lvl="1"/>
            <a:r>
              <a:rPr lang="en-US" dirty="0">
                <a:latin typeface="Consolas" panose="020B0609020204030204" pitchFamily="49" charset="0"/>
              </a:rPr>
              <a:t>char </a:t>
            </a:r>
            <a:r>
              <a:rPr lang="en-US" dirty="0" err="1">
                <a:latin typeface="Consolas" panose="020B0609020204030204" pitchFamily="49" charset="0"/>
              </a:rPr>
              <a:t>dest</a:t>
            </a:r>
            <a:r>
              <a:rPr lang="en-US" dirty="0">
                <a:latin typeface="Consolas" panose="020B0609020204030204" pitchFamily="49" charset="0"/>
              </a:rPr>
              <a:t>[10];</a:t>
            </a:r>
            <a:br>
              <a:rPr lang="en-US" dirty="0">
                <a:latin typeface="Consolas" panose="020B0609020204030204" pitchFamily="49" charset="0"/>
              </a:rPr>
            </a:br>
            <a:r>
              <a:rPr lang="en-US" dirty="0">
                <a:latin typeface="Consolas" panose="020B0609020204030204" pitchFamily="49" charset="0"/>
              </a:rPr>
              <a:t>char </a:t>
            </a:r>
            <a:r>
              <a:rPr lang="en-US" dirty="0" err="1">
                <a:latin typeface="Consolas" panose="020B0609020204030204" pitchFamily="49" charset="0"/>
              </a:rPr>
              <a:t>src</a:t>
            </a:r>
            <a:r>
              <a:rPr lang="en-US" dirty="0">
                <a:latin typeface="Consolas" panose="020B0609020204030204" pitchFamily="49" charset="0"/>
              </a:rPr>
              <a:t>[10];</a:t>
            </a:r>
            <a:br>
              <a:rPr lang="en-US" dirty="0">
                <a:latin typeface="Consolas" panose="020B0609020204030204" pitchFamily="49" charset="0"/>
              </a:rPr>
            </a:br>
            <a:r>
              <a:rPr lang="en-US" dirty="0" err="1">
                <a:latin typeface="Consolas" panose="020B0609020204030204" pitchFamily="49" charset="0"/>
              </a:rPr>
              <a:t>strncpy</a:t>
            </a:r>
            <a:r>
              <a:rPr lang="en-US" dirty="0">
                <a:latin typeface="Consolas" panose="020B0609020204030204" pitchFamily="49" charset="0"/>
              </a:rPr>
              <a:t>(</a:t>
            </a:r>
            <a:r>
              <a:rPr lang="en-US" dirty="0" err="1">
                <a:latin typeface="Consolas" panose="020B0609020204030204" pitchFamily="49" charset="0"/>
              </a:rPr>
              <a:t>dest</a:t>
            </a:r>
            <a:r>
              <a:rPr lang="en-US" dirty="0">
                <a:latin typeface="Consolas" panose="020B0609020204030204" pitchFamily="49" charset="0"/>
              </a:rPr>
              <a:t>, </a:t>
            </a:r>
            <a:r>
              <a:rPr lang="en-US" dirty="0" err="1">
                <a:latin typeface="Consolas" panose="020B0609020204030204" pitchFamily="49" charset="0"/>
              </a:rPr>
              <a:t>src</a:t>
            </a:r>
            <a:r>
              <a:rPr lang="en-US" dirty="0">
                <a:latin typeface="Consolas" panose="020B0609020204030204" pitchFamily="49" charset="0"/>
              </a:rPr>
              <a:t>, 10);</a:t>
            </a:r>
          </a:p>
          <a:p>
            <a:pPr lvl="1"/>
            <a:r>
              <a:rPr lang="en-US" dirty="0" err="1">
                <a:latin typeface="Consolas" panose="020B0609020204030204" pitchFamily="49" charset="0"/>
              </a:rPr>
              <a:t>strncmp</a:t>
            </a:r>
            <a:r>
              <a:rPr lang="en-US" dirty="0">
                <a:latin typeface="Consolas" panose="020B0609020204030204" pitchFamily="49" charset="0"/>
              </a:rPr>
              <a:t>, </a:t>
            </a:r>
            <a:r>
              <a:rPr lang="en-US" dirty="0" err="1">
                <a:latin typeface="Consolas" panose="020B0609020204030204" pitchFamily="49" charset="0"/>
              </a:rPr>
              <a:t>strncat</a:t>
            </a:r>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E75D3155-2D66-51B8-9E0E-440FB24BE9E5}"/>
              </a:ext>
            </a:extLst>
          </p:cNvPr>
          <p:cNvSpPr>
            <a:spLocks noGrp="1"/>
          </p:cNvSpPr>
          <p:nvPr>
            <p:ph type="title"/>
          </p:nvPr>
        </p:nvSpPr>
        <p:spPr/>
        <p:txBody>
          <a:bodyPr/>
          <a:lstStyle/>
          <a:p>
            <a:r>
              <a:rPr lang="en-US" dirty="0"/>
              <a:t>String functions</a:t>
            </a:r>
          </a:p>
        </p:txBody>
      </p:sp>
    </p:spTree>
    <p:extLst>
      <p:ext uri="{BB962C8B-B14F-4D97-AF65-F5344CB8AC3E}">
        <p14:creationId xmlns:p14="http://schemas.microsoft.com/office/powerpoint/2010/main" val="37358221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9EF45C7-C4AE-7925-726C-DE771A7FEDB1}"/>
              </a:ext>
            </a:extLst>
          </p:cNvPr>
          <p:cNvSpPr>
            <a:spLocks noGrp="1"/>
          </p:cNvSpPr>
          <p:nvPr>
            <p:ph idx="1"/>
          </p:nvPr>
        </p:nvSpPr>
        <p:spPr/>
        <p:txBody>
          <a:bodyPr/>
          <a:lstStyle/>
          <a:p>
            <a:r>
              <a:rPr lang="en-US" dirty="0"/>
              <a:t>Avoid use-after-free bugs by setting freed pointers to 0 immediately</a:t>
            </a:r>
          </a:p>
          <a:p>
            <a:pPr lvl="1"/>
            <a:r>
              <a:rPr lang="en-US" dirty="0"/>
              <a:t>char* p = malloc(…);</a:t>
            </a:r>
            <a:br>
              <a:rPr lang="en-US" dirty="0"/>
            </a:br>
            <a:r>
              <a:rPr lang="en-US" dirty="0"/>
              <a:t>//…</a:t>
            </a:r>
            <a:br>
              <a:rPr lang="en-US" dirty="0"/>
            </a:br>
            <a:r>
              <a:rPr lang="en-US" dirty="0"/>
              <a:t>free(p);</a:t>
            </a:r>
            <a:br>
              <a:rPr lang="en-US" dirty="0"/>
            </a:br>
            <a:r>
              <a:rPr lang="en-US" dirty="0"/>
              <a:t>p = (char*) 0; </a:t>
            </a:r>
          </a:p>
          <a:p>
            <a:r>
              <a:rPr lang="en-US" dirty="0"/>
              <a:t>C++ provides reference-counted pointers</a:t>
            </a:r>
          </a:p>
          <a:p>
            <a:pPr lvl="1"/>
            <a:r>
              <a:rPr lang="en-US" dirty="0">
                <a:latin typeface="Consolas" panose="020B0609020204030204" pitchFamily="49" charset="0"/>
              </a:rPr>
              <a:t>std::</a:t>
            </a:r>
            <a:r>
              <a:rPr lang="en-US" dirty="0" err="1">
                <a:latin typeface="Consolas" panose="020B0609020204030204" pitchFamily="49" charset="0"/>
              </a:rPr>
              <a:t>unique_ptr</a:t>
            </a:r>
            <a:r>
              <a:rPr lang="en-US" dirty="0">
                <a:latin typeface="Consolas" panose="020B0609020204030204" pitchFamily="49" charset="0"/>
              </a:rPr>
              <a:t> - </a:t>
            </a:r>
            <a:r>
              <a:rPr lang="en-US" dirty="0">
                <a:latin typeface="Helvetica" panose="020B0604020202020204"/>
                <a:cs typeface="Helvetica" panose="020B0604020202020204"/>
              </a:rPr>
              <a:t>Once the pointer goes out of scope, the heap object is automatically dropped</a:t>
            </a:r>
          </a:p>
          <a:p>
            <a:pPr lvl="1"/>
            <a:r>
              <a:rPr lang="en-US" dirty="0">
                <a:latin typeface="Consolas" panose="020B0609020204030204" pitchFamily="49" charset="0"/>
              </a:rPr>
              <a:t>std::</a:t>
            </a:r>
            <a:r>
              <a:rPr lang="en-US" dirty="0" err="1">
                <a:latin typeface="Consolas" panose="020B0609020204030204" pitchFamily="49" charset="0"/>
              </a:rPr>
              <a:t>shared_ptr</a:t>
            </a:r>
            <a:r>
              <a:rPr lang="en-US" dirty="0">
                <a:latin typeface="Consolas" panose="020B0609020204030204" pitchFamily="49" charset="0"/>
              </a:rPr>
              <a:t> – </a:t>
            </a:r>
            <a:r>
              <a:rPr lang="en-US" dirty="0">
                <a:latin typeface="Helvetica" panose="020B0604020202020204"/>
                <a:cs typeface="Helvetica" panose="020B0604020202020204"/>
              </a:rPr>
              <a:t>Once the reference count reaches zero, the heap object is automatically dropped</a:t>
            </a:r>
          </a:p>
        </p:txBody>
      </p:sp>
      <p:sp>
        <p:nvSpPr>
          <p:cNvPr id="4" name="Title 3">
            <a:extLst>
              <a:ext uri="{FF2B5EF4-FFF2-40B4-BE49-F238E27FC236}">
                <a16:creationId xmlns:a16="http://schemas.microsoft.com/office/drawing/2014/main" id="{CF854A1F-5C05-AB50-7B93-A1B5DB2AF9EE}"/>
              </a:ext>
            </a:extLst>
          </p:cNvPr>
          <p:cNvSpPr>
            <a:spLocks noGrp="1"/>
          </p:cNvSpPr>
          <p:nvPr>
            <p:ph type="title"/>
          </p:nvPr>
        </p:nvSpPr>
        <p:spPr/>
        <p:txBody>
          <a:bodyPr/>
          <a:lstStyle/>
          <a:p>
            <a:r>
              <a:rPr lang="en-US" dirty="0"/>
              <a:t>Avoiding temporal safety bugs</a:t>
            </a:r>
          </a:p>
        </p:txBody>
      </p:sp>
    </p:spTree>
    <p:extLst>
      <p:ext uri="{BB962C8B-B14F-4D97-AF65-F5344CB8AC3E}">
        <p14:creationId xmlns:p14="http://schemas.microsoft.com/office/powerpoint/2010/main" val="351898666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7A46F6-AECB-2D50-9273-088B40E04AA5}"/>
              </a:ext>
            </a:extLst>
          </p:cNvPr>
          <p:cNvSpPr>
            <a:spLocks noGrp="1"/>
          </p:cNvSpPr>
          <p:nvPr>
            <p:ph idx="1"/>
          </p:nvPr>
        </p:nvSpPr>
        <p:spPr/>
        <p:txBody>
          <a:bodyPr/>
          <a:lstStyle/>
          <a:p>
            <a:r>
              <a:rPr lang="en-US" dirty="0"/>
              <a:t>Tapti Palit</a:t>
            </a:r>
          </a:p>
        </p:txBody>
      </p:sp>
      <p:sp>
        <p:nvSpPr>
          <p:cNvPr id="3" name="Text Placeholder 2">
            <a:extLst>
              <a:ext uri="{FF2B5EF4-FFF2-40B4-BE49-F238E27FC236}">
                <a16:creationId xmlns:a16="http://schemas.microsoft.com/office/drawing/2014/main" id="{F3D2B291-B016-D5A3-BF6D-0C0B1115EC80}"/>
              </a:ext>
            </a:extLst>
          </p:cNvPr>
          <p:cNvSpPr>
            <a:spLocks noGrp="1"/>
          </p:cNvSpPr>
          <p:nvPr>
            <p:ph type="body" sz="quarter" idx="13"/>
          </p:nvPr>
        </p:nvSpPr>
        <p:spPr/>
        <p:txBody>
          <a:bodyPr/>
          <a:lstStyle/>
          <a:p>
            <a:r>
              <a:rPr lang="en-US" dirty="0"/>
              <a:t>Software security</a:t>
            </a:r>
          </a:p>
        </p:txBody>
      </p:sp>
    </p:spTree>
    <p:extLst>
      <p:ext uri="{BB962C8B-B14F-4D97-AF65-F5344CB8AC3E}">
        <p14:creationId xmlns:p14="http://schemas.microsoft.com/office/powerpoint/2010/main" val="188612782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67409C7-2346-F914-17C2-ABB9ED5FF9D3}"/>
              </a:ext>
            </a:extLst>
          </p:cNvPr>
          <p:cNvSpPr>
            <a:spLocks noGrp="1"/>
          </p:cNvSpPr>
          <p:nvPr>
            <p:ph idx="1"/>
          </p:nvPr>
        </p:nvSpPr>
        <p:spPr/>
        <p:txBody>
          <a:bodyPr/>
          <a:lstStyle/>
          <a:p>
            <a:r>
              <a:rPr lang="en-US" dirty="0"/>
              <a:t>Buffer overflow recap</a:t>
            </a:r>
          </a:p>
          <a:p>
            <a:r>
              <a:rPr lang="en-US" dirty="0"/>
              <a:t>Stack canaries and ASLR-based defenses</a:t>
            </a:r>
          </a:p>
          <a:p>
            <a:r>
              <a:rPr lang="en-US" dirty="0"/>
              <a:t>Secure programming contd.</a:t>
            </a:r>
          </a:p>
          <a:p>
            <a:pPr lvl="1"/>
            <a:r>
              <a:rPr lang="en-US" dirty="0"/>
              <a:t>Smart pointers in C++</a:t>
            </a:r>
          </a:p>
          <a:p>
            <a:r>
              <a:rPr lang="en-US" dirty="0"/>
              <a:t>Memory leaks</a:t>
            </a:r>
          </a:p>
          <a:p>
            <a:r>
              <a:rPr lang="en-US" dirty="0"/>
              <a:t>Sample software security questions</a:t>
            </a:r>
          </a:p>
          <a:p>
            <a:r>
              <a:rPr lang="en-US" dirty="0"/>
              <a:t>Memory safety in Java</a:t>
            </a:r>
          </a:p>
        </p:txBody>
      </p:sp>
      <p:sp>
        <p:nvSpPr>
          <p:cNvPr id="4" name="Title 3">
            <a:extLst>
              <a:ext uri="{FF2B5EF4-FFF2-40B4-BE49-F238E27FC236}">
                <a16:creationId xmlns:a16="http://schemas.microsoft.com/office/drawing/2014/main" id="{D875BE7F-8F0A-6F36-4CAA-40299AAEFADF}"/>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7F78BFB5-4D85-21F5-978A-0083BF44AEF0}"/>
              </a:ext>
            </a:extLst>
          </p:cNvPr>
          <p:cNvCxnSpPr/>
          <p:nvPr/>
        </p:nvCxnSpPr>
        <p:spPr>
          <a:xfrm>
            <a:off x="0" y="4891489"/>
            <a:ext cx="12192000" cy="0"/>
          </a:xfrm>
          <a:prstGeom prst="line">
            <a:avLst/>
          </a:prstGeom>
          <a:ln w="12700">
            <a:prstDash val="sysDash"/>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9470364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8B33E2C-302F-C989-B02C-E5F436E0A877}"/>
              </a:ext>
            </a:extLst>
          </p:cNvPr>
          <p:cNvSpPr>
            <a:spLocks noGrp="1"/>
          </p:cNvSpPr>
          <p:nvPr>
            <p:ph idx="1"/>
          </p:nvPr>
        </p:nvSpPr>
        <p:spPr/>
        <p:txBody>
          <a:bodyPr>
            <a:normAutofit lnSpcReduction="10000"/>
          </a:bodyPr>
          <a:lstStyle/>
          <a:p>
            <a:r>
              <a:rPr lang="en-US" dirty="0"/>
              <a:t>Memory safety – the ability of a programming language to ensure certain types of memory-related bugs/vulnerabilities do not exist</a:t>
            </a:r>
          </a:p>
          <a:p>
            <a:r>
              <a:rPr lang="en-US" dirty="0"/>
              <a:t>Spatial memory safety bugs</a:t>
            </a:r>
          </a:p>
          <a:p>
            <a:pPr lvl="1"/>
            <a:r>
              <a:rPr lang="en-US" dirty="0"/>
              <a:t>Buffer overflows</a:t>
            </a:r>
          </a:p>
          <a:p>
            <a:pPr lvl="1"/>
            <a:r>
              <a:rPr lang="en-US" dirty="0">
                <a:latin typeface="Consolas" panose="020B0609020204030204" pitchFamily="49" charset="0"/>
              </a:rPr>
              <a:t>int </a:t>
            </a:r>
            <a:r>
              <a:rPr lang="en-US" dirty="0" err="1">
                <a:latin typeface="Consolas" panose="020B0609020204030204" pitchFamily="49" charset="0"/>
              </a:rPr>
              <a:t>arr</a:t>
            </a:r>
            <a:r>
              <a:rPr lang="en-US" dirty="0">
                <a:latin typeface="Consolas" panose="020B0609020204030204" pitchFamily="49" charset="0"/>
              </a:rPr>
              <a:t>[4]; </a:t>
            </a:r>
            <a:br>
              <a:rPr lang="en-US" dirty="0">
                <a:latin typeface="Consolas" panose="020B0609020204030204" pitchFamily="49" charset="0"/>
              </a:rPr>
            </a:br>
            <a:r>
              <a:rPr lang="en-US" dirty="0" err="1">
                <a:latin typeface="Consolas" panose="020B0609020204030204" pitchFamily="49" charset="0"/>
              </a:rPr>
              <a:t>arr</a:t>
            </a:r>
            <a:r>
              <a:rPr lang="en-US" dirty="0">
                <a:latin typeface="Consolas" panose="020B0609020204030204" pitchFamily="49" charset="0"/>
              </a:rPr>
              <a:t>[10] = 10; // Language detects this and prevents this</a:t>
            </a:r>
          </a:p>
          <a:p>
            <a:r>
              <a:rPr lang="en-US" dirty="0"/>
              <a:t>Temporal memory safety bugs</a:t>
            </a:r>
          </a:p>
          <a:p>
            <a:pPr lvl="1"/>
            <a:r>
              <a:rPr lang="en-US" dirty="0"/>
              <a:t>Use-after-free bugs - </a:t>
            </a:r>
            <a:r>
              <a:rPr lang="en-US" dirty="0">
                <a:latin typeface="Consolas" panose="020B0609020204030204" pitchFamily="49" charset="0"/>
              </a:rPr>
              <a:t>free(p); *p = 10; </a:t>
            </a:r>
            <a:r>
              <a:rPr lang="en-US" dirty="0">
                <a:latin typeface="Helvetica" panose="020B0604020202020204"/>
                <a:cs typeface="Helvetica" panose="020B0604020202020204"/>
              </a:rPr>
              <a:t>OR</a:t>
            </a:r>
            <a:r>
              <a:rPr lang="en-US" dirty="0">
                <a:latin typeface="Consolas" panose="020B0609020204030204" pitchFamily="49" charset="0"/>
              </a:rPr>
              <a:t> delete(p); *p = 10;</a:t>
            </a:r>
          </a:p>
          <a:p>
            <a:pPr lvl="1"/>
            <a:r>
              <a:rPr lang="en-US" dirty="0"/>
              <a:t>Double-free bugs – </a:t>
            </a:r>
            <a:r>
              <a:rPr lang="en-US" dirty="0">
                <a:latin typeface="Consolas" panose="020B0609020204030204" pitchFamily="49" charset="0"/>
              </a:rPr>
              <a:t>free(p); … ; free(p); </a:t>
            </a:r>
            <a:r>
              <a:rPr lang="en-US" dirty="0">
                <a:latin typeface="Helvetica" panose="020B0604020202020204"/>
                <a:cs typeface="Helvetica" panose="020B0604020202020204"/>
              </a:rPr>
              <a:t>OR</a:t>
            </a:r>
            <a:r>
              <a:rPr lang="en-US" dirty="0">
                <a:latin typeface="Consolas" panose="020B0609020204030204" pitchFamily="49" charset="0"/>
              </a:rPr>
              <a:t> delete(p); delete(p);</a:t>
            </a:r>
          </a:p>
          <a:p>
            <a:pPr lvl="1"/>
            <a:endParaRPr lang="en-US" dirty="0"/>
          </a:p>
        </p:txBody>
      </p:sp>
      <p:sp>
        <p:nvSpPr>
          <p:cNvPr id="4" name="Title 3">
            <a:extLst>
              <a:ext uri="{FF2B5EF4-FFF2-40B4-BE49-F238E27FC236}">
                <a16:creationId xmlns:a16="http://schemas.microsoft.com/office/drawing/2014/main" id="{F3B2E2D2-99DF-D7E4-56B2-59FBCADE93A8}"/>
              </a:ext>
            </a:extLst>
          </p:cNvPr>
          <p:cNvSpPr>
            <a:spLocks noGrp="1"/>
          </p:cNvSpPr>
          <p:nvPr>
            <p:ph type="title"/>
          </p:nvPr>
        </p:nvSpPr>
        <p:spPr/>
        <p:txBody>
          <a:bodyPr/>
          <a:lstStyle/>
          <a:p>
            <a:r>
              <a:rPr lang="en-US" dirty="0"/>
              <a:t>Memory safety</a:t>
            </a:r>
          </a:p>
        </p:txBody>
      </p:sp>
    </p:spTree>
    <p:extLst>
      <p:ext uri="{BB962C8B-B14F-4D97-AF65-F5344CB8AC3E}">
        <p14:creationId xmlns:p14="http://schemas.microsoft.com/office/powerpoint/2010/main" val="42367337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E701FD-A001-0516-4B3E-152DEEC99060}"/>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41EA5A0-190A-613E-9CB1-FAD0CE8CD5C1}"/>
              </a:ext>
            </a:extLst>
          </p:cNvPr>
          <p:cNvSpPr>
            <a:spLocks noGrp="1"/>
          </p:cNvSpPr>
          <p:nvPr>
            <p:ph idx="1"/>
          </p:nvPr>
        </p:nvSpPr>
        <p:spPr/>
        <p:txBody>
          <a:bodyPr>
            <a:normAutofit/>
          </a:bodyPr>
          <a:lstStyle/>
          <a:p>
            <a:r>
              <a:rPr lang="en-US" dirty="0"/>
              <a:t>Security-critical variable on the stack</a:t>
            </a:r>
          </a:p>
          <a:p>
            <a:r>
              <a:rPr lang="en-US" dirty="0" err="1"/>
              <a:t>scanf</a:t>
            </a:r>
            <a:r>
              <a:rPr lang="en-US" dirty="0"/>
              <a:t>(“%s”, password);</a:t>
            </a:r>
          </a:p>
          <a:p>
            <a:pPr lvl="1"/>
            <a:endParaRPr lang="en-US" dirty="0"/>
          </a:p>
        </p:txBody>
      </p:sp>
      <p:sp>
        <p:nvSpPr>
          <p:cNvPr id="4" name="Title 3">
            <a:extLst>
              <a:ext uri="{FF2B5EF4-FFF2-40B4-BE49-F238E27FC236}">
                <a16:creationId xmlns:a16="http://schemas.microsoft.com/office/drawing/2014/main" id="{715ED2F4-7358-2F8C-09CD-E3883E8C42E7}"/>
              </a:ext>
            </a:extLst>
          </p:cNvPr>
          <p:cNvSpPr>
            <a:spLocks noGrp="1"/>
          </p:cNvSpPr>
          <p:nvPr>
            <p:ph type="title"/>
          </p:nvPr>
        </p:nvSpPr>
        <p:spPr/>
        <p:txBody>
          <a:bodyPr/>
          <a:lstStyle/>
          <a:p>
            <a:r>
              <a:rPr lang="en-US" dirty="0"/>
              <a:t>Buffer overflow to corrupt sensitive stack data</a:t>
            </a:r>
          </a:p>
        </p:txBody>
      </p:sp>
      <p:grpSp>
        <p:nvGrpSpPr>
          <p:cNvPr id="9" name="Group 8">
            <a:extLst>
              <a:ext uri="{FF2B5EF4-FFF2-40B4-BE49-F238E27FC236}">
                <a16:creationId xmlns:a16="http://schemas.microsoft.com/office/drawing/2014/main" id="{1D3C4D1A-4985-0383-E3F7-682DFFD8BE64}"/>
              </a:ext>
            </a:extLst>
          </p:cNvPr>
          <p:cNvGrpSpPr/>
          <p:nvPr/>
        </p:nvGrpSpPr>
        <p:grpSpPr>
          <a:xfrm>
            <a:off x="7836807" y="2150464"/>
            <a:ext cx="4264301" cy="4396154"/>
            <a:chOff x="7561385" y="914400"/>
            <a:chExt cx="4264301" cy="4396154"/>
          </a:xfrm>
        </p:grpSpPr>
        <p:sp>
          <p:nvSpPr>
            <p:cNvPr id="10" name="TextBox 9">
              <a:extLst>
                <a:ext uri="{FF2B5EF4-FFF2-40B4-BE49-F238E27FC236}">
                  <a16:creationId xmlns:a16="http://schemas.microsoft.com/office/drawing/2014/main" id="{FADFC6A4-03CA-FD56-1EF3-AB0C39CC39B5}"/>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7191C270-755C-B996-0A82-6E534A2C6FA5}"/>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34E17B23-018C-EC29-48E6-9C17997729F5}"/>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E6A76756-26FB-DBF4-4B38-F2784292294B}"/>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A874D812-14DC-267E-F2B8-0C0249B9A22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6BD9D1B2-C65B-9445-725C-9D477C3E2B6E}"/>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13734F67-AB7B-4130-5922-B64798F2CED0}"/>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19642CF7-767A-315C-F8EC-D9DE83E8FAC8}"/>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9839005B-2E73-A2A4-7D43-1634E8B6A227}"/>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D598C59E-9563-6903-4DB2-B8EC06F6F07D}"/>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39448719-2ADD-B727-A3FF-3A0A3093B6B8}"/>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6BA80E09-5D51-3B79-8F1F-04F53915EC83}"/>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1BBBAB93-0CE2-7337-C4EC-A6B5F92047D4}"/>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2CCCD848-BB51-C817-0B64-506CA01D5A22}"/>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555B94AC-86C0-CB86-B95F-DCB50D658834}"/>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2" name="Rectangle 1">
            <a:extLst>
              <a:ext uri="{FF2B5EF4-FFF2-40B4-BE49-F238E27FC236}">
                <a16:creationId xmlns:a16="http://schemas.microsoft.com/office/drawing/2014/main" id="{C835F6D5-1973-A96B-597D-1CB9D3BFF6B3}"/>
              </a:ext>
            </a:extLst>
          </p:cNvPr>
          <p:cNvSpPr/>
          <p:nvPr/>
        </p:nvSpPr>
        <p:spPr>
          <a:xfrm>
            <a:off x="8148547" y="2213694"/>
            <a:ext cx="2280531"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authenticated</a:t>
            </a:r>
            <a:endParaRPr lang="en-US" dirty="0"/>
          </a:p>
        </p:txBody>
      </p:sp>
      <p:sp>
        <p:nvSpPr>
          <p:cNvPr id="30" name="Rectangle 29">
            <a:extLst>
              <a:ext uri="{FF2B5EF4-FFF2-40B4-BE49-F238E27FC236}">
                <a16:creationId xmlns:a16="http://schemas.microsoft.com/office/drawing/2014/main" id="{1D65C9A4-908C-4FC4-50E0-9D433CB92A67}"/>
              </a:ext>
            </a:extLst>
          </p:cNvPr>
          <p:cNvSpPr/>
          <p:nvPr/>
        </p:nvSpPr>
        <p:spPr>
          <a:xfrm>
            <a:off x="8393655" y="2867971"/>
            <a:ext cx="1828797" cy="1131727"/>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6" name="Arrow: Up 5">
            <a:extLst>
              <a:ext uri="{FF2B5EF4-FFF2-40B4-BE49-F238E27FC236}">
                <a16:creationId xmlns:a16="http://schemas.microsoft.com/office/drawing/2014/main" id="{3FB8AC0D-9B6E-C8BB-3952-BBAC731952E5}"/>
              </a:ext>
            </a:extLst>
          </p:cNvPr>
          <p:cNvSpPr/>
          <p:nvPr/>
        </p:nvSpPr>
        <p:spPr>
          <a:xfrm>
            <a:off x="7305719" y="2228507"/>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E760B3C-FD76-9889-56F2-5BA6A7A67234}"/>
              </a:ext>
            </a:extLst>
          </p:cNvPr>
          <p:cNvSpPr txBox="1"/>
          <p:nvPr/>
        </p:nvSpPr>
        <p:spPr>
          <a:xfrm>
            <a:off x="5996897" y="2955638"/>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1829278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CDC4A-5D1A-87D2-F3D0-962EB0EE709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AEB306B-0B87-5B4F-E09A-AF19DF9BC400}"/>
              </a:ext>
            </a:extLst>
          </p:cNvPr>
          <p:cNvSpPr>
            <a:spLocks noGrp="1"/>
          </p:cNvSpPr>
          <p:nvPr>
            <p:ph idx="1"/>
          </p:nvPr>
        </p:nvSpPr>
        <p:spPr/>
        <p:txBody>
          <a:bodyPr>
            <a:normAutofit/>
          </a:bodyPr>
          <a:lstStyle/>
          <a:p>
            <a:r>
              <a:rPr lang="en-US" dirty="0"/>
              <a:t>Return addresses on the stack</a:t>
            </a:r>
          </a:p>
          <a:p>
            <a:pPr lvl="1"/>
            <a:r>
              <a:rPr lang="en-US" dirty="0"/>
              <a:t>At a higher address than function local variables</a:t>
            </a:r>
          </a:p>
          <a:p>
            <a:r>
              <a:rPr lang="en-US" dirty="0" err="1"/>
              <a:t>scanf</a:t>
            </a:r>
            <a:r>
              <a:rPr lang="en-US" dirty="0"/>
              <a:t>(“%s”, password);</a:t>
            </a:r>
          </a:p>
          <a:p>
            <a:pPr lvl="1"/>
            <a:endParaRPr lang="en-US" dirty="0"/>
          </a:p>
        </p:txBody>
      </p:sp>
      <p:sp>
        <p:nvSpPr>
          <p:cNvPr id="4" name="Title 3">
            <a:extLst>
              <a:ext uri="{FF2B5EF4-FFF2-40B4-BE49-F238E27FC236}">
                <a16:creationId xmlns:a16="http://schemas.microsoft.com/office/drawing/2014/main" id="{8B43BF79-E1FC-6811-FCB1-DAAB712B0A55}"/>
              </a:ext>
            </a:extLst>
          </p:cNvPr>
          <p:cNvSpPr>
            <a:spLocks noGrp="1"/>
          </p:cNvSpPr>
          <p:nvPr>
            <p:ph type="title"/>
          </p:nvPr>
        </p:nvSpPr>
        <p:spPr/>
        <p:txBody>
          <a:bodyPr/>
          <a:lstStyle/>
          <a:p>
            <a:r>
              <a:rPr lang="en-US" dirty="0"/>
              <a:t>Buffer overflow to hijack control flow</a:t>
            </a:r>
          </a:p>
        </p:txBody>
      </p:sp>
      <p:grpSp>
        <p:nvGrpSpPr>
          <p:cNvPr id="9" name="Group 8">
            <a:extLst>
              <a:ext uri="{FF2B5EF4-FFF2-40B4-BE49-F238E27FC236}">
                <a16:creationId xmlns:a16="http://schemas.microsoft.com/office/drawing/2014/main" id="{7A12D3D4-E7F3-071C-54E9-28158CC4C129}"/>
              </a:ext>
            </a:extLst>
          </p:cNvPr>
          <p:cNvGrpSpPr/>
          <p:nvPr/>
        </p:nvGrpSpPr>
        <p:grpSpPr>
          <a:xfrm>
            <a:off x="7836807" y="2150464"/>
            <a:ext cx="4264301" cy="4396154"/>
            <a:chOff x="7561385" y="914400"/>
            <a:chExt cx="4264301" cy="4396154"/>
          </a:xfrm>
        </p:grpSpPr>
        <p:sp>
          <p:nvSpPr>
            <p:cNvPr id="10" name="TextBox 9">
              <a:extLst>
                <a:ext uri="{FF2B5EF4-FFF2-40B4-BE49-F238E27FC236}">
                  <a16:creationId xmlns:a16="http://schemas.microsoft.com/office/drawing/2014/main" id="{289ADEC4-6257-38E5-2910-ED8FF980241D}"/>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A2AE3F33-F9DD-528F-9A85-0B2163426FB5}"/>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5B34FED6-EB4F-8844-2BC9-6D953BF2EFFE}"/>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9A7B297B-F7C4-FBD1-4C4B-DC0832D40D0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09A96028-5D38-CD5B-D6F3-856F87A7654A}"/>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E7CE3989-7D83-255F-84BF-D9F4C5E57FE3}"/>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F4A5AED6-0B8C-C5BA-B394-A4BD633A27AE}"/>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EA56CDCE-2DA8-5DB4-E217-6F97D7D5741A}"/>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BB499B9D-34C0-9184-4227-0BCF25472D48}"/>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77218744-E20A-DACD-526F-2E17A461CFA5}"/>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F81562D7-122B-7A6E-E879-439E6153023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0DA50DC8-4B4D-6F1F-8ADE-A0FDAB695CA3}"/>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59E0D207-D69F-B2E6-9C73-DF11E3585008}"/>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5816631-700A-9B27-7578-98850466778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47144B93-6B93-1EB9-EEB0-8F65D50351B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2" name="Rectangle 1">
            <a:extLst>
              <a:ext uri="{FF2B5EF4-FFF2-40B4-BE49-F238E27FC236}">
                <a16:creationId xmlns:a16="http://schemas.microsoft.com/office/drawing/2014/main" id="{FF3B4D91-A84E-B93B-CD2A-4FC7E490A5CF}"/>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EC58C79E-3FAE-4468-B454-869B4A76DABF}"/>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8581DE98-33B5-93C3-1A39-1ABC5847AFDD}"/>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75172131-87D0-B1E2-B4D6-A1984D9DF7DA}"/>
              </a:ext>
            </a:extLst>
          </p:cNvPr>
          <p:cNvSpPr/>
          <p:nvPr/>
        </p:nvSpPr>
        <p:spPr>
          <a:xfrm>
            <a:off x="8374415" y="4179324"/>
            <a:ext cx="1828797" cy="1131727"/>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6" name="Arrow: Up 5">
            <a:extLst>
              <a:ext uri="{FF2B5EF4-FFF2-40B4-BE49-F238E27FC236}">
                <a16:creationId xmlns:a16="http://schemas.microsoft.com/office/drawing/2014/main" id="{CCA01B0C-A850-40D9-32AA-671947CEA2BF}"/>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EF8562A-A0F2-24D9-2ED6-239F801E3ECE}"/>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3992540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CE3D303-3DAE-E6D8-EC70-9C6E5F2E5AB4}"/>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D2495CB1-4443-5F55-D84F-1B0138311A66}"/>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B39458C0-B749-40D5-249A-1A2850261721}"/>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4786AB9A-856A-0430-B64D-991A6787A06C}"/>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F163416A-FCD7-DE5A-B3C6-87F6C4234B13}"/>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0FD7154B-8297-C8EF-852F-0F51F0C3F5A0}"/>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AEC9FD3D-0EB5-F958-9B14-465705488ED6}"/>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54E2FD83-01F6-2B65-36B1-A3E5A3DF8C04}"/>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139AA2F9-ECC5-96EA-8E8F-169F1E02D2BE}"/>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8B958A34-C35C-142A-5CDC-A757EAC26CE4}"/>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E1652F3A-F6A5-72AE-4962-472D6EE78524}"/>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E9FAA206-7417-8894-526B-56AB6A1F3FBB}"/>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86C200D2-F5A6-3B69-CAB6-37DA89ABD290}"/>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4781F264-B04E-EB06-1B5E-9A447509A756}"/>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FDB31006-7ADA-9323-FD20-5C855367450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2359C401-BFE5-1012-8BE0-28E55548A4AD}"/>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C766D144-4644-0F40-81D4-384550698317}"/>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DF908B59-C238-7AD6-C157-0057BF27FFB0}"/>
              </a:ext>
            </a:extLst>
          </p:cNvPr>
          <p:cNvSpPr/>
          <p:nvPr/>
        </p:nvSpPr>
        <p:spPr>
          <a:xfrm>
            <a:off x="7749939" y="2733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return_addr@8</a:t>
            </a:r>
            <a:endParaRPr lang="en-US" sz="1600" dirty="0"/>
          </a:p>
        </p:txBody>
      </p:sp>
      <p:sp>
        <p:nvSpPr>
          <p:cNvPr id="67" name="Rectangle 66">
            <a:extLst>
              <a:ext uri="{FF2B5EF4-FFF2-40B4-BE49-F238E27FC236}">
                <a16:creationId xmlns:a16="http://schemas.microsoft.com/office/drawing/2014/main" id="{C952D8A6-E30A-C918-AC55-3588FFD5E740}"/>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70047026-763B-3AC9-52D7-65221A39556E}"/>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6AE8B688-D907-032B-C2D1-1DE0DA4A6A04}"/>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nvGrpSpPr>
          <p:cNvPr id="2" name="Group 1">
            <a:extLst>
              <a:ext uri="{FF2B5EF4-FFF2-40B4-BE49-F238E27FC236}">
                <a16:creationId xmlns:a16="http://schemas.microsoft.com/office/drawing/2014/main" id="{A8CBA06B-BE39-0316-C225-64B95D1CA7B1}"/>
              </a:ext>
            </a:extLst>
          </p:cNvPr>
          <p:cNvGrpSpPr/>
          <p:nvPr/>
        </p:nvGrpSpPr>
        <p:grpSpPr>
          <a:xfrm>
            <a:off x="4746564" y="3215453"/>
            <a:ext cx="5668379" cy="830997"/>
            <a:chOff x="4746564" y="3215453"/>
            <a:chExt cx="5668379" cy="830997"/>
          </a:xfrm>
        </p:grpSpPr>
        <p:sp>
          <p:nvSpPr>
            <p:cNvPr id="71" name="Rectangle 70">
              <a:extLst>
                <a:ext uri="{FF2B5EF4-FFF2-40B4-BE49-F238E27FC236}">
                  <a16:creationId xmlns:a16="http://schemas.microsoft.com/office/drawing/2014/main" id="{8DA84716-C06D-EFA3-5B5D-EAA1B0821059}"/>
                </a:ext>
              </a:extLst>
            </p:cNvPr>
            <p:cNvSpPr/>
            <p:nvPr/>
          </p:nvSpPr>
          <p:spPr>
            <a:xfrm>
              <a:off x="7725468" y="3431746"/>
              <a:ext cx="2689475" cy="5354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CANARY=0xDEADBEEF</a:t>
              </a:r>
              <a:endParaRPr lang="en-US" sz="1400" dirty="0"/>
            </a:p>
          </p:txBody>
        </p:sp>
        <p:sp>
          <p:nvSpPr>
            <p:cNvPr id="80" name="TextBox 79">
              <a:extLst>
                <a:ext uri="{FF2B5EF4-FFF2-40B4-BE49-F238E27FC236}">
                  <a16:creationId xmlns:a16="http://schemas.microsoft.com/office/drawing/2014/main" id="{C8CA0E75-6323-4A56-47C9-97E473831C45}"/>
                </a:ext>
              </a:extLst>
            </p:cNvPr>
            <p:cNvSpPr txBox="1"/>
            <p:nvPr/>
          </p:nvSpPr>
          <p:spPr>
            <a:xfrm>
              <a:off x="4746564" y="3215453"/>
              <a:ext cx="2505814" cy="830997"/>
            </a:xfrm>
            <a:prstGeom prst="rect">
              <a:avLst/>
            </a:prstGeom>
            <a:noFill/>
          </p:spPr>
          <p:txBody>
            <a:bodyPr wrap="none" rtlCol="0">
              <a:spAutoFit/>
            </a:bodyPr>
            <a:lstStyle/>
            <a:p>
              <a:r>
                <a:rPr lang="en-US" sz="2400" b="1" i="1" dirty="0"/>
                <a:t>Compiler pushes a</a:t>
              </a:r>
            </a:p>
            <a:p>
              <a:r>
                <a:rPr lang="en-US" sz="2400" b="1" i="1" dirty="0"/>
                <a:t>“canary” value</a:t>
              </a:r>
            </a:p>
          </p:txBody>
        </p:sp>
      </p:grpSp>
      <p:sp>
        <p:nvSpPr>
          <p:cNvPr id="83" name="Arrow: Right 82">
            <a:extLst>
              <a:ext uri="{FF2B5EF4-FFF2-40B4-BE49-F238E27FC236}">
                <a16:creationId xmlns:a16="http://schemas.microsoft.com/office/drawing/2014/main" id="{D97B1BCE-D523-5D7C-AC20-41BB471A20B3}"/>
              </a:ext>
            </a:extLst>
          </p:cNvPr>
          <p:cNvSpPr/>
          <p:nvPr/>
        </p:nvSpPr>
        <p:spPr>
          <a:xfrm>
            <a:off x="-52189" y="38466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044154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8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7" grpId="0" animBg="1"/>
      <p:bldP spid="83" grpId="0" animBg="1"/>
      <p:bldP spid="83"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01D97-8ACF-80CC-6A9B-18A27077EDB4}"/>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14D93B40-EC12-6870-5764-A9D8ED2EDABA}"/>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3FDE9BF9-EF50-E1E7-D6C5-AF9457B6CF3F}"/>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0938E907-85BA-1C4D-5EEE-971A26A92F23}"/>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84735DAA-1129-0977-9E41-F59A747462D6}"/>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ACF2331-8D73-610F-76EA-FCB3DC33B24B}"/>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EEEC936C-6F42-6FC5-1C64-67A4A780E1A5}"/>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AF2BF130-0240-3CA3-BF75-C28B5D006C5E}"/>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D1D3DC86-D301-C755-7084-FD812E72B0C8}"/>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9DB06FD4-CB2F-E179-46C0-17CB42681B3E}"/>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1C237980-5A27-4B34-070F-36CAF16C7470}"/>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B5F52052-BA58-02C1-4BFB-8C6BCF68C135}"/>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714E057E-CF2A-CB81-62E6-30A6D1FDE96F}"/>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F200393B-A2D4-CDC7-3319-098F540A1C72}"/>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AC28199C-A83D-E7E3-DF42-186320542334}"/>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488DB8DB-5A30-F050-E936-4E0C66B5D886}"/>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0FA057FC-74AE-91BF-0885-7614882F46C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14FE5480-33B2-180A-AF1B-28232019372E}"/>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3E595D70-2E78-C1CD-31C0-2E263F84242F}"/>
              </a:ext>
            </a:extLst>
          </p:cNvPr>
          <p:cNvSpPr/>
          <p:nvPr/>
        </p:nvSpPr>
        <p:spPr>
          <a:xfrm>
            <a:off x="7749939" y="2733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return_addr@8</a:t>
            </a:r>
            <a:endParaRPr lang="en-US" sz="1600" dirty="0"/>
          </a:p>
        </p:txBody>
      </p:sp>
      <p:sp>
        <p:nvSpPr>
          <p:cNvPr id="67" name="Rectangle 66">
            <a:extLst>
              <a:ext uri="{FF2B5EF4-FFF2-40B4-BE49-F238E27FC236}">
                <a16:creationId xmlns:a16="http://schemas.microsoft.com/office/drawing/2014/main" id="{F72F8220-976C-F048-B661-A820D983A22A}"/>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48C73737-655F-19F5-F0EF-5FAD9A021AB7}"/>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14CCFF1D-BBD0-7478-B66F-D8255A5897DF}"/>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15D95B21-99B6-B89B-3F5D-BA384125212A}"/>
              </a:ext>
            </a:extLst>
          </p:cNvPr>
          <p:cNvSpPr/>
          <p:nvPr/>
        </p:nvSpPr>
        <p:spPr>
          <a:xfrm>
            <a:off x="7725468" y="3431746"/>
            <a:ext cx="2689475" cy="5354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CANARY=0xDEADBEEF</a:t>
            </a:r>
            <a:endParaRPr lang="en-US" sz="1400" dirty="0"/>
          </a:p>
        </p:txBody>
      </p:sp>
      <p:sp>
        <p:nvSpPr>
          <p:cNvPr id="83" name="Arrow: Right 82">
            <a:extLst>
              <a:ext uri="{FF2B5EF4-FFF2-40B4-BE49-F238E27FC236}">
                <a16:creationId xmlns:a16="http://schemas.microsoft.com/office/drawing/2014/main" id="{E7F67CF3-E2D9-1B39-08DD-D976E1129780}"/>
              </a:ext>
            </a:extLst>
          </p:cNvPr>
          <p:cNvSpPr/>
          <p:nvPr/>
        </p:nvSpPr>
        <p:spPr>
          <a:xfrm>
            <a:off x="-236038" y="2418722"/>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1BF3A5C4-38F3-33C3-135F-6F66861144BF}"/>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67A9484-7C7C-2F60-80D5-E1E957DFA1A8}"/>
              </a:ext>
            </a:extLst>
          </p:cNvPr>
          <p:cNvSpPr txBox="1"/>
          <p:nvPr/>
        </p:nvSpPr>
        <p:spPr>
          <a:xfrm>
            <a:off x="4452593" y="3448288"/>
            <a:ext cx="2481128" cy="830997"/>
          </a:xfrm>
          <a:prstGeom prst="rect">
            <a:avLst/>
          </a:prstGeom>
          <a:noFill/>
        </p:spPr>
        <p:txBody>
          <a:bodyPr wrap="none" rtlCol="0">
            <a:spAutoFit/>
          </a:bodyPr>
          <a:lstStyle/>
          <a:p>
            <a:r>
              <a:rPr lang="en-US" sz="2400" b="1" i="1" dirty="0"/>
              <a:t>Overflow corrupts</a:t>
            </a:r>
          </a:p>
          <a:p>
            <a:r>
              <a:rPr lang="en-US" sz="2400" b="1" i="1" dirty="0"/>
              <a:t>the canary</a:t>
            </a:r>
            <a:endParaRPr lang="en-US" b="1" i="1" dirty="0"/>
          </a:p>
        </p:txBody>
      </p:sp>
    </p:spTree>
    <p:extLst>
      <p:ext uri="{BB962C8B-B14F-4D97-AF65-F5344CB8AC3E}">
        <p14:creationId xmlns:p14="http://schemas.microsoft.com/office/powerpoint/2010/main" val="1073189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dissolve">
                                      <p:cBhvr>
                                        <p:cTn id="1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E299E-F86E-7E55-ABCC-20D3E4F1940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17C280C-2D69-31B7-7990-D7727F31165E}"/>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671FB22A-7862-E7DF-18B9-55A18F1242A1}"/>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9C053A20-972B-06CD-70DF-1CFDCE941FF7}"/>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C9B5064E-E07F-69B7-B56F-E8DF0BE5F2FD}"/>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12AE433D-F2C6-0DFF-A315-FC88C1FE1F02}"/>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B4DFBD3C-4093-3255-670E-F4216A8AF345}"/>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3F1E2DE5-1B2B-C4E5-6CF6-E288B176AB21}"/>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BAC2DCB2-18BA-24D2-9159-830435BC198A}"/>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13667683-BE4B-CBEB-0837-AE4E06942EEF}"/>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02B2559B-D0A8-796A-8204-AC04DC34BB6E}"/>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1FF52DB3-C19B-33AE-39DE-CF53D8D101B9}"/>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77C94B7B-E526-022A-CECF-BD6D52ABAB99}"/>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DA7FDED2-6313-2E17-7C53-96F9DF3DF2F0}"/>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D60348B4-9241-E67B-0137-220EAA70D9B0}"/>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F01CF747-0AB0-7E00-A2A7-AB4FB982B0F3}"/>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07F46971-FD13-B079-0804-2E24397C9606}"/>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5B4120F8-8490-C3C0-759E-37BFE7B2EE68}"/>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14C2D1A0-A5CD-5613-7AB3-A0830962E6E8}"/>
              </a:ext>
            </a:extLst>
          </p:cNvPr>
          <p:cNvSpPr/>
          <p:nvPr/>
        </p:nvSpPr>
        <p:spPr>
          <a:xfrm>
            <a:off x="7749939" y="273368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return_addr@9</a:t>
            </a:r>
            <a:endParaRPr lang="en-US" sz="1600" dirty="0"/>
          </a:p>
        </p:txBody>
      </p:sp>
      <p:sp>
        <p:nvSpPr>
          <p:cNvPr id="67" name="Rectangle 66">
            <a:extLst>
              <a:ext uri="{FF2B5EF4-FFF2-40B4-BE49-F238E27FC236}">
                <a16:creationId xmlns:a16="http://schemas.microsoft.com/office/drawing/2014/main" id="{3CADA21D-5D77-6A26-BAC0-BB6E2973328A}"/>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1DD94E1F-3F00-DA41-099D-888BA3874B34}"/>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20C21A00-77D3-92C3-1808-CB9665734DE2}"/>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D92729B2-880B-F1AD-DF3D-CD939A0FBE78}"/>
              </a:ext>
            </a:extLst>
          </p:cNvPr>
          <p:cNvSpPr/>
          <p:nvPr/>
        </p:nvSpPr>
        <p:spPr>
          <a:xfrm>
            <a:off x="7725468" y="3431746"/>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CANARY=0xABCDABCD</a:t>
            </a:r>
            <a:endParaRPr lang="en-US" sz="1400" dirty="0"/>
          </a:p>
        </p:txBody>
      </p:sp>
      <p:sp>
        <p:nvSpPr>
          <p:cNvPr id="83" name="Arrow: Right 82">
            <a:extLst>
              <a:ext uri="{FF2B5EF4-FFF2-40B4-BE49-F238E27FC236}">
                <a16:creationId xmlns:a16="http://schemas.microsoft.com/office/drawing/2014/main" id="{F5C9286D-9C37-BABC-FFCD-8DCE3D8A1854}"/>
              </a:ext>
            </a:extLst>
          </p:cNvPr>
          <p:cNvSpPr/>
          <p:nvPr/>
        </p:nvSpPr>
        <p:spPr>
          <a:xfrm>
            <a:off x="-236038" y="2418722"/>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2371ADB9-F5BB-5363-D4EF-4CB9E78D774D}"/>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6B03E5B-6C04-B6D8-2D72-41E3C5A4F605}"/>
              </a:ext>
            </a:extLst>
          </p:cNvPr>
          <p:cNvSpPr txBox="1"/>
          <p:nvPr/>
        </p:nvSpPr>
        <p:spPr>
          <a:xfrm>
            <a:off x="4452593" y="3448288"/>
            <a:ext cx="2481128" cy="830997"/>
          </a:xfrm>
          <a:prstGeom prst="rect">
            <a:avLst/>
          </a:prstGeom>
          <a:noFill/>
        </p:spPr>
        <p:txBody>
          <a:bodyPr wrap="none" rtlCol="0">
            <a:spAutoFit/>
          </a:bodyPr>
          <a:lstStyle/>
          <a:p>
            <a:r>
              <a:rPr lang="en-US" sz="2400" b="1" i="1" dirty="0"/>
              <a:t>Overflow corrupts</a:t>
            </a:r>
          </a:p>
          <a:p>
            <a:r>
              <a:rPr lang="en-US" sz="2400" b="1" i="1" dirty="0"/>
              <a:t>the canary</a:t>
            </a:r>
            <a:endParaRPr lang="en-US" b="1" i="1" dirty="0"/>
          </a:p>
        </p:txBody>
      </p:sp>
    </p:spTree>
    <p:extLst>
      <p:ext uri="{BB962C8B-B14F-4D97-AF65-F5344CB8AC3E}">
        <p14:creationId xmlns:p14="http://schemas.microsoft.com/office/powerpoint/2010/main" val="165877219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D5BCC-6A01-D716-CD4F-79F1D5388A3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4E3C861-FDEA-D4B9-0CDD-1D24C57BEB36}"/>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231CF247-21CF-D007-88B9-3566B6B4C2AF}"/>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5B2963D3-4069-37D4-C486-D605482D65B1}"/>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F8BF50AD-DB85-F866-B2A1-6D5EF28D9850}"/>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2B8459E6-875F-4FF8-6632-8F6FF60887F2}"/>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6A3DD4A7-6576-38F3-A2B4-B32CD0F11542}"/>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A1A46552-D1CC-2475-8C52-D46C57779DBD}"/>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17A9E3CE-3810-9D6A-3BE7-8ECFF0CC6A3B}"/>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AFF75C2F-E376-6E02-2283-1CB186364F3E}"/>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D2E40E1E-FAAF-1EF7-29E9-3E228CEA36A4}"/>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414C0D9D-C6B6-36D7-481A-B90FEF0BBDF4}"/>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C80C6A11-30C0-7732-EBDD-8C11C83CA34E}"/>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9C62D3EC-2D50-294A-0B95-582F778684BD}"/>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EE31D92F-83C1-799A-9833-2818B2EA7489}"/>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7A2C548D-B56D-95B5-73CB-618D5562241A}"/>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4AA4B418-7654-BF4F-822D-87B068535E5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75D89829-809D-C20B-3E50-37B1C775FD2D}"/>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5B46B99D-8B42-3EA4-CBE5-8A97243C9B90}"/>
              </a:ext>
            </a:extLst>
          </p:cNvPr>
          <p:cNvSpPr/>
          <p:nvPr/>
        </p:nvSpPr>
        <p:spPr>
          <a:xfrm>
            <a:off x="7749939" y="273368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return_addr@9</a:t>
            </a:r>
            <a:endParaRPr lang="en-US" sz="1600" dirty="0"/>
          </a:p>
        </p:txBody>
      </p:sp>
      <p:sp>
        <p:nvSpPr>
          <p:cNvPr id="67" name="Rectangle 66">
            <a:extLst>
              <a:ext uri="{FF2B5EF4-FFF2-40B4-BE49-F238E27FC236}">
                <a16:creationId xmlns:a16="http://schemas.microsoft.com/office/drawing/2014/main" id="{B81346ED-91A0-3EA0-8DF4-A70FE5E5B915}"/>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11D8190B-93F1-4BB1-788B-D3B087D16224}"/>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7A6E4775-BDAE-E7AE-457A-E653E63BFA45}"/>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376C8A47-0FA8-C69A-E2AC-32A22919A534}"/>
              </a:ext>
            </a:extLst>
          </p:cNvPr>
          <p:cNvSpPr/>
          <p:nvPr/>
        </p:nvSpPr>
        <p:spPr>
          <a:xfrm>
            <a:off x="7725468" y="3431746"/>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CANARY=0xABCDABCD</a:t>
            </a:r>
            <a:endParaRPr lang="en-US" sz="1400" dirty="0"/>
          </a:p>
        </p:txBody>
      </p:sp>
      <p:sp>
        <p:nvSpPr>
          <p:cNvPr id="83" name="Arrow: Right 82">
            <a:extLst>
              <a:ext uri="{FF2B5EF4-FFF2-40B4-BE49-F238E27FC236}">
                <a16:creationId xmlns:a16="http://schemas.microsoft.com/office/drawing/2014/main" id="{8407C6DA-EAA6-79A0-6BDA-B04443416FD0}"/>
              </a:ext>
            </a:extLst>
          </p:cNvPr>
          <p:cNvSpPr/>
          <p:nvPr/>
        </p:nvSpPr>
        <p:spPr>
          <a:xfrm>
            <a:off x="-236038" y="266732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F279818F-95CC-63A2-280D-8EFFD8740976}"/>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26CE95FF-464E-E612-D838-BE59899FABA9}"/>
              </a:ext>
            </a:extLst>
          </p:cNvPr>
          <p:cNvSpPr txBox="1"/>
          <p:nvPr/>
        </p:nvSpPr>
        <p:spPr>
          <a:xfrm>
            <a:off x="3578363" y="2846122"/>
            <a:ext cx="3529299" cy="1569660"/>
          </a:xfrm>
          <a:prstGeom prst="rect">
            <a:avLst/>
          </a:prstGeom>
          <a:noFill/>
        </p:spPr>
        <p:txBody>
          <a:bodyPr wrap="none" rtlCol="0">
            <a:spAutoFit/>
          </a:bodyPr>
          <a:lstStyle/>
          <a:p>
            <a:r>
              <a:rPr lang="en-US" sz="2400" b="1" i="1" dirty="0"/>
              <a:t>Compiler checks </a:t>
            </a:r>
          </a:p>
          <a:p>
            <a:r>
              <a:rPr lang="en-US" sz="2400" b="1" i="1" dirty="0"/>
              <a:t>the canary for corruption</a:t>
            </a:r>
            <a:br>
              <a:rPr lang="en-US" sz="2400" b="1" i="1" dirty="0"/>
            </a:br>
            <a:r>
              <a:rPr lang="en-US" sz="2400" b="1" i="1" dirty="0"/>
              <a:t>-&gt; </a:t>
            </a:r>
            <a:r>
              <a:rPr lang="en-US" sz="2400" b="1" i="1" dirty="0" err="1"/>
              <a:t>old_value</a:t>
            </a:r>
            <a:r>
              <a:rPr lang="en-US" sz="2400" b="1" i="1" dirty="0"/>
              <a:t> != </a:t>
            </a:r>
            <a:r>
              <a:rPr lang="en-US" sz="2400" b="1" i="1" dirty="0" err="1"/>
              <a:t>new_value</a:t>
            </a:r>
            <a:endParaRPr lang="en-US" sz="2400" b="1" i="1" dirty="0"/>
          </a:p>
          <a:p>
            <a:r>
              <a:rPr lang="en-US" sz="2400" b="1" i="1" dirty="0"/>
              <a:t>-&gt; Buffer overflow</a:t>
            </a:r>
          </a:p>
        </p:txBody>
      </p:sp>
    </p:spTree>
    <p:extLst>
      <p:ext uri="{BB962C8B-B14F-4D97-AF65-F5344CB8AC3E}">
        <p14:creationId xmlns:p14="http://schemas.microsoft.com/office/powerpoint/2010/main" val="2463596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C10F1-42E0-B484-874C-DDB38F53132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70EBE1E8-F62A-D19D-CAD7-F4A14157FCF0}"/>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ECB78B27-D1A7-A845-0CF3-91E87FE594D7}"/>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DAFBD760-1E6C-EA4E-D555-9938E1C88B95}"/>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8775E771-E270-C2E3-D7AF-CDE1C0CC5CC8}"/>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89D1D52E-BE63-1C70-3C94-2A7D580E0E63}"/>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E08B7731-4C95-F33C-C090-79DE72CD6E9D}"/>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CABBECFA-8747-C795-C6B0-3B05339C93CC}"/>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C23E103B-37BC-4D1D-46A5-B97EB3B18F4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0DE5A773-F548-C28E-DAE7-55D9E73D8F12}"/>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1DDC1E22-F164-B4A0-8731-5A840011DDC0}"/>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8195C5D6-9C8C-276A-D106-60563649D261}"/>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58B62738-DE54-0DCB-D169-1F9464273870}"/>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20462F04-74D4-CA6E-45C5-80C5B8418983}"/>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1A45FD13-43B9-5EB3-8EAD-3D60B970E492}"/>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A52FB0EA-2166-8905-18A9-00735D4FB98C}"/>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760A7A91-4284-C6C5-14B7-F7F997E7EC2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B3B5FCC0-3112-01D8-2340-9C6A10C8926F}"/>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98AFA01A-1488-0020-05F0-FD84C3E85095}"/>
              </a:ext>
            </a:extLst>
          </p:cNvPr>
          <p:cNvSpPr/>
          <p:nvPr/>
        </p:nvSpPr>
        <p:spPr>
          <a:xfrm>
            <a:off x="7749939" y="273368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return_addr@9</a:t>
            </a:r>
            <a:endParaRPr lang="en-US" sz="1600" dirty="0"/>
          </a:p>
        </p:txBody>
      </p:sp>
      <p:sp>
        <p:nvSpPr>
          <p:cNvPr id="67" name="Rectangle 66">
            <a:extLst>
              <a:ext uri="{FF2B5EF4-FFF2-40B4-BE49-F238E27FC236}">
                <a16:creationId xmlns:a16="http://schemas.microsoft.com/office/drawing/2014/main" id="{8DD0E026-3DEE-66A4-BD6E-342B5EC94E4A}"/>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B118FB60-6461-24FB-6BE5-A5AD5AA8D5E8}"/>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5080F8BE-50A0-287D-05E1-45B7AFE20CFC}"/>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4298D85B-076B-2572-9CF1-6A31FAD3B7F1}"/>
              </a:ext>
            </a:extLst>
          </p:cNvPr>
          <p:cNvSpPr/>
          <p:nvPr/>
        </p:nvSpPr>
        <p:spPr>
          <a:xfrm>
            <a:off x="7725468" y="3431746"/>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CANARY=0xABCDABCD</a:t>
            </a:r>
            <a:endParaRPr lang="en-US" sz="1400" dirty="0"/>
          </a:p>
        </p:txBody>
      </p:sp>
      <p:sp>
        <p:nvSpPr>
          <p:cNvPr id="83" name="Arrow: Right 82">
            <a:extLst>
              <a:ext uri="{FF2B5EF4-FFF2-40B4-BE49-F238E27FC236}">
                <a16:creationId xmlns:a16="http://schemas.microsoft.com/office/drawing/2014/main" id="{59E4D9C5-C9AA-92E1-7F90-C95941A86B3C}"/>
              </a:ext>
            </a:extLst>
          </p:cNvPr>
          <p:cNvSpPr/>
          <p:nvPr/>
        </p:nvSpPr>
        <p:spPr>
          <a:xfrm>
            <a:off x="-236038" y="266732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2AAEB594-07D3-3C03-1BD7-D14FF8CAD406}"/>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1B0EDDB-E858-9FE2-A659-8C4512985594}"/>
              </a:ext>
            </a:extLst>
          </p:cNvPr>
          <p:cNvSpPr txBox="1"/>
          <p:nvPr/>
        </p:nvSpPr>
        <p:spPr>
          <a:xfrm>
            <a:off x="3892416" y="3661729"/>
            <a:ext cx="3214726" cy="461665"/>
          </a:xfrm>
          <a:prstGeom prst="rect">
            <a:avLst/>
          </a:prstGeom>
          <a:noFill/>
        </p:spPr>
        <p:txBody>
          <a:bodyPr wrap="none" rtlCol="0">
            <a:spAutoFit/>
          </a:bodyPr>
          <a:lstStyle/>
          <a:p>
            <a:r>
              <a:rPr lang="en-US" sz="2400" b="1" i="1" dirty="0">
                <a:solidFill>
                  <a:srgbClr val="FF0000"/>
                </a:solidFill>
              </a:rPr>
              <a:t>TERMINATE EXECUTION</a:t>
            </a:r>
          </a:p>
        </p:txBody>
      </p:sp>
    </p:spTree>
    <p:extLst>
      <p:ext uri="{BB962C8B-B14F-4D97-AF65-F5344CB8AC3E}">
        <p14:creationId xmlns:p14="http://schemas.microsoft.com/office/powerpoint/2010/main" val="62511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4C9ED43-F978-A6C5-8F3F-0054C4D0949B}"/>
              </a:ext>
            </a:extLst>
          </p:cNvPr>
          <p:cNvSpPr>
            <a:spLocks noGrp="1"/>
          </p:cNvSpPr>
          <p:nvPr>
            <p:ph idx="1"/>
          </p:nvPr>
        </p:nvSpPr>
        <p:spPr/>
        <p:txBody>
          <a:bodyPr/>
          <a:lstStyle/>
          <a:p>
            <a:r>
              <a:rPr lang="en-US" dirty="0"/>
              <a:t>Available on most popular C/C++ compilers</a:t>
            </a:r>
          </a:p>
          <a:p>
            <a:pPr lvl="1"/>
            <a:r>
              <a:rPr lang="en-US" dirty="0" err="1"/>
              <a:t>gcc,clang</a:t>
            </a:r>
            <a:endParaRPr lang="en-US" dirty="0"/>
          </a:p>
          <a:p>
            <a:r>
              <a:rPr lang="en-US" dirty="0"/>
              <a:t>Can typically detect overflow across stack frames</a:t>
            </a:r>
          </a:p>
          <a:p>
            <a:r>
              <a:rPr lang="en-US" dirty="0"/>
              <a:t>Can typically NOT detect overflow within objects in the same stack frame</a:t>
            </a:r>
          </a:p>
          <a:p>
            <a:r>
              <a:rPr lang="en-US" dirty="0"/>
              <a:t>Can NOT detect overflow within same object on the stack</a:t>
            </a:r>
          </a:p>
          <a:p>
            <a:pPr lvl="1"/>
            <a:r>
              <a:rPr lang="en-US" dirty="0"/>
              <a:t>E.g., different fields in the struct type</a:t>
            </a:r>
          </a:p>
        </p:txBody>
      </p:sp>
      <p:sp>
        <p:nvSpPr>
          <p:cNvPr id="4" name="Title 3">
            <a:extLst>
              <a:ext uri="{FF2B5EF4-FFF2-40B4-BE49-F238E27FC236}">
                <a16:creationId xmlns:a16="http://schemas.microsoft.com/office/drawing/2014/main" id="{034C184D-DBA1-144C-B36C-F4319BC4835A}"/>
              </a:ext>
            </a:extLst>
          </p:cNvPr>
          <p:cNvSpPr>
            <a:spLocks noGrp="1"/>
          </p:cNvSpPr>
          <p:nvPr>
            <p:ph type="title"/>
          </p:nvPr>
        </p:nvSpPr>
        <p:spPr/>
        <p:txBody>
          <a:bodyPr/>
          <a:lstStyle/>
          <a:p>
            <a:r>
              <a:rPr lang="en-US" dirty="0"/>
              <a:t>Stack canaries</a:t>
            </a:r>
          </a:p>
        </p:txBody>
      </p:sp>
    </p:spTree>
    <p:extLst>
      <p:ext uri="{BB962C8B-B14F-4D97-AF65-F5344CB8AC3E}">
        <p14:creationId xmlns:p14="http://schemas.microsoft.com/office/powerpoint/2010/main" val="269133812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9F3F3E0-613E-C6F6-AAE3-588AEA1EB3B8}"/>
              </a:ext>
            </a:extLst>
          </p:cNvPr>
          <p:cNvSpPr>
            <a:spLocks noGrp="1"/>
          </p:cNvSpPr>
          <p:nvPr>
            <p:ph idx="1"/>
          </p:nvPr>
        </p:nvSpPr>
        <p:spPr/>
        <p:txBody>
          <a:bodyPr/>
          <a:lstStyle/>
          <a:p>
            <a:r>
              <a:rPr lang="en-US" dirty="0"/>
              <a:t>Operating System feature</a:t>
            </a:r>
          </a:p>
          <a:p>
            <a:r>
              <a:rPr lang="en-US" dirty="0"/>
              <a:t>Randomizes the address where the binary is loaded</a:t>
            </a:r>
          </a:p>
          <a:p>
            <a:r>
              <a:rPr lang="en-US" dirty="0"/>
              <a:t>Makes it harder for the attacker to guess the target address</a:t>
            </a:r>
          </a:p>
          <a:p>
            <a:r>
              <a:rPr lang="en-US" b="1" i="1" dirty="0"/>
              <a:t>… defenses are ad-hoc and incomplete</a:t>
            </a:r>
          </a:p>
        </p:txBody>
      </p:sp>
      <p:sp>
        <p:nvSpPr>
          <p:cNvPr id="4" name="Title 3">
            <a:extLst>
              <a:ext uri="{FF2B5EF4-FFF2-40B4-BE49-F238E27FC236}">
                <a16:creationId xmlns:a16="http://schemas.microsoft.com/office/drawing/2014/main" id="{0CD8E84E-A80E-A124-F932-8E54100558F2}"/>
              </a:ext>
            </a:extLst>
          </p:cNvPr>
          <p:cNvSpPr>
            <a:spLocks noGrp="1"/>
          </p:cNvSpPr>
          <p:nvPr>
            <p:ph type="title"/>
          </p:nvPr>
        </p:nvSpPr>
        <p:spPr/>
        <p:txBody>
          <a:bodyPr/>
          <a:lstStyle/>
          <a:p>
            <a:r>
              <a:rPr lang="en-US" dirty="0"/>
              <a:t>Defenses – Address Space Layout Randomization </a:t>
            </a:r>
          </a:p>
        </p:txBody>
      </p:sp>
    </p:spTree>
    <p:extLst>
      <p:ext uri="{BB962C8B-B14F-4D97-AF65-F5344CB8AC3E}">
        <p14:creationId xmlns:p14="http://schemas.microsoft.com/office/powerpoint/2010/main" val="28964504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7F08EC-32EF-172E-B614-E80962273699}"/>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669F5F8-34E5-D772-66C7-6AD34D68FCEC}"/>
              </a:ext>
            </a:extLst>
          </p:cNvPr>
          <p:cNvSpPr>
            <a:spLocks noGrp="1"/>
          </p:cNvSpPr>
          <p:nvPr>
            <p:ph idx="1"/>
          </p:nvPr>
        </p:nvSpPr>
        <p:spPr/>
        <p:txBody>
          <a:bodyPr/>
          <a:lstStyle/>
          <a:p>
            <a:r>
              <a:rPr lang="en-US" dirty="0"/>
              <a:t>Observation: a few programming patterns lead to the majority of vulnerabilities</a:t>
            </a:r>
          </a:p>
          <a:p>
            <a:r>
              <a:rPr lang="en-US" dirty="0"/>
              <a:t>Solution: avoid those programming patterns</a:t>
            </a:r>
          </a:p>
        </p:txBody>
      </p:sp>
      <p:sp>
        <p:nvSpPr>
          <p:cNvPr id="5" name="Title 4">
            <a:extLst>
              <a:ext uri="{FF2B5EF4-FFF2-40B4-BE49-F238E27FC236}">
                <a16:creationId xmlns:a16="http://schemas.microsoft.com/office/drawing/2014/main" id="{E45DE292-43A8-8C3F-9461-3CFC66DA289B}"/>
              </a:ext>
            </a:extLst>
          </p:cNvPr>
          <p:cNvSpPr>
            <a:spLocks noGrp="1"/>
          </p:cNvSpPr>
          <p:nvPr>
            <p:ph type="title"/>
          </p:nvPr>
        </p:nvSpPr>
        <p:spPr/>
        <p:txBody>
          <a:bodyPr/>
          <a:lstStyle/>
          <a:p>
            <a:r>
              <a:rPr lang="en-US" dirty="0"/>
              <a:t>Secure programming</a:t>
            </a:r>
          </a:p>
        </p:txBody>
      </p:sp>
    </p:spTree>
    <p:extLst>
      <p:ext uri="{BB962C8B-B14F-4D97-AF65-F5344CB8AC3E}">
        <p14:creationId xmlns:p14="http://schemas.microsoft.com/office/powerpoint/2010/main" val="1345588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17AAD-784D-A645-502A-11C0163AEBE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12F843D-7AB8-017A-1F9A-08E3F46F116D}"/>
              </a:ext>
            </a:extLst>
          </p:cNvPr>
          <p:cNvSpPr>
            <a:spLocks noGrp="1"/>
          </p:cNvSpPr>
          <p:nvPr>
            <p:ph idx="1"/>
          </p:nvPr>
        </p:nvSpPr>
        <p:spPr/>
        <p:txBody>
          <a:bodyPr/>
          <a:lstStyle/>
          <a:p>
            <a:r>
              <a:rPr lang="en-US" dirty="0"/>
              <a:t>Strings end with </a:t>
            </a:r>
            <a:r>
              <a:rPr lang="en-US" dirty="0">
                <a:latin typeface="Consolas" panose="020B0609020204030204" pitchFamily="49" charset="0"/>
              </a:rPr>
              <a:t>‘\0’</a:t>
            </a:r>
          </a:p>
          <a:p>
            <a:r>
              <a:rPr lang="en-US" dirty="0"/>
              <a:t>Use the size-checked variants of common string functions</a:t>
            </a:r>
          </a:p>
          <a:p>
            <a:pPr lvl="1"/>
            <a:r>
              <a:rPr lang="en-US" dirty="0">
                <a:latin typeface="Consolas" panose="020B0609020204030204" pitchFamily="49" charset="0"/>
              </a:rPr>
              <a:t>char buffer[10];</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 “%9s”, buffer);</a:t>
            </a:r>
          </a:p>
          <a:p>
            <a:pPr lvl="1"/>
            <a:r>
              <a:rPr lang="en-US" dirty="0">
                <a:latin typeface="Consolas" panose="020B0609020204030204" pitchFamily="49" charset="0"/>
              </a:rPr>
              <a:t>char </a:t>
            </a:r>
            <a:r>
              <a:rPr lang="en-US" dirty="0" err="1">
                <a:latin typeface="Consolas" panose="020B0609020204030204" pitchFamily="49" charset="0"/>
              </a:rPr>
              <a:t>dest</a:t>
            </a:r>
            <a:r>
              <a:rPr lang="en-US" dirty="0">
                <a:latin typeface="Consolas" panose="020B0609020204030204" pitchFamily="49" charset="0"/>
              </a:rPr>
              <a:t>[10];</a:t>
            </a:r>
            <a:br>
              <a:rPr lang="en-US" dirty="0">
                <a:latin typeface="Consolas" panose="020B0609020204030204" pitchFamily="49" charset="0"/>
              </a:rPr>
            </a:br>
            <a:r>
              <a:rPr lang="en-US" dirty="0">
                <a:latin typeface="Consolas" panose="020B0609020204030204" pitchFamily="49" charset="0"/>
              </a:rPr>
              <a:t>char </a:t>
            </a:r>
            <a:r>
              <a:rPr lang="en-US" dirty="0" err="1">
                <a:latin typeface="Consolas" panose="020B0609020204030204" pitchFamily="49" charset="0"/>
              </a:rPr>
              <a:t>src</a:t>
            </a:r>
            <a:r>
              <a:rPr lang="en-US" dirty="0">
                <a:latin typeface="Consolas" panose="020B0609020204030204" pitchFamily="49" charset="0"/>
              </a:rPr>
              <a:t>[10];</a:t>
            </a:r>
            <a:br>
              <a:rPr lang="en-US" dirty="0">
                <a:latin typeface="Consolas" panose="020B0609020204030204" pitchFamily="49" charset="0"/>
              </a:rPr>
            </a:br>
            <a:r>
              <a:rPr lang="en-US" dirty="0" err="1">
                <a:latin typeface="Consolas" panose="020B0609020204030204" pitchFamily="49" charset="0"/>
              </a:rPr>
              <a:t>strncpy</a:t>
            </a:r>
            <a:r>
              <a:rPr lang="en-US" dirty="0">
                <a:latin typeface="Consolas" panose="020B0609020204030204" pitchFamily="49" charset="0"/>
              </a:rPr>
              <a:t>(</a:t>
            </a:r>
            <a:r>
              <a:rPr lang="en-US" dirty="0" err="1">
                <a:latin typeface="Consolas" panose="020B0609020204030204" pitchFamily="49" charset="0"/>
              </a:rPr>
              <a:t>dest</a:t>
            </a:r>
            <a:r>
              <a:rPr lang="en-US" dirty="0">
                <a:latin typeface="Consolas" panose="020B0609020204030204" pitchFamily="49" charset="0"/>
              </a:rPr>
              <a:t>, </a:t>
            </a:r>
            <a:r>
              <a:rPr lang="en-US" dirty="0" err="1">
                <a:latin typeface="Consolas" panose="020B0609020204030204" pitchFamily="49" charset="0"/>
              </a:rPr>
              <a:t>src</a:t>
            </a:r>
            <a:r>
              <a:rPr lang="en-US" dirty="0">
                <a:latin typeface="Consolas" panose="020B0609020204030204" pitchFamily="49" charset="0"/>
              </a:rPr>
              <a:t>, 10);</a:t>
            </a:r>
          </a:p>
          <a:p>
            <a:pPr lvl="1"/>
            <a:r>
              <a:rPr lang="en-US" dirty="0" err="1">
                <a:latin typeface="Consolas" panose="020B0609020204030204" pitchFamily="49" charset="0"/>
              </a:rPr>
              <a:t>strncmp</a:t>
            </a:r>
            <a:r>
              <a:rPr lang="en-US" dirty="0">
                <a:latin typeface="Consolas" panose="020B0609020204030204" pitchFamily="49" charset="0"/>
              </a:rPr>
              <a:t>, </a:t>
            </a:r>
            <a:r>
              <a:rPr lang="en-US" dirty="0" err="1">
                <a:latin typeface="Consolas" panose="020B0609020204030204" pitchFamily="49" charset="0"/>
              </a:rPr>
              <a:t>strncat</a:t>
            </a:r>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0C7B7312-AF0C-143F-60AC-B53F56CB436B}"/>
              </a:ext>
            </a:extLst>
          </p:cNvPr>
          <p:cNvSpPr>
            <a:spLocks noGrp="1"/>
          </p:cNvSpPr>
          <p:nvPr>
            <p:ph type="title"/>
          </p:nvPr>
        </p:nvSpPr>
        <p:spPr/>
        <p:txBody>
          <a:bodyPr/>
          <a:lstStyle/>
          <a:p>
            <a:r>
              <a:rPr lang="en-US" dirty="0"/>
              <a:t>String functions</a:t>
            </a:r>
          </a:p>
        </p:txBody>
      </p:sp>
    </p:spTree>
    <p:extLst>
      <p:ext uri="{BB962C8B-B14F-4D97-AF65-F5344CB8AC3E}">
        <p14:creationId xmlns:p14="http://schemas.microsoft.com/office/powerpoint/2010/main" val="191063539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E24B5-F3CB-9191-E4BF-0094D8FFDD6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782B9D5-A730-4E12-7654-4A6A17BF3F4A}"/>
              </a:ext>
            </a:extLst>
          </p:cNvPr>
          <p:cNvSpPr>
            <a:spLocks noGrp="1"/>
          </p:cNvSpPr>
          <p:nvPr>
            <p:ph idx="1"/>
          </p:nvPr>
        </p:nvSpPr>
        <p:spPr/>
        <p:txBody>
          <a:bodyPr/>
          <a:lstStyle/>
          <a:p>
            <a:r>
              <a:rPr lang="en-US" dirty="0"/>
              <a:t>Avoid use-after-free bugs by setting freed pointers to 0 immediately</a:t>
            </a:r>
          </a:p>
          <a:p>
            <a:pPr lvl="1"/>
            <a:r>
              <a:rPr lang="en-US" dirty="0"/>
              <a:t>char* p = malloc(…);</a:t>
            </a:r>
            <a:br>
              <a:rPr lang="en-US" dirty="0"/>
            </a:br>
            <a:r>
              <a:rPr lang="en-US" dirty="0"/>
              <a:t>//…</a:t>
            </a:r>
            <a:br>
              <a:rPr lang="en-US" dirty="0"/>
            </a:br>
            <a:r>
              <a:rPr lang="en-US" dirty="0"/>
              <a:t>free(p);</a:t>
            </a:r>
            <a:br>
              <a:rPr lang="en-US" dirty="0"/>
            </a:br>
            <a:r>
              <a:rPr lang="en-US" dirty="0"/>
              <a:t>p = (char*) 0; </a:t>
            </a:r>
          </a:p>
          <a:p>
            <a:r>
              <a:rPr lang="en-US" dirty="0"/>
              <a:t>C++ provides “smart” pointers</a:t>
            </a:r>
          </a:p>
          <a:p>
            <a:pPr lvl="1"/>
            <a:r>
              <a:rPr lang="en-US" dirty="0">
                <a:latin typeface="Consolas" panose="020B0609020204030204" pitchFamily="49" charset="0"/>
              </a:rPr>
              <a:t>std::</a:t>
            </a:r>
            <a:r>
              <a:rPr lang="en-US" dirty="0" err="1">
                <a:latin typeface="Consolas" panose="020B0609020204030204" pitchFamily="49" charset="0"/>
              </a:rPr>
              <a:t>unique_ptr</a:t>
            </a:r>
            <a:endParaRPr lang="en-US" dirty="0">
              <a:latin typeface="Helvetica" panose="020B0604020202020204"/>
              <a:cs typeface="Helvetica" panose="020B0604020202020204"/>
            </a:endParaRPr>
          </a:p>
          <a:p>
            <a:pPr lvl="1"/>
            <a:r>
              <a:rPr lang="en-US" dirty="0">
                <a:latin typeface="Consolas" panose="020B0609020204030204" pitchFamily="49" charset="0"/>
              </a:rPr>
              <a:t>std::</a:t>
            </a:r>
            <a:r>
              <a:rPr lang="en-US" dirty="0" err="1">
                <a:latin typeface="Consolas" panose="020B0609020204030204" pitchFamily="49" charset="0"/>
              </a:rPr>
              <a:t>shared_ptr</a:t>
            </a:r>
            <a:endParaRPr lang="en-US" dirty="0">
              <a:latin typeface="Consolas" panose="020B0609020204030204" pitchFamily="49" charset="0"/>
            </a:endParaRPr>
          </a:p>
          <a:p>
            <a:pPr marL="230187" lvl="1" indent="0">
              <a:buNone/>
            </a:pPr>
            <a:endParaRPr lang="en-US" dirty="0">
              <a:latin typeface="Helvetica" panose="020B0604020202020204"/>
              <a:cs typeface="Helvetica" panose="020B0604020202020204"/>
            </a:endParaRPr>
          </a:p>
        </p:txBody>
      </p:sp>
      <p:sp>
        <p:nvSpPr>
          <p:cNvPr id="4" name="Title 3">
            <a:extLst>
              <a:ext uri="{FF2B5EF4-FFF2-40B4-BE49-F238E27FC236}">
                <a16:creationId xmlns:a16="http://schemas.microsoft.com/office/drawing/2014/main" id="{D20C6F40-90EC-04DB-0BF7-1BFC3150822E}"/>
              </a:ext>
            </a:extLst>
          </p:cNvPr>
          <p:cNvSpPr>
            <a:spLocks noGrp="1"/>
          </p:cNvSpPr>
          <p:nvPr>
            <p:ph type="title"/>
          </p:nvPr>
        </p:nvSpPr>
        <p:spPr/>
        <p:txBody>
          <a:bodyPr/>
          <a:lstStyle/>
          <a:p>
            <a:r>
              <a:rPr lang="en-US" dirty="0"/>
              <a:t>Avoiding temporal safety bugs</a:t>
            </a:r>
          </a:p>
        </p:txBody>
      </p:sp>
      <p:sp>
        <p:nvSpPr>
          <p:cNvPr id="2" name="Right Brace 1">
            <a:extLst>
              <a:ext uri="{FF2B5EF4-FFF2-40B4-BE49-F238E27FC236}">
                <a16:creationId xmlns:a16="http://schemas.microsoft.com/office/drawing/2014/main" id="{794DFD10-73C0-822E-8E1D-616B832545D4}"/>
              </a:ext>
            </a:extLst>
          </p:cNvPr>
          <p:cNvSpPr/>
          <p:nvPr/>
        </p:nvSpPr>
        <p:spPr>
          <a:xfrm>
            <a:off x="6400800" y="3429000"/>
            <a:ext cx="771181" cy="1726894"/>
          </a:xfrm>
          <a:prstGeom prst="rightBrace">
            <a:avLst/>
          </a:prstGeom>
          <a:ln w="44450">
            <a:solidFill>
              <a:srgbClr val="0033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ln w="0"/>
              <a:effectLst>
                <a:outerShdw blurRad="38100" dist="19050" dir="2700000" algn="tl" rotWithShape="0">
                  <a:schemeClr val="dk1">
                    <a:alpha val="40000"/>
                  </a:schemeClr>
                </a:outerShdw>
              </a:effectLst>
            </a:endParaRPr>
          </a:p>
        </p:txBody>
      </p:sp>
      <p:sp>
        <p:nvSpPr>
          <p:cNvPr id="3" name="TextBox 2">
            <a:extLst>
              <a:ext uri="{FF2B5EF4-FFF2-40B4-BE49-F238E27FC236}">
                <a16:creationId xmlns:a16="http://schemas.microsoft.com/office/drawing/2014/main" id="{AAADE6AC-255C-DFCA-6B51-ED2BA1CC4F3C}"/>
              </a:ext>
            </a:extLst>
          </p:cNvPr>
          <p:cNvSpPr txBox="1"/>
          <p:nvPr/>
        </p:nvSpPr>
        <p:spPr>
          <a:xfrm>
            <a:off x="6945495" y="4374288"/>
            <a:ext cx="5245154" cy="461665"/>
          </a:xfrm>
          <a:prstGeom prst="rect">
            <a:avLst/>
          </a:prstGeom>
          <a:noFill/>
        </p:spPr>
        <p:txBody>
          <a:bodyPr wrap="none" rtlCol="0">
            <a:spAutoFit/>
          </a:bodyPr>
          <a:lstStyle/>
          <a:p>
            <a:r>
              <a:rPr lang="en-US" sz="2400" b="1" i="1" dirty="0"/>
              <a:t>How C++ prevents temporal safety bugs</a:t>
            </a:r>
          </a:p>
        </p:txBody>
      </p:sp>
    </p:spTree>
    <p:extLst>
      <p:ext uri="{BB962C8B-B14F-4D97-AF65-F5344CB8AC3E}">
        <p14:creationId xmlns:p14="http://schemas.microsoft.com/office/powerpoint/2010/main" val="111402335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406E496-1867-D2FD-C9EC-B91D23697035}"/>
              </a:ext>
            </a:extLst>
          </p:cNvPr>
          <p:cNvSpPr>
            <a:spLocks noGrp="1"/>
          </p:cNvSpPr>
          <p:nvPr>
            <p:ph idx="1"/>
          </p:nvPr>
        </p:nvSpPr>
        <p:spPr/>
        <p:txBody>
          <a:bodyPr/>
          <a:lstStyle/>
          <a:p>
            <a:r>
              <a:rPr lang="en-US" dirty="0"/>
              <a:t>int function() {</a:t>
            </a:r>
          </a:p>
          <a:p>
            <a:r>
              <a:rPr lang="en-US" dirty="0"/>
              <a:t>	for (int </a:t>
            </a:r>
            <a:r>
              <a:rPr lang="en-US" dirty="0" err="1"/>
              <a:t>i</a:t>
            </a:r>
            <a:r>
              <a:rPr lang="en-US" dirty="0"/>
              <a:t> = 0; </a:t>
            </a:r>
            <a:r>
              <a:rPr lang="en-US" dirty="0" err="1"/>
              <a:t>i</a:t>
            </a:r>
            <a:r>
              <a:rPr lang="en-US" dirty="0"/>
              <a:t> &lt; 10; </a:t>
            </a:r>
            <a:r>
              <a:rPr lang="en-US" dirty="0" err="1"/>
              <a:t>i</a:t>
            </a:r>
            <a:r>
              <a:rPr lang="en-US" dirty="0"/>
              <a:t>++) {</a:t>
            </a:r>
          </a:p>
          <a:p>
            <a:r>
              <a:rPr lang="en-US" dirty="0"/>
              <a:t>		int temp = </a:t>
            </a:r>
            <a:r>
              <a:rPr lang="en-US" dirty="0" err="1"/>
              <a:t>i</a:t>
            </a:r>
            <a:r>
              <a:rPr lang="en-US" dirty="0"/>
              <a:t>;</a:t>
            </a:r>
          </a:p>
          <a:p>
            <a:r>
              <a:rPr lang="en-US" dirty="0"/>
              <a:t>		</a:t>
            </a:r>
            <a:r>
              <a:rPr lang="en-US" dirty="0" err="1"/>
              <a:t>printf</a:t>
            </a:r>
            <a:r>
              <a:rPr lang="en-US" dirty="0"/>
              <a:t>(“%d\n”, temp);</a:t>
            </a:r>
          </a:p>
          <a:p>
            <a:r>
              <a:rPr lang="en-US" dirty="0"/>
              <a:t>	}</a:t>
            </a:r>
          </a:p>
          <a:p>
            <a:r>
              <a:rPr lang="en-US" dirty="0"/>
              <a:t>	</a:t>
            </a:r>
            <a:r>
              <a:rPr lang="en-US" dirty="0" err="1"/>
              <a:t>printf</a:t>
            </a:r>
            <a:r>
              <a:rPr lang="en-US" dirty="0"/>
              <a:t>(“%d\n”, temp);</a:t>
            </a:r>
            <a:br>
              <a:rPr lang="en-US" dirty="0"/>
            </a:br>
            <a:r>
              <a:rPr lang="en-US" dirty="0"/>
              <a:t>}</a:t>
            </a:r>
          </a:p>
        </p:txBody>
      </p:sp>
      <p:sp>
        <p:nvSpPr>
          <p:cNvPr id="3" name="Title 2">
            <a:extLst>
              <a:ext uri="{FF2B5EF4-FFF2-40B4-BE49-F238E27FC236}">
                <a16:creationId xmlns:a16="http://schemas.microsoft.com/office/drawing/2014/main" id="{936DCA5C-4B1C-3362-BFF4-5D0A845704BB}"/>
              </a:ext>
            </a:extLst>
          </p:cNvPr>
          <p:cNvSpPr>
            <a:spLocks noGrp="1"/>
          </p:cNvSpPr>
          <p:nvPr>
            <p:ph type="title"/>
          </p:nvPr>
        </p:nvSpPr>
        <p:spPr/>
        <p:txBody>
          <a:bodyPr/>
          <a:lstStyle/>
          <a:p>
            <a:r>
              <a:rPr lang="en-US" dirty="0"/>
              <a:t>Background: variable’s scope</a:t>
            </a:r>
          </a:p>
        </p:txBody>
      </p:sp>
      <p:sp>
        <p:nvSpPr>
          <p:cNvPr id="4" name="Content Placeholder 3">
            <a:extLst>
              <a:ext uri="{FF2B5EF4-FFF2-40B4-BE49-F238E27FC236}">
                <a16:creationId xmlns:a16="http://schemas.microsoft.com/office/drawing/2014/main" id="{6E575E90-E986-C041-3146-0297B783FF9A}"/>
              </a:ext>
            </a:extLst>
          </p:cNvPr>
          <p:cNvSpPr>
            <a:spLocks noGrp="1"/>
          </p:cNvSpPr>
          <p:nvPr>
            <p:ph idx="13"/>
          </p:nvPr>
        </p:nvSpPr>
        <p:spPr/>
        <p:txBody>
          <a:bodyPr/>
          <a:lstStyle/>
          <a:p>
            <a:r>
              <a:rPr lang="en-US" dirty="0"/>
              <a:t>Region of a program where the variable is accessible or can be referenced</a:t>
            </a:r>
          </a:p>
        </p:txBody>
      </p:sp>
      <p:grpSp>
        <p:nvGrpSpPr>
          <p:cNvPr id="9" name="Group 8">
            <a:extLst>
              <a:ext uri="{FF2B5EF4-FFF2-40B4-BE49-F238E27FC236}">
                <a16:creationId xmlns:a16="http://schemas.microsoft.com/office/drawing/2014/main" id="{598466BE-FFCF-52E8-3755-339930E2BE1D}"/>
              </a:ext>
            </a:extLst>
          </p:cNvPr>
          <p:cNvGrpSpPr/>
          <p:nvPr/>
        </p:nvGrpSpPr>
        <p:grpSpPr>
          <a:xfrm>
            <a:off x="6678904" y="1211855"/>
            <a:ext cx="5020865" cy="784952"/>
            <a:chOff x="6678904" y="1211855"/>
            <a:chExt cx="5020865" cy="784952"/>
          </a:xfrm>
        </p:grpSpPr>
        <p:sp>
          <p:nvSpPr>
            <p:cNvPr id="7" name="Rectangle 6">
              <a:extLst>
                <a:ext uri="{FF2B5EF4-FFF2-40B4-BE49-F238E27FC236}">
                  <a16:creationId xmlns:a16="http://schemas.microsoft.com/office/drawing/2014/main" id="{FA56FE8C-B879-5BF4-22A5-8C0775406C11}"/>
                </a:ext>
              </a:extLst>
            </p:cNvPr>
            <p:cNvSpPr/>
            <p:nvPr/>
          </p:nvSpPr>
          <p:spPr>
            <a:xfrm>
              <a:off x="6678904" y="1211855"/>
              <a:ext cx="3015940" cy="78495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4EA8C81D-8B6B-B5FF-F075-F282E5DF19EE}"/>
                </a:ext>
              </a:extLst>
            </p:cNvPr>
            <p:cNvSpPr txBox="1"/>
            <p:nvPr/>
          </p:nvSpPr>
          <p:spPr>
            <a:xfrm>
              <a:off x="9712494" y="1373498"/>
              <a:ext cx="1987275" cy="461665"/>
            </a:xfrm>
            <a:prstGeom prst="rect">
              <a:avLst/>
            </a:prstGeom>
            <a:noFill/>
          </p:spPr>
          <p:txBody>
            <a:bodyPr wrap="none" rtlCol="0">
              <a:spAutoFit/>
            </a:bodyPr>
            <a:lstStyle/>
            <a:p>
              <a:r>
                <a:rPr lang="en-US" sz="2400" b="1" i="1" dirty="0"/>
                <a:t>Scope of temp</a:t>
              </a:r>
            </a:p>
          </p:txBody>
        </p:sp>
      </p:grpSp>
      <p:sp>
        <p:nvSpPr>
          <p:cNvPr id="10" name="TextBox 9">
            <a:extLst>
              <a:ext uri="{FF2B5EF4-FFF2-40B4-BE49-F238E27FC236}">
                <a16:creationId xmlns:a16="http://schemas.microsoft.com/office/drawing/2014/main" id="{F8A98023-C650-CD10-7EC6-B8B2A0785A2C}"/>
              </a:ext>
            </a:extLst>
          </p:cNvPr>
          <p:cNvSpPr txBox="1"/>
          <p:nvPr/>
        </p:nvSpPr>
        <p:spPr>
          <a:xfrm>
            <a:off x="9203598" y="1983073"/>
            <a:ext cx="2558264" cy="461665"/>
          </a:xfrm>
          <a:prstGeom prst="rect">
            <a:avLst/>
          </a:prstGeom>
          <a:noFill/>
        </p:spPr>
        <p:txBody>
          <a:bodyPr wrap="none" rtlCol="0">
            <a:spAutoFit/>
          </a:bodyPr>
          <a:lstStyle/>
          <a:p>
            <a:r>
              <a:rPr lang="en-US" sz="2400" b="1" i="1" dirty="0">
                <a:solidFill>
                  <a:srgbClr val="FF0000"/>
                </a:solidFill>
              </a:rPr>
              <a:t>COMPILER ERROR!</a:t>
            </a:r>
          </a:p>
        </p:txBody>
      </p:sp>
    </p:spTree>
    <p:extLst>
      <p:ext uri="{BB962C8B-B14F-4D97-AF65-F5344CB8AC3E}">
        <p14:creationId xmlns:p14="http://schemas.microsoft.com/office/powerpoint/2010/main" val="2843672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FB42AB1-C9FD-3CFB-66EE-A90C7A328D00}"/>
              </a:ext>
            </a:extLst>
          </p:cNvPr>
          <p:cNvSpPr>
            <a:spLocks noGrp="1"/>
          </p:cNvSpPr>
          <p:nvPr>
            <p:ph idx="1"/>
          </p:nvPr>
        </p:nvSpPr>
        <p:spPr/>
        <p:txBody>
          <a:bodyPr/>
          <a:lstStyle/>
          <a:p>
            <a:endParaRPr lang="en-US"/>
          </a:p>
        </p:txBody>
      </p:sp>
      <p:sp>
        <p:nvSpPr>
          <p:cNvPr id="6" name="Text Placeholder 5">
            <a:extLst>
              <a:ext uri="{FF2B5EF4-FFF2-40B4-BE49-F238E27FC236}">
                <a16:creationId xmlns:a16="http://schemas.microsoft.com/office/drawing/2014/main" id="{AADFC106-959C-17F6-2171-125B40B67B98}"/>
              </a:ext>
            </a:extLst>
          </p:cNvPr>
          <p:cNvSpPr>
            <a:spLocks noGrp="1"/>
          </p:cNvSpPr>
          <p:nvPr>
            <p:ph type="body" sz="quarter" idx="13"/>
          </p:nvPr>
        </p:nvSpPr>
        <p:spPr/>
        <p:txBody>
          <a:bodyPr/>
          <a:lstStyle/>
          <a:p>
            <a:r>
              <a:rPr lang="en-US" dirty="0"/>
              <a:t>C++ smart pointers</a:t>
            </a:r>
          </a:p>
        </p:txBody>
      </p:sp>
    </p:spTree>
    <p:extLst>
      <p:ext uri="{BB962C8B-B14F-4D97-AF65-F5344CB8AC3E}">
        <p14:creationId xmlns:p14="http://schemas.microsoft.com/office/powerpoint/2010/main" val="387454858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4E7E591-1500-A692-37CE-6FDD9DCC42C2}"/>
              </a:ext>
            </a:extLst>
          </p:cNvPr>
          <p:cNvSpPr>
            <a:spLocks noGrp="1"/>
          </p:cNvSpPr>
          <p:nvPr>
            <p:ph idx="1"/>
          </p:nvPr>
        </p:nvSpPr>
        <p:spPr/>
        <p:txBody>
          <a:bodyPr/>
          <a:lstStyle/>
          <a:p>
            <a:r>
              <a:rPr lang="en-US" dirty="0"/>
              <a:t>Goal: to eliminate temporal memory errors</a:t>
            </a:r>
          </a:p>
          <a:p>
            <a:pPr lvl="1"/>
            <a:r>
              <a:rPr lang="en-US" dirty="0"/>
              <a:t>Use-after-free bugs</a:t>
            </a:r>
          </a:p>
          <a:p>
            <a:pPr lvl="1"/>
            <a:r>
              <a:rPr lang="en-US" dirty="0"/>
              <a:t>Double-free bugs</a:t>
            </a:r>
          </a:p>
          <a:p>
            <a:r>
              <a:rPr lang="en-US" dirty="0"/>
              <a:t>How?</a:t>
            </a:r>
          </a:p>
          <a:p>
            <a:pPr lvl="1"/>
            <a:r>
              <a:rPr lang="en-US" dirty="0"/>
              <a:t>Automatically manage heap memory</a:t>
            </a:r>
          </a:p>
          <a:p>
            <a:pPr lvl="1"/>
            <a:r>
              <a:rPr lang="en-US" dirty="0"/>
              <a:t>Remove the burden of heap memory-management from the programmer</a:t>
            </a:r>
          </a:p>
        </p:txBody>
      </p:sp>
      <p:sp>
        <p:nvSpPr>
          <p:cNvPr id="4" name="Title 3">
            <a:extLst>
              <a:ext uri="{FF2B5EF4-FFF2-40B4-BE49-F238E27FC236}">
                <a16:creationId xmlns:a16="http://schemas.microsoft.com/office/drawing/2014/main" id="{2F1982DA-F704-9A91-03C6-38AC60152B2D}"/>
              </a:ext>
            </a:extLst>
          </p:cNvPr>
          <p:cNvSpPr>
            <a:spLocks noGrp="1"/>
          </p:cNvSpPr>
          <p:nvPr>
            <p:ph type="title"/>
          </p:nvPr>
        </p:nvSpPr>
        <p:spPr/>
        <p:txBody>
          <a:bodyPr/>
          <a:lstStyle/>
          <a:p>
            <a:r>
              <a:rPr lang="en-US" dirty="0"/>
              <a:t>C++ smart pointers</a:t>
            </a:r>
          </a:p>
        </p:txBody>
      </p:sp>
    </p:spTree>
    <p:extLst>
      <p:ext uri="{BB962C8B-B14F-4D97-AF65-F5344CB8AC3E}">
        <p14:creationId xmlns:p14="http://schemas.microsoft.com/office/powerpoint/2010/main" val="492953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7F261-146A-AA1E-63FD-BCBDC3B0AB9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CF35DDC-B68D-0BB1-A7E8-A865177F2306}"/>
              </a:ext>
            </a:extLst>
          </p:cNvPr>
          <p:cNvSpPr>
            <a:spLocks noGrp="1"/>
          </p:cNvSpPr>
          <p:nvPr>
            <p:ph idx="1"/>
          </p:nvPr>
        </p:nvSpPr>
        <p:spPr/>
        <p:txBody>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p:txBody>
      </p:sp>
      <p:sp>
        <p:nvSpPr>
          <p:cNvPr id="4" name="Title 3">
            <a:extLst>
              <a:ext uri="{FF2B5EF4-FFF2-40B4-BE49-F238E27FC236}">
                <a16:creationId xmlns:a16="http://schemas.microsoft.com/office/drawing/2014/main" id="{EF516DFD-B2FC-86F3-C791-E193C62AD0A3}"/>
              </a:ext>
            </a:extLst>
          </p:cNvPr>
          <p:cNvSpPr>
            <a:spLocks noGrp="1"/>
          </p:cNvSpPr>
          <p:nvPr>
            <p:ph type="title"/>
          </p:nvPr>
        </p:nvSpPr>
        <p:spPr/>
        <p:txBody>
          <a:bodyPr/>
          <a:lstStyle/>
          <a:p>
            <a:r>
              <a:rPr lang="en-US" dirty="0" err="1"/>
              <a:t>unique_ptr</a:t>
            </a:r>
            <a:endParaRPr lang="en-US" dirty="0"/>
          </a:p>
        </p:txBody>
      </p:sp>
      <p:sp>
        <p:nvSpPr>
          <p:cNvPr id="2" name="Content Placeholder 1">
            <a:extLst>
              <a:ext uri="{FF2B5EF4-FFF2-40B4-BE49-F238E27FC236}">
                <a16:creationId xmlns:a16="http://schemas.microsoft.com/office/drawing/2014/main" id="{639D1E61-3387-4683-3B82-4D5B5DBE69DA}"/>
              </a:ext>
            </a:extLst>
          </p:cNvPr>
          <p:cNvSpPr>
            <a:spLocks noGrp="1"/>
          </p:cNvSpPr>
          <p:nvPr>
            <p:ph idx="13"/>
          </p:nvPr>
        </p:nvSpPr>
        <p:spPr/>
        <p:txBody>
          <a:bodyPr>
            <a:normAutofit fontScale="92500"/>
          </a:bodyPr>
          <a:lstStyle/>
          <a:p>
            <a:r>
              <a:rPr lang="en-US" dirty="0"/>
              <a:t>How to create a new heap object using </a:t>
            </a:r>
            <a:r>
              <a:rPr lang="en-US" dirty="0" err="1"/>
              <a:t>unique_ptr</a:t>
            </a:r>
            <a:r>
              <a:rPr lang="en-US" dirty="0"/>
              <a:t>?</a:t>
            </a:r>
          </a:p>
          <a:p>
            <a:r>
              <a:rPr lang="en-US" dirty="0" err="1"/>
              <a:t>unique_ptr</a:t>
            </a:r>
            <a:r>
              <a:rPr lang="en-US" dirty="0"/>
              <a:t> “owns” the heap object</a:t>
            </a:r>
          </a:p>
          <a:p>
            <a:r>
              <a:rPr lang="en-US" dirty="0"/>
              <a:t>When the pointer goes out of scope the heap object is automatically deleted</a:t>
            </a:r>
          </a:p>
          <a:p>
            <a:r>
              <a:rPr lang="en-US" dirty="0"/>
              <a:t>The pointer can be used transparently as its </a:t>
            </a:r>
            <a:r>
              <a:rPr lang="en-US" b="1" i="1" dirty="0"/>
              <a:t>managed</a:t>
            </a:r>
            <a:r>
              <a:rPr lang="en-US" dirty="0"/>
              <a:t> type</a:t>
            </a:r>
          </a:p>
          <a:p>
            <a:pPr marL="0" indent="0">
              <a:buNone/>
            </a:pPr>
            <a:endParaRPr lang="en-US" dirty="0"/>
          </a:p>
        </p:txBody>
      </p:sp>
      <p:sp>
        <p:nvSpPr>
          <p:cNvPr id="3" name="Rectangle 2">
            <a:extLst>
              <a:ext uri="{FF2B5EF4-FFF2-40B4-BE49-F238E27FC236}">
                <a16:creationId xmlns:a16="http://schemas.microsoft.com/office/drawing/2014/main" id="{09B59B4D-3442-3A5E-09D7-5D41209C552C}"/>
              </a:ext>
            </a:extLst>
          </p:cNvPr>
          <p:cNvSpPr/>
          <p:nvPr/>
        </p:nvSpPr>
        <p:spPr>
          <a:xfrm>
            <a:off x="6176512" y="3515753"/>
            <a:ext cx="5292047" cy="78495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2984073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00232-AF5C-622E-5CD9-8D137C8864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F72AE0-D4A3-778B-93C9-0CA98B91F96B}"/>
              </a:ext>
            </a:extLst>
          </p:cNvPr>
          <p:cNvSpPr>
            <a:spLocks noGrp="1"/>
          </p:cNvSpPr>
          <p:nvPr>
            <p:ph idx="1"/>
          </p:nvPr>
        </p:nvSpPr>
        <p:spPr/>
        <p:txBody>
          <a:bodyPr>
            <a:normAutofit fontScale="92500" lnSpcReduction="10000"/>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endParaRPr lang="en-US" dirty="0"/>
          </a:p>
          <a:p>
            <a:r>
              <a:rPr lang="en-US" dirty="0"/>
              <a:t>	std::</a:t>
            </a:r>
            <a:r>
              <a:rPr lang="en-US" dirty="0" err="1"/>
              <a:t>unique_ptr</a:t>
            </a:r>
            <a:r>
              <a:rPr lang="en-US" dirty="0"/>
              <a:t>&lt;</a:t>
            </a:r>
            <a:r>
              <a:rPr lang="en-US" dirty="0" err="1"/>
              <a:t>MyClass</a:t>
            </a:r>
            <a:r>
              <a:rPr lang="en-US" dirty="0"/>
              <a:t>&gt; ptr2 = </a:t>
            </a:r>
          </a:p>
          <a:p>
            <a:r>
              <a:rPr lang="en-US" dirty="0"/>
              <a:t>			std::move(</a:t>
            </a:r>
            <a:r>
              <a:rPr lang="en-US" dirty="0" err="1"/>
              <a:t>ptr</a:t>
            </a:r>
            <a:r>
              <a:rPr lang="en-US" dirty="0"/>
              <a:t>);</a:t>
            </a:r>
          </a:p>
          <a:p>
            <a:r>
              <a:rPr lang="en-US" dirty="0"/>
              <a:t>	std::</a:t>
            </a:r>
            <a:r>
              <a:rPr lang="en-US" dirty="0" err="1"/>
              <a:t>cout</a:t>
            </a:r>
            <a:r>
              <a:rPr lang="en-US" dirty="0"/>
              <a:t> &lt;&lt; ptr2-&gt;value &lt;&lt; “\n”;</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p:txBody>
      </p:sp>
      <p:sp>
        <p:nvSpPr>
          <p:cNvPr id="4" name="Title 3">
            <a:extLst>
              <a:ext uri="{FF2B5EF4-FFF2-40B4-BE49-F238E27FC236}">
                <a16:creationId xmlns:a16="http://schemas.microsoft.com/office/drawing/2014/main" id="{115E60E1-3403-ADA4-C7F9-51D5BC56176A}"/>
              </a:ext>
            </a:extLst>
          </p:cNvPr>
          <p:cNvSpPr>
            <a:spLocks noGrp="1"/>
          </p:cNvSpPr>
          <p:nvPr>
            <p:ph type="title"/>
          </p:nvPr>
        </p:nvSpPr>
        <p:spPr/>
        <p:txBody>
          <a:bodyPr/>
          <a:lstStyle/>
          <a:p>
            <a:r>
              <a:rPr lang="en-US" dirty="0" err="1"/>
              <a:t>unique_ptr</a:t>
            </a:r>
            <a:endParaRPr lang="en-US" dirty="0"/>
          </a:p>
        </p:txBody>
      </p:sp>
      <p:sp>
        <p:nvSpPr>
          <p:cNvPr id="2" name="Content Placeholder 1">
            <a:extLst>
              <a:ext uri="{FF2B5EF4-FFF2-40B4-BE49-F238E27FC236}">
                <a16:creationId xmlns:a16="http://schemas.microsoft.com/office/drawing/2014/main" id="{E9E026E2-354E-758A-9C0B-A9A776DB2E55}"/>
              </a:ext>
            </a:extLst>
          </p:cNvPr>
          <p:cNvSpPr>
            <a:spLocks noGrp="1"/>
          </p:cNvSpPr>
          <p:nvPr>
            <p:ph idx="13"/>
          </p:nvPr>
        </p:nvSpPr>
        <p:spPr/>
        <p:txBody>
          <a:bodyPr/>
          <a:lstStyle/>
          <a:p>
            <a:r>
              <a:rPr lang="en-US" dirty="0"/>
              <a:t>Ownership can be moved to another </a:t>
            </a:r>
            <a:r>
              <a:rPr lang="en-US" dirty="0" err="1"/>
              <a:t>unique_ptr</a:t>
            </a:r>
            <a:endParaRPr lang="en-US" dirty="0"/>
          </a:p>
          <a:p>
            <a:r>
              <a:rPr lang="en-US" dirty="0"/>
              <a:t>Moving the ownership automatically sets the source pointer to zero</a:t>
            </a:r>
          </a:p>
          <a:p>
            <a:r>
              <a:rPr lang="en-US" dirty="0"/>
              <a:t>Prevents use-after-free bugs</a:t>
            </a:r>
          </a:p>
          <a:p>
            <a:endParaRPr lang="en-US" dirty="0"/>
          </a:p>
        </p:txBody>
      </p:sp>
      <p:sp>
        <p:nvSpPr>
          <p:cNvPr id="3" name="Rectangle 2">
            <a:extLst>
              <a:ext uri="{FF2B5EF4-FFF2-40B4-BE49-F238E27FC236}">
                <a16:creationId xmlns:a16="http://schemas.microsoft.com/office/drawing/2014/main" id="{6EBFE6F4-6EF3-5A64-DB0F-1880D4B67998}"/>
              </a:ext>
            </a:extLst>
          </p:cNvPr>
          <p:cNvSpPr/>
          <p:nvPr/>
        </p:nvSpPr>
        <p:spPr>
          <a:xfrm>
            <a:off x="6347194" y="3711307"/>
            <a:ext cx="5292047" cy="717473"/>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2498681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1ABF6-357E-27F1-36EB-46E7483E0CB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AA7F01C-7421-6692-4E19-3EBD85171DA8}"/>
              </a:ext>
            </a:extLst>
          </p:cNvPr>
          <p:cNvSpPr>
            <a:spLocks noGrp="1"/>
          </p:cNvSpPr>
          <p:nvPr>
            <p:ph idx="1"/>
          </p:nvPr>
        </p:nvSpPr>
        <p:spPr/>
        <p:txBody>
          <a:bodyPr>
            <a:normAutofit fontScale="92500" lnSpcReduction="10000"/>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endParaRPr lang="en-US" dirty="0"/>
          </a:p>
          <a:p>
            <a:r>
              <a:rPr lang="en-US" dirty="0"/>
              <a:t>	std::</a:t>
            </a:r>
            <a:r>
              <a:rPr lang="en-US" dirty="0" err="1"/>
              <a:t>unique_ptr</a:t>
            </a:r>
            <a:r>
              <a:rPr lang="en-US" dirty="0"/>
              <a:t>&lt;</a:t>
            </a:r>
            <a:r>
              <a:rPr lang="en-US" dirty="0" err="1"/>
              <a:t>MyClass</a:t>
            </a:r>
            <a:r>
              <a:rPr lang="en-US" dirty="0"/>
              <a:t>&gt; ptr2 = </a:t>
            </a:r>
          </a:p>
          <a:p>
            <a:r>
              <a:rPr lang="en-US" dirty="0"/>
              <a:t>			std::move(</a:t>
            </a:r>
            <a:r>
              <a:rPr lang="en-US" dirty="0" err="1"/>
              <a:t>ptr</a:t>
            </a:r>
            <a:r>
              <a:rPr lang="en-US" dirty="0"/>
              <a:t>);</a:t>
            </a:r>
          </a:p>
          <a:p>
            <a:r>
              <a:rPr lang="en-US" dirty="0"/>
              <a:t>	std::</a:t>
            </a:r>
            <a:r>
              <a:rPr lang="en-US" dirty="0" err="1"/>
              <a:t>cout</a:t>
            </a:r>
            <a:r>
              <a:rPr lang="en-US" dirty="0"/>
              <a:t> &lt;&lt; ptr2-&gt;value &lt;&lt; “\n”;</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p:txBody>
      </p:sp>
      <p:sp>
        <p:nvSpPr>
          <p:cNvPr id="4" name="Title 3">
            <a:extLst>
              <a:ext uri="{FF2B5EF4-FFF2-40B4-BE49-F238E27FC236}">
                <a16:creationId xmlns:a16="http://schemas.microsoft.com/office/drawing/2014/main" id="{95BB7BF7-B3EE-5AB5-2E63-EFF4AF17E35F}"/>
              </a:ext>
            </a:extLst>
          </p:cNvPr>
          <p:cNvSpPr>
            <a:spLocks noGrp="1"/>
          </p:cNvSpPr>
          <p:nvPr>
            <p:ph type="title"/>
          </p:nvPr>
        </p:nvSpPr>
        <p:spPr/>
        <p:txBody>
          <a:bodyPr/>
          <a:lstStyle/>
          <a:p>
            <a:r>
              <a:rPr lang="en-US" dirty="0" err="1"/>
              <a:t>unique_ptr</a:t>
            </a:r>
            <a:endParaRPr lang="en-US" dirty="0"/>
          </a:p>
        </p:txBody>
      </p:sp>
      <p:sp>
        <p:nvSpPr>
          <p:cNvPr id="2" name="Content Placeholder 1">
            <a:extLst>
              <a:ext uri="{FF2B5EF4-FFF2-40B4-BE49-F238E27FC236}">
                <a16:creationId xmlns:a16="http://schemas.microsoft.com/office/drawing/2014/main" id="{26748CF3-67F3-64AE-884A-253709B36CC5}"/>
              </a:ext>
            </a:extLst>
          </p:cNvPr>
          <p:cNvSpPr>
            <a:spLocks noGrp="1"/>
          </p:cNvSpPr>
          <p:nvPr>
            <p:ph idx="13"/>
          </p:nvPr>
        </p:nvSpPr>
        <p:spPr/>
        <p:txBody>
          <a:bodyPr/>
          <a:lstStyle/>
          <a:p>
            <a:r>
              <a:rPr lang="en-US" dirty="0"/>
              <a:t>How does this prevent double-free bugs?</a:t>
            </a:r>
          </a:p>
          <a:p>
            <a:pPr lvl="1"/>
            <a:r>
              <a:rPr lang="en-US" dirty="0"/>
              <a:t>The programmer doesn’t have to worry about freeing memory at all</a:t>
            </a:r>
          </a:p>
          <a:p>
            <a:r>
              <a:rPr lang="en-US" dirty="0"/>
              <a:t>In-class demo</a:t>
            </a:r>
          </a:p>
        </p:txBody>
      </p:sp>
      <p:sp>
        <p:nvSpPr>
          <p:cNvPr id="3" name="Rectangle 2">
            <a:extLst>
              <a:ext uri="{FF2B5EF4-FFF2-40B4-BE49-F238E27FC236}">
                <a16:creationId xmlns:a16="http://schemas.microsoft.com/office/drawing/2014/main" id="{E0FCA0F2-F53B-482E-558C-0F7C60C2DF97}"/>
              </a:ext>
            </a:extLst>
          </p:cNvPr>
          <p:cNvSpPr/>
          <p:nvPr/>
        </p:nvSpPr>
        <p:spPr>
          <a:xfrm>
            <a:off x="6176512" y="3515753"/>
            <a:ext cx="5292047" cy="78495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849678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E32DEDBC-F8A4-119C-0071-5231D9CDA78A}"/>
              </a:ext>
            </a:extLst>
          </p:cNvPr>
          <p:cNvSpPr>
            <a:spLocks noGrp="1"/>
          </p:cNvSpPr>
          <p:nvPr>
            <p:ph idx="1"/>
          </p:nvPr>
        </p:nvSpPr>
        <p:spPr>
          <a:xfrm>
            <a:off x="6176512" y="785004"/>
            <a:ext cx="6015488" cy="5046453"/>
          </a:xfrm>
        </p:spPr>
        <p:txBody>
          <a:bodyPr>
            <a:normAutofit lnSpcReduction="10000"/>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a:t>
            </a:r>
            <a:r>
              <a:rPr lang="en-US" dirty="0" err="1"/>
              <a:t>MyClass</a:t>
            </a:r>
            <a:r>
              <a:rPr lang="en-US" dirty="0"/>
              <a:t>* </a:t>
            </a:r>
            <a:r>
              <a:rPr lang="en-US" dirty="0" err="1"/>
              <a:t>ptr</a:t>
            </a:r>
            <a:r>
              <a:rPr lang="en-US" dirty="0"/>
              <a:t> = new </a:t>
            </a:r>
            <a:r>
              <a:rPr lang="en-US" dirty="0" err="1"/>
              <a:t>MyClass</a:t>
            </a:r>
            <a:r>
              <a:rPr lang="en-US" dirty="0"/>
              <a:t>(10);</a:t>
            </a:r>
          </a:p>
          <a:p>
            <a:r>
              <a:rPr lang="en-US" dirty="0"/>
              <a:t>	</a:t>
            </a:r>
            <a:r>
              <a:rPr lang="en-US" dirty="0" err="1"/>
              <a:t>MyClass</a:t>
            </a:r>
            <a:r>
              <a:rPr lang="en-US" dirty="0"/>
              <a:t>* ptr2 = </a:t>
            </a:r>
            <a:r>
              <a:rPr lang="en-US" dirty="0" err="1"/>
              <a:t>ptr</a:t>
            </a:r>
            <a:r>
              <a:rPr lang="en-US" dirty="0"/>
              <a:t>;</a:t>
            </a:r>
          </a:p>
          <a:p>
            <a:r>
              <a:rPr lang="en-US" dirty="0"/>
              <a:t>	</a:t>
            </a:r>
            <a:r>
              <a:rPr lang="en-US" dirty="0" err="1"/>
              <a:t>ptr</a:t>
            </a:r>
            <a:r>
              <a:rPr lang="en-US" dirty="0"/>
              <a:t>-&gt;v = 100; // update via </a:t>
            </a:r>
            <a:r>
              <a:rPr lang="en-US" dirty="0" err="1"/>
              <a:t>ptr</a:t>
            </a:r>
            <a:endParaRPr lang="en-US" dirty="0"/>
          </a:p>
          <a:p>
            <a:r>
              <a:rPr lang="en-US" dirty="0"/>
              <a:t>	std::</a:t>
            </a:r>
            <a:r>
              <a:rPr lang="en-US" dirty="0" err="1"/>
              <a:t>cout</a:t>
            </a:r>
            <a:r>
              <a:rPr lang="en-US" dirty="0"/>
              <a:t> &lt;&lt; ptr2-&gt;v &lt;&lt; “\n”; // print via ptr2</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B1FBEE02-4040-DAEA-8A0F-17DEB1D71D06}"/>
              </a:ext>
            </a:extLst>
          </p:cNvPr>
          <p:cNvSpPr>
            <a:spLocks noGrp="1"/>
          </p:cNvSpPr>
          <p:nvPr>
            <p:ph type="title"/>
          </p:nvPr>
        </p:nvSpPr>
        <p:spPr/>
        <p:txBody>
          <a:bodyPr/>
          <a:lstStyle/>
          <a:p>
            <a:r>
              <a:rPr lang="en-US" dirty="0"/>
              <a:t>What about multiple pointers to same var?</a:t>
            </a:r>
          </a:p>
        </p:txBody>
      </p:sp>
      <p:sp>
        <p:nvSpPr>
          <p:cNvPr id="8" name="Content Placeholder 7">
            <a:extLst>
              <a:ext uri="{FF2B5EF4-FFF2-40B4-BE49-F238E27FC236}">
                <a16:creationId xmlns:a16="http://schemas.microsoft.com/office/drawing/2014/main" id="{C1EE824A-CFFF-B02E-1485-ABC35A9FBCC2}"/>
              </a:ext>
            </a:extLst>
          </p:cNvPr>
          <p:cNvSpPr>
            <a:spLocks noGrp="1"/>
          </p:cNvSpPr>
          <p:nvPr>
            <p:ph idx="13"/>
          </p:nvPr>
        </p:nvSpPr>
        <p:spPr/>
        <p:txBody>
          <a:bodyPr/>
          <a:lstStyle/>
          <a:p>
            <a:r>
              <a:rPr lang="en-US" dirty="0"/>
              <a:t>In C/C++, you can have multiple pointers to the same variable</a:t>
            </a:r>
          </a:p>
          <a:p>
            <a:r>
              <a:rPr lang="en-US" dirty="0"/>
              <a:t>Can you still do this using smart pointers?</a:t>
            </a:r>
          </a:p>
        </p:txBody>
      </p:sp>
      <p:sp>
        <p:nvSpPr>
          <p:cNvPr id="9" name="Rectangle 8">
            <a:extLst>
              <a:ext uri="{FF2B5EF4-FFF2-40B4-BE49-F238E27FC236}">
                <a16:creationId xmlns:a16="http://schemas.microsoft.com/office/drawing/2014/main" id="{EE3902C0-23F1-0C55-EDF7-1F7BD32F7160}"/>
              </a:ext>
            </a:extLst>
          </p:cNvPr>
          <p:cNvSpPr/>
          <p:nvPr/>
        </p:nvSpPr>
        <p:spPr>
          <a:xfrm>
            <a:off x="6176512" y="3205909"/>
            <a:ext cx="5897975" cy="1178804"/>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085229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A14BF2-B1A3-CDB5-91DA-BAFEE2A19815}"/>
              </a:ext>
            </a:extLst>
          </p:cNvPr>
          <p:cNvSpPr>
            <a:spLocks noGrp="1"/>
          </p:cNvSpPr>
          <p:nvPr>
            <p:ph idx="1"/>
          </p:nvPr>
        </p:nvSpPr>
        <p:spPr>
          <a:xfrm>
            <a:off x="462587" y="819294"/>
            <a:ext cx="5633413" cy="5046453"/>
          </a:xfrm>
        </p:spPr>
        <p:txBody>
          <a:bodyPr/>
          <a:lstStyle/>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br>
              <a:rPr lang="en-US" dirty="0"/>
            </a:br>
            <a:endParaRPr lang="en-US" dirty="0"/>
          </a:p>
          <a:p>
            <a:endParaRPr lang="en-US" dirty="0"/>
          </a:p>
          <a:p>
            <a:r>
              <a:rPr lang="en-US" dirty="0"/>
              <a:t>int main(void) {</a:t>
            </a:r>
            <a:br>
              <a:rPr lang="en-US" dirty="0"/>
            </a:br>
            <a:r>
              <a:rPr lang="en-US" dirty="0"/>
              <a:t>	</a:t>
            </a:r>
            <a:r>
              <a:rPr lang="en-US" dirty="0" err="1"/>
              <a:t>Myclass</a:t>
            </a:r>
            <a:r>
              <a:rPr lang="en-US" dirty="0"/>
              <a:t>* p = new </a:t>
            </a:r>
            <a:r>
              <a:rPr lang="en-US" dirty="0" err="1"/>
              <a:t>MyClass</a:t>
            </a:r>
            <a:r>
              <a:rPr lang="en-US" dirty="0"/>
              <a:t>(10);</a:t>
            </a:r>
          </a:p>
          <a:p>
            <a:r>
              <a:rPr lang="en-US" dirty="0"/>
              <a:t>	</a:t>
            </a:r>
            <a:r>
              <a:rPr lang="en-US" dirty="0" err="1"/>
              <a:t>MyClass</a:t>
            </a:r>
            <a:r>
              <a:rPr lang="en-US" dirty="0"/>
              <a:t>* q = p;</a:t>
            </a:r>
            <a:br>
              <a:rPr lang="en-US" dirty="0"/>
            </a:br>
            <a:r>
              <a:rPr lang="en-US" dirty="0"/>
              <a:t>	// … </a:t>
            </a:r>
          </a:p>
          <a:p>
            <a:r>
              <a:rPr lang="en-US" dirty="0"/>
              <a:t>	delete p;</a:t>
            </a:r>
          </a:p>
          <a:p>
            <a:r>
              <a:rPr lang="en-US" dirty="0"/>
              <a:t>	// …</a:t>
            </a:r>
          </a:p>
          <a:p>
            <a:r>
              <a:rPr lang="en-US" dirty="0"/>
              <a:t>	delete q;</a:t>
            </a:r>
          </a:p>
          <a:p>
            <a:r>
              <a:rPr lang="en-US" dirty="0"/>
              <a:t>	// … 100 other statements</a:t>
            </a:r>
            <a:br>
              <a:rPr lang="en-US" dirty="0"/>
            </a:br>
            <a:r>
              <a:rPr lang="en-US" dirty="0"/>
              <a:t>}</a:t>
            </a:r>
          </a:p>
        </p:txBody>
      </p:sp>
      <p:sp>
        <p:nvSpPr>
          <p:cNvPr id="3" name="Title 2">
            <a:extLst>
              <a:ext uri="{FF2B5EF4-FFF2-40B4-BE49-F238E27FC236}">
                <a16:creationId xmlns:a16="http://schemas.microsoft.com/office/drawing/2014/main" id="{C971B61A-DB26-0786-9503-A4266D3AEAD6}"/>
              </a:ext>
            </a:extLst>
          </p:cNvPr>
          <p:cNvSpPr>
            <a:spLocks noGrp="1"/>
          </p:cNvSpPr>
          <p:nvPr>
            <p:ph type="title"/>
          </p:nvPr>
        </p:nvSpPr>
        <p:spPr/>
        <p:txBody>
          <a:bodyPr/>
          <a:lstStyle/>
          <a:p>
            <a:r>
              <a:rPr lang="en-US" dirty="0"/>
              <a:t>Desired behavior</a:t>
            </a:r>
          </a:p>
        </p:txBody>
      </p:sp>
      <p:sp>
        <p:nvSpPr>
          <p:cNvPr id="5" name="Rectangle 4">
            <a:extLst>
              <a:ext uri="{FF2B5EF4-FFF2-40B4-BE49-F238E27FC236}">
                <a16:creationId xmlns:a16="http://schemas.microsoft.com/office/drawing/2014/main" id="{8A2F3882-EAA2-841F-E41C-3995777B2B17}"/>
              </a:ext>
            </a:extLst>
          </p:cNvPr>
          <p:cNvSpPr/>
          <p:nvPr/>
        </p:nvSpPr>
        <p:spPr>
          <a:xfrm>
            <a:off x="8007208" y="2599980"/>
            <a:ext cx="1972019" cy="10025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Heap object</a:t>
            </a:r>
            <a:endParaRPr lang="en-US" sz="2800" dirty="0"/>
          </a:p>
        </p:txBody>
      </p:sp>
      <p:sp>
        <p:nvSpPr>
          <p:cNvPr id="6" name="Oval 5">
            <a:extLst>
              <a:ext uri="{FF2B5EF4-FFF2-40B4-BE49-F238E27FC236}">
                <a16:creationId xmlns:a16="http://schemas.microsoft.com/office/drawing/2014/main" id="{1A71AD5F-6F65-89D7-665D-8ABAD4F0DBBE}"/>
              </a:ext>
            </a:extLst>
          </p:cNvPr>
          <p:cNvSpPr/>
          <p:nvPr/>
        </p:nvSpPr>
        <p:spPr>
          <a:xfrm>
            <a:off x="6935927" y="1249593"/>
            <a:ext cx="793214" cy="760164"/>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p</a:t>
            </a:r>
            <a:endParaRPr lang="en-US" dirty="0"/>
          </a:p>
        </p:txBody>
      </p:sp>
      <p:sp>
        <p:nvSpPr>
          <p:cNvPr id="7" name="Oval 6">
            <a:extLst>
              <a:ext uri="{FF2B5EF4-FFF2-40B4-BE49-F238E27FC236}">
                <a16:creationId xmlns:a16="http://schemas.microsoft.com/office/drawing/2014/main" id="{D8F0ACCB-94FE-9647-D64E-4224AC403658}"/>
              </a:ext>
            </a:extLst>
          </p:cNvPr>
          <p:cNvSpPr/>
          <p:nvPr/>
        </p:nvSpPr>
        <p:spPr>
          <a:xfrm>
            <a:off x="10155497" y="1333041"/>
            <a:ext cx="793214" cy="760164"/>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q</a:t>
            </a:r>
            <a:endParaRPr lang="en-US" dirty="0"/>
          </a:p>
        </p:txBody>
      </p:sp>
      <p:cxnSp>
        <p:nvCxnSpPr>
          <p:cNvPr id="9" name="Straight Arrow Connector 8">
            <a:extLst>
              <a:ext uri="{FF2B5EF4-FFF2-40B4-BE49-F238E27FC236}">
                <a16:creationId xmlns:a16="http://schemas.microsoft.com/office/drawing/2014/main" id="{08793504-BA03-7DC1-220E-03C70DF37CED}"/>
              </a:ext>
            </a:extLst>
          </p:cNvPr>
          <p:cNvCxnSpPr>
            <a:cxnSpLocks/>
            <a:stCxn id="6" idx="5"/>
            <a:endCxn id="5" idx="0"/>
          </p:cNvCxnSpPr>
          <p:nvPr/>
        </p:nvCxnSpPr>
        <p:spPr>
          <a:xfrm>
            <a:off x="7612977" y="1898434"/>
            <a:ext cx="1380241" cy="70154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DC857B4A-CCA8-E12F-413B-D242F4B549EF}"/>
              </a:ext>
            </a:extLst>
          </p:cNvPr>
          <p:cNvSpPr/>
          <p:nvPr/>
        </p:nvSpPr>
        <p:spPr>
          <a:xfrm>
            <a:off x="633269" y="3210039"/>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4" name="Rectangle 13">
            <a:extLst>
              <a:ext uri="{FF2B5EF4-FFF2-40B4-BE49-F238E27FC236}">
                <a16:creationId xmlns:a16="http://schemas.microsoft.com/office/drawing/2014/main" id="{1B4F2D6A-36D5-C9F2-6970-77AD1652F7D6}"/>
              </a:ext>
            </a:extLst>
          </p:cNvPr>
          <p:cNvSpPr/>
          <p:nvPr/>
        </p:nvSpPr>
        <p:spPr>
          <a:xfrm>
            <a:off x="633268" y="3529294"/>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4F0946CA-B56A-45E3-7186-34F8CB17810D}"/>
              </a:ext>
            </a:extLst>
          </p:cNvPr>
          <p:cNvCxnSpPr>
            <a:cxnSpLocks/>
            <a:stCxn id="7" idx="3"/>
            <a:endCxn id="5" idx="0"/>
          </p:cNvCxnSpPr>
          <p:nvPr/>
        </p:nvCxnSpPr>
        <p:spPr>
          <a:xfrm flipH="1">
            <a:off x="8993218" y="1981882"/>
            <a:ext cx="1278443" cy="618098"/>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9C7964D1-6389-1432-D26A-166B27394A1A}"/>
              </a:ext>
            </a:extLst>
          </p:cNvPr>
          <p:cNvSpPr/>
          <p:nvPr/>
        </p:nvSpPr>
        <p:spPr>
          <a:xfrm>
            <a:off x="633267" y="3945635"/>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9" name="Rectangle 18">
            <a:extLst>
              <a:ext uri="{FF2B5EF4-FFF2-40B4-BE49-F238E27FC236}">
                <a16:creationId xmlns:a16="http://schemas.microsoft.com/office/drawing/2014/main" id="{03C674E9-1CD4-618F-7C61-12386486347F}"/>
              </a:ext>
            </a:extLst>
          </p:cNvPr>
          <p:cNvSpPr/>
          <p:nvPr/>
        </p:nvSpPr>
        <p:spPr>
          <a:xfrm>
            <a:off x="633266" y="4444579"/>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211748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13"/>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14"/>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9"/>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18"/>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nodeType="clickEffect">
                                  <p:stCondLst>
                                    <p:cond delay="0"/>
                                  </p:stCondLst>
                                  <p:childTnLst>
                                    <p:set>
                                      <p:cBhvr>
                                        <p:cTn id="36" dur="1" fill="hold">
                                          <p:stCondLst>
                                            <p:cond delay="0"/>
                                          </p:stCondLst>
                                        </p:cTn>
                                        <p:tgtEl>
                                          <p:spTgt spid="15"/>
                                        </p:tgtEl>
                                        <p:attrNameLst>
                                          <p:attrName>style.visibility</p:attrName>
                                        </p:attrNameLst>
                                      </p:cBhvr>
                                      <p:to>
                                        <p:strVal val="hidden"/>
                                      </p:to>
                                    </p:set>
                                  </p:childTnLst>
                                </p:cTn>
                              </p:par>
                              <p:par>
                                <p:cTn id="37"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1" nodeType="clickEffect">
                                  <p:stCondLst>
                                    <p:cond delay="0"/>
                                  </p:stCondLst>
                                  <p:childTnLst>
                                    <p:set>
                                      <p:cBhvr>
                                        <p:cTn id="42" dur="1" fill="hold">
                                          <p:stCondLst>
                                            <p:cond delay="0"/>
                                          </p:stCondLst>
                                        </p:cTn>
                                        <p:tgtEl>
                                          <p:spTgt spid="19"/>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4" presetClass="exit" presetSubtype="10" fill="hold" grpId="1" nodeType="clickEffect">
                                  <p:stCondLst>
                                    <p:cond delay="0"/>
                                  </p:stCondLst>
                                  <p:childTnLst>
                                    <p:animEffect transition="out" filter="randombar(horizontal)">
                                      <p:cBhvr>
                                        <p:cTn id="46" dur="500"/>
                                        <p:tgtEl>
                                          <p:spTgt spid="5"/>
                                        </p:tgtEl>
                                      </p:cBhvr>
                                    </p:animEffect>
                                    <p:set>
                                      <p:cBhvr>
                                        <p:cTn id="47"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13" grpId="0" animBg="1"/>
      <p:bldP spid="13" grpId="1" animBg="1"/>
      <p:bldP spid="14" grpId="0" animBg="1"/>
      <p:bldP spid="14" grpId="1" animBg="1"/>
      <p:bldP spid="18" grpId="0" animBg="1"/>
      <p:bldP spid="18" grpId="1" animBg="1"/>
      <p:bldP spid="19" grpId="0" animBg="1"/>
      <p:bldP spid="19" grpId="1"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5C952-6D17-B51B-C413-57EFA83C965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5C59D59-A97C-8F79-2AE5-5D4E833508D8}"/>
              </a:ext>
            </a:extLst>
          </p:cNvPr>
          <p:cNvSpPr>
            <a:spLocks noGrp="1"/>
          </p:cNvSpPr>
          <p:nvPr>
            <p:ph idx="1"/>
          </p:nvPr>
        </p:nvSpPr>
        <p:spPr/>
        <p:txBody>
          <a:bodyPr>
            <a:normAutofit fontScale="85000" lnSpcReduction="20000"/>
          </a:bodyPr>
          <a:lstStyle/>
          <a:p>
            <a:r>
              <a:rPr lang="en-US" dirty="0"/>
              <a:t>#include &lt;iostream&gt;</a:t>
            </a:r>
          </a:p>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std::</a:t>
            </a:r>
            <a:r>
              <a:rPr lang="en-US" dirty="0" err="1"/>
              <a:t>cout</a:t>
            </a:r>
            <a:r>
              <a:rPr lang="en-US" dirty="0"/>
              <a:t> &lt;&lt; "</a:t>
            </a:r>
            <a:r>
              <a:rPr lang="en-US" dirty="0" err="1"/>
              <a:t>MyClass</a:t>
            </a:r>
            <a:r>
              <a:rPr lang="en-US" dirty="0"/>
              <a:t>(" &lt;&lt; value &lt;&lt; ") created\n";</a:t>
            </a:r>
          </a:p>
          <a:p>
            <a:r>
              <a:rPr lang="en-US" dirty="0"/>
              <a:t>    }</a:t>
            </a:r>
          </a:p>
          <a:p>
            <a:r>
              <a:rPr lang="en-US" dirty="0"/>
              <a:t>    ~</a:t>
            </a:r>
            <a:r>
              <a:rPr lang="en-US" dirty="0" err="1"/>
              <a:t>MyClass</a:t>
            </a:r>
            <a:r>
              <a:rPr lang="en-US" dirty="0"/>
              <a:t>() {</a:t>
            </a:r>
          </a:p>
          <a:p>
            <a:r>
              <a:rPr lang="en-US" dirty="0"/>
              <a:t>        std::</a:t>
            </a:r>
            <a:r>
              <a:rPr lang="en-US" dirty="0" err="1"/>
              <a:t>cout</a:t>
            </a:r>
            <a:r>
              <a:rPr lang="en-US" dirty="0"/>
              <a:t> &lt;&lt; "</a:t>
            </a:r>
            <a:r>
              <a:rPr lang="en-US" dirty="0" err="1"/>
              <a:t>MyClass</a:t>
            </a:r>
            <a:r>
              <a:rPr lang="en-US" dirty="0"/>
              <a:t>(" &lt;&lt; value &lt;&lt; ") destroyed\n";</a:t>
            </a:r>
          </a:p>
          <a:p>
            <a:r>
              <a:rPr lang="en-US" dirty="0"/>
              <a:t>    }</a:t>
            </a:r>
          </a:p>
          <a:p>
            <a:r>
              <a:rPr lang="en-US" dirty="0"/>
              <a:t>};</a:t>
            </a:r>
          </a:p>
          <a:p>
            <a:endParaRPr lang="en-US" dirty="0"/>
          </a:p>
          <a:p>
            <a:r>
              <a:rPr lang="en-US" dirty="0"/>
              <a:t>int main() {</a:t>
            </a:r>
          </a:p>
          <a:p>
            <a:r>
              <a:rPr lang="en-US" dirty="0"/>
              <a:t>    std::</a:t>
            </a:r>
            <a:r>
              <a:rPr lang="en-US" dirty="0" err="1"/>
              <a:t>shared_ptr</a:t>
            </a:r>
            <a:r>
              <a:rPr lang="en-US" dirty="0"/>
              <a:t>&lt;</a:t>
            </a:r>
            <a:r>
              <a:rPr lang="en-US" dirty="0" err="1"/>
              <a:t>MyClass</a:t>
            </a:r>
            <a:r>
              <a:rPr lang="en-US" dirty="0"/>
              <a:t>&gt; ptr1 = 				std::</a:t>
            </a:r>
            <a:r>
              <a:rPr lang="en-US" dirty="0" err="1"/>
              <a:t>make_shared</a:t>
            </a:r>
            <a:r>
              <a:rPr lang="en-US" dirty="0"/>
              <a:t>&lt;</a:t>
            </a:r>
            <a:r>
              <a:rPr lang="en-US" dirty="0" err="1"/>
              <a:t>MyClass</a:t>
            </a:r>
            <a:r>
              <a:rPr lang="en-US" dirty="0"/>
              <a:t>&gt;(42);</a:t>
            </a:r>
          </a:p>
          <a:p>
            <a:r>
              <a:rPr lang="en-US" dirty="0"/>
              <a:t>    </a:t>
            </a:r>
          </a:p>
          <a:p>
            <a:r>
              <a:rPr lang="en-US" dirty="0"/>
              <a:t>    {</a:t>
            </a:r>
          </a:p>
          <a:p>
            <a:r>
              <a:rPr lang="en-US" dirty="0"/>
              <a:t>		std::</a:t>
            </a:r>
            <a:r>
              <a:rPr lang="en-US" dirty="0" err="1"/>
              <a:t>shared_ptr</a:t>
            </a:r>
            <a:r>
              <a:rPr lang="en-US" dirty="0"/>
              <a:t>&lt;</a:t>
            </a:r>
            <a:r>
              <a:rPr lang="en-US" dirty="0" err="1"/>
              <a:t>MyClass</a:t>
            </a:r>
            <a:r>
              <a:rPr lang="en-US" dirty="0"/>
              <a:t>&gt; ptr2 = ptr1;  // Shared ownership</a:t>
            </a:r>
          </a:p>
          <a:p>
            <a:r>
              <a:rPr lang="en-US" dirty="0"/>
              <a:t>        	std::</a:t>
            </a:r>
            <a:r>
              <a:rPr lang="en-US" dirty="0" err="1"/>
              <a:t>cout</a:t>
            </a:r>
            <a:r>
              <a:rPr lang="en-US" dirty="0"/>
              <a:t> &lt;&lt; "Value: " &lt;&lt; ptr2-&gt;value &lt;&lt; "\n";</a:t>
            </a:r>
          </a:p>
          <a:p>
            <a:r>
              <a:rPr lang="en-US" dirty="0"/>
              <a:t>	   	std::</a:t>
            </a:r>
            <a:r>
              <a:rPr lang="en-US" dirty="0" err="1"/>
              <a:t>cout</a:t>
            </a:r>
            <a:r>
              <a:rPr lang="en-US" dirty="0"/>
              <a:t> &lt;&lt; ptr1-&gt;value &lt;&lt; "\n";</a:t>
            </a:r>
          </a:p>
          <a:p>
            <a:r>
              <a:rPr lang="en-US" dirty="0"/>
              <a:t>    } // ptr2 goes out of scope</a:t>
            </a:r>
          </a:p>
          <a:p>
            <a:endParaRPr lang="en-US" dirty="0"/>
          </a:p>
          <a:p>
            <a:r>
              <a:rPr lang="en-US" dirty="0"/>
              <a:t>    std::</a:t>
            </a:r>
            <a:r>
              <a:rPr lang="en-US" dirty="0" err="1"/>
              <a:t>cout</a:t>
            </a:r>
            <a:r>
              <a:rPr lang="en-US" dirty="0"/>
              <a:t> &lt;&lt; ptr1-&gt;value &lt;&lt; "\n";</a:t>
            </a:r>
          </a:p>
          <a:p>
            <a:r>
              <a:rPr lang="en-US" dirty="0"/>
              <a:t>}  // ptr1 goes out of scope, and object is destroyed</a:t>
            </a:r>
          </a:p>
          <a:p>
            <a:endParaRPr lang="en-US" dirty="0"/>
          </a:p>
        </p:txBody>
      </p:sp>
      <p:sp>
        <p:nvSpPr>
          <p:cNvPr id="6" name="Title 5">
            <a:extLst>
              <a:ext uri="{FF2B5EF4-FFF2-40B4-BE49-F238E27FC236}">
                <a16:creationId xmlns:a16="http://schemas.microsoft.com/office/drawing/2014/main" id="{AAB4AB0C-E1FF-08DE-5F2B-E48356B0FDF8}"/>
              </a:ext>
            </a:extLst>
          </p:cNvPr>
          <p:cNvSpPr>
            <a:spLocks noGrp="1"/>
          </p:cNvSpPr>
          <p:nvPr>
            <p:ph type="title"/>
          </p:nvPr>
        </p:nvSpPr>
        <p:spPr/>
        <p:txBody>
          <a:bodyPr/>
          <a:lstStyle/>
          <a:p>
            <a:r>
              <a:rPr lang="en-US" dirty="0" err="1"/>
              <a:t>shared_ptr</a:t>
            </a:r>
            <a:endParaRPr lang="en-US" dirty="0"/>
          </a:p>
        </p:txBody>
      </p:sp>
      <p:sp>
        <p:nvSpPr>
          <p:cNvPr id="8" name="Content Placeholder 7">
            <a:extLst>
              <a:ext uri="{FF2B5EF4-FFF2-40B4-BE49-F238E27FC236}">
                <a16:creationId xmlns:a16="http://schemas.microsoft.com/office/drawing/2014/main" id="{4A750859-1247-4BD3-A001-B544299ECB3A}"/>
              </a:ext>
            </a:extLst>
          </p:cNvPr>
          <p:cNvSpPr>
            <a:spLocks noGrp="1"/>
          </p:cNvSpPr>
          <p:nvPr>
            <p:ph idx="13"/>
          </p:nvPr>
        </p:nvSpPr>
        <p:spPr/>
        <p:txBody>
          <a:bodyPr>
            <a:normAutofit/>
          </a:bodyPr>
          <a:lstStyle/>
          <a:p>
            <a:r>
              <a:rPr lang="en-US" dirty="0"/>
              <a:t>Can </a:t>
            </a:r>
            <a:r>
              <a:rPr lang="en-US" b="1" i="1" dirty="0"/>
              <a:t>share </a:t>
            </a:r>
            <a:r>
              <a:rPr lang="en-US" dirty="0"/>
              <a:t>the object</a:t>
            </a:r>
          </a:p>
          <a:p>
            <a:r>
              <a:rPr lang="en-US" dirty="0"/>
              <a:t>Maintains a </a:t>
            </a:r>
            <a:r>
              <a:rPr lang="en-US" b="1" i="1" dirty="0"/>
              <a:t>reference count</a:t>
            </a:r>
            <a:r>
              <a:rPr lang="en-US" dirty="0"/>
              <a:t> of how many pointers point to the object</a:t>
            </a:r>
          </a:p>
          <a:p>
            <a:r>
              <a:rPr lang="en-US" dirty="0"/>
              <a:t>Object automatically deleted if the reference count goes to zero</a:t>
            </a:r>
          </a:p>
          <a:p>
            <a:r>
              <a:rPr lang="en-US" dirty="0"/>
              <a:t>At no point can you accidentally free an object too early!</a:t>
            </a:r>
          </a:p>
        </p:txBody>
      </p:sp>
      <p:sp>
        <p:nvSpPr>
          <p:cNvPr id="2" name="Rectangle 1">
            <a:extLst>
              <a:ext uri="{FF2B5EF4-FFF2-40B4-BE49-F238E27FC236}">
                <a16:creationId xmlns:a16="http://schemas.microsoft.com/office/drawing/2014/main" id="{39F8681F-FEB2-DBE0-67F5-E7996A4BA1E7}"/>
              </a:ext>
            </a:extLst>
          </p:cNvPr>
          <p:cNvSpPr/>
          <p:nvPr/>
        </p:nvSpPr>
        <p:spPr>
          <a:xfrm>
            <a:off x="6347194" y="3552212"/>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AD4AFCB6-A8F4-6FFB-84B6-4A48CC05A37F}"/>
              </a:ext>
            </a:extLst>
          </p:cNvPr>
          <p:cNvSpPr/>
          <p:nvPr/>
        </p:nvSpPr>
        <p:spPr>
          <a:xfrm>
            <a:off x="6347194" y="4033414"/>
            <a:ext cx="5292047" cy="1100445"/>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96777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6CC85F7-8812-5C51-CB95-9A18F4099D33}"/>
              </a:ext>
            </a:extLst>
          </p:cNvPr>
          <p:cNvSpPr>
            <a:spLocks noGrp="1"/>
          </p:cNvSpPr>
          <p:nvPr>
            <p:ph idx="1"/>
          </p:nvPr>
        </p:nvSpPr>
        <p:spPr/>
        <p:txBody>
          <a:bodyPr/>
          <a:lstStyle/>
          <a:p>
            <a:r>
              <a:rPr lang="en-US" dirty="0">
                <a:hlinkClick r:id="rId2"/>
              </a:rPr>
              <a:t>https://en.cppreference.com/w/cpp/memory</a:t>
            </a:r>
            <a:endParaRPr lang="en-US" dirty="0"/>
          </a:p>
          <a:p>
            <a:r>
              <a:rPr lang="en-US" dirty="0"/>
              <a:t>How to specify custom destructors for smart pointers</a:t>
            </a:r>
          </a:p>
          <a:p>
            <a:r>
              <a:rPr lang="en-US" dirty="0" err="1"/>
              <a:t>shared_ptr</a:t>
            </a:r>
            <a:r>
              <a:rPr lang="en-US" dirty="0"/>
              <a:t> can not have cyclical references</a:t>
            </a:r>
          </a:p>
          <a:p>
            <a:pPr lvl="1"/>
            <a:r>
              <a:rPr lang="en-US" dirty="0"/>
              <a:t>Need </a:t>
            </a:r>
            <a:r>
              <a:rPr lang="en-US" dirty="0" err="1"/>
              <a:t>weak_ptr</a:t>
            </a:r>
            <a:r>
              <a:rPr lang="en-US" dirty="0"/>
              <a:t> references to allow cyclical references</a:t>
            </a:r>
          </a:p>
          <a:p>
            <a:r>
              <a:rPr lang="en-US" dirty="0"/>
              <a:t>Takeaway – if you’re writing C++ code, please use smart pointers!!</a:t>
            </a:r>
          </a:p>
        </p:txBody>
      </p:sp>
      <p:sp>
        <p:nvSpPr>
          <p:cNvPr id="3" name="Title 2">
            <a:extLst>
              <a:ext uri="{FF2B5EF4-FFF2-40B4-BE49-F238E27FC236}">
                <a16:creationId xmlns:a16="http://schemas.microsoft.com/office/drawing/2014/main" id="{BABD4580-EFEA-B4A9-7E49-56EB5FD1AFF4}"/>
              </a:ext>
            </a:extLst>
          </p:cNvPr>
          <p:cNvSpPr>
            <a:spLocks noGrp="1"/>
          </p:cNvSpPr>
          <p:nvPr>
            <p:ph type="title"/>
          </p:nvPr>
        </p:nvSpPr>
        <p:spPr/>
        <p:txBody>
          <a:bodyPr/>
          <a:lstStyle/>
          <a:p>
            <a:r>
              <a:rPr lang="en-US" dirty="0"/>
              <a:t>More about smart pointers</a:t>
            </a:r>
          </a:p>
        </p:txBody>
      </p:sp>
    </p:spTree>
    <p:extLst>
      <p:ext uri="{BB962C8B-B14F-4D97-AF65-F5344CB8AC3E}">
        <p14:creationId xmlns:p14="http://schemas.microsoft.com/office/powerpoint/2010/main" val="6500398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878D137-B23E-B2FE-38A8-AB21A935535E}"/>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98EEF56-596D-14F0-7252-3CE8B7756F75}"/>
              </a:ext>
            </a:extLst>
          </p:cNvPr>
          <p:cNvSpPr>
            <a:spLocks noGrp="1"/>
          </p:cNvSpPr>
          <p:nvPr>
            <p:ph type="body" sz="quarter" idx="13"/>
          </p:nvPr>
        </p:nvSpPr>
        <p:spPr/>
        <p:txBody>
          <a:bodyPr/>
          <a:lstStyle/>
          <a:p>
            <a:r>
              <a:rPr lang="en-US" dirty="0"/>
              <a:t>Sample software security questions</a:t>
            </a:r>
          </a:p>
        </p:txBody>
      </p:sp>
    </p:spTree>
    <p:extLst>
      <p:ext uri="{BB962C8B-B14F-4D97-AF65-F5344CB8AC3E}">
        <p14:creationId xmlns:p14="http://schemas.microsoft.com/office/powerpoint/2010/main" val="6017079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9C1DD5-C81E-C4DD-7AEA-9C894ABA56EC}"/>
              </a:ext>
            </a:extLst>
          </p:cNvPr>
          <p:cNvSpPr>
            <a:spLocks noGrp="1"/>
          </p:cNvSpPr>
          <p:nvPr>
            <p:ph idx="1"/>
          </p:nvPr>
        </p:nvSpPr>
        <p:spPr>
          <a:xfrm>
            <a:off x="1830605" y="905773"/>
            <a:ext cx="8530789" cy="5046453"/>
          </a:xfrm>
        </p:spPr>
        <p:txBody>
          <a:bodyPr>
            <a:normAutofit/>
          </a:bodyPr>
          <a:lstStyle/>
          <a:p>
            <a:r>
              <a:rPr lang="en-US" dirty="0"/>
              <a:t>void </a:t>
            </a:r>
            <a:r>
              <a:rPr lang="en-US" dirty="0" err="1"/>
              <a:t>secret_function</a:t>
            </a:r>
            <a:r>
              <a:rPr lang="en-US" dirty="0"/>
              <a:t>() {</a:t>
            </a:r>
          </a:p>
          <a:p>
            <a:r>
              <a:rPr lang="en-US" dirty="0"/>
              <a:t>    </a:t>
            </a:r>
            <a:r>
              <a:rPr lang="en-US" dirty="0" err="1"/>
              <a:t>printf</a:t>
            </a:r>
            <a:r>
              <a:rPr lang="en-US" dirty="0"/>
              <a:t>("You have successfully exploited the buffer overflow!\n");</a:t>
            </a:r>
          </a:p>
          <a:p>
            <a:r>
              <a:rPr lang="en-US" dirty="0"/>
              <a:t>}</a:t>
            </a:r>
          </a:p>
          <a:p>
            <a:endParaRPr lang="en-US" dirty="0"/>
          </a:p>
          <a:p>
            <a:r>
              <a:rPr lang="en-US" dirty="0"/>
              <a:t>void </a:t>
            </a:r>
            <a:r>
              <a:rPr lang="en-US" dirty="0" err="1"/>
              <a:t>vulnerable_function</a:t>
            </a:r>
            <a:r>
              <a:rPr lang="en-US" dirty="0"/>
              <a:t>(char *input) {</a:t>
            </a:r>
          </a:p>
          <a:p>
            <a:r>
              <a:rPr lang="en-US" dirty="0"/>
              <a:t>    char buffer[32];  </a:t>
            </a:r>
          </a:p>
          <a:p>
            <a:r>
              <a:rPr lang="en-US" dirty="0"/>
              <a:t>    </a:t>
            </a:r>
            <a:r>
              <a:rPr lang="en-US" dirty="0" err="1"/>
              <a:t>strcpy</a:t>
            </a:r>
            <a:r>
              <a:rPr lang="en-US" dirty="0"/>
              <a:t>(buffer, input);  </a:t>
            </a:r>
          </a:p>
          <a:p>
            <a:r>
              <a:rPr lang="en-US" dirty="0"/>
              <a:t>    </a:t>
            </a:r>
            <a:r>
              <a:rPr lang="en-US" dirty="0" err="1"/>
              <a:t>printf</a:t>
            </a:r>
            <a:r>
              <a:rPr lang="en-US" dirty="0"/>
              <a:t>("You entered: %s\n", buffer);</a:t>
            </a:r>
          </a:p>
          <a:p>
            <a:r>
              <a:rPr lang="en-US" dirty="0"/>
              <a:t>}</a:t>
            </a:r>
          </a:p>
          <a:p>
            <a:endParaRPr lang="en-US" dirty="0"/>
          </a:p>
          <a:p>
            <a:r>
              <a:rPr lang="en-US" dirty="0"/>
              <a:t>int main(int </a:t>
            </a:r>
            <a:r>
              <a:rPr lang="en-US" dirty="0" err="1"/>
              <a:t>argc</a:t>
            </a:r>
            <a:r>
              <a:rPr lang="en-US" dirty="0"/>
              <a:t>, char *</a:t>
            </a:r>
            <a:r>
              <a:rPr lang="en-US" dirty="0" err="1"/>
              <a:t>argv</a:t>
            </a:r>
            <a:r>
              <a:rPr lang="en-US" dirty="0"/>
              <a:t>[]) {</a:t>
            </a:r>
          </a:p>
          <a:p>
            <a:r>
              <a:rPr lang="en-US" dirty="0"/>
              <a:t>    if (</a:t>
            </a:r>
            <a:r>
              <a:rPr lang="en-US" dirty="0" err="1"/>
              <a:t>argc</a:t>
            </a:r>
            <a:r>
              <a:rPr lang="en-US" dirty="0"/>
              <a:t> &lt; 2) {</a:t>
            </a:r>
          </a:p>
          <a:p>
            <a:r>
              <a:rPr lang="en-US" dirty="0"/>
              <a:t>        </a:t>
            </a:r>
            <a:r>
              <a:rPr lang="en-US" dirty="0" err="1"/>
              <a:t>printf</a:t>
            </a:r>
            <a:r>
              <a:rPr lang="en-US" dirty="0"/>
              <a:t>("Usage: %s &lt;input&gt;\n", </a:t>
            </a:r>
            <a:r>
              <a:rPr lang="en-US" dirty="0" err="1"/>
              <a:t>argv</a:t>
            </a:r>
            <a:r>
              <a:rPr lang="en-US" dirty="0"/>
              <a:t>[0]);</a:t>
            </a:r>
          </a:p>
          <a:p>
            <a:r>
              <a:rPr lang="en-US" dirty="0"/>
              <a:t>        return 1;</a:t>
            </a:r>
          </a:p>
          <a:p>
            <a:r>
              <a:rPr lang="en-US" dirty="0"/>
              <a:t>    }</a:t>
            </a:r>
          </a:p>
          <a:p>
            <a:r>
              <a:rPr lang="en-US" dirty="0"/>
              <a:t>    </a:t>
            </a:r>
            <a:r>
              <a:rPr lang="en-US" dirty="0" err="1"/>
              <a:t>vulnerable_function</a:t>
            </a:r>
            <a:r>
              <a:rPr lang="en-US" dirty="0"/>
              <a:t>(</a:t>
            </a:r>
            <a:r>
              <a:rPr lang="en-US" dirty="0" err="1"/>
              <a:t>argv</a:t>
            </a:r>
            <a:r>
              <a:rPr lang="en-US" dirty="0"/>
              <a:t>[1]);</a:t>
            </a:r>
          </a:p>
          <a:p>
            <a:r>
              <a:rPr lang="en-US" dirty="0"/>
              <a:t>    return 0;</a:t>
            </a:r>
          </a:p>
          <a:p>
            <a:r>
              <a:rPr lang="en-US" dirty="0"/>
              <a:t>}</a:t>
            </a:r>
          </a:p>
          <a:p>
            <a:endParaRPr lang="en-US" dirty="0"/>
          </a:p>
        </p:txBody>
      </p:sp>
      <p:sp>
        <p:nvSpPr>
          <p:cNvPr id="3" name="Title 2">
            <a:extLst>
              <a:ext uri="{FF2B5EF4-FFF2-40B4-BE49-F238E27FC236}">
                <a16:creationId xmlns:a16="http://schemas.microsoft.com/office/drawing/2014/main" id="{EC023F96-4C7C-B538-174E-D96104EB37E4}"/>
              </a:ext>
            </a:extLst>
          </p:cNvPr>
          <p:cNvSpPr>
            <a:spLocks noGrp="1"/>
          </p:cNvSpPr>
          <p:nvPr>
            <p:ph type="title"/>
          </p:nvPr>
        </p:nvSpPr>
        <p:spPr/>
        <p:txBody>
          <a:bodyPr/>
          <a:lstStyle/>
          <a:p>
            <a:r>
              <a:rPr lang="en-US" dirty="0"/>
              <a:t>Question – find vulnerabilities in code and fix them</a:t>
            </a:r>
          </a:p>
        </p:txBody>
      </p:sp>
    </p:spTree>
    <p:extLst>
      <p:ext uri="{BB962C8B-B14F-4D97-AF65-F5344CB8AC3E}">
        <p14:creationId xmlns:p14="http://schemas.microsoft.com/office/powerpoint/2010/main" val="25157203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86A3D-300B-520B-FF51-8974C07E9A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3DD2AB1-8B29-D830-6103-E23416AA8128}"/>
              </a:ext>
            </a:extLst>
          </p:cNvPr>
          <p:cNvSpPr>
            <a:spLocks noGrp="1"/>
          </p:cNvSpPr>
          <p:nvPr>
            <p:ph idx="1"/>
          </p:nvPr>
        </p:nvSpPr>
        <p:spPr>
          <a:xfrm>
            <a:off x="2210657" y="857756"/>
            <a:ext cx="8464688" cy="5142487"/>
          </a:xfrm>
        </p:spPr>
        <p:txBody>
          <a:bodyPr>
            <a:normAutofit/>
          </a:bodyPr>
          <a:lstStyle/>
          <a:p>
            <a:r>
              <a:rPr lang="en-US" dirty="0"/>
              <a:t>typedef struct {</a:t>
            </a:r>
          </a:p>
          <a:p>
            <a:r>
              <a:rPr lang="en-US" dirty="0"/>
              <a:t>    	char name[32];</a:t>
            </a:r>
          </a:p>
          <a:p>
            <a:r>
              <a:rPr lang="en-US" dirty="0"/>
              <a:t>    	void (*</a:t>
            </a:r>
            <a:r>
              <a:rPr lang="en-US" dirty="0" err="1"/>
              <a:t>print_message</a:t>
            </a:r>
            <a:r>
              <a:rPr lang="en-US" dirty="0"/>
              <a:t>)();  // Function pointer</a:t>
            </a:r>
          </a:p>
          <a:p>
            <a:r>
              <a:rPr lang="en-US" dirty="0"/>
              <a:t>} User;</a:t>
            </a:r>
          </a:p>
          <a:p>
            <a:endParaRPr lang="en-US" dirty="0"/>
          </a:p>
          <a:p>
            <a:r>
              <a:rPr lang="en-US" dirty="0"/>
              <a:t>void greet() {</a:t>
            </a:r>
          </a:p>
          <a:p>
            <a:r>
              <a:rPr lang="en-US" dirty="0"/>
              <a:t>    	</a:t>
            </a:r>
            <a:r>
              <a:rPr lang="en-US" dirty="0" err="1"/>
              <a:t>printf</a:t>
            </a:r>
            <a:r>
              <a:rPr lang="en-US" dirty="0"/>
              <a:t>("Hello, user!\n");</a:t>
            </a:r>
          </a:p>
          <a:p>
            <a:r>
              <a:rPr lang="en-US" dirty="0"/>
              <a:t>}</a:t>
            </a:r>
          </a:p>
          <a:p>
            <a:endParaRPr lang="en-US" dirty="0"/>
          </a:p>
          <a:p>
            <a:r>
              <a:rPr lang="en-US" dirty="0"/>
              <a:t>void hacked() {</a:t>
            </a:r>
          </a:p>
          <a:p>
            <a:r>
              <a:rPr lang="en-US" dirty="0"/>
              <a:t>    	</a:t>
            </a:r>
            <a:r>
              <a:rPr lang="en-US" dirty="0" err="1"/>
              <a:t>printf</a:t>
            </a:r>
            <a:r>
              <a:rPr lang="en-US" dirty="0"/>
              <a:t>("Exploit successful! Arbitrary code execution achieved.\n");</a:t>
            </a:r>
          </a:p>
          <a:p>
            <a:r>
              <a:rPr lang="en-US" dirty="0"/>
              <a:t>}</a:t>
            </a:r>
          </a:p>
          <a:p>
            <a:endParaRPr lang="en-US" dirty="0"/>
          </a:p>
          <a:p>
            <a:r>
              <a:rPr lang="en-US" dirty="0"/>
              <a:t>int main() {</a:t>
            </a:r>
          </a:p>
          <a:p>
            <a:r>
              <a:rPr lang="en-US" dirty="0"/>
              <a:t>    	User *user1 = (User *)malloc(</a:t>
            </a:r>
            <a:r>
              <a:rPr lang="en-US" dirty="0" err="1"/>
              <a:t>sizeof</a:t>
            </a:r>
            <a:r>
              <a:rPr lang="en-US" dirty="0"/>
              <a:t>(User));</a:t>
            </a:r>
          </a:p>
          <a:p>
            <a:r>
              <a:rPr lang="en-US" dirty="0"/>
              <a:t>	</a:t>
            </a:r>
            <a:r>
              <a:rPr lang="en-US" dirty="0" err="1"/>
              <a:t>scanf</a:t>
            </a:r>
            <a:r>
              <a:rPr lang="en-US" dirty="0"/>
              <a:t>(“%s”, user1-&gt;name);</a:t>
            </a:r>
          </a:p>
          <a:p>
            <a:r>
              <a:rPr lang="en-US" dirty="0"/>
              <a:t>	(*(user1-&gt;</a:t>
            </a:r>
            <a:r>
              <a:rPr lang="en-US" dirty="0" err="1"/>
              <a:t>print_message</a:t>
            </a:r>
            <a:r>
              <a:rPr lang="en-US" dirty="0"/>
              <a:t>))();</a:t>
            </a:r>
          </a:p>
          <a:p>
            <a:r>
              <a:rPr lang="en-US" dirty="0"/>
              <a:t>}</a:t>
            </a:r>
          </a:p>
        </p:txBody>
      </p:sp>
      <p:sp>
        <p:nvSpPr>
          <p:cNvPr id="3" name="Title 2">
            <a:extLst>
              <a:ext uri="{FF2B5EF4-FFF2-40B4-BE49-F238E27FC236}">
                <a16:creationId xmlns:a16="http://schemas.microsoft.com/office/drawing/2014/main" id="{1FE2A446-AB04-36BD-F2BA-1F4CB124595D}"/>
              </a:ext>
            </a:extLst>
          </p:cNvPr>
          <p:cNvSpPr>
            <a:spLocks noGrp="1"/>
          </p:cNvSpPr>
          <p:nvPr>
            <p:ph type="title"/>
          </p:nvPr>
        </p:nvSpPr>
        <p:spPr/>
        <p:txBody>
          <a:bodyPr/>
          <a:lstStyle/>
          <a:p>
            <a:r>
              <a:rPr lang="en-US" dirty="0"/>
              <a:t>Can the code below result in control flow hijack?</a:t>
            </a:r>
          </a:p>
        </p:txBody>
      </p:sp>
      <p:sp>
        <p:nvSpPr>
          <p:cNvPr id="4" name="Rectangle 3">
            <a:extLst>
              <a:ext uri="{FF2B5EF4-FFF2-40B4-BE49-F238E27FC236}">
                <a16:creationId xmlns:a16="http://schemas.microsoft.com/office/drawing/2014/main" id="{7EB6636C-08BE-AE92-E940-0F0505A9FBB3}"/>
              </a:ext>
            </a:extLst>
          </p:cNvPr>
          <p:cNvSpPr/>
          <p:nvPr/>
        </p:nvSpPr>
        <p:spPr>
          <a:xfrm>
            <a:off x="6711303" y="571014"/>
            <a:ext cx="4585101" cy="769441"/>
          </a:xfrm>
          <a:prstGeom prst="rect">
            <a:avLst/>
          </a:prstGeom>
          <a:noFill/>
        </p:spPr>
        <p:txBody>
          <a:bodyPr wrap="none" lIns="91440" tIns="45720" rIns="91440" bIns="45720">
            <a:spAutoFit/>
          </a:bodyPr>
          <a:lstStyle/>
          <a:p>
            <a:pPr algn="ctr"/>
            <a:r>
              <a:rPr lang="en-US" sz="4400" b="0" cap="none" spc="0" dirty="0">
                <a:ln w="0"/>
                <a:solidFill>
                  <a:schemeClr val="tx1"/>
                </a:solidFill>
                <a:effectLst>
                  <a:outerShdw blurRad="38100" dist="19050" dir="2700000" algn="tl" rotWithShape="0">
                    <a:schemeClr val="dk1">
                      <a:alpha val="40000"/>
                    </a:schemeClr>
                  </a:outerShdw>
                </a:effectLst>
              </a:rPr>
              <a:t>How to prevent it?</a:t>
            </a:r>
          </a:p>
        </p:txBody>
      </p:sp>
    </p:spTree>
    <p:extLst>
      <p:ext uri="{BB962C8B-B14F-4D97-AF65-F5344CB8AC3E}">
        <p14:creationId xmlns:p14="http://schemas.microsoft.com/office/powerpoint/2010/main" val="279097936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586DFD-5437-B2EE-90EC-C965F9FD92F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94F20A-A328-BE9A-1F61-118027DB714D}"/>
              </a:ext>
            </a:extLst>
          </p:cNvPr>
          <p:cNvSpPr>
            <a:spLocks noGrp="1"/>
          </p:cNvSpPr>
          <p:nvPr>
            <p:ph idx="1"/>
          </p:nvPr>
        </p:nvSpPr>
        <p:spPr>
          <a:xfrm>
            <a:off x="2210657" y="857756"/>
            <a:ext cx="8464688" cy="5142487"/>
          </a:xfrm>
        </p:spPr>
        <p:txBody>
          <a:bodyPr>
            <a:normAutofit/>
          </a:bodyPr>
          <a:lstStyle/>
          <a:p>
            <a:r>
              <a:rPr lang="en-US" dirty="0"/>
              <a:t>typedef struct {</a:t>
            </a:r>
          </a:p>
          <a:p>
            <a:r>
              <a:rPr lang="en-US" dirty="0"/>
              <a:t>    	char name[32];</a:t>
            </a:r>
          </a:p>
          <a:p>
            <a:r>
              <a:rPr lang="en-US" dirty="0"/>
              <a:t>    	void (*</a:t>
            </a:r>
            <a:r>
              <a:rPr lang="en-US" dirty="0" err="1"/>
              <a:t>print_message</a:t>
            </a:r>
            <a:r>
              <a:rPr lang="en-US" dirty="0"/>
              <a:t>)();  // Function pointer</a:t>
            </a:r>
          </a:p>
          <a:p>
            <a:r>
              <a:rPr lang="en-US" dirty="0"/>
              <a:t>} User;</a:t>
            </a:r>
          </a:p>
          <a:p>
            <a:endParaRPr lang="en-US" dirty="0"/>
          </a:p>
          <a:p>
            <a:r>
              <a:rPr lang="en-US" dirty="0"/>
              <a:t>void greet() {</a:t>
            </a:r>
          </a:p>
          <a:p>
            <a:r>
              <a:rPr lang="en-US" dirty="0"/>
              <a:t>    	</a:t>
            </a:r>
            <a:r>
              <a:rPr lang="en-US" dirty="0" err="1"/>
              <a:t>printf</a:t>
            </a:r>
            <a:r>
              <a:rPr lang="en-US" dirty="0"/>
              <a:t>("Hello, user!\n");</a:t>
            </a:r>
          </a:p>
          <a:p>
            <a:r>
              <a:rPr lang="en-US" dirty="0"/>
              <a:t>}</a:t>
            </a:r>
          </a:p>
          <a:p>
            <a:endParaRPr lang="en-US" dirty="0"/>
          </a:p>
          <a:p>
            <a:r>
              <a:rPr lang="en-US" dirty="0"/>
              <a:t>void hacked() {</a:t>
            </a:r>
          </a:p>
          <a:p>
            <a:r>
              <a:rPr lang="en-US" dirty="0"/>
              <a:t>    	</a:t>
            </a:r>
            <a:r>
              <a:rPr lang="en-US" dirty="0" err="1"/>
              <a:t>printf</a:t>
            </a:r>
            <a:r>
              <a:rPr lang="en-US" dirty="0"/>
              <a:t>("Exploit successful! Arbitrary code execution achieved.\n");</a:t>
            </a:r>
          </a:p>
          <a:p>
            <a:r>
              <a:rPr lang="en-US" dirty="0"/>
              <a:t>}</a:t>
            </a:r>
          </a:p>
          <a:p>
            <a:endParaRPr lang="en-US" dirty="0"/>
          </a:p>
          <a:p>
            <a:r>
              <a:rPr lang="en-US" dirty="0"/>
              <a:t>int main() {</a:t>
            </a:r>
          </a:p>
          <a:p>
            <a:r>
              <a:rPr lang="en-US" dirty="0"/>
              <a:t>    	User *user1 = (User *)malloc(</a:t>
            </a:r>
            <a:r>
              <a:rPr lang="en-US" dirty="0" err="1"/>
              <a:t>sizeof</a:t>
            </a:r>
            <a:r>
              <a:rPr lang="en-US" dirty="0"/>
              <a:t>(User));</a:t>
            </a:r>
          </a:p>
          <a:p>
            <a:r>
              <a:rPr lang="en-US" dirty="0"/>
              <a:t>	char </a:t>
            </a:r>
            <a:r>
              <a:rPr lang="en-US" dirty="0" err="1"/>
              <a:t>temp_buff</a:t>
            </a:r>
            <a:r>
              <a:rPr lang="en-US" dirty="0"/>
              <a:t>[100];</a:t>
            </a:r>
          </a:p>
          <a:p>
            <a:r>
              <a:rPr lang="en-US" dirty="0"/>
              <a:t>	</a:t>
            </a:r>
            <a:r>
              <a:rPr lang="en-US" dirty="0" err="1"/>
              <a:t>scanf</a:t>
            </a:r>
            <a:r>
              <a:rPr lang="en-US" dirty="0"/>
              <a:t>(“%99s”, </a:t>
            </a:r>
            <a:r>
              <a:rPr lang="en-US" dirty="0" err="1"/>
              <a:t>temp_buff</a:t>
            </a:r>
            <a:r>
              <a:rPr lang="en-US" dirty="0"/>
              <a:t>);</a:t>
            </a:r>
          </a:p>
          <a:p>
            <a:r>
              <a:rPr lang="en-US" dirty="0"/>
              <a:t>	</a:t>
            </a:r>
            <a:r>
              <a:rPr lang="en-US" dirty="0" err="1"/>
              <a:t>strcpy</a:t>
            </a:r>
            <a:r>
              <a:rPr lang="en-US" dirty="0"/>
              <a:t>(user1-&gt;name, </a:t>
            </a:r>
            <a:r>
              <a:rPr lang="en-US" dirty="0" err="1"/>
              <a:t>temp_buff</a:t>
            </a:r>
            <a:r>
              <a:rPr lang="en-US" dirty="0"/>
              <a:t>);</a:t>
            </a:r>
          </a:p>
          <a:p>
            <a:r>
              <a:rPr lang="en-US" dirty="0"/>
              <a:t>	(*(user1-&gt;</a:t>
            </a:r>
            <a:r>
              <a:rPr lang="en-US" dirty="0" err="1"/>
              <a:t>print_message</a:t>
            </a:r>
            <a:r>
              <a:rPr lang="en-US" dirty="0"/>
              <a:t>))();</a:t>
            </a:r>
          </a:p>
          <a:p>
            <a:r>
              <a:rPr lang="en-US" dirty="0"/>
              <a:t>}</a:t>
            </a:r>
          </a:p>
        </p:txBody>
      </p:sp>
      <p:sp>
        <p:nvSpPr>
          <p:cNvPr id="3" name="Title 2">
            <a:extLst>
              <a:ext uri="{FF2B5EF4-FFF2-40B4-BE49-F238E27FC236}">
                <a16:creationId xmlns:a16="http://schemas.microsoft.com/office/drawing/2014/main" id="{EC41E0BC-A8D7-EBBE-BC56-E80738F1F756}"/>
              </a:ext>
            </a:extLst>
          </p:cNvPr>
          <p:cNvSpPr>
            <a:spLocks noGrp="1"/>
          </p:cNvSpPr>
          <p:nvPr>
            <p:ph type="title"/>
          </p:nvPr>
        </p:nvSpPr>
        <p:spPr/>
        <p:txBody>
          <a:bodyPr/>
          <a:lstStyle/>
          <a:p>
            <a:r>
              <a:rPr lang="en-US" dirty="0"/>
              <a:t>Can the code below result in control flow hijack?</a:t>
            </a:r>
          </a:p>
        </p:txBody>
      </p:sp>
      <p:sp>
        <p:nvSpPr>
          <p:cNvPr id="4" name="Rectangle 3">
            <a:extLst>
              <a:ext uri="{FF2B5EF4-FFF2-40B4-BE49-F238E27FC236}">
                <a16:creationId xmlns:a16="http://schemas.microsoft.com/office/drawing/2014/main" id="{9BCFA1F9-F631-12DE-00E3-3F4C4E720219}"/>
              </a:ext>
            </a:extLst>
          </p:cNvPr>
          <p:cNvSpPr/>
          <p:nvPr/>
        </p:nvSpPr>
        <p:spPr>
          <a:xfrm>
            <a:off x="6711303" y="571014"/>
            <a:ext cx="4585101" cy="769441"/>
          </a:xfrm>
          <a:prstGeom prst="rect">
            <a:avLst/>
          </a:prstGeom>
          <a:noFill/>
        </p:spPr>
        <p:txBody>
          <a:bodyPr wrap="none" lIns="91440" tIns="45720" rIns="91440" bIns="45720">
            <a:spAutoFit/>
          </a:bodyPr>
          <a:lstStyle/>
          <a:p>
            <a:pPr algn="ctr"/>
            <a:r>
              <a:rPr lang="en-US" sz="4400" b="0" cap="none" spc="0" dirty="0">
                <a:ln w="0"/>
                <a:solidFill>
                  <a:schemeClr val="tx1"/>
                </a:solidFill>
                <a:effectLst>
                  <a:outerShdw blurRad="38100" dist="19050" dir="2700000" algn="tl" rotWithShape="0">
                    <a:schemeClr val="dk1">
                      <a:alpha val="40000"/>
                    </a:schemeClr>
                  </a:outerShdw>
                </a:effectLst>
              </a:rPr>
              <a:t>How to prevent it?</a:t>
            </a:r>
          </a:p>
        </p:txBody>
      </p:sp>
    </p:spTree>
    <p:extLst>
      <p:ext uri="{BB962C8B-B14F-4D97-AF65-F5344CB8AC3E}">
        <p14:creationId xmlns:p14="http://schemas.microsoft.com/office/powerpoint/2010/main" val="237241135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585A02-2461-2C6B-A68D-41BFC5A8BD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3EB207F-67BC-6E50-2CD3-8C084EA0D668}"/>
              </a:ext>
            </a:extLst>
          </p:cNvPr>
          <p:cNvSpPr>
            <a:spLocks noGrp="1"/>
          </p:cNvSpPr>
          <p:nvPr>
            <p:ph idx="1"/>
          </p:nvPr>
        </p:nvSpPr>
        <p:spPr/>
        <p:txBody>
          <a:bodyPr/>
          <a:lstStyle/>
          <a:p>
            <a:r>
              <a:rPr lang="en-US" dirty="0"/>
              <a:t>Tapti Palit</a:t>
            </a:r>
          </a:p>
        </p:txBody>
      </p:sp>
      <p:sp>
        <p:nvSpPr>
          <p:cNvPr id="3" name="Text Placeholder 2">
            <a:extLst>
              <a:ext uri="{FF2B5EF4-FFF2-40B4-BE49-F238E27FC236}">
                <a16:creationId xmlns:a16="http://schemas.microsoft.com/office/drawing/2014/main" id="{1C034E5E-13D9-2EC8-8EB2-09BBA125CD01}"/>
              </a:ext>
            </a:extLst>
          </p:cNvPr>
          <p:cNvSpPr>
            <a:spLocks noGrp="1"/>
          </p:cNvSpPr>
          <p:nvPr>
            <p:ph type="body" sz="quarter" idx="13"/>
          </p:nvPr>
        </p:nvSpPr>
        <p:spPr/>
        <p:txBody>
          <a:bodyPr/>
          <a:lstStyle/>
          <a:p>
            <a:r>
              <a:rPr lang="en-US" dirty="0"/>
              <a:t>Software security</a:t>
            </a:r>
          </a:p>
        </p:txBody>
      </p:sp>
    </p:spTree>
    <p:extLst>
      <p:ext uri="{BB962C8B-B14F-4D97-AF65-F5344CB8AC3E}">
        <p14:creationId xmlns:p14="http://schemas.microsoft.com/office/powerpoint/2010/main" val="334909063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D9743-033F-8E84-EAAD-BD0F862FE6AE}"/>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E7CA772-5C35-A879-1D54-19FE8E8BA1D8}"/>
              </a:ext>
            </a:extLst>
          </p:cNvPr>
          <p:cNvSpPr>
            <a:spLocks noGrp="1"/>
          </p:cNvSpPr>
          <p:nvPr>
            <p:ph idx="1"/>
          </p:nvPr>
        </p:nvSpPr>
        <p:spPr/>
        <p:txBody>
          <a:bodyPr/>
          <a:lstStyle/>
          <a:p>
            <a:r>
              <a:rPr lang="en-US" dirty="0"/>
              <a:t>Memory safety in Java</a:t>
            </a:r>
          </a:p>
          <a:p>
            <a:r>
              <a:rPr lang="en-US" dirty="0"/>
              <a:t>Sample design patterns questions</a:t>
            </a:r>
          </a:p>
          <a:p>
            <a:r>
              <a:rPr lang="en-US" dirty="0"/>
              <a:t>Sample software security questions</a:t>
            </a:r>
          </a:p>
          <a:p>
            <a:r>
              <a:rPr lang="en-US" dirty="0"/>
              <a:t>Quiz</a:t>
            </a:r>
          </a:p>
          <a:p>
            <a:r>
              <a:rPr lang="en-US" dirty="0"/>
              <a:t>Next week</a:t>
            </a:r>
          </a:p>
          <a:p>
            <a:pPr lvl="1"/>
            <a:r>
              <a:rPr lang="en-US" dirty="0"/>
              <a:t>Fuzz testing, sanitizers, and </a:t>
            </a:r>
            <a:r>
              <a:rPr lang="en-US" dirty="0" err="1"/>
              <a:t>Valgrind</a:t>
            </a:r>
            <a:endParaRPr lang="en-US" dirty="0"/>
          </a:p>
          <a:p>
            <a:r>
              <a:rPr lang="en-US" dirty="0"/>
              <a:t>Revision</a:t>
            </a:r>
          </a:p>
        </p:txBody>
      </p:sp>
      <p:sp>
        <p:nvSpPr>
          <p:cNvPr id="4" name="Title 3">
            <a:extLst>
              <a:ext uri="{FF2B5EF4-FFF2-40B4-BE49-F238E27FC236}">
                <a16:creationId xmlns:a16="http://schemas.microsoft.com/office/drawing/2014/main" id="{83D1A11A-B3D1-CE72-59AA-1F687EE03B70}"/>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61B48F8C-089E-D649-9848-7C3FA7FB6F97}"/>
              </a:ext>
            </a:extLst>
          </p:cNvPr>
          <p:cNvCxnSpPr/>
          <p:nvPr/>
        </p:nvCxnSpPr>
        <p:spPr>
          <a:xfrm>
            <a:off x="0" y="3580482"/>
            <a:ext cx="12192000" cy="0"/>
          </a:xfrm>
          <a:prstGeom prst="line">
            <a:avLst/>
          </a:prstGeom>
          <a:ln w="12700">
            <a:prstDash val="sysDash"/>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8325271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15AFD71-14B7-9963-5D69-60C2DEC4E55A}"/>
              </a:ext>
            </a:extLst>
          </p:cNvPr>
          <p:cNvSpPr>
            <a:spLocks noGrp="1"/>
          </p:cNvSpPr>
          <p:nvPr>
            <p:ph idx="1"/>
          </p:nvPr>
        </p:nvSpPr>
        <p:spPr>
          <a:xfrm>
            <a:off x="5562961" y="785002"/>
            <a:ext cx="3220876" cy="5046453"/>
          </a:xfrm>
          <a:ln w="22225">
            <a:solidFill>
              <a:schemeClr val="accent1"/>
            </a:solidFill>
          </a:ln>
        </p:spPr>
        <p:txBody>
          <a:bodyPr/>
          <a:lstStyle/>
          <a:p>
            <a:pPr marL="0" indent="0">
              <a:buNone/>
            </a:pPr>
            <a:r>
              <a:rPr lang="en-US" b="1" i="1" dirty="0"/>
              <a:t>// Use after free</a:t>
            </a:r>
          </a:p>
          <a:p>
            <a:pPr marL="0" indent="0">
              <a:buNone/>
            </a:pPr>
            <a:endParaRPr lang="en-US" dirty="0"/>
          </a:p>
          <a:p>
            <a:pPr marL="0" indent="0">
              <a:buNone/>
            </a:pPr>
            <a:r>
              <a:rPr lang="en-US" dirty="0"/>
              <a:t>void </a:t>
            </a:r>
            <a:r>
              <a:rPr lang="en-US" dirty="0" err="1"/>
              <a:t>fn</a:t>
            </a:r>
            <a:r>
              <a:rPr lang="en-US" dirty="0"/>
              <a:t>() { </a:t>
            </a:r>
          </a:p>
          <a:p>
            <a:pPr marL="0" indent="0">
              <a:buNone/>
            </a:pPr>
            <a:r>
              <a:rPr lang="en-US" dirty="0"/>
              <a:t>	char* p = malloc(…);</a:t>
            </a:r>
          </a:p>
          <a:p>
            <a:pPr marL="0" indent="0">
              <a:buNone/>
            </a:pPr>
            <a:r>
              <a:rPr lang="en-US" dirty="0"/>
              <a:t>	free(p);</a:t>
            </a:r>
          </a:p>
          <a:p>
            <a:pPr marL="0" indent="0">
              <a:buNone/>
            </a:pPr>
            <a:r>
              <a:rPr lang="en-US" dirty="0"/>
              <a:t>	// some stuff</a:t>
            </a:r>
          </a:p>
          <a:p>
            <a:pPr marL="0" indent="0">
              <a:buNone/>
            </a:pPr>
            <a:r>
              <a:rPr lang="en-US" dirty="0"/>
              <a:t>	p[0] = 10;</a:t>
            </a:r>
          </a:p>
          <a:p>
            <a:pPr marL="0" indent="0">
              <a:buNone/>
            </a:pPr>
            <a:r>
              <a:rPr lang="en-US" dirty="0"/>
              <a:t>}</a:t>
            </a:r>
          </a:p>
          <a:p>
            <a:pPr marL="0" indent="0">
              <a:buNone/>
            </a:pPr>
            <a:endParaRPr lang="en-US" dirty="0"/>
          </a:p>
          <a:p>
            <a:pPr marL="0" indent="0">
              <a:buNone/>
            </a:pPr>
            <a:r>
              <a:rPr lang="en-US" dirty="0"/>
              <a:t>void </a:t>
            </a:r>
            <a:r>
              <a:rPr lang="en-US" dirty="0" err="1"/>
              <a:t>fn</a:t>
            </a:r>
            <a:r>
              <a:rPr lang="en-US" dirty="0"/>
              <a:t>() { </a:t>
            </a:r>
          </a:p>
          <a:p>
            <a:pPr marL="0" indent="0">
              <a:buNone/>
            </a:pPr>
            <a:r>
              <a:rPr lang="en-US" dirty="0"/>
              <a:t>	char* p = new char[20];</a:t>
            </a:r>
          </a:p>
          <a:p>
            <a:pPr marL="0" indent="0">
              <a:buNone/>
            </a:pPr>
            <a:r>
              <a:rPr lang="en-US" dirty="0"/>
              <a:t>	delete p;</a:t>
            </a:r>
          </a:p>
          <a:p>
            <a:pPr marL="0" indent="0">
              <a:buNone/>
            </a:pPr>
            <a:r>
              <a:rPr lang="en-US" dirty="0"/>
              <a:t>	// some stuff</a:t>
            </a:r>
          </a:p>
          <a:p>
            <a:pPr marL="0" indent="0">
              <a:buNone/>
            </a:pPr>
            <a:r>
              <a:rPr lang="en-US" dirty="0"/>
              <a:t>	p[0] = 10;</a:t>
            </a:r>
          </a:p>
          <a:p>
            <a:pPr marL="0" indent="0">
              <a:buNone/>
            </a:pPr>
            <a:r>
              <a:rPr lang="en-US" dirty="0"/>
              <a:t>}</a:t>
            </a:r>
          </a:p>
          <a:p>
            <a:pPr marL="0" indent="0">
              <a:buNone/>
            </a:pPr>
            <a:endParaRPr lang="en-US" dirty="0"/>
          </a:p>
        </p:txBody>
      </p:sp>
      <p:sp>
        <p:nvSpPr>
          <p:cNvPr id="6" name="Title 5">
            <a:extLst>
              <a:ext uri="{FF2B5EF4-FFF2-40B4-BE49-F238E27FC236}">
                <a16:creationId xmlns:a16="http://schemas.microsoft.com/office/drawing/2014/main" id="{32004AEA-B2F5-29AA-C0DD-6C197EEFC0EC}"/>
              </a:ext>
            </a:extLst>
          </p:cNvPr>
          <p:cNvSpPr>
            <a:spLocks noGrp="1"/>
          </p:cNvSpPr>
          <p:nvPr>
            <p:ph type="title"/>
          </p:nvPr>
        </p:nvSpPr>
        <p:spPr/>
        <p:txBody>
          <a:bodyPr/>
          <a:lstStyle/>
          <a:p>
            <a:r>
              <a:rPr lang="en-US" dirty="0"/>
              <a:t>Temporal memory safety bugs</a:t>
            </a:r>
          </a:p>
        </p:txBody>
      </p:sp>
      <p:sp>
        <p:nvSpPr>
          <p:cNvPr id="7" name="Content Placeholder 6">
            <a:extLst>
              <a:ext uri="{FF2B5EF4-FFF2-40B4-BE49-F238E27FC236}">
                <a16:creationId xmlns:a16="http://schemas.microsoft.com/office/drawing/2014/main" id="{B3B1F635-E8A7-8C27-0685-33011BF1D692}"/>
              </a:ext>
            </a:extLst>
          </p:cNvPr>
          <p:cNvSpPr>
            <a:spLocks noGrp="1"/>
          </p:cNvSpPr>
          <p:nvPr>
            <p:ph idx="13"/>
          </p:nvPr>
        </p:nvSpPr>
        <p:spPr>
          <a:xfrm>
            <a:off x="382074" y="785004"/>
            <a:ext cx="5180887" cy="5046453"/>
          </a:xfrm>
        </p:spPr>
        <p:txBody>
          <a:bodyPr/>
          <a:lstStyle/>
          <a:p>
            <a:r>
              <a:rPr lang="en-US" dirty="0"/>
              <a:t>Use-after-free bugs</a:t>
            </a:r>
          </a:p>
          <a:p>
            <a:pPr lvl="1"/>
            <a:r>
              <a:rPr lang="en-US" dirty="0">
                <a:latin typeface="Helvetica" panose="020B0604020202020204"/>
                <a:cs typeface="Helvetica" panose="020B0604020202020204"/>
              </a:rPr>
              <a:t>Using a heap object after freeing it</a:t>
            </a:r>
          </a:p>
          <a:p>
            <a:r>
              <a:rPr lang="en-US" dirty="0"/>
              <a:t>Double-free bugs</a:t>
            </a:r>
          </a:p>
          <a:p>
            <a:pPr lvl="1"/>
            <a:r>
              <a:rPr lang="en-US" dirty="0">
                <a:latin typeface="Helvetica" panose="020B0604020202020204"/>
                <a:cs typeface="Helvetica" panose="020B0604020202020204"/>
              </a:rPr>
              <a:t>Freeing a heap object twice</a:t>
            </a:r>
          </a:p>
          <a:p>
            <a:endParaRPr lang="en-US" dirty="0"/>
          </a:p>
        </p:txBody>
      </p:sp>
      <p:sp>
        <p:nvSpPr>
          <p:cNvPr id="8" name="Content Placeholder 4">
            <a:extLst>
              <a:ext uri="{FF2B5EF4-FFF2-40B4-BE49-F238E27FC236}">
                <a16:creationId xmlns:a16="http://schemas.microsoft.com/office/drawing/2014/main" id="{4837309A-E7CE-571F-6E17-8B845486D2ED}"/>
              </a:ext>
            </a:extLst>
          </p:cNvPr>
          <p:cNvSpPr txBox="1">
            <a:spLocks/>
          </p:cNvSpPr>
          <p:nvPr/>
        </p:nvSpPr>
        <p:spPr bwMode="auto">
          <a:xfrm>
            <a:off x="8971124" y="785003"/>
            <a:ext cx="3220876" cy="5046453"/>
          </a:xfrm>
          <a:prstGeom prst="rect">
            <a:avLst/>
          </a:prstGeom>
          <a:noFill/>
          <a:ln w="19050">
            <a:solidFill>
              <a:schemeClr val="accent1"/>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i="1" dirty="0"/>
              <a:t>// Double free</a:t>
            </a:r>
          </a:p>
          <a:p>
            <a:r>
              <a:rPr lang="en-US" dirty="0"/>
              <a:t>void </a:t>
            </a:r>
            <a:r>
              <a:rPr lang="en-US" dirty="0" err="1"/>
              <a:t>fn</a:t>
            </a:r>
            <a:r>
              <a:rPr lang="en-US" dirty="0"/>
              <a:t>() { </a:t>
            </a:r>
          </a:p>
          <a:p>
            <a:r>
              <a:rPr lang="en-US" dirty="0"/>
              <a:t>	char* p = malloc(…);</a:t>
            </a:r>
          </a:p>
          <a:p>
            <a:r>
              <a:rPr lang="en-US" dirty="0"/>
              <a:t>	free(p);</a:t>
            </a:r>
          </a:p>
          <a:p>
            <a:r>
              <a:rPr lang="en-US" dirty="0"/>
              <a:t>	// some stuff</a:t>
            </a:r>
          </a:p>
          <a:p>
            <a:r>
              <a:rPr lang="en-US" dirty="0"/>
              <a:t>	free(p);</a:t>
            </a:r>
          </a:p>
          <a:p>
            <a:r>
              <a:rPr lang="en-US" dirty="0"/>
              <a:t>}</a:t>
            </a:r>
          </a:p>
          <a:p>
            <a:endParaRPr lang="en-US" dirty="0"/>
          </a:p>
          <a:p>
            <a:r>
              <a:rPr lang="en-US" dirty="0"/>
              <a:t>void </a:t>
            </a:r>
            <a:r>
              <a:rPr lang="en-US" dirty="0" err="1"/>
              <a:t>fn</a:t>
            </a:r>
            <a:r>
              <a:rPr lang="en-US" dirty="0"/>
              <a:t>() { </a:t>
            </a:r>
          </a:p>
          <a:p>
            <a:r>
              <a:rPr lang="en-US" dirty="0"/>
              <a:t>	char* p = new char[20];</a:t>
            </a:r>
          </a:p>
          <a:p>
            <a:r>
              <a:rPr lang="en-US" dirty="0"/>
              <a:t>	delete p;</a:t>
            </a:r>
          </a:p>
          <a:p>
            <a:r>
              <a:rPr lang="en-US" dirty="0"/>
              <a:t>	// some stuff</a:t>
            </a:r>
          </a:p>
          <a:p>
            <a:r>
              <a:rPr lang="en-US" dirty="0"/>
              <a:t>	delete p;</a:t>
            </a:r>
          </a:p>
          <a:p>
            <a:r>
              <a:rPr lang="en-US" dirty="0"/>
              <a:t>}</a:t>
            </a:r>
          </a:p>
          <a:p>
            <a:endParaRPr lang="en-US" dirty="0"/>
          </a:p>
        </p:txBody>
      </p:sp>
    </p:spTree>
    <p:extLst>
      <p:ext uri="{BB962C8B-B14F-4D97-AF65-F5344CB8AC3E}">
        <p14:creationId xmlns:p14="http://schemas.microsoft.com/office/powerpoint/2010/main" val="68623029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6C0710B-71D1-18B4-F390-60A7DB438E84}"/>
              </a:ext>
            </a:extLst>
          </p:cNvPr>
          <p:cNvSpPr>
            <a:spLocks noGrp="1"/>
          </p:cNvSpPr>
          <p:nvPr>
            <p:ph idx="1"/>
          </p:nvPr>
        </p:nvSpPr>
        <p:spPr/>
        <p:txBody>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r>
              <a:rPr lang="en-US" dirty="0"/>
              <a:t>}</a:t>
            </a:r>
          </a:p>
          <a:p>
            <a:endParaRPr lang="en-US" dirty="0"/>
          </a:p>
          <a:p>
            <a:r>
              <a:rPr lang="en-US" dirty="0"/>
              <a:t>int main() {</a:t>
            </a:r>
          </a:p>
          <a:p>
            <a:r>
              <a:rPr lang="en-US" dirty="0"/>
              <a:t>	function();</a:t>
            </a:r>
          </a:p>
          <a:p>
            <a:r>
              <a:rPr lang="en-US" dirty="0"/>
              <a:t>	return 0;</a:t>
            </a:r>
          </a:p>
          <a:p>
            <a:r>
              <a:rPr lang="en-US" dirty="0"/>
              <a:t>}</a:t>
            </a:r>
          </a:p>
        </p:txBody>
      </p:sp>
      <p:sp>
        <p:nvSpPr>
          <p:cNvPr id="3" name="Title 2">
            <a:extLst>
              <a:ext uri="{FF2B5EF4-FFF2-40B4-BE49-F238E27FC236}">
                <a16:creationId xmlns:a16="http://schemas.microsoft.com/office/drawing/2014/main" id="{C666F69B-89AC-A9B0-BACB-1DAEC918737D}"/>
              </a:ext>
            </a:extLst>
          </p:cNvPr>
          <p:cNvSpPr>
            <a:spLocks noGrp="1"/>
          </p:cNvSpPr>
          <p:nvPr>
            <p:ph type="title"/>
          </p:nvPr>
        </p:nvSpPr>
        <p:spPr/>
        <p:txBody>
          <a:bodyPr/>
          <a:lstStyle/>
          <a:p>
            <a:r>
              <a:rPr lang="en-US" dirty="0"/>
              <a:t>C++ smart pointers</a:t>
            </a:r>
          </a:p>
        </p:txBody>
      </p:sp>
      <p:sp>
        <p:nvSpPr>
          <p:cNvPr id="4" name="Content Placeholder 3">
            <a:extLst>
              <a:ext uri="{FF2B5EF4-FFF2-40B4-BE49-F238E27FC236}">
                <a16:creationId xmlns:a16="http://schemas.microsoft.com/office/drawing/2014/main" id="{90AFCCAE-D88A-A01D-8D8D-FB07759D22B0}"/>
              </a:ext>
            </a:extLst>
          </p:cNvPr>
          <p:cNvSpPr>
            <a:spLocks noGrp="1"/>
          </p:cNvSpPr>
          <p:nvPr>
            <p:ph idx="13"/>
          </p:nvPr>
        </p:nvSpPr>
        <p:spPr/>
        <p:txBody>
          <a:bodyPr/>
          <a:lstStyle/>
          <a:p>
            <a:r>
              <a:rPr lang="en-US" dirty="0" err="1"/>
              <a:t>unique_ptr</a:t>
            </a:r>
            <a:endParaRPr lang="en-US" dirty="0"/>
          </a:p>
          <a:p>
            <a:pPr lvl="1"/>
            <a:r>
              <a:rPr lang="en-US" dirty="0"/>
              <a:t>Contains a heap object</a:t>
            </a:r>
          </a:p>
          <a:p>
            <a:pPr lvl="1"/>
            <a:r>
              <a:rPr lang="en-US" dirty="0"/>
              <a:t>Heap object automatically deleted when the pointer goes out of scope</a:t>
            </a:r>
          </a:p>
          <a:p>
            <a:pPr lvl="1"/>
            <a:r>
              <a:rPr lang="en-US" dirty="0"/>
              <a:t>E.g. when </a:t>
            </a:r>
            <a:r>
              <a:rPr lang="en-US" dirty="0">
                <a:latin typeface="Consolas" panose="020B0609020204030204" pitchFamily="49" charset="0"/>
              </a:rPr>
              <a:t>function() </a:t>
            </a:r>
            <a:r>
              <a:rPr lang="en-US" dirty="0"/>
              <a:t>returns, </a:t>
            </a:r>
            <a:r>
              <a:rPr lang="en-US" dirty="0" err="1">
                <a:latin typeface="Consolas" panose="020B0609020204030204" pitchFamily="49" charset="0"/>
              </a:rPr>
              <a:t>ptr</a:t>
            </a:r>
            <a:r>
              <a:rPr lang="en-US" dirty="0"/>
              <a:t> goes out of scope and the </a:t>
            </a:r>
            <a:r>
              <a:rPr lang="en-US" dirty="0" err="1">
                <a:latin typeface="Consolas" panose="020B0609020204030204" pitchFamily="49" charset="0"/>
              </a:rPr>
              <a:t>MyClass</a:t>
            </a:r>
            <a:r>
              <a:rPr lang="en-US" dirty="0"/>
              <a:t> heap object is automatically deleted</a:t>
            </a:r>
          </a:p>
        </p:txBody>
      </p:sp>
      <p:sp>
        <p:nvSpPr>
          <p:cNvPr id="5" name="Rectangle 4">
            <a:extLst>
              <a:ext uri="{FF2B5EF4-FFF2-40B4-BE49-F238E27FC236}">
                <a16:creationId xmlns:a16="http://schemas.microsoft.com/office/drawing/2014/main" id="{5C6752C1-8133-C58B-1D3E-DEC9D924D2AA}"/>
              </a:ext>
            </a:extLst>
          </p:cNvPr>
          <p:cNvSpPr/>
          <p:nvPr/>
        </p:nvSpPr>
        <p:spPr>
          <a:xfrm>
            <a:off x="6347194" y="3514381"/>
            <a:ext cx="5292047" cy="84829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656094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FFB6D-43CE-547C-8543-5C0909EE872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F42860-B8E3-6677-CC1B-03E2446E1F0E}"/>
              </a:ext>
            </a:extLst>
          </p:cNvPr>
          <p:cNvSpPr>
            <a:spLocks noGrp="1"/>
          </p:cNvSpPr>
          <p:nvPr>
            <p:ph idx="1"/>
          </p:nvPr>
        </p:nvSpPr>
        <p:spPr/>
        <p:txBody>
          <a:bodyPr>
            <a:normAutofit fontScale="85000" lnSpcReduction="20000"/>
          </a:bodyPr>
          <a:lstStyle/>
          <a:p>
            <a:r>
              <a:rPr lang="en-US" dirty="0"/>
              <a:t>#include &lt;iostream&gt;</a:t>
            </a:r>
          </a:p>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std::</a:t>
            </a:r>
            <a:r>
              <a:rPr lang="en-US" dirty="0" err="1"/>
              <a:t>cout</a:t>
            </a:r>
            <a:r>
              <a:rPr lang="en-US" dirty="0"/>
              <a:t> &lt;&lt; "</a:t>
            </a:r>
            <a:r>
              <a:rPr lang="en-US" dirty="0" err="1"/>
              <a:t>MyClass</a:t>
            </a:r>
            <a:r>
              <a:rPr lang="en-US" dirty="0"/>
              <a:t>(" &lt;&lt; value &lt;&lt; ") created\n";</a:t>
            </a:r>
          </a:p>
          <a:p>
            <a:r>
              <a:rPr lang="en-US" dirty="0"/>
              <a:t>    }</a:t>
            </a:r>
          </a:p>
          <a:p>
            <a:r>
              <a:rPr lang="en-US" dirty="0"/>
              <a:t>    ~</a:t>
            </a:r>
            <a:r>
              <a:rPr lang="en-US" dirty="0" err="1"/>
              <a:t>MyClass</a:t>
            </a:r>
            <a:r>
              <a:rPr lang="en-US" dirty="0"/>
              <a:t>() {</a:t>
            </a:r>
          </a:p>
          <a:p>
            <a:r>
              <a:rPr lang="en-US" dirty="0"/>
              <a:t>        std::</a:t>
            </a:r>
            <a:r>
              <a:rPr lang="en-US" dirty="0" err="1"/>
              <a:t>cout</a:t>
            </a:r>
            <a:r>
              <a:rPr lang="en-US" dirty="0"/>
              <a:t> &lt;&lt; "</a:t>
            </a:r>
            <a:r>
              <a:rPr lang="en-US" dirty="0" err="1"/>
              <a:t>MyClass</a:t>
            </a:r>
            <a:r>
              <a:rPr lang="en-US" dirty="0"/>
              <a:t>(" &lt;&lt; value &lt;&lt; ") destroyed\n";</a:t>
            </a:r>
          </a:p>
          <a:p>
            <a:r>
              <a:rPr lang="en-US" dirty="0"/>
              <a:t>    }</a:t>
            </a:r>
          </a:p>
          <a:p>
            <a:r>
              <a:rPr lang="en-US" dirty="0"/>
              <a:t>};</a:t>
            </a:r>
          </a:p>
          <a:p>
            <a:endParaRPr lang="en-US" dirty="0"/>
          </a:p>
          <a:p>
            <a:r>
              <a:rPr lang="en-US" dirty="0"/>
              <a:t>int main() {</a:t>
            </a:r>
          </a:p>
          <a:p>
            <a:r>
              <a:rPr lang="en-US" dirty="0"/>
              <a:t>    std::</a:t>
            </a:r>
            <a:r>
              <a:rPr lang="en-US" dirty="0" err="1"/>
              <a:t>shared_ptr</a:t>
            </a:r>
            <a:r>
              <a:rPr lang="en-US" dirty="0"/>
              <a:t>&lt;</a:t>
            </a:r>
            <a:r>
              <a:rPr lang="en-US" dirty="0" err="1"/>
              <a:t>MyClass</a:t>
            </a:r>
            <a:r>
              <a:rPr lang="en-US" dirty="0"/>
              <a:t>&gt; ptr1 = 				std::</a:t>
            </a:r>
            <a:r>
              <a:rPr lang="en-US" dirty="0" err="1"/>
              <a:t>make_shared</a:t>
            </a:r>
            <a:r>
              <a:rPr lang="en-US" dirty="0"/>
              <a:t>&lt;</a:t>
            </a:r>
            <a:r>
              <a:rPr lang="en-US" dirty="0" err="1"/>
              <a:t>MyClass</a:t>
            </a:r>
            <a:r>
              <a:rPr lang="en-US" dirty="0"/>
              <a:t>&gt;(42);</a:t>
            </a:r>
          </a:p>
          <a:p>
            <a:r>
              <a:rPr lang="en-US" dirty="0"/>
              <a:t>    </a:t>
            </a:r>
          </a:p>
          <a:p>
            <a:r>
              <a:rPr lang="en-US" dirty="0"/>
              <a:t>    {</a:t>
            </a:r>
          </a:p>
          <a:p>
            <a:r>
              <a:rPr lang="en-US" dirty="0"/>
              <a:t>		std::</a:t>
            </a:r>
            <a:r>
              <a:rPr lang="en-US" dirty="0" err="1"/>
              <a:t>shared_ptr</a:t>
            </a:r>
            <a:r>
              <a:rPr lang="en-US" dirty="0"/>
              <a:t>&lt;</a:t>
            </a:r>
            <a:r>
              <a:rPr lang="en-US" dirty="0" err="1"/>
              <a:t>MyClass</a:t>
            </a:r>
            <a:r>
              <a:rPr lang="en-US" dirty="0"/>
              <a:t>&gt; ptr2 = ptr1;  // Shared ownership</a:t>
            </a:r>
          </a:p>
          <a:p>
            <a:r>
              <a:rPr lang="en-US" dirty="0"/>
              <a:t>        	std::</a:t>
            </a:r>
            <a:r>
              <a:rPr lang="en-US" dirty="0" err="1"/>
              <a:t>cout</a:t>
            </a:r>
            <a:r>
              <a:rPr lang="en-US" dirty="0"/>
              <a:t> &lt;&lt; "Value: " &lt;&lt; ptr2-&gt;value &lt;&lt; "\n";</a:t>
            </a:r>
          </a:p>
          <a:p>
            <a:r>
              <a:rPr lang="en-US" dirty="0"/>
              <a:t>	   	std::</a:t>
            </a:r>
            <a:r>
              <a:rPr lang="en-US" dirty="0" err="1"/>
              <a:t>cout</a:t>
            </a:r>
            <a:r>
              <a:rPr lang="en-US" dirty="0"/>
              <a:t> &lt;&lt; ptr1-&gt;value &lt;&lt; "\n";</a:t>
            </a:r>
          </a:p>
          <a:p>
            <a:r>
              <a:rPr lang="en-US" dirty="0"/>
              <a:t>    } // ptr2 goes out of scope</a:t>
            </a:r>
          </a:p>
          <a:p>
            <a:endParaRPr lang="en-US" dirty="0"/>
          </a:p>
          <a:p>
            <a:r>
              <a:rPr lang="en-US" dirty="0"/>
              <a:t>    std::</a:t>
            </a:r>
            <a:r>
              <a:rPr lang="en-US" dirty="0" err="1"/>
              <a:t>cout</a:t>
            </a:r>
            <a:r>
              <a:rPr lang="en-US" dirty="0"/>
              <a:t> &lt;&lt; ptr1-&gt;value &lt;&lt; "\n";</a:t>
            </a:r>
          </a:p>
          <a:p>
            <a:r>
              <a:rPr lang="en-US" dirty="0"/>
              <a:t>}  // ptr1 goes out of scope, and object is destroyed</a:t>
            </a:r>
          </a:p>
          <a:p>
            <a:endParaRPr lang="en-US" dirty="0"/>
          </a:p>
          <a:p>
            <a:endParaRPr lang="en-US" dirty="0"/>
          </a:p>
        </p:txBody>
      </p:sp>
      <p:sp>
        <p:nvSpPr>
          <p:cNvPr id="3" name="Title 2">
            <a:extLst>
              <a:ext uri="{FF2B5EF4-FFF2-40B4-BE49-F238E27FC236}">
                <a16:creationId xmlns:a16="http://schemas.microsoft.com/office/drawing/2014/main" id="{386E55A7-84B9-A519-E035-BFFC4D983006}"/>
              </a:ext>
            </a:extLst>
          </p:cNvPr>
          <p:cNvSpPr>
            <a:spLocks noGrp="1"/>
          </p:cNvSpPr>
          <p:nvPr>
            <p:ph type="title"/>
          </p:nvPr>
        </p:nvSpPr>
        <p:spPr/>
        <p:txBody>
          <a:bodyPr/>
          <a:lstStyle/>
          <a:p>
            <a:r>
              <a:rPr lang="en-US" dirty="0"/>
              <a:t>C++ smart pointers</a:t>
            </a:r>
          </a:p>
        </p:txBody>
      </p:sp>
      <p:sp>
        <p:nvSpPr>
          <p:cNvPr id="4" name="Content Placeholder 3">
            <a:extLst>
              <a:ext uri="{FF2B5EF4-FFF2-40B4-BE49-F238E27FC236}">
                <a16:creationId xmlns:a16="http://schemas.microsoft.com/office/drawing/2014/main" id="{23B902A9-A322-422C-B88B-05F0DB359D01}"/>
              </a:ext>
            </a:extLst>
          </p:cNvPr>
          <p:cNvSpPr>
            <a:spLocks noGrp="1"/>
          </p:cNvSpPr>
          <p:nvPr>
            <p:ph idx="13"/>
          </p:nvPr>
        </p:nvSpPr>
        <p:spPr/>
        <p:txBody>
          <a:bodyPr>
            <a:normAutofit/>
          </a:bodyPr>
          <a:lstStyle/>
          <a:p>
            <a:r>
              <a:rPr lang="en-US" dirty="0" err="1"/>
              <a:t>shared_ptr</a:t>
            </a:r>
            <a:endParaRPr lang="en-US" dirty="0"/>
          </a:p>
          <a:p>
            <a:pPr lvl="1"/>
            <a:r>
              <a:rPr lang="en-US" dirty="0"/>
              <a:t>Contains a reference to a shared heap object</a:t>
            </a:r>
          </a:p>
          <a:p>
            <a:pPr lvl="1"/>
            <a:r>
              <a:rPr lang="en-US" dirty="0"/>
              <a:t>Maintains a reference count, incremented for each reference to that object</a:t>
            </a:r>
          </a:p>
          <a:p>
            <a:pPr lvl="1"/>
            <a:r>
              <a:rPr lang="en-US" dirty="0"/>
              <a:t>Heap object automatically deleted when reference count becomes zero</a:t>
            </a:r>
          </a:p>
        </p:txBody>
      </p:sp>
      <p:sp>
        <p:nvSpPr>
          <p:cNvPr id="5" name="Rectangle 4">
            <a:extLst>
              <a:ext uri="{FF2B5EF4-FFF2-40B4-BE49-F238E27FC236}">
                <a16:creationId xmlns:a16="http://schemas.microsoft.com/office/drawing/2014/main" id="{5A28895D-DE62-A4D1-9166-2BB04E4119AD}"/>
              </a:ext>
            </a:extLst>
          </p:cNvPr>
          <p:cNvSpPr/>
          <p:nvPr/>
        </p:nvSpPr>
        <p:spPr>
          <a:xfrm>
            <a:off x="6347194" y="3429001"/>
            <a:ext cx="5292047" cy="68029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A2611D27-1251-00BC-7B7C-ADBC345905A5}"/>
              </a:ext>
            </a:extLst>
          </p:cNvPr>
          <p:cNvSpPr/>
          <p:nvPr/>
        </p:nvSpPr>
        <p:spPr>
          <a:xfrm>
            <a:off x="6347193" y="3994924"/>
            <a:ext cx="5292047" cy="113893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9263719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5989B-21C0-B5BC-4AAD-1BAF473395A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32E07B4-8C97-7651-2831-665CDA9587C2}"/>
              </a:ext>
            </a:extLst>
          </p:cNvPr>
          <p:cNvSpPr>
            <a:spLocks noGrp="1"/>
          </p:cNvSpPr>
          <p:nvPr>
            <p:ph idx="1"/>
          </p:nvPr>
        </p:nvSpPr>
        <p:spPr/>
        <p:txBody>
          <a:bodyPr>
            <a:normAutofit/>
          </a:bodyPr>
          <a:lstStyle/>
          <a:p>
            <a:r>
              <a:rPr lang="en-US" dirty="0"/>
              <a:t>#include &lt;iostream&gt;</a:t>
            </a:r>
          </a:p>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std::</a:t>
            </a:r>
            <a:r>
              <a:rPr lang="en-US" dirty="0" err="1"/>
              <a:t>cout</a:t>
            </a:r>
            <a:r>
              <a:rPr lang="en-US" dirty="0"/>
              <a:t> &lt;&lt; "</a:t>
            </a:r>
            <a:r>
              <a:rPr lang="en-US" dirty="0" err="1"/>
              <a:t>MyClass</a:t>
            </a:r>
            <a:r>
              <a:rPr lang="en-US" dirty="0"/>
              <a:t>(" &lt;&lt; value &lt;&lt; ") created\n";</a:t>
            </a:r>
          </a:p>
          <a:p>
            <a:r>
              <a:rPr lang="en-US" dirty="0"/>
              <a:t>    }</a:t>
            </a:r>
          </a:p>
          <a:p>
            <a:r>
              <a:rPr lang="en-US" dirty="0"/>
              <a:t>    ~</a:t>
            </a:r>
            <a:r>
              <a:rPr lang="en-US" dirty="0" err="1"/>
              <a:t>MyClass</a:t>
            </a:r>
            <a:r>
              <a:rPr lang="en-US" dirty="0"/>
              <a:t>() {</a:t>
            </a:r>
          </a:p>
          <a:p>
            <a:r>
              <a:rPr lang="en-US" dirty="0"/>
              <a:t>        std::</a:t>
            </a:r>
            <a:r>
              <a:rPr lang="en-US" dirty="0" err="1"/>
              <a:t>cout</a:t>
            </a:r>
            <a:r>
              <a:rPr lang="en-US" dirty="0"/>
              <a:t> &lt;&lt; "</a:t>
            </a:r>
            <a:r>
              <a:rPr lang="en-US" dirty="0" err="1"/>
              <a:t>MyClass</a:t>
            </a:r>
            <a:r>
              <a:rPr lang="en-US" dirty="0"/>
              <a:t>(" &lt;&lt; value &lt;&lt; ") destroyed\n";</a:t>
            </a:r>
          </a:p>
          <a:p>
            <a:r>
              <a:rPr lang="en-US" dirty="0"/>
              <a:t>    }</a:t>
            </a:r>
          </a:p>
          <a:p>
            <a:r>
              <a:rPr lang="en-US" dirty="0"/>
              <a:t>};</a:t>
            </a:r>
          </a:p>
          <a:p>
            <a:endParaRPr lang="en-US" dirty="0"/>
          </a:p>
          <a:p>
            <a:r>
              <a:rPr lang="en-US" dirty="0"/>
              <a:t>int main() {</a:t>
            </a:r>
          </a:p>
          <a:p>
            <a:r>
              <a:rPr lang="en-US" dirty="0"/>
              <a:t>    do {</a:t>
            </a:r>
          </a:p>
          <a:p>
            <a:r>
              <a:rPr lang="en-US" dirty="0"/>
              <a:t>		</a:t>
            </a:r>
            <a:r>
              <a:rPr lang="en-US" dirty="0" err="1"/>
              <a:t>MyClass</a:t>
            </a:r>
            <a:r>
              <a:rPr lang="en-US" dirty="0"/>
              <a:t>* </a:t>
            </a:r>
            <a:r>
              <a:rPr lang="en-US" dirty="0" err="1"/>
              <a:t>ptr</a:t>
            </a:r>
            <a:r>
              <a:rPr lang="en-US" dirty="0"/>
              <a:t> = new </a:t>
            </a:r>
            <a:r>
              <a:rPr lang="en-US" dirty="0" err="1"/>
              <a:t>MyClass</a:t>
            </a:r>
            <a:r>
              <a:rPr lang="en-US" dirty="0"/>
              <a:t>(100);</a:t>
            </a:r>
          </a:p>
          <a:p>
            <a:r>
              <a:rPr lang="en-US" dirty="0"/>
              <a:t>	} while (// user doesn’t enter q);</a:t>
            </a:r>
          </a:p>
          <a:p>
            <a:r>
              <a:rPr lang="en-US" dirty="0"/>
              <a:t>}</a:t>
            </a:r>
          </a:p>
          <a:p>
            <a:endParaRPr lang="en-US" dirty="0"/>
          </a:p>
          <a:p>
            <a:endParaRPr lang="en-US" dirty="0"/>
          </a:p>
        </p:txBody>
      </p:sp>
      <p:sp>
        <p:nvSpPr>
          <p:cNvPr id="4" name="Title 3">
            <a:extLst>
              <a:ext uri="{FF2B5EF4-FFF2-40B4-BE49-F238E27FC236}">
                <a16:creationId xmlns:a16="http://schemas.microsoft.com/office/drawing/2014/main" id="{1D8A4A08-439A-0DA9-1DF8-AC7040E407FD}"/>
              </a:ext>
            </a:extLst>
          </p:cNvPr>
          <p:cNvSpPr>
            <a:spLocks noGrp="1"/>
          </p:cNvSpPr>
          <p:nvPr>
            <p:ph type="title"/>
          </p:nvPr>
        </p:nvSpPr>
        <p:spPr/>
        <p:txBody>
          <a:bodyPr/>
          <a:lstStyle/>
          <a:p>
            <a:r>
              <a:rPr lang="en-US" dirty="0"/>
              <a:t>Memory leak</a:t>
            </a:r>
          </a:p>
        </p:txBody>
      </p:sp>
      <p:sp>
        <p:nvSpPr>
          <p:cNvPr id="2" name="Content Placeholder 1">
            <a:extLst>
              <a:ext uri="{FF2B5EF4-FFF2-40B4-BE49-F238E27FC236}">
                <a16:creationId xmlns:a16="http://schemas.microsoft.com/office/drawing/2014/main" id="{18E54B6D-11B9-3D18-3582-376DB1A24C39}"/>
              </a:ext>
            </a:extLst>
          </p:cNvPr>
          <p:cNvSpPr>
            <a:spLocks noGrp="1"/>
          </p:cNvSpPr>
          <p:nvPr>
            <p:ph idx="13"/>
          </p:nvPr>
        </p:nvSpPr>
        <p:spPr/>
        <p:txBody>
          <a:bodyPr>
            <a:normAutofit/>
          </a:bodyPr>
          <a:lstStyle/>
          <a:p>
            <a:r>
              <a:rPr lang="en-US" dirty="0"/>
              <a:t>Occurs when the pointer or reference goes out of scope, but the memory it was pointing to is not freed</a:t>
            </a:r>
          </a:p>
          <a:p>
            <a:r>
              <a:rPr lang="en-US" dirty="0"/>
              <a:t>Not a security issue </a:t>
            </a:r>
            <a:r>
              <a:rPr lang="en-US" i="1" dirty="0"/>
              <a:t>directly</a:t>
            </a:r>
          </a:p>
          <a:p>
            <a:r>
              <a:rPr lang="en-US" dirty="0"/>
              <a:t>Can result in </a:t>
            </a:r>
            <a:r>
              <a:rPr lang="en-US" b="1" i="1" dirty="0"/>
              <a:t>denial-of-service </a:t>
            </a:r>
            <a:r>
              <a:rPr lang="en-US" dirty="0"/>
              <a:t>errors </a:t>
            </a:r>
          </a:p>
        </p:txBody>
      </p:sp>
      <p:sp>
        <p:nvSpPr>
          <p:cNvPr id="3" name="Rectangle 2">
            <a:extLst>
              <a:ext uri="{FF2B5EF4-FFF2-40B4-BE49-F238E27FC236}">
                <a16:creationId xmlns:a16="http://schemas.microsoft.com/office/drawing/2014/main" id="{3B3B49BD-15F3-8F1C-5F5D-4DED11F4441B}"/>
              </a:ext>
            </a:extLst>
          </p:cNvPr>
          <p:cNvSpPr/>
          <p:nvPr/>
        </p:nvSpPr>
        <p:spPr>
          <a:xfrm>
            <a:off x="6347194" y="4715219"/>
            <a:ext cx="5292047" cy="870333"/>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938636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43315A8-B550-67B6-9F39-49A245152DD2}"/>
              </a:ext>
            </a:extLst>
          </p:cNvPr>
          <p:cNvSpPr>
            <a:spLocks noGrp="1"/>
          </p:cNvSpPr>
          <p:nvPr>
            <p:ph idx="1"/>
          </p:nvPr>
        </p:nvSpPr>
        <p:spPr/>
        <p:txBody>
          <a:bodyPr/>
          <a:lstStyle/>
          <a:p>
            <a:endParaRPr lang="en-US"/>
          </a:p>
        </p:txBody>
      </p:sp>
      <p:sp>
        <p:nvSpPr>
          <p:cNvPr id="6" name="Text Placeholder 5">
            <a:extLst>
              <a:ext uri="{FF2B5EF4-FFF2-40B4-BE49-F238E27FC236}">
                <a16:creationId xmlns:a16="http://schemas.microsoft.com/office/drawing/2014/main" id="{705E04C5-85FE-690D-1CA3-8E77FDAFF6B9}"/>
              </a:ext>
            </a:extLst>
          </p:cNvPr>
          <p:cNvSpPr>
            <a:spLocks noGrp="1"/>
          </p:cNvSpPr>
          <p:nvPr>
            <p:ph type="body" sz="quarter" idx="13"/>
          </p:nvPr>
        </p:nvSpPr>
        <p:spPr/>
        <p:txBody>
          <a:bodyPr/>
          <a:lstStyle/>
          <a:p>
            <a:r>
              <a:rPr lang="en-US" dirty="0"/>
              <a:t>Memory safety in Java </a:t>
            </a:r>
          </a:p>
          <a:p>
            <a:r>
              <a:rPr lang="en-US" sz="4000" dirty="0"/>
              <a:t>(and JS, Go, and to some extent Python)</a:t>
            </a:r>
          </a:p>
        </p:txBody>
      </p:sp>
    </p:spTree>
    <p:extLst>
      <p:ext uri="{BB962C8B-B14F-4D97-AF65-F5344CB8AC3E}">
        <p14:creationId xmlns:p14="http://schemas.microsoft.com/office/powerpoint/2010/main" val="3841160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D645C-2EE6-9DCD-D72D-C2A143B31E1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EDCC544-4843-D504-1EE6-D320C06C9A53}"/>
              </a:ext>
            </a:extLst>
          </p:cNvPr>
          <p:cNvSpPr>
            <a:spLocks noGrp="1"/>
          </p:cNvSpPr>
          <p:nvPr>
            <p:ph idx="1"/>
          </p:nvPr>
        </p:nvSpPr>
        <p:spPr>
          <a:xfrm>
            <a:off x="360607" y="785004"/>
            <a:ext cx="11449319" cy="5228933"/>
          </a:xfrm>
        </p:spPr>
        <p:txBody>
          <a:bodyPr/>
          <a:lstStyle/>
          <a:p>
            <a:r>
              <a:rPr lang="en-US" dirty="0"/>
              <a:t>Java compiler inserts bounds checks for array accesses that are inserted at runtime</a:t>
            </a:r>
          </a:p>
          <a:p>
            <a:pPr lvl="1"/>
            <a:endParaRPr lang="en-US" dirty="0"/>
          </a:p>
          <a:p>
            <a:pPr lvl="1"/>
            <a:endParaRPr lang="en-US" dirty="0"/>
          </a:p>
          <a:p>
            <a:pPr lvl="1"/>
            <a:endParaRPr lang="en-US" dirty="0"/>
          </a:p>
          <a:p>
            <a:pPr lvl="1"/>
            <a:endParaRPr lang="en-US" dirty="0"/>
          </a:p>
          <a:p>
            <a:pPr marL="230187" lvl="1" indent="0">
              <a:buNone/>
            </a:pPr>
            <a:endParaRPr lang="en-US" dirty="0"/>
          </a:p>
        </p:txBody>
      </p:sp>
      <p:sp>
        <p:nvSpPr>
          <p:cNvPr id="4" name="Title 3">
            <a:extLst>
              <a:ext uri="{FF2B5EF4-FFF2-40B4-BE49-F238E27FC236}">
                <a16:creationId xmlns:a16="http://schemas.microsoft.com/office/drawing/2014/main" id="{064FCF1C-AF1A-C415-E19A-FA08C8370DD8}"/>
              </a:ext>
            </a:extLst>
          </p:cNvPr>
          <p:cNvSpPr>
            <a:spLocks noGrp="1"/>
          </p:cNvSpPr>
          <p:nvPr>
            <p:ph type="title"/>
          </p:nvPr>
        </p:nvSpPr>
        <p:spPr/>
        <p:txBody>
          <a:bodyPr/>
          <a:lstStyle/>
          <a:p>
            <a:r>
              <a:rPr lang="en-US" dirty="0"/>
              <a:t>Spatial memory safety in Java</a:t>
            </a:r>
          </a:p>
        </p:txBody>
      </p:sp>
      <p:sp>
        <p:nvSpPr>
          <p:cNvPr id="7" name="TextBox 6">
            <a:extLst>
              <a:ext uri="{FF2B5EF4-FFF2-40B4-BE49-F238E27FC236}">
                <a16:creationId xmlns:a16="http://schemas.microsoft.com/office/drawing/2014/main" id="{D3F3A755-869D-E7A4-FCFA-6EA08AA3B4B8}"/>
              </a:ext>
            </a:extLst>
          </p:cNvPr>
          <p:cNvSpPr txBox="1"/>
          <p:nvPr/>
        </p:nvSpPr>
        <p:spPr>
          <a:xfrm>
            <a:off x="735525" y="2580073"/>
            <a:ext cx="5016270" cy="1077218"/>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p:txBody>
      </p:sp>
      <p:sp>
        <p:nvSpPr>
          <p:cNvPr id="8" name="TextBox 7">
            <a:extLst>
              <a:ext uri="{FF2B5EF4-FFF2-40B4-BE49-F238E27FC236}">
                <a16:creationId xmlns:a16="http://schemas.microsoft.com/office/drawing/2014/main" id="{F10BF208-247F-32C1-1622-98645DC3911B}"/>
              </a:ext>
            </a:extLst>
          </p:cNvPr>
          <p:cNvSpPr txBox="1"/>
          <p:nvPr/>
        </p:nvSpPr>
        <p:spPr>
          <a:xfrm>
            <a:off x="6252637" y="2690444"/>
            <a:ext cx="5310554" cy="2339102"/>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Integer.parseInt</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if (index &lt; </a:t>
            </a:r>
            <a:r>
              <a:rPr lang="en-US" sz="1600" dirty="0" err="1">
                <a:latin typeface="Consolas" panose="020B0609020204030204" pitchFamily="49" charset="0"/>
              </a:rPr>
              <a:t>arr.length</a:t>
            </a:r>
            <a:r>
              <a:rPr lang="en-US" sz="1600" dirty="0">
                <a:latin typeface="Consolas" panose="020B0609020204030204" pitchFamily="49" charset="0"/>
              </a:rPr>
              <a:t>) {</a:t>
            </a:r>
          </a:p>
          <a:p>
            <a:pPr lvl="1" indent="-455613"/>
            <a:r>
              <a:rPr lang="en-US" sz="1600" dirty="0">
                <a:latin typeface="Consolas" panose="020B0609020204030204" pitchFamily="49" charset="0"/>
              </a:rPr>
              <a:t>	</a:t>
            </a:r>
            <a:r>
              <a:rPr lang="en-US" sz="1600" dirty="0" err="1">
                <a:latin typeface="Consolas" panose="020B0609020204030204" pitchFamily="49" charset="0"/>
              </a:rPr>
              <a:t>System.out.println</a:t>
            </a:r>
            <a:r>
              <a:rPr lang="en-US" sz="1600" dirty="0">
                <a:latin typeface="Consolas" panose="020B0609020204030204" pitchFamily="49" charset="0"/>
              </a:rPr>
              <a:t>(</a:t>
            </a:r>
            <a:r>
              <a:rPr lang="en-US" sz="1600" dirty="0" err="1">
                <a:latin typeface="Consolas" panose="020B0609020204030204" pitchFamily="49" charset="0"/>
              </a:rPr>
              <a:t>arr</a:t>
            </a:r>
            <a:r>
              <a:rPr lang="en-US" sz="1600" dirty="0">
                <a:latin typeface="Consolas" panose="020B0609020204030204" pitchFamily="49" charset="0"/>
              </a:rPr>
              <a:t>[index]);</a:t>
            </a:r>
          </a:p>
          <a:p>
            <a:pPr lvl="1" indent="-455613"/>
            <a:r>
              <a:rPr lang="en-US" sz="1600" dirty="0">
                <a:latin typeface="Consolas" panose="020B0609020204030204" pitchFamily="49" charset="0"/>
              </a:rPr>
              <a:t>} else {</a:t>
            </a:r>
          </a:p>
          <a:p>
            <a:pPr lvl="1" indent="-455613"/>
            <a:r>
              <a:rPr lang="en-US" sz="1600" dirty="0">
                <a:latin typeface="Consolas" panose="020B0609020204030204" pitchFamily="49" charset="0"/>
              </a:rPr>
              <a:t>	throw new </a:t>
            </a:r>
            <a:r>
              <a:rPr lang="en-US" sz="1600" dirty="0" err="1">
                <a:latin typeface="Consolas" panose="020B0609020204030204" pitchFamily="49" charset="0"/>
              </a:rPr>
              <a:t>ArrayIndexOutOfBoundsException</a:t>
            </a:r>
            <a:r>
              <a:rPr lang="en-US" sz="1600" dirty="0">
                <a:latin typeface="Consolas" panose="020B0609020204030204" pitchFamily="49" charset="0"/>
              </a:rPr>
              <a:t>();</a:t>
            </a:r>
          </a:p>
          <a:p>
            <a:pPr lvl="1" indent="-455613"/>
            <a:r>
              <a:rPr lang="en-US" sz="1600" dirty="0">
                <a:latin typeface="Consolas" panose="020B0609020204030204" pitchFamily="49" charset="0"/>
              </a:rPr>
              <a:t>}</a:t>
            </a:r>
          </a:p>
        </p:txBody>
      </p:sp>
      <p:sp>
        <p:nvSpPr>
          <p:cNvPr id="9" name="TextBox 8">
            <a:extLst>
              <a:ext uri="{FF2B5EF4-FFF2-40B4-BE49-F238E27FC236}">
                <a16:creationId xmlns:a16="http://schemas.microsoft.com/office/drawing/2014/main" id="{C1541909-C789-77A4-26B3-3CFA3702F35A}"/>
              </a:ext>
            </a:extLst>
          </p:cNvPr>
          <p:cNvSpPr txBox="1"/>
          <p:nvPr/>
        </p:nvSpPr>
        <p:spPr>
          <a:xfrm>
            <a:off x="1622022" y="1933743"/>
            <a:ext cx="2517356" cy="461665"/>
          </a:xfrm>
          <a:prstGeom prst="rect">
            <a:avLst/>
          </a:prstGeom>
          <a:noFill/>
        </p:spPr>
        <p:txBody>
          <a:bodyPr wrap="none" rtlCol="0">
            <a:spAutoFit/>
          </a:bodyPr>
          <a:lstStyle/>
          <a:p>
            <a:r>
              <a:rPr lang="en-US" sz="2400" b="1" i="1" dirty="0"/>
              <a:t>Original Java code</a:t>
            </a:r>
          </a:p>
        </p:txBody>
      </p:sp>
      <p:sp>
        <p:nvSpPr>
          <p:cNvPr id="10" name="TextBox 9">
            <a:extLst>
              <a:ext uri="{FF2B5EF4-FFF2-40B4-BE49-F238E27FC236}">
                <a16:creationId xmlns:a16="http://schemas.microsoft.com/office/drawing/2014/main" id="{D73377F5-842B-2B8A-1AFB-8E8E3703EDCF}"/>
              </a:ext>
            </a:extLst>
          </p:cNvPr>
          <p:cNvSpPr txBox="1"/>
          <p:nvPr/>
        </p:nvSpPr>
        <p:spPr>
          <a:xfrm>
            <a:off x="6440206" y="1749076"/>
            <a:ext cx="4374467" cy="830997"/>
          </a:xfrm>
          <a:prstGeom prst="rect">
            <a:avLst/>
          </a:prstGeom>
          <a:noFill/>
        </p:spPr>
        <p:txBody>
          <a:bodyPr wrap="none" rtlCol="0">
            <a:spAutoFit/>
          </a:bodyPr>
          <a:lstStyle/>
          <a:p>
            <a:pPr algn="ctr"/>
            <a:r>
              <a:rPr lang="en-US" sz="2400" b="1" i="1" dirty="0"/>
              <a:t>Pseudo-code after Java compiler </a:t>
            </a:r>
          </a:p>
          <a:p>
            <a:pPr algn="ctr"/>
            <a:r>
              <a:rPr lang="en-US" sz="2400" b="1" i="1" dirty="0"/>
              <a:t>inserts checks</a:t>
            </a:r>
          </a:p>
        </p:txBody>
      </p:sp>
      <p:sp>
        <p:nvSpPr>
          <p:cNvPr id="11" name="Rectangle 10">
            <a:extLst>
              <a:ext uri="{FF2B5EF4-FFF2-40B4-BE49-F238E27FC236}">
                <a16:creationId xmlns:a16="http://schemas.microsoft.com/office/drawing/2014/main" id="{209CE58C-A9A3-A50E-3370-35DC08E9D562}"/>
              </a:ext>
            </a:extLst>
          </p:cNvPr>
          <p:cNvSpPr/>
          <p:nvPr/>
        </p:nvSpPr>
        <p:spPr>
          <a:xfrm>
            <a:off x="6252637" y="3461411"/>
            <a:ext cx="4360985" cy="3283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12464108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5533F-4D68-6356-5E13-B43E17DF94E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68BFAFF-EAA5-F73B-52D0-A5DC444883FE}"/>
              </a:ext>
            </a:extLst>
          </p:cNvPr>
          <p:cNvSpPr>
            <a:spLocks noGrp="1"/>
          </p:cNvSpPr>
          <p:nvPr>
            <p:ph idx="1"/>
          </p:nvPr>
        </p:nvSpPr>
        <p:spPr/>
        <p:txBody>
          <a:bodyPr>
            <a:normAutofit/>
          </a:bodyPr>
          <a:lstStyle/>
          <a:p>
            <a:r>
              <a:rPr lang="en-US" dirty="0"/>
              <a:t>Automatic memory management</a:t>
            </a:r>
          </a:p>
          <a:p>
            <a:r>
              <a:rPr lang="en-US" dirty="0"/>
              <a:t>Heap objects created using </a:t>
            </a:r>
            <a:r>
              <a:rPr lang="en-US" dirty="0">
                <a:latin typeface="Consolas" panose="020B0609020204030204" pitchFamily="49" charset="0"/>
              </a:rPr>
              <a:t>new</a:t>
            </a:r>
            <a:endParaRPr lang="en-US" dirty="0">
              <a:latin typeface="Helvetica" panose="020B0604020202020204" pitchFamily="34" charset="0"/>
              <a:cs typeface="Helvetica" panose="020B0604020202020204" pitchFamily="34" charset="0"/>
            </a:endParaRPr>
          </a:p>
          <a:p>
            <a:pPr lvl="1"/>
            <a:r>
              <a:rPr lang="en-US" dirty="0">
                <a:latin typeface="Helvetica" panose="020B0604020202020204" pitchFamily="34" charset="0"/>
                <a:cs typeface="Helvetica" panose="020B0604020202020204" pitchFamily="34" charset="0"/>
              </a:rPr>
              <a:t>E.g. </a:t>
            </a:r>
            <a:r>
              <a:rPr lang="en-US" dirty="0">
                <a:latin typeface="Consolas" panose="020B0609020204030204" pitchFamily="49" charset="0"/>
                <a:cs typeface="Helvetica" panose="020B0604020202020204" pitchFamily="34" charset="0"/>
              </a:rPr>
              <a:t>Car c = new Car();</a:t>
            </a:r>
          </a:p>
          <a:p>
            <a:r>
              <a:rPr lang="en-US" dirty="0">
                <a:latin typeface="Helvetica" panose="020B0604020202020204" pitchFamily="34" charset="0"/>
                <a:cs typeface="Helvetica" panose="020B0604020202020204" pitchFamily="34" charset="0"/>
              </a:rPr>
              <a:t>Heap objects are automatically freed when no valid reference remain to them</a:t>
            </a:r>
          </a:p>
          <a:p>
            <a:r>
              <a:rPr lang="en-US" dirty="0">
                <a:latin typeface="Helvetica" panose="020B0604020202020204" pitchFamily="34" charset="0"/>
                <a:cs typeface="Helvetica" panose="020B0604020202020204" pitchFamily="34" charset="0"/>
              </a:rPr>
              <a:t>“Garbage collection”</a:t>
            </a:r>
          </a:p>
          <a:p>
            <a:r>
              <a:rPr lang="en-US" b="1" i="1" dirty="0">
                <a:latin typeface="Helvetica" panose="020B0604020202020204" pitchFamily="34" charset="0"/>
                <a:cs typeface="Helvetica" panose="020B0604020202020204" pitchFamily="34" charset="0"/>
              </a:rPr>
              <a:t>No smart pointers</a:t>
            </a:r>
          </a:p>
          <a:p>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F09D74A-8547-C212-5106-94386922C329}"/>
              </a:ext>
            </a:extLst>
          </p:cNvPr>
          <p:cNvSpPr>
            <a:spLocks noGrp="1"/>
          </p:cNvSpPr>
          <p:nvPr>
            <p:ph type="title"/>
          </p:nvPr>
        </p:nvSpPr>
        <p:spPr/>
        <p:txBody>
          <a:bodyPr/>
          <a:lstStyle/>
          <a:p>
            <a:r>
              <a:rPr lang="en-US" dirty="0"/>
              <a:t>Temporal memory safety in Java</a:t>
            </a:r>
          </a:p>
        </p:txBody>
      </p:sp>
    </p:spTree>
    <p:extLst>
      <p:ext uri="{BB962C8B-B14F-4D97-AF65-F5344CB8AC3E}">
        <p14:creationId xmlns:p14="http://schemas.microsoft.com/office/powerpoint/2010/main" val="108613373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A8F48-81E3-22FE-F75A-C672482E120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B68C019-CFB0-EA37-569B-78E10E5325DD}"/>
              </a:ext>
            </a:extLst>
          </p:cNvPr>
          <p:cNvSpPr>
            <a:spLocks noGrp="1"/>
          </p:cNvSpPr>
          <p:nvPr>
            <p:ph idx="1"/>
          </p:nvPr>
        </p:nvSpPr>
        <p:spPr/>
        <p:txBody>
          <a:bodyPr>
            <a:normAutofit/>
          </a:bodyPr>
          <a:lstStyle/>
          <a:p>
            <a:r>
              <a:rPr lang="en-US" dirty="0"/>
              <a:t>A process of automatic memory management for dynamically allocated memory</a:t>
            </a:r>
          </a:p>
          <a:p>
            <a:r>
              <a:rPr lang="en-US" dirty="0"/>
              <a:t>Java runtime maintains object reachability graph</a:t>
            </a:r>
          </a:p>
          <a:p>
            <a:r>
              <a:rPr lang="en-US" b="1" dirty="0"/>
              <a:t>Garbage</a:t>
            </a:r>
            <a:r>
              <a:rPr lang="en-US" dirty="0"/>
              <a:t>: Objects no longer reachable or usable by the program</a:t>
            </a:r>
            <a:endParaRPr lang="en-US" dirty="0">
              <a:latin typeface="Helvetica" panose="020B0604020202020204" pitchFamily="34" charset="0"/>
              <a:cs typeface="Helvetica" panose="020B0604020202020204" pitchFamily="34" charset="0"/>
            </a:endParaRPr>
          </a:p>
          <a:p>
            <a:pPr lvl="1"/>
            <a:r>
              <a:rPr lang="en-US" dirty="0"/>
              <a:t>Once an object is classified as “garbage” it is automatically reclaimed by a </a:t>
            </a:r>
            <a:r>
              <a:rPr lang="en-US" i="1" dirty="0"/>
              <a:t>garbage collector </a:t>
            </a:r>
            <a:r>
              <a:rPr lang="en-US" dirty="0"/>
              <a:t>thread</a:t>
            </a:r>
          </a:p>
          <a:p>
            <a:r>
              <a:rPr lang="en-US" dirty="0"/>
              <a:t>Prevents both dangling pointers and memory leaks</a:t>
            </a:r>
          </a:p>
          <a:p>
            <a:r>
              <a:rPr lang="en-US" dirty="0"/>
              <a:t>Many possible algorithms – e.g., Mark and Sweep</a:t>
            </a:r>
          </a:p>
        </p:txBody>
      </p:sp>
      <p:sp>
        <p:nvSpPr>
          <p:cNvPr id="4" name="Title 3">
            <a:extLst>
              <a:ext uri="{FF2B5EF4-FFF2-40B4-BE49-F238E27FC236}">
                <a16:creationId xmlns:a16="http://schemas.microsoft.com/office/drawing/2014/main" id="{B5A448DB-7A23-0486-3A11-22488E36FEBF}"/>
              </a:ext>
            </a:extLst>
          </p:cNvPr>
          <p:cNvSpPr>
            <a:spLocks noGrp="1"/>
          </p:cNvSpPr>
          <p:nvPr>
            <p:ph type="title"/>
          </p:nvPr>
        </p:nvSpPr>
        <p:spPr/>
        <p:txBody>
          <a:bodyPr/>
          <a:lstStyle/>
          <a:p>
            <a:r>
              <a:rPr lang="en-US" dirty="0"/>
              <a:t>Garbage collection</a:t>
            </a:r>
          </a:p>
        </p:txBody>
      </p:sp>
    </p:spTree>
    <p:extLst>
      <p:ext uri="{BB962C8B-B14F-4D97-AF65-F5344CB8AC3E}">
        <p14:creationId xmlns:p14="http://schemas.microsoft.com/office/powerpoint/2010/main" val="5984437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F7637-2E88-2CC4-D876-ADF557F3EFA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02656B5-61BE-AD53-76D7-267B6351BB64}"/>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AABA3EFE-B748-ED34-9BA1-80F84728144B}"/>
              </a:ext>
            </a:extLst>
          </p:cNvPr>
          <p:cNvSpPr>
            <a:spLocks noGrp="1"/>
          </p:cNvSpPr>
          <p:nvPr>
            <p:ph type="title"/>
          </p:nvPr>
        </p:nvSpPr>
        <p:spPr/>
        <p:txBody>
          <a:bodyPr/>
          <a:lstStyle/>
          <a:p>
            <a:r>
              <a:rPr lang="en-US" dirty="0"/>
              <a:t>Mark and Sweep algorithm</a:t>
            </a:r>
          </a:p>
        </p:txBody>
      </p:sp>
      <p:sp>
        <p:nvSpPr>
          <p:cNvPr id="67" name="Content Placeholder 66">
            <a:extLst>
              <a:ext uri="{FF2B5EF4-FFF2-40B4-BE49-F238E27FC236}">
                <a16:creationId xmlns:a16="http://schemas.microsoft.com/office/drawing/2014/main" id="{A3EFE24B-2FFB-58FC-722A-F87A7E5A9A2A}"/>
              </a:ext>
            </a:extLst>
          </p:cNvPr>
          <p:cNvSpPr>
            <a:spLocks noGrp="1"/>
          </p:cNvSpPr>
          <p:nvPr>
            <p:ph idx="13"/>
          </p:nvPr>
        </p:nvSpPr>
        <p:spPr/>
        <p:txBody>
          <a:bodyPr/>
          <a:lstStyle/>
          <a:p>
            <a:r>
              <a:rPr lang="en-US" dirty="0"/>
              <a:t>Root node tracks all variables in scope</a:t>
            </a:r>
          </a:p>
        </p:txBody>
      </p:sp>
      <p:sp>
        <p:nvSpPr>
          <p:cNvPr id="6" name="Rectangle 5">
            <a:extLst>
              <a:ext uri="{FF2B5EF4-FFF2-40B4-BE49-F238E27FC236}">
                <a16:creationId xmlns:a16="http://schemas.microsoft.com/office/drawing/2014/main" id="{5D91FD8B-F92A-22D4-9E1A-765B19268FCB}"/>
              </a:ext>
            </a:extLst>
          </p:cNvPr>
          <p:cNvSpPr/>
          <p:nvPr/>
        </p:nvSpPr>
        <p:spPr>
          <a:xfrm>
            <a:off x="6252635" y="2469157"/>
            <a:ext cx="5304057" cy="37457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CDB11BF6-4487-4E91-9BC7-0F44E8C82C5E}"/>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C913246C-760D-EBE0-1F49-EDE1AE6D4A9D}"/>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9" name="Rectangle 8">
            <a:extLst>
              <a:ext uri="{FF2B5EF4-FFF2-40B4-BE49-F238E27FC236}">
                <a16:creationId xmlns:a16="http://schemas.microsoft.com/office/drawing/2014/main" id="{F92E2FD1-8F8E-6509-45E3-CABEEB099E07}"/>
              </a:ext>
            </a:extLst>
          </p:cNvPr>
          <p:cNvSpPr/>
          <p:nvPr/>
        </p:nvSpPr>
        <p:spPr>
          <a:xfrm>
            <a:off x="6252635" y="2774186"/>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0" name="Rectangle 9">
            <a:extLst>
              <a:ext uri="{FF2B5EF4-FFF2-40B4-BE49-F238E27FC236}">
                <a16:creationId xmlns:a16="http://schemas.microsoft.com/office/drawing/2014/main" id="{0ED5C99E-731B-A1E6-7293-D6506AE2A944}"/>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1" name="Rectangle 10">
            <a:extLst>
              <a:ext uri="{FF2B5EF4-FFF2-40B4-BE49-F238E27FC236}">
                <a16:creationId xmlns:a16="http://schemas.microsoft.com/office/drawing/2014/main" id="{17BAE0FD-56F2-72A4-991A-A88175C44202}"/>
              </a:ext>
            </a:extLst>
          </p:cNvPr>
          <p:cNvSpPr/>
          <p:nvPr/>
        </p:nvSpPr>
        <p:spPr>
          <a:xfrm>
            <a:off x="6252634" y="3047537"/>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2" name="Rectangle 11">
            <a:extLst>
              <a:ext uri="{FF2B5EF4-FFF2-40B4-BE49-F238E27FC236}">
                <a16:creationId xmlns:a16="http://schemas.microsoft.com/office/drawing/2014/main" id="{9F688241-78C0-79D2-AB7A-1635E844BC3B}"/>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75CE6051-0FA3-9CD4-EB64-E256CA26F7BA}"/>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sp>
        <p:nvSpPr>
          <p:cNvPr id="14" name="Rectangle 13">
            <a:extLst>
              <a:ext uri="{FF2B5EF4-FFF2-40B4-BE49-F238E27FC236}">
                <a16:creationId xmlns:a16="http://schemas.microsoft.com/office/drawing/2014/main" id="{904DBDE3-E73B-1EB4-A6DC-89CCBF9EDBD8}"/>
              </a:ext>
            </a:extLst>
          </p:cNvPr>
          <p:cNvSpPr/>
          <p:nvPr/>
        </p:nvSpPr>
        <p:spPr>
          <a:xfrm>
            <a:off x="6252633" y="3189385"/>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5" name="Rectangle 14">
            <a:extLst>
              <a:ext uri="{FF2B5EF4-FFF2-40B4-BE49-F238E27FC236}">
                <a16:creationId xmlns:a16="http://schemas.microsoft.com/office/drawing/2014/main" id="{CAEC3C4B-9850-1FFB-EDB3-6E90E3996120}"/>
              </a:ext>
            </a:extLst>
          </p:cNvPr>
          <p:cNvSpPr/>
          <p:nvPr/>
        </p:nvSpPr>
        <p:spPr>
          <a:xfrm>
            <a:off x="6252632" y="3359649"/>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DCC2544D-6981-624B-0C3F-EED761565C5E}"/>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4B8B4CC5-C195-102B-6291-F47B1A267334}"/>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ED511BEC-ABA1-9283-0C47-D03A4D3AD33A}"/>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15CAA239-3522-5CF9-B047-8B9C45632EA2}"/>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sp>
        <p:nvSpPr>
          <p:cNvPr id="30" name="Rectangle 29">
            <a:extLst>
              <a:ext uri="{FF2B5EF4-FFF2-40B4-BE49-F238E27FC236}">
                <a16:creationId xmlns:a16="http://schemas.microsoft.com/office/drawing/2014/main" id="{63F2C0E9-DAE8-3BFF-B925-86ABC7698B93}"/>
              </a:ext>
            </a:extLst>
          </p:cNvPr>
          <p:cNvSpPr/>
          <p:nvPr/>
        </p:nvSpPr>
        <p:spPr>
          <a:xfrm>
            <a:off x="6252631" y="3557076"/>
            <a:ext cx="5227937" cy="696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86B10566-C46F-B303-47DF-EAFF852B1556}"/>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37EA3A5A-FE52-9759-B909-3B57264AAA4D}"/>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AC295B20-000F-E2CC-2A3D-3CF10F1F51DD}"/>
              </a:ext>
            </a:extLst>
          </p:cNvPr>
          <p:cNvSpPr/>
          <p:nvPr/>
        </p:nvSpPr>
        <p:spPr>
          <a:xfrm rot="10800000">
            <a:off x="8944201" y="4753724"/>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1176B10A-7D1A-BE40-A803-93A54AB69ED6}"/>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BD3EE852-CFF9-1212-894F-A5C79E8FC1E8}"/>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035C08F5-AEB5-8EA5-AB08-69E707C30D8C}"/>
              </a:ext>
            </a:extLst>
          </p:cNvPr>
          <p:cNvCxnSpPr>
            <a:cxnSpLocks/>
            <a:stCxn id="41" idx="0"/>
            <a:endCxn id="8" idx="2"/>
          </p:cNvCxnSpPr>
          <p:nvPr/>
        </p:nvCxnSpPr>
        <p:spPr>
          <a:xfrm flipV="1">
            <a:off x="1193329" y="3551566"/>
            <a:ext cx="227652" cy="157673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Curved 50">
            <a:extLst>
              <a:ext uri="{FF2B5EF4-FFF2-40B4-BE49-F238E27FC236}">
                <a16:creationId xmlns:a16="http://schemas.microsoft.com/office/drawing/2014/main" id="{4C3E04E2-375C-974E-04BF-40B608610F1F}"/>
              </a:ext>
            </a:extLst>
          </p:cNvPr>
          <p:cNvCxnSpPr>
            <a:stCxn id="41" idx="0"/>
            <a:endCxn id="13" idx="2"/>
          </p:cNvCxnSpPr>
          <p:nvPr/>
        </p:nvCxnSpPr>
        <p:spPr>
          <a:xfrm rot="5400000" flipH="1" flipV="1">
            <a:off x="1914703" y="2830193"/>
            <a:ext cx="1576731" cy="3019478"/>
          </a:xfrm>
          <a:prstGeom prst="curvedConnector3">
            <a:avLst>
              <a:gd name="adj1" fmla="val 8077"/>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Connector: Curved 52">
            <a:extLst>
              <a:ext uri="{FF2B5EF4-FFF2-40B4-BE49-F238E27FC236}">
                <a16:creationId xmlns:a16="http://schemas.microsoft.com/office/drawing/2014/main" id="{2E157BE0-8F9C-AA4B-70C7-F0C6F6542431}"/>
              </a:ext>
            </a:extLst>
          </p:cNvPr>
          <p:cNvCxnSpPr>
            <a:cxnSpLocks/>
            <a:endCxn id="12" idx="2"/>
          </p:cNvCxnSpPr>
          <p:nvPr/>
        </p:nvCxnSpPr>
        <p:spPr>
          <a:xfrm rot="5400000" flipH="1" flipV="1">
            <a:off x="1116990" y="3635526"/>
            <a:ext cx="1576730" cy="1408811"/>
          </a:xfrm>
          <a:prstGeom prst="curvedConnector3">
            <a:avLst>
              <a:gd name="adj1" fmla="val 50000"/>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or: Curved 55">
            <a:extLst>
              <a:ext uri="{FF2B5EF4-FFF2-40B4-BE49-F238E27FC236}">
                <a16:creationId xmlns:a16="http://schemas.microsoft.com/office/drawing/2014/main" id="{DC73EAA5-9FA7-F493-D7B7-571665436011}"/>
              </a:ext>
            </a:extLst>
          </p:cNvPr>
          <p:cNvCxnSpPr>
            <a:cxnSpLocks/>
            <a:stCxn id="41" idx="0"/>
            <a:endCxn id="7" idx="0"/>
          </p:cNvCxnSpPr>
          <p:nvPr/>
        </p:nvCxnSpPr>
        <p:spPr>
          <a:xfrm rot="5400000" flipH="1" flipV="1">
            <a:off x="13849" y="3108811"/>
            <a:ext cx="3198967" cy="840006"/>
          </a:xfrm>
          <a:prstGeom prst="curvedConnector3">
            <a:avLst>
              <a:gd name="adj1" fmla="val 107146"/>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Curved 62">
            <a:extLst>
              <a:ext uri="{FF2B5EF4-FFF2-40B4-BE49-F238E27FC236}">
                <a16:creationId xmlns:a16="http://schemas.microsoft.com/office/drawing/2014/main" id="{07A92A3E-3DDF-FCB1-161A-6AD8B27665EE}"/>
              </a:ext>
            </a:extLst>
          </p:cNvPr>
          <p:cNvCxnSpPr>
            <a:cxnSpLocks/>
            <a:stCxn id="41" idx="3"/>
            <a:endCxn id="10" idx="2"/>
          </p:cNvCxnSpPr>
          <p:nvPr/>
        </p:nvCxnSpPr>
        <p:spPr>
          <a:xfrm flipV="1">
            <a:off x="1696402" y="2469156"/>
            <a:ext cx="2174914" cy="2929055"/>
          </a:xfrm>
          <a:prstGeom prst="curvedConnector2">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407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9"/>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1"/>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14"/>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5"/>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12"/>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2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53"/>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1" nodeType="clickEffect">
                                  <p:stCondLst>
                                    <p:cond delay="0"/>
                                  </p:stCondLst>
                                  <p:childTnLst>
                                    <p:set>
                                      <p:cBhvr>
                                        <p:cTn id="78" dur="1" fill="hold">
                                          <p:stCondLst>
                                            <p:cond delay="0"/>
                                          </p:stCondLst>
                                        </p:cTn>
                                        <p:tgtEl>
                                          <p:spTgt spid="15"/>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30"/>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29"/>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42"/>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31"/>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34"/>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xit" presetSubtype="0" fill="hold" grpId="1" nodeType="clickEffect">
                                  <p:stCondLst>
                                    <p:cond delay="0"/>
                                  </p:stCondLst>
                                  <p:childTnLst>
                                    <p:set>
                                      <p:cBhvr>
                                        <p:cTn id="96" dur="1" fill="hold">
                                          <p:stCondLst>
                                            <p:cond delay="0"/>
                                          </p:stCondLst>
                                        </p:cTn>
                                        <p:tgtEl>
                                          <p:spTgt spid="3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8" grpId="0" animBg="1"/>
      <p:bldP spid="9" grpId="0" animBg="1"/>
      <p:bldP spid="9" grpId="1" animBg="1"/>
      <p:bldP spid="10" grpId="0" animBg="1"/>
      <p:bldP spid="11" grpId="0" animBg="1"/>
      <p:bldP spid="11" grpId="1" animBg="1"/>
      <p:bldP spid="12" grpId="0" animBg="1"/>
      <p:bldP spid="13" grpId="0" animBg="1"/>
      <p:bldP spid="14" grpId="0" animBg="1"/>
      <p:bldP spid="14" grpId="1" animBg="1"/>
      <p:bldP spid="15" grpId="0" animBg="1"/>
      <p:bldP spid="15" grpId="1" animBg="1"/>
      <p:bldP spid="29" grpId="0" animBg="1"/>
      <p:bldP spid="30" grpId="0" animBg="1"/>
      <p:bldP spid="30" grpId="1" animBg="1"/>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2537F-65D7-065F-DEA4-1FA47606807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E645D13-C4CF-02DB-2FA3-39FCDCD4F48C}"/>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5840BCF1-9853-B1BD-587B-C8891FE53DC2}"/>
              </a:ext>
            </a:extLst>
          </p:cNvPr>
          <p:cNvSpPr>
            <a:spLocks noGrp="1"/>
          </p:cNvSpPr>
          <p:nvPr>
            <p:ph type="title"/>
          </p:nvPr>
        </p:nvSpPr>
        <p:spPr/>
        <p:txBody>
          <a:bodyPr/>
          <a:lstStyle/>
          <a:p>
            <a:r>
              <a:rPr lang="en-US" dirty="0"/>
              <a:t>Mark and Sweep algorithm</a:t>
            </a:r>
          </a:p>
        </p:txBody>
      </p:sp>
      <p:sp>
        <p:nvSpPr>
          <p:cNvPr id="2" name="Content Placeholder 1">
            <a:extLst>
              <a:ext uri="{FF2B5EF4-FFF2-40B4-BE49-F238E27FC236}">
                <a16:creationId xmlns:a16="http://schemas.microsoft.com/office/drawing/2014/main" id="{706748AB-1622-5A3B-EAF2-0693CEAD12A7}"/>
              </a:ext>
            </a:extLst>
          </p:cNvPr>
          <p:cNvSpPr>
            <a:spLocks noGrp="1"/>
          </p:cNvSpPr>
          <p:nvPr>
            <p:ph idx="13"/>
          </p:nvPr>
        </p:nvSpPr>
        <p:spPr/>
        <p:txBody>
          <a:bodyPr/>
          <a:lstStyle/>
          <a:p>
            <a:r>
              <a:rPr lang="en-US" dirty="0"/>
              <a:t>Root node tracks all variables in scope</a:t>
            </a:r>
          </a:p>
        </p:txBody>
      </p:sp>
      <p:sp>
        <p:nvSpPr>
          <p:cNvPr id="7" name="Rectangle 6">
            <a:extLst>
              <a:ext uri="{FF2B5EF4-FFF2-40B4-BE49-F238E27FC236}">
                <a16:creationId xmlns:a16="http://schemas.microsoft.com/office/drawing/2014/main" id="{41AC8A73-EAD5-3FC9-84D2-EABD7A5DC455}"/>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35B84149-90C7-CE4B-A08D-AA6AB53BF5A4}"/>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10" name="Rectangle 9">
            <a:extLst>
              <a:ext uri="{FF2B5EF4-FFF2-40B4-BE49-F238E27FC236}">
                <a16:creationId xmlns:a16="http://schemas.microsoft.com/office/drawing/2014/main" id="{414B50F4-7C47-DCED-C05E-DFFCAEC4D8B7}"/>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2" name="Rectangle 11">
            <a:extLst>
              <a:ext uri="{FF2B5EF4-FFF2-40B4-BE49-F238E27FC236}">
                <a16:creationId xmlns:a16="http://schemas.microsoft.com/office/drawing/2014/main" id="{E432A10B-3C4F-2578-5087-B6B427C32738}"/>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D72DB538-99CA-B87B-8518-BF60C97076A5}"/>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cxnSp>
        <p:nvCxnSpPr>
          <p:cNvPr id="17" name="Straight Arrow Connector 16">
            <a:extLst>
              <a:ext uri="{FF2B5EF4-FFF2-40B4-BE49-F238E27FC236}">
                <a16:creationId xmlns:a16="http://schemas.microsoft.com/office/drawing/2014/main" id="{D1E51000-3615-7BF9-D815-80C920E9562D}"/>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25D1074-82C2-A88C-1870-795E1FD3F7CF}"/>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CE34679-765B-7BB3-E046-88A643069EE8}"/>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2CDAEFA4-6BC7-6869-B643-58D93775E134}"/>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cxnSp>
        <p:nvCxnSpPr>
          <p:cNvPr id="31" name="Straight Arrow Connector 30">
            <a:extLst>
              <a:ext uri="{FF2B5EF4-FFF2-40B4-BE49-F238E27FC236}">
                <a16:creationId xmlns:a16="http://schemas.microsoft.com/office/drawing/2014/main" id="{BD294C91-8A31-686C-9069-0F6373B795ED}"/>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7303A4C-A5A7-1E30-38B9-7F3D0BACD65F}"/>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A4133957-1EB1-E1E2-5F8D-5342BAE8AE4A}"/>
              </a:ext>
            </a:extLst>
          </p:cNvPr>
          <p:cNvSpPr/>
          <p:nvPr/>
        </p:nvSpPr>
        <p:spPr>
          <a:xfrm rot="10800000">
            <a:off x="8866599" y="4915535"/>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16512C0-AC43-AC4A-B823-F2189266F72F}"/>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CE3CE7A8-B4D4-B8A1-0422-66EC66439B53}"/>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C77EEBCC-5E2E-A240-ACF1-375BEB546180}"/>
              </a:ext>
            </a:extLst>
          </p:cNvPr>
          <p:cNvCxnSpPr>
            <a:cxnSpLocks/>
            <a:stCxn id="41" idx="0"/>
            <a:endCxn id="8" idx="2"/>
          </p:cNvCxnSpPr>
          <p:nvPr/>
        </p:nvCxnSpPr>
        <p:spPr>
          <a:xfrm flipV="1">
            <a:off x="1193329" y="3551566"/>
            <a:ext cx="227652" cy="157673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Curved 50">
            <a:extLst>
              <a:ext uri="{FF2B5EF4-FFF2-40B4-BE49-F238E27FC236}">
                <a16:creationId xmlns:a16="http://schemas.microsoft.com/office/drawing/2014/main" id="{FDD57CA8-DA5A-DFB9-B346-872F1FA375C7}"/>
              </a:ext>
            </a:extLst>
          </p:cNvPr>
          <p:cNvCxnSpPr>
            <a:stCxn id="41" idx="0"/>
            <a:endCxn id="13" idx="2"/>
          </p:cNvCxnSpPr>
          <p:nvPr/>
        </p:nvCxnSpPr>
        <p:spPr>
          <a:xfrm rot="5400000" flipH="1" flipV="1">
            <a:off x="1914703" y="2830193"/>
            <a:ext cx="1576731" cy="3019478"/>
          </a:xfrm>
          <a:prstGeom prst="curvedConnector3">
            <a:avLst>
              <a:gd name="adj1" fmla="val 8077"/>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Connector: Curved 52">
            <a:extLst>
              <a:ext uri="{FF2B5EF4-FFF2-40B4-BE49-F238E27FC236}">
                <a16:creationId xmlns:a16="http://schemas.microsoft.com/office/drawing/2014/main" id="{A1D4B0EF-0F2A-141F-5A56-546979161B5D}"/>
              </a:ext>
            </a:extLst>
          </p:cNvPr>
          <p:cNvCxnSpPr>
            <a:cxnSpLocks/>
            <a:endCxn id="12" idx="2"/>
          </p:cNvCxnSpPr>
          <p:nvPr/>
        </p:nvCxnSpPr>
        <p:spPr>
          <a:xfrm rot="5400000" flipH="1" flipV="1">
            <a:off x="1116990" y="3635526"/>
            <a:ext cx="1576730" cy="1408811"/>
          </a:xfrm>
          <a:prstGeom prst="curvedConnector3">
            <a:avLst>
              <a:gd name="adj1" fmla="val 50000"/>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or: Curved 55">
            <a:extLst>
              <a:ext uri="{FF2B5EF4-FFF2-40B4-BE49-F238E27FC236}">
                <a16:creationId xmlns:a16="http://schemas.microsoft.com/office/drawing/2014/main" id="{DC423FFE-7F25-C9F7-6ED7-D9F242FCB6F0}"/>
              </a:ext>
            </a:extLst>
          </p:cNvPr>
          <p:cNvCxnSpPr>
            <a:cxnSpLocks/>
            <a:stCxn id="41" idx="0"/>
            <a:endCxn id="7" idx="0"/>
          </p:cNvCxnSpPr>
          <p:nvPr/>
        </p:nvCxnSpPr>
        <p:spPr>
          <a:xfrm rot="5400000" flipH="1" flipV="1">
            <a:off x="13849" y="3108811"/>
            <a:ext cx="3198967" cy="840006"/>
          </a:xfrm>
          <a:prstGeom prst="curvedConnector3">
            <a:avLst>
              <a:gd name="adj1" fmla="val 107146"/>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Curved 62">
            <a:extLst>
              <a:ext uri="{FF2B5EF4-FFF2-40B4-BE49-F238E27FC236}">
                <a16:creationId xmlns:a16="http://schemas.microsoft.com/office/drawing/2014/main" id="{98207CB4-E2C8-7A29-DEC3-F3761D246F22}"/>
              </a:ext>
            </a:extLst>
          </p:cNvPr>
          <p:cNvCxnSpPr>
            <a:cxnSpLocks/>
            <a:stCxn id="41" idx="3"/>
            <a:endCxn id="10" idx="2"/>
          </p:cNvCxnSpPr>
          <p:nvPr/>
        </p:nvCxnSpPr>
        <p:spPr>
          <a:xfrm flipV="1">
            <a:off x="1696402" y="2469156"/>
            <a:ext cx="2174914" cy="2929055"/>
          </a:xfrm>
          <a:prstGeom prst="curvedConnector2">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077183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xit" presetSubtype="10" fill="hold" nodeType="clickEffect">
                                  <p:stCondLst>
                                    <p:cond delay="0"/>
                                  </p:stCondLst>
                                  <p:childTnLst>
                                    <p:animEffect transition="out" filter="randombar(horizontal)">
                                      <p:cBhvr>
                                        <p:cTn id="6" dur="500"/>
                                        <p:tgtEl>
                                          <p:spTgt spid="56"/>
                                        </p:tgtEl>
                                      </p:cBhvr>
                                    </p:animEffect>
                                    <p:set>
                                      <p:cBhvr>
                                        <p:cTn id="7" dur="1" fill="hold">
                                          <p:stCondLst>
                                            <p:cond delay="499"/>
                                          </p:stCondLst>
                                        </p:cTn>
                                        <p:tgtEl>
                                          <p:spTgt spid="56"/>
                                        </p:tgtEl>
                                        <p:attrNameLst>
                                          <p:attrName>style.visibility</p:attrName>
                                        </p:attrNameLst>
                                      </p:cBhvr>
                                      <p:to>
                                        <p:strVal val="hidden"/>
                                      </p:to>
                                    </p:set>
                                  </p:childTnLst>
                                </p:cTn>
                              </p:par>
                              <p:par>
                                <p:cTn id="8" presetID="14" presetClass="exit" presetSubtype="10" fill="hold" nodeType="withEffect">
                                  <p:stCondLst>
                                    <p:cond delay="0"/>
                                  </p:stCondLst>
                                  <p:childTnLst>
                                    <p:animEffect transition="out" filter="randombar(horizontal)">
                                      <p:cBhvr>
                                        <p:cTn id="9" dur="500"/>
                                        <p:tgtEl>
                                          <p:spTgt spid="46"/>
                                        </p:tgtEl>
                                      </p:cBhvr>
                                    </p:animEffect>
                                    <p:set>
                                      <p:cBhvr>
                                        <p:cTn id="10" dur="1" fill="hold">
                                          <p:stCondLst>
                                            <p:cond delay="499"/>
                                          </p:stCondLst>
                                        </p:cTn>
                                        <p:tgtEl>
                                          <p:spTgt spid="46"/>
                                        </p:tgtEl>
                                        <p:attrNameLst>
                                          <p:attrName>style.visibility</p:attrName>
                                        </p:attrNameLst>
                                      </p:cBhvr>
                                      <p:to>
                                        <p:strVal val="hidden"/>
                                      </p:to>
                                    </p:set>
                                  </p:childTnLst>
                                </p:cTn>
                              </p:par>
                              <p:par>
                                <p:cTn id="11" presetID="14" presetClass="exit" presetSubtype="10" fill="hold" nodeType="withEffect">
                                  <p:stCondLst>
                                    <p:cond delay="0"/>
                                  </p:stCondLst>
                                  <p:childTnLst>
                                    <p:animEffect transition="out" filter="randombar(horizontal)">
                                      <p:cBhvr>
                                        <p:cTn id="12" dur="500"/>
                                        <p:tgtEl>
                                          <p:spTgt spid="53"/>
                                        </p:tgtEl>
                                      </p:cBhvr>
                                    </p:animEffect>
                                    <p:set>
                                      <p:cBhvr>
                                        <p:cTn id="13" dur="1" fill="hold">
                                          <p:stCondLst>
                                            <p:cond delay="499"/>
                                          </p:stCondLst>
                                        </p:cTn>
                                        <p:tgtEl>
                                          <p:spTgt spid="53"/>
                                        </p:tgtEl>
                                        <p:attrNameLst>
                                          <p:attrName>style.visibility</p:attrName>
                                        </p:attrNameLst>
                                      </p:cBhvr>
                                      <p:to>
                                        <p:strVal val="hidden"/>
                                      </p:to>
                                    </p:set>
                                  </p:childTnLst>
                                </p:cTn>
                              </p:par>
                              <p:par>
                                <p:cTn id="14" presetID="14" presetClass="exit" presetSubtype="10" fill="hold" nodeType="withEffect">
                                  <p:stCondLst>
                                    <p:cond delay="0"/>
                                  </p:stCondLst>
                                  <p:childTnLst>
                                    <p:animEffect transition="out" filter="randombar(horizontal)">
                                      <p:cBhvr>
                                        <p:cTn id="15" dur="500"/>
                                        <p:tgtEl>
                                          <p:spTgt spid="63"/>
                                        </p:tgtEl>
                                      </p:cBhvr>
                                    </p:animEffect>
                                    <p:set>
                                      <p:cBhvr>
                                        <p:cTn id="16" dur="1" fill="hold">
                                          <p:stCondLst>
                                            <p:cond delay="499"/>
                                          </p:stCondLst>
                                        </p:cTn>
                                        <p:tgtEl>
                                          <p:spTgt spid="63"/>
                                        </p:tgtEl>
                                        <p:attrNameLst>
                                          <p:attrName>style.visibility</p:attrName>
                                        </p:attrNameLst>
                                      </p:cBhvr>
                                      <p:to>
                                        <p:strVal val="hidden"/>
                                      </p:to>
                                    </p:set>
                                  </p:childTnLst>
                                </p:cTn>
                              </p:par>
                              <p:par>
                                <p:cTn id="17" presetID="14" presetClass="exit" presetSubtype="10" fill="hold" nodeType="withEffect">
                                  <p:stCondLst>
                                    <p:cond delay="0"/>
                                  </p:stCondLst>
                                  <p:childTnLst>
                                    <p:animEffect transition="out" filter="randombar(horizontal)">
                                      <p:cBhvr>
                                        <p:cTn id="18" dur="500"/>
                                        <p:tgtEl>
                                          <p:spTgt spid="51"/>
                                        </p:tgtEl>
                                      </p:cBhvr>
                                    </p:animEffect>
                                    <p:set>
                                      <p:cBhvr>
                                        <p:cTn id="19" dur="1" fill="hold">
                                          <p:stCondLst>
                                            <p:cond delay="499"/>
                                          </p:stCondLst>
                                        </p:cTn>
                                        <p:tgtEl>
                                          <p:spTgt spid="5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44E73-8DF5-A133-3FCD-92CD97F3701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55D0007-C512-8C73-07AD-D02A23BB3E05}"/>
              </a:ext>
            </a:extLst>
          </p:cNvPr>
          <p:cNvSpPr>
            <a:spLocks noGrp="1"/>
          </p:cNvSpPr>
          <p:nvPr>
            <p:ph idx="1"/>
          </p:nvPr>
        </p:nvSpPr>
        <p:spPr/>
        <p:txBody>
          <a:bodyPr>
            <a:normAutofit/>
          </a:bodyPr>
          <a:lstStyle/>
          <a:p>
            <a:r>
              <a:rPr lang="en-US" dirty="0"/>
              <a:t>Language runtime spawns a “garbage collector” thread when memory usage reaches a threshold</a:t>
            </a:r>
          </a:p>
          <a:p>
            <a:r>
              <a:rPr lang="en-US" dirty="0"/>
              <a:t>Identifies “garbage” – objects no longer reachable or usable by the program -&gt; </a:t>
            </a:r>
            <a:r>
              <a:rPr lang="en-US" b="1" i="1" dirty="0"/>
              <a:t>Mark Phase</a:t>
            </a:r>
            <a:endParaRPr lang="en-US" dirty="0">
              <a:latin typeface="Helvetica" panose="020B0604020202020204" pitchFamily="34" charset="0"/>
              <a:cs typeface="Helvetica" panose="020B0604020202020204" pitchFamily="34" charset="0"/>
            </a:endParaRPr>
          </a:p>
          <a:p>
            <a:r>
              <a:rPr lang="en-US" dirty="0"/>
              <a:t>Once an object is classified as “garbage” it is automatically deleted -&gt; </a:t>
            </a:r>
            <a:r>
              <a:rPr lang="en-US" b="1" i="1" dirty="0"/>
              <a:t>Sweep Phase</a:t>
            </a:r>
            <a:endParaRPr lang="en-US" dirty="0"/>
          </a:p>
        </p:txBody>
      </p:sp>
      <p:sp>
        <p:nvSpPr>
          <p:cNvPr id="4" name="Title 3">
            <a:extLst>
              <a:ext uri="{FF2B5EF4-FFF2-40B4-BE49-F238E27FC236}">
                <a16:creationId xmlns:a16="http://schemas.microsoft.com/office/drawing/2014/main" id="{89822AF0-D065-5FA6-9DCC-4B3A58BF21F9}"/>
              </a:ext>
            </a:extLst>
          </p:cNvPr>
          <p:cNvSpPr>
            <a:spLocks noGrp="1"/>
          </p:cNvSpPr>
          <p:nvPr>
            <p:ph type="title"/>
          </p:nvPr>
        </p:nvSpPr>
        <p:spPr/>
        <p:txBody>
          <a:bodyPr/>
          <a:lstStyle/>
          <a:p>
            <a:r>
              <a:rPr lang="en-US" dirty="0"/>
              <a:t>Mark and Sweep algorithm</a:t>
            </a:r>
          </a:p>
        </p:txBody>
      </p:sp>
    </p:spTree>
    <p:extLst>
      <p:ext uri="{BB962C8B-B14F-4D97-AF65-F5344CB8AC3E}">
        <p14:creationId xmlns:p14="http://schemas.microsoft.com/office/powerpoint/2010/main" val="1192173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A4F71-11F9-E6AF-8C11-990B64D1E0B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6DACD1F-E42D-720C-B9D7-2A8CD93BC587}"/>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A28E22FC-8FA1-4307-F502-EA6F2A0B31E2}"/>
              </a:ext>
            </a:extLst>
          </p:cNvPr>
          <p:cNvSpPr>
            <a:spLocks noGrp="1"/>
          </p:cNvSpPr>
          <p:nvPr>
            <p:ph type="title"/>
          </p:nvPr>
        </p:nvSpPr>
        <p:spPr/>
        <p:txBody>
          <a:bodyPr/>
          <a:lstStyle/>
          <a:p>
            <a:r>
              <a:rPr lang="en-US" dirty="0"/>
              <a:t>Mark phase</a:t>
            </a:r>
          </a:p>
        </p:txBody>
      </p:sp>
      <p:sp>
        <p:nvSpPr>
          <p:cNvPr id="2" name="Content Placeholder 1">
            <a:extLst>
              <a:ext uri="{FF2B5EF4-FFF2-40B4-BE49-F238E27FC236}">
                <a16:creationId xmlns:a16="http://schemas.microsoft.com/office/drawing/2014/main" id="{C819C924-1E29-C50E-D043-C510201E398D}"/>
              </a:ext>
            </a:extLst>
          </p:cNvPr>
          <p:cNvSpPr>
            <a:spLocks noGrp="1"/>
          </p:cNvSpPr>
          <p:nvPr>
            <p:ph idx="13"/>
          </p:nvPr>
        </p:nvSpPr>
        <p:spPr/>
        <p:txBody>
          <a:bodyPr/>
          <a:lstStyle/>
          <a:p>
            <a:r>
              <a:rPr lang="en-US" dirty="0"/>
              <a:t>Tracks all reachable objects from ROOT</a:t>
            </a:r>
          </a:p>
        </p:txBody>
      </p:sp>
      <p:sp>
        <p:nvSpPr>
          <p:cNvPr id="7" name="Rectangle 6">
            <a:extLst>
              <a:ext uri="{FF2B5EF4-FFF2-40B4-BE49-F238E27FC236}">
                <a16:creationId xmlns:a16="http://schemas.microsoft.com/office/drawing/2014/main" id="{5B36C112-1B0B-DA44-A1C7-F2D77AD61A85}"/>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D32A71BB-AEE8-11FF-AA5A-6F387EF69AEA}"/>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10" name="Rectangle 9">
            <a:extLst>
              <a:ext uri="{FF2B5EF4-FFF2-40B4-BE49-F238E27FC236}">
                <a16:creationId xmlns:a16="http://schemas.microsoft.com/office/drawing/2014/main" id="{6F01222B-2739-8EB0-3DC2-F6C321175CDA}"/>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2" name="Rectangle 11">
            <a:extLst>
              <a:ext uri="{FF2B5EF4-FFF2-40B4-BE49-F238E27FC236}">
                <a16:creationId xmlns:a16="http://schemas.microsoft.com/office/drawing/2014/main" id="{CD72ED18-64A9-3C94-AEAC-1058BE01D572}"/>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DE448263-070A-A802-573B-3BDF448E5E01}"/>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cxnSp>
        <p:nvCxnSpPr>
          <p:cNvPr id="17" name="Straight Arrow Connector 16">
            <a:extLst>
              <a:ext uri="{FF2B5EF4-FFF2-40B4-BE49-F238E27FC236}">
                <a16:creationId xmlns:a16="http://schemas.microsoft.com/office/drawing/2014/main" id="{40405CCF-72EE-8229-BF54-C8C2B71943DD}"/>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29E1CF97-EC00-D8E8-76F4-9769D1EA22CC}"/>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9F06B3F1-C654-945C-DD0E-3E0D13AFD6A8}"/>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EBE751E7-06CB-682A-2D25-189125E5E5E5}"/>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cxnSp>
        <p:nvCxnSpPr>
          <p:cNvPr id="31" name="Straight Arrow Connector 30">
            <a:extLst>
              <a:ext uri="{FF2B5EF4-FFF2-40B4-BE49-F238E27FC236}">
                <a16:creationId xmlns:a16="http://schemas.microsoft.com/office/drawing/2014/main" id="{0336F40A-F4B0-8AE7-0136-8BEACEC85BF0}"/>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A63A89F9-F533-3DA5-D044-3227E3F8E014}"/>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E2B10CF8-30AC-6B43-B30D-08F2A91EA1EC}"/>
              </a:ext>
            </a:extLst>
          </p:cNvPr>
          <p:cNvSpPr/>
          <p:nvPr/>
        </p:nvSpPr>
        <p:spPr>
          <a:xfrm rot="10800000">
            <a:off x="8866599" y="4915535"/>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98F13A93-77E8-B4FC-4993-A0C9DED2CBB1}"/>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CF477AA2-B6CD-E846-4E2E-770B8D5276E7}"/>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CAD6544-036E-3771-2F50-00FE2B41F086}"/>
              </a:ext>
            </a:extLst>
          </p:cNvPr>
          <p:cNvSpPr txBox="1"/>
          <p:nvPr/>
        </p:nvSpPr>
        <p:spPr>
          <a:xfrm>
            <a:off x="437712" y="491553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19" name="TextBox 18">
            <a:extLst>
              <a:ext uri="{FF2B5EF4-FFF2-40B4-BE49-F238E27FC236}">
                <a16:creationId xmlns:a16="http://schemas.microsoft.com/office/drawing/2014/main" id="{C16EB9F2-F78D-FB84-7157-DF1C23BBF22A}"/>
              </a:ext>
            </a:extLst>
          </p:cNvPr>
          <p:cNvSpPr txBox="1"/>
          <p:nvPr/>
        </p:nvSpPr>
        <p:spPr>
          <a:xfrm>
            <a:off x="1364717" y="396057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0" name="TextBox 19">
            <a:extLst>
              <a:ext uri="{FF2B5EF4-FFF2-40B4-BE49-F238E27FC236}">
                <a16:creationId xmlns:a16="http://schemas.microsoft.com/office/drawing/2014/main" id="{A9DBD47D-7170-99AD-E6EE-EA1F12002CDF}"/>
              </a:ext>
            </a:extLst>
          </p:cNvPr>
          <p:cNvSpPr txBox="1"/>
          <p:nvPr/>
        </p:nvSpPr>
        <p:spPr>
          <a:xfrm>
            <a:off x="755645" y="2921220"/>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2" name="TextBox 21">
            <a:extLst>
              <a:ext uri="{FF2B5EF4-FFF2-40B4-BE49-F238E27FC236}">
                <a16:creationId xmlns:a16="http://schemas.microsoft.com/office/drawing/2014/main" id="{07E2F344-AC81-8ABE-572A-A69B82281739}"/>
              </a:ext>
            </a:extLst>
          </p:cNvPr>
          <p:cNvSpPr txBox="1"/>
          <p:nvPr/>
        </p:nvSpPr>
        <p:spPr>
          <a:xfrm>
            <a:off x="1955126" y="2877137"/>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3" name="TextBox 22">
            <a:extLst>
              <a:ext uri="{FF2B5EF4-FFF2-40B4-BE49-F238E27FC236}">
                <a16:creationId xmlns:a16="http://schemas.microsoft.com/office/drawing/2014/main" id="{B8CECE12-FBC9-4F23-E668-41C8BAB3886D}"/>
              </a:ext>
            </a:extLst>
          </p:cNvPr>
          <p:cNvSpPr txBox="1"/>
          <p:nvPr/>
        </p:nvSpPr>
        <p:spPr>
          <a:xfrm>
            <a:off x="851754" y="1812318"/>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4" name="TextBox 23">
            <a:extLst>
              <a:ext uri="{FF2B5EF4-FFF2-40B4-BE49-F238E27FC236}">
                <a16:creationId xmlns:a16="http://schemas.microsoft.com/office/drawing/2014/main" id="{F2ED50F0-FAA8-D485-CA83-AD3D0FEDC7EF}"/>
              </a:ext>
            </a:extLst>
          </p:cNvPr>
          <p:cNvSpPr txBox="1"/>
          <p:nvPr/>
        </p:nvSpPr>
        <p:spPr>
          <a:xfrm>
            <a:off x="9518573" y="4730016"/>
            <a:ext cx="2452377" cy="830997"/>
          </a:xfrm>
          <a:prstGeom prst="rect">
            <a:avLst/>
          </a:prstGeom>
          <a:noFill/>
        </p:spPr>
        <p:txBody>
          <a:bodyPr wrap="square" rtlCol="0">
            <a:spAutoFit/>
          </a:bodyPr>
          <a:lstStyle/>
          <a:p>
            <a:r>
              <a:rPr lang="en-US" sz="2400" b="1" i="1" dirty="0"/>
              <a:t>Imagine GC invokes here</a:t>
            </a:r>
          </a:p>
        </p:txBody>
      </p:sp>
    </p:spTree>
    <p:extLst>
      <p:ext uri="{BB962C8B-B14F-4D97-AF65-F5344CB8AC3E}">
        <p14:creationId xmlns:p14="http://schemas.microsoft.com/office/powerpoint/2010/main" val="71537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9" grpId="0"/>
      <p:bldP spid="20" grpId="0"/>
      <p:bldP spid="22" grpId="0"/>
      <p:bldP spid="23" grpId="0"/>
      <p:bldP spid="24"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FF003-6001-215E-B92A-0C39D337C57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7AF4F4F-1072-C36E-2D81-06F011A3F391}"/>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1640DDC5-74F3-8B65-1E8C-E7F9ED2AB064}"/>
              </a:ext>
            </a:extLst>
          </p:cNvPr>
          <p:cNvSpPr>
            <a:spLocks noGrp="1"/>
          </p:cNvSpPr>
          <p:nvPr>
            <p:ph type="title"/>
          </p:nvPr>
        </p:nvSpPr>
        <p:spPr/>
        <p:txBody>
          <a:bodyPr/>
          <a:lstStyle/>
          <a:p>
            <a:r>
              <a:rPr lang="en-US" dirty="0"/>
              <a:t>Sweep phase</a:t>
            </a:r>
          </a:p>
        </p:txBody>
      </p:sp>
      <p:sp>
        <p:nvSpPr>
          <p:cNvPr id="2" name="Content Placeholder 1">
            <a:extLst>
              <a:ext uri="{FF2B5EF4-FFF2-40B4-BE49-F238E27FC236}">
                <a16:creationId xmlns:a16="http://schemas.microsoft.com/office/drawing/2014/main" id="{63477773-B71D-BA66-66A7-7A75724B6243}"/>
              </a:ext>
            </a:extLst>
          </p:cNvPr>
          <p:cNvSpPr>
            <a:spLocks noGrp="1"/>
          </p:cNvSpPr>
          <p:nvPr>
            <p:ph idx="13"/>
          </p:nvPr>
        </p:nvSpPr>
        <p:spPr/>
        <p:txBody>
          <a:bodyPr/>
          <a:lstStyle/>
          <a:p>
            <a:r>
              <a:rPr lang="en-US" dirty="0"/>
              <a:t>Deletes all non-reachable objects</a:t>
            </a:r>
          </a:p>
        </p:txBody>
      </p:sp>
      <p:sp>
        <p:nvSpPr>
          <p:cNvPr id="7" name="Rectangle 6">
            <a:extLst>
              <a:ext uri="{FF2B5EF4-FFF2-40B4-BE49-F238E27FC236}">
                <a16:creationId xmlns:a16="http://schemas.microsoft.com/office/drawing/2014/main" id="{832CC9B5-8EAA-5920-4EC0-1A8811798B00}"/>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E4C27802-95BA-F129-C070-00AB6B014664}"/>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10" name="Rectangle 9">
            <a:extLst>
              <a:ext uri="{FF2B5EF4-FFF2-40B4-BE49-F238E27FC236}">
                <a16:creationId xmlns:a16="http://schemas.microsoft.com/office/drawing/2014/main" id="{5D60CE7A-D04E-11C3-C3B4-2FA08F67BC90}"/>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2" name="Rectangle 11">
            <a:extLst>
              <a:ext uri="{FF2B5EF4-FFF2-40B4-BE49-F238E27FC236}">
                <a16:creationId xmlns:a16="http://schemas.microsoft.com/office/drawing/2014/main" id="{3C523E93-5DB1-BEDC-D8B2-8552B6C9AE5A}"/>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D3D598F9-0AD3-4D98-9629-DCA7037E6893}"/>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cxnSp>
        <p:nvCxnSpPr>
          <p:cNvPr id="17" name="Straight Arrow Connector 16">
            <a:extLst>
              <a:ext uri="{FF2B5EF4-FFF2-40B4-BE49-F238E27FC236}">
                <a16:creationId xmlns:a16="http://schemas.microsoft.com/office/drawing/2014/main" id="{B5799A6B-B720-D86A-5946-DF8766C16F21}"/>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EAF36483-22CE-2F67-57C1-DEFC2A1CEC9B}"/>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E1CED76-7560-ABB8-B396-1D6319B6C2C1}"/>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CDE9A5B1-7AAD-D894-FAAC-52982B9BC627}"/>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cxnSp>
        <p:nvCxnSpPr>
          <p:cNvPr id="31" name="Straight Arrow Connector 30">
            <a:extLst>
              <a:ext uri="{FF2B5EF4-FFF2-40B4-BE49-F238E27FC236}">
                <a16:creationId xmlns:a16="http://schemas.microsoft.com/office/drawing/2014/main" id="{122F26E0-2C47-F8A5-A59A-52A08A698D93}"/>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EA08AD4-9B2F-C006-5EB5-D98E5CDD15EF}"/>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FA87BF37-C136-C41A-8F62-097A4BEA4A17}"/>
              </a:ext>
            </a:extLst>
          </p:cNvPr>
          <p:cNvSpPr/>
          <p:nvPr/>
        </p:nvSpPr>
        <p:spPr>
          <a:xfrm rot="10800000">
            <a:off x="8866599" y="4915535"/>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7274566-AB14-4E5E-55F7-523C9DFAD53B}"/>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0F6F824A-FEC8-C8D3-E8BD-00A8D1A16AAF}"/>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9FFE0CB7-36F4-A2DC-1F8D-EF8F12048106}"/>
              </a:ext>
            </a:extLst>
          </p:cNvPr>
          <p:cNvSpPr/>
          <p:nvPr/>
        </p:nvSpPr>
        <p:spPr>
          <a:xfrm>
            <a:off x="3029639" y="1487277"/>
            <a:ext cx="2082188" cy="2456762"/>
          </a:xfrm>
          <a:prstGeom prst="rect">
            <a:avLst/>
          </a:prstGeom>
          <a:noFill/>
          <a:ln w="31750" cap="flat" cmpd="sng" algn="ctr">
            <a:solidFill>
              <a:srgbClr val="003399"/>
            </a:solidFill>
            <a:prstDash val="sysDot"/>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TextBox 15">
            <a:extLst>
              <a:ext uri="{FF2B5EF4-FFF2-40B4-BE49-F238E27FC236}">
                <a16:creationId xmlns:a16="http://schemas.microsoft.com/office/drawing/2014/main" id="{89C890FC-E9D1-465E-754F-9BE56807F861}"/>
              </a:ext>
            </a:extLst>
          </p:cNvPr>
          <p:cNvSpPr txBox="1"/>
          <p:nvPr/>
        </p:nvSpPr>
        <p:spPr>
          <a:xfrm>
            <a:off x="437712" y="491553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19" name="TextBox 18">
            <a:extLst>
              <a:ext uri="{FF2B5EF4-FFF2-40B4-BE49-F238E27FC236}">
                <a16:creationId xmlns:a16="http://schemas.microsoft.com/office/drawing/2014/main" id="{937CE653-43E9-A0DF-FD70-ACB9D4053D56}"/>
              </a:ext>
            </a:extLst>
          </p:cNvPr>
          <p:cNvSpPr txBox="1"/>
          <p:nvPr/>
        </p:nvSpPr>
        <p:spPr>
          <a:xfrm>
            <a:off x="1364717" y="396057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0" name="TextBox 19">
            <a:extLst>
              <a:ext uri="{FF2B5EF4-FFF2-40B4-BE49-F238E27FC236}">
                <a16:creationId xmlns:a16="http://schemas.microsoft.com/office/drawing/2014/main" id="{3E1EE980-C4DE-1E16-A7D4-93E6D317B7E2}"/>
              </a:ext>
            </a:extLst>
          </p:cNvPr>
          <p:cNvSpPr txBox="1"/>
          <p:nvPr/>
        </p:nvSpPr>
        <p:spPr>
          <a:xfrm>
            <a:off x="755645" y="2921220"/>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2" name="TextBox 21">
            <a:extLst>
              <a:ext uri="{FF2B5EF4-FFF2-40B4-BE49-F238E27FC236}">
                <a16:creationId xmlns:a16="http://schemas.microsoft.com/office/drawing/2014/main" id="{EBE9E9DA-07BD-C11A-0706-ABFB0A868AEB}"/>
              </a:ext>
            </a:extLst>
          </p:cNvPr>
          <p:cNvSpPr txBox="1"/>
          <p:nvPr/>
        </p:nvSpPr>
        <p:spPr>
          <a:xfrm>
            <a:off x="1955126" y="2877137"/>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3" name="TextBox 22">
            <a:extLst>
              <a:ext uri="{FF2B5EF4-FFF2-40B4-BE49-F238E27FC236}">
                <a16:creationId xmlns:a16="http://schemas.microsoft.com/office/drawing/2014/main" id="{7F0D1843-2D45-5C55-D251-74D8FF9E9F25}"/>
              </a:ext>
            </a:extLst>
          </p:cNvPr>
          <p:cNvSpPr txBox="1"/>
          <p:nvPr/>
        </p:nvSpPr>
        <p:spPr>
          <a:xfrm>
            <a:off x="851754" y="1812318"/>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6" name="TextBox 5">
            <a:extLst>
              <a:ext uri="{FF2B5EF4-FFF2-40B4-BE49-F238E27FC236}">
                <a16:creationId xmlns:a16="http://schemas.microsoft.com/office/drawing/2014/main" id="{1AFA4228-D8F0-41A0-E223-E9064F2F3521}"/>
              </a:ext>
            </a:extLst>
          </p:cNvPr>
          <p:cNvSpPr txBox="1"/>
          <p:nvPr/>
        </p:nvSpPr>
        <p:spPr>
          <a:xfrm>
            <a:off x="9518573" y="4730016"/>
            <a:ext cx="2452377" cy="830997"/>
          </a:xfrm>
          <a:prstGeom prst="rect">
            <a:avLst/>
          </a:prstGeom>
          <a:noFill/>
        </p:spPr>
        <p:txBody>
          <a:bodyPr wrap="square" rtlCol="0">
            <a:spAutoFit/>
          </a:bodyPr>
          <a:lstStyle/>
          <a:p>
            <a:r>
              <a:rPr lang="en-US" sz="2400" b="1" i="1" dirty="0"/>
              <a:t>Imagine GC invokes here</a:t>
            </a:r>
          </a:p>
        </p:txBody>
      </p:sp>
    </p:spTree>
    <p:extLst>
      <p:ext uri="{BB962C8B-B14F-4D97-AF65-F5344CB8AC3E}">
        <p14:creationId xmlns:p14="http://schemas.microsoft.com/office/powerpoint/2010/main" val="3885253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18"/>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animBg="1"/>
      <p:bldP spid="3" grpId="0" animBg="1"/>
      <p:bldP spid="3" grpId="1"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EF781-E669-85CF-2B16-0E7732863D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672819-5F25-C712-F517-64C75AB60F4C}"/>
              </a:ext>
            </a:extLst>
          </p:cNvPr>
          <p:cNvSpPr>
            <a:spLocks noGrp="1"/>
          </p:cNvSpPr>
          <p:nvPr>
            <p:ph idx="1"/>
          </p:nvPr>
        </p:nvSpPr>
        <p:spPr/>
        <p:txBody>
          <a:bodyPr>
            <a:normAutofit/>
          </a:bodyPr>
          <a:lstStyle/>
          <a:p>
            <a:r>
              <a:rPr lang="en-US" dirty="0"/>
              <a:t>Garbage collection </a:t>
            </a:r>
            <a:r>
              <a:rPr lang="en-US" b="1" i="1" dirty="0"/>
              <a:t>does not </a:t>
            </a:r>
            <a:r>
              <a:rPr lang="en-US" dirty="0"/>
              <a:t>occur after every function return</a:t>
            </a:r>
          </a:p>
          <a:p>
            <a:r>
              <a:rPr lang="en-US" dirty="0"/>
              <a:t>Occurs rarely and typically only after high memory usage</a:t>
            </a:r>
          </a:p>
          <a:p>
            <a:pPr lvl="2"/>
            <a:endParaRPr lang="en-US" dirty="0"/>
          </a:p>
        </p:txBody>
      </p:sp>
      <p:sp>
        <p:nvSpPr>
          <p:cNvPr id="4" name="Title 3">
            <a:extLst>
              <a:ext uri="{FF2B5EF4-FFF2-40B4-BE49-F238E27FC236}">
                <a16:creationId xmlns:a16="http://schemas.microsoft.com/office/drawing/2014/main" id="{C6366A80-ED2C-06B3-330C-5D86F5E9F42B}"/>
              </a:ext>
            </a:extLst>
          </p:cNvPr>
          <p:cNvSpPr>
            <a:spLocks noGrp="1"/>
          </p:cNvSpPr>
          <p:nvPr>
            <p:ph type="title"/>
          </p:nvPr>
        </p:nvSpPr>
        <p:spPr/>
        <p:txBody>
          <a:bodyPr/>
          <a:lstStyle/>
          <a:p>
            <a:r>
              <a:rPr lang="en-US" dirty="0"/>
              <a:t>Important points</a:t>
            </a:r>
          </a:p>
        </p:txBody>
      </p:sp>
    </p:spTree>
    <p:extLst>
      <p:ext uri="{BB962C8B-B14F-4D97-AF65-F5344CB8AC3E}">
        <p14:creationId xmlns:p14="http://schemas.microsoft.com/office/powerpoint/2010/main" val="122102178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6C5553-3058-08D8-FC8F-6D6156264A6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CBBDB0-01FE-9054-9013-0B973726BADB}"/>
              </a:ext>
            </a:extLst>
          </p:cNvPr>
          <p:cNvSpPr>
            <a:spLocks noGrp="1"/>
          </p:cNvSpPr>
          <p:nvPr>
            <p:ph idx="1"/>
          </p:nvPr>
        </p:nvSpPr>
        <p:spPr/>
        <p:txBody>
          <a:bodyPr>
            <a:normAutofit/>
          </a:bodyPr>
          <a:lstStyle/>
          <a:p>
            <a:r>
              <a:rPr lang="en-US" dirty="0"/>
              <a:t>Prevents both dangling pointers and memory leaks</a:t>
            </a:r>
          </a:p>
          <a:p>
            <a:r>
              <a:rPr lang="en-US" dirty="0"/>
              <a:t>How? </a:t>
            </a:r>
          </a:p>
          <a:p>
            <a:pPr lvl="1"/>
            <a:r>
              <a:rPr lang="en-US" dirty="0"/>
              <a:t>A heap object is never freed if it is reachable -&gt; no use-after-free</a:t>
            </a:r>
          </a:p>
          <a:p>
            <a:pPr lvl="1"/>
            <a:r>
              <a:rPr lang="en-US" dirty="0"/>
              <a:t>If a heap object is not reachable it is guaranteed to be freed -&gt; no double frees and no memory leaks</a:t>
            </a:r>
          </a:p>
          <a:p>
            <a:pPr lvl="2"/>
            <a:endParaRPr lang="en-US" dirty="0"/>
          </a:p>
        </p:txBody>
      </p:sp>
      <p:sp>
        <p:nvSpPr>
          <p:cNvPr id="4" name="Title 3">
            <a:extLst>
              <a:ext uri="{FF2B5EF4-FFF2-40B4-BE49-F238E27FC236}">
                <a16:creationId xmlns:a16="http://schemas.microsoft.com/office/drawing/2014/main" id="{8E54B058-AA73-B61F-1E64-6954E56B9C13}"/>
              </a:ext>
            </a:extLst>
          </p:cNvPr>
          <p:cNvSpPr>
            <a:spLocks noGrp="1"/>
          </p:cNvSpPr>
          <p:nvPr>
            <p:ph type="title"/>
          </p:nvPr>
        </p:nvSpPr>
        <p:spPr/>
        <p:txBody>
          <a:bodyPr/>
          <a:lstStyle/>
          <a:p>
            <a:r>
              <a:rPr lang="en-US" dirty="0"/>
              <a:t>Memory safety guarantees</a:t>
            </a:r>
          </a:p>
        </p:txBody>
      </p:sp>
    </p:spTree>
    <p:extLst>
      <p:ext uri="{BB962C8B-B14F-4D97-AF65-F5344CB8AC3E}">
        <p14:creationId xmlns:p14="http://schemas.microsoft.com/office/powerpoint/2010/main" val="76215181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AD308-9BE5-9FA5-7454-8A9A1487C78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F2F6B8-8924-A042-78F7-3C9E251F97E1}"/>
              </a:ext>
            </a:extLst>
          </p:cNvPr>
          <p:cNvSpPr>
            <a:spLocks noGrp="1"/>
          </p:cNvSpPr>
          <p:nvPr>
            <p:ph idx="1"/>
          </p:nvPr>
        </p:nvSpPr>
        <p:spPr/>
        <p:txBody>
          <a:bodyPr>
            <a:normAutofit/>
          </a:bodyPr>
          <a:lstStyle/>
          <a:p>
            <a:r>
              <a:rPr lang="en-US" dirty="0"/>
              <a:t>Stop-the-world approach</a:t>
            </a:r>
          </a:p>
          <a:p>
            <a:r>
              <a:rPr lang="en-US" dirty="0"/>
              <a:t>Pauses all application threads while the garbage collector runs</a:t>
            </a:r>
          </a:p>
          <a:p>
            <a:pPr lvl="1"/>
            <a:r>
              <a:rPr lang="en-US" b="1" i="1" dirty="0"/>
              <a:t>Why? …</a:t>
            </a:r>
          </a:p>
          <a:p>
            <a:r>
              <a:rPr lang="en-US" dirty="0"/>
              <a:t>Typically, full STW approach is rare nowadays</a:t>
            </a:r>
          </a:p>
          <a:p>
            <a:r>
              <a:rPr lang="en-US" dirty="0"/>
              <a:t>Still partial STW</a:t>
            </a:r>
          </a:p>
        </p:txBody>
      </p:sp>
      <p:sp>
        <p:nvSpPr>
          <p:cNvPr id="4" name="Title 3">
            <a:extLst>
              <a:ext uri="{FF2B5EF4-FFF2-40B4-BE49-F238E27FC236}">
                <a16:creationId xmlns:a16="http://schemas.microsoft.com/office/drawing/2014/main" id="{8DD18C7D-B7DC-2FEE-57AA-DB5407D587AD}"/>
              </a:ext>
            </a:extLst>
          </p:cNvPr>
          <p:cNvSpPr>
            <a:spLocks noGrp="1"/>
          </p:cNvSpPr>
          <p:nvPr>
            <p:ph type="title"/>
          </p:nvPr>
        </p:nvSpPr>
        <p:spPr/>
        <p:txBody>
          <a:bodyPr/>
          <a:lstStyle/>
          <a:p>
            <a:r>
              <a:rPr lang="en-US" dirty="0"/>
              <a:t>Performance impact</a:t>
            </a:r>
          </a:p>
        </p:txBody>
      </p:sp>
    </p:spTree>
    <p:extLst>
      <p:ext uri="{BB962C8B-B14F-4D97-AF65-F5344CB8AC3E}">
        <p14:creationId xmlns:p14="http://schemas.microsoft.com/office/powerpoint/2010/main" val="64213469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0E8EF-C91F-7F21-1A1D-8643FBDBCD5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E34F90-53CD-0D66-8391-3675051C24E0}"/>
              </a:ext>
            </a:extLst>
          </p:cNvPr>
          <p:cNvSpPr>
            <a:spLocks noGrp="1"/>
          </p:cNvSpPr>
          <p:nvPr>
            <p:ph idx="1"/>
          </p:nvPr>
        </p:nvSpPr>
        <p:spPr/>
        <p:txBody>
          <a:bodyPr>
            <a:normAutofit/>
          </a:bodyPr>
          <a:lstStyle/>
          <a:p>
            <a:r>
              <a:rPr lang="en-US" dirty="0"/>
              <a:t>Garbage collection has a high overhead</a:t>
            </a:r>
          </a:p>
          <a:p>
            <a:r>
              <a:rPr lang="en-US" dirty="0"/>
              <a:t>Performance depends on application memory consumption</a:t>
            </a:r>
          </a:p>
          <a:p>
            <a:pPr lvl="1"/>
            <a:r>
              <a:rPr lang="en-US" dirty="0"/>
              <a:t>At lower memory usage, garbage collection is not triggered</a:t>
            </a:r>
          </a:p>
          <a:p>
            <a:r>
              <a:rPr lang="en-US" dirty="0"/>
              <a:t>Makes it hard to predict application behavior</a:t>
            </a:r>
          </a:p>
        </p:txBody>
      </p:sp>
      <p:sp>
        <p:nvSpPr>
          <p:cNvPr id="4" name="Title 3">
            <a:extLst>
              <a:ext uri="{FF2B5EF4-FFF2-40B4-BE49-F238E27FC236}">
                <a16:creationId xmlns:a16="http://schemas.microsoft.com/office/drawing/2014/main" id="{3CA7AA2A-EEA1-741F-87CE-E290D3933C4C}"/>
              </a:ext>
            </a:extLst>
          </p:cNvPr>
          <p:cNvSpPr>
            <a:spLocks noGrp="1"/>
          </p:cNvSpPr>
          <p:nvPr>
            <p:ph type="title"/>
          </p:nvPr>
        </p:nvSpPr>
        <p:spPr/>
        <p:txBody>
          <a:bodyPr/>
          <a:lstStyle/>
          <a:p>
            <a:r>
              <a:rPr lang="en-US" dirty="0"/>
              <a:t>Performance of garbage collected languages</a:t>
            </a:r>
          </a:p>
        </p:txBody>
      </p:sp>
    </p:spTree>
    <p:extLst>
      <p:ext uri="{BB962C8B-B14F-4D97-AF65-F5344CB8AC3E}">
        <p14:creationId xmlns:p14="http://schemas.microsoft.com/office/powerpoint/2010/main" val="348451980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1ECA28A-B961-1FC4-661C-2477F18068C1}"/>
              </a:ext>
            </a:extLst>
          </p:cNvPr>
          <p:cNvSpPr>
            <a:spLocks noGrp="1"/>
          </p:cNvSpPr>
          <p:nvPr>
            <p:ph idx="1"/>
          </p:nvPr>
        </p:nvSpPr>
        <p:spPr/>
        <p:txBody>
          <a:bodyPr/>
          <a:lstStyle/>
          <a:p>
            <a:r>
              <a:rPr lang="en-US" dirty="0"/>
              <a:t>How Rust avoids temporal memory safety bugs</a:t>
            </a:r>
          </a:p>
          <a:p>
            <a:r>
              <a:rPr lang="en-US" dirty="0"/>
              <a:t>How Rust avoids spatial memory safety bugs</a:t>
            </a:r>
          </a:p>
          <a:p>
            <a:r>
              <a:rPr lang="en-US" dirty="0"/>
              <a:t>Rust compile </a:t>
            </a:r>
            <a:r>
              <a:rPr lang="en-US"/>
              <a:t>time reflection</a:t>
            </a:r>
            <a:endParaRPr lang="en-US" dirty="0"/>
          </a:p>
        </p:txBody>
      </p:sp>
      <p:sp>
        <p:nvSpPr>
          <p:cNvPr id="4" name="Title 3">
            <a:extLst>
              <a:ext uri="{FF2B5EF4-FFF2-40B4-BE49-F238E27FC236}">
                <a16:creationId xmlns:a16="http://schemas.microsoft.com/office/drawing/2014/main" id="{25B27254-192D-FC80-3109-688CDCC137A6}"/>
              </a:ext>
            </a:extLst>
          </p:cNvPr>
          <p:cNvSpPr>
            <a:spLocks noGrp="1"/>
          </p:cNvSpPr>
          <p:nvPr>
            <p:ph type="title"/>
          </p:nvPr>
        </p:nvSpPr>
        <p:spPr/>
        <p:txBody>
          <a:bodyPr/>
          <a:lstStyle/>
          <a:p>
            <a:r>
              <a:rPr lang="en-US" dirty="0"/>
              <a:t>Rust</a:t>
            </a:r>
          </a:p>
        </p:txBody>
      </p:sp>
    </p:spTree>
    <p:extLst>
      <p:ext uri="{BB962C8B-B14F-4D97-AF65-F5344CB8AC3E}">
        <p14:creationId xmlns:p14="http://schemas.microsoft.com/office/powerpoint/2010/main" val="426403992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FD7E07-E428-56B2-886A-14C3AC6F446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D0ECAE-D287-CA5E-A715-CB0102B34E1B}"/>
              </a:ext>
            </a:extLst>
          </p:cNvPr>
          <p:cNvSpPr>
            <a:spLocks noGrp="1"/>
          </p:cNvSpPr>
          <p:nvPr>
            <p:ph idx="1"/>
          </p:nvPr>
        </p:nvSpPr>
        <p:spPr/>
        <p:txBody>
          <a:bodyPr>
            <a:normAutofit/>
          </a:bodyPr>
          <a:lstStyle/>
          <a:p>
            <a:r>
              <a:rPr lang="en-US" dirty="0"/>
              <a:t>Memory safety is critical for security</a:t>
            </a:r>
          </a:p>
          <a:p>
            <a:r>
              <a:rPr lang="en-US" dirty="0"/>
              <a:t>Lack of memory safety -&gt; sensitive data corruption, control flow hijack</a:t>
            </a:r>
          </a:p>
          <a:p>
            <a:r>
              <a:rPr lang="en-US" dirty="0"/>
              <a:t>Secure programming can mitigate lack of memory safety in C/C++</a:t>
            </a:r>
          </a:p>
          <a:p>
            <a:pPr lvl="1"/>
            <a:r>
              <a:rPr lang="en-US" dirty="0" err="1"/>
              <a:t>scanf</a:t>
            </a:r>
            <a:r>
              <a:rPr lang="en-US" dirty="0"/>
              <a:t>(“%9s”, buffer), </a:t>
            </a:r>
            <a:r>
              <a:rPr lang="en-US" dirty="0" err="1"/>
              <a:t>strncpy</a:t>
            </a:r>
            <a:r>
              <a:rPr lang="en-US" dirty="0"/>
              <a:t>(d, s, size);</a:t>
            </a:r>
          </a:p>
          <a:p>
            <a:pPr lvl="1"/>
            <a:r>
              <a:rPr lang="en-US" dirty="0"/>
              <a:t>C++ smart pointers</a:t>
            </a:r>
          </a:p>
          <a:p>
            <a:r>
              <a:rPr lang="en-US" dirty="0"/>
              <a:t>Other languages achieve temporal memory safety through garbage collection</a:t>
            </a:r>
          </a:p>
          <a:p>
            <a:pPr lvl="1"/>
            <a:r>
              <a:rPr lang="en-US" dirty="0"/>
              <a:t>High overhead</a:t>
            </a:r>
          </a:p>
        </p:txBody>
      </p:sp>
      <p:sp>
        <p:nvSpPr>
          <p:cNvPr id="4" name="Title 3">
            <a:extLst>
              <a:ext uri="{FF2B5EF4-FFF2-40B4-BE49-F238E27FC236}">
                <a16:creationId xmlns:a16="http://schemas.microsoft.com/office/drawing/2014/main" id="{ED2A2489-49B3-1892-E600-8C8686E007FD}"/>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53531592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FE2CC34-8B0A-65ED-E01E-7354D5B4C58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EF96EE9F-7F1C-9554-FC12-84782A4B6E10}"/>
              </a:ext>
            </a:extLst>
          </p:cNvPr>
          <p:cNvSpPr>
            <a:spLocks noGrp="1"/>
          </p:cNvSpPr>
          <p:nvPr>
            <p:ph type="body" sz="quarter" idx="13"/>
          </p:nvPr>
        </p:nvSpPr>
        <p:spPr/>
        <p:txBody>
          <a:bodyPr/>
          <a:lstStyle/>
          <a:p>
            <a:r>
              <a:rPr lang="en-US" dirty="0"/>
              <a:t>More sample software security questions</a:t>
            </a:r>
          </a:p>
        </p:txBody>
      </p:sp>
    </p:spTree>
    <p:extLst>
      <p:ext uri="{BB962C8B-B14F-4D97-AF65-F5344CB8AC3E}">
        <p14:creationId xmlns:p14="http://schemas.microsoft.com/office/powerpoint/2010/main" val="4036740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56DC3E26-7333-9632-894B-581AB5841B4F}"/>
              </a:ext>
            </a:extLst>
          </p:cNvPr>
          <p:cNvSpPr>
            <a:spLocks noGrp="1"/>
          </p:cNvSpPr>
          <p:nvPr>
            <p:ph idx="1"/>
          </p:nvPr>
        </p:nvSpPr>
        <p:spPr>
          <a:xfrm>
            <a:off x="3179924" y="807037"/>
            <a:ext cx="7561522" cy="5046453"/>
          </a:xfrm>
        </p:spPr>
        <p:txBody>
          <a:bodyPr>
            <a:normAutofit fontScale="62500" lnSpcReduction="20000"/>
          </a:bodyPr>
          <a:lstStyle/>
          <a:p>
            <a:r>
              <a:rPr lang="en-US" sz="2000" dirty="0"/>
              <a:t>#include &lt;</a:t>
            </a:r>
            <a:r>
              <a:rPr lang="en-US" sz="2000" dirty="0" err="1"/>
              <a:t>stdio.h</a:t>
            </a:r>
            <a:r>
              <a:rPr lang="en-US" sz="2000" dirty="0"/>
              <a:t>&gt;</a:t>
            </a:r>
          </a:p>
          <a:p>
            <a:r>
              <a:rPr lang="en-US" sz="2000" dirty="0"/>
              <a:t>#include &lt;</a:t>
            </a:r>
            <a:r>
              <a:rPr lang="en-US" sz="2000" dirty="0" err="1"/>
              <a:t>stdlib.h</a:t>
            </a:r>
            <a:r>
              <a:rPr lang="en-US" sz="2000" dirty="0"/>
              <a:t>&gt;</a:t>
            </a:r>
          </a:p>
          <a:p>
            <a:r>
              <a:rPr lang="en-US" sz="2000" dirty="0"/>
              <a:t>#include &lt;</a:t>
            </a:r>
            <a:r>
              <a:rPr lang="en-US" sz="2000" dirty="0" err="1"/>
              <a:t>string.h</a:t>
            </a:r>
            <a:r>
              <a:rPr lang="en-US" sz="2000" dirty="0"/>
              <a:t>&gt;</a:t>
            </a:r>
          </a:p>
          <a:p>
            <a:endParaRPr lang="en-US" sz="2000" dirty="0"/>
          </a:p>
          <a:p>
            <a:r>
              <a:rPr lang="en-US" sz="2000" dirty="0"/>
              <a:t>typedef struct {</a:t>
            </a:r>
          </a:p>
          <a:p>
            <a:r>
              <a:rPr lang="en-US" sz="2000" dirty="0"/>
              <a:t>    	char *data;</a:t>
            </a:r>
          </a:p>
          <a:p>
            <a:r>
              <a:rPr lang="en-US" sz="2000" dirty="0"/>
              <a:t>} Buffer;</a:t>
            </a:r>
          </a:p>
          <a:p>
            <a:endParaRPr lang="en-US" sz="2000" dirty="0"/>
          </a:p>
          <a:p>
            <a:r>
              <a:rPr lang="en-US" sz="2000" dirty="0"/>
              <a:t>void </a:t>
            </a:r>
            <a:r>
              <a:rPr lang="en-US" sz="2000" dirty="0" err="1"/>
              <a:t>freeBuffer</a:t>
            </a:r>
            <a:r>
              <a:rPr lang="en-US" sz="2000" dirty="0"/>
              <a:t>(Buffer *</a:t>
            </a:r>
            <a:r>
              <a:rPr lang="en-US" sz="2000" dirty="0" err="1"/>
              <a:t>buf</a:t>
            </a:r>
            <a:r>
              <a:rPr lang="en-US" sz="2000" dirty="0"/>
              <a:t>) {</a:t>
            </a:r>
          </a:p>
          <a:p>
            <a:r>
              <a:rPr lang="en-US" sz="2000" dirty="0"/>
              <a:t>    	free(</a:t>
            </a:r>
            <a:r>
              <a:rPr lang="en-US" sz="2000" dirty="0" err="1"/>
              <a:t>buf</a:t>
            </a:r>
            <a:r>
              <a:rPr lang="en-US" sz="2000" dirty="0"/>
              <a:t>-&gt;data);</a:t>
            </a:r>
          </a:p>
          <a:p>
            <a:r>
              <a:rPr lang="en-US" sz="2000" dirty="0"/>
              <a:t>}</a:t>
            </a:r>
          </a:p>
          <a:p>
            <a:endParaRPr lang="en-US" sz="2000" dirty="0"/>
          </a:p>
          <a:p>
            <a:r>
              <a:rPr lang="en-US" sz="2000" dirty="0"/>
              <a:t>void process(Buffer *</a:t>
            </a:r>
            <a:r>
              <a:rPr lang="en-US" sz="2000" dirty="0" err="1"/>
              <a:t>buf</a:t>
            </a:r>
            <a:r>
              <a:rPr lang="en-US" sz="2000" dirty="0"/>
              <a:t>) {</a:t>
            </a:r>
          </a:p>
          <a:p>
            <a:r>
              <a:rPr lang="en-US" sz="2000" dirty="0"/>
              <a:t>    	</a:t>
            </a:r>
            <a:r>
              <a:rPr lang="en-US" sz="2000" dirty="0" err="1"/>
              <a:t>freeBuffer</a:t>
            </a:r>
            <a:r>
              <a:rPr lang="en-US" sz="2000" dirty="0"/>
              <a:t>(</a:t>
            </a:r>
            <a:r>
              <a:rPr lang="en-US" sz="2000" dirty="0" err="1"/>
              <a:t>buf</a:t>
            </a:r>
            <a:r>
              <a:rPr lang="en-US" sz="2000" dirty="0"/>
              <a:t>);</a:t>
            </a:r>
          </a:p>
          <a:p>
            <a:endParaRPr lang="en-US" sz="2000" dirty="0"/>
          </a:p>
          <a:p>
            <a:r>
              <a:rPr lang="en-US" sz="2000" dirty="0"/>
              <a:t>	if (</a:t>
            </a:r>
            <a:r>
              <a:rPr lang="en-US" sz="2000" dirty="0" err="1"/>
              <a:t>strlen</a:t>
            </a:r>
            <a:r>
              <a:rPr lang="en-US" sz="2000" dirty="0"/>
              <a:t>(</a:t>
            </a:r>
            <a:r>
              <a:rPr lang="en-US" sz="2000" dirty="0" err="1"/>
              <a:t>buf</a:t>
            </a:r>
            <a:r>
              <a:rPr lang="en-US" sz="2000" dirty="0"/>
              <a:t>-&gt;data) &gt; 5) {</a:t>
            </a:r>
          </a:p>
          <a:p>
            <a:r>
              <a:rPr lang="en-US" sz="2000" dirty="0"/>
              <a:t>		</a:t>
            </a:r>
            <a:r>
              <a:rPr lang="en-US" sz="2000" dirty="0" err="1"/>
              <a:t>printf</a:t>
            </a:r>
            <a:r>
              <a:rPr lang="en-US" sz="2000" dirty="0"/>
              <a:t>("Buffer contains: %s\n", </a:t>
            </a:r>
            <a:r>
              <a:rPr lang="en-US" sz="2000" dirty="0" err="1"/>
              <a:t>buf</a:t>
            </a:r>
            <a:r>
              <a:rPr lang="en-US" sz="2000" dirty="0"/>
              <a:t>-&gt;data);</a:t>
            </a:r>
          </a:p>
          <a:p>
            <a:r>
              <a:rPr lang="en-US" sz="2000" dirty="0"/>
              <a:t>    	}</a:t>
            </a:r>
          </a:p>
          <a:p>
            <a:r>
              <a:rPr lang="en-US" sz="2000" dirty="0"/>
              <a:t>}</a:t>
            </a:r>
          </a:p>
          <a:p>
            <a:endParaRPr lang="en-US" sz="2000" dirty="0"/>
          </a:p>
          <a:p>
            <a:r>
              <a:rPr lang="en-US" sz="2000" dirty="0"/>
              <a:t>int main() {</a:t>
            </a:r>
          </a:p>
          <a:p>
            <a:r>
              <a:rPr lang="en-US" sz="2000" dirty="0"/>
              <a:t>    Buffer *</a:t>
            </a:r>
            <a:r>
              <a:rPr lang="en-US" sz="2000" dirty="0" err="1"/>
              <a:t>buf</a:t>
            </a:r>
            <a:r>
              <a:rPr lang="en-US" sz="2000" dirty="0"/>
              <a:t> = malloc(</a:t>
            </a:r>
            <a:r>
              <a:rPr lang="en-US" sz="2000" dirty="0" err="1"/>
              <a:t>sizeof</a:t>
            </a:r>
            <a:r>
              <a:rPr lang="en-US" sz="2000" dirty="0"/>
              <a:t>(Buffer));</a:t>
            </a:r>
          </a:p>
          <a:p>
            <a:r>
              <a:rPr lang="en-US" sz="2000" dirty="0"/>
              <a:t>    </a:t>
            </a:r>
            <a:r>
              <a:rPr lang="en-US" sz="2000" dirty="0" err="1"/>
              <a:t>buf</a:t>
            </a:r>
            <a:r>
              <a:rPr lang="en-US" sz="2000" dirty="0"/>
              <a:t>-&gt;data = malloc(20);</a:t>
            </a:r>
          </a:p>
          <a:p>
            <a:r>
              <a:rPr lang="en-US" sz="2000" dirty="0"/>
              <a:t>    </a:t>
            </a:r>
            <a:r>
              <a:rPr lang="en-US" sz="2000" dirty="0" err="1"/>
              <a:t>strcpy</a:t>
            </a:r>
            <a:r>
              <a:rPr lang="en-US" sz="2000" dirty="0"/>
              <a:t>(</a:t>
            </a:r>
            <a:r>
              <a:rPr lang="en-US" sz="2000" dirty="0" err="1"/>
              <a:t>buf</a:t>
            </a:r>
            <a:r>
              <a:rPr lang="en-US" sz="2000" dirty="0"/>
              <a:t>-&gt;data, "Hello, world!");</a:t>
            </a:r>
          </a:p>
          <a:p>
            <a:endParaRPr lang="en-US" sz="2000" dirty="0"/>
          </a:p>
          <a:p>
            <a:r>
              <a:rPr lang="en-US" sz="2000" dirty="0"/>
              <a:t>    process(</a:t>
            </a:r>
            <a:r>
              <a:rPr lang="en-US" sz="2000" dirty="0" err="1"/>
              <a:t>buf</a:t>
            </a:r>
            <a:r>
              <a:rPr lang="en-US" sz="2000" dirty="0"/>
              <a:t>);</a:t>
            </a:r>
          </a:p>
          <a:p>
            <a:endParaRPr lang="en-US" sz="2000" dirty="0"/>
          </a:p>
          <a:p>
            <a:r>
              <a:rPr lang="en-US" sz="2000" dirty="0"/>
              <a:t>    free(</a:t>
            </a:r>
            <a:r>
              <a:rPr lang="en-US" sz="2000" dirty="0" err="1"/>
              <a:t>buf</a:t>
            </a:r>
            <a:r>
              <a:rPr lang="en-US" sz="2000" dirty="0"/>
              <a:t>);</a:t>
            </a:r>
          </a:p>
          <a:p>
            <a:r>
              <a:rPr lang="en-US" sz="2000" dirty="0"/>
              <a:t>    return 0;</a:t>
            </a:r>
          </a:p>
          <a:p>
            <a:r>
              <a:rPr lang="en-US" sz="2000" dirty="0"/>
              <a:t>}</a:t>
            </a:r>
          </a:p>
          <a:p>
            <a:endParaRPr lang="en-US" dirty="0"/>
          </a:p>
        </p:txBody>
      </p:sp>
      <p:sp>
        <p:nvSpPr>
          <p:cNvPr id="6" name="Title 5">
            <a:extLst>
              <a:ext uri="{FF2B5EF4-FFF2-40B4-BE49-F238E27FC236}">
                <a16:creationId xmlns:a16="http://schemas.microsoft.com/office/drawing/2014/main" id="{BCD0BD5F-A0DC-7B5F-C64C-3A5DC3EBC741}"/>
              </a:ext>
            </a:extLst>
          </p:cNvPr>
          <p:cNvSpPr>
            <a:spLocks noGrp="1"/>
          </p:cNvSpPr>
          <p:nvPr>
            <p:ph type="title"/>
          </p:nvPr>
        </p:nvSpPr>
        <p:spPr/>
        <p:txBody>
          <a:bodyPr/>
          <a:lstStyle/>
          <a:p>
            <a:r>
              <a:rPr lang="en-US" dirty="0"/>
              <a:t>Question 1</a:t>
            </a:r>
          </a:p>
        </p:txBody>
      </p:sp>
      <p:sp>
        <p:nvSpPr>
          <p:cNvPr id="9" name="Rectangle 8">
            <a:extLst>
              <a:ext uri="{FF2B5EF4-FFF2-40B4-BE49-F238E27FC236}">
                <a16:creationId xmlns:a16="http://schemas.microsoft.com/office/drawing/2014/main" id="{58AC1F8E-311E-EE21-AD22-86C99E34605D}"/>
              </a:ext>
            </a:extLst>
          </p:cNvPr>
          <p:cNvSpPr/>
          <p:nvPr/>
        </p:nvSpPr>
        <p:spPr>
          <a:xfrm>
            <a:off x="7884990" y="1004510"/>
            <a:ext cx="3649671" cy="1754326"/>
          </a:xfrm>
          <a:prstGeom prst="rect">
            <a:avLst/>
          </a:prstGeom>
          <a:noFill/>
        </p:spPr>
        <p:txBody>
          <a:bodyPr wrap="squar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Does this code have a memory safety bug?</a:t>
            </a:r>
          </a:p>
        </p:txBody>
      </p:sp>
    </p:spTree>
    <p:extLst>
      <p:ext uri="{BB962C8B-B14F-4D97-AF65-F5344CB8AC3E}">
        <p14:creationId xmlns:p14="http://schemas.microsoft.com/office/powerpoint/2010/main" val="208545867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16366-373C-2CBE-7EFB-146D6BC102A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C2D946D-23B5-E944-EED3-F6CD11E2EEF7}"/>
              </a:ext>
            </a:extLst>
          </p:cNvPr>
          <p:cNvSpPr>
            <a:spLocks noGrp="1"/>
          </p:cNvSpPr>
          <p:nvPr>
            <p:ph idx="1"/>
          </p:nvPr>
        </p:nvSpPr>
        <p:spPr/>
        <p:txBody>
          <a:bodyPr/>
          <a:lstStyle/>
          <a:p>
            <a:r>
              <a:rPr lang="en-US" dirty="0"/>
              <a:t>Does this code have a memory safety bug?</a:t>
            </a:r>
          </a:p>
          <a:p>
            <a:r>
              <a:rPr lang="en-US" dirty="0"/>
              <a:t>How can the attacker exploit it?</a:t>
            </a:r>
          </a:p>
        </p:txBody>
      </p:sp>
      <p:sp>
        <p:nvSpPr>
          <p:cNvPr id="6" name="Title 5">
            <a:extLst>
              <a:ext uri="{FF2B5EF4-FFF2-40B4-BE49-F238E27FC236}">
                <a16:creationId xmlns:a16="http://schemas.microsoft.com/office/drawing/2014/main" id="{ED78571F-870C-F467-3592-0CC5266E0B5B}"/>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225995094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135BF-B89E-A1F6-1250-464268A58B6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3A16D7D-597F-2CB7-FBD1-04185F0BFC04}"/>
              </a:ext>
            </a:extLst>
          </p:cNvPr>
          <p:cNvSpPr>
            <a:spLocks noGrp="1"/>
          </p:cNvSpPr>
          <p:nvPr>
            <p:ph idx="1"/>
          </p:nvPr>
        </p:nvSpPr>
        <p:spPr>
          <a:xfrm>
            <a:off x="238421" y="807038"/>
            <a:ext cx="5633413" cy="5046453"/>
          </a:xfrm>
        </p:spPr>
        <p:txBody>
          <a:bodyPr>
            <a:normAutofit/>
          </a:bodyPr>
          <a:lstStyle/>
          <a:p>
            <a:r>
              <a:rPr lang="en-US" dirty="0"/>
              <a:t>void </a:t>
            </a:r>
            <a:r>
              <a:rPr lang="en-US" dirty="0" err="1"/>
              <a:t>run_cmd</a:t>
            </a:r>
            <a:r>
              <a:rPr lang="en-US" dirty="0"/>
              <a:t>(char *msg) {</a:t>
            </a:r>
          </a:p>
          <a:p>
            <a:r>
              <a:rPr lang="en-US" dirty="0"/>
              <a:t>	system(msg);</a:t>
            </a:r>
          </a:p>
          <a:p>
            <a:r>
              <a:rPr lang="en-US" dirty="0"/>
              <a:t>}</a:t>
            </a:r>
          </a:p>
          <a:p>
            <a:r>
              <a:rPr lang="en-US" dirty="0"/>
              <a:t>void </a:t>
            </a:r>
            <a:r>
              <a:rPr lang="en-US" dirty="0" err="1"/>
              <a:t>print_msg</a:t>
            </a:r>
            <a:r>
              <a:rPr lang="en-US" dirty="0"/>
              <a:t>(char *msg) {    	</a:t>
            </a:r>
          </a:p>
          <a:p>
            <a:r>
              <a:rPr lang="en-US" dirty="0"/>
              <a:t>	</a:t>
            </a:r>
            <a:r>
              <a:rPr lang="en-US" dirty="0" err="1"/>
              <a:t>printf</a:t>
            </a:r>
            <a:r>
              <a:rPr lang="en-US" dirty="0"/>
              <a:t>("Message: %s\n", msg);</a:t>
            </a:r>
          </a:p>
          <a:p>
            <a:r>
              <a:rPr lang="en-US" dirty="0"/>
              <a:t>}</a:t>
            </a:r>
          </a:p>
          <a:p>
            <a:endParaRPr lang="en-US" dirty="0"/>
          </a:p>
          <a:p>
            <a:r>
              <a:rPr lang="en-US" dirty="0"/>
              <a:t>void *</a:t>
            </a:r>
            <a:r>
              <a:rPr lang="en-US" dirty="0" err="1"/>
              <a:t>admin_func</a:t>
            </a:r>
            <a:r>
              <a:rPr lang="en-US" dirty="0"/>
              <a:t>(void *</a:t>
            </a:r>
            <a:r>
              <a:rPr lang="en-US" dirty="0" err="1"/>
              <a:t>arg</a:t>
            </a:r>
            <a:r>
              <a:rPr lang="en-US" dirty="0"/>
              <a:t>) {</a:t>
            </a:r>
          </a:p>
          <a:p>
            <a:r>
              <a:rPr lang="en-US" dirty="0"/>
              <a:t>	while (1) {  </a:t>
            </a:r>
          </a:p>
          <a:p>
            <a:r>
              <a:rPr lang="en-US" dirty="0"/>
              <a:t>		char *</a:t>
            </a:r>
            <a:r>
              <a:rPr lang="en-US" dirty="0" err="1"/>
              <a:t>buf</a:t>
            </a:r>
            <a:r>
              <a:rPr lang="en-US" dirty="0"/>
              <a:t> = malloc(10);</a:t>
            </a:r>
          </a:p>
          <a:p>
            <a:r>
              <a:rPr lang="en-US" dirty="0"/>
              <a:t>		</a:t>
            </a:r>
            <a:r>
              <a:rPr lang="en-US" dirty="0" err="1"/>
              <a:t>strcpy</a:t>
            </a:r>
            <a:r>
              <a:rPr lang="en-US" dirty="0"/>
              <a:t>(</a:t>
            </a:r>
            <a:r>
              <a:rPr lang="en-US" dirty="0" err="1"/>
              <a:t>buf</a:t>
            </a:r>
            <a:r>
              <a:rPr lang="en-US" dirty="0"/>
              <a:t>, “time”);</a:t>
            </a:r>
          </a:p>
          <a:p>
            <a:r>
              <a:rPr lang="en-US" dirty="0"/>
              <a:t>		</a:t>
            </a:r>
            <a:r>
              <a:rPr lang="en-US" dirty="0" err="1"/>
              <a:t>run_cmd</a:t>
            </a:r>
            <a:r>
              <a:rPr lang="en-US" dirty="0"/>
              <a:t>(</a:t>
            </a:r>
            <a:r>
              <a:rPr lang="en-US" dirty="0" err="1"/>
              <a:t>buf</a:t>
            </a:r>
            <a:r>
              <a:rPr lang="en-US" dirty="0"/>
              <a:t>);		</a:t>
            </a:r>
          </a:p>
          <a:p>
            <a:r>
              <a:rPr lang="en-US" dirty="0"/>
              <a:t>		free(</a:t>
            </a:r>
            <a:r>
              <a:rPr lang="en-US" dirty="0" err="1"/>
              <a:t>buf</a:t>
            </a:r>
            <a:r>
              <a:rPr lang="en-US" dirty="0"/>
              <a:t>);</a:t>
            </a:r>
          </a:p>
          <a:p>
            <a:r>
              <a:rPr lang="en-US" dirty="0"/>
              <a:t>		// … 1000 statements later …</a:t>
            </a:r>
          </a:p>
          <a:p>
            <a:r>
              <a:rPr lang="en-US" dirty="0"/>
              <a:t>		</a:t>
            </a:r>
            <a:r>
              <a:rPr lang="en-US" dirty="0" err="1"/>
              <a:t>run_cmd</a:t>
            </a:r>
            <a:r>
              <a:rPr lang="en-US" dirty="0"/>
              <a:t>(</a:t>
            </a:r>
            <a:r>
              <a:rPr lang="en-US" dirty="0" err="1"/>
              <a:t>buf</a:t>
            </a:r>
            <a:r>
              <a:rPr lang="en-US" dirty="0"/>
              <a:t>);</a:t>
            </a:r>
          </a:p>
          <a:p>
            <a:r>
              <a:rPr lang="en-US" dirty="0"/>
              <a:t>	}</a:t>
            </a:r>
          </a:p>
          <a:p>
            <a:r>
              <a:rPr lang="en-US" dirty="0"/>
              <a:t>	return NULL;</a:t>
            </a:r>
          </a:p>
          <a:p>
            <a:r>
              <a:rPr lang="en-US" dirty="0"/>
              <a:t>}</a:t>
            </a:r>
          </a:p>
        </p:txBody>
      </p:sp>
      <p:sp>
        <p:nvSpPr>
          <p:cNvPr id="6" name="Title 5">
            <a:extLst>
              <a:ext uri="{FF2B5EF4-FFF2-40B4-BE49-F238E27FC236}">
                <a16:creationId xmlns:a16="http://schemas.microsoft.com/office/drawing/2014/main" id="{B0D92B50-65EC-3122-6286-FEC898EFE6FD}"/>
              </a:ext>
            </a:extLst>
          </p:cNvPr>
          <p:cNvSpPr>
            <a:spLocks noGrp="1"/>
          </p:cNvSpPr>
          <p:nvPr>
            <p:ph type="title"/>
          </p:nvPr>
        </p:nvSpPr>
        <p:spPr/>
        <p:txBody>
          <a:bodyPr/>
          <a:lstStyle/>
          <a:p>
            <a:r>
              <a:rPr lang="en-US" dirty="0"/>
              <a:t>Question 2 (Challenging!)</a:t>
            </a:r>
          </a:p>
        </p:txBody>
      </p:sp>
      <p:sp>
        <p:nvSpPr>
          <p:cNvPr id="4" name="Content Placeholder 2">
            <a:extLst>
              <a:ext uri="{FF2B5EF4-FFF2-40B4-BE49-F238E27FC236}">
                <a16:creationId xmlns:a16="http://schemas.microsoft.com/office/drawing/2014/main" id="{613B53FC-624F-3C7B-E3EC-CE837D6723FD}"/>
              </a:ext>
            </a:extLst>
          </p:cNvPr>
          <p:cNvSpPr txBox="1">
            <a:spLocks/>
          </p:cNvSpPr>
          <p:nvPr/>
        </p:nvSpPr>
        <p:spPr bwMode="auto">
          <a:xfrm>
            <a:off x="6096000" y="696277"/>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void *</a:t>
            </a:r>
            <a:r>
              <a:rPr lang="en-US" dirty="0" err="1"/>
              <a:t>user_func</a:t>
            </a:r>
            <a:r>
              <a:rPr lang="en-US" dirty="0"/>
              <a:t>(void *</a:t>
            </a:r>
            <a:r>
              <a:rPr lang="en-US" dirty="0" err="1"/>
              <a:t>arg</a:t>
            </a:r>
            <a:r>
              <a:rPr lang="en-US" dirty="0"/>
              <a:t>) {</a:t>
            </a:r>
          </a:p>
          <a:p>
            <a:r>
              <a:rPr lang="en-US" dirty="0"/>
              <a:t>	char temp[100];</a:t>
            </a:r>
          </a:p>
          <a:p>
            <a:r>
              <a:rPr lang="en-US" dirty="0"/>
              <a:t>	while (1) {  </a:t>
            </a:r>
          </a:p>
          <a:p>
            <a:r>
              <a:rPr lang="en-US" dirty="0"/>
              <a:t>		Buffer* </a:t>
            </a:r>
            <a:r>
              <a:rPr lang="en-US" dirty="0" err="1"/>
              <a:t>buf</a:t>
            </a:r>
            <a:r>
              <a:rPr lang="en-US" dirty="0"/>
              <a:t> = malloc(10);</a:t>
            </a:r>
          </a:p>
          <a:p>
            <a:r>
              <a:rPr lang="en-US" dirty="0"/>
              <a:t>		</a:t>
            </a:r>
            <a:r>
              <a:rPr lang="en-US" dirty="0" err="1"/>
              <a:t>scanf</a:t>
            </a:r>
            <a:r>
              <a:rPr lang="en-US" dirty="0"/>
              <a:t>(“%s”, </a:t>
            </a:r>
            <a:r>
              <a:rPr lang="en-US" dirty="0" err="1"/>
              <a:t>buf</a:t>
            </a:r>
            <a:r>
              <a:rPr lang="en-US" dirty="0"/>
              <a:t>);</a:t>
            </a:r>
          </a:p>
          <a:p>
            <a:r>
              <a:rPr lang="en-US" dirty="0"/>
              <a:t>		</a:t>
            </a:r>
            <a:r>
              <a:rPr lang="en-US" dirty="0" err="1"/>
              <a:t>print_msg</a:t>
            </a:r>
            <a:r>
              <a:rPr lang="en-US" dirty="0"/>
              <a:t>(</a:t>
            </a:r>
            <a:r>
              <a:rPr lang="en-US" dirty="0" err="1"/>
              <a:t>buf</a:t>
            </a:r>
            <a:r>
              <a:rPr lang="en-US" dirty="0"/>
              <a:t>);</a:t>
            </a:r>
          </a:p>
          <a:p>
            <a:r>
              <a:rPr lang="en-US" dirty="0"/>
              <a:t>	}</a:t>
            </a:r>
          </a:p>
          <a:p>
            <a:r>
              <a:rPr lang="en-US" dirty="0"/>
              <a:t>	return NULL;</a:t>
            </a:r>
          </a:p>
          <a:p>
            <a:r>
              <a:rPr lang="en-US" dirty="0"/>
              <a:t>}</a:t>
            </a:r>
            <a:br>
              <a:rPr lang="en-US" dirty="0"/>
            </a:br>
            <a:br>
              <a:rPr lang="en-US" dirty="0"/>
            </a:br>
            <a:r>
              <a:rPr lang="en-US" dirty="0"/>
              <a:t>int main(void) {</a:t>
            </a:r>
          </a:p>
          <a:p>
            <a:r>
              <a:rPr lang="en-US" dirty="0"/>
              <a:t>	</a:t>
            </a:r>
            <a:r>
              <a:rPr lang="en-US" dirty="0" err="1"/>
              <a:t>pthread_t</a:t>
            </a:r>
            <a:r>
              <a:rPr lang="en-US" dirty="0"/>
              <a:t> t1, t2;</a:t>
            </a:r>
            <a:br>
              <a:rPr lang="en-US" dirty="0"/>
            </a:br>
            <a:r>
              <a:rPr lang="en-US" dirty="0"/>
              <a:t>	</a:t>
            </a:r>
            <a:r>
              <a:rPr lang="en-US" dirty="0" err="1"/>
              <a:t>pthread_create</a:t>
            </a:r>
            <a:r>
              <a:rPr lang="en-US" dirty="0"/>
              <a:t>(&amp;t1, NULL, </a:t>
            </a:r>
            <a:r>
              <a:rPr lang="en-US" dirty="0" err="1"/>
              <a:t>admin_func</a:t>
            </a:r>
            <a:r>
              <a:rPr lang="en-US" dirty="0"/>
              <a:t>, NULL);</a:t>
            </a:r>
          </a:p>
          <a:p>
            <a:r>
              <a:rPr lang="en-US" dirty="0"/>
              <a:t>	</a:t>
            </a:r>
            <a:r>
              <a:rPr lang="en-US" dirty="0" err="1"/>
              <a:t>pthread_create</a:t>
            </a:r>
            <a:r>
              <a:rPr lang="en-US" dirty="0"/>
              <a:t>(&amp;t2, NULL, </a:t>
            </a:r>
            <a:r>
              <a:rPr lang="en-US" dirty="0" err="1"/>
              <a:t>user_func</a:t>
            </a:r>
            <a:r>
              <a:rPr lang="en-US" dirty="0"/>
              <a:t>, NULL);</a:t>
            </a:r>
          </a:p>
          <a:p>
            <a:r>
              <a:rPr lang="en-US" dirty="0"/>
              <a:t>	</a:t>
            </a:r>
            <a:r>
              <a:rPr lang="en-US" dirty="0" err="1"/>
              <a:t>pthread_join</a:t>
            </a:r>
            <a:r>
              <a:rPr lang="en-US" dirty="0"/>
              <a:t>(t1, NULL);</a:t>
            </a:r>
          </a:p>
          <a:p>
            <a:r>
              <a:rPr lang="en-US" dirty="0"/>
              <a:t>	</a:t>
            </a:r>
            <a:r>
              <a:rPr lang="en-US" dirty="0" err="1"/>
              <a:t>pthread_join</a:t>
            </a:r>
            <a:r>
              <a:rPr lang="en-US" dirty="0"/>
              <a:t>(t2, NULL);</a:t>
            </a:r>
          </a:p>
          <a:p>
            <a:r>
              <a:rPr lang="en-US" dirty="0"/>
              <a:t>	return 0;	</a:t>
            </a:r>
            <a:br>
              <a:rPr lang="en-US" dirty="0"/>
            </a:br>
            <a:r>
              <a:rPr lang="en-US" dirty="0"/>
              <a:t>}</a:t>
            </a:r>
          </a:p>
        </p:txBody>
      </p:sp>
      <p:sp>
        <p:nvSpPr>
          <p:cNvPr id="5" name="TextBox 4">
            <a:extLst>
              <a:ext uri="{FF2B5EF4-FFF2-40B4-BE49-F238E27FC236}">
                <a16:creationId xmlns:a16="http://schemas.microsoft.com/office/drawing/2014/main" id="{071A3148-CDFF-2424-8479-346D7B10020F}"/>
              </a:ext>
            </a:extLst>
          </p:cNvPr>
          <p:cNvSpPr txBox="1"/>
          <p:nvPr/>
        </p:nvSpPr>
        <p:spPr>
          <a:xfrm>
            <a:off x="4527933" y="5089793"/>
            <a:ext cx="2663486" cy="523220"/>
          </a:xfrm>
          <a:prstGeom prst="rect">
            <a:avLst/>
          </a:prstGeom>
          <a:noFill/>
        </p:spPr>
        <p:txBody>
          <a:bodyPr wrap="none" rtlCol="0">
            <a:spAutoFit/>
          </a:bodyPr>
          <a:lstStyle/>
          <a:p>
            <a:r>
              <a:rPr lang="en-US" sz="2800" b="1" i="1" dirty="0"/>
              <a:t>Heap feng-shui!!</a:t>
            </a:r>
          </a:p>
        </p:txBody>
      </p:sp>
    </p:spTree>
    <p:extLst>
      <p:ext uri="{BB962C8B-B14F-4D97-AF65-F5344CB8AC3E}">
        <p14:creationId xmlns:p14="http://schemas.microsoft.com/office/powerpoint/2010/main" val="4177079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8ACF764-4EF3-0028-4DE0-4F47C8F99DFE}"/>
              </a:ext>
            </a:extLst>
          </p:cNvPr>
          <p:cNvSpPr>
            <a:spLocks noGrp="1"/>
          </p:cNvSpPr>
          <p:nvPr>
            <p:ph idx="1"/>
          </p:nvPr>
        </p:nvSpPr>
        <p:spPr/>
        <p:txBody>
          <a:bodyPr/>
          <a:lstStyle/>
          <a:p>
            <a:endParaRPr lang="en-US"/>
          </a:p>
        </p:txBody>
      </p:sp>
      <p:sp>
        <p:nvSpPr>
          <p:cNvPr id="4" name="Title 3">
            <a:extLst>
              <a:ext uri="{FF2B5EF4-FFF2-40B4-BE49-F238E27FC236}">
                <a16:creationId xmlns:a16="http://schemas.microsoft.com/office/drawing/2014/main" id="{301A3D27-E15C-8F38-F8B7-FF8576E04D59}"/>
              </a:ext>
            </a:extLst>
          </p:cNvPr>
          <p:cNvSpPr>
            <a:spLocks noGrp="1"/>
          </p:cNvSpPr>
          <p:nvPr>
            <p:ph type="title"/>
          </p:nvPr>
        </p:nvSpPr>
        <p:spPr/>
        <p:txBody>
          <a:bodyPr/>
          <a:lstStyle/>
          <a:p>
            <a:r>
              <a:rPr lang="en-US" dirty="0"/>
              <a:t>Sensitive user data</a:t>
            </a:r>
          </a:p>
        </p:txBody>
      </p:sp>
      <p:sp>
        <p:nvSpPr>
          <p:cNvPr id="6" name="Rectangle: Rounded Corners 5">
            <a:extLst>
              <a:ext uri="{FF2B5EF4-FFF2-40B4-BE49-F238E27FC236}">
                <a16:creationId xmlns:a16="http://schemas.microsoft.com/office/drawing/2014/main" id="{E40C0C64-2CAE-B514-C326-93C24A9E4193}"/>
              </a:ext>
            </a:extLst>
          </p:cNvPr>
          <p:cNvSpPr/>
          <p:nvPr/>
        </p:nvSpPr>
        <p:spPr>
          <a:xfrm>
            <a:off x="7008367" y="1497989"/>
            <a:ext cx="3908087" cy="3699804"/>
          </a:xfrm>
          <a:prstGeom prst="roundRect">
            <a:avLst/>
          </a:prstGeom>
          <a:solidFill>
            <a:schemeClr val="tx2">
              <a:lumMod val="20000"/>
              <a:lumOff val="80000"/>
            </a:schemeClr>
          </a:solidFill>
          <a:ln w="508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7" name="Picture 6" descr="Gmail | Google Blog">
            <a:extLst>
              <a:ext uri="{FF2B5EF4-FFF2-40B4-BE49-F238E27FC236}">
                <a16:creationId xmlns:a16="http://schemas.microsoft.com/office/drawing/2014/main" id="{CDF7F8C2-FB88-B599-2121-AD08F038E61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00797" y="3491965"/>
            <a:ext cx="1158090" cy="115809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Image result for customer icons">
            <a:extLst>
              <a:ext uri="{FF2B5EF4-FFF2-40B4-BE49-F238E27FC236}">
                <a16:creationId xmlns:a16="http://schemas.microsoft.com/office/drawing/2014/main" id="{9432BEF6-5000-02DD-0944-685D41358B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5545" y="2534498"/>
            <a:ext cx="1873052" cy="163554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Bank of America Reveals New Logo Design - Logo Designer - Logo Designer">
            <a:extLst>
              <a:ext uri="{FF2B5EF4-FFF2-40B4-BE49-F238E27FC236}">
                <a16:creationId xmlns:a16="http://schemas.microsoft.com/office/drawing/2014/main" id="{6C78171D-1824-495D-2663-AAF14BD709B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102607" y="1960103"/>
            <a:ext cx="1876034" cy="115809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Cloud clipart 8 - Cliparting.com">
            <a:extLst>
              <a:ext uri="{FF2B5EF4-FFF2-40B4-BE49-F238E27FC236}">
                <a16:creationId xmlns:a16="http://schemas.microsoft.com/office/drawing/2014/main" id="{4C3C513B-08DD-ED2B-56D2-DB1DBEA8EE7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13341" y="4483613"/>
            <a:ext cx="1346070" cy="876398"/>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descr="Free Document Cliparts, Download Free Document Cliparts png images, Free  ClipArts on Clipart Library">
            <a:extLst>
              <a:ext uri="{FF2B5EF4-FFF2-40B4-BE49-F238E27FC236}">
                <a16:creationId xmlns:a16="http://schemas.microsoft.com/office/drawing/2014/main" id="{A605D263-51FB-967E-0E59-66DF6AA5036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799206" y="2131799"/>
            <a:ext cx="980299" cy="9802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descr="Free Email Clip Art Images｜Illustoon">
            <a:extLst>
              <a:ext uri="{FF2B5EF4-FFF2-40B4-BE49-F238E27FC236}">
                <a16:creationId xmlns:a16="http://schemas.microsoft.com/office/drawing/2014/main" id="{C59EB284-B554-ACEC-CCB2-74F208411FA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924442" y="1985589"/>
            <a:ext cx="1244991" cy="1244991"/>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2" descr="Free Credit Card Transparent Background, Download Free Credit Card  Transparent Background png images, Free ClipArts on Clipart Library">
            <a:extLst>
              <a:ext uri="{FF2B5EF4-FFF2-40B4-BE49-F238E27FC236}">
                <a16:creationId xmlns:a16="http://schemas.microsoft.com/office/drawing/2014/main" id="{A9EDEC4A-1D00-78F1-9527-0B95330CEC40}"/>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3846571" y="3658407"/>
            <a:ext cx="885568" cy="885568"/>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descr="23andMe - Home | Facebook">
            <a:extLst>
              <a:ext uri="{FF2B5EF4-FFF2-40B4-BE49-F238E27FC236}">
                <a16:creationId xmlns:a16="http://schemas.microsoft.com/office/drawing/2014/main" id="{46BFE5CE-A92B-9E3A-EF20-4E6F4653054F}"/>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9379375" y="1845356"/>
            <a:ext cx="1385224" cy="1385224"/>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4" descr="Google Docs Logo | Google docs logo, Google docs, Digital marketing plan  template">
            <a:extLst>
              <a:ext uri="{FF2B5EF4-FFF2-40B4-BE49-F238E27FC236}">
                <a16:creationId xmlns:a16="http://schemas.microsoft.com/office/drawing/2014/main" id="{7B89A553-1A75-9460-AAA7-DBF0E0FBF58B}"/>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9597821" y="3347891"/>
            <a:ext cx="939398" cy="1189112"/>
          </a:xfrm>
          <a:prstGeom prst="rect">
            <a:avLst/>
          </a:prstGeom>
          <a:noFill/>
          <a:extLst>
            <a:ext uri="{909E8E84-426E-40DD-AFC4-6F175D3DCCD1}">
              <a14:hiddenFill xmlns:a14="http://schemas.microsoft.com/office/drawing/2010/main">
                <a:solidFill>
                  <a:srgbClr val="FFFFFF"/>
                </a:solidFill>
              </a14:hiddenFill>
            </a:ext>
          </a:extLst>
        </p:spPr>
      </p:pic>
      <p:cxnSp>
        <p:nvCxnSpPr>
          <p:cNvPr id="16" name="Straight Arrow Connector 15">
            <a:extLst>
              <a:ext uri="{FF2B5EF4-FFF2-40B4-BE49-F238E27FC236}">
                <a16:creationId xmlns:a16="http://schemas.microsoft.com/office/drawing/2014/main" id="{AAE5D45B-1005-6B51-9D74-FC6C7F3736D9}"/>
              </a:ext>
            </a:extLst>
          </p:cNvPr>
          <p:cNvCxnSpPr>
            <a:stCxn id="8" idx="3"/>
            <a:endCxn id="6" idx="1"/>
          </p:cNvCxnSpPr>
          <p:nvPr/>
        </p:nvCxnSpPr>
        <p:spPr>
          <a:xfrm flipV="1">
            <a:off x="3148597" y="3347891"/>
            <a:ext cx="3859770" cy="4380"/>
          </a:xfrm>
          <a:prstGeom prst="straightConnector1">
            <a:avLst/>
          </a:prstGeom>
          <a:ln w="85725" cmpd="thickThin">
            <a:solidFill>
              <a:srgbClr val="0000FF"/>
            </a:solidFill>
            <a:round/>
            <a:headEnd type="triangle" w="lg" len="lg"/>
            <a:tailEnd type="triangle" w="lg" len="lg"/>
          </a:ln>
        </p:spPr>
        <p:style>
          <a:lnRef idx="1">
            <a:schemeClr val="accent1"/>
          </a:lnRef>
          <a:fillRef idx="0">
            <a:schemeClr val="accent1"/>
          </a:fillRef>
          <a:effectRef idx="0">
            <a:schemeClr val="accent1"/>
          </a:effectRef>
          <a:fontRef idx="minor">
            <a:schemeClr val="tx1"/>
          </a:fontRef>
        </p:style>
      </p:cxnSp>
      <p:pic>
        <p:nvPicPr>
          <p:cNvPr id="17" name="Picture 16" descr="DNA | Inspirit">
            <a:extLst>
              <a:ext uri="{FF2B5EF4-FFF2-40B4-BE49-F238E27FC236}">
                <a16:creationId xmlns:a16="http://schemas.microsoft.com/office/drawing/2014/main" id="{D55A59B2-81BE-93D0-BA3F-4606781FA961}"/>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rot="1230702">
            <a:off x="4622651" y="3379311"/>
            <a:ext cx="1872021" cy="18720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8344783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7909B19-9198-7BC1-B1F1-9FB3705A86D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EC17A23-0FAA-BD62-42DE-3FD738D51571}"/>
              </a:ext>
            </a:extLst>
          </p:cNvPr>
          <p:cNvSpPr>
            <a:spLocks noGrp="1"/>
          </p:cNvSpPr>
          <p:nvPr>
            <p:ph idx="1"/>
          </p:nvPr>
        </p:nvSpPr>
        <p:spPr/>
        <p:txBody>
          <a:bodyPr/>
          <a:lstStyle/>
          <a:p>
            <a:r>
              <a:rPr lang="en-US" dirty="0"/>
              <a:t>Confidentiality: information is only accessible to those authorized to it</a:t>
            </a:r>
          </a:p>
          <a:p>
            <a:r>
              <a:rPr lang="en-US" dirty="0"/>
              <a:t>Integrity: information is modified only by those authorized to do so</a:t>
            </a:r>
          </a:p>
          <a:p>
            <a:r>
              <a:rPr lang="en-US" dirty="0"/>
              <a:t>Availability: information is available to authorized users when needed</a:t>
            </a:r>
          </a:p>
        </p:txBody>
      </p:sp>
      <p:sp>
        <p:nvSpPr>
          <p:cNvPr id="4" name="Title 3">
            <a:extLst>
              <a:ext uri="{FF2B5EF4-FFF2-40B4-BE49-F238E27FC236}">
                <a16:creationId xmlns:a16="http://schemas.microsoft.com/office/drawing/2014/main" id="{F65D62ED-72F1-17AB-F3A1-253715410050}"/>
              </a:ext>
            </a:extLst>
          </p:cNvPr>
          <p:cNvSpPr>
            <a:spLocks noGrp="1"/>
          </p:cNvSpPr>
          <p:nvPr>
            <p:ph type="title"/>
          </p:nvPr>
        </p:nvSpPr>
        <p:spPr/>
        <p:txBody>
          <a:bodyPr/>
          <a:lstStyle/>
          <a:p>
            <a:r>
              <a:rPr lang="en-US" dirty="0"/>
              <a:t>Software security principles</a:t>
            </a:r>
          </a:p>
        </p:txBody>
      </p:sp>
    </p:spTree>
    <p:extLst>
      <p:ext uri="{BB962C8B-B14F-4D97-AF65-F5344CB8AC3E}">
        <p14:creationId xmlns:p14="http://schemas.microsoft.com/office/powerpoint/2010/main" val="167097746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3A12321-3680-70D7-AFE0-7F0BB2D630D8}"/>
              </a:ext>
            </a:extLst>
          </p:cNvPr>
          <p:cNvSpPr>
            <a:spLocks noGrp="1"/>
          </p:cNvSpPr>
          <p:nvPr>
            <p:ph idx="1"/>
          </p:nvPr>
        </p:nvSpPr>
        <p:spPr/>
        <p:txBody>
          <a:bodyPr/>
          <a:lstStyle/>
          <a:p>
            <a:r>
              <a:rPr lang="en-US" i="1" dirty="0"/>
              <a:t>Informally, </a:t>
            </a:r>
            <a:r>
              <a:rPr lang="en-US" dirty="0"/>
              <a:t>the software should perform </a:t>
            </a:r>
            <a:r>
              <a:rPr lang="en-US" b="1" dirty="0"/>
              <a:t>only </a:t>
            </a:r>
            <a:r>
              <a:rPr lang="en-US" dirty="0"/>
              <a:t>the programmer-intended operation</a:t>
            </a:r>
          </a:p>
          <a:p>
            <a:r>
              <a:rPr lang="en-US" dirty="0"/>
              <a:t>Surprisingly hard to ensure</a:t>
            </a:r>
          </a:p>
          <a:p>
            <a:pPr lvl="1"/>
            <a:r>
              <a:rPr lang="en-US" dirty="0"/>
              <a:t>Bugs are software flaws or defects that causes the program to behave unexpectedly</a:t>
            </a:r>
          </a:p>
          <a:p>
            <a:pPr lvl="1"/>
            <a:r>
              <a:rPr lang="en-US" dirty="0"/>
              <a:t>Some bugs lead to </a:t>
            </a:r>
            <a:r>
              <a:rPr lang="en-US" b="1" dirty="0"/>
              <a:t>software vulnerabilities</a:t>
            </a:r>
            <a:endParaRPr lang="en-US" dirty="0"/>
          </a:p>
          <a:p>
            <a:r>
              <a:rPr lang="en-US" dirty="0"/>
              <a:t>Software vulnerabilities are software flaws that attackers can exploit to compromise the system</a:t>
            </a:r>
          </a:p>
        </p:txBody>
      </p:sp>
      <p:sp>
        <p:nvSpPr>
          <p:cNvPr id="4" name="Title 3">
            <a:extLst>
              <a:ext uri="{FF2B5EF4-FFF2-40B4-BE49-F238E27FC236}">
                <a16:creationId xmlns:a16="http://schemas.microsoft.com/office/drawing/2014/main" id="{22A20FFA-C2DB-B464-1D71-74BE82A730EA}"/>
              </a:ext>
            </a:extLst>
          </p:cNvPr>
          <p:cNvSpPr>
            <a:spLocks noGrp="1"/>
          </p:cNvSpPr>
          <p:nvPr>
            <p:ph type="title"/>
          </p:nvPr>
        </p:nvSpPr>
        <p:spPr/>
        <p:txBody>
          <a:bodyPr/>
          <a:lstStyle/>
          <a:p>
            <a:r>
              <a:rPr lang="en-US" dirty="0"/>
              <a:t>What is software security?</a:t>
            </a:r>
          </a:p>
        </p:txBody>
      </p:sp>
    </p:spTree>
    <p:extLst>
      <p:ext uri="{BB962C8B-B14F-4D97-AF65-F5344CB8AC3E}">
        <p14:creationId xmlns:p14="http://schemas.microsoft.com/office/powerpoint/2010/main" val="2878838914"/>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759E043-60C7-6CED-C375-7BC5609F799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D4B4E8-85EC-3486-610B-66D830FC0BA0}"/>
              </a:ext>
            </a:extLst>
          </p:cNvPr>
          <p:cNvSpPr>
            <a:spLocks noGrp="1"/>
          </p:cNvSpPr>
          <p:nvPr>
            <p:ph idx="1"/>
          </p:nvPr>
        </p:nvSpPr>
        <p:spPr>
          <a:xfrm>
            <a:off x="360607" y="785004"/>
            <a:ext cx="5735393" cy="5218981"/>
          </a:xfrm>
        </p:spPr>
        <p:txBody>
          <a:bodyPr>
            <a:normAutofit/>
          </a:bodyPr>
          <a:lstStyle/>
          <a:p>
            <a:r>
              <a:rPr lang="en-US" dirty="0"/>
              <a:t>Ensures that memory accesses are confined to the boundaries of the allocated memory block</a:t>
            </a:r>
          </a:p>
          <a:p>
            <a:r>
              <a:rPr lang="en-US" dirty="0" err="1"/>
              <a:t>E.g</a:t>
            </a:r>
            <a:r>
              <a:rPr lang="en-US" dirty="0"/>
              <a:t>, when using a pointer to access an array, the pointer should point to memory within the array bounds</a:t>
            </a:r>
          </a:p>
          <a:p>
            <a:r>
              <a:rPr lang="en-US" dirty="0"/>
              <a:t>Out-of-bounds accesses are prevented</a:t>
            </a:r>
          </a:p>
        </p:txBody>
      </p:sp>
      <p:sp>
        <p:nvSpPr>
          <p:cNvPr id="4" name="Title 3">
            <a:extLst>
              <a:ext uri="{FF2B5EF4-FFF2-40B4-BE49-F238E27FC236}">
                <a16:creationId xmlns:a16="http://schemas.microsoft.com/office/drawing/2014/main" id="{12176691-4CEF-5E83-3B1F-9D82F9AAFB33}"/>
              </a:ext>
            </a:extLst>
          </p:cNvPr>
          <p:cNvSpPr>
            <a:spLocks noGrp="1"/>
          </p:cNvSpPr>
          <p:nvPr>
            <p:ph type="title"/>
          </p:nvPr>
        </p:nvSpPr>
        <p:spPr/>
        <p:txBody>
          <a:bodyPr/>
          <a:lstStyle/>
          <a:p>
            <a:r>
              <a:rPr lang="en-US" dirty="0"/>
              <a:t>Spatial memory safety</a:t>
            </a:r>
          </a:p>
        </p:txBody>
      </p:sp>
      <p:sp>
        <p:nvSpPr>
          <p:cNvPr id="8" name="TextBox 7">
            <a:extLst>
              <a:ext uri="{FF2B5EF4-FFF2-40B4-BE49-F238E27FC236}">
                <a16:creationId xmlns:a16="http://schemas.microsoft.com/office/drawing/2014/main" id="{E5F831CE-2D64-E134-1C81-C584106B424B}"/>
              </a:ext>
            </a:extLst>
          </p:cNvPr>
          <p:cNvSpPr txBox="1"/>
          <p:nvPr/>
        </p:nvSpPr>
        <p:spPr>
          <a:xfrm>
            <a:off x="6569948" y="1727201"/>
            <a:ext cx="5622052" cy="461665"/>
          </a:xfrm>
          <a:prstGeom prst="rect">
            <a:avLst/>
          </a:prstGeom>
          <a:noFill/>
        </p:spPr>
        <p:txBody>
          <a:bodyPr wrap="none" rtlCol="0">
            <a:spAutoFit/>
          </a:bodyPr>
          <a:lstStyle/>
          <a:p>
            <a:r>
              <a:rPr lang="en-US" sz="2400" dirty="0">
                <a:latin typeface="Consolas" panose="020B0609020204030204" pitchFamily="49" charset="0"/>
              </a:rPr>
              <a:t>int array[4] = {10, 20, 30, 40};</a:t>
            </a:r>
          </a:p>
        </p:txBody>
      </p:sp>
      <p:sp>
        <p:nvSpPr>
          <p:cNvPr id="11" name="TextBox 10">
            <a:extLst>
              <a:ext uri="{FF2B5EF4-FFF2-40B4-BE49-F238E27FC236}">
                <a16:creationId xmlns:a16="http://schemas.microsoft.com/office/drawing/2014/main" id="{46D8BED1-9326-949F-D6DF-9EB2EE3BBA42}"/>
              </a:ext>
            </a:extLst>
          </p:cNvPr>
          <p:cNvSpPr txBox="1"/>
          <p:nvPr/>
        </p:nvSpPr>
        <p:spPr>
          <a:xfrm>
            <a:off x="7483728" y="4412848"/>
            <a:ext cx="3073277" cy="830997"/>
          </a:xfrm>
          <a:prstGeom prst="rect">
            <a:avLst/>
          </a:prstGeom>
          <a:noFill/>
        </p:spPr>
        <p:txBody>
          <a:bodyPr wrap="none" rtlCol="0">
            <a:spAutoFit/>
          </a:bodyPr>
          <a:lstStyle/>
          <a:p>
            <a:r>
              <a:rPr lang="en-US" sz="2400" dirty="0">
                <a:latin typeface="Consolas" panose="020B0609020204030204" pitchFamily="49" charset="0"/>
              </a:rPr>
              <a:t>int* </a:t>
            </a:r>
            <a:r>
              <a:rPr lang="en-US" sz="2400" dirty="0" err="1">
                <a:latin typeface="Consolas" panose="020B0609020204030204" pitchFamily="49" charset="0"/>
              </a:rPr>
              <a:t>ptr</a:t>
            </a:r>
            <a:r>
              <a:rPr lang="en-US" sz="2400" dirty="0">
                <a:latin typeface="Consolas" panose="020B0609020204030204" pitchFamily="49" charset="0"/>
              </a:rPr>
              <a:t> = array;</a:t>
            </a:r>
            <a:br>
              <a:rPr lang="en-US" sz="2400" dirty="0">
                <a:latin typeface="Consolas" panose="020B0609020204030204" pitchFamily="49" charset="0"/>
              </a:rPr>
            </a:br>
            <a:r>
              <a:rPr lang="en-US" sz="2400" dirty="0" err="1">
                <a:latin typeface="Consolas" panose="020B0609020204030204" pitchFamily="49" charset="0"/>
              </a:rPr>
              <a:t>ptr</a:t>
            </a:r>
            <a:r>
              <a:rPr lang="en-US" sz="2400" dirty="0">
                <a:latin typeface="Consolas" panose="020B0609020204030204" pitchFamily="49" charset="0"/>
              </a:rPr>
              <a:t>++;</a:t>
            </a:r>
          </a:p>
        </p:txBody>
      </p:sp>
      <p:cxnSp>
        <p:nvCxnSpPr>
          <p:cNvPr id="13" name="Connector: Curved 12">
            <a:extLst>
              <a:ext uri="{FF2B5EF4-FFF2-40B4-BE49-F238E27FC236}">
                <a16:creationId xmlns:a16="http://schemas.microsoft.com/office/drawing/2014/main" id="{8EFC033E-EF00-3464-6CC0-1ED81CAA0C90}"/>
              </a:ext>
            </a:extLst>
          </p:cNvPr>
          <p:cNvCxnSpPr>
            <a:stCxn id="11" idx="0"/>
            <a:endCxn id="2" idx="2"/>
          </p:cNvCxnSpPr>
          <p:nvPr/>
        </p:nvCxnSpPr>
        <p:spPr>
          <a:xfrm rot="16200000" flipV="1">
            <a:off x="7449110" y="2841590"/>
            <a:ext cx="988818" cy="2153697"/>
          </a:xfrm>
          <a:prstGeom prst="curvedConnector3">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nector: Curved 13">
            <a:extLst>
              <a:ext uri="{FF2B5EF4-FFF2-40B4-BE49-F238E27FC236}">
                <a16:creationId xmlns:a16="http://schemas.microsoft.com/office/drawing/2014/main" id="{63483F7F-0C2C-1A0A-730C-8606217543CF}"/>
              </a:ext>
            </a:extLst>
          </p:cNvPr>
          <p:cNvCxnSpPr>
            <a:cxnSpLocks/>
            <a:stCxn id="11" idx="0"/>
            <a:endCxn id="3" idx="2"/>
          </p:cNvCxnSpPr>
          <p:nvPr/>
        </p:nvCxnSpPr>
        <p:spPr>
          <a:xfrm rot="16200000" flipV="1">
            <a:off x="7970787" y="3363267"/>
            <a:ext cx="988819" cy="1110343"/>
          </a:xfrm>
          <a:prstGeom prst="curvedConnector3">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F58B583-4B5F-8889-A717-675B7623D14E}"/>
              </a:ext>
            </a:extLst>
          </p:cNvPr>
          <p:cNvCxnSpPr>
            <a:cxnSpLocks/>
            <a:stCxn id="11" idx="0"/>
            <a:endCxn id="9" idx="2"/>
          </p:cNvCxnSpPr>
          <p:nvPr/>
        </p:nvCxnSpPr>
        <p:spPr>
          <a:xfrm rot="16200000" flipV="1">
            <a:off x="8492464" y="3884944"/>
            <a:ext cx="988819" cy="66989"/>
          </a:xfrm>
          <a:prstGeom prst="curvedConnector3">
            <a:avLst>
              <a:gd name="adj1" fmla="val 50000"/>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Connector: Curved 15">
            <a:extLst>
              <a:ext uri="{FF2B5EF4-FFF2-40B4-BE49-F238E27FC236}">
                <a16:creationId xmlns:a16="http://schemas.microsoft.com/office/drawing/2014/main" id="{F54BA23D-081F-2387-FA51-8A96C427C1A3}"/>
              </a:ext>
            </a:extLst>
          </p:cNvPr>
          <p:cNvCxnSpPr>
            <a:cxnSpLocks/>
            <a:stCxn id="11" idx="0"/>
            <a:endCxn id="10" idx="2"/>
          </p:cNvCxnSpPr>
          <p:nvPr/>
        </p:nvCxnSpPr>
        <p:spPr>
          <a:xfrm rot="5400000" flipH="1" flipV="1">
            <a:off x="9014140" y="3430257"/>
            <a:ext cx="988819" cy="976365"/>
          </a:xfrm>
          <a:prstGeom prst="curvedConnector3">
            <a:avLst>
              <a:gd name="adj1" fmla="val 50000"/>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grpSp>
        <p:nvGrpSpPr>
          <p:cNvPr id="35" name="Group 34">
            <a:extLst>
              <a:ext uri="{FF2B5EF4-FFF2-40B4-BE49-F238E27FC236}">
                <a16:creationId xmlns:a16="http://schemas.microsoft.com/office/drawing/2014/main" id="{B3B7CA40-D102-E924-5FE5-D54804F75E38}"/>
              </a:ext>
            </a:extLst>
          </p:cNvPr>
          <p:cNvGrpSpPr/>
          <p:nvPr/>
        </p:nvGrpSpPr>
        <p:grpSpPr>
          <a:xfrm>
            <a:off x="6344993" y="2445152"/>
            <a:ext cx="4173416" cy="978878"/>
            <a:chOff x="6344993" y="2445152"/>
            <a:chExt cx="4173416" cy="978878"/>
          </a:xfrm>
        </p:grpSpPr>
        <p:sp>
          <p:nvSpPr>
            <p:cNvPr id="2" name="Rectangle: Rounded Corners 1">
              <a:extLst>
                <a:ext uri="{FF2B5EF4-FFF2-40B4-BE49-F238E27FC236}">
                  <a16:creationId xmlns:a16="http://schemas.microsoft.com/office/drawing/2014/main" id="{829B984F-1E65-DF10-C535-402B1BC2A218}"/>
                </a:ext>
              </a:extLst>
            </p:cNvPr>
            <p:cNvSpPr/>
            <p:nvPr/>
          </p:nvSpPr>
          <p:spPr>
            <a:xfrm>
              <a:off x="6344993" y="2445153"/>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10</a:t>
              </a:r>
            </a:p>
          </p:txBody>
        </p:sp>
        <p:sp>
          <p:nvSpPr>
            <p:cNvPr id="3" name="Rectangle: Rounded Corners 2">
              <a:extLst>
                <a:ext uri="{FF2B5EF4-FFF2-40B4-BE49-F238E27FC236}">
                  <a16:creationId xmlns:a16="http://schemas.microsoft.com/office/drawing/2014/main" id="{67034456-557C-4527-3F70-20422FDE0FBB}"/>
                </a:ext>
              </a:extLst>
            </p:cNvPr>
            <p:cNvSpPr/>
            <p:nvPr/>
          </p:nvSpPr>
          <p:spPr>
            <a:xfrm>
              <a:off x="7388347"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20</a:t>
              </a:r>
            </a:p>
          </p:txBody>
        </p:sp>
        <p:sp>
          <p:nvSpPr>
            <p:cNvPr id="9" name="Rectangle: Rounded Corners 8">
              <a:extLst>
                <a:ext uri="{FF2B5EF4-FFF2-40B4-BE49-F238E27FC236}">
                  <a16:creationId xmlns:a16="http://schemas.microsoft.com/office/drawing/2014/main" id="{FB4A0726-9116-0180-72CA-A1C64D00B1EE}"/>
                </a:ext>
              </a:extLst>
            </p:cNvPr>
            <p:cNvSpPr/>
            <p:nvPr/>
          </p:nvSpPr>
          <p:spPr>
            <a:xfrm>
              <a:off x="8431701"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30</a:t>
              </a:r>
            </a:p>
          </p:txBody>
        </p:sp>
        <p:sp>
          <p:nvSpPr>
            <p:cNvPr id="10" name="Rectangle: Rounded Corners 9">
              <a:extLst>
                <a:ext uri="{FF2B5EF4-FFF2-40B4-BE49-F238E27FC236}">
                  <a16:creationId xmlns:a16="http://schemas.microsoft.com/office/drawing/2014/main" id="{9709D594-8847-245B-86AE-7C740739B3D2}"/>
                </a:ext>
              </a:extLst>
            </p:cNvPr>
            <p:cNvSpPr/>
            <p:nvPr/>
          </p:nvSpPr>
          <p:spPr>
            <a:xfrm>
              <a:off x="9475055"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40</a:t>
              </a:r>
            </a:p>
          </p:txBody>
        </p:sp>
      </p:grpSp>
      <p:sp>
        <p:nvSpPr>
          <p:cNvPr id="23" name="Rectangle: Rounded Corners 22">
            <a:extLst>
              <a:ext uri="{FF2B5EF4-FFF2-40B4-BE49-F238E27FC236}">
                <a16:creationId xmlns:a16="http://schemas.microsoft.com/office/drawing/2014/main" id="{D7D6390D-1AF2-98C6-EF95-0409DAC146CC}"/>
              </a:ext>
            </a:extLst>
          </p:cNvPr>
          <p:cNvSpPr/>
          <p:nvPr/>
        </p:nvSpPr>
        <p:spPr>
          <a:xfrm>
            <a:off x="10788039"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‘A’</a:t>
            </a:r>
          </a:p>
        </p:txBody>
      </p:sp>
      <p:cxnSp>
        <p:nvCxnSpPr>
          <p:cNvPr id="24" name="Connector: Curved 23">
            <a:extLst>
              <a:ext uri="{FF2B5EF4-FFF2-40B4-BE49-F238E27FC236}">
                <a16:creationId xmlns:a16="http://schemas.microsoft.com/office/drawing/2014/main" id="{F26AC635-3DC9-6BF4-D942-BBB3EA833C62}"/>
              </a:ext>
            </a:extLst>
          </p:cNvPr>
          <p:cNvCxnSpPr>
            <a:cxnSpLocks/>
            <a:stCxn id="11" idx="0"/>
            <a:endCxn id="23" idx="2"/>
          </p:cNvCxnSpPr>
          <p:nvPr/>
        </p:nvCxnSpPr>
        <p:spPr>
          <a:xfrm rot="5400000" flipH="1" flipV="1">
            <a:off x="9670632" y="2773765"/>
            <a:ext cx="988819" cy="2289349"/>
          </a:xfrm>
          <a:prstGeom prst="curvedConnector3">
            <a:avLst>
              <a:gd name="adj1" fmla="val 50000"/>
            </a:avLst>
          </a:prstGeom>
          <a:ln w="2222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7" name="Multiplication Sign 26">
            <a:extLst>
              <a:ext uri="{FF2B5EF4-FFF2-40B4-BE49-F238E27FC236}">
                <a16:creationId xmlns:a16="http://schemas.microsoft.com/office/drawing/2014/main" id="{46687342-BAD1-3A2B-123C-3BCCE5B6BC6C}"/>
              </a:ext>
            </a:extLst>
          </p:cNvPr>
          <p:cNvSpPr/>
          <p:nvPr/>
        </p:nvSpPr>
        <p:spPr>
          <a:xfrm>
            <a:off x="10175632" y="3368152"/>
            <a:ext cx="791307" cy="957663"/>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0551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7" grpId="0" animBg="1"/>
    </p:bldLst>
  </p:timing>
</p:sld>
</file>

<file path=ppt/slides/slide1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5BE93BB-1A5C-3C5E-893C-A5546B9F450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D97BB2-FDF9-0098-9BF4-2B639527C44F}"/>
              </a:ext>
            </a:extLst>
          </p:cNvPr>
          <p:cNvSpPr>
            <a:spLocks noGrp="1"/>
          </p:cNvSpPr>
          <p:nvPr>
            <p:ph idx="1"/>
          </p:nvPr>
        </p:nvSpPr>
        <p:spPr/>
        <p:txBody>
          <a:bodyPr/>
          <a:lstStyle/>
          <a:p>
            <a:r>
              <a:rPr lang="en-US" dirty="0"/>
              <a:t>C/C++ allows out of bounds access</a:t>
            </a:r>
          </a:p>
          <a:p>
            <a:pPr lvl="1"/>
            <a:r>
              <a:rPr lang="en-US" dirty="0"/>
              <a:t>Out of bound access does not crash like in Java and other memory safe languages</a:t>
            </a:r>
          </a:p>
          <a:p>
            <a:r>
              <a:rPr lang="en-US" dirty="0"/>
              <a:t>Accesses </a:t>
            </a:r>
            <a:r>
              <a:rPr lang="en-US" i="1" dirty="0"/>
              <a:t>whatever </a:t>
            </a:r>
            <a:r>
              <a:rPr lang="en-US" dirty="0"/>
              <a:t>was in the adjacent memory location</a:t>
            </a:r>
          </a:p>
        </p:txBody>
      </p:sp>
      <p:sp>
        <p:nvSpPr>
          <p:cNvPr id="4" name="Title 3">
            <a:extLst>
              <a:ext uri="{FF2B5EF4-FFF2-40B4-BE49-F238E27FC236}">
                <a16:creationId xmlns:a16="http://schemas.microsoft.com/office/drawing/2014/main" id="{2252DFBB-4ED3-AC62-3B21-49EC79A23814}"/>
              </a:ext>
            </a:extLst>
          </p:cNvPr>
          <p:cNvSpPr>
            <a:spLocks noGrp="1"/>
          </p:cNvSpPr>
          <p:nvPr>
            <p:ph type="title"/>
          </p:nvPr>
        </p:nvSpPr>
        <p:spPr/>
        <p:txBody>
          <a:bodyPr/>
          <a:lstStyle/>
          <a:p>
            <a:r>
              <a:rPr lang="en-US" dirty="0"/>
              <a:t>Lack of spatial memory safety</a:t>
            </a:r>
          </a:p>
        </p:txBody>
      </p:sp>
    </p:spTree>
    <p:extLst>
      <p:ext uri="{BB962C8B-B14F-4D97-AF65-F5344CB8AC3E}">
        <p14:creationId xmlns:p14="http://schemas.microsoft.com/office/powerpoint/2010/main" val="130041786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7F5CEBB-2E98-F2E3-635E-FE731CC28603}"/>
              </a:ext>
            </a:extLst>
          </p:cNvPr>
          <p:cNvSpPr>
            <a:spLocks noGrp="1"/>
          </p:cNvSpPr>
          <p:nvPr>
            <p:ph idx="1"/>
          </p:nvPr>
        </p:nvSpPr>
        <p:spPr/>
        <p:txBody>
          <a:bodyPr/>
          <a:lstStyle/>
          <a:p>
            <a:r>
              <a:rPr lang="en-US" dirty="0"/>
              <a:t>Two types of memory</a:t>
            </a:r>
          </a:p>
          <a:p>
            <a:pPr lvl="1"/>
            <a:r>
              <a:rPr lang="en-US" dirty="0"/>
              <a:t>Stack </a:t>
            </a:r>
            <a:r>
              <a:rPr lang="en-US" dirty="0">
                <a:sym typeface="Wingdings" panose="05000000000000000000" pitchFamily="2" charset="2"/>
              </a:rPr>
              <a:t> will focus more on stack memory</a:t>
            </a:r>
            <a:endParaRPr lang="en-US" dirty="0"/>
          </a:p>
          <a:p>
            <a:pPr lvl="1"/>
            <a:r>
              <a:rPr lang="en-US" dirty="0"/>
              <a:t>Heap  </a:t>
            </a:r>
            <a:r>
              <a:rPr lang="en-US" dirty="0">
                <a:sym typeface="Wingdings" panose="05000000000000000000" pitchFamily="2" charset="2"/>
              </a:rPr>
              <a:t> similar issues happen with heap memory too</a:t>
            </a:r>
          </a:p>
          <a:p>
            <a:r>
              <a:rPr lang="en-US" dirty="0">
                <a:sym typeface="Wingdings" panose="05000000000000000000" pitchFamily="2" charset="2"/>
              </a:rPr>
              <a:t>Heap allocations</a:t>
            </a:r>
          </a:p>
          <a:p>
            <a:pPr lvl="1"/>
            <a:r>
              <a:rPr lang="en-US" dirty="0">
                <a:latin typeface="Consolas" panose="020B0609020204030204" pitchFamily="49" charset="0"/>
                <a:sym typeface="Wingdings" panose="05000000000000000000" pitchFamily="2" charset="2"/>
              </a:rPr>
              <a:t>Car car = </a:t>
            </a:r>
            <a:r>
              <a:rPr lang="en-US" b="1" dirty="0">
                <a:solidFill>
                  <a:schemeClr val="accent1">
                    <a:lumMod val="75000"/>
                  </a:schemeClr>
                </a:solidFill>
                <a:latin typeface="Consolas" panose="020B0609020204030204" pitchFamily="49" charset="0"/>
                <a:sym typeface="Wingdings" panose="05000000000000000000" pitchFamily="2" charset="2"/>
              </a:rPr>
              <a:t>new</a:t>
            </a:r>
            <a:r>
              <a:rPr lang="en-US" dirty="0">
                <a:latin typeface="Consolas" panose="020B0609020204030204" pitchFamily="49" charset="0"/>
                <a:sym typeface="Wingdings" panose="05000000000000000000" pitchFamily="2" charset="2"/>
              </a:rPr>
              <a:t> Car(); </a:t>
            </a:r>
            <a:r>
              <a:rPr lang="en-US" dirty="0">
                <a:sym typeface="Wingdings" panose="05000000000000000000" pitchFamily="2" charset="2"/>
              </a:rPr>
              <a:t>// Java</a:t>
            </a:r>
          </a:p>
          <a:p>
            <a:pPr lvl="1"/>
            <a:r>
              <a:rPr lang="en-US" dirty="0">
                <a:latin typeface="Consolas" panose="020B0609020204030204" pitchFamily="49" charset="0"/>
                <a:sym typeface="Wingdings" panose="05000000000000000000" pitchFamily="2" charset="2"/>
              </a:rPr>
              <a:t>int* </a:t>
            </a:r>
            <a:r>
              <a:rPr lang="en-US" dirty="0" err="1">
                <a:latin typeface="Consolas" panose="020B0609020204030204" pitchFamily="49" charset="0"/>
                <a:sym typeface="Wingdings" panose="05000000000000000000" pitchFamily="2" charset="2"/>
              </a:rPr>
              <a:t>my_array</a:t>
            </a:r>
            <a:r>
              <a:rPr lang="en-US" dirty="0">
                <a:latin typeface="Consolas" panose="020B0609020204030204" pitchFamily="49" charset="0"/>
                <a:sym typeface="Wingdings" panose="05000000000000000000" pitchFamily="2" charset="2"/>
              </a:rPr>
              <a:t> = </a:t>
            </a:r>
            <a:r>
              <a:rPr lang="en-US" b="1" dirty="0">
                <a:solidFill>
                  <a:schemeClr val="accent1">
                    <a:lumMod val="75000"/>
                  </a:schemeClr>
                </a:solidFill>
                <a:latin typeface="Consolas" panose="020B0609020204030204" pitchFamily="49" charset="0"/>
                <a:sym typeface="Wingdings" panose="05000000000000000000" pitchFamily="2" charset="2"/>
              </a:rPr>
              <a:t>malloc</a:t>
            </a:r>
            <a:r>
              <a:rPr lang="en-US" dirty="0">
                <a:latin typeface="Consolas" panose="020B0609020204030204" pitchFamily="49" charset="0"/>
                <a:sym typeface="Wingdings" panose="05000000000000000000" pitchFamily="2" charset="2"/>
              </a:rPr>
              <a:t>(10*</a:t>
            </a:r>
            <a:r>
              <a:rPr lang="en-US" dirty="0" err="1">
                <a:latin typeface="Consolas" panose="020B0609020204030204" pitchFamily="49" charset="0"/>
                <a:sym typeface="Wingdings" panose="05000000000000000000" pitchFamily="2" charset="2"/>
              </a:rPr>
              <a:t>sizeof</a:t>
            </a:r>
            <a:r>
              <a:rPr lang="en-US" dirty="0">
                <a:latin typeface="Consolas" panose="020B0609020204030204" pitchFamily="49" charset="0"/>
                <a:sym typeface="Wingdings" panose="05000000000000000000" pitchFamily="2" charset="2"/>
              </a:rPr>
              <a:t>(int)); </a:t>
            </a:r>
            <a:r>
              <a:rPr lang="en-US" dirty="0">
                <a:latin typeface="Helvetica" panose="020B0604020202020204" pitchFamily="34" charset="0"/>
                <a:cs typeface="Helvetica" panose="020B0604020202020204" pitchFamily="34" charset="0"/>
                <a:sym typeface="Wingdings" panose="05000000000000000000" pitchFamily="2" charset="2"/>
              </a:rPr>
              <a:t>// C</a:t>
            </a:r>
          </a:p>
          <a:p>
            <a:r>
              <a:rPr lang="en-US" dirty="0">
                <a:latin typeface="Helvetica" panose="020B0604020202020204" pitchFamily="34" charset="0"/>
                <a:cs typeface="Helvetica" panose="020B0604020202020204" pitchFamily="34" charset="0"/>
                <a:sym typeface="Wingdings" panose="05000000000000000000" pitchFamily="2" charset="2"/>
              </a:rPr>
              <a:t>Stack allocations</a:t>
            </a:r>
          </a:p>
          <a:p>
            <a:pPr lvl="1"/>
            <a:r>
              <a:rPr lang="en-US" dirty="0">
                <a:latin typeface="Consolas" panose="020B0609020204030204" pitchFamily="49" charset="0"/>
                <a:cs typeface="Helvetica" panose="020B0604020202020204" pitchFamily="34" charset="0"/>
                <a:sym typeface="Wingdings" panose="05000000000000000000" pitchFamily="2" charset="2"/>
              </a:rPr>
              <a:t>int num;</a:t>
            </a:r>
            <a:r>
              <a:rPr lang="en-US" dirty="0">
                <a:latin typeface="Helvetica" panose="020B0604020202020204" pitchFamily="34" charset="0"/>
                <a:cs typeface="Helvetica" panose="020B0604020202020204" pitchFamily="34" charset="0"/>
                <a:sym typeface="Wingdings" panose="05000000000000000000" pitchFamily="2" charset="2"/>
              </a:rPr>
              <a:t> // C or Java</a:t>
            </a:r>
          </a:p>
          <a:p>
            <a:endParaRPr lang="en-US" dirty="0"/>
          </a:p>
          <a:p>
            <a:endParaRPr lang="en-US" dirty="0"/>
          </a:p>
        </p:txBody>
      </p:sp>
      <p:sp>
        <p:nvSpPr>
          <p:cNvPr id="4" name="Title 3">
            <a:extLst>
              <a:ext uri="{FF2B5EF4-FFF2-40B4-BE49-F238E27FC236}">
                <a16:creationId xmlns:a16="http://schemas.microsoft.com/office/drawing/2014/main" id="{8555F754-C42C-E7E9-C657-D5800050B588}"/>
              </a:ext>
            </a:extLst>
          </p:cNvPr>
          <p:cNvSpPr>
            <a:spLocks noGrp="1"/>
          </p:cNvSpPr>
          <p:nvPr>
            <p:ph type="title"/>
          </p:nvPr>
        </p:nvSpPr>
        <p:spPr/>
        <p:txBody>
          <a:bodyPr/>
          <a:lstStyle/>
          <a:p>
            <a:r>
              <a:rPr lang="en-US" dirty="0"/>
              <a:t>Types of memory</a:t>
            </a:r>
          </a:p>
        </p:txBody>
      </p:sp>
    </p:spTree>
    <p:extLst>
      <p:ext uri="{BB962C8B-B14F-4D97-AF65-F5344CB8AC3E}">
        <p14:creationId xmlns:p14="http://schemas.microsoft.com/office/powerpoint/2010/main" val="326443869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FF6E3D-E703-739C-1AC6-F398AB6972A8}"/>
              </a:ext>
            </a:extLst>
          </p:cNvPr>
          <p:cNvSpPr>
            <a:spLocks noGrp="1"/>
          </p:cNvSpPr>
          <p:nvPr>
            <p:ph type="title"/>
          </p:nvPr>
        </p:nvSpPr>
        <p:spPr/>
        <p:txBody>
          <a:bodyPr/>
          <a:lstStyle/>
          <a:p>
            <a:r>
              <a:rPr lang="en-US" dirty="0"/>
              <a:t>Function calls on X86 architectures</a:t>
            </a:r>
          </a:p>
        </p:txBody>
      </p:sp>
      <p:sp>
        <p:nvSpPr>
          <p:cNvPr id="7" name="Content Placeholder 6">
            <a:extLst>
              <a:ext uri="{FF2B5EF4-FFF2-40B4-BE49-F238E27FC236}">
                <a16:creationId xmlns:a16="http://schemas.microsoft.com/office/drawing/2014/main" id="{1AA79C80-AE82-1A78-E688-B6F555BD79F1}"/>
              </a:ext>
            </a:extLst>
          </p:cNvPr>
          <p:cNvSpPr>
            <a:spLocks noGrp="1"/>
          </p:cNvSpPr>
          <p:nvPr>
            <p:ph idx="13"/>
          </p:nvPr>
        </p:nvSpPr>
        <p:spPr/>
        <p:txBody>
          <a:bodyPr/>
          <a:lstStyle/>
          <a:p>
            <a:r>
              <a:rPr lang="en-US" dirty="0"/>
              <a:t>Push return address on stack</a:t>
            </a:r>
          </a:p>
          <a:p>
            <a:r>
              <a:rPr lang="en-US" dirty="0"/>
              <a:t>Allocate stack variables</a:t>
            </a:r>
          </a:p>
          <a:p>
            <a:endParaRPr lang="en-US" dirty="0"/>
          </a:p>
        </p:txBody>
      </p:sp>
      <p:grpSp>
        <p:nvGrpSpPr>
          <p:cNvPr id="8" name="Group 7">
            <a:extLst>
              <a:ext uri="{FF2B5EF4-FFF2-40B4-BE49-F238E27FC236}">
                <a16:creationId xmlns:a16="http://schemas.microsoft.com/office/drawing/2014/main" id="{75759E3F-6F3E-DBBB-B940-C8626D7F7CAA}"/>
              </a:ext>
            </a:extLst>
          </p:cNvPr>
          <p:cNvGrpSpPr/>
          <p:nvPr/>
        </p:nvGrpSpPr>
        <p:grpSpPr>
          <a:xfrm>
            <a:off x="5033991" y="914400"/>
            <a:ext cx="6791695" cy="4396154"/>
            <a:chOff x="5033991" y="914400"/>
            <a:chExt cx="6791695" cy="4396154"/>
          </a:xfrm>
        </p:grpSpPr>
        <p:cxnSp>
          <p:nvCxnSpPr>
            <p:cNvPr id="9" name="Straight Arrow Connector 8">
              <a:extLst>
                <a:ext uri="{FF2B5EF4-FFF2-40B4-BE49-F238E27FC236}">
                  <a16:creationId xmlns:a16="http://schemas.microsoft.com/office/drawing/2014/main" id="{8383BFFC-8327-5D31-2620-3436CA042B72}"/>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A6BA280-E137-8809-E49E-D9A56346193C}"/>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11" name="Group 10">
              <a:extLst>
                <a:ext uri="{FF2B5EF4-FFF2-40B4-BE49-F238E27FC236}">
                  <a16:creationId xmlns:a16="http://schemas.microsoft.com/office/drawing/2014/main" id="{74A50570-A6EC-91D2-3300-92BC55685F89}"/>
                </a:ext>
              </a:extLst>
            </p:cNvPr>
            <p:cNvGrpSpPr/>
            <p:nvPr/>
          </p:nvGrpSpPr>
          <p:grpSpPr>
            <a:xfrm>
              <a:off x="7561385" y="914400"/>
              <a:ext cx="4264301" cy="4396154"/>
              <a:chOff x="7561385" y="914400"/>
              <a:chExt cx="4264301" cy="4396154"/>
            </a:xfrm>
          </p:grpSpPr>
          <p:sp>
            <p:nvSpPr>
              <p:cNvPr id="12" name="TextBox 11">
                <a:extLst>
                  <a:ext uri="{FF2B5EF4-FFF2-40B4-BE49-F238E27FC236}">
                    <a16:creationId xmlns:a16="http://schemas.microsoft.com/office/drawing/2014/main" id="{FA019B62-C883-82BD-A3B1-F338B70599A9}"/>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3" name="TextBox 12">
                <a:extLst>
                  <a:ext uri="{FF2B5EF4-FFF2-40B4-BE49-F238E27FC236}">
                    <a16:creationId xmlns:a16="http://schemas.microsoft.com/office/drawing/2014/main" id="{15B79850-EA43-DA78-7736-6A44D160E68D}"/>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14" name="TextBox 13">
                <a:extLst>
                  <a:ext uri="{FF2B5EF4-FFF2-40B4-BE49-F238E27FC236}">
                    <a16:creationId xmlns:a16="http://schemas.microsoft.com/office/drawing/2014/main" id="{B4138CE0-0C4D-B7C7-3D8C-D4AB254F3BCD}"/>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15" name="TextBox 14">
                <a:extLst>
                  <a:ext uri="{FF2B5EF4-FFF2-40B4-BE49-F238E27FC236}">
                    <a16:creationId xmlns:a16="http://schemas.microsoft.com/office/drawing/2014/main" id="{C2816A79-3404-1B5C-8C6D-D83E5FDB2F4A}"/>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16" name="TextBox 15">
                <a:extLst>
                  <a:ext uri="{FF2B5EF4-FFF2-40B4-BE49-F238E27FC236}">
                    <a16:creationId xmlns:a16="http://schemas.microsoft.com/office/drawing/2014/main" id="{7E2BBFF2-3935-D0D8-467D-285E4DDCBE7C}"/>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17" name="TextBox 16">
                <a:extLst>
                  <a:ext uri="{FF2B5EF4-FFF2-40B4-BE49-F238E27FC236}">
                    <a16:creationId xmlns:a16="http://schemas.microsoft.com/office/drawing/2014/main" id="{DB36AB4D-2A39-3F9C-DA24-9ED8848915E3}"/>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18" name="Group 17">
                <a:extLst>
                  <a:ext uri="{FF2B5EF4-FFF2-40B4-BE49-F238E27FC236}">
                    <a16:creationId xmlns:a16="http://schemas.microsoft.com/office/drawing/2014/main" id="{9F261660-8A3E-BB42-2764-64C136F41466}"/>
                  </a:ext>
                </a:extLst>
              </p:cNvPr>
              <p:cNvGrpSpPr/>
              <p:nvPr/>
            </p:nvGrpSpPr>
            <p:grpSpPr>
              <a:xfrm>
                <a:off x="7561385" y="914400"/>
                <a:ext cx="2942492" cy="4396154"/>
                <a:chOff x="6822831" y="973015"/>
                <a:chExt cx="2942492" cy="4396154"/>
              </a:xfrm>
            </p:grpSpPr>
            <p:grpSp>
              <p:nvGrpSpPr>
                <p:cNvPr id="19" name="Group 18">
                  <a:extLst>
                    <a:ext uri="{FF2B5EF4-FFF2-40B4-BE49-F238E27FC236}">
                      <a16:creationId xmlns:a16="http://schemas.microsoft.com/office/drawing/2014/main" id="{BC3B279B-8849-9663-EEC9-FF56E5F23E6D}"/>
                    </a:ext>
                  </a:extLst>
                </p:cNvPr>
                <p:cNvGrpSpPr/>
                <p:nvPr/>
              </p:nvGrpSpPr>
              <p:grpSpPr>
                <a:xfrm>
                  <a:off x="6822831" y="973015"/>
                  <a:ext cx="2942492" cy="4396154"/>
                  <a:chOff x="6822831" y="973015"/>
                  <a:chExt cx="2942492" cy="4396154"/>
                </a:xfrm>
              </p:grpSpPr>
              <p:cxnSp>
                <p:nvCxnSpPr>
                  <p:cNvPr id="25" name="Straight Connector 24">
                    <a:extLst>
                      <a:ext uri="{FF2B5EF4-FFF2-40B4-BE49-F238E27FC236}">
                        <a16:creationId xmlns:a16="http://schemas.microsoft.com/office/drawing/2014/main" id="{906CC2D9-E149-ECA7-70EF-06820D8017E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57929E1F-F3A1-DC94-9891-9E267552DA0F}"/>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F89E943B-17D4-CE41-EB81-EAFF17E5CD16}"/>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0" name="Straight Connector 19">
                  <a:extLst>
                    <a:ext uri="{FF2B5EF4-FFF2-40B4-BE49-F238E27FC236}">
                      <a16:creationId xmlns:a16="http://schemas.microsoft.com/office/drawing/2014/main" id="{67E95B11-2718-3424-0101-6668479F526C}"/>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282B05A-5985-3DC9-7B35-02F1A598C2AD}"/>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B2A811B2-39AC-D6D3-745B-3C3D69CB4BFB}"/>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3" name="Straight Connector 22">
                  <a:extLst>
                    <a:ext uri="{FF2B5EF4-FFF2-40B4-BE49-F238E27FC236}">
                      <a16:creationId xmlns:a16="http://schemas.microsoft.com/office/drawing/2014/main" id="{A63DD8A6-D959-4DDA-B1D3-B077638F34D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5DA85940-8EA9-7980-0A01-08E7E34F2194}"/>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Tree>
    <p:extLst>
      <p:ext uri="{BB962C8B-B14F-4D97-AF65-F5344CB8AC3E}">
        <p14:creationId xmlns:p14="http://schemas.microsoft.com/office/powerpoint/2010/main" val="24269101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06E8D3F-5EC1-FF04-E098-FC2B4BF7745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8127D1E-7D38-C5BC-2D4C-ACC45F938B13}"/>
              </a:ext>
            </a:extLst>
          </p:cNvPr>
          <p:cNvSpPr>
            <a:spLocks noGrp="1"/>
          </p:cNvSpPr>
          <p:nvPr>
            <p:ph type="title"/>
          </p:nvPr>
        </p:nvSpPr>
        <p:spPr/>
        <p:txBody>
          <a:bodyPr/>
          <a:lstStyle/>
          <a:p>
            <a:r>
              <a:rPr lang="en-US" dirty="0"/>
              <a:t>Function calls on X86 architectures</a:t>
            </a:r>
          </a:p>
        </p:txBody>
      </p:sp>
      <p:sp>
        <p:nvSpPr>
          <p:cNvPr id="7" name="Content Placeholder 6">
            <a:extLst>
              <a:ext uri="{FF2B5EF4-FFF2-40B4-BE49-F238E27FC236}">
                <a16:creationId xmlns:a16="http://schemas.microsoft.com/office/drawing/2014/main" id="{5EB5DC4A-A75F-A4D0-63DB-D57CF87987B1}"/>
              </a:ext>
            </a:extLst>
          </p:cNvPr>
          <p:cNvSpPr>
            <a:spLocks noGrp="1"/>
          </p:cNvSpPr>
          <p:nvPr>
            <p:ph idx="14"/>
          </p:nvPr>
        </p:nvSpPr>
        <p:spPr/>
        <p:txBody>
          <a:bodyPr>
            <a:normAutofit/>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p>
          <a:p>
            <a:r>
              <a:rPr lang="en-US" dirty="0"/>
              <a:t>	authenticate();</a:t>
            </a:r>
          </a:p>
          <a:p>
            <a:r>
              <a:rPr lang="en-US" dirty="0"/>
              <a:t>}</a:t>
            </a:r>
          </a:p>
          <a:p>
            <a:endParaRPr lang="en-US" dirty="0"/>
          </a:p>
          <a:p>
            <a:r>
              <a:rPr lang="en-US" dirty="0"/>
              <a:t>void authenticate(void) {</a:t>
            </a:r>
            <a:br>
              <a:rPr lang="en-US" dirty="0"/>
            </a:br>
            <a:r>
              <a:rPr lang="en-US" dirty="0"/>
              <a:t>	uint8_t authenticated = 0;</a:t>
            </a:r>
          </a:p>
          <a:p>
            <a:r>
              <a:rPr lang="en-US" dirty="0"/>
              <a:t>	uint8_t password[4];</a:t>
            </a:r>
          </a:p>
          <a:p>
            <a:r>
              <a:rPr lang="en-US" dirty="0"/>
              <a:t>	</a:t>
            </a:r>
            <a:r>
              <a:rPr lang="en-US" dirty="0" err="1"/>
              <a:t>scanf</a:t>
            </a:r>
            <a:r>
              <a:rPr lang="en-US" dirty="0"/>
              <a:t>(“%s”, password);</a:t>
            </a:r>
          </a:p>
          <a:p>
            <a:endParaRPr lang="en-US" dirty="0"/>
          </a:p>
          <a:p>
            <a:r>
              <a:rPr lang="en-US" dirty="0"/>
              <a:t>	return 0;</a:t>
            </a:r>
          </a:p>
          <a:p>
            <a:r>
              <a:rPr lang="en-US" dirty="0"/>
              <a:t>}</a:t>
            </a:r>
          </a:p>
          <a:p>
            <a:endParaRPr lang="en-US" dirty="0"/>
          </a:p>
          <a:p>
            <a:r>
              <a:rPr lang="en-US" dirty="0"/>
              <a:t>void </a:t>
            </a:r>
            <a:r>
              <a:rPr lang="en-US" dirty="0" err="1"/>
              <a:t>allow_access</a:t>
            </a:r>
            <a:r>
              <a:rPr lang="en-US" dirty="0"/>
              <a:t>(void) {</a:t>
            </a:r>
          </a:p>
          <a:p>
            <a:r>
              <a:rPr lang="en-US" dirty="0"/>
              <a:t>}</a:t>
            </a:r>
          </a:p>
        </p:txBody>
      </p:sp>
      <p:grpSp>
        <p:nvGrpSpPr>
          <p:cNvPr id="29" name="Group 28">
            <a:extLst>
              <a:ext uri="{FF2B5EF4-FFF2-40B4-BE49-F238E27FC236}">
                <a16:creationId xmlns:a16="http://schemas.microsoft.com/office/drawing/2014/main" id="{4CAB9904-F806-26A7-9C65-6BD2BB5AB06D}"/>
              </a:ext>
            </a:extLst>
          </p:cNvPr>
          <p:cNvGrpSpPr/>
          <p:nvPr/>
        </p:nvGrpSpPr>
        <p:grpSpPr>
          <a:xfrm>
            <a:off x="5033991" y="914400"/>
            <a:ext cx="6791695" cy="4396154"/>
            <a:chOff x="5033991" y="914400"/>
            <a:chExt cx="6791695" cy="4396154"/>
          </a:xfrm>
        </p:grpSpPr>
        <p:cxnSp>
          <p:nvCxnSpPr>
            <p:cNvPr id="30" name="Straight Arrow Connector 29">
              <a:extLst>
                <a:ext uri="{FF2B5EF4-FFF2-40B4-BE49-F238E27FC236}">
                  <a16:creationId xmlns:a16="http://schemas.microsoft.com/office/drawing/2014/main" id="{CF264487-2057-0EBE-7195-6C6462DC7E7E}"/>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9F155487-6B23-E083-4B45-94B83FF681E1}"/>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32" name="Group 31">
              <a:extLst>
                <a:ext uri="{FF2B5EF4-FFF2-40B4-BE49-F238E27FC236}">
                  <a16:creationId xmlns:a16="http://schemas.microsoft.com/office/drawing/2014/main" id="{C5E1F2A0-9785-2A61-56FE-E6E8FE9291A2}"/>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2E523185-695F-224C-F689-7C55EC94F3CF}"/>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6FD85CB7-AB58-6E84-D443-148AA04E38F0}"/>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1AA12166-4C6F-7014-BFFE-AAB09F5CFD0A}"/>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8D99811D-5C43-ECEC-9967-095C09E8508E}"/>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8E6AFDDE-24F9-3320-C7AB-9AF5CD10BF10}"/>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5A5D696B-1941-A92A-C970-14145F9FBF68}"/>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B763BE7B-0F4B-EF77-A6A2-7F84A2FF2025}"/>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8BD82DE2-B078-5C7F-988A-22E2972A7249}"/>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DE20949E-43A0-4A61-A6CA-7027BD032A48}"/>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CED93933-EEDB-D250-52FD-87D5E3C1645E}"/>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83308451-45A9-7A62-0DC8-645F6D9FD0E1}"/>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8019A438-91AC-8C08-7305-961FC0FF13BA}"/>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4CFF73F2-E0B8-FE98-6524-A43AD97CD84F}"/>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3A2A5C39-9C56-420A-DD00-29408EB6D44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4A5E257E-BA83-E7B4-071E-A2DDC90AA3CC}"/>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22D86742-6EC2-F213-B4BA-84F1C87EF23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49" name="Content Placeholder 1">
            <a:extLst>
              <a:ext uri="{FF2B5EF4-FFF2-40B4-BE49-F238E27FC236}">
                <a16:creationId xmlns:a16="http://schemas.microsoft.com/office/drawing/2014/main" id="{CDEB735B-5609-4F6B-9470-B2698E983E3D}"/>
              </a:ext>
            </a:extLst>
          </p:cNvPr>
          <p:cNvSpPr>
            <a:spLocks noGrp="1"/>
          </p:cNvSpPr>
          <p:nvPr>
            <p:ph idx="13"/>
          </p:nvPr>
        </p:nvSpPr>
        <p:spPr>
          <a:xfrm>
            <a:off x="382074" y="785005"/>
            <a:ext cx="5633413" cy="696278"/>
          </a:xfrm>
        </p:spPr>
        <p:txBody>
          <a:bodyPr/>
          <a:lstStyle/>
          <a:p>
            <a:r>
              <a:rPr lang="en-US" dirty="0"/>
              <a:t>Stack </a:t>
            </a:r>
            <a:r>
              <a:rPr lang="en-US" i="1" dirty="0"/>
              <a:t>grows </a:t>
            </a:r>
            <a:r>
              <a:rPr lang="en-US" dirty="0"/>
              <a:t>downward</a:t>
            </a:r>
          </a:p>
        </p:txBody>
      </p:sp>
      <p:sp>
        <p:nvSpPr>
          <p:cNvPr id="51" name="Rectangle: Rounded Corners 50">
            <a:extLst>
              <a:ext uri="{FF2B5EF4-FFF2-40B4-BE49-F238E27FC236}">
                <a16:creationId xmlns:a16="http://schemas.microsoft.com/office/drawing/2014/main" id="{8DC5E3ED-7F36-BC36-50E1-BF526898DD66}"/>
              </a:ext>
            </a:extLst>
          </p:cNvPr>
          <p:cNvSpPr/>
          <p:nvPr/>
        </p:nvSpPr>
        <p:spPr>
          <a:xfrm>
            <a:off x="7674763" y="1586540"/>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765D4B5E-23F5-A218-F5A3-32307326F64A}"/>
              </a:ext>
            </a:extLst>
          </p:cNvPr>
          <p:cNvSpPr/>
          <p:nvPr/>
        </p:nvSpPr>
        <p:spPr>
          <a:xfrm>
            <a:off x="7685298" y="222078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password[3]</a:t>
            </a:r>
          </a:p>
        </p:txBody>
      </p:sp>
      <p:sp>
        <p:nvSpPr>
          <p:cNvPr id="53" name="Rectangle: Rounded Corners 52">
            <a:extLst>
              <a:ext uri="{FF2B5EF4-FFF2-40B4-BE49-F238E27FC236}">
                <a16:creationId xmlns:a16="http://schemas.microsoft.com/office/drawing/2014/main" id="{55F5ED2B-0282-F69F-530B-C3DA2CF77C9B}"/>
              </a:ext>
            </a:extLst>
          </p:cNvPr>
          <p:cNvSpPr/>
          <p:nvPr/>
        </p:nvSpPr>
        <p:spPr>
          <a:xfrm>
            <a:off x="7685298" y="292416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password[2]</a:t>
            </a:r>
          </a:p>
        </p:txBody>
      </p:sp>
      <p:sp>
        <p:nvSpPr>
          <p:cNvPr id="54" name="Rectangle: Rounded Corners 53">
            <a:extLst>
              <a:ext uri="{FF2B5EF4-FFF2-40B4-BE49-F238E27FC236}">
                <a16:creationId xmlns:a16="http://schemas.microsoft.com/office/drawing/2014/main" id="{B3585B2D-EEBD-4899-A9EB-A971796CAD73}"/>
              </a:ext>
            </a:extLst>
          </p:cNvPr>
          <p:cNvSpPr/>
          <p:nvPr/>
        </p:nvSpPr>
        <p:spPr>
          <a:xfrm>
            <a:off x="7685298" y="3578242"/>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password[1]</a:t>
            </a:r>
          </a:p>
        </p:txBody>
      </p:sp>
      <p:sp>
        <p:nvSpPr>
          <p:cNvPr id="55" name="Rectangle: Rounded Corners 54">
            <a:extLst>
              <a:ext uri="{FF2B5EF4-FFF2-40B4-BE49-F238E27FC236}">
                <a16:creationId xmlns:a16="http://schemas.microsoft.com/office/drawing/2014/main" id="{24439259-5CFE-D097-FF6C-CA02022C62E8}"/>
              </a:ext>
            </a:extLst>
          </p:cNvPr>
          <p:cNvSpPr/>
          <p:nvPr/>
        </p:nvSpPr>
        <p:spPr>
          <a:xfrm>
            <a:off x="7685298" y="416800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password[0]</a:t>
            </a:r>
          </a:p>
        </p:txBody>
      </p:sp>
      <p:cxnSp>
        <p:nvCxnSpPr>
          <p:cNvPr id="3" name="Straight Connector 2">
            <a:extLst>
              <a:ext uri="{FF2B5EF4-FFF2-40B4-BE49-F238E27FC236}">
                <a16:creationId xmlns:a16="http://schemas.microsoft.com/office/drawing/2014/main" id="{D3C1B382-745C-55F6-A25F-EE61E0F29F44}"/>
              </a:ext>
            </a:extLst>
          </p:cNvPr>
          <p:cNvCxnSpPr>
            <a:cxnSpLocks/>
          </p:cNvCxnSpPr>
          <p:nvPr/>
        </p:nvCxnSpPr>
        <p:spPr>
          <a:xfrm flipH="1">
            <a:off x="7554361" y="4713897"/>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 name="Straight Arrow Connector 4">
            <a:extLst>
              <a:ext uri="{FF2B5EF4-FFF2-40B4-BE49-F238E27FC236}">
                <a16:creationId xmlns:a16="http://schemas.microsoft.com/office/drawing/2014/main" id="{7953BC52-779C-7B1E-321F-DE40918F91AB}"/>
              </a:ext>
            </a:extLst>
          </p:cNvPr>
          <p:cNvCxnSpPr>
            <a:cxnSpLocks/>
          </p:cNvCxnSpPr>
          <p:nvPr/>
        </p:nvCxnSpPr>
        <p:spPr>
          <a:xfrm flipH="1">
            <a:off x="2609459" y="2677476"/>
            <a:ext cx="907464"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Rounded Corners 14">
            <a:extLst>
              <a:ext uri="{FF2B5EF4-FFF2-40B4-BE49-F238E27FC236}">
                <a16:creationId xmlns:a16="http://schemas.microsoft.com/office/drawing/2014/main" id="{90AE742E-C13A-A3E5-B011-885008CB1E3D}"/>
              </a:ext>
            </a:extLst>
          </p:cNvPr>
          <p:cNvSpPr/>
          <p:nvPr/>
        </p:nvSpPr>
        <p:spPr>
          <a:xfrm>
            <a:off x="7674762" y="942554"/>
            <a:ext cx="2694663" cy="545893"/>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solidFill>
                  <a:schemeClr val="tx1"/>
                </a:solidFill>
              </a:rPr>
              <a:t>return_addr</a:t>
            </a:r>
            <a:endParaRPr lang="en-US" sz="3200" dirty="0">
              <a:solidFill>
                <a:schemeClr val="tx1"/>
              </a:solidFill>
            </a:endParaRPr>
          </a:p>
        </p:txBody>
      </p:sp>
    </p:spTree>
    <p:extLst>
      <p:ext uri="{BB962C8B-B14F-4D97-AF65-F5344CB8AC3E}">
        <p14:creationId xmlns:p14="http://schemas.microsoft.com/office/powerpoint/2010/main" val="76678665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D40CB89-62B8-27A1-57F8-17AA3B6B516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0544966-E10B-E5BC-766B-AB09412D9E47}"/>
              </a:ext>
            </a:extLst>
          </p:cNvPr>
          <p:cNvSpPr>
            <a:spLocks noGrp="1"/>
          </p:cNvSpPr>
          <p:nvPr>
            <p:ph type="title"/>
          </p:nvPr>
        </p:nvSpPr>
        <p:spPr/>
        <p:txBody>
          <a:bodyPr/>
          <a:lstStyle/>
          <a:p>
            <a:r>
              <a:rPr lang="en-US" dirty="0"/>
              <a:t>Control flow hijack</a:t>
            </a:r>
          </a:p>
        </p:txBody>
      </p:sp>
      <p:sp>
        <p:nvSpPr>
          <p:cNvPr id="7" name="Content Placeholder 6">
            <a:extLst>
              <a:ext uri="{FF2B5EF4-FFF2-40B4-BE49-F238E27FC236}">
                <a16:creationId xmlns:a16="http://schemas.microsoft.com/office/drawing/2014/main" id="{2F0BB920-E846-A47D-5A65-B52DF42625F4}"/>
              </a:ext>
            </a:extLst>
          </p:cNvPr>
          <p:cNvSpPr>
            <a:spLocks noGrp="1"/>
          </p:cNvSpPr>
          <p:nvPr>
            <p:ph idx="14"/>
          </p:nvPr>
        </p:nvSpPr>
        <p:spPr/>
        <p:txBody>
          <a:bodyPr>
            <a:normAutofit/>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p>
          <a:p>
            <a:r>
              <a:rPr lang="en-US" dirty="0"/>
              <a:t>	authenticate();</a:t>
            </a:r>
          </a:p>
          <a:p>
            <a:r>
              <a:rPr lang="en-US" dirty="0"/>
              <a:t>}</a:t>
            </a:r>
          </a:p>
          <a:p>
            <a:endParaRPr lang="en-US" dirty="0"/>
          </a:p>
          <a:p>
            <a:r>
              <a:rPr lang="en-US" dirty="0"/>
              <a:t>void authenticate(void) {</a:t>
            </a:r>
            <a:br>
              <a:rPr lang="en-US" dirty="0"/>
            </a:br>
            <a:r>
              <a:rPr lang="en-US" dirty="0"/>
              <a:t>	uint8_t authenticated = 0;</a:t>
            </a:r>
          </a:p>
          <a:p>
            <a:r>
              <a:rPr lang="en-US" dirty="0"/>
              <a:t>	uint8_t password[4];</a:t>
            </a:r>
          </a:p>
          <a:p>
            <a:r>
              <a:rPr lang="en-US" dirty="0"/>
              <a:t>	</a:t>
            </a:r>
            <a:r>
              <a:rPr lang="en-US" dirty="0" err="1"/>
              <a:t>scanf</a:t>
            </a:r>
            <a:r>
              <a:rPr lang="en-US" dirty="0"/>
              <a:t>(“%s”, password);</a:t>
            </a:r>
          </a:p>
          <a:p>
            <a:endParaRPr lang="en-US" dirty="0"/>
          </a:p>
          <a:p>
            <a:r>
              <a:rPr lang="en-US" dirty="0"/>
              <a:t>	return 0;</a:t>
            </a:r>
          </a:p>
          <a:p>
            <a:r>
              <a:rPr lang="en-US" dirty="0"/>
              <a:t>}</a:t>
            </a:r>
          </a:p>
          <a:p>
            <a:endParaRPr lang="en-US" dirty="0"/>
          </a:p>
          <a:p>
            <a:r>
              <a:rPr lang="en-US" dirty="0"/>
              <a:t>void </a:t>
            </a:r>
            <a:r>
              <a:rPr lang="en-US" dirty="0" err="1"/>
              <a:t>allow_access</a:t>
            </a:r>
            <a:r>
              <a:rPr lang="en-US" dirty="0"/>
              <a:t>(void) {</a:t>
            </a:r>
          </a:p>
          <a:p>
            <a:r>
              <a:rPr lang="en-US" dirty="0"/>
              <a:t>}</a:t>
            </a:r>
          </a:p>
        </p:txBody>
      </p:sp>
      <p:grpSp>
        <p:nvGrpSpPr>
          <p:cNvPr id="29" name="Group 28">
            <a:extLst>
              <a:ext uri="{FF2B5EF4-FFF2-40B4-BE49-F238E27FC236}">
                <a16:creationId xmlns:a16="http://schemas.microsoft.com/office/drawing/2014/main" id="{0DF5DEB1-AFF3-BC4C-0103-059E656CCB00}"/>
              </a:ext>
            </a:extLst>
          </p:cNvPr>
          <p:cNvGrpSpPr/>
          <p:nvPr/>
        </p:nvGrpSpPr>
        <p:grpSpPr>
          <a:xfrm>
            <a:off x="5033991" y="914400"/>
            <a:ext cx="6791695" cy="4396154"/>
            <a:chOff x="5033991" y="914400"/>
            <a:chExt cx="6791695" cy="4396154"/>
          </a:xfrm>
        </p:grpSpPr>
        <p:cxnSp>
          <p:nvCxnSpPr>
            <p:cNvPr id="30" name="Straight Arrow Connector 29">
              <a:extLst>
                <a:ext uri="{FF2B5EF4-FFF2-40B4-BE49-F238E27FC236}">
                  <a16:creationId xmlns:a16="http://schemas.microsoft.com/office/drawing/2014/main" id="{3E1E2F1C-A40C-8C45-F662-981125C966AD}"/>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B4CC724D-9E35-2C60-E53B-96D0AF0E1416}"/>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32" name="Group 31">
              <a:extLst>
                <a:ext uri="{FF2B5EF4-FFF2-40B4-BE49-F238E27FC236}">
                  <a16:creationId xmlns:a16="http://schemas.microsoft.com/office/drawing/2014/main" id="{788E4F98-77B7-80AE-B8B2-5B94867ADBBF}"/>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02882ADB-D35F-8522-7AA2-DD6CC3F03951}"/>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D87FC398-6616-A633-03A0-DB4D5CE981B1}"/>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955BE10D-6FBD-9CA7-1A22-77B7C4B55FB7}"/>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BDEB36E0-9D70-3197-C31B-971910AEED24}"/>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07FE7540-5F8B-A488-74A6-DFDBAAEC1873}"/>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BE9271B8-2D9E-D8FD-52D3-F273267A79AA}"/>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8800D762-936A-B7A4-F66E-00F7989169FC}"/>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DAA7EE7B-9698-0476-5EDD-179E59B8ACE7}"/>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BB7B4E94-5D58-9A5E-B96D-47FFE473869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9CDEE4BE-0D8D-FFD8-DE47-778058A33F01}"/>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8E0602EB-3FBE-D93C-91F2-5CFF958B7E3E}"/>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F5FF6ACF-DA7D-933F-1E61-5F8335CD3956}"/>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E1746C7D-2391-8EB7-D83B-C120D462F73C}"/>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E218FE6E-B2E6-1070-22C9-DC09B2BAE89C}"/>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586D5BA1-B016-2817-30FD-21B18EA0356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05E2DE8A-9E31-CF97-FF59-5B1313E41CA6}"/>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49" name="Content Placeholder 1">
            <a:extLst>
              <a:ext uri="{FF2B5EF4-FFF2-40B4-BE49-F238E27FC236}">
                <a16:creationId xmlns:a16="http://schemas.microsoft.com/office/drawing/2014/main" id="{44455C66-AD75-A5D8-5381-120F9CB197DE}"/>
              </a:ext>
            </a:extLst>
          </p:cNvPr>
          <p:cNvSpPr>
            <a:spLocks noGrp="1"/>
          </p:cNvSpPr>
          <p:nvPr>
            <p:ph idx="13"/>
          </p:nvPr>
        </p:nvSpPr>
        <p:spPr>
          <a:xfrm>
            <a:off x="382074" y="785005"/>
            <a:ext cx="5633413" cy="696278"/>
          </a:xfrm>
        </p:spPr>
        <p:txBody>
          <a:bodyPr/>
          <a:lstStyle/>
          <a:p>
            <a:r>
              <a:rPr lang="en-US" dirty="0"/>
              <a:t>Stack </a:t>
            </a:r>
            <a:r>
              <a:rPr lang="en-US" i="1" dirty="0"/>
              <a:t>grows </a:t>
            </a:r>
            <a:r>
              <a:rPr lang="en-US" dirty="0"/>
              <a:t>downward</a:t>
            </a:r>
          </a:p>
        </p:txBody>
      </p:sp>
      <p:sp>
        <p:nvSpPr>
          <p:cNvPr id="51" name="Rectangle: Rounded Corners 50">
            <a:extLst>
              <a:ext uri="{FF2B5EF4-FFF2-40B4-BE49-F238E27FC236}">
                <a16:creationId xmlns:a16="http://schemas.microsoft.com/office/drawing/2014/main" id="{285A053D-CAB5-EFFA-26F6-A9CB3F67EF28}"/>
              </a:ext>
            </a:extLst>
          </p:cNvPr>
          <p:cNvSpPr/>
          <p:nvPr/>
        </p:nvSpPr>
        <p:spPr>
          <a:xfrm>
            <a:off x="7674763" y="1586540"/>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C58E5840-50FC-194B-9AC8-756927F6859A}"/>
              </a:ext>
            </a:extLst>
          </p:cNvPr>
          <p:cNvSpPr/>
          <p:nvPr/>
        </p:nvSpPr>
        <p:spPr>
          <a:xfrm>
            <a:off x="7685298" y="222078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password[3]</a:t>
            </a:r>
          </a:p>
        </p:txBody>
      </p:sp>
      <p:sp>
        <p:nvSpPr>
          <p:cNvPr id="53" name="Rectangle: Rounded Corners 52">
            <a:extLst>
              <a:ext uri="{FF2B5EF4-FFF2-40B4-BE49-F238E27FC236}">
                <a16:creationId xmlns:a16="http://schemas.microsoft.com/office/drawing/2014/main" id="{A4A668B4-FC76-6E43-C0BF-185184925EA3}"/>
              </a:ext>
            </a:extLst>
          </p:cNvPr>
          <p:cNvSpPr/>
          <p:nvPr/>
        </p:nvSpPr>
        <p:spPr>
          <a:xfrm>
            <a:off x="7685298" y="292416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password[2]</a:t>
            </a:r>
          </a:p>
        </p:txBody>
      </p:sp>
      <p:sp>
        <p:nvSpPr>
          <p:cNvPr id="54" name="Rectangle: Rounded Corners 53">
            <a:extLst>
              <a:ext uri="{FF2B5EF4-FFF2-40B4-BE49-F238E27FC236}">
                <a16:creationId xmlns:a16="http://schemas.microsoft.com/office/drawing/2014/main" id="{029387CF-A580-9053-8343-83D7D2B46378}"/>
              </a:ext>
            </a:extLst>
          </p:cNvPr>
          <p:cNvSpPr/>
          <p:nvPr/>
        </p:nvSpPr>
        <p:spPr>
          <a:xfrm>
            <a:off x="7685298" y="3578242"/>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password[1]</a:t>
            </a:r>
          </a:p>
        </p:txBody>
      </p:sp>
      <p:sp>
        <p:nvSpPr>
          <p:cNvPr id="55" name="Rectangle: Rounded Corners 54">
            <a:extLst>
              <a:ext uri="{FF2B5EF4-FFF2-40B4-BE49-F238E27FC236}">
                <a16:creationId xmlns:a16="http://schemas.microsoft.com/office/drawing/2014/main" id="{BFC752DC-BDFF-FC48-3F94-59163604C6B4}"/>
              </a:ext>
            </a:extLst>
          </p:cNvPr>
          <p:cNvSpPr/>
          <p:nvPr/>
        </p:nvSpPr>
        <p:spPr>
          <a:xfrm>
            <a:off x="7685298" y="416800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password[0]</a:t>
            </a:r>
          </a:p>
        </p:txBody>
      </p:sp>
      <p:cxnSp>
        <p:nvCxnSpPr>
          <p:cNvPr id="3" name="Straight Connector 2">
            <a:extLst>
              <a:ext uri="{FF2B5EF4-FFF2-40B4-BE49-F238E27FC236}">
                <a16:creationId xmlns:a16="http://schemas.microsoft.com/office/drawing/2014/main" id="{84432A04-0BD3-E44D-1411-C0204C2DBDB1}"/>
              </a:ext>
            </a:extLst>
          </p:cNvPr>
          <p:cNvCxnSpPr>
            <a:cxnSpLocks/>
          </p:cNvCxnSpPr>
          <p:nvPr/>
        </p:nvCxnSpPr>
        <p:spPr>
          <a:xfrm flipH="1">
            <a:off x="7554361" y="4713897"/>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 name="Straight Arrow Connector 4">
            <a:extLst>
              <a:ext uri="{FF2B5EF4-FFF2-40B4-BE49-F238E27FC236}">
                <a16:creationId xmlns:a16="http://schemas.microsoft.com/office/drawing/2014/main" id="{3CCF7B1F-0798-9108-3375-14FB267BF40D}"/>
              </a:ext>
            </a:extLst>
          </p:cNvPr>
          <p:cNvCxnSpPr>
            <a:cxnSpLocks/>
          </p:cNvCxnSpPr>
          <p:nvPr/>
        </p:nvCxnSpPr>
        <p:spPr>
          <a:xfrm flipH="1">
            <a:off x="3383182" y="4162460"/>
            <a:ext cx="907464"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Rounded Corners 14">
            <a:extLst>
              <a:ext uri="{FF2B5EF4-FFF2-40B4-BE49-F238E27FC236}">
                <a16:creationId xmlns:a16="http://schemas.microsoft.com/office/drawing/2014/main" id="{ADE38148-EE0E-1160-35BC-9CA275A488F5}"/>
              </a:ext>
            </a:extLst>
          </p:cNvPr>
          <p:cNvSpPr/>
          <p:nvPr/>
        </p:nvSpPr>
        <p:spPr>
          <a:xfrm>
            <a:off x="7674762" y="942554"/>
            <a:ext cx="2694663" cy="545893"/>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solidFill>
                  <a:schemeClr val="tx1"/>
                </a:solidFill>
              </a:rPr>
              <a:t>return_addr</a:t>
            </a:r>
            <a:endParaRPr lang="en-US" sz="3200" dirty="0">
              <a:solidFill>
                <a:schemeClr val="tx1"/>
              </a:solidFill>
            </a:endParaRPr>
          </a:p>
        </p:txBody>
      </p:sp>
      <p:sp>
        <p:nvSpPr>
          <p:cNvPr id="6" name="TextBox 5">
            <a:extLst>
              <a:ext uri="{FF2B5EF4-FFF2-40B4-BE49-F238E27FC236}">
                <a16:creationId xmlns:a16="http://schemas.microsoft.com/office/drawing/2014/main" id="{FB93307E-5168-8370-EBA6-FCCCC54CBC99}"/>
              </a:ext>
            </a:extLst>
          </p:cNvPr>
          <p:cNvSpPr txBox="1"/>
          <p:nvPr/>
        </p:nvSpPr>
        <p:spPr>
          <a:xfrm>
            <a:off x="4414478" y="2929379"/>
            <a:ext cx="2684583" cy="3046988"/>
          </a:xfrm>
          <a:prstGeom prst="rect">
            <a:avLst/>
          </a:prstGeom>
          <a:noFill/>
        </p:spPr>
        <p:txBody>
          <a:bodyPr wrap="square" rtlCol="0">
            <a:spAutoFit/>
          </a:bodyPr>
          <a:lstStyle/>
          <a:p>
            <a:r>
              <a:rPr lang="en-US" sz="2400" b="1" i="1" dirty="0"/>
              <a:t>Overflow can overwrite the </a:t>
            </a:r>
            <a:r>
              <a:rPr lang="en-US" sz="2400" b="1" i="1" dirty="0" err="1"/>
              <a:t>return_addr</a:t>
            </a:r>
            <a:r>
              <a:rPr lang="en-US" sz="2400" b="1" i="1" dirty="0"/>
              <a:t> on the stack.</a:t>
            </a:r>
            <a:br>
              <a:rPr lang="en-US" sz="2400" b="1" i="1" dirty="0"/>
            </a:br>
            <a:br>
              <a:rPr lang="en-US" sz="2400" b="1" i="1" dirty="0"/>
            </a:br>
            <a:r>
              <a:rPr lang="en-US" sz="2400" b="1" i="1" dirty="0"/>
              <a:t>Jump to attack selected address on return!!!</a:t>
            </a:r>
          </a:p>
        </p:txBody>
      </p:sp>
    </p:spTree>
    <p:extLst>
      <p:ext uri="{BB962C8B-B14F-4D97-AF65-F5344CB8AC3E}">
        <p14:creationId xmlns:p14="http://schemas.microsoft.com/office/powerpoint/2010/main" val="376704295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F6A20AC-317A-F34F-2B2D-FA7640DBE3D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4D88018-85B4-A3F6-0360-E45A50559CE7}"/>
              </a:ext>
            </a:extLst>
          </p:cNvPr>
          <p:cNvSpPr>
            <a:spLocks noGrp="1"/>
          </p:cNvSpPr>
          <p:nvPr>
            <p:ph idx="1"/>
          </p:nvPr>
        </p:nvSpPr>
        <p:spPr/>
        <p:txBody>
          <a:bodyPr>
            <a:normAutofit/>
          </a:bodyPr>
          <a:lstStyle/>
          <a:p>
            <a:r>
              <a:rPr lang="en-US" dirty="0"/>
              <a:t>int main(void) {</a:t>
            </a:r>
          </a:p>
          <a:p>
            <a:r>
              <a:rPr lang="en-US" dirty="0"/>
              <a:t>	char* </a:t>
            </a:r>
            <a:r>
              <a:rPr lang="en-US" dirty="0" err="1"/>
              <a:t>mystring</a:t>
            </a:r>
            <a:r>
              <a:rPr lang="en-US" dirty="0"/>
              <a:t> = malloc(1024);</a:t>
            </a:r>
          </a:p>
          <a:p>
            <a:r>
              <a:rPr lang="en-US" dirty="0"/>
              <a:t>	// some stuff</a:t>
            </a:r>
          </a:p>
          <a:p>
            <a:r>
              <a:rPr lang="en-US" dirty="0"/>
              <a:t>	free(</a:t>
            </a:r>
            <a:r>
              <a:rPr lang="en-US" dirty="0" err="1"/>
              <a:t>mystring</a:t>
            </a:r>
            <a:r>
              <a:rPr lang="en-US" dirty="0"/>
              <a:t>);</a:t>
            </a:r>
          </a:p>
          <a:p>
            <a:r>
              <a:rPr lang="en-US" dirty="0"/>
              <a:t>	// </a:t>
            </a:r>
            <a:r>
              <a:rPr lang="en-US" dirty="0" err="1"/>
              <a:t>mystring</a:t>
            </a:r>
            <a:r>
              <a:rPr lang="en-US" dirty="0"/>
              <a:t> not zeroed</a:t>
            </a:r>
          </a:p>
          <a:p>
            <a:r>
              <a:rPr lang="en-US" dirty="0"/>
              <a:t>	*</a:t>
            </a:r>
            <a:r>
              <a:rPr lang="en-US" dirty="0" err="1"/>
              <a:t>mystring</a:t>
            </a:r>
            <a:r>
              <a:rPr lang="en-US" dirty="0"/>
              <a:t> = ‘a’; // write to a dangling pointer</a:t>
            </a:r>
          </a:p>
          <a:p>
            <a:r>
              <a:rPr lang="en-US" dirty="0"/>
              <a:t>	return 0;</a:t>
            </a:r>
          </a:p>
          <a:p>
            <a:r>
              <a:rPr lang="en-US" dirty="0"/>
              <a:t>}</a:t>
            </a:r>
          </a:p>
        </p:txBody>
      </p:sp>
      <p:sp>
        <p:nvSpPr>
          <p:cNvPr id="4" name="Title 3">
            <a:extLst>
              <a:ext uri="{FF2B5EF4-FFF2-40B4-BE49-F238E27FC236}">
                <a16:creationId xmlns:a16="http://schemas.microsoft.com/office/drawing/2014/main" id="{4A02737C-90C5-1D62-1B59-CBBED48C4A02}"/>
              </a:ext>
            </a:extLst>
          </p:cNvPr>
          <p:cNvSpPr>
            <a:spLocks noGrp="1"/>
          </p:cNvSpPr>
          <p:nvPr>
            <p:ph type="title"/>
          </p:nvPr>
        </p:nvSpPr>
        <p:spPr/>
        <p:txBody>
          <a:bodyPr/>
          <a:lstStyle/>
          <a:p>
            <a:r>
              <a:rPr lang="en-US" dirty="0"/>
              <a:t>Temporal memory safety</a:t>
            </a:r>
          </a:p>
        </p:txBody>
      </p:sp>
      <p:sp>
        <p:nvSpPr>
          <p:cNvPr id="2" name="Content Placeholder 1">
            <a:extLst>
              <a:ext uri="{FF2B5EF4-FFF2-40B4-BE49-F238E27FC236}">
                <a16:creationId xmlns:a16="http://schemas.microsoft.com/office/drawing/2014/main" id="{EF3DB04A-026B-3158-EC8E-DAACF2979332}"/>
              </a:ext>
            </a:extLst>
          </p:cNvPr>
          <p:cNvSpPr>
            <a:spLocks noGrp="1"/>
          </p:cNvSpPr>
          <p:nvPr>
            <p:ph idx="13"/>
          </p:nvPr>
        </p:nvSpPr>
        <p:spPr/>
        <p:txBody>
          <a:bodyPr/>
          <a:lstStyle/>
          <a:p>
            <a:r>
              <a:rPr lang="en-US" dirty="0"/>
              <a:t>Ensures that memory is only accessed while it is valid</a:t>
            </a:r>
          </a:p>
          <a:p>
            <a:r>
              <a:rPr lang="en-US" dirty="0"/>
              <a:t>E.g., a pointer can not point to an object that is freed</a:t>
            </a:r>
          </a:p>
          <a:p>
            <a:r>
              <a:rPr lang="en-US" dirty="0"/>
              <a:t>No “dangling pointers”</a:t>
            </a:r>
          </a:p>
          <a:p>
            <a:pPr marL="0" indent="0">
              <a:buNone/>
            </a:pPr>
            <a:endParaRPr lang="en-US" dirty="0"/>
          </a:p>
        </p:txBody>
      </p:sp>
    </p:spTree>
    <p:extLst>
      <p:ext uri="{BB962C8B-B14F-4D97-AF65-F5344CB8AC3E}">
        <p14:creationId xmlns:p14="http://schemas.microsoft.com/office/powerpoint/2010/main" val="3468770207"/>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8566</TotalTime>
  <Words>11218</Words>
  <Application>Microsoft Office PowerPoint</Application>
  <PresentationFormat>Widescreen</PresentationFormat>
  <Paragraphs>1686</Paragraphs>
  <Slides>137</Slides>
  <Notes>25</Notes>
  <HiddenSlides>10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137</vt:i4>
      </vt:variant>
    </vt:vector>
  </HeadingPairs>
  <TitlesOfParts>
    <vt:vector size="143" baseType="lpstr">
      <vt:lpstr>Arial</vt:lpstr>
      <vt:lpstr>Calibri</vt:lpstr>
      <vt:lpstr>Consolas</vt:lpstr>
      <vt:lpstr>Helvetica</vt:lpstr>
      <vt:lpstr>Wingdings</vt:lpstr>
      <vt:lpstr>Preso 2022 Watertower Stats</vt:lpstr>
      <vt:lpstr>PowerPoint Presentation</vt:lpstr>
      <vt:lpstr>Announcements</vt:lpstr>
      <vt:lpstr>Module goals</vt:lpstr>
      <vt:lpstr>C vs Java vs Python</vt:lpstr>
      <vt:lpstr>C vs Java vs Python</vt:lpstr>
      <vt:lpstr>C vs Java vs Python</vt:lpstr>
      <vt:lpstr>Memory layout</vt:lpstr>
      <vt:lpstr>C: lack of bounds checks</vt:lpstr>
      <vt:lpstr>Memory safety and performance</vt:lpstr>
      <vt:lpstr>So what?</vt:lpstr>
      <vt:lpstr>Why is UB worse?</vt:lpstr>
      <vt:lpstr>Background: types of memory</vt:lpstr>
      <vt:lpstr>Background: stack layout</vt:lpstr>
      <vt:lpstr>Buffer overflow</vt:lpstr>
      <vt:lpstr>Alternative layout: Buffer overflow not possible</vt:lpstr>
      <vt:lpstr>Buffer overflow</vt:lpstr>
      <vt:lpstr>Buffer overflow</vt:lpstr>
      <vt:lpstr>Vulnerable string-related libc functions</vt:lpstr>
      <vt:lpstr>Vulnerable string-related libc functions</vt:lpstr>
      <vt:lpstr>Buffer overflow demo</vt:lpstr>
      <vt:lpstr>PowerPoint Presentation</vt:lpstr>
      <vt:lpstr>Announcements</vt:lpstr>
      <vt:lpstr>Agenda</vt:lpstr>
      <vt:lpstr>Buffer overflow</vt:lpstr>
      <vt:lpstr>Buffer overflow</vt:lpstr>
      <vt:lpstr>Vulnerable string-related libc functions</vt:lpstr>
      <vt:lpstr>Programming languages and memory safety</vt:lpstr>
      <vt:lpstr>PowerPoint Presentation</vt:lpstr>
      <vt:lpstr>Memory safety and performance</vt:lpstr>
      <vt:lpstr>C vs. Java performance</vt:lpstr>
      <vt:lpstr>Performance critical software in C/C++</vt:lpstr>
      <vt:lpstr>Security attacks</vt:lpstr>
      <vt:lpstr>Potential solution: Rust?</vt:lpstr>
      <vt:lpstr>Stack memory on x86 (high-level idea)</vt:lpstr>
      <vt:lpstr>Stack memory on x86 (high-level idea)</vt:lpstr>
      <vt:lpstr>Stack memory on x86 (high-level idea)</vt:lpstr>
      <vt:lpstr>Stack memory on x86 (high-level idea)</vt:lpstr>
      <vt:lpstr>x86 feature</vt:lpstr>
      <vt:lpstr>Implications…</vt:lpstr>
      <vt:lpstr>Implications…</vt:lpstr>
      <vt:lpstr>Implications…</vt:lpstr>
      <vt:lpstr>Demo</vt:lpstr>
      <vt:lpstr>Interesting targets for control flow hijack</vt:lpstr>
      <vt:lpstr>What else? (Not in syllabus)</vt:lpstr>
      <vt:lpstr>What else? (Not in syllabus)</vt:lpstr>
      <vt:lpstr>What else? (Not in syllabus)</vt:lpstr>
      <vt:lpstr>What else? (Not in syllabus)</vt:lpstr>
      <vt:lpstr>Implications… (Not in syllabus)</vt:lpstr>
      <vt:lpstr>But isn’t all this too hard to exploit?</vt:lpstr>
      <vt:lpstr>But isn’t all this too hard to exploit?</vt:lpstr>
      <vt:lpstr>Heap-based vulnerabilities/attacks</vt:lpstr>
      <vt:lpstr>Heap overflow attacks</vt:lpstr>
      <vt:lpstr>Heap overflow attacks</vt:lpstr>
      <vt:lpstr>Types of memory safety</vt:lpstr>
      <vt:lpstr>Memory allocator concepts</vt:lpstr>
      <vt:lpstr>Memory allocator concepts</vt:lpstr>
      <vt:lpstr>Memory allocator concepts</vt:lpstr>
      <vt:lpstr>Memory allocator concepts</vt:lpstr>
      <vt:lpstr>Memory allocator concepts</vt:lpstr>
      <vt:lpstr>Memory allocator concepts</vt:lpstr>
      <vt:lpstr>Memory allocator concepts</vt:lpstr>
      <vt:lpstr>Memory allocator concepts</vt:lpstr>
      <vt:lpstr>Temporal safety vulnerabilities</vt:lpstr>
      <vt:lpstr>Temporal safety vulnerabilities</vt:lpstr>
      <vt:lpstr>Temporal safety vulnerabilities</vt:lpstr>
      <vt:lpstr>Temporal safety vulnerabilities</vt:lpstr>
      <vt:lpstr>Secure programming</vt:lpstr>
      <vt:lpstr>String functions</vt:lpstr>
      <vt:lpstr>Avoiding temporal safety bugs</vt:lpstr>
      <vt:lpstr>PowerPoint Presentation</vt:lpstr>
      <vt:lpstr>Agenda</vt:lpstr>
      <vt:lpstr>Memory safety</vt:lpstr>
      <vt:lpstr>Buffer overflow to corrupt sensitive stack data</vt:lpstr>
      <vt:lpstr>Buffer overflow to hijack control flow</vt:lpstr>
      <vt:lpstr>Defenses - stack canaries</vt:lpstr>
      <vt:lpstr>Defenses - stack canaries</vt:lpstr>
      <vt:lpstr>Defenses - stack canaries</vt:lpstr>
      <vt:lpstr>Defenses - stack canaries</vt:lpstr>
      <vt:lpstr>Defenses - stack canaries</vt:lpstr>
      <vt:lpstr>Stack canaries</vt:lpstr>
      <vt:lpstr>Defenses – Address Space Layout Randomization </vt:lpstr>
      <vt:lpstr>Secure programming</vt:lpstr>
      <vt:lpstr>String functions</vt:lpstr>
      <vt:lpstr>Avoiding temporal safety bugs</vt:lpstr>
      <vt:lpstr>Background: variable’s scope</vt:lpstr>
      <vt:lpstr>PowerPoint Presentation</vt:lpstr>
      <vt:lpstr>C++ smart pointers</vt:lpstr>
      <vt:lpstr>unique_ptr</vt:lpstr>
      <vt:lpstr>unique_ptr</vt:lpstr>
      <vt:lpstr>unique_ptr</vt:lpstr>
      <vt:lpstr>What about multiple pointers to same var?</vt:lpstr>
      <vt:lpstr>Desired behavior</vt:lpstr>
      <vt:lpstr>shared_ptr</vt:lpstr>
      <vt:lpstr>More about smart pointers</vt:lpstr>
      <vt:lpstr>PowerPoint Presentation</vt:lpstr>
      <vt:lpstr>Question – find vulnerabilities in code and fix them</vt:lpstr>
      <vt:lpstr>Can the code below result in control flow hijack?</vt:lpstr>
      <vt:lpstr>Can the code below result in control flow hijack?</vt:lpstr>
      <vt:lpstr>PowerPoint Presentation</vt:lpstr>
      <vt:lpstr>Agenda</vt:lpstr>
      <vt:lpstr>Temporal memory safety bugs</vt:lpstr>
      <vt:lpstr>C++ smart pointers</vt:lpstr>
      <vt:lpstr>C++ smart pointers</vt:lpstr>
      <vt:lpstr>Memory leak</vt:lpstr>
      <vt:lpstr>PowerPoint Presentation</vt:lpstr>
      <vt:lpstr>Spatial memory safety in Java</vt:lpstr>
      <vt:lpstr>Temporal memory safety in Java</vt:lpstr>
      <vt:lpstr>Garbage collection</vt:lpstr>
      <vt:lpstr>Mark and Sweep algorithm</vt:lpstr>
      <vt:lpstr>Mark and Sweep algorithm</vt:lpstr>
      <vt:lpstr>Mark and Sweep algorithm</vt:lpstr>
      <vt:lpstr>Mark phase</vt:lpstr>
      <vt:lpstr>Sweep phase</vt:lpstr>
      <vt:lpstr>Important points</vt:lpstr>
      <vt:lpstr>Memory safety guarantees</vt:lpstr>
      <vt:lpstr>Performance impact</vt:lpstr>
      <vt:lpstr>Performance of garbage collected languages</vt:lpstr>
      <vt:lpstr>Rust</vt:lpstr>
      <vt:lpstr>Summary</vt:lpstr>
      <vt:lpstr>PowerPoint Presentation</vt:lpstr>
      <vt:lpstr>Question 1</vt:lpstr>
      <vt:lpstr>Question 2</vt:lpstr>
      <vt:lpstr>Question 3</vt:lpstr>
      <vt:lpstr>PowerPoint Presentation</vt:lpstr>
      <vt:lpstr>Question 1</vt:lpstr>
      <vt:lpstr>Question 2</vt:lpstr>
      <vt:lpstr>Question 2 (Challenging!)</vt:lpstr>
      <vt:lpstr>Sensitive user data</vt:lpstr>
      <vt:lpstr>Software security principles</vt:lpstr>
      <vt:lpstr>What is software security?</vt:lpstr>
      <vt:lpstr>Spatial memory safety</vt:lpstr>
      <vt:lpstr>Lack of spatial memory safety</vt:lpstr>
      <vt:lpstr>Types of memory</vt:lpstr>
      <vt:lpstr>Function calls on X86 architectures</vt:lpstr>
      <vt:lpstr>Function calls on X86 architectures</vt:lpstr>
      <vt:lpstr>Control flow hijack</vt:lpstr>
      <vt:lpstr>Temporal memory safety</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1400</cp:revision>
  <dcterms:created xsi:type="dcterms:W3CDTF">2019-06-30T03:25:06Z</dcterms:created>
  <dcterms:modified xsi:type="dcterms:W3CDTF">2025-11-10T19:33:56Z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