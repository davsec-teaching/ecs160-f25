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5"/>
  </p:notesMasterIdLst>
  <p:handoutMasterIdLst>
    <p:handoutMasterId r:id="rId176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72" r:id="rId105"/>
    <p:sldId id="1265" r:id="rId106"/>
    <p:sldId id="1266" r:id="rId107"/>
    <p:sldId id="1267" r:id="rId108"/>
    <p:sldId id="1169" r:id="rId109"/>
    <p:sldId id="1170" r:id="rId110"/>
    <p:sldId id="1171" r:id="rId111"/>
    <p:sldId id="1261" r:id="rId112"/>
    <p:sldId id="1174" r:id="rId113"/>
    <p:sldId id="1268" r:id="rId114"/>
    <p:sldId id="1269" r:id="rId115"/>
    <p:sldId id="1186" r:id="rId116"/>
    <p:sldId id="1172" r:id="rId117"/>
    <p:sldId id="1175" r:id="rId118"/>
    <p:sldId id="1263" r:id="rId119"/>
    <p:sldId id="1178" r:id="rId120"/>
    <p:sldId id="1177" r:id="rId121"/>
    <p:sldId id="1270" r:id="rId122"/>
    <p:sldId id="1179" r:id="rId123"/>
    <p:sldId id="1180" r:id="rId124"/>
    <p:sldId id="1160" r:id="rId125"/>
    <p:sldId id="1181" r:id="rId126"/>
    <p:sldId id="1271" r:id="rId127"/>
    <p:sldId id="1194" r:id="rId128"/>
    <p:sldId id="1183" r:id="rId129"/>
    <p:sldId id="1184" r:id="rId130"/>
    <p:sldId id="1185" r:id="rId131"/>
    <p:sldId id="1273" r:id="rId132"/>
    <p:sldId id="1274" r:id="rId133"/>
    <p:sldId id="1205" r:id="rId134"/>
    <p:sldId id="1105" r:id="rId135"/>
    <p:sldId id="1187" r:id="rId136"/>
    <p:sldId id="1188" r:id="rId137"/>
    <p:sldId id="1110" r:id="rId138"/>
    <p:sldId id="1111" r:id="rId139"/>
    <p:sldId id="1190" r:id="rId140"/>
    <p:sldId id="1192" r:id="rId141"/>
    <p:sldId id="1189" r:id="rId142"/>
    <p:sldId id="1208" r:id="rId143"/>
    <p:sldId id="1209" r:id="rId144"/>
    <p:sldId id="1210" r:id="rId145"/>
    <p:sldId id="1191" r:id="rId146"/>
    <p:sldId id="1113" r:id="rId147"/>
    <p:sldId id="1193" r:id="rId148"/>
    <p:sldId id="1275" r:id="rId149"/>
    <p:sldId id="1276" r:id="rId150"/>
    <p:sldId id="1278" r:id="rId151"/>
    <p:sldId id="1279" r:id="rId152"/>
    <p:sldId id="1280" r:id="rId153"/>
    <p:sldId id="1281" r:id="rId154"/>
    <p:sldId id="1285" r:id="rId155"/>
    <p:sldId id="1282" r:id="rId156"/>
    <p:sldId id="1283" r:id="rId157"/>
    <p:sldId id="1284" r:id="rId158"/>
    <p:sldId id="1286" r:id="rId159"/>
    <p:sldId id="1114" r:id="rId160"/>
    <p:sldId id="1215" r:id="rId161"/>
    <p:sldId id="1216" r:id="rId162"/>
    <p:sldId id="1217" r:id="rId163"/>
    <p:sldId id="1218" r:id="rId164"/>
    <p:sldId id="258" r:id="rId165"/>
    <p:sldId id="1106" r:id="rId166"/>
    <p:sldId id="257" r:id="rId167"/>
    <p:sldId id="1091" r:id="rId168"/>
    <p:sldId id="1096" r:id="rId169"/>
    <p:sldId id="1100" r:id="rId170"/>
    <p:sldId id="1099" r:id="rId171"/>
    <p:sldId id="1107" r:id="rId172"/>
    <p:sldId id="1109" r:id="rId173"/>
    <p:sldId id="1095" r:id="rId17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1840" autoAdjust="0"/>
  </p:normalViewPr>
  <p:slideViewPr>
    <p:cSldViewPr snapToGrid="0">
      <p:cViewPr varScale="1">
        <p:scale>
          <a:sx n="126" d="100"/>
          <a:sy n="126" d="100"/>
        </p:scale>
        <p:origin x="41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microsoft.com/office/2016/11/relationships/changesInfo" Target="changesInfos/changesInfo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microsoft.com/office/2015/10/relationships/revisionInfo" Target="revisionInfo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presProps" Target="presProps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microsoft.com/office/2018/10/relationships/authors" Target="author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tableStyles" Target="tableStyle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handoutMaster" Target="handoutMasters/handout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19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7212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-smart-pointers" TargetMode="Externa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jpeg"/><Relationship Id="rId10" Type="http://schemas.openxmlformats.org/officeDocument/2006/relationships/image" Target="../media/image32.jpe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EDDA0-EF02-BE69-02B5-22D0849DF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discussion</a:t>
            </a:r>
          </a:p>
          <a:p>
            <a:r>
              <a:rPr lang="en-US" dirty="0"/>
              <a:t>LLM policy for discussion text</a:t>
            </a:r>
          </a:p>
          <a:p>
            <a:r>
              <a:rPr lang="en-US" dirty="0"/>
              <a:t>Quiz next Friday</a:t>
            </a:r>
          </a:p>
          <a:p>
            <a:pPr lvl="1"/>
            <a:r>
              <a:rPr lang="en-US" dirty="0"/>
              <a:t>Will cover materials until next Monday</a:t>
            </a:r>
          </a:p>
          <a:p>
            <a:pPr lvl="1"/>
            <a:r>
              <a:rPr lang="en-US" dirty="0"/>
              <a:t>Mostly 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6738D9-60F5-D262-1B5C-04F7E3813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21833995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Works only if you use them correctly! 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  <a:p>
            <a:pPr lvl="2"/>
            <a:r>
              <a:rPr lang="en-US" dirty="0"/>
              <a:t>But programmer still has to use them correctly!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// Please check the actual implementation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913142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226AFB-37C7-3C18-D6F3-76097E1CDB14}"/>
              </a:ext>
            </a:extLst>
          </p:cNvPr>
          <p:cNvSpPr/>
          <p:nvPr/>
        </p:nvSpPr>
        <p:spPr>
          <a:xfrm>
            <a:off x="6229851" y="2277775"/>
            <a:ext cx="5633413" cy="823565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  <a:p>
            <a:r>
              <a:rPr lang="en-US" dirty="0">
                <a:hlinkClick r:id="rId2"/>
              </a:rPr>
              <a:t>https://github.com/davsec-teaching/c-smart-pointers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452B-876C-7DBC-FFF4-079303CC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11E61C-8A6B-C76F-94A0-C2FA4523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br>
              <a:rPr lang="en-US" dirty="0"/>
            </a:br>
            <a:r>
              <a:rPr lang="en-US" dirty="0"/>
              <a:t>    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rawptr</a:t>
            </a:r>
            <a:r>
              <a:rPr lang="en-US" dirty="0"/>
              <a:t> = </a:t>
            </a:r>
            <a:r>
              <a:rPr lang="en-US" dirty="0" err="1"/>
              <a:t>ptr</a:t>
            </a:r>
            <a:r>
              <a:rPr lang="en-US" dirty="0"/>
              <a:t>-&gt;get(); // Leak ownership</a:t>
            </a:r>
          </a:p>
          <a:p>
            <a:r>
              <a:rPr lang="en-US" dirty="0"/>
              <a:t>	delete </a:t>
            </a:r>
            <a:r>
              <a:rPr lang="en-US" dirty="0" err="1"/>
              <a:t>rawptr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2DA5D-2516-9E8F-1FB3-07AC27C7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r>
              <a:rPr lang="en-US" dirty="0"/>
              <a:t>: Incorrect use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F3921-0F7E-4F6B-0675-DB47D24BE4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Programmer still must make sure they don’t do something unsafe</a:t>
            </a:r>
          </a:p>
          <a:p>
            <a:r>
              <a:rPr lang="en-US" dirty="0"/>
              <a:t>Argument: calling </a:t>
            </a:r>
            <a:r>
              <a:rPr lang="en-US" dirty="0">
                <a:latin typeface="Consolas" panose="020B0609020204030204" pitchFamily="49" charset="0"/>
              </a:rPr>
              <a:t>get() </a:t>
            </a:r>
            <a:r>
              <a:rPr lang="en-US" dirty="0"/>
              <a:t>should send more alarm bells ringing than calling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free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A6107-88E9-8B94-1613-6500F71C292D}"/>
              </a:ext>
            </a:extLst>
          </p:cNvPr>
          <p:cNvSpPr/>
          <p:nvPr/>
        </p:nvSpPr>
        <p:spPr>
          <a:xfrm>
            <a:off x="6252712" y="4156108"/>
            <a:ext cx="5633413" cy="69627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0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smart pointers provide safe abstractions in this case?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06DD9-2C39-2769-950E-9E785DB44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makes smart pointers </a:t>
            </a:r>
            <a:r>
              <a:rPr lang="en-US" b="1" i="1" dirty="0"/>
              <a:t>opt-in</a:t>
            </a:r>
          </a:p>
          <a:p>
            <a:r>
              <a:rPr lang="en-US" dirty="0"/>
              <a:t>Programmer can still make mistakes (e.g. leaking a raw pointer by calling get() and deleting using the raw pointer)</a:t>
            </a:r>
          </a:p>
          <a:p>
            <a:r>
              <a:rPr lang="en-US" dirty="0"/>
              <a:t>It is hard to audit such “mistakes” because safe code and unsafe code is intermixed</a:t>
            </a:r>
          </a:p>
          <a:p>
            <a:r>
              <a:rPr lang="en-US" dirty="0"/>
              <a:t>… Rust fixes many of these problems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118D94-9AF5-9282-9391-717976C1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thoughts</a:t>
            </a:r>
          </a:p>
        </p:txBody>
      </p:sp>
    </p:spTree>
    <p:extLst>
      <p:ext uri="{BB962C8B-B14F-4D97-AF65-F5344CB8AC3E}">
        <p14:creationId xmlns:p14="http://schemas.microsoft.com/office/powerpoint/2010/main" val="360022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5998640" y="5353912"/>
            <a:ext cx="57361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 stack canaries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F816BA0-B642-4E21-6B35-36E174BC2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D8285C-CB7F-F9FD-302C-37818B1ABD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80771065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C0699D-0CED-972A-47F2-5481ED4A6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and memory leak</a:t>
            </a:r>
          </a:p>
          <a:p>
            <a:r>
              <a:rPr lang="en-US" dirty="0"/>
              <a:t>Temporal safety for Java (garbage collection)</a:t>
            </a:r>
          </a:p>
          <a:p>
            <a:r>
              <a:rPr lang="en-US" dirty="0"/>
              <a:t>Temporal safety for Rust 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37A13F-4F15-6D49-4E4A-51367C963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093E82-37E6-99D3-5F9B-D70C34017C14}"/>
              </a:ext>
            </a:extLst>
          </p:cNvPr>
          <p:cNvCxnSpPr/>
          <p:nvPr/>
        </p:nvCxnSpPr>
        <p:spPr>
          <a:xfrm>
            <a:off x="0" y="297942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76369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C66F0E-B90B-35CA-5E18-AD3E421F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B1488-96D0-1E12-9CFD-F86B1DD63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Ownership-based memory safety</a:t>
            </a:r>
          </a:p>
        </p:txBody>
      </p:sp>
    </p:spTree>
    <p:extLst>
      <p:ext uri="{BB962C8B-B14F-4D97-AF65-F5344CB8AC3E}">
        <p14:creationId xmlns:p14="http://schemas.microsoft.com/office/powerpoint/2010/main" val="25944898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33B1F5-BAAA-F394-BF9A-DC0B056D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Language imposes certain restrictions on what the programmer can do</a:t>
            </a:r>
          </a:p>
          <a:p>
            <a:r>
              <a:rPr lang="en-US" dirty="0"/>
              <a:t>In return, the compiler guarantees memory safety</a:t>
            </a:r>
          </a:p>
          <a:p>
            <a:r>
              <a:rPr lang="en-US" dirty="0"/>
              <a:t>If code compiles, then no spatial or temporal safety issues</a:t>
            </a:r>
          </a:p>
          <a:p>
            <a:pPr lvl="1"/>
            <a:r>
              <a:rPr lang="en-US" dirty="0"/>
              <a:t>As long as </a:t>
            </a:r>
            <a:r>
              <a:rPr lang="en-US" b="1" i="1" dirty="0"/>
              <a:t>unsafe</a:t>
            </a:r>
            <a:r>
              <a:rPr lang="en-US" dirty="0"/>
              <a:t> Rust is not used (Not in scope)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2C1942-0FDE-B424-BAEB-B3820756E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language</a:t>
            </a:r>
          </a:p>
        </p:txBody>
      </p:sp>
      <p:pic>
        <p:nvPicPr>
          <p:cNvPr id="1028" name="Picture 4" descr="rust&quot; Icon - Download for free – Iconduck">
            <a:extLst>
              <a:ext uri="{FF2B5EF4-FFF2-40B4-BE49-F238E27FC236}">
                <a16:creationId xmlns:a16="http://schemas.microsoft.com/office/drawing/2014/main" id="{64441D70-042E-DD1B-6398-E67661EF8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1892" y="1461939"/>
            <a:ext cx="1409501" cy="1408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19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0E0B39-EB02-F4FC-5ED7-D3EF821C0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dynamically sized object maintains its bounds</a:t>
            </a:r>
          </a:p>
          <a:p>
            <a:r>
              <a:rPr lang="en-US" dirty="0">
                <a:latin typeface="Consolas" panose="020B0609020204030204" pitchFamily="49" charset="0"/>
              </a:rPr>
              <a:t>pub struct Vec&lt;T, A: Allocator = Global&gt;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RawVec</a:t>
            </a:r>
            <a:r>
              <a:rPr lang="en-US" dirty="0">
                <a:latin typeface="Consolas" panose="020B0609020204030204" pitchFamily="49" charset="0"/>
              </a:rPr>
              <a:t>&lt;T, A&gt;,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len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: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usize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, 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All accesses to dynamically sized objects are bound-checked</a:t>
            </a:r>
          </a:p>
          <a:p>
            <a:pPr lvl="1"/>
            <a:r>
              <a:rPr lang="en-US" dirty="0"/>
              <a:t>Raise an exception at runtime</a:t>
            </a:r>
          </a:p>
          <a:p>
            <a:r>
              <a:rPr lang="en-US" dirty="0"/>
              <a:t>If code compiles, then no </a:t>
            </a:r>
            <a:r>
              <a:rPr lang="en-US" i="1" dirty="0"/>
              <a:t>undetected</a:t>
            </a:r>
            <a:r>
              <a:rPr lang="en-US" dirty="0"/>
              <a:t> out-of-bounds access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605467-B6B5-80BC-3E1D-FD7AE1BD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safety</a:t>
            </a:r>
          </a:p>
        </p:txBody>
      </p:sp>
    </p:spTree>
    <p:extLst>
      <p:ext uri="{BB962C8B-B14F-4D97-AF65-F5344CB8AC3E}">
        <p14:creationId xmlns:p14="http://schemas.microsoft.com/office/powerpoint/2010/main" val="53717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4E550-EE55-534A-EB1E-5B7F98084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0150" y="905773"/>
            <a:ext cx="5633413" cy="5046453"/>
          </a:xfrm>
        </p:spPr>
        <p:txBody>
          <a:bodyPr/>
          <a:lstStyle/>
          <a:p>
            <a:r>
              <a:rPr lang="en-US" dirty="0" err="1"/>
              <a:t>fn</a:t>
            </a:r>
            <a:r>
              <a:rPr lang="en-US" dirty="0"/>
              <a:t> main() {</a:t>
            </a:r>
          </a:p>
          <a:p>
            <a:r>
              <a:rPr lang="en-US" dirty="0"/>
              <a:t>    let vector = </a:t>
            </a:r>
            <a:r>
              <a:rPr lang="en-US" dirty="0" err="1"/>
              <a:t>vec</a:t>
            </a:r>
            <a:r>
              <a:rPr lang="en-US" dirty="0"/>
              <a:t>![1, 2, 3, 4, 5];</a:t>
            </a:r>
          </a:p>
          <a:p>
            <a:r>
              <a:rPr lang="en-US" dirty="0"/>
              <a:t>    // read from user input</a:t>
            </a:r>
          </a:p>
          <a:p>
            <a:r>
              <a:rPr lang="en-US" dirty="0"/>
              <a:t>    let mut input = String::new();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!("Please enter a number:");</a:t>
            </a:r>
          </a:p>
          <a:p>
            <a:r>
              <a:rPr lang="en-US" dirty="0"/>
              <a:t>    std::io::stdin()</a:t>
            </a:r>
          </a:p>
          <a:p>
            <a:r>
              <a:rPr lang="en-US" dirty="0"/>
              <a:t>        .</a:t>
            </a:r>
            <a:r>
              <a:rPr lang="en-US" dirty="0" err="1"/>
              <a:t>read_line</a:t>
            </a:r>
            <a:r>
              <a:rPr lang="en-US" dirty="0"/>
              <a:t>(&amp;mut input)</a:t>
            </a:r>
          </a:p>
          <a:p>
            <a:r>
              <a:rPr lang="en-US" dirty="0"/>
              <a:t>        .expect("Failed to read line");</a:t>
            </a:r>
          </a:p>
          <a:p>
            <a:r>
              <a:rPr lang="en-US" dirty="0"/>
              <a:t>    let input: </a:t>
            </a:r>
            <a:r>
              <a:rPr lang="en-US" dirty="0" err="1"/>
              <a:t>usize</a:t>
            </a:r>
            <a:r>
              <a:rPr lang="en-US" dirty="0"/>
              <a:t> = </a:t>
            </a:r>
            <a:r>
              <a:rPr lang="en-US" dirty="0" err="1"/>
              <a:t>input.trim</a:t>
            </a:r>
            <a:r>
              <a:rPr lang="en-US" dirty="0"/>
              <a:t>().parse().expect("Please enter a number");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!("You chose to read: {}", vector[input]);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!("Hello, world!");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97A1B6-7AB3-52E3-C5B4-D1AB1189E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53268500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882A03-42AB-8F0F-A14D-56CC165F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mut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owner, s can’t be accessed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p[1] = </a:t>
            </a:r>
            <a:r>
              <a:rPr lang="en-US" dirty="0"/>
              <a:t>10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s[2]); 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// Compiler error!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A02832-1DE9-8F4C-6DF3-529DF6A1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types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57D1C7-2844-A5FA-416F-79A74439C0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Every </a:t>
            </a:r>
            <a:r>
              <a:rPr lang="en-US" u="sng" dirty="0"/>
              <a:t>heap</a:t>
            </a:r>
            <a:r>
              <a:rPr lang="en-US" dirty="0"/>
              <a:t> object has a single owner</a:t>
            </a:r>
          </a:p>
          <a:p>
            <a:r>
              <a:rPr lang="en-US" dirty="0"/>
              <a:t>The owner is responsible for creating and destroying the object</a:t>
            </a:r>
          </a:p>
          <a:p>
            <a:r>
              <a:rPr lang="en-US" dirty="0"/>
              <a:t>The object is </a:t>
            </a:r>
            <a:r>
              <a:rPr lang="en-US" b="1" dirty="0"/>
              <a:t>automatically dropped </a:t>
            </a:r>
            <a:r>
              <a:rPr lang="en-US" dirty="0"/>
              <a:t>when the owner goes out of scope</a:t>
            </a:r>
          </a:p>
          <a:p>
            <a:r>
              <a:rPr lang="en-US" i="1" dirty="0"/>
              <a:t>Can </a:t>
            </a:r>
            <a:r>
              <a:rPr lang="en-US" dirty="0"/>
              <a:t>have reference counted pointers, but the programmer has to </a:t>
            </a:r>
            <a:r>
              <a:rPr lang="en-US" i="1" dirty="0"/>
              <a:t>opt-in</a:t>
            </a:r>
            <a:r>
              <a:rPr lang="en-US" dirty="0"/>
              <a:t> for that</a:t>
            </a:r>
            <a:endParaRPr lang="en-US" i="1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3CFF0A-46BE-F1E5-ACD6-6F56207C4C80}"/>
              </a:ext>
            </a:extLst>
          </p:cNvPr>
          <p:cNvSpPr/>
          <p:nvPr/>
        </p:nvSpPr>
        <p:spPr>
          <a:xfrm>
            <a:off x="6096000" y="102654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E34413-FA2F-2322-2631-441D38784CCD}"/>
              </a:ext>
            </a:extLst>
          </p:cNvPr>
          <p:cNvSpPr/>
          <p:nvPr/>
        </p:nvSpPr>
        <p:spPr>
          <a:xfrm>
            <a:off x="6341189" y="1455368"/>
            <a:ext cx="5468736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6E0160-0528-6131-002B-0F9DC0489E33}"/>
              </a:ext>
            </a:extLst>
          </p:cNvPr>
          <p:cNvSpPr/>
          <p:nvPr/>
        </p:nvSpPr>
        <p:spPr>
          <a:xfrm>
            <a:off x="6176512" y="1489842"/>
            <a:ext cx="5304057" cy="1818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30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29E08B-ADCA-9362-430A-E8ED9D0FD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 , s can’t be accessed</a:t>
            </a:r>
          </a:p>
          <a:p>
            <a:r>
              <a:rPr lang="en-US" dirty="0">
                <a:solidFill>
                  <a:srgbClr val="0000FF"/>
                </a:solidFill>
              </a:rPr>
              <a:t>	</a:t>
            </a:r>
            <a:r>
              <a:rPr lang="en-US" dirty="0">
                <a:solidFill>
                  <a:srgbClr val="000000"/>
                </a:solidFill>
              </a:rPr>
              <a:t>let r = &amp;p;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println</a:t>
            </a:r>
            <a:r>
              <a:rPr lang="en-US" dirty="0">
                <a:solidFill>
                  <a:srgbClr val="000000"/>
                </a:solidFill>
              </a:rPr>
              <a:t>!(“{}”, r[1]); </a:t>
            </a:r>
            <a:r>
              <a:rPr lang="en-US" dirty="0">
                <a:solidFill>
                  <a:srgbClr val="0000FF"/>
                </a:solidFill>
              </a:rPr>
              <a:t>// works!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8AAEFF9-597C-BB4F-F9EB-58E5ECB5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B7961C-301F-22B6-3DBB-4D1EDCE1C0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References can borrow a value</a:t>
            </a:r>
          </a:p>
          <a:p>
            <a:r>
              <a:rPr lang="en-US" dirty="0"/>
              <a:t>Compiler will complain if the reference lives beyond the owner’s lifetime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050240-3608-AF39-5F00-65AD6A186E81}"/>
              </a:ext>
            </a:extLst>
          </p:cNvPr>
          <p:cNvSpPr/>
          <p:nvPr/>
        </p:nvSpPr>
        <p:spPr>
          <a:xfrm>
            <a:off x="6341189" y="198347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3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825FE-CE0F-2F8A-4472-23D4A10D2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Box&lt;T&gt; - heap-allocates a single value</a:t>
            </a:r>
          </a:p>
          <a:p>
            <a:r>
              <a:rPr lang="en-US" dirty="0" err="1"/>
              <a:t>Rc</a:t>
            </a:r>
            <a:r>
              <a:rPr lang="en-US" dirty="0"/>
              <a:t>&lt;T&gt;: reference counted pointer</a:t>
            </a:r>
          </a:p>
          <a:p>
            <a:pPr lvl="1"/>
            <a:r>
              <a:rPr lang="en-US" dirty="0"/>
              <a:t>Single-threaded use only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Arc&lt;T&gt;: atomic reference counted pointer</a:t>
            </a:r>
          </a:p>
          <a:p>
            <a:pPr lvl="1"/>
            <a:r>
              <a:rPr lang="en-US" dirty="0"/>
              <a:t>Shared ownership across threads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Mutex&lt;T&gt;: smart pointers enabling synchronized mutation</a:t>
            </a:r>
          </a:p>
          <a:p>
            <a:pPr lvl="1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B78988-FF5D-41B5-75BE-7A7E7674B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smart pointers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80335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587E2C-ABA9-B47F-3B44-A90F657B2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Double free bugs?</a:t>
            </a:r>
          </a:p>
          <a:p>
            <a:r>
              <a:rPr lang="en-US" dirty="0"/>
              <a:t>Use-after-free bugs?</a:t>
            </a:r>
          </a:p>
          <a:p>
            <a:r>
              <a:rPr lang="en-US" dirty="0"/>
              <a:t>Is there any performance overhead?</a:t>
            </a:r>
          </a:p>
          <a:p>
            <a:pPr lvl="1"/>
            <a:r>
              <a:rPr lang="en-US" dirty="0"/>
              <a:t>Garbage collection vs. ownership types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768740-F9DC-EF03-BE12-EF75D1A4F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rust have temporal safety issues?</a:t>
            </a:r>
          </a:p>
        </p:txBody>
      </p:sp>
    </p:spTree>
    <p:extLst>
      <p:ext uri="{BB962C8B-B14F-4D97-AF65-F5344CB8AC3E}">
        <p14:creationId xmlns:p14="http://schemas.microsoft.com/office/powerpoint/2010/main" val="204471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BB7921-8F99-17DC-646C-9E833F894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 counter = 0;</a:t>
            </a:r>
          </a:p>
          <a:p>
            <a:endParaRPr lang="en-US" sz="2400" dirty="0"/>
          </a:p>
          <a:p>
            <a:r>
              <a:rPr lang="en-US" sz="2400" dirty="0"/>
              <a:t>void* thread1()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void* thread2()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// final value of counter?</a:t>
            </a:r>
          </a:p>
          <a:p>
            <a:r>
              <a:rPr lang="en-US" sz="2400" dirty="0"/>
              <a:t>// could be 1 or 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F64483-BD3D-4CE4-817F-3CE8581E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completeness: data races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838F35-6D2D-623C-21FC-EE71892FD62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Data races can happen in multi-threaded apps if incorrect locking is used</a:t>
            </a:r>
          </a:p>
          <a:p>
            <a:r>
              <a:rPr lang="en-US" dirty="0"/>
              <a:t>Data races can happen if two memory operations in different threads write to the same variable and one of them is a write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00600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39BFEF-4C15-B156-6033-2A2DBFAF0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fn</a:t>
            </a:r>
            <a:r>
              <a:rPr lang="en-US" sz="2000" dirty="0"/>
              <a:t> main() {</a:t>
            </a:r>
            <a:br>
              <a:rPr lang="en-US" sz="2000" dirty="0"/>
            </a:br>
            <a:r>
              <a:rPr lang="en-US" sz="2000" dirty="0"/>
              <a:t>  let mut s = String::from(“AAA”);</a:t>
            </a:r>
            <a:br>
              <a:rPr lang="en-US" sz="2000" dirty="0"/>
            </a:br>
            <a:r>
              <a:rPr lang="en-US" sz="2000" dirty="0"/>
              <a:t>  let </a:t>
            </a:r>
            <a:r>
              <a:rPr lang="en-US" sz="2000" dirty="0" err="1"/>
              <a:t>s_ref</a:t>
            </a:r>
            <a:r>
              <a:rPr lang="en-US" sz="2000" dirty="0"/>
              <a:t> = &amp;mut s; // mutable ref 1</a:t>
            </a:r>
            <a:br>
              <a:rPr lang="en-US" sz="2000" dirty="0"/>
            </a:br>
            <a:r>
              <a:rPr lang="en-US" sz="2000" dirty="0"/>
              <a:t>  let s_ref2 = &amp;s; // ref 2 </a:t>
            </a:r>
          </a:p>
          <a:p>
            <a:r>
              <a:rPr lang="en-US" sz="2000" dirty="0">
                <a:solidFill>
                  <a:srgbClr val="C00000"/>
                </a:solidFill>
              </a:rPr>
              <a:t>			// compiler error</a:t>
            </a:r>
            <a:br>
              <a:rPr lang="en-US" sz="2000" dirty="0"/>
            </a:br>
            <a:r>
              <a:rPr lang="en-US" sz="2000" dirty="0"/>
              <a:t>  </a:t>
            </a:r>
            <a:r>
              <a:rPr lang="en-US" sz="2000" dirty="0" err="1"/>
              <a:t>println</a:t>
            </a:r>
            <a:r>
              <a:rPr lang="en-US" sz="2000" dirty="0"/>
              <a:t>!(“{}”, </a:t>
            </a:r>
            <a:r>
              <a:rPr lang="en-US" sz="2000" dirty="0" err="1"/>
              <a:t>s_ref</a:t>
            </a:r>
            <a:r>
              <a:rPr lang="en-US" sz="2000" dirty="0"/>
              <a:t>); </a:t>
            </a:r>
            <a:br>
              <a:rPr lang="en-US" sz="2000" dirty="0"/>
            </a:br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86618D-2A03-F286-BC29-695FF9BCD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Mutability XOR aliasing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988730-257E-AA9F-2CF4-64414ABF69A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Rust has mutability XOR aliasing</a:t>
            </a:r>
          </a:p>
          <a:p>
            <a:pPr lvl="1"/>
            <a:r>
              <a:rPr lang="en-US" dirty="0"/>
              <a:t>Does not allow you to create mutable references to data when another reference to it exists</a:t>
            </a:r>
          </a:p>
          <a:p>
            <a:r>
              <a:rPr lang="en-US" dirty="0"/>
              <a:t>If you want to share mutable data across different threads you must use Rust’s smart pointers </a:t>
            </a:r>
            <a:r>
              <a:rPr lang="en-US" dirty="0">
                <a:latin typeface="Consolas" panose="020B0609020204030204" pitchFamily="49" charset="0"/>
              </a:rPr>
              <a:t>Arc&lt;Mutex&lt;T&gt;&gt;</a:t>
            </a:r>
          </a:p>
          <a:p>
            <a:r>
              <a:rPr lang="en-US" dirty="0"/>
              <a:t>If multithreaded code compiles, then no data race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87646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3468F-D2B3-1FE4-9181-A8733E0CA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code can be expressed using ownership and borrows</a:t>
            </a:r>
          </a:p>
          <a:p>
            <a:pPr lvl="1"/>
            <a:r>
              <a:rPr lang="en-US" dirty="0"/>
              <a:t>No runtime overhead</a:t>
            </a:r>
          </a:p>
          <a:p>
            <a:r>
              <a:rPr lang="en-US" dirty="0"/>
              <a:t>Compiler ensures that if your code compiles it will just work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B91A47-907C-DCBA-3E88-37BF652C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Rust</a:t>
            </a:r>
          </a:p>
        </p:txBody>
      </p:sp>
    </p:spTree>
    <p:extLst>
      <p:ext uri="{BB962C8B-B14F-4D97-AF65-F5344CB8AC3E}">
        <p14:creationId xmlns:p14="http://schemas.microsoft.com/office/powerpoint/2010/main" val="307654308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Some languages achieve temporal memory safety through garbage collection -&gt; high overhead</a:t>
            </a:r>
          </a:p>
          <a:p>
            <a:r>
              <a:rPr lang="en-US" dirty="0"/>
              <a:t>Rust mitigates those high overheads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9138</TotalTime>
  <Words>14263</Words>
  <Application>Microsoft Office PowerPoint</Application>
  <PresentationFormat>Widescreen</PresentationFormat>
  <Paragraphs>2073</Paragraphs>
  <Slides>173</Slides>
  <Notes>30</Notes>
  <HiddenSlides>11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173</vt:i4>
      </vt:variant>
    </vt:vector>
  </HeadingPairs>
  <TitlesOfParts>
    <vt:vector size="179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Announcements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How does it work? (Not in syllabus)</vt:lpstr>
      <vt:lpstr>unique_ptr</vt:lpstr>
      <vt:lpstr>unique_ptr</vt:lpstr>
      <vt:lpstr>unique_ptr: Incorrect use</vt:lpstr>
      <vt:lpstr>What about multiple pointers to same var?</vt:lpstr>
      <vt:lpstr>Desired behavior</vt:lpstr>
      <vt:lpstr>shared_ptr</vt:lpstr>
      <vt:lpstr>More about smart pointers</vt:lpstr>
      <vt:lpstr>Concluding thoughts</vt:lpstr>
      <vt:lpstr>PowerPoint Presentation</vt:lpstr>
      <vt:lpstr>Warm up – find vulnerabilities in code and fix them</vt:lpstr>
      <vt:lpstr>Can the code below result in control flow hijack?</vt:lpstr>
      <vt:lpstr>Can the code below result in control flow hijack?</vt:lpstr>
      <vt:lpstr>PowerPoint Presentation</vt:lpstr>
      <vt:lpstr>Agenda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PowerPoint Presentation</vt:lpstr>
      <vt:lpstr>Rust language</vt:lpstr>
      <vt:lpstr>Spatial safety</vt:lpstr>
      <vt:lpstr>Demo</vt:lpstr>
      <vt:lpstr>Ownership types</vt:lpstr>
      <vt:lpstr>Borrowing</vt:lpstr>
      <vt:lpstr>Rust smart pointers (Not in syllabus)</vt:lpstr>
      <vt:lpstr>Can rust have temporal safety issues?</vt:lpstr>
      <vt:lpstr>For completeness: data races</vt:lpstr>
      <vt:lpstr>Mutability XOR aliasing</vt:lpstr>
      <vt:lpstr>Benefits of 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1563</cp:revision>
  <dcterms:created xsi:type="dcterms:W3CDTF">2019-06-30T03:25:06Z</dcterms:created>
  <dcterms:modified xsi:type="dcterms:W3CDTF">2025-11-17T19:51:17Z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