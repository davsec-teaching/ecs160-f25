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47"/>
  </p:notesMasterIdLst>
  <p:handoutMasterIdLst>
    <p:handoutMasterId r:id="rId148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5" r:id="rId38"/>
    <p:sldId id="452" r:id="rId39"/>
    <p:sldId id="450" r:id="rId40"/>
    <p:sldId id="336" r:id="rId41"/>
    <p:sldId id="258" r:id="rId42"/>
    <p:sldId id="261" r:id="rId43"/>
    <p:sldId id="259" r:id="rId44"/>
    <p:sldId id="260" r:id="rId45"/>
    <p:sldId id="264" r:id="rId46"/>
    <p:sldId id="321" r:id="rId47"/>
    <p:sldId id="323" r:id="rId48"/>
    <p:sldId id="337" r:id="rId49"/>
    <p:sldId id="338" r:id="rId50"/>
    <p:sldId id="352" r:id="rId51"/>
    <p:sldId id="353" r:id="rId52"/>
    <p:sldId id="357" r:id="rId53"/>
    <p:sldId id="358" r:id="rId54"/>
    <p:sldId id="359" r:id="rId55"/>
    <p:sldId id="360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346" r:id="rId67"/>
    <p:sldId id="344" r:id="rId68"/>
    <p:sldId id="347" r:id="rId69"/>
    <p:sldId id="342" r:id="rId70"/>
    <p:sldId id="343" r:id="rId71"/>
    <p:sldId id="381" r:id="rId72"/>
    <p:sldId id="390" r:id="rId73"/>
    <p:sldId id="382" r:id="rId74"/>
    <p:sldId id="393" r:id="rId75"/>
    <p:sldId id="257" r:id="rId76"/>
    <p:sldId id="391" r:id="rId77"/>
    <p:sldId id="350" r:id="rId78"/>
    <p:sldId id="392" r:id="rId79"/>
    <p:sldId id="394" r:id="rId80"/>
    <p:sldId id="395" r:id="rId81"/>
    <p:sldId id="396" r:id="rId82"/>
    <p:sldId id="397" r:id="rId83"/>
    <p:sldId id="361" r:id="rId84"/>
    <p:sldId id="400" r:id="rId85"/>
    <p:sldId id="349" r:id="rId86"/>
    <p:sldId id="380" r:id="rId87"/>
    <p:sldId id="366" r:id="rId88"/>
    <p:sldId id="402" r:id="rId89"/>
    <p:sldId id="368" r:id="rId90"/>
    <p:sldId id="398" r:id="rId91"/>
    <p:sldId id="407" r:id="rId92"/>
    <p:sldId id="399" r:id="rId93"/>
    <p:sldId id="371" r:id="rId94"/>
    <p:sldId id="414" r:id="rId95"/>
    <p:sldId id="413" r:id="rId96"/>
    <p:sldId id="416" r:id="rId97"/>
    <p:sldId id="370" r:id="rId98"/>
    <p:sldId id="415" r:id="rId99"/>
    <p:sldId id="372" r:id="rId100"/>
    <p:sldId id="411" r:id="rId101"/>
    <p:sldId id="412" r:id="rId102"/>
    <p:sldId id="410" r:id="rId103"/>
    <p:sldId id="417" r:id="rId104"/>
    <p:sldId id="418" r:id="rId105"/>
    <p:sldId id="419" r:id="rId106"/>
    <p:sldId id="420" r:id="rId107"/>
    <p:sldId id="421" r:id="rId108"/>
    <p:sldId id="422" r:id="rId109"/>
    <p:sldId id="423" r:id="rId110"/>
    <p:sldId id="424" r:id="rId111"/>
    <p:sldId id="426" r:id="rId112"/>
    <p:sldId id="427" r:id="rId113"/>
    <p:sldId id="405" r:id="rId114"/>
    <p:sldId id="430" r:id="rId115"/>
    <p:sldId id="429" r:id="rId116"/>
    <p:sldId id="401" r:id="rId117"/>
    <p:sldId id="378" r:id="rId118"/>
    <p:sldId id="432" r:id="rId119"/>
    <p:sldId id="262" r:id="rId120"/>
    <p:sldId id="433" r:id="rId121"/>
    <p:sldId id="270" r:id="rId122"/>
    <p:sldId id="434" r:id="rId123"/>
    <p:sldId id="435" r:id="rId124"/>
    <p:sldId id="436" r:id="rId125"/>
    <p:sldId id="431" r:id="rId126"/>
    <p:sldId id="263" r:id="rId127"/>
    <p:sldId id="408" r:id="rId128"/>
    <p:sldId id="409" r:id="rId129"/>
    <p:sldId id="376" r:id="rId130"/>
    <p:sldId id="403" r:id="rId131"/>
    <p:sldId id="404" r:id="rId132"/>
    <p:sldId id="406" r:id="rId133"/>
    <p:sldId id="377" r:id="rId134"/>
    <p:sldId id="348" r:id="rId135"/>
    <p:sldId id="364" r:id="rId136"/>
    <p:sldId id="369" r:id="rId137"/>
    <p:sldId id="365" r:id="rId138"/>
    <p:sldId id="373" r:id="rId139"/>
    <p:sldId id="374" r:id="rId140"/>
    <p:sldId id="375" r:id="rId141"/>
    <p:sldId id="316" r:id="rId142"/>
    <p:sldId id="317" r:id="rId143"/>
    <p:sldId id="318" r:id="rId144"/>
    <p:sldId id="437" r:id="rId145"/>
    <p:sldId id="320" r:id="rId146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DDDDFF"/>
    <a:srgbClr val="B9B9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80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presProps" Target="pres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viewProps" Target="viewProps.xml"/><Relationship Id="rId155" Type="http://schemas.microsoft.com/office/2018/10/relationships/authors" Target="author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microsoft.com/office/2016/11/relationships/changesInfo" Target="changesInfos/changesInfo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microsoft.com/office/2015/10/relationships/revisionInfo" Target="revisionInfo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56CB3-9613-CDCA-C322-A120CB32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8C1BB-77CF-7D31-5176-91BCCA42C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7D9C7-D341-55C1-E5AD-82D634BB8A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04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35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20523-51B7-6F15-4612-A08386562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9060CA-000D-ADB6-8779-7A9C721D6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2638674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7DC0C-60E4-5882-03BC-3C3BA5E58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05BB23-A838-1BEB-9AD9-514B5304D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BD9865-1DA0-68DB-A7D5-7E40636C9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442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88B249-6A16-D2CC-F849-887BB8F7E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AA0963-CAC5-7B38-71CE-AF732AE4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384188B-C125-B995-AFC8-7177885E0244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1888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F58305-1A09-C4AD-EABE-9142F2F02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88F7C5-DAD2-74CF-E794-A38C83E22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7F88F1-FA89-F9D8-FFC9-70766AA83B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8912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3D879E-E6B1-D92D-C142-50F41C979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0952C1-FD50-B957-8228-E9448FB6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E16D7-17DA-1963-F9CE-E4197CC83F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31053799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DAC7-662A-3092-9774-E87B114B8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B4F709-E4E4-0F74-104F-F9564492C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6D661C-7967-C8CD-047E-6A1D8755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8831C3-8768-5885-1256-68D7E02D9C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764501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1470-9B1D-19C4-22F5-008738DEE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61D867-5D2C-BEDA-C059-26D5EBF53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3C3212-C6A0-DF0F-727A-4344F1CFA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4E3A5D-A1A1-5AC6-6C43-99126044AB1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99798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342185" y="3161691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439EBB-5FD2-31E6-103C-EC75E3E357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Bytecode generation and manipulation will not be on any exam/quiz</a:t>
            </a:r>
          </a:p>
          <a:p>
            <a:r>
              <a:rPr lang="en-US" dirty="0"/>
              <a:t>Will try to review bytecode generation at the end of quarter if time permits</a:t>
            </a:r>
          </a:p>
          <a:p>
            <a:r>
              <a:rPr lang="en-US" dirty="0"/>
              <a:t>Only reflection, annotations, and proxies (covered today and Friday) will be on the exams/quizzes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543267A-BD49-3842-E1E0-3BE07A18D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0906644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424208" cy="1828798"/>
              <a:chOff x="750277" y="1300459"/>
              <a:chExt cx="10424208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libA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D47C48FA-034A-2E3A-8897-649C50568503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Have to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427E9F66-D470-B5FA-1384-4CAC801218E2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2732551" y="3308839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F2F739D-417A-EAD0-0F13-9AD427158276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683F52CD-F404-967A-1AA0-A8F51296FC68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super.executeQuery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JDK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678BC-17DD-26D3-93FC-6345362A461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dynamically create proxies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arbitrary additional functionality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Jedis 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(jedis);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Student 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(student);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48F75-8A42-E0F2-9369-1F138751715A}"/>
              </a:ext>
            </a:extLst>
          </p:cNvPr>
          <p:cNvSpPr/>
          <p:nvPr/>
        </p:nvSpPr>
        <p:spPr>
          <a:xfrm>
            <a:off x="6176511" y="785004"/>
            <a:ext cx="5874811" cy="4903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F526-380D-7A73-63C4-F39E94A5562D}"/>
              </a:ext>
            </a:extLst>
          </p:cNvPr>
          <p:cNvSpPr txBox="1"/>
          <p:nvPr/>
        </p:nvSpPr>
        <p:spPr>
          <a:xfrm>
            <a:off x="8444115" y="415672"/>
            <a:ext cx="3823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Create proxy of any object of any 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79EC3-1A7D-5148-0BEA-B421DFDE62BA}"/>
              </a:ext>
            </a:extLst>
          </p:cNvPr>
          <p:cNvSpPr/>
          <p:nvPr/>
        </p:nvSpPr>
        <p:spPr>
          <a:xfrm>
            <a:off x="6176511" y="1819719"/>
            <a:ext cx="5874811" cy="219882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C90D84-FC7F-4E96-0F67-21C436F6A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49218E07-0DEC-1996-56BB-D9F93FB6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98538-FC15-C4AC-B8A7-1F8B1BBD49FD}"/>
              </a:ext>
            </a:extLst>
          </p:cNvPr>
          <p:cNvSpPr/>
          <p:nvPr/>
        </p:nvSpPr>
        <p:spPr>
          <a:xfrm>
            <a:off x="4040341" y="3071328"/>
            <a:ext cx="411131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Real world use cases</a:t>
            </a:r>
          </a:p>
        </p:txBody>
      </p:sp>
    </p:spTree>
    <p:extLst>
      <p:ext uri="{BB962C8B-B14F-4D97-AF65-F5344CB8AC3E}">
        <p14:creationId xmlns:p14="http://schemas.microsoft.com/office/powerpoint/2010/main" val="286776624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pPr lvl="1"/>
            <a:r>
              <a:rPr lang="en-US" dirty="0"/>
              <a:t>And likely multiple other OO rules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620126" y="2334126"/>
            <a:ext cx="3718723" cy="2355104"/>
          </a:xfrm>
          <a:prstGeom prst="curvedConnector4">
            <a:avLst>
              <a:gd name="adj1" fmla="val 46926"/>
              <a:gd name="adj2" fmla="val 1158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13303</TotalTime>
  <Words>12662</Words>
  <Application>Microsoft Office PowerPoint</Application>
  <PresentationFormat>Widescreen</PresentationFormat>
  <Paragraphs>2187</Paragraphs>
  <Slides>145</Slides>
  <Notes>58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145</vt:i4>
      </vt:variant>
    </vt:vector>
  </HeadingPairs>
  <TitlesOfParts>
    <vt:vector size="151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Demo</vt:lpstr>
      <vt:lpstr>Loading all classes</vt:lpstr>
      <vt:lpstr>Discussion: 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Reflection alternatives and optimizations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Announcements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libA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PowerPoint Presentation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1394</cp:revision>
  <dcterms:created xsi:type="dcterms:W3CDTF">2019-06-30T03:25:06Z</dcterms:created>
  <dcterms:modified xsi:type="dcterms:W3CDTF">2025-10-15T15:14:27Z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