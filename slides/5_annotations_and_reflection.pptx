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3"/>
  </p:notesMasterIdLst>
  <p:handoutMasterIdLst>
    <p:handoutMasterId r:id="rId174"/>
  </p:handoutMasterIdLst>
  <p:sldIdLst>
    <p:sldId id="256" r:id="rId2"/>
    <p:sldId id="438" r:id="rId3"/>
    <p:sldId id="279" r:id="rId4"/>
    <p:sldId id="277" r:id="rId5"/>
    <p:sldId id="278" r:id="rId6"/>
    <p:sldId id="282" r:id="rId7"/>
    <p:sldId id="283" r:id="rId8"/>
    <p:sldId id="443" r:id="rId9"/>
    <p:sldId id="330" r:id="rId10"/>
    <p:sldId id="291" r:id="rId11"/>
    <p:sldId id="265" r:id="rId12"/>
    <p:sldId id="442" r:id="rId13"/>
    <p:sldId id="289" r:id="rId14"/>
    <p:sldId id="266" r:id="rId15"/>
    <p:sldId id="440" r:id="rId16"/>
    <p:sldId id="439" r:id="rId17"/>
    <p:sldId id="441" r:id="rId18"/>
    <p:sldId id="267" r:id="rId19"/>
    <p:sldId id="285" r:id="rId20"/>
    <p:sldId id="287" r:id="rId21"/>
    <p:sldId id="290" r:id="rId22"/>
    <p:sldId id="324" r:id="rId23"/>
    <p:sldId id="325" r:id="rId24"/>
    <p:sldId id="451" r:id="rId25"/>
    <p:sldId id="453" r:id="rId26"/>
    <p:sldId id="444" r:id="rId27"/>
    <p:sldId id="449" r:id="rId28"/>
    <p:sldId id="327" r:id="rId29"/>
    <p:sldId id="341" r:id="rId30"/>
    <p:sldId id="454" r:id="rId31"/>
    <p:sldId id="328" r:id="rId32"/>
    <p:sldId id="331" r:id="rId33"/>
    <p:sldId id="333" r:id="rId34"/>
    <p:sldId id="332" r:id="rId35"/>
    <p:sldId id="335" r:id="rId36"/>
    <p:sldId id="329" r:id="rId37"/>
    <p:sldId id="458" r:id="rId38"/>
    <p:sldId id="452" r:id="rId39"/>
    <p:sldId id="456" r:id="rId40"/>
    <p:sldId id="459" r:id="rId41"/>
    <p:sldId id="450" r:id="rId42"/>
    <p:sldId id="460" r:id="rId43"/>
    <p:sldId id="461" r:id="rId44"/>
    <p:sldId id="462" r:id="rId45"/>
    <p:sldId id="463" r:id="rId46"/>
    <p:sldId id="336" r:id="rId47"/>
    <p:sldId id="258" r:id="rId48"/>
    <p:sldId id="261" r:id="rId49"/>
    <p:sldId id="259" r:id="rId50"/>
    <p:sldId id="260" r:id="rId51"/>
    <p:sldId id="264" r:id="rId52"/>
    <p:sldId id="321" r:id="rId53"/>
    <p:sldId id="323" r:id="rId54"/>
    <p:sldId id="337" r:id="rId55"/>
    <p:sldId id="338" r:id="rId56"/>
    <p:sldId id="354" r:id="rId57"/>
    <p:sldId id="355" r:id="rId58"/>
    <p:sldId id="294" r:id="rId59"/>
    <p:sldId id="273" r:id="rId60"/>
    <p:sldId id="275" r:id="rId61"/>
    <p:sldId id="274" r:id="rId62"/>
    <p:sldId id="271" r:id="rId63"/>
    <p:sldId id="272" r:id="rId64"/>
    <p:sldId id="340" r:id="rId65"/>
    <p:sldId id="345" r:id="rId66"/>
    <p:sldId id="464" r:id="rId67"/>
    <p:sldId id="465" r:id="rId68"/>
    <p:sldId id="346" r:id="rId69"/>
    <p:sldId id="468" r:id="rId70"/>
    <p:sldId id="466" r:id="rId71"/>
    <p:sldId id="467" r:id="rId72"/>
    <p:sldId id="344" r:id="rId73"/>
    <p:sldId id="347" r:id="rId74"/>
    <p:sldId id="342" r:id="rId75"/>
    <p:sldId id="343" r:id="rId76"/>
    <p:sldId id="381" r:id="rId77"/>
    <p:sldId id="382" r:id="rId78"/>
    <p:sldId id="393" r:id="rId79"/>
    <p:sldId id="257" r:id="rId80"/>
    <p:sldId id="391" r:id="rId81"/>
    <p:sldId id="350" r:id="rId82"/>
    <p:sldId id="392" r:id="rId83"/>
    <p:sldId id="394" r:id="rId84"/>
    <p:sldId id="395" r:id="rId85"/>
    <p:sldId id="396" r:id="rId86"/>
    <p:sldId id="397" r:id="rId87"/>
    <p:sldId id="361" r:id="rId88"/>
    <p:sldId id="400" r:id="rId89"/>
    <p:sldId id="349" r:id="rId90"/>
    <p:sldId id="380" r:id="rId91"/>
    <p:sldId id="366" r:id="rId92"/>
    <p:sldId id="402" r:id="rId93"/>
    <p:sldId id="368" r:id="rId94"/>
    <p:sldId id="398" r:id="rId95"/>
    <p:sldId id="407" r:id="rId96"/>
    <p:sldId id="399" r:id="rId97"/>
    <p:sldId id="486" r:id="rId98"/>
    <p:sldId id="414" r:id="rId99"/>
    <p:sldId id="473" r:id="rId100"/>
    <p:sldId id="474" r:id="rId101"/>
    <p:sldId id="475" r:id="rId102"/>
    <p:sldId id="413" r:id="rId103"/>
    <p:sldId id="469" r:id="rId104"/>
    <p:sldId id="416" r:id="rId105"/>
    <p:sldId id="470" r:id="rId106"/>
    <p:sldId id="471" r:id="rId107"/>
    <p:sldId id="487" r:id="rId108"/>
    <p:sldId id="472" r:id="rId109"/>
    <p:sldId id="415" r:id="rId110"/>
    <p:sldId id="372" r:id="rId111"/>
    <p:sldId id="411" r:id="rId112"/>
    <p:sldId id="412" r:id="rId113"/>
    <p:sldId id="410" r:id="rId114"/>
    <p:sldId id="417" r:id="rId115"/>
    <p:sldId id="418" r:id="rId116"/>
    <p:sldId id="419" r:id="rId117"/>
    <p:sldId id="420" r:id="rId118"/>
    <p:sldId id="421" r:id="rId119"/>
    <p:sldId id="422" r:id="rId120"/>
    <p:sldId id="423" r:id="rId121"/>
    <p:sldId id="424" r:id="rId122"/>
    <p:sldId id="478" r:id="rId123"/>
    <p:sldId id="479" r:id="rId124"/>
    <p:sldId id="484" r:id="rId125"/>
    <p:sldId id="480" r:id="rId126"/>
    <p:sldId id="476" r:id="rId127"/>
    <p:sldId id="477" r:id="rId128"/>
    <p:sldId id="427" r:id="rId129"/>
    <p:sldId id="405" r:id="rId130"/>
    <p:sldId id="430" r:id="rId131"/>
    <p:sldId id="481" r:id="rId132"/>
    <p:sldId id="482" r:id="rId133"/>
    <p:sldId id="429" r:id="rId134"/>
    <p:sldId id="401" r:id="rId135"/>
    <p:sldId id="378" r:id="rId136"/>
    <p:sldId id="432" r:id="rId137"/>
    <p:sldId id="262" r:id="rId138"/>
    <p:sldId id="433" r:id="rId139"/>
    <p:sldId id="270" r:id="rId140"/>
    <p:sldId id="434" r:id="rId141"/>
    <p:sldId id="435" r:id="rId142"/>
    <p:sldId id="436" r:id="rId143"/>
    <p:sldId id="431" r:id="rId144"/>
    <p:sldId id="485" r:id="rId145"/>
    <p:sldId id="263" r:id="rId146"/>
    <p:sldId id="408" r:id="rId147"/>
    <p:sldId id="409" r:id="rId148"/>
    <p:sldId id="376" r:id="rId149"/>
    <p:sldId id="483" r:id="rId150"/>
    <p:sldId id="403" r:id="rId151"/>
    <p:sldId id="404" r:id="rId152"/>
    <p:sldId id="406" r:id="rId153"/>
    <p:sldId id="377" r:id="rId154"/>
    <p:sldId id="348" r:id="rId155"/>
    <p:sldId id="364" r:id="rId156"/>
    <p:sldId id="369" r:id="rId157"/>
    <p:sldId id="365" r:id="rId158"/>
    <p:sldId id="373" r:id="rId159"/>
    <p:sldId id="374" r:id="rId160"/>
    <p:sldId id="375" r:id="rId161"/>
    <p:sldId id="316" r:id="rId162"/>
    <p:sldId id="317" r:id="rId163"/>
    <p:sldId id="318" r:id="rId164"/>
    <p:sldId id="437" r:id="rId165"/>
    <p:sldId id="320" r:id="rId166"/>
    <p:sldId id="352" r:id="rId167"/>
    <p:sldId id="353" r:id="rId168"/>
    <p:sldId id="357" r:id="rId169"/>
    <p:sldId id="358" r:id="rId170"/>
    <p:sldId id="359" r:id="rId171"/>
    <p:sldId id="360" r:id="rId172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77378" autoAdjust="0"/>
  </p:normalViewPr>
  <p:slideViewPr>
    <p:cSldViewPr snapToGrid="0">
      <p:cViewPr>
        <p:scale>
          <a:sx n="125" d="100"/>
          <a:sy n="125" d="100"/>
        </p:scale>
        <p:origin x="3540" y="-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microsoft.com/office/2018/10/relationships/authors" Target="author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handoutMaster" Target="handoutMasters/handoutMaster1.xml"/><Relationship Id="rId179" Type="http://schemas.microsoft.com/office/2016/11/relationships/changesInfo" Target="changesInfos/changesInfo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microsoft.com/office/2015/10/relationships/revisionInfo" Target="revisionInfo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C050-FAAC-FA69-8F0A-F8053EA71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6AF15-7103-F9C5-2507-B69123344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CA0CA-CE56-0E4D-EDB5-2DCA5D6432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45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3454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jpe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8.png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6F8AE3-17D0-9984-24F0-86E176671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reflection</a:t>
            </a:r>
          </a:p>
          <a:p>
            <a:r>
              <a:rPr lang="en-US" dirty="0"/>
              <a:t>Quiz (10 minute)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CEE2A2-23A4-F37A-DE2E-494D77ED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655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pPr lvl="1"/>
            <a:r>
              <a:rPr lang="en-US" dirty="0"/>
              <a:t>How do we design frameworks and libraries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reduces </a:t>
            </a:r>
            <a:r>
              <a:rPr lang="en-US" dirty="0"/>
              <a:t>programmer effort?</a:t>
            </a:r>
          </a:p>
          <a:p>
            <a:pPr lvl="2"/>
            <a:r>
              <a:rPr lang="en-US" dirty="0"/>
              <a:t>In a way that </a:t>
            </a:r>
            <a:r>
              <a:rPr lang="en-US" i="1" dirty="0"/>
              <a:t>ensures</a:t>
            </a:r>
            <a:r>
              <a:rPr lang="en-US" dirty="0"/>
              <a:t> the programmer cannot </a:t>
            </a:r>
            <a:r>
              <a:rPr lang="en-US" i="1" dirty="0"/>
              <a:t>accidentally</a:t>
            </a:r>
            <a:r>
              <a:rPr lang="en-US" dirty="0"/>
              <a:t> misuse it? </a:t>
            </a:r>
          </a:p>
          <a:p>
            <a:pPr lvl="3"/>
            <a:r>
              <a:rPr lang="en-US" dirty="0"/>
              <a:t>You assume </a:t>
            </a:r>
            <a:r>
              <a:rPr lang="en-US" dirty="0" err="1">
                <a:latin typeface="Consolas" panose="020B0609020204030204" pitchFamily="49" charset="0"/>
              </a:rPr>
              <a:t>methodA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is invoked </a:t>
            </a:r>
            <a:r>
              <a:rPr lang="en-US" i="1" dirty="0"/>
              <a:t>before </a:t>
            </a:r>
            <a:r>
              <a:rPr lang="en-US" dirty="0" err="1">
                <a:latin typeface="Consolas" panose="020B0609020204030204" pitchFamily="49" charset="0"/>
              </a:rPr>
              <a:t>methodB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but the programmer might not know this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you design the Redis persistence class? 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Redis persistence from HW1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Post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Imagine HW2 assignment asks you to do the following - </a:t>
            </a:r>
          </a:p>
          <a:p>
            <a:r>
              <a:rPr lang="en-US" dirty="0"/>
              <a:t>Design classes for social </a:t>
            </a:r>
            <a:r>
              <a:rPr lang="en-US"/>
              <a:t>media platform</a:t>
            </a:r>
            <a:endParaRPr lang="en-US" dirty="0"/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I wrote the persistence code once, why should I have to write it again?</a:t>
            </a:r>
          </a:p>
          <a:p>
            <a:r>
              <a:rPr lang="en-US" b="1" i="1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Instance method invocation</a:t>
            </a:r>
          </a:p>
          <a:p>
            <a:pPr lvl="1"/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Not applicable to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static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functions [in Java]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b="1" i="1" dirty="0"/>
              <a:t>… what can we do with these objects of type Class, Method, Field, </a:t>
            </a:r>
            <a:r>
              <a:rPr lang="en-US" b="1" i="1" dirty="0" err="1"/>
              <a:t>etc</a:t>
            </a:r>
            <a:r>
              <a:rPr lang="en-US" b="1" i="1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b="1" i="1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282EC0-7B3F-D9A9-43A7-472DAFB4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B35606-7EF2-6F65-DDEE-FE87B7FBC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4000" dirty="0"/>
              <a:t>Java reflection, proxies, and annotations</a:t>
            </a:r>
          </a:p>
        </p:txBody>
      </p:sp>
    </p:spTree>
    <p:extLst>
      <p:ext uri="{BB962C8B-B14F-4D97-AF65-F5344CB8AC3E}">
        <p14:creationId xmlns:p14="http://schemas.microsoft.com/office/powerpoint/2010/main" val="6691244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AD2B5D-F965-B793-0B97-6923BE39B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working on your assignments!</a:t>
            </a:r>
          </a:p>
          <a:p>
            <a:r>
              <a:rPr lang="en-US" dirty="0"/>
              <a:t>Next quiz on 10/24</a:t>
            </a:r>
          </a:p>
          <a:p>
            <a:pPr lvl="1"/>
            <a:r>
              <a:rPr lang="en-US" dirty="0"/>
              <a:t>Will cover everything covered till 10/20 (inclusive)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3F651-F249-02A4-463C-5AC5515D5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5697414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3EF007-83AA-03FB-CED8-67EE81AA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  <a:p>
            <a:r>
              <a:rPr lang="en-US" dirty="0"/>
              <a:t>Reflection demo</a:t>
            </a:r>
          </a:p>
          <a:p>
            <a:r>
              <a:rPr lang="en-US" dirty="0"/>
              <a:t>Annotations (recap)</a:t>
            </a:r>
          </a:p>
          <a:p>
            <a:r>
              <a:rPr lang="en-US" dirty="0"/>
              <a:t>Annotations demo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3D0085-8D0D-F87E-6F60-31E704FC0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84865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DE6DA-01D2-C2FB-26EA-90BE135EA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2848F-E33D-EEC3-0480-81E5EDF8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</a:p>
          <a:p>
            <a:pPr lvl="1"/>
            <a:r>
              <a:rPr lang="en-US" dirty="0"/>
              <a:t>You can perform these operations from within Java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AF8D45-3D61-855D-75BF-EAC8B76B6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76796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CAB537-15A3-C239-8C9F-524030D4E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8743A-1F5A-AA77-6640-BB92E82404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Reflection, annotations, proxies</a:t>
            </a:r>
          </a:p>
        </p:txBody>
      </p:sp>
    </p:spTree>
    <p:extLst>
      <p:ext uri="{BB962C8B-B14F-4D97-AF65-F5344CB8AC3E}">
        <p14:creationId xmlns:p14="http://schemas.microsoft.com/office/powerpoint/2010/main" val="32287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9FA25-8951-201A-8758-743045941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D515A7-FB73-7C40-6D81-B949166415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 // equivalent to calling </a:t>
            </a:r>
            <a:r>
              <a:rPr lang="en-US" dirty="0" err="1">
                <a:latin typeface="Consolas" panose="020B0609020204030204" pitchFamily="49" charset="0"/>
              </a:rPr>
              <a:t>obj.m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 // equivalent to </a:t>
            </a:r>
            <a:r>
              <a:rPr lang="en-US" dirty="0" err="1">
                <a:latin typeface="Consolas" panose="020B0609020204030204" pitchFamily="49" charset="0"/>
              </a:rPr>
              <a:t>obj.f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Load classes using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ClassLoader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C05F55-8B6B-8F37-076C-2393D9C98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7995163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41676B-5781-067B-2D32-192EFCDF6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Auto-wiring</a:t>
            </a:r>
          </a:p>
          <a:p>
            <a:r>
              <a:rPr lang="en-US" dirty="0"/>
              <a:t>Can’t express </a:t>
            </a:r>
            <a:r>
              <a:rPr lang="en-US" dirty="0" err="1"/>
              <a:t>autowiring</a:t>
            </a:r>
            <a:r>
              <a:rPr lang="en-US" dirty="0"/>
              <a:t> using compile time reflection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656550-DD39-5BC7-5D88-BB8D35D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7225537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Reflection and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B8E175-B6FC-7489-C9D6-ED757B3EE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(final thoughts)</a:t>
            </a:r>
          </a:p>
          <a:p>
            <a:r>
              <a:rPr lang="en-US" dirty="0"/>
              <a:t>Proxies</a:t>
            </a:r>
          </a:p>
          <a:p>
            <a:pPr lvl="1"/>
            <a:r>
              <a:rPr lang="en-US" dirty="0"/>
              <a:t>Static proxies</a:t>
            </a:r>
          </a:p>
          <a:p>
            <a:pPr lvl="1"/>
            <a:r>
              <a:rPr lang="en-US" dirty="0"/>
              <a:t>Dynamic proxies</a:t>
            </a:r>
          </a:p>
          <a:p>
            <a:r>
              <a:rPr lang="en-US" dirty="0"/>
              <a:t>Proxy use-cases</a:t>
            </a:r>
          </a:p>
          <a:p>
            <a:pPr lvl="1"/>
            <a:r>
              <a:rPr lang="en-US" dirty="0"/>
              <a:t>Lazy-loading</a:t>
            </a:r>
          </a:p>
          <a:p>
            <a:pPr lvl="1"/>
            <a:r>
              <a:rPr lang="en-US" dirty="0"/>
              <a:t>Mock-testing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F1BA0-8F16-65CB-8245-12C87258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E99A68-2416-190C-2C2F-8E3E82682A69}"/>
              </a:ext>
            </a:extLst>
          </p:cNvPr>
          <p:cNvCxnSpPr/>
          <p:nvPr/>
        </p:nvCxnSpPr>
        <p:spPr>
          <a:xfrm>
            <a:off x="0" y="3318933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216075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272606-AFA5-6B7B-7E46-4202320CB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RunTime</a:t>
            </a:r>
            <a:r>
              <a:rPr lang="en-US" dirty="0"/>
              <a:t> Type Information (RTTI) maintains type information for each object</a:t>
            </a:r>
          </a:p>
          <a:p>
            <a:r>
              <a:rPr lang="en-US" dirty="0"/>
              <a:t>But no language-level support for dynamic invocation</a:t>
            </a:r>
          </a:p>
          <a:p>
            <a:r>
              <a:rPr lang="en-US" dirty="0"/>
              <a:t>Possible to programmatically enable support for dynamic invocation</a:t>
            </a:r>
          </a:p>
          <a:p>
            <a:r>
              <a:rPr lang="en-US" dirty="0"/>
              <a:t>Describe with pseudo-code how you would design reflection for C++. Assume that the programmer must manually enable reflection for a class </a:t>
            </a:r>
            <a:endParaRPr lang="en-US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9C4F17B-750B-7D1F-706B-94674448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C++</a:t>
            </a:r>
            <a:r>
              <a:rPr lang="en-US" sz="3600" b="1" dirty="0"/>
              <a:t> </a:t>
            </a:r>
            <a:r>
              <a:rPr lang="en-US" sz="1600" b="1" dirty="0"/>
              <a:t>[Not in Syllabus]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1740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1C6F73-B198-8B72-4F72-867A90332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A5FC8-F326-B925-DE62-4A66F194DD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</p:txBody>
      </p:sp>
    </p:spTree>
    <p:extLst>
      <p:ext uri="{BB962C8B-B14F-4D97-AF65-F5344CB8AC3E}">
        <p14:creationId xmlns:p14="http://schemas.microsoft.com/office/powerpoint/2010/main" val="9242261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6071CB-363F-23E3-67C0-29D85E493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Proxies</a:t>
            </a:r>
          </a:p>
          <a:p>
            <a:pPr lvl="1"/>
            <a:r>
              <a:rPr lang="en-US" dirty="0"/>
              <a:t>Proxy design pattern</a:t>
            </a:r>
          </a:p>
          <a:p>
            <a:pPr lvl="1"/>
            <a:r>
              <a:rPr lang="en-US" dirty="0"/>
              <a:t>Dynamic proxies in Java</a:t>
            </a:r>
          </a:p>
          <a:p>
            <a:pPr lvl="1"/>
            <a:r>
              <a:rPr lang="en-US" dirty="0"/>
              <a:t>Use case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58C1ED-906F-E138-5D46-C2BDAF837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536A39E-12CA-59A3-08DB-3C5DF1B0CA31}"/>
              </a:ext>
            </a:extLst>
          </p:cNvPr>
          <p:cNvCxnSpPr/>
          <p:nvPr/>
        </p:nvCxnSpPr>
        <p:spPr>
          <a:xfrm>
            <a:off x="105508" y="2602523"/>
            <a:ext cx="118872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86363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D15018-764E-A07F-637B-FD07094CB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Classes and objects abstract object behavior</a:t>
            </a:r>
          </a:p>
          <a:p>
            <a:pPr lvl="1"/>
            <a:r>
              <a:rPr lang="en-US" dirty="0"/>
              <a:t>Focus on reusing object behavior</a:t>
            </a:r>
          </a:p>
          <a:p>
            <a:r>
              <a:rPr lang="en-US" dirty="0"/>
              <a:t>Design patterns abstract object instantiation, composition, and behavior</a:t>
            </a:r>
          </a:p>
          <a:p>
            <a:pPr lvl="1"/>
            <a:r>
              <a:rPr lang="en-US" dirty="0"/>
              <a:t>Focus on abstracting the class design itself</a:t>
            </a:r>
          </a:p>
          <a:p>
            <a:pPr lvl="1"/>
            <a:r>
              <a:rPr lang="en-US" dirty="0"/>
              <a:t>Some design issues keep reoccurring</a:t>
            </a:r>
          </a:p>
          <a:p>
            <a:pPr lvl="2"/>
            <a:r>
              <a:rPr lang="en-US" dirty="0"/>
              <a:t>Allows software engineers to </a:t>
            </a:r>
            <a:r>
              <a:rPr lang="en-US" i="1" dirty="0"/>
              <a:t>reuse </a:t>
            </a:r>
            <a:r>
              <a:rPr lang="en-US" dirty="0"/>
              <a:t>previous class designs and architectures</a:t>
            </a:r>
          </a:p>
          <a:p>
            <a:r>
              <a:rPr lang="en-US" dirty="0"/>
              <a:t>Design patterns used in regular applications (reflection typically used only in frameworks)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CF0D9B-3FF0-F5F8-99C8-2C8863BB5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 – quick overview</a:t>
            </a:r>
          </a:p>
        </p:txBody>
      </p:sp>
    </p:spTree>
    <p:extLst>
      <p:ext uri="{BB962C8B-B14F-4D97-AF65-F5344CB8AC3E}">
        <p14:creationId xmlns:p14="http://schemas.microsoft.com/office/powerpoint/2010/main" val="48199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  <a:p>
            <a:pPr lvl="1"/>
            <a:r>
              <a:rPr lang="en-US" dirty="0"/>
              <a:t>IMHO, it’s unnecessarily complicated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29BFEF-08A6-848D-344F-F645D287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85F22A-EECB-0D44-BB08-4849FD8CE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Proxies (contd.)</a:t>
            </a:r>
          </a:p>
        </p:txBody>
      </p:sp>
    </p:spTree>
    <p:extLst>
      <p:ext uri="{BB962C8B-B14F-4D97-AF65-F5344CB8AC3E}">
        <p14:creationId xmlns:p14="http://schemas.microsoft.com/office/powerpoint/2010/main" val="30162035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C70AF09-587F-D678-94B4-8D392D63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in Java</a:t>
            </a:r>
          </a:p>
          <a:p>
            <a:pPr lvl="1"/>
            <a:r>
              <a:rPr lang="en-US" dirty="0"/>
              <a:t>Recap</a:t>
            </a:r>
          </a:p>
          <a:p>
            <a:pPr lvl="1"/>
            <a:r>
              <a:rPr lang="en-US" dirty="0"/>
              <a:t>Demo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Lazy loading</a:t>
            </a:r>
          </a:p>
          <a:p>
            <a:pPr lvl="2"/>
            <a:r>
              <a:rPr lang="en-US" dirty="0"/>
              <a:t>Mock testing</a:t>
            </a:r>
          </a:p>
          <a:p>
            <a:r>
              <a:rPr lang="en-US" dirty="0"/>
              <a:t>Software architecture</a:t>
            </a:r>
          </a:p>
          <a:p>
            <a:r>
              <a:rPr lang="en-US" dirty="0"/>
              <a:t>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BAF34-0591-8AA5-E155-B1880F9C7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07C56E-5D96-53EB-DAE3-066C826CAD36}"/>
              </a:ext>
            </a:extLst>
          </p:cNvPr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106160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5EA87BB-C102-D254-1BD3-807C8283F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HW1 submission</a:t>
            </a:r>
          </a:p>
          <a:p>
            <a:pPr lvl="1"/>
            <a:r>
              <a:rPr lang="en-US" dirty="0"/>
              <a:t>On Canvas – HW will be created when Canvas comes up</a:t>
            </a:r>
          </a:p>
          <a:p>
            <a:r>
              <a:rPr lang="en-US" dirty="0"/>
              <a:t>Submission instructions (added to handout)</a:t>
            </a:r>
          </a:p>
          <a:p>
            <a:pPr lvl="1"/>
            <a:r>
              <a:rPr lang="en-US" dirty="0"/>
              <a:t>Make sure you don't have any private keys hardcoded in the code. You will lose points if we find that!</a:t>
            </a:r>
          </a:p>
          <a:p>
            <a:pPr lvl="1"/>
            <a:r>
              <a:rPr lang="en-US" dirty="0"/>
              <a:t>Please add a README.md file to your repository that explicitly specifies any assumptions you have made, beyond what the assignment already specifies. </a:t>
            </a:r>
          </a:p>
          <a:p>
            <a:pPr lvl="2"/>
            <a:r>
              <a:rPr lang="en-US" dirty="0"/>
              <a:t>This README.md should also explain how to set up the GITHUB API key.</a:t>
            </a:r>
          </a:p>
          <a:p>
            <a:pPr lvl="1"/>
            <a:r>
              <a:rPr lang="en-US" dirty="0"/>
              <a:t>Make sure your solution runs if we execute the command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&amp;&amp;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exec:java</a:t>
            </a:r>
            <a:r>
              <a:rPr lang="en-US" dirty="0"/>
              <a:t>. (We will have Redis server running already)</a:t>
            </a:r>
          </a:p>
          <a:p>
            <a:pPr lvl="1"/>
            <a:r>
              <a:rPr lang="en-US" dirty="0"/>
              <a:t>Zip the contents of your repository. Do NOT include the repository/s you cloned as part of this homework.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2024C7E-DCBB-56FC-EEC9-B8EC50C9F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56733913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61002D-A478-096E-48F7-CEE50FAC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Emails: Add ECS 160 to subject line</a:t>
            </a:r>
          </a:p>
          <a:p>
            <a:pPr lvl="1"/>
            <a:r>
              <a:rPr lang="en-US" dirty="0"/>
              <a:t>No need for High Priority, unless really High Priority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Only for 1-on-1 discussions</a:t>
            </a:r>
          </a:p>
          <a:p>
            <a:r>
              <a:rPr lang="en-US" dirty="0">
                <a:sym typeface="Wingdings" panose="05000000000000000000" pitchFamily="2" charset="2"/>
              </a:rPr>
              <a:t>Midterm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Everything including dynamic proxies + some software architecture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3A3FB3-F3B9-8CA0-C859-6B78A90DE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93078207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36196F-F4FD-01E8-6FC0-B69A9D23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289A92-C0B6-BA39-1B23-BAFFC5B5A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0202DB-B590-0993-76A5-6BFEDC0894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DB85869-6596-472D-1C96-738D956BE9A3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5BDFC41-22A3-241F-58CC-DB888D11FE61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438E957-33A9-E550-5DB4-75E15AA3AD16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E35B5C2-26E1-F004-06F2-488A9518FF41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D622A4A-40BA-3942-A8C0-F7DFDF155BFE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70B8B0-34CC-968B-6D4D-69BC1CE2A76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1E38498-486D-49D1-4AE3-FBCDD629803C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9D9314C-2EA0-1BDD-8641-B97B685954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A00BD8-4A16-6B1A-B258-E3CF8C01678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2DD156-6731-1B07-7255-0FCD866D43A1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0199610-D72B-3201-F676-B900195331D1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0CC6A06-4D06-5401-E7C6-087536947828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F0A8F87-F8AE-D92C-DBFD-EFA567FCE04D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05C092C-7847-5D96-6291-7EE35FBB303A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FC442B4-95FE-05AB-F023-E9A259D75BA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34C4315-7D9A-C89B-9C74-352062A819F0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0538E6-090B-126A-FC76-E75DC9051335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CF2A5B9-3663-DFCB-E6F2-6D6FBC72125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46592C0-5E2E-39F5-27F6-DCE302660D97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46E7B28-AFCC-B3E8-665C-E7853ABDE232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775B51A-3A0C-9BF4-D81C-CD66E42B2617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8C6287D-07D0-B1C5-B2DD-A6AF47E93DC2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99ED4A4-8AD2-865D-BD72-88FA7087EB98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E0BD077-1ED4-B59E-01A1-772E7E49D4D9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9C4E17-A73E-DB1A-D0CE-18666B1E626A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07B4266-F519-E8BC-3580-25180DBB7F28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37403E9-960C-FA21-AC9D-116497771CB0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4BFF858-E63D-E072-879D-14B412B8F2B3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2464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20A5F2-01DD-D454-95B4-0E14B2CAE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proxies allow you to create Proxy classes at runtime</a:t>
            </a:r>
          </a:p>
          <a:p>
            <a:pPr lvl="1"/>
            <a:r>
              <a:rPr lang="en-US" dirty="0"/>
              <a:t>Of objects of any type</a:t>
            </a:r>
          </a:p>
          <a:p>
            <a:pPr lvl="1"/>
            <a:r>
              <a:rPr lang="en-US" dirty="0"/>
              <a:t>With any additional functionality</a:t>
            </a:r>
          </a:p>
          <a:p>
            <a:r>
              <a:rPr lang="en-US" dirty="0"/>
              <a:t>Needs bytecode instrumentation (using </a:t>
            </a:r>
            <a:r>
              <a:rPr lang="en-US" dirty="0" err="1"/>
              <a:t>JavaAssist</a:t>
            </a:r>
            <a:r>
              <a:rPr lang="en-US" dirty="0"/>
              <a:t>)</a:t>
            </a:r>
          </a:p>
          <a:p>
            <a:r>
              <a:rPr lang="en-US" dirty="0"/>
              <a:t>Imagine you have a method </a:t>
            </a:r>
            <a:r>
              <a:rPr lang="en-US" dirty="0">
                <a:latin typeface="Consolas" panose="020B0609020204030204" pitchFamily="49" charset="0"/>
              </a:rPr>
              <a:t>Object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(Object target)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Jedis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StudentProxy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</a:rPr>
              <a:t>createProxy</a:t>
            </a:r>
            <a:r>
              <a:rPr lang="en-US" dirty="0">
                <a:latin typeface="Consolas" panose="020B0609020204030204" pitchFamily="49" charset="0"/>
              </a:rPr>
              <a:t>(student);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E07155-4FB5-F193-DA89-0F41E4FE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</p:spTree>
    <p:extLst>
      <p:ext uri="{BB962C8B-B14F-4D97-AF65-F5344CB8AC3E}">
        <p14:creationId xmlns:p14="http://schemas.microsoft.com/office/powerpoint/2010/main" val="60206210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target.doThat</a:t>
            </a:r>
            <a:r>
              <a:rPr lang="en-US" sz="1200" dirty="0">
                <a:highlight>
                  <a:srgbClr val="FFFF00"/>
                </a:highlight>
              </a:rPr>
              <a:t>();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F2D32F-616D-77EE-99CC-3A74B3664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EBC5-14AD-AF99-98CC-E5A3155FF8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proxy use cases</a:t>
            </a:r>
          </a:p>
        </p:txBody>
      </p:sp>
    </p:spTree>
    <p:extLst>
      <p:ext uri="{BB962C8B-B14F-4D97-AF65-F5344CB8AC3E}">
        <p14:creationId xmlns:p14="http://schemas.microsoft.com/office/powerpoint/2010/main" val="22711926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8B45D7-2456-EA4B-BD50-C0409BF48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Lazy loading with dynamic proxies</a:t>
            </a:r>
          </a:p>
          <a:p>
            <a:r>
              <a:rPr lang="en-US" dirty="0"/>
              <a:t>Mock testing</a:t>
            </a:r>
          </a:p>
          <a:p>
            <a:r>
              <a:rPr lang="en-US" dirty="0"/>
              <a:t>Reflection, annotations, dynamic proxies – final thoughts</a:t>
            </a:r>
          </a:p>
          <a:p>
            <a:r>
              <a:rPr lang="en-US" dirty="0"/>
              <a:t>Software architecture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BAF6A4-E4DB-31D6-185C-EFB5E438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21D508-0127-AB8E-20DA-885AE73A3CC0}"/>
              </a:ext>
            </a:extLst>
          </p:cNvPr>
          <p:cNvCxnSpPr/>
          <p:nvPr/>
        </p:nvCxnSpPr>
        <p:spPr>
          <a:xfrm>
            <a:off x="0" y="2867378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30331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3CB6E4-2584-AB7E-B7EA-84B42E2BA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Homework due tomorrow 11:59 PM</a:t>
            </a:r>
          </a:p>
          <a:p>
            <a:r>
              <a:rPr lang="en-US" dirty="0"/>
              <a:t>Canvas HW will be created soon</a:t>
            </a:r>
          </a:p>
          <a:p>
            <a:r>
              <a:rPr lang="en-US" dirty="0"/>
              <a:t>Quiz on Friday</a:t>
            </a:r>
          </a:p>
          <a:p>
            <a:pPr lvl="1"/>
            <a:r>
              <a:rPr lang="en-US" dirty="0"/>
              <a:t>10 minutes</a:t>
            </a:r>
          </a:p>
          <a:p>
            <a:pPr lvl="1"/>
            <a:r>
              <a:rPr lang="en-US" dirty="0"/>
              <a:t>Will cover reflective programming </a:t>
            </a:r>
          </a:p>
          <a:p>
            <a:pPr lvl="2"/>
            <a:r>
              <a:rPr lang="en-US" dirty="0"/>
              <a:t>Reflection, annotations, and proxies</a:t>
            </a:r>
          </a:p>
          <a:p>
            <a:pPr lvl="3"/>
            <a:r>
              <a:rPr lang="en-US"/>
              <a:t>Not </a:t>
            </a:r>
            <a:r>
              <a:rPr lang="en-US" dirty="0"/>
              <a:t>include lazy loading, mock testing</a:t>
            </a:r>
          </a:p>
          <a:p>
            <a:pPr lvl="1"/>
            <a:r>
              <a:rPr lang="en-US" dirty="0"/>
              <a:t>Will have MCQs and short answers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70FDD-9BEB-C655-EB6C-66CC053F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368160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15255</TotalTime>
  <Words>15588</Words>
  <Application>Microsoft Office PowerPoint</Application>
  <PresentationFormat>Widescreen</PresentationFormat>
  <Paragraphs>2612</Paragraphs>
  <Slides>171</Slides>
  <Notes>63</Notes>
  <HiddenSlides>18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171</vt:i4>
      </vt:variant>
    </vt:vector>
  </HeadingPairs>
  <TitlesOfParts>
    <vt:vector size="178" baseType="lpstr">
      <vt:lpstr>Arial</vt:lpstr>
      <vt:lpstr>Calibri</vt:lpstr>
      <vt:lpstr>Consolas</vt:lpstr>
      <vt:lpstr>Helvetica</vt:lpstr>
      <vt:lpstr>ui-monospace</vt:lpstr>
      <vt:lpstr>Wingdings</vt:lpstr>
      <vt:lpstr>Preso 2022 Watertower Stats</vt:lpstr>
      <vt:lpstr>PowerPoint Presentation</vt:lpstr>
      <vt:lpstr>Agenda</vt:lpstr>
      <vt:lpstr>Next few topics</vt:lpstr>
      <vt:lpstr>Recall: Redis persistence from HW1</vt:lpstr>
      <vt:lpstr>Potential design</vt:lpstr>
      <vt:lpstr>Thought experiment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PowerPoint Presentation</vt:lpstr>
      <vt:lpstr>Announcements</vt:lpstr>
      <vt:lpstr>Agenda</vt:lpstr>
      <vt:lpstr>Reflection and metaprogramming</vt:lpstr>
      <vt:lpstr>Key classes</vt:lpstr>
      <vt:lpstr>Reflection recap</vt:lpstr>
      <vt:lpstr>Reflection recap</vt:lpstr>
      <vt:lpstr>Reflection and metaprogramming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PowerPoint Presentation</vt:lpstr>
      <vt:lpstr>Reflection recap</vt:lpstr>
      <vt:lpstr>Discussion: design problem</vt:lpstr>
      <vt:lpstr>Discussion: design problem</vt:lpstr>
      <vt:lpstr>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Agenda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Reflection in C++ [Not in Syllabus]</vt:lpstr>
      <vt:lpstr>PowerPoint Presentation</vt:lpstr>
      <vt:lpstr>Agenda</vt:lpstr>
      <vt:lpstr>Background: super</vt:lpstr>
      <vt:lpstr>Design patterns – quick overview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PowerPoint Presentation</vt:lpstr>
      <vt:lpstr>Agenda</vt:lpstr>
      <vt:lpstr>Announcements</vt:lpstr>
      <vt:lpstr>Announcements</vt:lpstr>
      <vt:lpstr>Proxies: recap</vt:lpstr>
      <vt:lpstr>Proxies: recap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PowerPoint Presentation</vt:lpstr>
      <vt:lpstr>Agenda</vt:lpstr>
      <vt:lpstr>Announcements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1544</cp:revision>
  <dcterms:created xsi:type="dcterms:W3CDTF">2019-06-30T03:25:06Z</dcterms:created>
  <dcterms:modified xsi:type="dcterms:W3CDTF">2025-10-31T18:24:20Z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