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73"/>
  </p:notesMasterIdLst>
  <p:handoutMasterIdLst>
    <p:handoutMasterId r:id="rId174"/>
  </p:handoutMasterIdLst>
  <p:sldIdLst>
    <p:sldId id="256" r:id="rId2"/>
    <p:sldId id="438" r:id="rId3"/>
    <p:sldId id="279" r:id="rId4"/>
    <p:sldId id="277" r:id="rId5"/>
    <p:sldId id="278" r:id="rId6"/>
    <p:sldId id="282" r:id="rId7"/>
    <p:sldId id="283" r:id="rId8"/>
    <p:sldId id="443" r:id="rId9"/>
    <p:sldId id="330" r:id="rId10"/>
    <p:sldId id="291" r:id="rId11"/>
    <p:sldId id="265" r:id="rId12"/>
    <p:sldId id="442" r:id="rId13"/>
    <p:sldId id="289" r:id="rId14"/>
    <p:sldId id="266" r:id="rId15"/>
    <p:sldId id="440" r:id="rId16"/>
    <p:sldId id="439" r:id="rId17"/>
    <p:sldId id="441" r:id="rId18"/>
    <p:sldId id="267" r:id="rId19"/>
    <p:sldId id="285" r:id="rId20"/>
    <p:sldId id="287" r:id="rId21"/>
    <p:sldId id="290" r:id="rId22"/>
    <p:sldId id="324" r:id="rId23"/>
    <p:sldId id="325" r:id="rId24"/>
    <p:sldId id="451" r:id="rId25"/>
    <p:sldId id="453" r:id="rId26"/>
    <p:sldId id="444" r:id="rId27"/>
    <p:sldId id="449" r:id="rId28"/>
    <p:sldId id="327" r:id="rId29"/>
    <p:sldId id="341" r:id="rId30"/>
    <p:sldId id="454" r:id="rId31"/>
    <p:sldId id="328" r:id="rId32"/>
    <p:sldId id="331" r:id="rId33"/>
    <p:sldId id="333" r:id="rId34"/>
    <p:sldId id="332" r:id="rId35"/>
    <p:sldId id="335" r:id="rId36"/>
    <p:sldId id="329" r:id="rId37"/>
    <p:sldId id="458" r:id="rId38"/>
    <p:sldId id="452" r:id="rId39"/>
    <p:sldId id="456" r:id="rId40"/>
    <p:sldId id="459" r:id="rId41"/>
    <p:sldId id="450" r:id="rId42"/>
    <p:sldId id="460" r:id="rId43"/>
    <p:sldId id="461" r:id="rId44"/>
    <p:sldId id="462" r:id="rId45"/>
    <p:sldId id="463" r:id="rId46"/>
    <p:sldId id="336" r:id="rId47"/>
    <p:sldId id="258" r:id="rId48"/>
    <p:sldId id="261" r:id="rId49"/>
    <p:sldId id="259" r:id="rId50"/>
    <p:sldId id="260" r:id="rId51"/>
    <p:sldId id="264" r:id="rId52"/>
    <p:sldId id="321" r:id="rId53"/>
    <p:sldId id="323" r:id="rId54"/>
    <p:sldId id="337" r:id="rId55"/>
    <p:sldId id="338" r:id="rId56"/>
    <p:sldId id="354" r:id="rId57"/>
    <p:sldId id="355" r:id="rId58"/>
    <p:sldId id="294" r:id="rId59"/>
    <p:sldId id="273" r:id="rId60"/>
    <p:sldId id="275" r:id="rId61"/>
    <p:sldId id="274" r:id="rId62"/>
    <p:sldId id="271" r:id="rId63"/>
    <p:sldId id="272" r:id="rId64"/>
    <p:sldId id="340" r:id="rId65"/>
    <p:sldId id="345" r:id="rId66"/>
    <p:sldId id="464" r:id="rId67"/>
    <p:sldId id="465" r:id="rId68"/>
    <p:sldId id="346" r:id="rId69"/>
    <p:sldId id="468" r:id="rId70"/>
    <p:sldId id="466" r:id="rId71"/>
    <p:sldId id="467" r:id="rId72"/>
    <p:sldId id="344" r:id="rId73"/>
    <p:sldId id="347" r:id="rId74"/>
    <p:sldId id="342" r:id="rId75"/>
    <p:sldId id="343" r:id="rId76"/>
    <p:sldId id="381" r:id="rId77"/>
    <p:sldId id="382" r:id="rId78"/>
    <p:sldId id="393" r:id="rId79"/>
    <p:sldId id="257" r:id="rId80"/>
    <p:sldId id="391" r:id="rId81"/>
    <p:sldId id="350" r:id="rId82"/>
    <p:sldId id="392" r:id="rId83"/>
    <p:sldId id="394" r:id="rId84"/>
    <p:sldId id="395" r:id="rId85"/>
    <p:sldId id="396" r:id="rId86"/>
    <p:sldId id="397" r:id="rId87"/>
    <p:sldId id="361" r:id="rId88"/>
    <p:sldId id="400" r:id="rId89"/>
    <p:sldId id="349" r:id="rId90"/>
    <p:sldId id="380" r:id="rId91"/>
    <p:sldId id="366" r:id="rId92"/>
    <p:sldId id="402" r:id="rId93"/>
    <p:sldId id="368" r:id="rId94"/>
    <p:sldId id="398" r:id="rId95"/>
    <p:sldId id="407" r:id="rId96"/>
    <p:sldId id="399" r:id="rId97"/>
    <p:sldId id="486" r:id="rId98"/>
    <p:sldId id="414" r:id="rId99"/>
    <p:sldId id="473" r:id="rId100"/>
    <p:sldId id="474" r:id="rId101"/>
    <p:sldId id="475" r:id="rId102"/>
    <p:sldId id="413" r:id="rId103"/>
    <p:sldId id="469" r:id="rId104"/>
    <p:sldId id="416" r:id="rId105"/>
    <p:sldId id="470" r:id="rId106"/>
    <p:sldId id="471" r:id="rId107"/>
    <p:sldId id="487" r:id="rId108"/>
    <p:sldId id="472" r:id="rId109"/>
    <p:sldId id="415" r:id="rId110"/>
    <p:sldId id="372" r:id="rId111"/>
    <p:sldId id="411" r:id="rId112"/>
    <p:sldId id="412" r:id="rId113"/>
    <p:sldId id="410" r:id="rId114"/>
    <p:sldId id="417" r:id="rId115"/>
    <p:sldId id="418" r:id="rId116"/>
    <p:sldId id="419" r:id="rId117"/>
    <p:sldId id="420" r:id="rId118"/>
    <p:sldId id="421" r:id="rId119"/>
    <p:sldId id="422" r:id="rId120"/>
    <p:sldId id="423" r:id="rId121"/>
    <p:sldId id="424" r:id="rId122"/>
    <p:sldId id="478" r:id="rId123"/>
    <p:sldId id="479" r:id="rId124"/>
    <p:sldId id="484" r:id="rId125"/>
    <p:sldId id="480" r:id="rId126"/>
    <p:sldId id="476" r:id="rId127"/>
    <p:sldId id="477" r:id="rId128"/>
    <p:sldId id="427" r:id="rId129"/>
    <p:sldId id="405" r:id="rId130"/>
    <p:sldId id="430" r:id="rId131"/>
    <p:sldId id="481" r:id="rId132"/>
    <p:sldId id="482" r:id="rId133"/>
    <p:sldId id="429" r:id="rId134"/>
    <p:sldId id="401" r:id="rId135"/>
    <p:sldId id="378" r:id="rId136"/>
    <p:sldId id="432" r:id="rId137"/>
    <p:sldId id="262" r:id="rId138"/>
    <p:sldId id="433" r:id="rId139"/>
    <p:sldId id="270" r:id="rId140"/>
    <p:sldId id="434" r:id="rId141"/>
    <p:sldId id="435" r:id="rId142"/>
    <p:sldId id="436" r:id="rId143"/>
    <p:sldId id="431" r:id="rId144"/>
    <p:sldId id="485" r:id="rId145"/>
    <p:sldId id="263" r:id="rId146"/>
    <p:sldId id="408" r:id="rId147"/>
    <p:sldId id="409" r:id="rId148"/>
    <p:sldId id="376" r:id="rId149"/>
    <p:sldId id="483" r:id="rId150"/>
    <p:sldId id="403" r:id="rId151"/>
    <p:sldId id="404" r:id="rId152"/>
    <p:sldId id="406" r:id="rId153"/>
    <p:sldId id="377" r:id="rId154"/>
    <p:sldId id="348" r:id="rId155"/>
    <p:sldId id="364" r:id="rId156"/>
    <p:sldId id="369" r:id="rId157"/>
    <p:sldId id="365" r:id="rId158"/>
    <p:sldId id="373" r:id="rId159"/>
    <p:sldId id="374" r:id="rId160"/>
    <p:sldId id="375" r:id="rId161"/>
    <p:sldId id="316" r:id="rId162"/>
    <p:sldId id="317" r:id="rId163"/>
    <p:sldId id="318" r:id="rId164"/>
    <p:sldId id="437" r:id="rId165"/>
    <p:sldId id="320" r:id="rId166"/>
    <p:sldId id="352" r:id="rId167"/>
    <p:sldId id="353" r:id="rId168"/>
    <p:sldId id="357" r:id="rId169"/>
    <p:sldId id="358" r:id="rId170"/>
    <p:sldId id="359" r:id="rId171"/>
    <p:sldId id="360" r:id="rId172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5D5"/>
    <a:srgbClr val="B9B9FF"/>
    <a:srgbClr val="B8B8B8"/>
    <a:srgbClr val="DDDDFF"/>
    <a:srgbClr val="0000FF"/>
    <a:srgbClr val="003399"/>
    <a:srgbClr val="E6E0EC"/>
    <a:srgbClr val="00823B"/>
    <a:srgbClr val="FFB3B3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77378" autoAdjust="0"/>
  </p:normalViewPr>
  <p:slideViewPr>
    <p:cSldViewPr snapToGrid="0">
      <p:cViewPr>
        <p:scale>
          <a:sx n="125" d="100"/>
          <a:sy n="125" d="100"/>
        </p:scale>
        <p:origin x="3540" y="-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microsoft.com/office/2018/10/relationships/authors" Target="author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handoutMaster" Target="handoutMasters/handoutMaster1.xml"/><Relationship Id="rId179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microsoft.com/office/2015/10/relationships/revisionInfo" Target="revisionInfo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995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92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9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99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6C6E6-E1F7-8A8D-1CEE-F9173BE4C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A7AD8-CAAA-1E11-FEBB-C7B870E09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BA6F2-F1B9-F3A2-6CD5-F070BC921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746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an array containing Class objects representing all the public classes and interfaces that are members of the class represented by this Class object.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9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87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74FA-08DD-010F-E566-C7A3DABE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CB2ED-7AF0-FE89-F99C-32F47C6A5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EF1FF-5BB6-1288-A03D-87FE5070D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98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CBCE-2F3E-5307-485A-C46136D8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75B2A-0C17-13A9-2857-1C165AB37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1A9C9-515D-1522-CBE5-75A55E95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an array containing Class objects representing all the public classes and interfaces that are members of the class represented by this Class object.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21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C050-FAAC-FA69-8F0A-F8053EA7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6AF15-7103-F9C5-2507-B69123344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CA0CA-CE56-0E4D-EDB5-2DCA5D643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51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920241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Class hierarchy models real life relationships. Student is a subtype of Human. No clear parent-child relationship in the real world</a:t>
            </a:r>
          </a:p>
          <a:p>
            <a:pPr marL="171450" indent="-171450">
              <a:buFontTx/>
              <a:buChar char="-"/>
            </a:pPr>
            <a:r>
              <a:rPr lang="en-US" dirty="0"/>
              <a:t>We’d be adding this relationship just to make something </a:t>
            </a:r>
            <a:r>
              <a:rPr lang="en-US" dirty="0" err="1"/>
              <a:t>persistable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316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46A-9BFF-D1BB-C758-0540A6B3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F450-F104-6C88-4B79-4A99AC612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EF1E4-9B10-6C62-E3B9-BEDD63B6C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243169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javap</a:t>
            </a:r>
            <a:r>
              <a:rPr lang="fr-FR" dirty="0"/>
              <a:t> -c ./</a:t>
            </a:r>
            <a:r>
              <a:rPr lang="fr-FR" dirty="0" err="1"/>
              <a:t>target</a:t>
            </a:r>
            <a:r>
              <a:rPr lang="fr-FR" dirty="0"/>
              <a:t>/classes/</a:t>
            </a:r>
            <a:r>
              <a:rPr lang="fr-FR" dirty="0" err="1"/>
              <a:t>ReflectionDemo.clas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792A-58F9-24D9-E592-5E2DB77F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5EF49-D134-B397-04BC-2859A9578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687BA-E7B9-D17B-A8C9-4C63FB1F6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697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25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2804649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67BB-878D-BA9E-8480-D2256134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7C2E8-030E-112E-D028-955831120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7A37D-101B-54B6-171A-0EC99F0F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2765642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0AAC-9122-941C-3F0A-E272BD85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E953B-EA84-C09F-D446-DF2B695E0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2091B-0BD4-B922-097D-F90C28F53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4193377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6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167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45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24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45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46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79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5951-DB51-4939-C07E-A63104A7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2A89F-2141-1132-6F52-5ACE00FCB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CE477-0154-2615-866B-2EA74249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/>
              <a:t>Common design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250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61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4367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439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860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3024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B860-19BE-0750-8BA7-4733F010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C41B9-13C2-1ABA-CBC3-CFDBBD01F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665E5-AD28-A355-AFC1-2853842AA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034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0176-3AEE-EEAE-EEF4-FD3A511A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48F4-4019-6C08-8DFB-699A244AD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DF2BF-6791-926D-87CE-7B18217AE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482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let’s try to see how this would be designed</a:t>
            </a:r>
          </a:p>
        </p:txBody>
      </p:sp>
    </p:spTree>
    <p:extLst>
      <p:ext uri="{BB962C8B-B14F-4D97-AF65-F5344CB8AC3E}">
        <p14:creationId xmlns:p14="http://schemas.microsoft.com/office/powerpoint/2010/main" val="8654770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When you’re interacting with Reddit you’re also going over the network we will ignore that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Pretend we have some UI classes that we can use to draw on the screen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Then we have the post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Fields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Getters setters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Let’s explicitly mention the getter for replies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Then </a:t>
            </a:r>
            <a:r>
              <a:rPr lang="en-US" dirty="0" err="1"/>
              <a:t>loadPost</a:t>
            </a:r>
            <a:r>
              <a:rPr lang="en-US" dirty="0"/>
              <a:t>,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UI addition functions</a:t>
            </a:r>
          </a:p>
        </p:txBody>
      </p:sp>
    </p:spTree>
    <p:extLst>
      <p:ext uri="{BB962C8B-B14F-4D97-AF65-F5344CB8AC3E}">
        <p14:creationId xmlns:p14="http://schemas.microsoft.com/office/powerpoint/2010/main" val="666792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5A89-C220-0510-8B1B-5BFC6597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3B7B5-DA24-A2A7-01D4-8EC5D7D25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F62C-236D-15B9-DBA6-C55BE34E3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0943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C81FD-CFA7-DFB8-DC96-4B04BC8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3D25F-962A-F363-3ED6-232D1BFAA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CAAFF-3396-4159-3A2F-6B289EA82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9924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287F-3FFD-0144-A435-BB2CAF8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6715F-4FA2-5CEF-8042-F8D3E0A5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D663B-EF3D-CB42-2CDA-B8592BA59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27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DD4A-0332-87D5-2F1E-2A70C838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BB433-7910-68B0-DCE3-7C73C3E65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A0D28-4AA7-1B86-D9E0-7F0311ED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Going back to the UI components</a:t>
            </a:r>
          </a:p>
        </p:txBody>
      </p:sp>
    </p:spTree>
    <p:extLst>
      <p:ext uri="{BB962C8B-B14F-4D97-AF65-F5344CB8AC3E}">
        <p14:creationId xmlns:p14="http://schemas.microsoft.com/office/powerpoint/2010/main" val="24406768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3671-BF6F-7730-74DF-3DF303D7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32572-338B-B7C6-1A6B-C8CF61CDA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75C1C-C6FA-68EE-C840-27F5473F6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977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AC66-5250-6A19-3E03-EF55062C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23362-C40A-1D6E-8195-0BBC8C2A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A588E-1F9E-DEDD-78D5-B1353A901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707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4509-F030-0129-E491-94018244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26899-45CA-C4E2-BECE-47A1AA6F0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C0DDF-9427-C9C8-37B6-6DC4F74FF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8716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6AA4B-4224-E2F0-807F-07145620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0BEED-B142-BCC7-FF50-F27CACE65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81CC-4F9C-B8CD-CF2A-B055FB3B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975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7227-EE9A-CCBB-7E50-E07C535E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EAD9-2FCB-3FF5-E7F3-97B9CB831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3B4DD-8DF5-3A9F-4B5F-36E6E5C01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58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3865-F2AC-F4CC-41DC-C5DE5A60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1A7BD-1492-3776-B176-ECC34CAFC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4BBD7-A830-A540-6318-791B159D4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55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A6FD-0FF8-2EB7-E07D-CA8A370F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F3C20-D9C6-1E5C-2CB3-5648A5E7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CE71E-0B10-73C9-D8B8-8936C1931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880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E245F-C93A-B148-8913-8F45FAB6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16294-9E3B-B8A6-0702-B34AEBC92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D8DD1-B82C-A4BD-E8E7-D825FDBE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735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9876-B548-8BB5-1AA1-D2029283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2A025-802A-78C3-1399-F2733011F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9C56-84B4-609E-E18C-3F2411A91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293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Want to do is stub out or “simulate” some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9102000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837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F818-25EA-3737-2D1D-4D8F4371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31A62-3351-BBB8-B91A-D90026F8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C8438-3B92-D07C-247B-6C1EC30E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362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0906-1FBB-65C3-B063-A9E0CC01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1B8CA-8C67-ED26-0746-97EF474D1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52B69-DE94-279C-0A9F-88FB095AC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Earlier we were invoking the target object’s corresponding method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just choose to always return true</a:t>
            </a:r>
          </a:p>
        </p:txBody>
      </p:sp>
    </p:spTree>
    <p:extLst>
      <p:ext uri="{BB962C8B-B14F-4D97-AF65-F5344CB8AC3E}">
        <p14:creationId xmlns:p14="http://schemas.microsoft.com/office/powerpoint/2010/main" val="26148216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won’t go into too many details</a:t>
            </a:r>
          </a:p>
        </p:txBody>
      </p:sp>
    </p:spTree>
    <p:extLst>
      <p:ext uri="{BB962C8B-B14F-4D97-AF65-F5344CB8AC3E}">
        <p14:creationId xmlns:p14="http://schemas.microsoft.com/office/powerpoint/2010/main" val="1657206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BEC5-EC88-737E-2B95-17D1E51C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4C3B-CBD3-F05F-1702-5F529B41E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29726-9A61-926B-EE08-0B710C3E1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won’t go into too many details</a:t>
            </a:r>
          </a:p>
        </p:txBody>
      </p:sp>
    </p:spTree>
    <p:extLst>
      <p:ext uri="{BB962C8B-B14F-4D97-AF65-F5344CB8AC3E}">
        <p14:creationId xmlns:p14="http://schemas.microsoft.com/office/powerpoint/2010/main" val="23650009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getReplies</a:t>
            </a:r>
            <a:r>
              <a:rPr lang="en-US" dirty="0"/>
              <a:t> additional functionality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getContent</a:t>
            </a:r>
            <a:r>
              <a:rPr lang="en-US" dirty="0"/>
              <a:t> is just passed to the target object</a:t>
            </a:r>
          </a:p>
        </p:txBody>
      </p:sp>
    </p:spTree>
    <p:extLst>
      <p:ext uri="{BB962C8B-B14F-4D97-AF65-F5344CB8AC3E}">
        <p14:creationId xmlns:p14="http://schemas.microsoft.com/office/powerpoint/2010/main" val="30842839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of few</a:t>
            </a:r>
          </a:p>
        </p:txBody>
      </p:sp>
    </p:spTree>
    <p:extLst>
      <p:ext uri="{BB962C8B-B14F-4D97-AF65-F5344CB8AC3E}">
        <p14:creationId xmlns:p14="http://schemas.microsoft.com/office/powerpoint/2010/main" val="8207441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4F76-C3B7-22E2-14C5-927A6C93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79E49-91C9-C4A3-81B7-51E92AA48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5A004-E6F7-AD7D-3CED-615590843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043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DA34-CD53-3F02-166D-C3767BBB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B6DDF-15FC-1FF4-80EB-771D3D528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84939-118F-6842-0508-765D6B917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02848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62BD-E036-2E01-1073-E4D74ADE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92725-C108-101D-99F6-D2126AD4E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FF947-5C65-0C1D-B34C-5937CB140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590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6013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6369-B2B2-1D94-CA81-059CD1AC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61120-2762-F5E9-3A2D-D67889F41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1C758-13E8-A60C-A7DB-0B1AC3AAE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8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0241" y="5466332"/>
            <a:ext cx="4711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AFFE10B8-FF50-4557-9ED8-E3FFB0CBA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6696F96-BE01-5647-CDCB-DE7A5BC7486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0607" y="5951500"/>
            <a:ext cx="11470787" cy="435939"/>
          </a:xfrm>
          <a:noFill/>
        </p:spPr>
        <p:txBody>
          <a:bodyPr>
            <a:spAutoFit/>
          </a:bodyPr>
          <a:lstStyle>
            <a:lvl1pPr marL="0" indent="0" algn="ctr">
              <a:buNone/>
              <a:defRPr sz="2400" b="1" i="1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takeaway bullet</a:t>
            </a:r>
          </a:p>
        </p:txBody>
      </p:sp>
    </p:spTree>
    <p:extLst>
      <p:ext uri="{BB962C8B-B14F-4D97-AF65-F5344CB8AC3E}">
        <p14:creationId xmlns:p14="http://schemas.microsoft.com/office/powerpoint/2010/main" val="91900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keyword/reflexp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sec-teaching/reflection_demo/tree/master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java/annotations/basics.html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sec-teaching/javassist_demo" TargetMode="Externa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 reflection, proxies, and annotations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6F8AE3-17D0-9984-24F0-86E17667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reflection</a:t>
            </a:r>
          </a:p>
          <a:p>
            <a:r>
              <a:rPr lang="en-US" dirty="0"/>
              <a:t>Quiz (10 minute)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CEE2A2-23A4-F37A-DE2E-494D77ED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6558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FCF97-4444-7E6E-D2BC-9B16D76D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shifts from individual programmer perspective</a:t>
            </a:r>
          </a:p>
          <a:p>
            <a:r>
              <a:rPr lang="en-US" dirty="0"/>
              <a:t>Focus more on the larger software eco-system</a:t>
            </a:r>
          </a:p>
          <a:p>
            <a:r>
              <a:rPr lang="en-US" dirty="0"/>
              <a:t>How do you design code that can be easily reused by others?</a:t>
            </a:r>
          </a:p>
          <a:p>
            <a:pPr lvl="1"/>
            <a:r>
              <a:rPr lang="en-US" dirty="0"/>
              <a:t>How do we design frameworks and libraries</a:t>
            </a:r>
          </a:p>
          <a:p>
            <a:pPr lvl="2"/>
            <a:r>
              <a:rPr lang="en-US" dirty="0"/>
              <a:t>In a way that </a:t>
            </a:r>
            <a:r>
              <a:rPr lang="en-US" i="1" dirty="0"/>
              <a:t>reduces </a:t>
            </a:r>
            <a:r>
              <a:rPr lang="en-US" dirty="0"/>
              <a:t>programmer effort?</a:t>
            </a:r>
          </a:p>
          <a:p>
            <a:pPr lvl="2"/>
            <a:r>
              <a:rPr lang="en-US" dirty="0"/>
              <a:t>In a way that </a:t>
            </a:r>
            <a:r>
              <a:rPr lang="en-US" i="1" dirty="0"/>
              <a:t>ensures</a:t>
            </a:r>
            <a:r>
              <a:rPr lang="en-US" dirty="0"/>
              <a:t> the programmer cannot </a:t>
            </a:r>
            <a:r>
              <a:rPr lang="en-US" i="1" dirty="0"/>
              <a:t>accidentally</a:t>
            </a:r>
            <a:r>
              <a:rPr lang="en-US" dirty="0"/>
              <a:t> misuse it? </a:t>
            </a:r>
          </a:p>
          <a:p>
            <a:pPr lvl="3"/>
            <a:r>
              <a:rPr lang="en-US" dirty="0"/>
              <a:t>You assume </a:t>
            </a:r>
            <a:r>
              <a:rPr lang="en-US" dirty="0" err="1">
                <a:latin typeface="Consolas" panose="020B0609020204030204" pitchFamily="49" charset="0"/>
              </a:rPr>
              <a:t>methodA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is invoked </a:t>
            </a:r>
            <a:r>
              <a:rPr lang="en-US" i="1" dirty="0"/>
              <a:t>before </a:t>
            </a:r>
            <a:r>
              <a:rPr lang="en-US" dirty="0" err="1">
                <a:latin typeface="Consolas" panose="020B0609020204030204" pitchFamily="49" charset="0"/>
              </a:rPr>
              <a:t>methodB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but the programmer might not know this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937080-C4CC-88DE-F75C-17B4F381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few topics</a:t>
            </a:r>
          </a:p>
        </p:txBody>
      </p:sp>
    </p:spTree>
    <p:extLst>
      <p:ext uri="{BB962C8B-B14F-4D97-AF65-F5344CB8AC3E}">
        <p14:creationId xmlns:p14="http://schemas.microsoft.com/office/powerpoint/2010/main" val="154941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DE86A-E5D3-28C5-6641-CFCDD838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design the Redis persistence class? 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305792-B2AD-8ECC-884F-E2F0DA86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Redis persistence from HW1</a:t>
            </a:r>
          </a:p>
        </p:txBody>
      </p:sp>
    </p:spTree>
    <p:extLst>
      <p:ext uri="{BB962C8B-B14F-4D97-AF65-F5344CB8AC3E}">
        <p14:creationId xmlns:p14="http://schemas.microsoft.com/office/powerpoint/2010/main" val="290400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3DCD8-8C74-1B57-1B40-7388F5C88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Student implements </a:t>
            </a:r>
            <a:r>
              <a:rPr lang="en-US" dirty="0" err="1"/>
              <a:t>Persistable</a:t>
            </a:r>
            <a:r>
              <a:rPr lang="en-US" dirty="0"/>
              <a:t>{ </a:t>
            </a:r>
          </a:p>
          <a:p>
            <a:r>
              <a:rPr lang="en-US" dirty="0"/>
              <a:t>	void serialize() { return String(id + name + age + …);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Persistable</a:t>
            </a:r>
            <a:r>
              <a:rPr lang="en-US" dirty="0"/>
              <a:t> { void persist(String id, </a:t>
            </a:r>
            <a:r>
              <a:rPr lang="en-US" dirty="0" err="1"/>
              <a:t>Stirng</a:t>
            </a:r>
            <a:r>
              <a:rPr lang="en-US" dirty="0"/>
              <a:t> value) { </a:t>
            </a:r>
            <a:r>
              <a:rPr lang="en-US" dirty="0" err="1"/>
              <a:t>jedis.hset</a:t>
            </a:r>
            <a:r>
              <a:rPr lang="en-US" dirty="0"/>
              <a:t>(id, value);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(Student student)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studentMap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studentMap.put</a:t>
            </a:r>
            <a:r>
              <a:rPr lang="en-US" dirty="0"/>
              <a:t>(“</a:t>
            </a:r>
            <a:r>
              <a:rPr lang="en-US" dirty="0" err="1"/>
              <a:t>studentName</a:t>
            </a:r>
            <a:r>
              <a:rPr lang="en-US" dirty="0"/>
              <a:t>”, </a:t>
            </a:r>
            <a:r>
              <a:rPr lang="en-US" dirty="0" err="1"/>
              <a:t>student.getName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studentMap.put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</a:t>
            </a:r>
            <a:r>
              <a:rPr lang="en-US" dirty="0" err="1"/>
              <a:t>student.getId</a:t>
            </a:r>
            <a:r>
              <a:rPr lang="en-US" dirty="0"/>
              <a:t>(), </a:t>
            </a:r>
            <a:r>
              <a:rPr lang="en-US" dirty="0" err="1"/>
              <a:t>studentMap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6AB43-7B6F-9CB4-5EB5-7A61FA06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DE468D-85E2-6E50-C2B9-4E95A2B890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 a </a:t>
            </a:r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that encapsulates all Redis persistence functionality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internally uses a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 from the jedis library</a:t>
            </a:r>
          </a:p>
          <a:p>
            <a:r>
              <a:rPr lang="en-US" dirty="0"/>
              <a:t>Expose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loadAll</a:t>
            </a:r>
            <a:r>
              <a:rPr lang="en-US" dirty="0"/>
              <a:t> methods to persist and load Post</a:t>
            </a:r>
          </a:p>
        </p:txBody>
      </p:sp>
    </p:spTree>
    <p:extLst>
      <p:ext uri="{BB962C8B-B14F-4D97-AF65-F5344CB8AC3E}">
        <p14:creationId xmlns:p14="http://schemas.microsoft.com/office/powerpoint/2010/main" val="234657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25CF6-22F2-A4F3-6F80-3E28A145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Imagine HW2 assignment asks you to do the following - </a:t>
            </a:r>
          </a:p>
          <a:p>
            <a:r>
              <a:rPr lang="en-US" dirty="0"/>
              <a:t>Design classes for social </a:t>
            </a:r>
            <a:r>
              <a:rPr lang="en-US"/>
              <a:t>media platform</a:t>
            </a:r>
            <a:endParaRPr lang="en-US" dirty="0"/>
          </a:p>
          <a:p>
            <a:pPr lvl="1"/>
            <a:r>
              <a:rPr lang="en-US" dirty="0"/>
              <a:t>User, Post, Comment, Feed, Platform, Scheduler, Analytics, Message, Notification</a:t>
            </a:r>
          </a:p>
          <a:p>
            <a:r>
              <a:rPr lang="en-US" dirty="0"/>
              <a:t>Add methods to the </a:t>
            </a:r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to persist all of them to a Redis database</a:t>
            </a:r>
          </a:p>
          <a:p>
            <a:r>
              <a:rPr lang="en-US" dirty="0"/>
              <a:t>How to design/implement this?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F5B6DC-F772-881F-8B58-5E8BF24B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experiment</a:t>
            </a:r>
          </a:p>
        </p:txBody>
      </p:sp>
    </p:spTree>
    <p:extLst>
      <p:ext uri="{BB962C8B-B14F-4D97-AF65-F5344CB8AC3E}">
        <p14:creationId xmlns:p14="http://schemas.microsoft.com/office/powerpoint/2010/main" val="82880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BC0172-DFBD-6E66-C137-FD1288DE8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I wrote the persistence code once, why should I have to write it again?</a:t>
            </a:r>
          </a:p>
          <a:p>
            <a:r>
              <a:rPr lang="en-US" b="1" i="1" dirty="0"/>
              <a:t>… what are the options?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66EC82-EB76-027F-BAC2-D4BCCEAF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reuse persistence code</a:t>
            </a:r>
          </a:p>
        </p:txBody>
      </p:sp>
    </p:spTree>
    <p:extLst>
      <p:ext uri="{BB962C8B-B14F-4D97-AF65-F5344CB8AC3E}">
        <p14:creationId xmlns:p14="http://schemas.microsoft.com/office/powerpoint/2010/main" val="26712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0D25-A532-6F83-FF4F-7AEC097A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A289F-8131-621A-5C7B-9B969579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pieces to this puzzle</a:t>
            </a:r>
          </a:p>
          <a:p>
            <a:pPr lvl="1"/>
            <a:r>
              <a:rPr lang="en-US" dirty="0"/>
              <a:t>Reflection</a:t>
            </a:r>
          </a:p>
          <a:p>
            <a:pPr lvl="1"/>
            <a:r>
              <a:rPr lang="en-US" dirty="0"/>
              <a:t>Annotation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492BBE-B927-26C1-9761-BB6CDC60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reuse persistence 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2CC800-6107-5657-2CB1-E0E0523AFF2A}"/>
              </a:ext>
            </a:extLst>
          </p:cNvPr>
          <p:cNvSpPr/>
          <p:nvPr/>
        </p:nvSpPr>
        <p:spPr>
          <a:xfrm>
            <a:off x="797354" y="3153415"/>
            <a:ext cx="2543908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Reflection</a:t>
            </a:r>
            <a:endParaRPr lang="en-US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6A0E3-4C98-B1A8-B6F6-3F582E41DFC4}"/>
              </a:ext>
            </a:extLst>
          </p:cNvPr>
          <p:cNvSpPr/>
          <p:nvPr/>
        </p:nvSpPr>
        <p:spPr>
          <a:xfrm>
            <a:off x="4674762" y="3165138"/>
            <a:ext cx="2543908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 Annotations</a:t>
            </a:r>
            <a:endParaRPr lang="en-US" sz="2800" dirty="0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4224FAD6-25C1-4EB4-C1F5-3F3A1B4B3080}"/>
              </a:ext>
            </a:extLst>
          </p:cNvPr>
          <p:cNvSpPr/>
          <p:nvPr/>
        </p:nvSpPr>
        <p:spPr>
          <a:xfrm>
            <a:off x="3713531" y="3446492"/>
            <a:ext cx="588961" cy="656492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6018D21C-22F0-32A8-21B2-3271E5F1F02A}"/>
              </a:ext>
            </a:extLst>
          </p:cNvPr>
          <p:cNvSpPr/>
          <p:nvPr/>
        </p:nvSpPr>
        <p:spPr>
          <a:xfrm>
            <a:off x="7420892" y="3493384"/>
            <a:ext cx="762000" cy="6096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uble Wave 9">
            <a:extLst>
              <a:ext uri="{FF2B5EF4-FFF2-40B4-BE49-F238E27FC236}">
                <a16:creationId xmlns:a16="http://schemas.microsoft.com/office/drawing/2014/main" id="{D0F7C458-F961-B9B2-1A37-F7F21CEA08B2}"/>
              </a:ext>
            </a:extLst>
          </p:cNvPr>
          <p:cNvSpPr/>
          <p:nvPr/>
        </p:nvSpPr>
        <p:spPr>
          <a:xfrm>
            <a:off x="8464247" y="2970903"/>
            <a:ext cx="2543908" cy="1729957"/>
          </a:xfrm>
          <a:prstGeom prst="doubleWave">
            <a:avLst>
              <a:gd name="adj1" fmla="val 1506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Powerful abstractions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138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0023B-E2A4-82F1-B13C-B0917CF3C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1750CC-5AC7-7A50-8631-18826512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EDA01-D3AB-5D32-35F5-CCE6717B325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Java, all classes inherit the Object class implicitly</a:t>
            </a:r>
          </a:p>
          <a:p>
            <a:endParaRPr lang="en-US" dirty="0"/>
          </a:p>
          <a:p>
            <a:r>
              <a:rPr lang="en-US" dirty="0"/>
              <a:t>Every instance method call’s first implicit argument is the object it is being applied to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Student s = new Student();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s.getName</a:t>
            </a:r>
            <a:r>
              <a:rPr lang="en-US" dirty="0">
                <a:latin typeface="Consolas" panose="020B0609020204030204" pitchFamily="49" charset="0"/>
              </a:rPr>
              <a:t>(); // implicit first argument is 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0F26F-3A64-E066-C287-FF27412B137F}"/>
              </a:ext>
            </a:extLst>
          </p:cNvPr>
          <p:cNvSpPr/>
          <p:nvPr/>
        </p:nvSpPr>
        <p:spPr>
          <a:xfrm>
            <a:off x="8065477" y="1195754"/>
            <a:ext cx="1559169" cy="668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8BF61-B488-EED7-4A27-6076F4EB914C}"/>
              </a:ext>
            </a:extLst>
          </p:cNvPr>
          <p:cNvSpPr/>
          <p:nvPr/>
        </p:nvSpPr>
        <p:spPr>
          <a:xfrm>
            <a:off x="6262983" y="2749504"/>
            <a:ext cx="1559169" cy="6682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55673-F7ED-2C40-D076-638308325107}"/>
              </a:ext>
            </a:extLst>
          </p:cNvPr>
          <p:cNvSpPr/>
          <p:nvPr/>
        </p:nvSpPr>
        <p:spPr>
          <a:xfrm>
            <a:off x="8256869" y="2761227"/>
            <a:ext cx="1559169" cy="6682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7225D-CA38-5D51-A5C4-A86C0A50CF77}"/>
              </a:ext>
            </a:extLst>
          </p:cNvPr>
          <p:cNvSpPr/>
          <p:nvPr/>
        </p:nvSpPr>
        <p:spPr>
          <a:xfrm>
            <a:off x="10098837" y="2761227"/>
            <a:ext cx="1559169" cy="6682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27CA24-F5AB-1348-4474-1747C867C206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042567" y="1863969"/>
            <a:ext cx="1802495" cy="88553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78E4B4-9C45-27CF-8133-C64E65A4729B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8845062" y="1863969"/>
            <a:ext cx="191392" cy="897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45F780-85F3-EDCE-2A99-C00E671CD295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H="1" flipV="1">
            <a:off x="8845062" y="1863969"/>
            <a:ext cx="2033360" cy="897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4ED577-7DD2-B518-031D-8B934ECAC5CA}"/>
              </a:ext>
            </a:extLst>
          </p:cNvPr>
          <p:cNvSpPr txBox="1"/>
          <p:nvPr/>
        </p:nvSpPr>
        <p:spPr>
          <a:xfrm>
            <a:off x="6496954" y="197918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FC1A27-4D0C-1027-D179-E1A0B8CADD5D}"/>
              </a:ext>
            </a:extLst>
          </p:cNvPr>
          <p:cNvSpPr txBox="1"/>
          <p:nvPr/>
        </p:nvSpPr>
        <p:spPr>
          <a:xfrm>
            <a:off x="10126700" y="197918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8616C1-6310-50B0-AFE2-B2098B32534D}"/>
              </a:ext>
            </a:extLst>
          </p:cNvPr>
          <p:cNvSpPr txBox="1"/>
          <p:nvPr/>
        </p:nvSpPr>
        <p:spPr>
          <a:xfrm>
            <a:off x="7857644" y="228783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31430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EAC7E1-DB61-4A00-2E2C-97DDFAF8D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Instance method invocation</a:t>
            </a:r>
          </a:p>
          <a:p>
            <a:pPr lvl="1"/>
            <a:r>
              <a:rPr lang="en-US" dirty="0"/>
              <a:t>Every instance method call’s first implicit argument is the object it is being applied to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Student s = new Student();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s.getName</a:t>
            </a:r>
            <a:r>
              <a:rPr lang="en-US" dirty="0">
                <a:latin typeface="Consolas" panose="020B0609020204030204" pitchFamily="49" charset="0"/>
              </a:rPr>
              <a:t>(); // implicit first argument is 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Not applicable to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static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functions [in Java]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02F508-9A1C-74A1-9E2B-CD083D4D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235427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EF92DF-A47F-BE41-A614-583BEC87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  <a:endParaRPr lang="en-US" dirty="0"/>
          </a:p>
          <a:p>
            <a:r>
              <a:rPr lang="en-US" dirty="0"/>
              <a:t>Can (dynamically) instantiate classes given a </a:t>
            </a:r>
            <a:r>
              <a:rPr lang="en-US" b="1" dirty="0"/>
              <a:t>class name </a:t>
            </a:r>
            <a:r>
              <a:rPr lang="en-US" dirty="0"/>
              <a:t>and invoke methods and constructors on it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Access and modify classes, methods, fields, and constructors dynamically</a:t>
            </a:r>
          </a:p>
          <a:p>
            <a:pPr lvl="1"/>
            <a:r>
              <a:rPr lang="en-US" dirty="0"/>
              <a:t>Facilitate frameworks, libraries, and tools (e.g., Spring, Hibernate)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149D5D-EE1E-6505-1B2A-2D0368B1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26749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5D5C-ABA2-1A31-2ABB-EDE876E8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7FDFA5-E1F5-DF88-7227-874CFD63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Reflection</a:t>
            </a:r>
          </a:p>
          <a:p>
            <a:pPr lvl="1"/>
            <a:r>
              <a:rPr lang="en-US" dirty="0"/>
              <a:t>Compile time (C++ [</a:t>
            </a:r>
            <a:r>
              <a:rPr lang="en-US" dirty="0">
                <a:hlinkClick r:id="rId3"/>
              </a:rPr>
              <a:t>https://en.cppreference.com/w/cpp/keyword/reflexpr.html</a:t>
            </a:r>
            <a:r>
              <a:rPr lang="en-US" dirty="0"/>
              <a:t>], Rust macros)</a:t>
            </a:r>
          </a:p>
          <a:p>
            <a:pPr lvl="1"/>
            <a:r>
              <a:rPr lang="en-US" dirty="0"/>
              <a:t>Runtime (Java, JavaScript)</a:t>
            </a:r>
          </a:p>
          <a:p>
            <a:pPr marL="230187" lvl="1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BD14DD-E4FD-DD61-CF28-8B4F7624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3182878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7BA81C-DBDA-1F80-2061-7A0D4FCD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APIs to inspect and manipulate the classes, methods, fields, and so on… </a:t>
            </a:r>
          </a:p>
          <a:p>
            <a:r>
              <a:rPr lang="en-US" dirty="0"/>
              <a:t>Note: reflection bypasses all encapsulation</a:t>
            </a:r>
          </a:p>
          <a:p>
            <a:pPr lvl="1"/>
            <a:r>
              <a:rPr lang="en-US" dirty="0"/>
              <a:t>But (hopefully) for greater good!!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A4470-AB66-0F63-FB02-F0365543C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reflection</a:t>
            </a:r>
          </a:p>
        </p:txBody>
      </p:sp>
    </p:spTree>
    <p:extLst>
      <p:ext uri="{BB962C8B-B14F-4D97-AF65-F5344CB8AC3E}">
        <p14:creationId xmlns:p14="http://schemas.microsoft.com/office/powerpoint/2010/main" val="184330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98CC07-2214-A609-9EFF-BF118E87D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2C71FA-CE07-C017-0ECB-14AA0B44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</p:spTree>
    <p:extLst>
      <p:ext uri="{BB962C8B-B14F-4D97-AF65-F5344CB8AC3E}">
        <p14:creationId xmlns:p14="http://schemas.microsoft.com/office/powerpoint/2010/main" val="580055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F8DD-BB4F-AF51-E173-821A572A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581447-279C-0E6E-4A58-D7207EFD7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FEA92-0024-C2BA-D852-711B9F0A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CABCF3-51B2-58A6-56EE-A8BAC115152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5DE47D-B85A-BE32-5DF4-472B1C720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51266"/>
              </p:ext>
            </p:extLst>
          </p:nvPr>
        </p:nvGraphicFramePr>
        <p:xfrm>
          <a:off x="7293494" y="824089"/>
          <a:ext cx="2640727" cy="2118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4072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57D225-8A81-AA0A-9D29-71AA6BE12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33111"/>
              </p:ext>
            </p:extLst>
          </p:nvPr>
        </p:nvGraphicFramePr>
        <p:xfrm>
          <a:off x="6589403" y="3235577"/>
          <a:ext cx="451412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514120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Class&lt;?&gt;[] classes;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1596B7D-CB5F-ED6E-C141-CF59EA4ECDFB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8846463" y="1883269"/>
            <a:ext cx="1087758" cy="1352308"/>
          </a:xfrm>
          <a:prstGeom prst="bentConnector4">
            <a:avLst>
              <a:gd name="adj1" fmla="val -21016"/>
              <a:gd name="adj2" fmla="val 89162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EEE44F-2EBF-232C-B1DB-51A5439A1BFC}"/>
              </a:ext>
            </a:extLst>
          </p:cNvPr>
          <p:cNvSpPr txBox="1"/>
          <p:nvPr/>
        </p:nvSpPr>
        <p:spPr>
          <a:xfrm>
            <a:off x="10385778" y="2223911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Has an object</a:t>
            </a:r>
          </a:p>
          <a:p>
            <a:r>
              <a:rPr lang="en-US" b="1" i="1" dirty="0"/>
              <a:t>of type Class</a:t>
            </a:r>
          </a:p>
        </p:txBody>
      </p:sp>
    </p:spTree>
    <p:extLst>
      <p:ext uri="{BB962C8B-B14F-4D97-AF65-F5344CB8AC3E}">
        <p14:creationId xmlns:p14="http://schemas.microsoft.com/office/powerpoint/2010/main" val="69652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F2FC6-9656-4810-A039-DFDE8EC0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4DC39F-4776-7B66-1FF9-2593CAA1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9892D-C7BF-4F3E-11E5-970C20D9CB8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1E2C16-CCDB-6C3F-FBC1-51BED061E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898972"/>
              </p:ext>
            </p:extLst>
          </p:nvPr>
        </p:nvGraphicFramePr>
        <p:xfrm>
          <a:off x="6638739" y="785004"/>
          <a:ext cx="2640727" cy="2118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4072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871E4D-E997-4450-CAE8-D09BC1060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26704"/>
              </p:ext>
            </p:extLst>
          </p:nvPr>
        </p:nvGraphicFramePr>
        <p:xfrm>
          <a:off x="6207328" y="3069470"/>
          <a:ext cx="5602597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0259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 </a:t>
                      </a:r>
                      <a:r>
                        <a:rPr lang="en-US" b="1" dirty="0"/>
                        <a:t>// “Student”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 </a:t>
                      </a:r>
                      <a:r>
                        <a:rPr lang="en-US" b="1" dirty="0"/>
                        <a:t>// [</a:t>
                      </a:r>
                      <a:r>
                        <a:rPr lang="en-US" b="1" dirty="0" err="1"/>
                        <a:t>default_cons</a:t>
                      </a:r>
                      <a:r>
                        <a:rPr lang="en-US" b="1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  <a:r>
                        <a:rPr lang="en-US" b="1" dirty="0"/>
                        <a:t> [ </a:t>
                      </a:r>
                      <a:r>
                        <a:rPr lang="en-US" b="1" dirty="0" err="1"/>
                        <a:t>field_obj_id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field_obj_name</a:t>
                      </a:r>
                      <a:r>
                        <a:rPr lang="en-US" b="1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 </a:t>
                      </a:r>
                      <a:r>
                        <a:rPr lang="en-US" b="1" dirty="0"/>
                        <a:t>[//all getters and setters]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07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502C-95AB-FC40-CB87-603D1701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5E85B-FDF1-2509-943C-984041F00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r>
              <a:rPr lang="en-US" dirty="0"/>
              <a:t>: Represents a class method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r>
              <a:rPr lang="en-US" dirty="0"/>
              <a:t>: Represents a class field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java.lang.reflect.Constructor</a:t>
            </a:r>
            <a:r>
              <a:rPr lang="en-US" dirty="0"/>
              <a:t>: Represents a constructor</a:t>
            </a:r>
          </a:p>
          <a:p>
            <a:r>
              <a:rPr lang="en-US" b="1" i="1" dirty="0"/>
              <a:t>… what can we do with these objects of type Class, Method, Field, </a:t>
            </a:r>
            <a:r>
              <a:rPr lang="en-US" b="1" i="1" dirty="0" err="1"/>
              <a:t>etc</a:t>
            </a:r>
            <a:r>
              <a:rPr lang="en-US" b="1" i="1" dirty="0"/>
              <a:t>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586818-116A-6F9A-7A40-78D0A146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</p:spTree>
    <p:extLst>
      <p:ext uri="{BB962C8B-B14F-4D97-AF65-F5344CB8AC3E}">
        <p14:creationId xmlns:p14="http://schemas.microsoft.com/office/powerpoint/2010/main" val="3064743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56E50E-CB93-6475-8AF4-2DA9CF02A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/>
          <a:lstStyle/>
          <a:p>
            <a:r>
              <a:rPr lang="en-US" dirty="0"/>
              <a:t>class Car {</a:t>
            </a:r>
          </a:p>
          <a:p>
            <a:r>
              <a:rPr lang="en-US" dirty="0"/>
              <a:t>	private String model;</a:t>
            </a:r>
          </a:p>
          <a:p>
            <a:r>
              <a:rPr lang="en-US" dirty="0"/>
              <a:t>	private int year;</a:t>
            </a:r>
          </a:p>
          <a:p>
            <a:r>
              <a:rPr lang="en-US" dirty="0"/>
              <a:t>	public String </a:t>
            </a:r>
            <a:r>
              <a:rPr lang="en-US" dirty="0" err="1"/>
              <a:t>getModel</a:t>
            </a:r>
            <a:r>
              <a:rPr lang="en-US" dirty="0"/>
              <a:t>() {return model;}</a:t>
            </a:r>
          </a:p>
          <a:p>
            <a:r>
              <a:rPr lang="en-US" dirty="0"/>
              <a:t>	public int </a:t>
            </a:r>
            <a:r>
              <a:rPr lang="en-US" dirty="0" err="1"/>
              <a:t>getYear</a:t>
            </a:r>
            <a:r>
              <a:rPr lang="en-US" dirty="0"/>
              <a:t>() { return year; }</a:t>
            </a:r>
          </a:p>
          <a:p>
            <a:r>
              <a:rPr lang="en-US" dirty="0"/>
              <a:t>	public Car(String model, int year) {...}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	Car c = new Car(“Toyota”, 2019);</a:t>
            </a:r>
          </a:p>
          <a:p>
            <a:r>
              <a:rPr lang="en-US" dirty="0"/>
              <a:t>		</a:t>
            </a:r>
            <a:r>
              <a:rPr lang="en-US" b="1" dirty="0"/>
              <a:t>Class&lt;?&gt; </a:t>
            </a:r>
            <a:r>
              <a:rPr lang="en-US" b="1" dirty="0" err="1"/>
              <a:t>clazz</a:t>
            </a:r>
            <a:r>
              <a:rPr lang="en-US" b="1" dirty="0"/>
              <a:t> = </a:t>
            </a:r>
            <a:r>
              <a:rPr lang="en-US" b="1" dirty="0" err="1"/>
              <a:t>c.getClass</a:t>
            </a:r>
            <a:r>
              <a:rPr lang="en-US" b="1" dirty="0"/>
              <a:t>();</a:t>
            </a:r>
          </a:p>
          <a:p>
            <a:r>
              <a:rPr lang="en-US" dirty="0"/>
              <a:t>		for (</a:t>
            </a:r>
            <a:r>
              <a:rPr lang="en-US" b="1" dirty="0"/>
              <a:t>Method m: </a:t>
            </a:r>
            <a:r>
              <a:rPr lang="en-US" b="1" dirty="0" err="1"/>
              <a:t>clazz.getDeclaredMethods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 Object result = </a:t>
            </a:r>
            <a:r>
              <a:rPr lang="en-US" dirty="0" err="1"/>
              <a:t>m.invoke</a:t>
            </a:r>
            <a:r>
              <a:rPr lang="en-US" dirty="0"/>
              <a:t>(c);</a:t>
            </a:r>
          </a:p>
          <a:p>
            <a:r>
              <a:rPr lang="en-US" dirty="0"/>
              <a:t>		    </a:t>
            </a:r>
            <a:r>
              <a:rPr lang="en-US" dirty="0" err="1"/>
              <a:t>S.o.p</a:t>
            </a:r>
            <a:r>
              <a:rPr lang="en-US" dirty="0"/>
              <a:t>(result);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Prints “Toyota” and then “2019”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1CC69-A19A-C8E5-276E-07DD6C73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21A12-8A55-4BA7-588F-84794214392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E.g., using reflection to dynamically invoke all getters in an object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9E9B7-3F67-22A7-5DA0-BECE80C4C8BB}"/>
              </a:ext>
            </a:extLst>
          </p:cNvPr>
          <p:cNvSpPr/>
          <p:nvPr/>
        </p:nvSpPr>
        <p:spPr>
          <a:xfrm>
            <a:off x="6667500" y="3455670"/>
            <a:ext cx="4632960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B271-8D7E-3538-A84D-E5523C784F11}"/>
              </a:ext>
            </a:extLst>
          </p:cNvPr>
          <p:cNvSpPr/>
          <p:nvPr/>
        </p:nvSpPr>
        <p:spPr>
          <a:xfrm>
            <a:off x="6957060" y="3710132"/>
            <a:ext cx="4852866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E3117E-4C22-DA48-E022-3D0EA987A843}"/>
              </a:ext>
            </a:extLst>
          </p:cNvPr>
          <p:cNvSpPr/>
          <p:nvPr/>
        </p:nvSpPr>
        <p:spPr>
          <a:xfrm>
            <a:off x="6957060" y="3964594"/>
            <a:ext cx="4852866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5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6B8-755F-F8EC-A0CD-5295B64A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F99BB5-D5BD-DFCB-3361-A61D47ED9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private 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int </a:t>
            </a:r>
            <a:r>
              <a:rPr lang="en-US" dirty="0" err="1"/>
              <a:t>replyCount</a:t>
            </a:r>
            <a:r>
              <a:rPr lang="en-US" dirty="0"/>
              <a:t>;</a:t>
            </a:r>
          </a:p>
          <a:p>
            <a:r>
              <a:rPr lang="en-US" dirty="0"/>
              <a:t>	public int </a:t>
            </a:r>
            <a:r>
              <a:rPr lang="en-US" dirty="0" err="1"/>
              <a:t>getAuthorName</a:t>
            </a:r>
            <a:r>
              <a:rPr lang="en-US" dirty="0"/>
              <a:t>() { return </a:t>
            </a:r>
            <a:r>
              <a:rPr lang="en-US" dirty="0" err="1"/>
              <a:t>authorName</a:t>
            </a:r>
            <a:r>
              <a:rPr lang="en-US" dirty="0"/>
              <a:t>; }</a:t>
            </a:r>
          </a:p>
          <a:p>
            <a:r>
              <a:rPr lang="en-US" dirty="0"/>
              <a:t>	public int </a:t>
            </a:r>
            <a:r>
              <a:rPr lang="en-US" dirty="0" err="1"/>
              <a:t>getContent</a:t>
            </a:r>
            <a:r>
              <a:rPr lang="en-US" dirty="0"/>
              <a:t>() { return content; }</a:t>
            </a:r>
          </a:p>
          <a:p>
            <a:r>
              <a:rPr lang="en-US" dirty="0"/>
              <a:t>	public Integer </a:t>
            </a:r>
            <a:r>
              <a:rPr lang="en-US" dirty="0" err="1"/>
              <a:t>getReplyCount</a:t>
            </a:r>
            <a:r>
              <a:rPr lang="en-US" dirty="0"/>
              <a:t>() { return </a:t>
            </a:r>
            <a:r>
              <a:rPr lang="en-US" dirty="0" err="1"/>
              <a:t>replyCount</a:t>
            </a:r>
            <a:r>
              <a:rPr lang="en-US" dirty="0"/>
              <a:t>; }</a:t>
            </a:r>
          </a:p>
          <a:p>
            <a:r>
              <a:rPr lang="en-US" dirty="0"/>
              <a:t>	public Post(String </a:t>
            </a:r>
            <a:r>
              <a:rPr lang="en-US" dirty="0" err="1"/>
              <a:t>authorName</a:t>
            </a:r>
            <a:r>
              <a:rPr lang="en-US" dirty="0"/>
              <a:t>, String content,</a:t>
            </a:r>
          </a:p>
          <a:p>
            <a:r>
              <a:rPr lang="en-US" dirty="0"/>
              <a:t>		int </a:t>
            </a:r>
            <a:r>
              <a:rPr lang="en-US" dirty="0" err="1"/>
              <a:t>replyCount</a:t>
            </a:r>
            <a:r>
              <a:rPr lang="en-US" dirty="0"/>
              <a:t>) {</a:t>
            </a:r>
          </a:p>
          <a:p>
            <a:r>
              <a:rPr lang="en-US" dirty="0"/>
              <a:t>		</a:t>
            </a:r>
            <a:r>
              <a:rPr lang="en-US" dirty="0" err="1"/>
              <a:t>this.authorName</a:t>
            </a:r>
            <a:r>
              <a:rPr lang="en-US" dirty="0"/>
              <a:t> =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this.content</a:t>
            </a:r>
            <a:r>
              <a:rPr lang="en-US" dirty="0"/>
              <a:t> = content;</a:t>
            </a:r>
          </a:p>
          <a:p>
            <a:r>
              <a:rPr lang="en-US" dirty="0"/>
              <a:t>		</a:t>
            </a:r>
            <a:r>
              <a:rPr lang="en-US" dirty="0" err="1"/>
              <a:t>this.replyCount</a:t>
            </a:r>
            <a:r>
              <a:rPr lang="en-US" dirty="0"/>
              <a:t> = </a:t>
            </a:r>
            <a:r>
              <a:rPr lang="en-US" dirty="0" err="1"/>
              <a:t>replyCount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	Post p = new Post(“Tapti”, “Welcome to ECS 160”, 0);</a:t>
            </a:r>
          </a:p>
          <a:p>
            <a:r>
              <a:rPr lang="en-US" dirty="0"/>
              <a:t>		</a:t>
            </a:r>
            <a:r>
              <a:rPr lang="en-US" b="1" dirty="0"/>
              <a:t>Class&lt;?&gt; </a:t>
            </a:r>
            <a:r>
              <a:rPr lang="en-US" b="1" dirty="0" err="1"/>
              <a:t>clazz</a:t>
            </a:r>
            <a:r>
              <a:rPr lang="en-US" b="1" dirty="0"/>
              <a:t> = </a:t>
            </a:r>
            <a:r>
              <a:rPr lang="en-US" b="1" dirty="0" err="1"/>
              <a:t>p.getClass</a:t>
            </a:r>
            <a:r>
              <a:rPr lang="en-US" b="1" dirty="0"/>
              <a:t>();</a:t>
            </a:r>
          </a:p>
          <a:p>
            <a:r>
              <a:rPr lang="en-US" dirty="0"/>
              <a:t>		for (</a:t>
            </a:r>
            <a:r>
              <a:rPr lang="en-US" b="1" dirty="0"/>
              <a:t>Method m: </a:t>
            </a:r>
            <a:r>
              <a:rPr lang="en-US" b="1" dirty="0" err="1"/>
              <a:t>clazz.getDeclaredMethods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 Object result = </a:t>
            </a:r>
            <a:r>
              <a:rPr lang="en-US" dirty="0" err="1"/>
              <a:t>m.invoke</a:t>
            </a:r>
            <a:r>
              <a:rPr lang="en-US" dirty="0"/>
              <a:t>(p);</a:t>
            </a:r>
          </a:p>
          <a:p>
            <a:r>
              <a:rPr lang="en-US" dirty="0"/>
              <a:t>		    </a:t>
            </a:r>
            <a:r>
              <a:rPr lang="en-US" dirty="0" err="1"/>
              <a:t>S.o.p</a:t>
            </a:r>
            <a:r>
              <a:rPr lang="en-US" dirty="0"/>
              <a:t>(result);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Prints “Tapti” and then “Welcome to ECS 160” and then “0”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401F5-757A-0E63-E238-D30A8773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reflection code works on all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9D398-47F3-FAB0-5A5F-5D1DB7DF0C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Using reflection on another object type</a:t>
            </a:r>
          </a:p>
          <a:p>
            <a:r>
              <a:rPr lang="en-US" b="1" i="1" dirty="0"/>
              <a:t>… what did we achieve?</a:t>
            </a:r>
          </a:p>
        </p:txBody>
      </p:sp>
    </p:spTree>
    <p:extLst>
      <p:ext uri="{BB962C8B-B14F-4D97-AF65-F5344CB8AC3E}">
        <p14:creationId xmlns:p14="http://schemas.microsoft.com/office/powerpoint/2010/main" val="194690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3314F-88D2-0951-FAF6-AEA9F89A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(&lt;</a:t>
            </a:r>
            <a:r>
              <a:rPr lang="en-US" dirty="0" err="1">
                <a:latin typeface="Consolas" panose="020B0609020204030204" pitchFamily="49" charset="0"/>
              </a:rPr>
              <a:t>classname</a:t>
            </a:r>
            <a:r>
              <a:rPr lang="en-US" dirty="0">
                <a:latin typeface="Consolas" panose="020B0609020204030204" pitchFamily="49" charset="0"/>
              </a:rPr>
              <a:t>&gt;) </a:t>
            </a:r>
            <a:r>
              <a:rPr lang="en-US" dirty="0"/>
              <a:t>– loads the Class object provided a fully qualified class name (</a:t>
            </a:r>
            <a:r>
              <a:rPr lang="en-US" dirty="0">
                <a:latin typeface="Consolas" panose="020B0609020204030204" pitchFamily="49" charset="0"/>
              </a:rPr>
              <a:t>com.ecs160.MyClass</a:t>
            </a:r>
            <a:r>
              <a:rPr lang="en-US" dirty="0"/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&lt;obj&gt;.</a:t>
            </a:r>
            <a:r>
              <a:rPr lang="en-US" dirty="0" err="1">
                <a:latin typeface="Consolas" panose="020B0609020204030204" pitchFamily="49" charset="0"/>
              </a:rPr>
              <a:t>getClass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- Gets the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Class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object for the object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getMethods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Get all method objects of type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for the Class object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class_object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getMethod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method_name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- Get the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object for the method having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method_name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CACB9-253E-5A6C-F685-758DB997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API</a:t>
            </a:r>
          </a:p>
        </p:txBody>
      </p:sp>
    </p:spTree>
    <p:extLst>
      <p:ext uri="{BB962C8B-B14F-4D97-AF65-F5344CB8AC3E}">
        <p14:creationId xmlns:p14="http://schemas.microsoft.com/office/powerpoint/2010/main" val="272008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C78EB0-2EE3-9990-E9DA-7F3560D0E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 demos</a:t>
            </a:r>
          </a:p>
          <a:p>
            <a:pPr lvl="1"/>
            <a:r>
              <a:rPr lang="en-US" dirty="0"/>
              <a:t>Demo1: Print all classes and methods in each class in a package</a:t>
            </a:r>
          </a:p>
          <a:p>
            <a:pPr lvl="1"/>
            <a:r>
              <a:rPr lang="en-US" dirty="0"/>
              <a:t>Demo2: Invoke all getters of an object</a:t>
            </a:r>
          </a:p>
          <a:p>
            <a:pPr lvl="1"/>
            <a:r>
              <a:rPr lang="en-US" dirty="0"/>
              <a:t>Demo3: Access private fields </a:t>
            </a:r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C22AB6-F8E7-973C-B7AC-EEC2C018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demo</a:t>
            </a:r>
          </a:p>
        </p:txBody>
      </p:sp>
    </p:spTree>
    <p:extLst>
      <p:ext uri="{BB962C8B-B14F-4D97-AF65-F5344CB8AC3E}">
        <p14:creationId xmlns:p14="http://schemas.microsoft.com/office/powerpoint/2010/main" val="3267618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89C86-04DB-C101-3102-1C9FD864E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https://github.com/davsec-teaching/reflection_demo/tree/master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6D4F05-6B8F-7464-C651-02E7FE0C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demo </a:t>
            </a:r>
            <a:r>
              <a:rPr lang="en-US" dirty="0" err="1"/>
              <a:t>Github</a:t>
            </a:r>
            <a:r>
              <a:rPr lang="en-US" dirty="0"/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3973487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82EC0-7B3F-D9A9-43A7-472DAFB4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Tapti Palit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35606-7EF2-6F65-DDEE-FE87B7FBCB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/>
              <a:t>Java reflection, proxies, and annotations</a:t>
            </a:r>
          </a:p>
        </p:txBody>
      </p:sp>
    </p:spTree>
    <p:extLst>
      <p:ext uri="{BB962C8B-B14F-4D97-AF65-F5344CB8AC3E}">
        <p14:creationId xmlns:p14="http://schemas.microsoft.com/office/powerpoint/2010/main" val="669124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AD2B5D-F965-B793-0B97-6923BE39B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working on your assignments!</a:t>
            </a:r>
          </a:p>
          <a:p>
            <a:r>
              <a:rPr lang="en-US" dirty="0"/>
              <a:t>Next quiz on 10/24</a:t>
            </a:r>
          </a:p>
          <a:p>
            <a:pPr lvl="1"/>
            <a:r>
              <a:rPr lang="en-US" dirty="0"/>
              <a:t>Will cover everything covered till 10/20 (inclusive)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3F651-F249-02A4-463C-5AC5515D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1569741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3EF007-83AA-03FB-CED8-67EE81AA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(recap)</a:t>
            </a:r>
          </a:p>
          <a:p>
            <a:r>
              <a:rPr lang="en-US" dirty="0"/>
              <a:t>Reflection demo</a:t>
            </a:r>
          </a:p>
          <a:p>
            <a:r>
              <a:rPr lang="en-US" dirty="0"/>
              <a:t>Annotations (recap)</a:t>
            </a:r>
          </a:p>
          <a:p>
            <a:r>
              <a:rPr lang="en-US" dirty="0"/>
              <a:t>Annotations demo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3D0085-8D0D-F87E-6F60-31E704FC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84865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0A9C-71D8-DEEF-8EAA-5E060E6B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F23783-32AE-7373-DBFE-850A4A70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  <a:endParaRPr lang="en-US" dirty="0"/>
          </a:p>
          <a:p>
            <a:r>
              <a:rPr lang="en-US" dirty="0"/>
              <a:t>Can (dynamically) instantiate classes given a </a:t>
            </a:r>
            <a:r>
              <a:rPr lang="en-US" b="1" dirty="0"/>
              <a:t>class name </a:t>
            </a:r>
            <a:r>
              <a:rPr lang="en-US" dirty="0"/>
              <a:t>and invoke methods and constructors on it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Access and modify classes, methods, fields, and constructors dynamically</a:t>
            </a:r>
          </a:p>
          <a:p>
            <a:pPr lvl="1"/>
            <a:r>
              <a:rPr lang="en-US" dirty="0"/>
              <a:t>Facilitate frameworks, libraries, and tools (e.g., Spring, Hibernate)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116CA8-F21D-D180-CE8A-B4589DDC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318531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1B80-7131-1754-4E9E-EBB5FCB8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2659BC-F604-72DD-EF71-3875F75F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6C2EB3-E74F-8EA2-870A-63760DC2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2BB767-1AAA-B01F-D7EF-17B5BAF2B58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</a:t>
            </a:r>
            <a:r>
              <a:rPr lang="en-US" b="1" dirty="0"/>
              <a:t>class definition </a:t>
            </a:r>
            <a:r>
              <a:rPr lang="en-US" dirty="0"/>
              <a:t>in our program would have a </a:t>
            </a:r>
            <a:r>
              <a:rPr lang="en-US" b="1" dirty="0"/>
              <a:t>Class object</a:t>
            </a:r>
            <a:r>
              <a:rPr lang="en-US" dirty="0"/>
              <a:t> that Java compiler automatically creates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CDE000-A790-B77D-615D-EF7F6B479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16355"/>
              </p:ext>
            </p:extLst>
          </p:nvPr>
        </p:nvGraphicFramePr>
        <p:xfrm>
          <a:off x="7293494" y="824089"/>
          <a:ext cx="3532550" cy="184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32550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com.ecs.Student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445BC7-AC35-6742-97AF-228ACF0EF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66820"/>
              </p:ext>
            </p:extLst>
          </p:nvPr>
        </p:nvGraphicFramePr>
        <p:xfrm>
          <a:off x="5358085" y="2908863"/>
          <a:ext cx="2713332" cy="3134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13332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Class&lt;?&gt;[] classes;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206CC12-EFEE-8C8B-842F-1DC6919177F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9188271" y="2544706"/>
            <a:ext cx="278725" cy="53572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4DBD69-DFA4-D870-B940-54C91F3CEF56}"/>
              </a:ext>
            </a:extLst>
          </p:cNvPr>
          <p:cNvSpPr txBox="1"/>
          <p:nvPr/>
        </p:nvSpPr>
        <p:spPr>
          <a:xfrm>
            <a:off x="10752454" y="1425483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Has an object</a:t>
            </a:r>
          </a:p>
          <a:p>
            <a:r>
              <a:rPr lang="en-US" b="1" i="1" dirty="0"/>
              <a:t>of type Class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617100E-219A-CF59-F91D-4BCFB085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77892"/>
              </p:ext>
            </p:extLst>
          </p:nvPr>
        </p:nvGraphicFramePr>
        <p:xfrm>
          <a:off x="8322616" y="2951934"/>
          <a:ext cx="2545764" cy="366850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45764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66506">
                <a:tc>
                  <a:txBody>
                    <a:bodyPr/>
                    <a:lstStyle/>
                    <a:p>
                      <a:r>
                        <a:rPr lang="en-US" dirty="0"/>
                        <a:t>Instance of Class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 = “</a:t>
                      </a:r>
                      <a:r>
                        <a:rPr lang="en-US" dirty="0" err="1"/>
                        <a:t>com.ecs.Student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classes = [];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constructors = [method1102];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fields = [field2304, field2305];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methods = [method1103, …]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and so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C7FD26A-558D-8CF8-53B5-E4F669BD20D6}"/>
              </a:ext>
            </a:extLst>
          </p:cNvPr>
          <p:cNvSpPr txBox="1"/>
          <p:nvPr/>
        </p:nvSpPr>
        <p:spPr>
          <a:xfrm>
            <a:off x="9852432" y="4351173"/>
            <a:ext cx="2229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Default constructor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59DC32-05F2-80AC-592A-868B8F90CEE4}"/>
              </a:ext>
            </a:extLst>
          </p:cNvPr>
          <p:cNvSpPr txBox="1"/>
          <p:nvPr/>
        </p:nvSpPr>
        <p:spPr>
          <a:xfrm>
            <a:off x="8950663" y="4786187"/>
            <a:ext cx="3241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Field objects for id and 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A15C1-1CFF-75B0-40D5-62BE858B2D8E}"/>
              </a:ext>
            </a:extLst>
          </p:cNvPr>
          <p:cNvSpPr txBox="1"/>
          <p:nvPr/>
        </p:nvSpPr>
        <p:spPr>
          <a:xfrm>
            <a:off x="8493243" y="5431348"/>
            <a:ext cx="3859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Method objects for </a:t>
            </a:r>
            <a:r>
              <a:rPr lang="en-US" sz="2000" b="1" i="1" dirty="0" err="1"/>
              <a:t>setId</a:t>
            </a:r>
            <a:r>
              <a:rPr lang="en-US" sz="2000" b="1" i="1" dirty="0"/>
              <a:t> and so on</a:t>
            </a:r>
          </a:p>
        </p:txBody>
      </p:sp>
    </p:spTree>
    <p:extLst>
      <p:ext uri="{BB962C8B-B14F-4D97-AF65-F5344CB8AC3E}">
        <p14:creationId xmlns:p14="http://schemas.microsoft.com/office/powerpoint/2010/main" val="125951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19" grpId="1"/>
      <p:bldP spid="21" grpId="0"/>
      <p:bldP spid="21" grpId="1"/>
      <p:bldP spid="22" grpId="0"/>
      <p:bldP spid="2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FD076-6B66-3B6F-3CC5-D4D5A096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provides API to inspect class information</a:t>
            </a:r>
          </a:p>
          <a:p>
            <a:r>
              <a:rPr lang="en-US" dirty="0"/>
              <a:t>Facilitates the dynamic selection of which method/field/constructor to invoke or access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E8E4D-13FE-9100-2526-DFA607A6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2385639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DA52-E94C-CE3C-A25C-A965ADEE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BC9883-1659-6D45-56C6-FB0F72047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 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B108A7-F6D4-361E-9A5A-13801147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541099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E6DA-01D2-C2FB-26EA-90BE135E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2848F-E33D-EEC3-0480-81E5EDF8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</a:p>
          <a:p>
            <a:pPr lvl="1"/>
            <a:r>
              <a:rPr lang="en-US" dirty="0"/>
              <a:t>You can perform these operations from within Java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AF8D45-3D61-855D-75BF-EAC8B76B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976796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2222C-E840-C0EA-2634-E9D907CF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483960-D1BA-7C9D-6495-2AE9E6CD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reflection?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592B8C-2DE2-E362-5002-80C1394FFA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Goal: reuse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logic, independent of the object type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06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3721D-2F5F-ABA7-7724-88DCAB41D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about an interface that other classes can implement?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public interface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public persist();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public class A implements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 …} 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4D8802-7B01-8233-9AA5-274D805F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</p:spTree>
    <p:extLst>
      <p:ext uri="{BB962C8B-B14F-4D97-AF65-F5344CB8AC3E}">
        <p14:creationId xmlns:p14="http://schemas.microsoft.com/office/powerpoint/2010/main" val="2546601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9F52-EAD6-D168-A296-EFAA99CB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E1AA4-0CA3-82E4-BD3C-4B5D8607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Car implements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model;</a:t>
            </a:r>
            <a:br>
              <a:rPr lang="en-US" dirty="0"/>
            </a:br>
            <a:r>
              <a:rPr lang="en-US" dirty="0"/>
              <a:t> 	private Integer year;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(“model”, </a:t>
            </a:r>
            <a:r>
              <a:rPr lang="en-US" dirty="0" err="1"/>
              <a:t>this.model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(“year”, </a:t>
            </a:r>
            <a:r>
              <a:rPr lang="en-US" dirty="0" err="1"/>
              <a:t>this.year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FE5681-608A-9CAF-3C02-B2A32EE5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283EC67-5628-0F9D-8992-283D9858A17F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public Post implements RedisPersistable {</a:t>
            </a:r>
            <a:br>
              <a:rPr lang="en-US"/>
            </a:br>
            <a:r>
              <a:rPr lang="en-US"/>
              <a:t>	private String content;</a:t>
            </a:r>
            <a:br>
              <a:rPr lang="en-US"/>
            </a:br>
            <a:r>
              <a:rPr lang="en-US"/>
              <a:t> 	private String createdAt;</a:t>
            </a:r>
            <a:br>
              <a:rPr lang="en-US"/>
            </a:br>
            <a:r>
              <a:rPr lang="en-US"/>
              <a:t>	public persist() {</a:t>
            </a:r>
            <a:br>
              <a:rPr lang="en-US"/>
            </a:br>
            <a:r>
              <a:rPr lang="en-US"/>
              <a:t>		Jedis jedis = new Jedis();</a:t>
            </a:r>
            <a:br>
              <a:rPr lang="en-US"/>
            </a:br>
            <a:r>
              <a:rPr lang="en-US"/>
              <a:t>		Map map = new HashMap();</a:t>
            </a:r>
            <a:br>
              <a:rPr lang="en-US"/>
            </a:br>
            <a:r>
              <a:rPr lang="en-US"/>
              <a:t>		map.put(“content”, this.content);</a:t>
            </a:r>
            <a:br>
              <a:rPr lang="en-US"/>
            </a:br>
            <a:r>
              <a:rPr lang="en-US"/>
              <a:t>		map.put(“createdAt”, this.createdAt);</a:t>
            </a:r>
            <a:br>
              <a:rPr lang="en-US"/>
            </a:br>
            <a:r>
              <a:rPr lang="en-US"/>
              <a:t>		jedis.hset(map);</a:t>
            </a:r>
            <a:br>
              <a:rPr lang="en-US"/>
            </a:br>
            <a:r>
              <a:rPr lang="en-US"/>
              <a:t>	}</a:t>
            </a:r>
            <a:br>
              <a:rPr lang="en-US"/>
            </a:br>
            <a:r>
              <a:rPr lang="en-US"/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04B27-AB5B-D354-99AE-6B6CCCD98CEC}"/>
              </a:ext>
            </a:extLst>
          </p:cNvPr>
          <p:cNvSpPr txBox="1"/>
          <p:nvPr/>
        </p:nvSpPr>
        <p:spPr>
          <a:xfrm>
            <a:off x="2844489" y="4372708"/>
            <a:ext cx="673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Does not result in any code reuse! </a:t>
            </a:r>
          </a:p>
        </p:txBody>
      </p:sp>
    </p:spTree>
    <p:extLst>
      <p:ext uri="{BB962C8B-B14F-4D97-AF65-F5344CB8AC3E}">
        <p14:creationId xmlns:p14="http://schemas.microsoft.com/office/powerpoint/2010/main" val="416457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F466-98E3-768D-64FA-6BD160CA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4FA6-BA1C-42CE-0B63-10FE90B5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about a class?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public persist()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	// …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  <a:p>
            <a:pPr lvl="1"/>
            <a:r>
              <a:rPr lang="en-US" dirty="0"/>
              <a:t>Problem: the parent class does not have access to the child class members -&gt; does not even work!!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FE14C2-7CF9-4D6D-334A-3E6E660C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</p:spTree>
    <p:extLst>
      <p:ext uri="{BB962C8B-B14F-4D97-AF65-F5344CB8AC3E}">
        <p14:creationId xmlns:p14="http://schemas.microsoft.com/office/powerpoint/2010/main" val="130489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2D9F-52D2-1992-7EC8-06DB85CE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97FD0-F3BE-1CCE-17EF-67BA2DD4F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Car extends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model;</a:t>
            </a:r>
            <a:br>
              <a:rPr lang="en-US" dirty="0"/>
            </a:br>
            <a:r>
              <a:rPr lang="en-US" dirty="0"/>
              <a:t> 	private Integer year;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(“model”, </a:t>
            </a:r>
            <a:r>
              <a:rPr lang="en-US" dirty="0" err="1"/>
              <a:t>this.model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(“year”, </a:t>
            </a:r>
            <a:r>
              <a:rPr lang="en-US" dirty="0" err="1"/>
              <a:t>this.year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89246B-63C7-8570-E178-3EC4C97B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647A444-C7B6-D3E5-7693-D2B420E491FD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public class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// Can’t access child class members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public Post extends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content;</a:t>
            </a:r>
            <a:br>
              <a:rPr lang="en-US" dirty="0"/>
            </a:br>
            <a:r>
              <a:rPr lang="en-US" dirty="0"/>
              <a:t> 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(“content”, </a:t>
            </a:r>
            <a:r>
              <a:rPr lang="en-US" dirty="0" err="1"/>
              <a:t>this.content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”, </a:t>
            </a:r>
            <a:r>
              <a:rPr lang="en-US" dirty="0" err="1"/>
              <a:t>this.createdAt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EC1713-63BB-EE19-2089-813FA586E0C7}"/>
              </a:ext>
            </a:extLst>
          </p:cNvPr>
          <p:cNvSpPr txBox="1"/>
          <p:nvPr/>
        </p:nvSpPr>
        <p:spPr>
          <a:xfrm>
            <a:off x="2809404" y="5099539"/>
            <a:ext cx="673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Does not result in any code reuse! </a:t>
            </a:r>
          </a:p>
        </p:txBody>
      </p:sp>
    </p:spTree>
    <p:extLst>
      <p:ext uri="{BB962C8B-B14F-4D97-AF65-F5344CB8AC3E}">
        <p14:creationId xmlns:p14="http://schemas.microsoft.com/office/powerpoint/2010/main" val="167209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BFAB-EA13-8BA2-6B65-58D73D55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184AB-F592-7CC0-96E6-C0FE0775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  <a:br>
              <a:rPr lang="en-US" dirty="0"/>
            </a:br>
            <a:r>
              <a:rPr lang="en-US" dirty="0"/>
              <a:t>class Car {}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</a:t>
            </a:r>
            <a:r>
              <a:rPr lang="en-US" dirty="0" err="1"/>
              <a:t>fieldVal.setAccessible</a:t>
            </a:r>
            <a:r>
              <a:rPr lang="en-US" dirty="0"/>
              <a:t>(true);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DB3350-FD6D-0479-7E2E-3604600A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reflection?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B6BF35B-97DB-F13A-2393-F3840BEC7BEA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4297E-5EB7-2EE8-F6CC-0BF628E94F59}"/>
              </a:ext>
            </a:extLst>
          </p:cNvPr>
          <p:cNvSpPr/>
          <p:nvPr/>
        </p:nvSpPr>
        <p:spPr>
          <a:xfrm>
            <a:off x="6435969" y="2309446"/>
            <a:ext cx="5111262" cy="192258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E9214-B5F5-9BF0-E8A8-5796AD066B00}"/>
              </a:ext>
            </a:extLst>
          </p:cNvPr>
          <p:cNvSpPr/>
          <p:nvPr/>
        </p:nvSpPr>
        <p:spPr>
          <a:xfrm>
            <a:off x="6176512" y="4759808"/>
            <a:ext cx="5111262" cy="123136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4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52DD-7E54-6D7E-4C37-A79D7EA7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1F9850-04FB-45C5-E201-470DD8FCF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f.getVal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 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06BFD3-BEED-2F1D-12BE-84226082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3907613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BD7-621E-EF52-C5A7-196C4FD0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66C8C-B51E-B158-F917-6BBDACDD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ClassLoader</a:t>
            </a:r>
            <a:r>
              <a:rPr lang="en-US" dirty="0">
                <a:latin typeface="Consolas" panose="020B0609020204030204" pitchFamily="49" charset="0"/>
              </a:rPr>
              <a:t> cl = </a:t>
            </a:r>
            <a:r>
              <a:rPr lang="en-US" dirty="0" err="1">
                <a:latin typeface="Consolas" panose="020B0609020204030204" pitchFamily="49" charset="0"/>
              </a:rPr>
              <a:t>ClassLoader.getSystemClassLoader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classesField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ClassLoader.class.getDeclaredField</a:t>
            </a:r>
            <a:r>
              <a:rPr lang="en-US" dirty="0">
                <a:latin typeface="Consolas" panose="020B0609020204030204" pitchFamily="49" charset="0"/>
              </a:rPr>
              <a:t>("classes");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classesField.setAccessible</a:t>
            </a:r>
            <a:r>
              <a:rPr lang="en-US" dirty="0">
                <a:latin typeface="Consolas" panose="020B0609020204030204" pitchFamily="49" charset="0"/>
              </a:rPr>
              <a:t>(true);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Vector&lt;Class&lt;?&gt;&gt; classes = (Vector&lt;Class&lt;?&gt;&gt;) </a:t>
            </a:r>
            <a:r>
              <a:rPr lang="en-US" dirty="0" err="1">
                <a:latin typeface="Consolas" panose="020B0609020204030204" pitchFamily="49" charset="0"/>
              </a:rPr>
              <a:t>classesField.get</a:t>
            </a:r>
            <a:r>
              <a:rPr lang="en-US" dirty="0">
                <a:latin typeface="Consolas" panose="020B0609020204030204" pitchFamily="49" charset="0"/>
              </a:rPr>
              <a:t>(cl);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for (Class&lt;?&gt; c : classes)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c.getName</a:t>
            </a:r>
            <a:r>
              <a:rPr lang="en-US" dirty="0">
                <a:latin typeface="Consolas" panose="020B0609020204030204" pitchFamily="49" charset="0"/>
              </a:rPr>
              <a:t>());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9B4DB3-DDD1-1E8C-7660-5616F7DD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all classes</a:t>
            </a:r>
          </a:p>
        </p:txBody>
      </p:sp>
    </p:spTree>
    <p:extLst>
      <p:ext uri="{BB962C8B-B14F-4D97-AF65-F5344CB8AC3E}">
        <p14:creationId xmlns:p14="http://schemas.microsoft.com/office/powerpoint/2010/main" val="1240786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CAB537-15A3-C239-8C9F-524030D4E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8743A-1F5A-AA77-6640-BB92E82404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Reflection, annotations, proxies</a:t>
            </a:r>
          </a:p>
        </p:txBody>
      </p:sp>
    </p:spTree>
    <p:extLst>
      <p:ext uri="{BB962C8B-B14F-4D97-AF65-F5344CB8AC3E}">
        <p14:creationId xmlns:p14="http://schemas.microsoft.com/office/powerpoint/2010/main" val="322872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FA25-8951-201A-8758-74304594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D515A7-FB73-7C40-6D81-B94916641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 // equivalent to calling </a:t>
            </a:r>
            <a:r>
              <a:rPr lang="en-US" dirty="0" err="1">
                <a:latin typeface="Consolas" panose="020B0609020204030204" pitchFamily="49" charset="0"/>
              </a:rPr>
              <a:t>obj.m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f.getVal</a:t>
            </a:r>
            <a:r>
              <a:rPr lang="en-US" dirty="0">
                <a:latin typeface="Consolas" panose="020B0609020204030204" pitchFamily="49" charset="0"/>
              </a:rPr>
              <a:t>(obj); // equivalent to </a:t>
            </a:r>
            <a:r>
              <a:rPr lang="en-US" dirty="0" err="1">
                <a:latin typeface="Consolas" panose="020B0609020204030204" pitchFamily="49" charset="0"/>
              </a:rPr>
              <a:t>obj.f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Load classes using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ClassLoader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C05F55-8B6B-8F37-076C-2393D9C9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799516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EE86B-F486-35F1-EF70-6AF0D761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 framework that invokes all methods in all classes whose names start with Test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321D80-C798-C115-249D-E13D2CE5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design problem</a:t>
            </a:r>
          </a:p>
        </p:txBody>
      </p:sp>
    </p:spTree>
    <p:extLst>
      <p:ext uri="{BB962C8B-B14F-4D97-AF65-F5344CB8AC3E}">
        <p14:creationId xmlns:p14="http://schemas.microsoft.com/office/powerpoint/2010/main" val="41900926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DDEB-0359-470C-3336-7BDF8225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40E0D-60C8-8DC2-0DB4-78A561648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 a framework that invokes all methods in all classes whose names start with Test</a:t>
            </a:r>
          </a:p>
          <a:p>
            <a:r>
              <a:rPr lang="en-US" dirty="0"/>
              <a:t>Pseudo-code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List&lt;class&gt; classes = </a:t>
            </a:r>
            <a:r>
              <a:rPr lang="en-US" dirty="0" err="1">
                <a:latin typeface="Consolas" panose="020B0609020204030204" pitchFamily="49" charset="0"/>
              </a:rPr>
              <a:t>classLoader.getClasses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for (Class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: classes)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if (</a:t>
            </a:r>
            <a:r>
              <a:rPr lang="en-US" dirty="0" err="1">
                <a:latin typeface="Consolas" panose="020B0609020204030204" pitchFamily="49" charset="0"/>
              </a:rPr>
              <a:t>clazz.getName</a:t>
            </a:r>
            <a:r>
              <a:rPr lang="en-US" dirty="0">
                <a:latin typeface="Consolas" panose="020B0609020204030204" pitchFamily="49" charset="0"/>
              </a:rPr>
              <a:t>().</a:t>
            </a:r>
            <a:r>
              <a:rPr lang="en-US" dirty="0" err="1">
                <a:latin typeface="Consolas" panose="020B0609020204030204" pitchFamily="49" charset="0"/>
              </a:rPr>
              <a:t>startsWith</a:t>
            </a:r>
            <a:r>
              <a:rPr lang="en-US" dirty="0">
                <a:latin typeface="Consolas" panose="020B0609020204030204" pitchFamily="49" charset="0"/>
              </a:rPr>
              <a:t>(“Test”)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Object o = </a:t>
            </a:r>
            <a:r>
              <a:rPr lang="en-US" dirty="0" err="1">
                <a:latin typeface="Consolas" panose="020B0609020204030204" pitchFamily="49" charset="0"/>
              </a:rPr>
              <a:t>clazz.constructor.invoke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for (Method m: </a:t>
            </a:r>
            <a:r>
              <a:rPr lang="en-US" dirty="0" err="1">
                <a:latin typeface="Consolas" panose="020B0609020204030204" pitchFamily="49" charset="0"/>
              </a:rPr>
              <a:t>clazz.getDeclaredMethods</a:t>
            </a:r>
            <a:r>
              <a:rPr lang="en-US" dirty="0">
                <a:latin typeface="Consolas" panose="020B0609020204030204" pitchFamily="49" charset="0"/>
              </a:rPr>
              <a:t>())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E552D8-F860-6F13-2A3F-C1E131D9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design problem</a:t>
            </a:r>
          </a:p>
        </p:txBody>
      </p:sp>
    </p:spTree>
    <p:extLst>
      <p:ext uri="{BB962C8B-B14F-4D97-AF65-F5344CB8AC3E}">
        <p14:creationId xmlns:p14="http://schemas.microsoft.com/office/powerpoint/2010/main" val="2814814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8132B-7652-EBF5-BD2F-BBDFF618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all classes whose name starts with </a:t>
            </a:r>
            <a:r>
              <a:rPr lang="en-US" dirty="0" err="1">
                <a:latin typeface="Consolas" panose="020B0609020204030204" pitchFamily="49" charset="0"/>
              </a:rPr>
              <a:t>LLMService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(e.g.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LLMServiceOllama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LLMServiceGPT4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These classes will contain a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method that queries the LLM with the query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q.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Design a class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LLMInvoker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that has a function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invokeLLM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that invokes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method on all classes whose name starts with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8EE3F7-221F-5646-3E97-7127343C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3222861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2B60-3076-1146-7285-BF6DDA6E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A1842-1736-197B-923E-0A123BADB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class Plugin { Object o; Method m; // getters setters}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List&lt;Class&gt; classes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classLoader.getClasses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for (Class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: classes)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if (clazz.name().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startswith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(“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”))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clazz.constructor.invoke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for (Method m: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clazz.getDeclaredMethods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if 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m.getName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startsWith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(“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”))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   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plugins.push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(new Plugin(o, m));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  <a:p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invokeLLM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for (Plugin p: plugins)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p.getMethod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().invoke(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p.getObject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(), s);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6C1007-6245-5BA2-2950-4AB95D1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2726734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41676B-5781-067B-2D32-192EFCDF6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Auto-wiring</a:t>
            </a:r>
          </a:p>
          <a:p>
            <a:r>
              <a:rPr lang="en-US" dirty="0"/>
              <a:t>Can’t express </a:t>
            </a:r>
            <a:r>
              <a:rPr lang="en-US" dirty="0" err="1"/>
              <a:t>autowiring</a:t>
            </a:r>
            <a:r>
              <a:rPr lang="en-US" dirty="0"/>
              <a:t> using compile time reflection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656550-DD39-5BC7-5D88-BB8D35D6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7225537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4C85C-5897-0D20-4F31-AB61212F8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   </a:t>
            </a:r>
            <a:r>
              <a:rPr lang="en-US" dirty="0" err="1"/>
              <a:t>fieldVal.setAccessible</a:t>
            </a:r>
            <a:r>
              <a:rPr lang="en-US" dirty="0"/>
              <a:t>(true);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6BF52-F05E-2158-3F0B-FB12A381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previous 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F26F62-65B9-0A68-8FB0-9D897C763A9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 fields saved</a:t>
            </a:r>
          </a:p>
          <a:p>
            <a:r>
              <a:rPr lang="en-US" dirty="0"/>
              <a:t>What if we want only a subset of all fields persisted?</a:t>
            </a:r>
          </a:p>
          <a:p>
            <a:r>
              <a:rPr lang="en-US" dirty="0"/>
              <a:t>Solution: annotations</a:t>
            </a:r>
          </a:p>
        </p:txBody>
      </p:sp>
    </p:spTree>
    <p:extLst>
      <p:ext uri="{BB962C8B-B14F-4D97-AF65-F5344CB8AC3E}">
        <p14:creationId xmlns:p14="http://schemas.microsoft.com/office/powerpoint/2010/main" val="318671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1992E0-264E-E8C4-45A6-F25A79392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Annotations are “metadata” added to Java code</a:t>
            </a:r>
          </a:p>
          <a:p>
            <a:r>
              <a:rPr lang="en-US" dirty="0"/>
              <a:t>They have no direct impact on code execution at runtime</a:t>
            </a:r>
          </a:p>
          <a:p>
            <a:r>
              <a:rPr lang="en-US" dirty="0"/>
              <a:t>Java provides some annotations, programmer can define more</a:t>
            </a:r>
          </a:p>
          <a:p>
            <a:r>
              <a:rPr lang="en-US" dirty="0"/>
              <a:t>Syntax: </a:t>
            </a:r>
            <a:r>
              <a:rPr lang="en-US" dirty="0">
                <a:latin typeface="Consolas" panose="020B0609020204030204" pitchFamily="49" charset="0"/>
              </a:rPr>
              <a:t>@Annotation_name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Widely used in popular frameworks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FDE99F-9DB2-37B7-D73A-06DF675F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Java annotations</a:t>
            </a:r>
          </a:p>
        </p:txBody>
      </p:sp>
    </p:spTree>
    <p:extLst>
      <p:ext uri="{BB962C8B-B14F-4D97-AF65-F5344CB8AC3E}">
        <p14:creationId xmlns:p14="http://schemas.microsoft.com/office/powerpoint/2010/main" val="20760957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4786E0-30A9-C73A-2750-73E59C32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Annotations can be applied to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Fields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… many other program elements (Check </a:t>
            </a:r>
            <a:r>
              <a:rPr lang="en-US" dirty="0">
                <a:hlinkClick r:id="rId2"/>
              </a:rPr>
              <a:t>https://docs.oracle.com/javase/tutorial/java/annotations/basics.html</a:t>
            </a:r>
            <a:r>
              <a:rPr lang="en-US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54EA7C-8586-82C8-4337-025747E5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targets</a:t>
            </a:r>
          </a:p>
        </p:txBody>
      </p:sp>
    </p:spTree>
    <p:extLst>
      <p:ext uri="{BB962C8B-B14F-4D97-AF65-F5344CB8AC3E}">
        <p14:creationId xmlns:p14="http://schemas.microsoft.com/office/powerpoint/2010/main" val="3970763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4EB6EA-FFC1-5248-BC28-BBDF6E0AC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public void start() {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(“Vehicle starts”);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Bicycle extends Vehicle {</a:t>
            </a:r>
          </a:p>
          <a:p>
            <a:r>
              <a:rPr lang="en-US" dirty="0"/>
              <a:t>	</a:t>
            </a:r>
            <a:r>
              <a:rPr lang="en-US" b="1" dirty="0"/>
              <a:t>@Override </a:t>
            </a:r>
          </a:p>
          <a:p>
            <a:r>
              <a:rPr lang="en-US" b="1" dirty="0"/>
              <a:t>	</a:t>
            </a:r>
            <a:r>
              <a:rPr lang="en-US" dirty="0"/>
              <a:t>public void start() { ... }</a:t>
            </a:r>
          </a:p>
          <a:p>
            <a:endParaRPr lang="en-US" b="1" dirty="0"/>
          </a:p>
          <a:p>
            <a:r>
              <a:rPr lang="en-US" b="1" dirty="0"/>
              <a:t>	@Override </a:t>
            </a:r>
            <a:r>
              <a:rPr lang="en-US" b="1" dirty="0">
                <a:solidFill>
                  <a:srgbClr val="FF0000"/>
                </a:solidFill>
              </a:rPr>
              <a:t>// COMPILER ERROR!</a:t>
            </a:r>
          </a:p>
          <a:p>
            <a:r>
              <a:rPr lang="en-US" b="1" dirty="0"/>
              <a:t>	</a:t>
            </a:r>
            <a:r>
              <a:rPr lang="en-US" dirty="0"/>
              <a:t>public void stop() { ... }</a:t>
            </a:r>
            <a:endParaRPr lang="en-US" b="1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29CE88-35D4-A9AD-6EC3-92A42683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 for compiler checks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F7F2D-F153-4FBC-2FAB-49A0B8F9939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Additional information for the compiler</a:t>
            </a:r>
          </a:p>
          <a:p>
            <a:pPr lvl="1"/>
            <a:r>
              <a:rPr lang="en-US" dirty="0"/>
              <a:t>Detect errors</a:t>
            </a:r>
          </a:p>
          <a:p>
            <a:pPr lvl="1"/>
            <a:r>
              <a:rPr lang="en-US" dirty="0"/>
              <a:t>Suppress warnings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Common predefined annotations</a:t>
            </a:r>
          </a:p>
          <a:p>
            <a:pPr lvl="1"/>
            <a:r>
              <a:rPr lang="en-US" dirty="0"/>
              <a:t>@Override, @Deprecated, @SuppressWarnings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446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32561-1DD0-B452-94F1-ACFA6612F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@Override</a:t>
            </a:r>
          </a:p>
          <a:p>
            <a:pPr lvl="1"/>
            <a:r>
              <a:rPr lang="en-US" dirty="0"/>
              <a:t>The annotated method must override a parent method. If not, results in compiler error</a:t>
            </a:r>
          </a:p>
          <a:p>
            <a:r>
              <a:rPr lang="en-US" dirty="0">
                <a:latin typeface="Consolas" panose="020B0609020204030204" pitchFamily="49" charset="0"/>
              </a:rPr>
              <a:t>@Deprecated</a:t>
            </a:r>
          </a:p>
          <a:p>
            <a:pPr lvl="1"/>
            <a:r>
              <a:rPr lang="en-US" dirty="0"/>
              <a:t>The annotated method is deprecated and will show a compiler warning if used</a:t>
            </a:r>
          </a:p>
          <a:p>
            <a:r>
              <a:rPr lang="en-US" dirty="0">
                <a:latin typeface="Consolas" panose="020B0609020204030204" pitchFamily="49" charset="0"/>
              </a:rPr>
              <a:t>@SuppressWarnings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Compiler errors for the annotated entity are suppressed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D39989-15AB-886C-722D-ACC8C273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common predefined annotations</a:t>
            </a:r>
          </a:p>
        </p:txBody>
      </p:sp>
    </p:spTree>
    <p:extLst>
      <p:ext uri="{BB962C8B-B14F-4D97-AF65-F5344CB8AC3E}">
        <p14:creationId xmlns:p14="http://schemas.microsoft.com/office/powerpoint/2010/main" val="36037340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6EF2B-5FE9-BA79-A698-0374093B2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@interface </a:t>
            </a:r>
            <a:r>
              <a:rPr lang="en-US" dirty="0" err="1">
                <a:latin typeface="Consolas" panose="020B0609020204030204" pitchFamily="49" charset="0"/>
              </a:rPr>
              <a:t>MyAnnotation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author();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date();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</a:rPr>
              <a:t>currentRevision</a:t>
            </a:r>
            <a:r>
              <a:rPr lang="en-US" dirty="0">
                <a:latin typeface="Consolas" panose="020B0609020204030204" pitchFamily="49" charset="0"/>
              </a:rPr>
              <a:t>() default 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lastModifiedBy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@MyAnnotation (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	author = "John Doe",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	date = "3/17/2002",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public class Car extends Vehicle {</a:t>
            </a:r>
          </a:p>
          <a:p>
            <a:pPr marL="0" indent="0">
              <a:buNone/>
            </a:pPr>
            <a:r>
              <a:rPr lang="en-US" dirty="0"/>
              <a:t> 	// ...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A0BAF9-8A52-CC4B-890C-406C124A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new annotations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2AB434-F665-256B-7D0F-A8575D33AC4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Annotation definition must begin with @interface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Annotations can have multiple fields</a:t>
            </a:r>
          </a:p>
          <a:p>
            <a:pPr lvl="1"/>
            <a:r>
              <a:rPr lang="en-US" i="1" dirty="0"/>
              <a:t>Annotation type element</a:t>
            </a:r>
            <a:r>
              <a:rPr lang="en-US" dirty="0"/>
              <a:t> declarations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Each field has a constructor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Constructors can have default values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Fields can consist of arrays</a:t>
            </a:r>
          </a:p>
        </p:txBody>
      </p:sp>
    </p:spTree>
    <p:extLst>
      <p:ext uri="{BB962C8B-B14F-4D97-AF65-F5344CB8AC3E}">
        <p14:creationId xmlns:p14="http://schemas.microsoft.com/office/powerpoint/2010/main" val="2094696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CEB8C93-C383-DCB6-8276-0744F67E0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D6F94-EAEF-47A1-29DA-E912ECFD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compilation toolchain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884BB8E2-CD2F-24EE-4766-DE60BE23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31007-323F-3C35-FBB9-FCBE39F65E5D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B784D-D091-3AC1-0DF6-4379730F242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7533D0-0505-CE0E-710A-DCE13F3D0234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FF4E2-41E6-A27C-D6B9-CF938C87C74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1A02A9-9137-2E8C-0611-0F2E25159F56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088C-CDAD-A8AE-B859-AA0128B9CFB0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865BB954-BFAD-5B1D-CB6D-7CD2AAF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B4FDD60-D06F-AFF4-D6DB-CF810F7EE179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8314C-D9ED-FFFA-D3F2-680951061D0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3644C-3433-6C37-255A-DB842901A3A6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66E787-B7FE-07C0-4EEB-3FB409A640DC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87A529D5-9756-5C86-68B9-2F6754AD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20B7AA0-0AD3-6AEA-B819-2D57056C5A79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4F1DB-A369-A3AC-7746-30416703DB5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14B39E-505D-1010-575D-611FC014BC35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9F6B781F-9DDC-72E6-2BB0-1D082BA83B80}"/>
              </a:ext>
            </a:extLst>
          </p:cNvPr>
          <p:cNvSpPr/>
          <p:nvPr/>
        </p:nvSpPr>
        <p:spPr>
          <a:xfrm>
            <a:off x="2204874" y="4647698"/>
            <a:ext cx="2227732" cy="950194"/>
          </a:xfrm>
          <a:prstGeom prst="wedgeRectCallout">
            <a:avLst>
              <a:gd name="adj1" fmla="val -16367"/>
              <a:gd name="adj2" fmla="val -21577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only in the compiler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9C60CC24-8351-8F1B-CB58-BC3B5F1FEB5B}"/>
              </a:ext>
            </a:extLst>
          </p:cNvPr>
          <p:cNvSpPr/>
          <p:nvPr/>
        </p:nvSpPr>
        <p:spPr>
          <a:xfrm>
            <a:off x="7066434" y="4852821"/>
            <a:ext cx="2227732" cy="950194"/>
          </a:xfrm>
          <a:prstGeom prst="wedgeRectCallout">
            <a:avLst>
              <a:gd name="adj1" fmla="val -18077"/>
              <a:gd name="adj2" fmla="val -173271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at runtime</a:t>
            </a:r>
          </a:p>
        </p:txBody>
      </p:sp>
    </p:spTree>
    <p:extLst>
      <p:ext uri="{BB962C8B-B14F-4D97-AF65-F5344CB8AC3E}">
        <p14:creationId xmlns:p14="http://schemas.microsoft.com/office/powerpoint/2010/main" val="374833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86D8F-306F-6817-E33A-67F89448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check if annotation is present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… 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clazz.isAnnotationPresent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MyAnnotation.class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Field </a:t>
            </a:r>
            <a:r>
              <a:rPr lang="en-US" dirty="0" err="1">
                <a:latin typeface="Consolas" panose="020B0609020204030204" pitchFamily="49" charset="0"/>
              </a:rPr>
              <a:t>field</a:t>
            </a:r>
            <a:r>
              <a:rPr lang="en-US" dirty="0">
                <a:latin typeface="Consolas" panose="020B0609020204030204" pitchFamily="49" charset="0"/>
              </a:rPr>
              <a:t> = …;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field.isAnnotationPresent</a:t>
            </a:r>
            <a:r>
              <a:rPr lang="en-US" dirty="0">
                <a:latin typeface="Consolas" panose="020B0609020204030204" pitchFamily="49" charset="0"/>
              </a:rPr>
              <a:t>(…);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Same for </a:t>
            </a:r>
            <a:r>
              <a:rPr lang="en-US" dirty="0">
                <a:latin typeface="Consolas" panose="020B0609020204030204" pitchFamily="49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get the annotation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clazz.getAnnotation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MyAnnotation.class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)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get the values of the annotation element fields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 class demo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EC9A7F-DA34-89C2-E69E-58A212B4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can access annotations</a:t>
            </a:r>
          </a:p>
        </p:txBody>
      </p:sp>
    </p:spTree>
    <p:extLst>
      <p:ext uri="{BB962C8B-B14F-4D97-AF65-F5344CB8AC3E}">
        <p14:creationId xmlns:p14="http://schemas.microsoft.com/office/powerpoint/2010/main" val="36837471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A0F1-840C-8524-5AE5-F812023D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A2F464-6369-1490-2630-DD3DB46F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98B28F-EA5A-D8B0-7228-C6868C41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previous 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EBE3F5-428B-2059-CABD-FF97731EF3D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 fields saved</a:t>
            </a:r>
          </a:p>
          <a:p>
            <a:r>
              <a:rPr lang="en-US" dirty="0"/>
              <a:t>What if we want only a subset of all fields persisted?</a:t>
            </a:r>
          </a:p>
          <a:p>
            <a:r>
              <a:rPr lang="en-US" dirty="0"/>
              <a:t>Solution: annotations</a:t>
            </a:r>
          </a:p>
        </p:txBody>
      </p:sp>
    </p:spTree>
    <p:extLst>
      <p:ext uri="{BB962C8B-B14F-4D97-AF65-F5344CB8AC3E}">
        <p14:creationId xmlns:p14="http://schemas.microsoft.com/office/powerpoint/2010/main" val="14815770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F0B6-2AA6-E56E-7591-EEC288C4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9BF493-146A-67EA-02EF-1FB6D8DC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7318"/>
            <a:ext cx="6224954" cy="5428006"/>
          </a:xfrm>
        </p:spPr>
        <p:txBody>
          <a:bodyPr>
            <a:noAutofit/>
          </a:bodyPr>
          <a:lstStyle/>
          <a:p>
            <a:r>
              <a:rPr lang="en-US" sz="1400" b="1" dirty="0"/>
              <a:t>@Retention(RetentionPolicy.RUNTIME)</a:t>
            </a:r>
          </a:p>
          <a:p>
            <a:r>
              <a:rPr lang="en-US" sz="1400" b="1" dirty="0"/>
              <a:t>public @interface </a:t>
            </a:r>
            <a:r>
              <a:rPr lang="en-US" sz="1400" b="1" dirty="0" err="1"/>
              <a:t>Persistable</a:t>
            </a:r>
            <a:r>
              <a:rPr lang="en-US" sz="1400" b="1" dirty="0"/>
              <a:t> {</a:t>
            </a:r>
          </a:p>
          <a:p>
            <a:r>
              <a:rPr lang="en-US" sz="1400" b="1" dirty="0"/>
              <a:t>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class Post { </a:t>
            </a:r>
          </a:p>
          <a:p>
            <a:r>
              <a:rPr lang="en-US" sz="1400" dirty="0"/>
              <a:t>	</a:t>
            </a:r>
            <a:r>
              <a:rPr lang="en-US" sz="1400" b="1" dirty="0"/>
              <a:t>@Persistable</a:t>
            </a:r>
          </a:p>
          <a:p>
            <a:r>
              <a:rPr lang="en-US" sz="1400" dirty="0"/>
              <a:t>	private String content;</a:t>
            </a:r>
          </a:p>
          <a:p>
            <a:r>
              <a:rPr lang="en-US" sz="1400" dirty="0"/>
              <a:t>	private Integer </a:t>
            </a:r>
            <a:r>
              <a:rPr lang="en-US" sz="1400" dirty="0" err="1"/>
              <a:t>tempVal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RedisDB</a:t>
            </a:r>
            <a:r>
              <a:rPr lang="en-US" sz="1400" dirty="0"/>
              <a:t> {</a:t>
            </a:r>
          </a:p>
          <a:p>
            <a:r>
              <a:rPr lang="en-US" sz="1400" dirty="0"/>
              <a:t>	// … set up Jedis Session</a:t>
            </a:r>
          </a:p>
          <a:p>
            <a:r>
              <a:rPr lang="en-US" sz="1400" dirty="0"/>
              <a:t>	public void </a:t>
            </a:r>
            <a:r>
              <a:rPr lang="en-US" sz="1400" dirty="0" err="1"/>
              <a:t>persistAll</a:t>
            </a:r>
            <a:r>
              <a:rPr lang="en-US" sz="1400" dirty="0"/>
              <a:t>(Object obj) {</a:t>
            </a:r>
          </a:p>
          <a:p>
            <a:r>
              <a:rPr lang="en-US" sz="1400" dirty="0"/>
              <a:t>		Map&lt;String, String&gt; </a:t>
            </a:r>
            <a:r>
              <a:rPr lang="en-US" sz="1400" dirty="0" err="1"/>
              <a:t>postMap</a:t>
            </a:r>
            <a:r>
              <a:rPr lang="en-US" sz="1400" dirty="0"/>
              <a:t>;</a:t>
            </a:r>
          </a:p>
          <a:p>
            <a:r>
              <a:rPr lang="en-US" sz="1400" dirty="0"/>
              <a:t>		for (Field f: </a:t>
            </a:r>
            <a:r>
              <a:rPr lang="en-US" sz="1400" dirty="0" err="1"/>
              <a:t>obj.getDeclaredFields</a:t>
            </a:r>
            <a:r>
              <a:rPr lang="en-US" sz="1400" dirty="0"/>
              <a:t>()) {</a:t>
            </a:r>
          </a:p>
          <a:p>
            <a:r>
              <a:rPr lang="en-US" sz="1400" dirty="0"/>
              <a:t>		   if (</a:t>
            </a:r>
            <a:r>
              <a:rPr lang="en-US" sz="1400" b="1" dirty="0" err="1"/>
              <a:t>f.isAnnotationPresent</a:t>
            </a:r>
            <a:r>
              <a:rPr lang="en-US" sz="1400" b="1" dirty="0"/>
              <a:t>(</a:t>
            </a:r>
            <a:r>
              <a:rPr lang="en-US" sz="1400" b="1" dirty="0" err="1"/>
              <a:t>Persistable.class</a:t>
            </a:r>
            <a:r>
              <a:rPr lang="en-US" sz="1400" dirty="0"/>
              <a:t>) {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f.setAccessible</a:t>
            </a:r>
            <a:r>
              <a:rPr lang="en-US" sz="1400" dirty="0"/>
              <a:t>(true);</a:t>
            </a:r>
          </a:p>
          <a:p>
            <a:r>
              <a:rPr lang="en-US" sz="1400" dirty="0"/>
              <a:t>		      String fieldname = </a:t>
            </a:r>
            <a:r>
              <a:rPr lang="en-US" sz="1400" dirty="0" err="1"/>
              <a:t>f.getName</a:t>
            </a:r>
            <a:r>
              <a:rPr lang="en-US" sz="1400" dirty="0"/>
              <a:t>();</a:t>
            </a:r>
          </a:p>
          <a:p>
            <a:r>
              <a:rPr lang="en-US" sz="1400" dirty="0"/>
              <a:t>		      Object </a:t>
            </a:r>
            <a:r>
              <a:rPr lang="en-US" sz="1400" dirty="0" err="1"/>
              <a:t>fieldVal</a:t>
            </a:r>
            <a:r>
              <a:rPr lang="en-US" sz="1400" dirty="0"/>
              <a:t> = </a:t>
            </a:r>
            <a:r>
              <a:rPr lang="en-US" sz="1400" dirty="0" err="1"/>
              <a:t>f.get</a:t>
            </a:r>
            <a:r>
              <a:rPr lang="en-US" sz="1400" dirty="0"/>
              <a:t>(obj);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postMap.put</a:t>
            </a:r>
            <a:r>
              <a:rPr lang="en-US" sz="1400" dirty="0"/>
              <a:t>(fieldname, </a:t>
            </a:r>
            <a:r>
              <a:rPr lang="en-US" sz="1400" dirty="0" err="1"/>
              <a:t>fieldVal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		   }</a:t>
            </a:r>
          </a:p>
          <a:p>
            <a:r>
              <a:rPr lang="en-US" sz="1400" dirty="0"/>
              <a:t>		}</a:t>
            </a:r>
          </a:p>
          <a:p>
            <a:r>
              <a:rPr lang="en-US" sz="1400" dirty="0"/>
              <a:t>		</a:t>
            </a:r>
            <a:r>
              <a:rPr lang="en-US" sz="1400" dirty="0" err="1"/>
              <a:t>jedis.hset</a:t>
            </a:r>
            <a:r>
              <a:rPr lang="en-US" sz="1400" dirty="0"/>
              <a:t>(id++, </a:t>
            </a:r>
            <a:r>
              <a:rPr lang="en-US" sz="1400" dirty="0" err="1"/>
              <a:t>postMap</a:t>
            </a:r>
            <a:r>
              <a:rPr lang="en-US" sz="1400" dirty="0"/>
              <a:t>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85867D-2E46-D1D9-AC0A-0C041C9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solution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86A061-20C0-9569-3AA8-E21AC3E28B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Create an annotation @Persistable with Runtime retention policy</a:t>
            </a:r>
          </a:p>
          <a:p>
            <a:r>
              <a:rPr lang="en-US" dirty="0"/>
              <a:t>Annotate only some fields </a:t>
            </a:r>
          </a:p>
          <a:p>
            <a:r>
              <a:rPr lang="en-US" dirty="0"/>
              <a:t>When persisting the fields, check if the annotation is present</a:t>
            </a:r>
          </a:p>
          <a:p>
            <a:pPr lvl="1"/>
            <a:r>
              <a:rPr lang="en-US" dirty="0"/>
              <a:t>Only persist if the annotation is present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4C0806-68BD-01C5-1D43-80DC9B640C05}"/>
              </a:ext>
            </a:extLst>
          </p:cNvPr>
          <p:cNvSpPr/>
          <p:nvPr/>
        </p:nvSpPr>
        <p:spPr>
          <a:xfrm>
            <a:off x="6015487" y="527318"/>
            <a:ext cx="5111262" cy="8325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8EB23-1D02-17F8-5C5F-E621F3985093}"/>
              </a:ext>
            </a:extLst>
          </p:cNvPr>
          <p:cNvSpPr/>
          <p:nvPr/>
        </p:nvSpPr>
        <p:spPr>
          <a:xfrm>
            <a:off x="6015487" y="1594118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D520D-66D3-35F0-E3A1-152168215393}"/>
              </a:ext>
            </a:extLst>
          </p:cNvPr>
          <p:cNvSpPr/>
          <p:nvPr/>
        </p:nvSpPr>
        <p:spPr>
          <a:xfrm>
            <a:off x="6800932" y="3552093"/>
            <a:ext cx="5238667" cy="476998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0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B921-C71D-DCC2-14F7-6E4786C9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652E9C-054C-C266-5F86-3B66D9DE2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7318"/>
            <a:ext cx="6224954" cy="5428006"/>
          </a:xfrm>
        </p:spPr>
        <p:txBody>
          <a:bodyPr>
            <a:noAutofit/>
          </a:bodyPr>
          <a:lstStyle/>
          <a:p>
            <a:r>
              <a:rPr lang="en-US" sz="1400" b="1" dirty="0"/>
              <a:t>@Retention(RetentionPolicy.RUNTIME)</a:t>
            </a:r>
          </a:p>
          <a:p>
            <a:r>
              <a:rPr lang="en-US" sz="1400" b="1" dirty="0"/>
              <a:t>public @interface </a:t>
            </a:r>
            <a:r>
              <a:rPr lang="en-US" sz="1400" b="1" dirty="0" err="1"/>
              <a:t>Persistable</a:t>
            </a:r>
            <a:r>
              <a:rPr lang="en-US" sz="1400" b="1" dirty="0"/>
              <a:t> {</a:t>
            </a:r>
          </a:p>
          <a:p>
            <a:r>
              <a:rPr lang="en-US" sz="1400" b="1" dirty="0"/>
              <a:t>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class Post { </a:t>
            </a:r>
          </a:p>
          <a:p>
            <a:r>
              <a:rPr lang="en-US" sz="1400" dirty="0"/>
              <a:t>	</a:t>
            </a:r>
            <a:r>
              <a:rPr lang="en-US" sz="1400" b="1" dirty="0"/>
              <a:t>@Persistable</a:t>
            </a:r>
          </a:p>
          <a:p>
            <a:r>
              <a:rPr lang="en-US" sz="1400" dirty="0"/>
              <a:t>	private String content;</a:t>
            </a:r>
          </a:p>
          <a:p>
            <a:r>
              <a:rPr lang="en-US" sz="1400" dirty="0"/>
              <a:t>	private Integer </a:t>
            </a:r>
            <a:r>
              <a:rPr lang="en-US" sz="1400" dirty="0" err="1"/>
              <a:t>tempVal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RedisDB</a:t>
            </a:r>
            <a:r>
              <a:rPr lang="en-US" sz="1400" dirty="0"/>
              <a:t> {</a:t>
            </a:r>
          </a:p>
          <a:p>
            <a:r>
              <a:rPr lang="en-US" sz="1400" dirty="0"/>
              <a:t>	// … set up Jedis Session</a:t>
            </a:r>
          </a:p>
          <a:p>
            <a:r>
              <a:rPr lang="en-US" sz="1400" dirty="0"/>
              <a:t>	public void </a:t>
            </a:r>
            <a:r>
              <a:rPr lang="en-US" sz="1400" dirty="0" err="1"/>
              <a:t>persistAll</a:t>
            </a:r>
            <a:r>
              <a:rPr lang="en-US" sz="1400" dirty="0"/>
              <a:t>(Object obj) {</a:t>
            </a:r>
          </a:p>
          <a:p>
            <a:r>
              <a:rPr lang="en-US" sz="1400" dirty="0"/>
              <a:t>		Map&lt;String, String&gt; </a:t>
            </a:r>
            <a:r>
              <a:rPr lang="en-US" sz="1400" dirty="0" err="1"/>
              <a:t>postMap</a:t>
            </a:r>
            <a:r>
              <a:rPr lang="en-US" sz="1400" dirty="0"/>
              <a:t>;</a:t>
            </a:r>
          </a:p>
          <a:p>
            <a:r>
              <a:rPr lang="en-US" sz="1400" dirty="0"/>
              <a:t>		for (Field f: </a:t>
            </a:r>
            <a:r>
              <a:rPr lang="en-US" sz="1400" dirty="0" err="1"/>
              <a:t>obj.getDeclaredFields</a:t>
            </a:r>
            <a:r>
              <a:rPr lang="en-US" sz="1400" dirty="0"/>
              <a:t>()) {</a:t>
            </a:r>
          </a:p>
          <a:p>
            <a:r>
              <a:rPr lang="en-US" sz="1400" dirty="0"/>
              <a:t>		   if (</a:t>
            </a:r>
            <a:r>
              <a:rPr lang="en-US" sz="1400" b="1" dirty="0" err="1"/>
              <a:t>f.isAnnotationPresent</a:t>
            </a:r>
            <a:r>
              <a:rPr lang="en-US" sz="1400" b="1" dirty="0"/>
              <a:t>(</a:t>
            </a:r>
            <a:r>
              <a:rPr lang="en-US" sz="1400" b="1" dirty="0" err="1"/>
              <a:t>Persistable.class</a:t>
            </a:r>
            <a:r>
              <a:rPr lang="en-US" sz="1400" dirty="0"/>
              <a:t>) {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f.setAccessible</a:t>
            </a:r>
            <a:r>
              <a:rPr lang="en-US" sz="1400" dirty="0"/>
              <a:t>(true);</a:t>
            </a:r>
          </a:p>
          <a:p>
            <a:r>
              <a:rPr lang="en-US" sz="1400" dirty="0"/>
              <a:t>		      String fieldname = </a:t>
            </a:r>
            <a:r>
              <a:rPr lang="en-US" sz="1400" dirty="0" err="1"/>
              <a:t>f.getName</a:t>
            </a:r>
            <a:r>
              <a:rPr lang="en-US" sz="1400" dirty="0"/>
              <a:t>();</a:t>
            </a:r>
          </a:p>
          <a:p>
            <a:r>
              <a:rPr lang="en-US" sz="1400" dirty="0"/>
              <a:t>		      Object </a:t>
            </a:r>
            <a:r>
              <a:rPr lang="en-US" sz="1400" dirty="0" err="1"/>
              <a:t>fieldVal</a:t>
            </a:r>
            <a:r>
              <a:rPr lang="en-US" sz="1400" dirty="0"/>
              <a:t> = </a:t>
            </a:r>
            <a:r>
              <a:rPr lang="en-US" sz="1400" dirty="0" err="1"/>
              <a:t>f.get</a:t>
            </a:r>
            <a:r>
              <a:rPr lang="en-US" sz="1400" dirty="0"/>
              <a:t>(obj);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postMap.put</a:t>
            </a:r>
            <a:r>
              <a:rPr lang="en-US" sz="1400" dirty="0"/>
              <a:t>(fieldname, </a:t>
            </a:r>
            <a:r>
              <a:rPr lang="en-US" sz="1400" dirty="0" err="1"/>
              <a:t>fieldVal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		   }</a:t>
            </a:r>
          </a:p>
          <a:p>
            <a:r>
              <a:rPr lang="en-US" sz="1400" dirty="0"/>
              <a:t>		}</a:t>
            </a:r>
          </a:p>
          <a:p>
            <a:r>
              <a:rPr lang="en-US" sz="1400" dirty="0"/>
              <a:t>		</a:t>
            </a:r>
            <a:r>
              <a:rPr lang="en-US" sz="1400" dirty="0" err="1"/>
              <a:t>jedis.hset</a:t>
            </a:r>
            <a:r>
              <a:rPr lang="en-US" sz="1400" dirty="0"/>
              <a:t>(id++, </a:t>
            </a:r>
            <a:r>
              <a:rPr lang="en-US" sz="1400" dirty="0" err="1"/>
              <a:t>postMap</a:t>
            </a:r>
            <a:r>
              <a:rPr lang="en-US" sz="1400" dirty="0"/>
              <a:t>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2D1EA7-522C-2001-A593-2FAB05DC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(recap)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82DD82-5B1F-72F6-1A32-7ECBE93E7DD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Create an annotation @Persistable with Runtime retention policy</a:t>
            </a:r>
          </a:p>
          <a:p>
            <a:r>
              <a:rPr lang="en-US" dirty="0"/>
              <a:t>Annotate only some fields </a:t>
            </a:r>
          </a:p>
          <a:p>
            <a:r>
              <a:rPr lang="en-US" dirty="0"/>
              <a:t>When persisting the fields, check if the annotation is present</a:t>
            </a:r>
          </a:p>
          <a:p>
            <a:pPr lvl="1"/>
            <a:r>
              <a:rPr lang="en-US" dirty="0"/>
              <a:t>Only persist if the annotation is present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E36B2A-B0DC-EEC9-DB11-906BD12D9205}"/>
              </a:ext>
            </a:extLst>
          </p:cNvPr>
          <p:cNvSpPr/>
          <p:nvPr/>
        </p:nvSpPr>
        <p:spPr>
          <a:xfrm>
            <a:off x="6015487" y="527318"/>
            <a:ext cx="5111262" cy="8325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A2FDA-1BE1-1549-AFFC-7FE76141580A}"/>
              </a:ext>
            </a:extLst>
          </p:cNvPr>
          <p:cNvSpPr/>
          <p:nvPr/>
        </p:nvSpPr>
        <p:spPr>
          <a:xfrm>
            <a:off x="6015487" y="1594118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13B8D-E420-8514-9F21-710794451385}"/>
              </a:ext>
            </a:extLst>
          </p:cNvPr>
          <p:cNvSpPr/>
          <p:nvPr/>
        </p:nvSpPr>
        <p:spPr>
          <a:xfrm>
            <a:off x="6800932" y="3552093"/>
            <a:ext cx="5238667" cy="476998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3D0D-BECA-DA6F-62F0-D0B1BF34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19BF92-B373-C5E4-3120-1B68C615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compilation toolchain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3D3C17F3-E73E-6B28-6AA8-3D4CB5375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0E32F2-C508-8422-4F22-F163B4659597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2BF90C-4DB4-EBCB-4F74-C3F879055425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44337B-D1F7-844A-337A-1E799290AC03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709963-8BC4-4DD2-4D6B-79CDD253E00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F91F24-2E2D-B19A-96A4-1FE919281B45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14332-CB9C-A261-5817-9AAE1D29D1C6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7AA68016-9099-1A77-CE97-7491232AC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3FC49E5-BB3B-AA75-1BE9-C85801F4EE94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FF0EF0-26BA-184E-7898-0CCBBD851272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D12F0E-3AF8-C6BA-B2CB-38EBA3A03DED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A8D2364-F109-F34B-1FB7-01626377518D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77EF72D4-1088-D6A4-4DEC-96BFBB1F6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2B79344-7F35-57A2-C565-B74C42CADD2A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32DC64-1718-D2DB-EBCB-83BB39A276B6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2DF897-21E0-25F5-B8F0-E74CD5275044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4483652C-FC1C-8188-E4CD-7938EAE8D9F0}"/>
              </a:ext>
            </a:extLst>
          </p:cNvPr>
          <p:cNvSpPr/>
          <p:nvPr/>
        </p:nvSpPr>
        <p:spPr>
          <a:xfrm>
            <a:off x="2204874" y="4647698"/>
            <a:ext cx="2227732" cy="950194"/>
          </a:xfrm>
          <a:prstGeom prst="wedgeRectCallout">
            <a:avLst>
              <a:gd name="adj1" fmla="val -16367"/>
              <a:gd name="adj2" fmla="val -21577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only in the compiler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03EAA2F8-89A2-CCE6-AE3F-85D52625D29C}"/>
              </a:ext>
            </a:extLst>
          </p:cNvPr>
          <p:cNvSpPr/>
          <p:nvPr/>
        </p:nvSpPr>
        <p:spPr>
          <a:xfrm>
            <a:off x="7066434" y="4852821"/>
            <a:ext cx="2227732" cy="950194"/>
          </a:xfrm>
          <a:prstGeom prst="wedgeRectCallout">
            <a:avLst>
              <a:gd name="adj1" fmla="val -18077"/>
              <a:gd name="adj2" fmla="val -173271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at runtime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77D589-BACB-B64E-5219-613CA94916A2}"/>
              </a:ext>
            </a:extLst>
          </p:cNvPr>
          <p:cNvGrpSpPr/>
          <p:nvPr/>
        </p:nvGrpSpPr>
        <p:grpSpPr>
          <a:xfrm>
            <a:off x="911940" y="711665"/>
            <a:ext cx="4241167" cy="764737"/>
            <a:chOff x="911940" y="711665"/>
            <a:chExt cx="4241167" cy="764737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8C136252-A54E-5763-FCC1-D3D70A5C92CC}"/>
                </a:ext>
              </a:extLst>
            </p:cNvPr>
            <p:cNvSpPr/>
            <p:nvPr/>
          </p:nvSpPr>
          <p:spPr>
            <a:xfrm rot="5400000">
              <a:off x="2816139" y="-860566"/>
              <a:ext cx="432769" cy="4241167"/>
            </a:xfrm>
            <a:prstGeom prst="leftBrace">
              <a:avLst>
                <a:gd name="adj1" fmla="val 8333"/>
                <a:gd name="adj2" fmla="val 5027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72049E-EEDE-796F-4536-AE70E96434D0}"/>
                </a:ext>
              </a:extLst>
            </p:cNvPr>
            <p:cNvSpPr txBox="1"/>
            <p:nvPr/>
          </p:nvSpPr>
          <p:spPr>
            <a:xfrm>
              <a:off x="2320625" y="711665"/>
              <a:ext cx="1483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Compile Time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89766F-E68A-9180-F026-FCD64265CE41}"/>
              </a:ext>
            </a:extLst>
          </p:cNvPr>
          <p:cNvGrpSpPr/>
          <p:nvPr/>
        </p:nvGrpSpPr>
        <p:grpSpPr>
          <a:xfrm>
            <a:off x="6959894" y="698981"/>
            <a:ext cx="4241167" cy="777421"/>
            <a:chOff x="6959894" y="698981"/>
            <a:chExt cx="4241167" cy="777421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7B8EB8D5-3FB2-6958-7A61-6F78AD8A865A}"/>
                </a:ext>
              </a:extLst>
            </p:cNvPr>
            <p:cNvSpPr/>
            <p:nvPr/>
          </p:nvSpPr>
          <p:spPr>
            <a:xfrm rot="5400000">
              <a:off x="8864093" y="-860566"/>
              <a:ext cx="432769" cy="4241167"/>
            </a:xfrm>
            <a:prstGeom prst="leftBrace">
              <a:avLst>
                <a:gd name="adj1" fmla="val 8333"/>
                <a:gd name="adj2" fmla="val 5027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466908-5884-0D75-8A8A-67F093343DCC}"/>
                </a:ext>
              </a:extLst>
            </p:cNvPr>
            <p:cNvSpPr txBox="1"/>
            <p:nvPr/>
          </p:nvSpPr>
          <p:spPr>
            <a:xfrm>
              <a:off x="8338928" y="698981"/>
              <a:ext cx="10807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Run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19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0E773-55E4-CC49-BD9C-B41939C9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@Retention(RetentionPolicy.RUNTIME)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@interface </a:t>
            </a:r>
            <a:r>
              <a:rPr lang="en-US" dirty="0" err="1">
                <a:latin typeface="Consolas" panose="020B0609020204030204" pitchFamily="49" charset="0"/>
              </a:rPr>
              <a:t>MyAnnotation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author();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date();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</a:rPr>
              <a:t>currentRevision</a:t>
            </a:r>
            <a:r>
              <a:rPr lang="en-US" dirty="0">
                <a:latin typeface="Consolas" panose="020B0609020204030204" pitchFamily="49" charset="0"/>
              </a:rPr>
              <a:t>() default 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lastModifiedBy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D300CF-73B0-B322-387A-302A8163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 and retention policies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BD7D42-4D5F-8E8F-74B8-23B15195F49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@Retention </a:t>
            </a:r>
            <a:r>
              <a:rPr lang="en-US" dirty="0"/>
              <a:t>annotation indicates the retention policy for the annotation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@Retention(RetentionPolicy.SOURCE)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only present in the source file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@Retention(RetentionPolicy.CLASS)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only present in the class file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@Retention(RetentionPolicy.RUNTIME)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present at runtime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only access annotations with </a:t>
            </a:r>
            <a:r>
              <a:rPr lang="en-US" dirty="0" err="1">
                <a:latin typeface="Consolas" panose="020B0609020204030204" pitchFamily="49" charset="0"/>
              </a:rPr>
              <a:t>RetentionPolicy.RUNTIME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E75D67-01AC-C5EE-F58B-8509C7212758}"/>
              </a:ext>
            </a:extLst>
          </p:cNvPr>
          <p:cNvSpPr/>
          <p:nvPr/>
        </p:nvSpPr>
        <p:spPr>
          <a:xfrm>
            <a:off x="6096000" y="1026543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75277-8A30-BC90-7781-EEFDA5D0E83A}"/>
              </a:ext>
            </a:extLst>
          </p:cNvPr>
          <p:cNvSpPr/>
          <p:nvPr/>
        </p:nvSpPr>
        <p:spPr>
          <a:xfrm>
            <a:off x="6665862" y="3429000"/>
            <a:ext cx="490481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would we want to create our own annotations visible only at the source code / class level?</a:t>
            </a:r>
          </a:p>
        </p:txBody>
      </p:sp>
    </p:spTree>
    <p:extLst>
      <p:ext uri="{BB962C8B-B14F-4D97-AF65-F5344CB8AC3E}">
        <p14:creationId xmlns:p14="http://schemas.microsoft.com/office/powerpoint/2010/main" val="79913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62D3FC-227D-B9A7-0A1A-6D48DCF93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we achieve?</a:t>
            </a:r>
          </a:p>
          <a:p>
            <a:pPr lvl="1"/>
            <a:r>
              <a:rPr lang="en-US" dirty="0"/>
              <a:t>The ability to persist </a:t>
            </a:r>
            <a:r>
              <a:rPr lang="en-US" b="1" i="1" dirty="0"/>
              <a:t>any </a:t>
            </a:r>
            <a:r>
              <a:rPr lang="en-US" dirty="0"/>
              <a:t>object, provided it is annotated</a:t>
            </a:r>
          </a:p>
          <a:p>
            <a:pPr lvl="1"/>
            <a:r>
              <a:rPr lang="en-US" dirty="0"/>
              <a:t>The persistence framework </a:t>
            </a:r>
            <a:r>
              <a:rPr lang="en-US" b="1" i="1" dirty="0"/>
              <a:t>does not need </a:t>
            </a:r>
            <a:r>
              <a:rPr lang="en-US" dirty="0"/>
              <a:t>to know the classes that can be persisted</a:t>
            </a:r>
          </a:p>
          <a:p>
            <a:pPr lvl="1"/>
            <a:r>
              <a:rPr lang="en-US" dirty="0"/>
              <a:t>The persistence logic is </a:t>
            </a:r>
            <a:r>
              <a:rPr lang="en-US" b="1" i="1" dirty="0"/>
              <a:t>fully decoupled </a:t>
            </a:r>
            <a:r>
              <a:rPr lang="en-US" dirty="0"/>
              <a:t>from the application’s data model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A4E867-F6ED-BAC4-8E06-0520E0D1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+ annotations: summary</a:t>
            </a:r>
          </a:p>
        </p:txBody>
      </p:sp>
    </p:spTree>
    <p:extLst>
      <p:ext uri="{BB962C8B-B14F-4D97-AF65-F5344CB8AC3E}">
        <p14:creationId xmlns:p14="http://schemas.microsoft.com/office/powerpoint/2010/main" val="3445372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1D877D-DA4C-194E-43D6-CC81E4EE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 persistence framework as a library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9D9AB-53BB-B324-235E-3ABC07DA8878}"/>
              </a:ext>
            </a:extLst>
          </p:cNvPr>
          <p:cNvSpPr/>
          <p:nvPr/>
        </p:nvSpPr>
        <p:spPr>
          <a:xfrm>
            <a:off x="4583724" y="827540"/>
            <a:ext cx="2637693" cy="10199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persistence.jar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1CDB4-1184-2007-2FD7-B11867A6E467}"/>
              </a:ext>
            </a:extLst>
          </p:cNvPr>
          <p:cNvSpPr/>
          <p:nvPr/>
        </p:nvSpPr>
        <p:spPr>
          <a:xfrm>
            <a:off x="2461846" y="3053057"/>
            <a:ext cx="1793630" cy="22156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codebase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0CECA-BF90-8B72-1636-65236F635CB0}"/>
              </a:ext>
            </a:extLst>
          </p:cNvPr>
          <p:cNvSpPr txBox="1"/>
          <p:nvPr/>
        </p:nvSpPr>
        <p:spPr>
          <a:xfrm>
            <a:off x="3692768" y="2079608"/>
            <a:ext cx="5091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Provides </a:t>
            </a:r>
            <a:r>
              <a:rPr lang="en-US" sz="2400" b="1" dirty="0">
                <a:latin typeface="Consolas" panose="020B0609020204030204" pitchFamily="49" charset="0"/>
              </a:rPr>
              <a:t>@persistable </a:t>
            </a:r>
            <a:r>
              <a:rPr lang="en-US" sz="2400" b="1" i="1" dirty="0"/>
              <a:t>annotation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94F857C-D5E7-8056-D2A6-D143E394D975}"/>
              </a:ext>
            </a:extLst>
          </p:cNvPr>
          <p:cNvCxnSpPr>
            <a:cxnSpLocks/>
            <a:stCxn id="6" idx="1"/>
            <a:endCxn id="7" idx="0"/>
          </p:cNvCxnSpPr>
          <p:nvPr/>
        </p:nvCxnSpPr>
        <p:spPr>
          <a:xfrm rot="10800000" flipV="1">
            <a:off x="3358662" y="1337493"/>
            <a:ext cx="1225063" cy="1715563"/>
          </a:xfrm>
          <a:prstGeom prst="curvedConnector2">
            <a:avLst/>
          </a:prstGeom>
          <a:ln w="539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D2C62E-244A-0D23-79ED-1003D796CDEC}"/>
              </a:ext>
            </a:extLst>
          </p:cNvPr>
          <p:cNvSpPr txBox="1"/>
          <p:nvPr/>
        </p:nvSpPr>
        <p:spPr>
          <a:xfrm>
            <a:off x="1935099" y="241184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Import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0BBD8C-DB7A-D10A-99E3-FB900D8AECB3}"/>
              </a:ext>
            </a:extLst>
          </p:cNvPr>
          <p:cNvSpPr txBox="1"/>
          <p:nvPr/>
        </p:nvSpPr>
        <p:spPr>
          <a:xfrm>
            <a:off x="5076092" y="3153508"/>
            <a:ext cx="53691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MyClass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@Persistable</a:t>
            </a:r>
          </a:p>
          <a:p>
            <a:r>
              <a:rPr lang="en-US" dirty="0">
                <a:latin typeface="Consolas" panose="020B0609020204030204" pitchFamily="49" charset="0"/>
              </a:rPr>
              <a:t>  String </a:t>
            </a:r>
            <a:r>
              <a:rPr lang="en-US" dirty="0" err="1">
                <a:latin typeface="Consolas" panose="020B0609020204030204" pitchFamily="49" charset="0"/>
              </a:rPr>
              <a:t>myField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RedisSession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RedisSession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rs.add</a:t>
            </a:r>
            <a:r>
              <a:rPr lang="en-US" dirty="0">
                <a:latin typeface="Consolas" panose="020B0609020204030204" pitchFamily="49" charset="0"/>
              </a:rPr>
              <a:t>(new </a:t>
            </a:r>
            <a:r>
              <a:rPr lang="en-US" dirty="0" err="1">
                <a:latin typeface="Consolas" panose="020B0609020204030204" pitchFamily="49" charset="0"/>
              </a:rPr>
              <a:t>MyClass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rs.persistAll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950DC-8867-977A-F835-83D0ACD9F92E}"/>
              </a:ext>
            </a:extLst>
          </p:cNvPr>
          <p:cNvSpPr/>
          <p:nvPr/>
        </p:nvSpPr>
        <p:spPr>
          <a:xfrm>
            <a:off x="7111007" y="846785"/>
            <a:ext cx="489342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Compiled separately into a JAR file</a:t>
            </a:r>
          </a:p>
        </p:txBody>
      </p:sp>
    </p:spTree>
    <p:extLst>
      <p:ext uri="{BB962C8B-B14F-4D97-AF65-F5344CB8AC3E}">
        <p14:creationId xmlns:p14="http://schemas.microsoft.com/office/powerpoint/2010/main" val="391246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4" grpId="0"/>
      <p:bldP spid="15" grpId="0"/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D95B-F7D7-B97E-633A-4C9AEB2A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0D22D0-21B4-C267-9E89-CE0B0BE5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@Entity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public class Car {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@Id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@GeneratedValue(strategy=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GenerationType.IDENTITY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Long id;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String name;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String email;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99118B-502C-4297-4BB4-2C49DE5A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relational mapping (ORM) frameworks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212425-BFEC-A9E4-D0AE-24F6D318D8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Hibernate: allows the programmer to annotate a class with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@Entity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Provides an API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save()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that accepts an object of a class annotated with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@Entity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saves it in the database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framework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abstracts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SQL logic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In-class demo</a:t>
            </a:r>
          </a:p>
        </p:txBody>
      </p:sp>
      <p:pic>
        <p:nvPicPr>
          <p:cNvPr id="4102" name="Picture 6" descr="Hibernate (ORM) - in 11 steps - Apps on Google Play">
            <a:extLst>
              <a:ext uri="{FF2B5EF4-FFF2-40B4-BE49-F238E27FC236}">
                <a16:creationId xmlns:a16="http://schemas.microsoft.com/office/drawing/2014/main" id="{F1791AA3-8F63-EC7B-F4C1-1843ABABD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487" y="785004"/>
            <a:ext cx="1992923" cy="199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0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13B45-7ADD-AE02-EF4C-DDDE53A1C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public class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CalculatorTest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{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@Test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public void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testAdd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() {    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calculator = new Calculator();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int result =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calculator.add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(2, 3);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assertEquals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(5, result, "2 + 3 should equal 5");      	}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152AF9-E212-37CD-5D52-99564C5E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F332A-B907-81DC-3961-B5AEF1D52EF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JUnit: allows the programmer to annotate a class with </a:t>
            </a:r>
            <a:r>
              <a:rPr lang="en-US" dirty="0">
                <a:latin typeface="Consolas" panose="020B0609020204030204" pitchFamily="49" charset="0"/>
              </a:rPr>
              <a:t>@Test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specify pre- and post- operations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All methods of the class automatically executed using Reflection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framework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abstracts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invocation logic of the tests</a:t>
            </a:r>
          </a:p>
        </p:txBody>
      </p:sp>
      <p:pic>
        <p:nvPicPr>
          <p:cNvPr id="4100" name="Picture 4" descr="JUnit – About">
            <a:extLst>
              <a:ext uri="{FF2B5EF4-FFF2-40B4-BE49-F238E27FC236}">
                <a16:creationId xmlns:a16="http://schemas.microsoft.com/office/drawing/2014/main" id="{FD7DE92C-58D2-0161-B313-BC3BC5F6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642" y="785004"/>
            <a:ext cx="2801083" cy="85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338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4B17-7783-A00B-7461-3789FF87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FC6C87-FB7E-02EB-E069-BA993549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5735393" cy="5218981"/>
          </a:xfrm>
        </p:spPr>
        <p:txBody>
          <a:bodyPr>
            <a:normAutofit fontScale="92500"/>
          </a:bodyPr>
          <a:lstStyle/>
          <a:p>
            <a:r>
              <a:rPr lang="en-US" dirty="0"/>
              <a:t>Microservice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Spring Boot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MVC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Spring MVC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Logging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Log4j, SL4J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… and create other design patterns such as 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Inversion of Control (IoC)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8F2336-90ED-6AA5-F5A7-E8C7182E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more</a:t>
            </a:r>
          </a:p>
        </p:txBody>
      </p:sp>
      <p:pic>
        <p:nvPicPr>
          <p:cNvPr id="5122" name="Picture 2" descr="Web Development with Spring Boot Java | Study Coding with Shad">
            <a:extLst>
              <a:ext uri="{FF2B5EF4-FFF2-40B4-BE49-F238E27FC236}">
                <a16:creationId xmlns:a16="http://schemas.microsoft.com/office/drawing/2014/main" id="{0320AC36-5BBC-0DE0-64CA-42E7FE49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69" y="1063867"/>
            <a:ext cx="3048001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icronaut Framework · GitHub">
            <a:extLst>
              <a:ext uri="{FF2B5EF4-FFF2-40B4-BE49-F238E27FC236}">
                <a16:creationId xmlns:a16="http://schemas.microsoft.com/office/drawing/2014/main" id="{5D151F9A-5EEC-C9FC-5148-76D179428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53" y="1167909"/>
            <a:ext cx="1506415" cy="150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pring MVC: A Comprehensive Guide | by Prabhakar Kulkarni | Medium">
            <a:extLst>
              <a:ext uri="{FF2B5EF4-FFF2-40B4-BE49-F238E27FC236}">
                <a16:creationId xmlns:a16="http://schemas.microsoft.com/office/drawing/2014/main" id="{D1021692-38C4-72A6-1DD4-222B52933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648" y="2917610"/>
            <a:ext cx="3048002" cy="147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Log4j - Wikipedia">
            <a:extLst>
              <a:ext uri="{FF2B5EF4-FFF2-40B4-BE49-F238E27FC236}">
                <a16:creationId xmlns:a16="http://schemas.microsoft.com/office/drawing/2014/main" id="{B85811F5-F577-20E7-787A-C29AAAF4A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1" y="4140964"/>
            <a:ext cx="3651738" cy="15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9616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37D3D9-2E48-53B5-613B-B7265E9B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Cannot </a:t>
            </a:r>
            <a:r>
              <a:rPr lang="en-US" i="1" dirty="0"/>
              <a:t>generate </a:t>
            </a:r>
            <a:r>
              <a:rPr lang="en-US" dirty="0"/>
              <a:t>new methods, fields, etc.</a:t>
            </a:r>
          </a:p>
          <a:p>
            <a:r>
              <a:rPr lang="en-US" dirty="0"/>
              <a:t>Reflection causes full loss of type safety</a:t>
            </a:r>
          </a:p>
          <a:p>
            <a:pPr lvl="1"/>
            <a:r>
              <a:rPr lang="en-US" dirty="0"/>
              <a:t>If you do </a:t>
            </a:r>
            <a:r>
              <a:rPr lang="en-US" dirty="0" err="1">
                <a:latin typeface="Consolas" panose="020B0609020204030204" pitchFamily="49" charset="0"/>
              </a:rPr>
              <a:t>s.setName</a:t>
            </a:r>
            <a:r>
              <a:rPr lang="en-US" dirty="0">
                <a:latin typeface="Consolas" panose="020B0609020204030204" pitchFamily="49" charset="0"/>
              </a:rPr>
              <a:t>(new Integer(123)); </a:t>
            </a:r>
            <a:r>
              <a:rPr lang="en-US" dirty="0"/>
              <a:t>compiler will catch it at compile time</a:t>
            </a:r>
          </a:p>
          <a:p>
            <a:pPr lvl="1"/>
            <a:r>
              <a:rPr lang="en-US" dirty="0"/>
              <a:t>If you do </a:t>
            </a:r>
            <a:r>
              <a:rPr lang="en-US" dirty="0" err="1">
                <a:latin typeface="Consolas" panose="020B0609020204030204" pitchFamily="49" charset="0"/>
              </a:rPr>
              <a:t>setNameMethod.invoke</a:t>
            </a:r>
            <a:r>
              <a:rPr lang="en-US" dirty="0">
                <a:latin typeface="Consolas" panose="020B0609020204030204" pitchFamily="49" charset="0"/>
              </a:rPr>
              <a:t>(s, new Integer(123));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it will throw an exception at runtime</a:t>
            </a:r>
          </a:p>
          <a:p>
            <a:r>
              <a:rPr lang="en-US" dirty="0"/>
              <a:t>Performance is slower than directly accessing the field/method</a:t>
            </a:r>
          </a:p>
          <a:p>
            <a:pPr lvl="1"/>
            <a:r>
              <a:rPr lang="en-US" dirty="0"/>
              <a:t>In some cases, it is okay</a:t>
            </a:r>
          </a:p>
          <a:p>
            <a:pPr lvl="2"/>
            <a:r>
              <a:rPr lang="en-US" dirty="0"/>
              <a:t>Database persistence, network communications</a:t>
            </a:r>
          </a:p>
          <a:p>
            <a:pPr lvl="2"/>
            <a:r>
              <a:rPr lang="en-US" dirty="0"/>
              <a:t>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6121AB-441A-9B77-5A1C-1B5429D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reflection</a:t>
            </a:r>
          </a:p>
        </p:txBody>
      </p:sp>
    </p:spTree>
    <p:extLst>
      <p:ext uri="{BB962C8B-B14F-4D97-AF65-F5344CB8AC3E}">
        <p14:creationId xmlns:p14="http://schemas.microsoft.com/office/powerpoint/2010/main" val="79239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1B8BDF-04F9-E2F0-9848-02FE8B87D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CPU register &lt;&lt; DRAM memory &lt;&lt; SSDs &lt;&lt; hard disks &lt;&lt; network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Adding a few extra memory accesses for reflection is not noticeable for disk and network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0B033A-817E-81B1-0DB8-DEA9D0F6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hierarchy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024C9A-0A19-CC55-98C1-3028EAD75D81}"/>
              </a:ext>
            </a:extLst>
          </p:cNvPr>
          <p:cNvSpPr/>
          <p:nvPr/>
        </p:nvSpPr>
        <p:spPr>
          <a:xfrm>
            <a:off x="3473116" y="1876926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Memory accesses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C4F15B-BC59-0159-0711-77B74F58E258}"/>
              </a:ext>
            </a:extLst>
          </p:cNvPr>
          <p:cNvSpPr/>
          <p:nvPr/>
        </p:nvSpPr>
        <p:spPr>
          <a:xfrm>
            <a:off x="3473116" y="2676082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Secondary storage (SSDs, disks)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72893-0E1F-9943-65BB-CBDD32A67AF8}"/>
              </a:ext>
            </a:extLst>
          </p:cNvPr>
          <p:cNvSpPr/>
          <p:nvPr/>
        </p:nvSpPr>
        <p:spPr>
          <a:xfrm>
            <a:off x="3473116" y="3478186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access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(over network)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5F287-A484-2548-AF5C-A65EF3006368}"/>
              </a:ext>
            </a:extLst>
          </p:cNvPr>
          <p:cNvSpPr txBox="1"/>
          <p:nvPr/>
        </p:nvSpPr>
        <p:spPr>
          <a:xfrm>
            <a:off x="5999747" y="202130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1F2328"/>
                </a:solidFill>
                <a:effectLst/>
                <a:latin typeface="ui-monospace"/>
              </a:rPr>
              <a:t>100 ns 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61A57-D04B-1542-5760-1D70BD26DF1B}"/>
              </a:ext>
            </a:extLst>
          </p:cNvPr>
          <p:cNvSpPr txBox="1"/>
          <p:nvPr/>
        </p:nvSpPr>
        <p:spPr>
          <a:xfrm>
            <a:off x="5935578" y="2892468"/>
            <a:ext cx="392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20,000 ns </a:t>
            </a:r>
            <a:r>
              <a:rPr lang="en-US" dirty="0"/>
              <a:t>(4KB random read for SSD)</a:t>
            </a:r>
            <a:endParaRPr lang="en-US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AAE28-D4B9-6085-F6B7-0BFCC7BC9C22}"/>
              </a:ext>
            </a:extLst>
          </p:cNvPr>
          <p:cNvSpPr txBox="1"/>
          <p:nvPr/>
        </p:nvSpPr>
        <p:spPr>
          <a:xfrm>
            <a:off x="5917384" y="3656072"/>
            <a:ext cx="4929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500,000 ns </a:t>
            </a:r>
            <a:r>
              <a:rPr lang="en-US" dirty="0"/>
              <a:t>(Round-trip latency within data-center)</a:t>
            </a:r>
            <a:endParaRPr lang="en-US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1F9B3-AAC0-583C-2D9A-C322FEAAAF28}"/>
              </a:ext>
            </a:extLst>
          </p:cNvPr>
          <p:cNvSpPr txBox="1"/>
          <p:nvPr/>
        </p:nvSpPr>
        <p:spPr>
          <a:xfrm>
            <a:off x="2803840" y="1489264"/>
            <a:ext cx="7244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https://static.googleusercontent.com/media/sre.google/en//static/pdf/rule-of-thumb-latency-numbers-letter.pdf</a:t>
            </a:r>
          </a:p>
        </p:txBody>
      </p:sp>
      <p:pic>
        <p:nvPicPr>
          <p:cNvPr id="1026" name="Picture 2" descr="IconExperience » G-Collection » Dram Icon">
            <a:extLst>
              <a:ext uri="{FF2B5EF4-FFF2-40B4-BE49-F238E27FC236}">
                <a16:creationId xmlns:a16="http://schemas.microsoft.com/office/drawing/2014/main" id="{58969684-C5DC-099A-1854-16555DDE1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3" y="1949126"/>
            <a:ext cx="676539" cy="67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sd - Free computer icons">
            <a:extLst>
              <a:ext uri="{FF2B5EF4-FFF2-40B4-BE49-F238E27FC236}">
                <a16:creationId xmlns:a16="http://schemas.microsoft.com/office/drawing/2014/main" id="{8D123983-646C-068A-5117-169E00166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2" y="2776899"/>
            <a:ext cx="676540" cy="67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ranet - Free computer icons">
            <a:extLst>
              <a:ext uri="{FF2B5EF4-FFF2-40B4-BE49-F238E27FC236}">
                <a16:creationId xmlns:a16="http://schemas.microsoft.com/office/drawing/2014/main" id="{E81719BA-3830-CAE1-CC38-150C05170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2" y="3585712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746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4E6B3A-2230-169A-30A3-5D1440DF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71CA-2BD4-82BF-C9F9-3DE701979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Reflection and proxies</a:t>
            </a:r>
          </a:p>
        </p:txBody>
      </p:sp>
    </p:spTree>
    <p:extLst>
      <p:ext uri="{BB962C8B-B14F-4D97-AF65-F5344CB8AC3E}">
        <p14:creationId xmlns:p14="http://schemas.microsoft.com/office/powerpoint/2010/main" val="3738351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B8E175-B6FC-7489-C9D6-ED757B3E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(final thoughts)</a:t>
            </a:r>
          </a:p>
          <a:p>
            <a:r>
              <a:rPr lang="en-US" dirty="0"/>
              <a:t>Proxies</a:t>
            </a:r>
          </a:p>
          <a:p>
            <a:pPr lvl="1"/>
            <a:r>
              <a:rPr lang="en-US" dirty="0"/>
              <a:t>Static proxies</a:t>
            </a:r>
          </a:p>
          <a:p>
            <a:pPr lvl="1"/>
            <a:r>
              <a:rPr lang="en-US" dirty="0"/>
              <a:t>Dynamic proxies</a:t>
            </a:r>
          </a:p>
          <a:p>
            <a:r>
              <a:rPr lang="en-US" dirty="0"/>
              <a:t>Proxy use-cases</a:t>
            </a:r>
          </a:p>
          <a:p>
            <a:pPr lvl="1"/>
            <a:r>
              <a:rPr lang="en-US" dirty="0"/>
              <a:t>Lazy-loading</a:t>
            </a:r>
          </a:p>
          <a:p>
            <a:pPr lvl="1"/>
            <a:r>
              <a:rPr lang="en-US" dirty="0"/>
              <a:t>Mock-testing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EF1BA0-8F16-65CB-8245-12C87258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E99A68-2416-190C-2C2F-8E3E82682A69}"/>
              </a:ext>
            </a:extLst>
          </p:cNvPr>
          <p:cNvCxnSpPr/>
          <p:nvPr/>
        </p:nvCxnSpPr>
        <p:spPr>
          <a:xfrm>
            <a:off x="0" y="331893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1607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6A53-9337-DD57-7C56-E8C9B830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1B2A6B-0C04-D254-2817-CF24E39C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73E934-09FF-9374-434A-75F0791A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alternatives and optimizations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1CE84F-338D-F4A7-E325-D77600654C4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Original persistence code</a:t>
            </a:r>
          </a:p>
          <a:p>
            <a:r>
              <a:rPr lang="en-US" dirty="0"/>
              <a:t>Use reflection to generate “type-independent” persistence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D2F8B-D021-9D84-DD39-6F35BB756D2E}"/>
              </a:ext>
            </a:extLst>
          </p:cNvPr>
          <p:cNvSpPr/>
          <p:nvPr/>
        </p:nvSpPr>
        <p:spPr>
          <a:xfrm>
            <a:off x="6176512" y="3161691"/>
            <a:ext cx="5276935" cy="227658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7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BBDA-BC91-0EB6-F884-A28511DC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AF8260-2720-98BF-8571-4BA95354B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@Retention(RetentionPolicy.RUNTIME)</a:t>
            </a:r>
          </a:p>
          <a:p>
            <a:r>
              <a:rPr lang="en-US" b="1" dirty="0"/>
              <a:t>public @interface </a:t>
            </a:r>
            <a:r>
              <a:rPr lang="en-US" b="1" dirty="0" err="1"/>
              <a:t>Persistable</a:t>
            </a:r>
            <a:r>
              <a:rPr lang="en-US" b="1" dirty="0"/>
              <a:t> {</a:t>
            </a:r>
          </a:p>
          <a:p>
            <a:r>
              <a:rPr lang="en-US" b="1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r>
              <a:rPr lang="en-US" dirty="0"/>
              <a:t>	</a:t>
            </a:r>
            <a:r>
              <a:rPr lang="en-US" b="1" dirty="0"/>
              <a:t>@Persistable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Integer </a:t>
            </a:r>
            <a:r>
              <a:rPr lang="en-US" dirty="0" err="1"/>
              <a:t>tempVal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// … set up Jedis Session</a:t>
            </a:r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(Object obj)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dirty="0" err="1"/>
              <a:t>obj.getDeclaredFields</a:t>
            </a:r>
            <a:r>
              <a:rPr lang="en-US" dirty="0"/>
              <a:t>()) {</a:t>
            </a:r>
          </a:p>
          <a:p>
            <a:r>
              <a:rPr lang="en-US" dirty="0"/>
              <a:t>		   if (</a:t>
            </a:r>
            <a:r>
              <a:rPr lang="en-US" b="1" dirty="0" err="1"/>
              <a:t>f.isAnnotationPresent</a:t>
            </a:r>
            <a:r>
              <a:rPr lang="en-US" b="1" dirty="0"/>
              <a:t>(</a:t>
            </a:r>
            <a:r>
              <a:rPr lang="en-US" b="1" dirty="0" err="1"/>
              <a:t>Persistable.class</a:t>
            </a:r>
            <a:r>
              <a:rPr lang="en-US" dirty="0"/>
              <a:t>) {</a:t>
            </a:r>
          </a:p>
          <a:p>
            <a:r>
              <a:rPr lang="en-US" dirty="0"/>
              <a:t>		      </a:t>
            </a:r>
            <a:r>
              <a:rPr lang="en-US" dirty="0" err="1"/>
              <a:t>f.setAccessible</a:t>
            </a:r>
            <a:r>
              <a:rPr lang="en-US" dirty="0"/>
              <a:t>(true);</a:t>
            </a:r>
          </a:p>
          <a:p>
            <a:r>
              <a:rPr lang="en-US" dirty="0"/>
              <a:t>		   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dirty="0" err="1"/>
              <a:t>f.get</a:t>
            </a:r>
            <a:r>
              <a:rPr lang="en-US" dirty="0"/>
              <a:t>(obj);</a:t>
            </a:r>
          </a:p>
          <a:p>
            <a:r>
              <a:rPr lang="en-US" dirty="0"/>
              <a:t>		   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   }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4129E2-00DF-A89D-94E9-C8768AF8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alternatives and optimizations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6B3A9-194F-AF71-05D4-2CE0253C754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Original persistence code</a:t>
            </a:r>
          </a:p>
          <a:p>
            <a:r>
              <a:rPr lang="en-US" dirty="0"/>
              <a:t>Use reflection to generate “type-independent” persistence code</a:t>
            </a:r>
          </a:p>
          <a:p>
            <a:r>
              <a:rPr lang="en-US" dirty="0"/>
              <a:t>What do we </a:t>
            </a:r>
            <a:r>
              <a:rPr lang="en-US" b="1" i="1" dirty="0"/>
              <a:t>really</a:t>
            </a:r>
            <a:r>
              <a:rPr lang="en-US" dirty="0"/>
              <a:t> want?</a:t>
            </a:r>
          </a:p>
          <a:p>
            <a:pPr lvl="1"/>
            <a:r>
              <a:rPr lang="en-US" dirty="0"/>
              <a:t>Annotate a class and the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method for it is “magically” generated</a:t>
            </a:r>
          </a:p>
          <a:p>
            <a:r>
              <a:rPr lang="en-US" dirty="0"/>
              <a:t>Can we generate code dynamically?</a:t>
            </a:r>
          </a:p>
          <a:p>
            <a:pPr lvl="1"/>
            <a:r>
              <a:rPr lang="en-US" dirty="0"/>
              <a:t>The Java language does not provide this facility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4E014-5D42-1867-C2B8-60E908008F32}"/>
              </a:ext>
            </a:extLst>
          </p:cNvPr>
          <p:cNvSpPr/>
          <p:nvPr/>
        </p:nvSpPr>
        <p:spPr>
          <a:xfrm>
            <a:off x="6232660" y="2815389"/>
            <a:ext cx="5276935" cy="268705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9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F5E706-135A-E059-8F73-E08F9CFF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02" y="2286427"/>
            <a:ext cx="4559221" cy="2138818"/>
          </a:xfrm>
          <a:ln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@Persistable</a:t>
            </a:r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8E7F12-730F-FC8E-FB53-7695F6FE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 instrumentation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40832-B7DF-9C7B-E9C0-8E140C259422}"/>
              </a:ext>
            </a:extLst>
          </p:cNvPr>
          <p:cNvSpPr/>
          <p:nvPr/>
        </p:nvSpPr>
        <p:spPr>
          <a:xfrm>
            <a:off x="5339644" y="3007697"/>
            <a:ext cx="1332090" cy="696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java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29FA14-C091-E3A8-57FB-C9BE57CC46E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057423" y="3355836"/>
            <a:ext cx="28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460A73-A1B0-8CFB-1D1B-548731232095}"/>
              </a:ext>
            </a:extLst>
          </p:cNvPr>
          <p:cNvSpPr/>
          <p:nvPr/>
        </p:nvSpPr>
        <p:spPr>
          <a:xfrm>
            <a:off x="5136444" y="1309511"/>
            <a:ext cx="1738489" cy="696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Special library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9B8DF4-0443-5223-25CF-67EC8A503975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05689" y="2005783"/>
            <a:ext cx="0" cy="1001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F2E6DCB-70FC-E689-171C-8CE2B0E7E7CE}"/>
              </a:ext>
            </a:extLst>
          </p:cNvPr>
          <p:cNvSpPr txBox="1">
            <a:spLocks/>
          </p:cNvSpPr>
          <p:nvPr/>
        </p:nvSpPr>
        <p:spPr bwMode="auto">
          <a:xfrm>
            <a:off x="7157154" y="1318404"/>
            <a:ext cx="4559221" cy="40748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persistPost</a:t>
            </a:r>
            <a:r>
              <a:rPr lang="en-US" dirty="0"/>
              <a:t>(Post p)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</a:t>
            </a:r>
            <a:r>
              <a:rPr lang="en-US" dirty="0" err="1"/>
              <a:t>userId</a:t>
            </a:r>
            <a:r>
              <a:rPr lang="en-US" dirty="0"/>
              <a:t>”, </a:t>
            </a:r>
            <a:r>
              <a:rPr lang="en-US" dirty="0" err="1"/>
              <a:t>p.getUserId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// …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persistUser</a:t>
            </a:r>
            <a:r>
              <a:rPr lang="en-US" dirty="0"/>
              <a:t>(User u)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(“username”, </a:t>
            </a:r>
            <a:r>
              <a:rPr lang="en-US" dirty="0" err="1"/>
              <a:t>u.getName</a:t>
            </a:r>
            <a:r>
              <a:rPr lang="en-US" dirty="0"/>
              <a:t>());</a:t>
            </a:r>
          </a:p>
          <a:p>
            <a:r>
              <a:rPr lang="en-US" dirty="0"/>
              <a:t>      // …</a:t>
            </a:r>
          </a:p>
          <a:p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5FF91-0058-642B-7AC3-5649CA787081}"/>
              </a:ext>
            </a:extLst>
          </p:cNvPr>
          <p:cNvSpPr txBox="1"/>
          <p:nvPr/>
        </p:nvSpPr>
        <p:spPr>
          <a:xfrm>
            <a:off x="2053094" y="1770091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Java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35C85-7363-415A-BBB3-BD5BC55DF534}"/>
              </a:ext>
            </a:extLst>
          </p:cNvPr>
          <p:cNvSpPr txBox="1"/>
          <p:nvPr/>
        </p:nvSpPr>
        <p:spPr>
          <a:xfrm>
            <a:off x="8600317" y="795184"/>
            <a:ext cx="1672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Byte 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50AC5D-257F-F140-B7B2-3C6ED4355107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671734" y="3355835"/>
            <a:ext cx="485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94C8D-9D71-2E51-C631-33715EC8BF32}"/>
              </a:ext>
            </a:extLst>
          </p:cNvPr>
          <p:cNvSpPr/>
          <p:nvPr/>
        </p:nvSpPr>
        <p:spPr>
          <a:xfrm>
            <a:off x="7157153" y="2320318"/>
            <a:ext cx="4296293" cy="129212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DD1EE5-C8C5-2D25-0C44-4D482BBED9A6}"/>
              </a:ext>
            </a:extLst>
          </p:cNvPr>
          <p:cNvSpPr/>
          <p:nvPr/>
        </p:nvSpPr>
        <p:spPr>
          <a:xfrm>
            <a:off x="7157153" y="3703974"/>
            <a:ext cx="4296293" cy="11389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9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C2EC-DDD3-F3B5-8DA3-68D178E1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D1384D-032A-BEEC-23D6-075F64284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02" y="2286427"/>
            <a:ext cx="4559221" cy="2138818"/>
          </a:xfrm>
          <a:ln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@Persistable</a:t>
            </a:r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0CDE1E-9B7A-92B4-6C70-CD6529AA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 instrumentation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70BAE-4ABB-1399-2E2F-263380922C50}"/>
              </a:ext>
            </a:extLst>
          </p:cNvPr>
          <p:cNvSpPr/>
          <p:nvPr/>
        </p:nvSpPr>
        <p:spPr>
          <a:xfrm>
            <a:off x="5339644" y="3007697"/>
            <a:ext cx="1332090" cy="696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java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7E1728-2FC2-C47F-11D4-212C1669235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057423" y="3355836"/>
            <a:ext cx="28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FB7835-DCD0-B99B-4C16-D3DD309C2A45}"/>
              </a:ext>
            </a:extLst>
          </p:cNvPr>
          <p:cNvSpPr/>
          <p:nvPr/>
        </p:nvSpPr>
        <p:spPr>
          <a:xfrm>
            <a:off x="5136444" y="1309511"/>
            <a:ext cx="1738489" cy="696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Bytecode instrumentation libraries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52FA1F-10C4-3341-A007-080EB873AB36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05689" y="2005783"/>
            <a:ext cx="0" cy="1001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D343CEB-9E0A-8CA1-58F5-F949AA2B5E7D}"/>
              </a:ext>
            </a:extLst>
          </p:cNvPr>
          <p:cNvSpPr txBox="1">
            <a:spLocks/>
          </p:cNvSpPr>
          <p:nvPr/>
        </p:nvSpPr>
        <p:spPr bwMode="auto">
          <a:xfrm>
            <a:off x="7157154" y="1318404"/>
            <a:ext cx="4559221" cy="40748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persistPost</a:t>
            </a:r>
            <a:r>
              <a:rPr lang="en-US" dirty="0"/>
              <a:t>(Post p)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</a:t>
            </a:r>
            <a:r>
              <a:rPr lang="en-US" dirty="0" err="1"/>
              <a:t>userId</a:t>
            </a:r>
            <a:r>
              <a:rPr lang="en-US" dirty="0"/>
              <a:t>”, </a:t>
            </a:r>
            <a:r>
              <a:rPr lang="en-US" dirty="0" err="1"/>
              <a:t>p.getUserId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// …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persistUser</a:t>
            </a:r>
            <a:r>
              <a:rPr lang="en-US" dirty="0"/>
              <a:t>(User u)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(“username”, </a:t>
            </a:r>
            <a:r>
              <a:rPr lang="en-US" dirty="0" err="1"/>
              <a:t>u.getName</a:t>
            </a:r>
            <a:r>
              <a:rPr lang="en-US" dirty="0"/>
              <a:t>());</a:t>
            </a:r>
          </a:p>
          <a:p>
            <a:r>
              <a:rPr lang="en-US" dirty="0"/>
              <a:t>      // …</a:t>
            </a:r>
          </a:p>
          <a:p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DEC22-14D8-6F24-30B7-3DCF5E05B409}"/>
              </a:ext>
            </a:extLst>
          </p:cNvPr>
          <p:cNvSpPr txBox="1"/>
          <p:nvPr/>
        </p:nvSpPr>
        <p:spPr>
          <a:xfrm>
            <a:off x="2053094" y="1770091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Java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2A60A5-0788-620E-2CB9-CC9D6E2927AC}"/>
              </a:ext>
            </a:extLst>
          </p:cNvPr>
          <p:cNvSpPr txBox="1"/>
          <p:nvPr/>
        </p:nvSpPr>
        <p:spPr>
          <a:xfrm>
            <a:off x="8600317" y="795184"/>
            <a:ext cx="1672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Byte 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C53DD7-61BC-FE01-48F3-BDEF02F158BD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671734" y="3355835"/>
            <a:ext cx="485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9044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BE5F70-8704-8D73-4719-7AD5FC61C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what is bytecode?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Bytecode is just a format!!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8C7A2-4A1D-C76A-162D-C879F32A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CCF886-64E2-E969-C759-CC876AD55997}"/>
              </a:ext>
            </a:extLst>
          </p:cNvPr>
          <p:cNvGrpSpPr/>
          <p:nvPr/>
        </p:nvGrpSpPr>
        <p:grpSpPr>
          <a:xfrm>
            <a:off x="399186" y="1564664"/>
            <a:ext cx="11533702" cy="2784396"/>
            <a:chOff x="399186" y="1564664"/>
            <a:chExt cx="11533702" cy="2784396"/>
          </a:xfrm>
        </p:grpSpPr>
        <p:pic>
          <p:nvPicPr>
            <p:cNvPr id="6" name="Picture 2" descr="Java File Viewer - Apps on Google Play">
              <a:extLst>
                <a:ext uri="{FF2B5EF4-FFF2-40B4-BE49-F238E27FC236}">
                  <a16:creationId xmlns:a16="http://schemas.microsoft.com/office/drawing/2014/main" id="{1A14740C-6DDE-97C9-4E87-C729E5ACA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86" y="2063683"/>
              <a:ext cx="1405453" cy="1405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429356-D59A-7F20-65E8-DDFE3C873D7D}"/>
                </a:ext>
              </a:extLst>
            </p:cNvPr>
            <p:cNvSpPr/>
            <p:nvPr/>
          </p:nvSpPr>
          <p:spPr>
            <a:xfrm>
              <a:off x="2204874" y="2381688"/>
              <a:ext cx="1337226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cap="none" spc="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javac</a:t>
              </a:r>
              <a:endPara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20C8C5-8CDB-F1B4-091C-E4D27D878DAF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V="1">
              <a:off x="1804639" y="2766409"/>
              <a:ext cx="400235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A8407-898A-501A-00C8-CF0237E9AB38}"/>
                </a:ext>
              </a:extLst>
            </p:cNvPr>
            <p:cNvSpPr txBox="1"/>
            <p:nvPr/>
          </p:nvSpPr>
          <p:spPr>
            <a:xfrm>
              <a:off x="4065347" y="1750745"/>
              <a:ext cx="217552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Compiled from "MyApp.java"</a:t>
              </a:r>
            </a:p>
            <a:p>
              <a:r>
                <a:rPr lang="en-US" sz="700" dirty="0"/>
                <a:t>public class </a:t>
              </a:r>
              <a:r>
                <a:rPr lang="en-US" sz="700" dirty="0" err="1"/>
                <a:t>MyApp</a:t>
              </a:r>
              <a:r>
                <a:rPr lang="en-US" sz="700" dirty="0"/>
                <a:t> {</a:t>
              </a:r>
            </a:p>
            <a:p>
              <a:r>
                <a:rPr lang="en-US" sz="700" dirty="0"/>
                <a:t>  public </a:t>
              </a:r>
              <a:r>
                <a:rPr lang="en-US" sz="700" dirty="0" err="1"/>
                <a:t>MyApp</a:t>
              </a:r>
              <a:r>
                <a:rPr lang="en-US" sz="700" dirty="0"/>
                <a:t>();</a:t>
              </a:r>
            </a:p>
            <a:p>
              <a:r>
                <a:rPr lang="en-US" sz="700" dirty="0"/>
                <a:t>    Code:</a:t>
              </a:r>
            </a:p>
            <a:p>
              <a:r>
                <a:rPr lang="en-US" sz="700" dirty="0"/>
                <a:t>       0: aload_0</a:t>
              </a:r>
            </a:p>
            <a:p>
              <a:r>
                <a:rPr lang="en-US" sz="700" dirty="0"/>
                <a:t>       1: </a:t>
              </a:r>
              <a:r>
                <a:rPr lang="en-US" sz="700" dirty="0" err="1"/>
                <a:t>invokespecial</a:t>
              </a:r>
              <a:r>
                <a:rPr lang="en-US" sz="700" dirty="0"/>
                <a:t> #1                  // Method java/lang/Object."&lt;</a:t>
              </a:r>
              <a:r>
                <a:rPr lang="en-US" sz="700" dirty="0" err="1"/>
                <a:t>init</a:t>
              </a:r>
              <a:r>
                <a:rPr lang="en-US" sz="700" dirty="0"/>
                <a:t>&gt;":()V</a:t>
              </a:r>
            </a:p>
            <a:p>
              <a:r>
                <a:rPr lang="en-US" sz="700" dirty="0"/>
                <a:t>       4: return</a:t>
              </a:r>
            </a:p>
            <a:p>
              <a:endParaRPr lang="en-US" sz="700" dirty="0"/>
            </a:p>
            <a:p>
              <a:r>
                <a:rPr lang="en-US" sz="700" dirty="0"/>
                <a:t>  public static void main(</a:t>
              </a:r>
              <a:r>
                <a:rPr lang="en-US" sz="700" dirty="0" err="1"/>
                <a:t>java.lang.String</a:t>
              </a:r>
              <a:r>
                <a:rPr lang="en-US" sz="700" dirty="0"/>
                <a:t>[]);</a:t>
              </a:r>
            </a:p>
            <a:p>
              <a:r>
                <a:rPr lang="en-US" sz="700" dirty="0"/>
                <a:t>    Code:</a:t>
              </a:r>
            </a:p>
            <a:p>
              <a:r>
                <a:rPr lang="en-US" sz="700" dirty="0"/>
                <a:t>       0: </a:t>
              </a:r>
              <a:r>
                <a:rPr lang="en-US" sz="700" dirty="0" err="1"/>
                <a:t>getstatic</a:t>
              </a:r>
              <a:r>
                <a:rPr lang="en-US" sz="700" dirty="0"/>
                <a:t>     #7                  // Field java/lang/</a:t>
              </a:r>
              <a:r>
                <a:rPr lang="en-US" sz="700" dirty="0" err="1"/>
                <a:t>System.out:Ljava</a:t>
              </a:r>
              <a:r>
                <a:rPr lang="en-US" sz="700" dirty="0"/>
                <a:t>/io/</a:t>
              </a:r>
              <a:r>
                <a:rPr lang="en-US" sz="700" dirty="0" err="1"/>
                <a:t>PrintStream</a:t>
              </a:r>
              <a:r>
                <a:rPr lang="en-US" sz="700" dirty="0"/>
                <a:t>;</a:t>
              </a:r>
            </a:p>
            <a:p>
              <a:r>
                <a:rPr lang="en-US" sz="700" dirty="0"/>
                <a:t>       3: </a:t>
              </a:r>
              <a:r>
                <a:rPr lang="en-US" sz="700" dirty="0" err="1"/>
                <a:t>ldc</a:t>
              </a:r>
              <a:r>
                <a:rPr lang="en-US" sz="700" dirty="0"/>
                <a:t>           #13                 // String Hello!</a:t>
              </a:r>
            </a:p>
            <a:p>
              <a:r>
                <a:rPr lang="en-US" sz="700" dirty="0"/>
                <a:t>       5: </a:t>
              </a:r>
              <a:r>
                <a:rPr lang="en-US" sz="700" dirty="0" err="1"/>
                <a:t>invokevirtual</a:t>
              </a:r>
              <a:r>
                <a:rPr lang="en-US" sz="700" dirty="0"/>
                <a:t> #15                 // Method java/io/</a:t>
              </a:r>
              <a:r>
                <a:rPr lang="en-US" sz="700" dirty="0" err="1"/>
                <a:t>PrintStream.println</a:t>
              </a:r>
              <a:r>
                <a:rPr lang="en-US" sz="700" dirty="0"/>
                <a:t>:(</a:t>
              </a:r>
              <a:r>
                <a:rPr lang="en-US" sz="700" dirty="0" err="1"/>
                <a:t>Ljava</a:t>
              </a:r>
              <a:r>
                <a:rPr lang="en-US" sz="700" dirty="0"/>
                <a:t>/lang/String;)V</a:t>
              </a:r>
            </a:p>
            <a:p>
              <a:r>
                <a:rPr lang="en-US" sz="700" dirty="0"/>
                <a:t>       8: return</a:t>
              </a:r>
            </a:p>
            <a:p>
              <a:r>
                <a:rPr lang="en-US" sz="700" dirty="0"/>
                <a:t>}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B149DE-C9BA-D2C3-7CD6-B11C1303DD6A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3542100" y="2766408"/>
              <a:ext cx="523247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33853A-E351-3FB8-038A-A09942050DC3}"/>
                </a:ext>
              </a:extLst>
            </p:cNvPr>
            <p:cNvSpPr txBox="1"/>
            <p:nvPr/>
          </p:nvSpPr>
          <p:spPr>
            <a:xfrm>
              <a:off x="4297323" y="3979728"/>
              <a:ext cx="1394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MyApp.class</a:t>
              </a:r>
              <a:endParaRPr lang="en-US" b="1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345837-05E7-AB5C-8995-3192CDC1642E}"/>
                </a:ext>
              </a:extLst>
            </p:cNvPr>
            <p:cNvSpPr txBox="1"/>
            <p:nvPr/>
          </p:nvSpPr>
          <p:spPr>
            <a:xfrm>
              <a:off x="450563" y="3741805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MyApp.java</a:t>
              </a:r>
            </a:p>
          </p:txBody>
        </p:sp>
        <p:pic>
          <p:nvPicPr>
            <p:cNvPr id="13" name="Picture 2" descr="What is JVM (Java Virtual Machine)? with Architecture: JAVA Programming  Tutorial">
              <a:extLst>
                <a:ext uri="{FF2B5EF4-FFF2-40B4-BE49-F238E27FC236}">
                  <a16:creationId xmlns:a16="http://schemas.microsoft.com/office/drawing/2014/main" id="{6005D051-8E03-B8B4-8D02-89126B42BC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7514" y="2270055"/>
              <a:ext cx="1764807" cy="992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FF7D6C19-D805-772D-CB27-5985E0AF6059}"/>
                </a:ext>
              </a:extLst>
            </p:cNvPr>
            <p:cNvCxnSpPr>
              <a:stCxn id="13" idx="0"/>
              <a:endCxn id="13" idx="3"/>
            </p:cNvCxnSpPr>
            <p:nvPr/>
          </p:nvCxnSpPr>
          <p:spPr>
            <a:xfrm rot="16200000" flipH="1">
              <a:off x="8022943" y="2077030"/>
              <a:ext cx="496352" cy="882403"/>
            </a:xfrm>
            <a:prstGeom prst="bentConnector4">
              <a:avLst>
                <a:gd name="adj1" fmla="val -46056"/>
                <a:gd name="adj2" fmla="val 12590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C59BF0B-00DA-774A-DF15-89A7CC5A6640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8712321" y="3014584"/>
              <a:ext cx="1916414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41E2CA1-81E0-DB6F-3DDE-05EA0A3264A7}"/>
                </a:ext>
              </a:extLst>
            </p:cNvPr>
            <p:cNvSpPr/>
            <p:nvPr/>
          </p:nvSpPr>
          <p:spPr>
            <a:xfrm>
              <a:off x="8083929" y="1564664"/>
              <a:ext cx="1676399" cy="6330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INTERPRETER</a:t>
              </a:r>
              <a:endParaRPr lang="en-US" b="1" i="1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E56936C-D153-4BF4-299C-0BD4DDBA53B1}"/>
                </a:ext>
              </a:extLst>
            </p:cNvPr>
            <p:cNvSpPr/>
            <p:nvPr/>
          </p:nvSpPr>
          <p:spPr>
            <a:xfrm>
              <a:off x="9080478" y="2716352"/>
              <a:ext cx="1054204" cy="63304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Just-in-Time Compiler</a:t>
              </a:r>
              <a:endParaRPr lang="en-US" sz="1400" b="1" i="1" dirty="0"/>
            </a:p>
          </p:txBody>
        </p:sp>
        <p:pic>
          <p:nvPicPr>
            <p:cNvPr id="18" name="Picture 4" descr="Intro to x86 Assembly with FASM – Coding">
              <a:extLst>
                <a:ext uri="{FF2B5EF4-FFF2-40B4-BE49-F238E27FC236}">
                  <a16:creationId xmlns:a16="http://schemas.microsoft.com/office/drawing/2014/main" id="{E6E2D291-2D3C-0D6C-7ED6-53C22344D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28735" y="2466329"/>
              <a:ext cx="1304153" cy="1096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61610A-1B7E-FAFB-C10C-8B0176BAE9B4}"/>
                </a:ext>
              </a:extLst>
            </p:cNvPr>
            <p:cNvSpPr txBox="1"/>
            <p:nvPr/>
          </p:nvSpPr>
          <p:spPr>
            <a:xfrm>
              <a:off x="7278127" y="3218585"/>
              <a:ext cx="10255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[java]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4D5418-0CFA-22B9-515F-1B485676703C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6240867" y="2766407"/>
              <a:ext cx="706647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B7D9F6-2F96-9158-90AC-D135DB7D3244}"/>
                </a:ext>
              </a:extLst>
            </p:cNvPr>
            <p:cNvSpPr txBox="1"/>
            <p:nvPr/>
          </p:nvSpPr>
          <p:spPr>
            <a:xfrm>
              <a:off x="10346503" y="3741761"/>
              <a:ext cx="15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Machine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21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1F904A-A6EA-5494-C9F9-0305B0A3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  <p:pic>
        <p:nvPicPr>
          <p:cNvPr id="2052" name="Picture 4" descr="GitHub - raphw/byte-buddy: Runtime code generation for the Java virtual  machine.">
            <a:extLst>
              <a:ext uri="{FF2B5EF4-FFF2-40B4-BE49-F238E27FC236}">
                <a16:creationId xmlns:a16="http://schemas.microsoft.com/office/drawing/2014/main" id="{64A4EC81-94FC-55CE-B851-938DF498B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27" y="1236419"/>
            <a:ext cx="43910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77D3E3-1172-D1E2-3B82-D621BDCE1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476" y="1132277"/>
            <a:ext cx="4027726" cy="183886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8EC7B5-5DAB-5BB6-BCF7-FE90AC13FC57}"/>
              </a:ext>
            </a:extLst>
          </p:cNvPr>
          <p:cNvSpPr/>
          <p:nvPr/>
        </p:nvSpPr>
        <p:spPr>
          <a:xfrm>
            <a:off x="5175779" y="3722444"/>
            <a:ext cx="370954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by Hibernate</a:t>
            </a:r>
          </a:p>
        </p:txBody>
      </p:sp>
    </p:spTree>
    <p:extLst>
      <p:ext uri="{BB962C8B-B14F-4D97-AF65-F5344CB8AC3E}">
        <p14:creationId xmlns:p14="http://schemas.microsoft.com/office/powerpoint/2010/main" val="218197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2A6E3-895E-F1CB-EEA3-7FFEB677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person = {</a:t>
            </a:r>
          </a:p>
          <a:p>
            <a:r>
              <a:rPr lang="en-US" dirty="0"/>
              <a:t>  name: 'John Doe'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const name = </a:t>
            </a:r>
            <a:r>
              <a:rPr lang="en-US" dirty="0" err="1"/>
              <a:t>Reflect.get</a:t>
            </a:r>
            <a:r>
              <a:rPr lang="en-US" dirty="0"/>
              <a:t>(person, 'name');</a:t>
            </a:r>
          </a:p>
          <a:p>
            <a:r>
              <a:rPr lang="en-US" dirty="0"/>
              <a:t>console.log(name); // 'John Doe’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Reflect.set</a:t>
            </a:r>
            <a:r>
              <a:rPr lang="en-US" dirty="0"/>
              <a:t>(person, 'name', 'Jane Doe');</a:t>
            </a:r>
          </a:p>
          <a:p>
            <a:r>
              <a:rPr lang="en-US" dirty="0"/>
              <a:t>console.log(person.name); // 'Jane Doe'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111DC4-5260-BA66-947D-C1D81F46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in JavaScript </a:t>
            </a:r>
            <a:r>
              <a:rPr lang="en-US" sz="1800" b="1" dirty="0"/>
              <a:t>[Not in Syllabus]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8F9F3-A94F-D983-8B8C-7F6A300F5B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Reflect</a:t>
            </a:r>
            <a:r>
              <a:rPr lang="en-US" dirty="0"/>
              <a:t> API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Reflect.get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Reflect.set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565967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272606-AFA5-6B7B-7E46-4202320CB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RunTime</a:t>
            </a:r>
            <a:r>
              <a:rPr lang="en-US" dirty="0"/>
              <a:t> Type Information (RTTI) maintains type information for each object</a:t>
            </a:r>
          </a:p>
          <a:p>
            <a:r>
              <a:rPr lang="en-US" dirty="0"/>
              <a:t>But no language-level support for dynamic invocation</a:t>
            </a:r>
          </a:p>
          <a:p>
            <a:r>
              <a:rPr lang="en-US" dirty="0"/>
              <a:t>Possible to programmatically enable support for dynamic invocation</a:t>
            </a:r>
          </a:p>
          <a:p>
            <a:r>
              <a:rPr lang="en-US" dirty="0"/>
              <a:t>Describe with pseudo-code how you would design reflection for C++. Assume that the programmer must manually enable reflection for a class 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C4F17B-750B-7D1F-706B-94674448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in C++</a:t>
            </a:r>
            <a:r>
              <a:rPr lang="en-US" sz="3600" b="1" dirty="0"/>
              <a:t> </a:t>
            </a:r>
            <a:r>
              <a:rPr lang="en-US" sz="1600" b="1" dirty="0"/>
              <a:t>[Not in Syllabus]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740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1C6F73-B198-8B72-4F72-867A9033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Tapti Palit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A5FC8-F326-B925-DE62-4A66F194D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</p:txBody>
      </p:sp>
    </p:spTree>
    <p:extLst>
      <p:ext uri="{BB962C8B-B14F-4D97-AF65-F5344CB8AC3E}">
        <p14:creationId xmlns:p14="http://schemas.microsoft.com/office/powerpoint/2010/main" val="924226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6071CB-363F-23E3-67C0-29D85E493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  <a:p>
            <a:pPr lvl="1"/>
            <a:r>
              <a:rPr lang="en-US" dirty="0"/>
              <a:t>Proxy design pattern</a:t>
            </a:r>
          </a:p>
          <a:p>
            <a:pPr lvl="1"/>
            <a:r>
              <a:rPr lang="en-US" dirty="0"/>
              <a:t>Dynamic proxies in Java</a:t>
            </a:r>
          </a:p>
          <a:p>
            <a:pPr lvl="1"/>
            <a:r>
              <a:rPr lang="en-US" dirty="0"/>
              <a:t>Use case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8C1ED-906F-E138-5D46-C2BDAF83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36A39E-12CA-59A3-08DB-3C5DF1B0CA31}"/>
              </a:ext>
            </a:extLst>
          </p:cNvPr>
          <p:cNvCxnSpPr/>
          <p:nvPr/>
        </p:nvCxnSpPr>
        <p:spPr>
          <a:xfrm>
            <a:off x="105508" y="2602523"/>
            <a:ext cx="11887200" cy="0"/>
          </a:xfrm>
          <a:prstGeom prst="line">
            <a:avLst/>
          </a:prstGeom>
          <a:ln w="222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636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B8124-020A-7445-A217-A9170FE60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public 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public 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accelerating”);</a:t>
            </a:r>
          </a:p>
          <a:p>
            <a:r>
              <a:rPr lang="en-US" dirty="0"/>
              <a:t>		</a:t>
            </a:r>
            <a:r>
              <a:rPr lang="en-US" dirty="0" err="1"/>
              <a:t>super.accelerate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Car c = new Car();</a:t>
            </a:r>
          </a:p>
          <a:p>
            <a:r>
              <a:rPr lang="en-US" dirty="0" err="1"/>
              <a:t>c.accelerate</a:t>
            </a:r>
            <a:r>
              <a:rPr lang="en-US" dirty="0"/>
              <a:t>(); // will print</a:t>
            </a:r>
          </a:p>
          <a:p>
            <a:r>
              <a:rPr lang="en-US" dirty="0"/>
              <a:t>			// Car is accelerating</a:t>
            </a:r>
          </a:p>
          <a:p>
            <a:r>
              <a:rPr lang="en-US" dirty="0"/>
              <a:t>			// Vehicle is accelerating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9C0C61-33DD-E26F-9605-5358202F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</a:t>
            </a:r>
            <a:r>
              <a:rPr lang="en-US" dirty="0">
                <a:latin typeface="Consolas" panose="020B0609020204030204" pitchFamily="49" charset="0"/>
              </a:rPr>
              <a:t>super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15292-6B81-739E-EF1E-C24B048594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super</a:t>
            </a:r>
            <a:r>
              <a:rPr lang="en-US" dirty="0"/>
              <a:t> keyword is a reference to the parent class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9EFE5-4C7A-7672-1D31-B987FD048C63}"/>
              </a:ext>
            </a:extLst>
          </p:cNvPr>
          <p:cNvSpPr/>
          <p:nvPr/>
        </p:nvSpPr>
        <p:spPr>
          <a:xfrm>
            <a:off x="6794500" y="2806700"/>
            <a:ext cx="3797300" cy="5080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1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D15018-764E-A07F-637B-FD07094CB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Classes and objects abstract object behavior</a:t>
            </a:r>
          </a:p>
          <a:p>
            <a:pPr lvl="1"/>
            <a:r>
              <a:rPr lang="en-US" dirty="0"/>
              <a:t>Focus on reusing object behavior</a:t>
            </a:r>
          </a:p>
          <a:p>
            <a:r>
              <a:rPr lang="en-US" dirty="0"/>
              <a:t>Design patterns abstract object instantiation, composition, and behavior</a:t>
            </a:r>
          </a:p>
          <a:p>
            <a:pPr lvl="1"/>
            <a:r>
              <a:rPr lang="en-US" dirty="0"/>
              <a:t>Focus on abstracting the class design itself</a:t>
            </a:r>
          </a:p>
          <a:p>
            <a:pPr lvl="1"/>
            <a:r>
              <a:rPr lang="en-US" dirty="0"/>
              <a:t>Some design issues keep reoccurring</a:t>
            </a:r>
          </a:p>
          <a:p>
            <a:pPr lvl="2"/>
            <a:r>
              <a:rPr lang="en-US" dirty="0"/>
              <a:t>Allows software engineers to </a:t>
            </a:r>
            <a:r>
              <a:rPr lang="en-US" i="1" dirty="0"/>
              <a:t>reuse </a:t>
            </a:r>
            <a:r>
              <a:rPr lang="en-US" dirty="0"/>
              <a:t>previous class designs and architectures</a:t>
            </a:r>
          </a:p>
          <a:p>
            <a:r>
              <a:rPr lang="en-US" dirty="0"/>
              <a:t>Design patterns used in regular applications (reflection typically used only in frameworks)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CF0D9B-3FF0-F5F8-99C8-2C8863BB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– quick overview</a:t>
            </a:r>
          </a:p>
        </p:txBody>
      </p:sp>
    </p:spTree>
    <p:extLst>
      <p:ext uri="{BB962C8B-B14F-4D97-AF65-F5344CB8AC3E}">
        <p14:creationId xmlns:p14="http://schemas.microsoft.com/office/powerpoint/2010/main" val="48199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C80823-DB83-436D-56B9-2935A03C68F4}"/>
              </a:ext>
            </a:extLst>
          </p:cNvPr>
          <p:cNvGrpSpPr/>
          <p:nvPr/>
        </p:nvGrpSpPr>
        <p:grpSpPr>
          <a:xfrm>
            <a:off x="7080738" y="1430215"/>
            <a:ext cx="3414514" cy="2923828"/>
            <a:chOff x="7080738" y="1430215"/>
            <a:chExt cx="3414514" cy="29238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F9C68E-BE0A-F52F-EE1C-1E5830AA6920}"/>
                </a:ext>
              </a:extLst>
            </p:cNvPr>
            <p:cNvSpPr/>
            <p:nvPr/>
          </p:nvSpPr>
          <p:spPr>
            <a:xfrm>
              <a:off x="7080738" y="1430215"/>
              <a:ext cx="3414514" cy="28889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89C322-6524-B9E2-640F-B254951B10A1}"/>
                </a:ext>
              </a:extLst>
            </p:cNvPr>
            <p:cNvSpPr txBox="1"/>
            <p:nvPr/>
          </p:nvSpPr>
          <p:spPr>
            <a:xfrm>
              <a:off x="7852913" y="1430215"/>
              <a:ext cx="2334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/>
                <a:t>ProxyObject</a:t>
              </a:r>
              <a:endParaRPr lang="en-US" sz="2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210AC7-1672-B796-A1F0-106B26ED9D75}"/>
                </a:ext>
              </a:extLst>
            </p:cNvPr>
            <p:cNvSpPr/>
            <p:nvPr/>
          </p:nvSpPr>
          <p:spPr>
            <a:xfrm>
              <a:off x="8637591" y="4104540"/>
              <a:ext cx="586154" cy="21101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B4DA07-1269-548B-900C-5DFADBB679C8}"/>
                </a:ext>
              </a:extLst>
            </p:cNvPr>
            <p:cNvSpPr txBox="1"/>
            <p:nvPr/>
          </p:nvSpPr>
          <p:spPr>
            <a:xfrm>
              <a:off x="9260072" y="3984711"/>
              <a:ext cx="1184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func</a:t>
              </a:r>
              <a:r>
                <a:rPr lang="en-US" dirty="0">
                  <a:latin typeface="Consolas" panose="020B0609020204030204" pitchFamily="49" charset="0"/>
                </a:rPr>
                <a:t>()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C84AFA9-3D5A-22DB-472E-A21AB0B3951D}"/>
                </a:ext>
              </a:extLst>
            </p:cNvPr>
            <p:cNvCxnSpPr>
              <a:cxnSpLocks/>
              <a:stCxn id="14" idx="0"/>
              <a:endCxn id="9" idx="2"/>
            </p:cNvCxnSpPr>
            <p:nvPr/>
          </p:nvCxnSpPr>
          <p:spPr>
            <a:xfrm flipH="1" flipV="1">
              <a:off x="8924967" y="3308230"/>
              <a:ext cx="5701" cy="79631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3C35C940-4D55-AFA0-199A-37EDB61F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design pattern - what is a proxy object?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1EF6E-E886-747C-EDF5-2A77500EBB7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proxy is a wrapper around the original/target object</a:t>
            </a:r>
          </a:p>
          <a:p>
            <a:r>
              <a:rPr lang="en-US" dirty="0"/>
              <a:t>The user accesses the proxy object instead of the original target object</a:t>
            </a:r>
          </a:p>
          <a:p>
            <a:r>
              <a:rPr lang="en-US" dirty="0"/>
              <a:t>The proxy object typically</a:t>
            </a:r>
          </a:p>
          <a:p>
            <a:pPr lvl="1"/>
            <a:r>
              <a:rPr lang="en-US" dirty="0"/>
              <a:t>Performs some additional logic</a:t>
            </a:r>
          </a:p>
          <a:p>
            <a:pPr lvl="1"/>
            <a:r>
              <a:rPr lang="en-US" dirty="0"/>
              <a:t>Then forwards the request to the target object</a:t>
            </a:r>
          </a:p>
          <a:p>
            <a:pPr lvl="2"/>
            <a:r>
              <a:rPr lang="en-US" b="1" i="1" dirty="0"/>
              <a:t>Method interception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793D35-7917-C0EF-5D8B-C2300F29C995}"/>
              </a:ext>
            </a:extLst>
          </p:cNvPr>
          <p:cNvGrpSpPr/>
          <p:nvPr/>
        </p:nvGrpSpPr>
        <p:grpSpPr>
          <a:xfrm>
            <a:off x="7583282" y="1931572"/>
            <a:ext cx="2804610" cy="1376658"/>
            <a:chOff x="7583282" y="1931572"/>
            <a:chExt cx="2804610" cy="13766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FD5DD6-4C0F-FC8C-4FF7-BCB43B7D5C54}"/>
                </a:ext>
              </a:extLst>
            </p:cNvPr>
            <p:cNvSpPr/>
            <p:nvPr/>
          </p:nvSpPr>
          <p:spPr>
            <a:xfrm>
              <a:off x="7583282" y="1931572"/>
              <a:ext cx="2604072" cy="1376658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Object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2B6133-124B-EC62-835B-17D30D4B3D96}"/>
                </a:ext>
              </a:extLst>
            </p:cNvPr>
            <p:cNvSpPr/>
            <p:nvPr/>
          </p:nvSpPr>
          <p:spPr>
            <a:xfrm>
              <a:off x="8631890" y="3097214"/>
              <a:ext cx="586154" cy="21101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CB3755-01BD-59F3-9BA0-14E8632DF030}"/>
                </a:ext>
              </a:extLst>
            </p:cNvPr>
            <p:cNvSpPr txBox="1"/>
            <p:nvPr/>
          </p:nvSpPr>
          <p:spPr>
            <a:xfrm>
              <a:off x="9203861" y="2833390"/>
              <a:ext cx="1184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func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()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A2885C-CAD9-9A1E-FFFE-0DF525A67926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8924967" y="4315556"/>
            <a:ext cx="5701" cy="8279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D89E94F-E2FF-C34E-9E88-59E5744EB48F}"/>
              </a:ext>
            </a:extLst>
          </p:cNvPr>
          <p:cNvSpPr/>
          <p:nvPr/>
        </p:nvSpPr>
        <p:spPr>
          <a:xfrm>
            <a:off x="7583283" y="3515661"/>
            <a:ext cx="2604071" cy="5012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additional_functionality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89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A87D5-93E7-E68E-E931-9E8C74AD4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Imagine –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want – </a:t>
            </a:r>
          </a:p>
          <a:p>
            <a:pPr lvl="1"/>
            <a:r>
              <a:rPr lang="en-US" dirty="0"/>
              <a:t>Every time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, and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/>
              <a:t> method is invoked, it should log the access on the terminal</a:t>
            </a:r>
          </a:p>
          <a:p>
            <a:r>
              <a:rPr lang="en-US" dirty="0"/>
              <a:t>Challenge: can’t change source code of Jedis library or the other 3</a:t>
            </a:r>
            <a:r>
              <a:rPr lang="en-US" baseline="30000" dirty="0"/>
              <a:t>rd</a:t>
            </a:r>
            <a:r>
              <a:rPr lang="en-US" dirty="0"/>
              <a:t> party library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F46D73-C875-A282-3D0E-2E46E59C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method “interception”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C3AE31-1C35-331F-C02F-3CC5DD64CF10}"/>
              </a:ext>
            </a:extLst>
          </p:cNvPr>
          <p:cNvGrpSpPr/>
          <p:nvPr/>
        </p:nvGrpSpPr>
        <p:grpSpPr>
          <a:xfrm>
            <a:off x="750277" y="1300459"/>
            <a:ext cx="11210979" cy="2465258"/>
            <a:chOff x="750277" y="1300459"/>
            <a:chExt cx="11210979" cy="24652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564A30-B6A8-CA4C-DE35-9963EB550C76}"/>
                </a:ext>
              </a:extLst>
            </p:cNvPr>
            <p:cNvGrpSpPr/>
            <p:nvPr/>
          </p:nvGrpSpPr>
          <p:grpSpPr>
            <a:xfrm>
              <a:off x="750277" y="1300459"/>
              <a:ext cx="10809544" cy="1828798"/>
              <a:chOff x="750277" y="1300459"/>
              <a:chExt cx="10809544" cy="182879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D0B290B-89D2-D901-3316-27BF14E269E0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953D826-29B8-DFE6-BD06-7893B75AA862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E556B3-550A-3865-ADAF-CBB5FF32463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6248664-A199-3032-65C3-428877887A34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87E5FAA-0839-9E70-4576-85833F5DF6D4}"/>
                  </a:ext>
                </a:extLst>
              </p:cNvPr>
              <p:cNvCxnSpPr>
                <a:cxnSpLocks/>
                <a:stCxn id="12" idx="3"/>
                <a:endCxn id="15" idx="1"/>
              </p:cNvCxnSpPr>
              <p:nvPr/>
            </p:nvCxnSpPr>
            <p:spPr>
              <a:xfrm>
                <a:off x="7163162" y="2214858"/>
                <a:ext cx="2041845" cy="131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794A204-76B2-29AF-B741-3D56CE7883FD}"/>
                  </a:ext>
                </a:extLst>
              </p:cNvPr>
              <p:cNvSpPr/>
              <p:nvPr/>
            </p:nvSpPr>
            <p:spPr>
              <a:xfrm>
                <a:off x="9205007" y="1657468"/>
                <a:ext cx="2354814" cy="1141089"/>
              </a:xfrm>
              <a:prstGeom prst="round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Another 3</a:t>
                </a:r>
                <a:r>
                  <a:rPr lang="en-US" sz="2400" baseline="30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rd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party library </a:t>
                </a:r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libGameEngine</a:t>
                </a:r>
                <a:endParaRPr 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D94AF8-4268-DA0A-3AE8-420AA1051740}"/>
                  </a:ext>
                </a:extLst>
              </p:cNvPr>
              <p:cNvSpPr txBox="1"/>
              <p:nvPr/>
            </p:nvSpPr>
            <p:spPr>
              <a:xfrm>
                <a:off x="7240557" y="1664466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320E39-EB97-4F98-E22B-E6C1168FA57E}"/>
                </a:ext>
              </a:extLst>
            </p:cNvPr>
            <p:cNvSpPr txBox="1"/>
            <p:nvPr/>
          </p:nvSpPr>
          <p:spPr>
            <a:xfrm>
              <a:off x="8418235" y="2934720"/>
              <a:ext cx="35430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/>
                <a:t>Invokes </a:t>
              </a:r>
              <a:r>
                <a:rPr lang="en-US" sz="2400" b="1" i="1" dirty="0" err="1"/>
                <a:t>hset</a:t>
              </a:r>
              <a:r>
                <a:rPr lang="en-US" sz="2400" b="1" i="1" dirty="0"/>
                <a:t>, </a:t>
              </a:r>
              <a:r>
                <a:rPr lang="en-US" sz="2400" b="1" i="1" dirty="0" err="1"/>
                <a:t>hget</a:t>
              </a:r>
              <a:r>
                <a:rPr lang="en-US" sz="2400" b="1" i="1" dirty="0"/>
                <a:t>, </a:t>
              </a:r>
              <a:r>
                <a:rPr lang="en-US" sz="2400" b="1" i="1" dirty="0" err="1"/>
                <a:t>hgetAll</a:t>
              </a:r>
              <a:endParaRPr lang="en-US" sz="2400" b="1" i="1" dirty="0"/>
            </a:p>
            <a:p>
              <a:r>
                <a:rPr lang="en-US" sz="2400" b="1" i="1" dirty="0"/>
                <a:t>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280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2638E6-B5AA-23CD-5E42-247F42A7B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Jedis {</a:t>
            </a:r>
          </a:p>
          <a:p>
            <a:r>
              <a:rPr lang="en-US" dirty="0"/>
              <a:t>	public void </a:t>
            </a:r>
            <a:r>
              <a:rPr lang="en-US" dirty="0" err="1"/>
              <a:t>hget</a:t>
            </a:r>
            <a:r>
              <a:rPr lang="en-US" dirty="0"/>
              <a:t>() {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() {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LoggedJedis</a:t>
            </a:r>
            <a:r>
              <a:rPr lang="en-US" dirty="0"/>
              <a:t> extends Jedis {</a:t>
            </a:r>
          </a:p>
          <a:p>
            <a:r>
              <a:rPr lang="en-US" dirty="0"/>
              <a:t>	public void </a:t>
            </a:r>
            <a:r>
              <a:rPr lang="en-US" dirty="0" err="1"/>
              <a:t>hget</a:t>
            </a:r>
            <a:r>
              <a:rPr lang="en-US" dirty="0"/>
              <a:t>() {</a:t>
            </a:r>
          </a:p>
          <a:p>
            <a:r>
              <a:rPr lang="en-US" dirty="0"/>
              <a:t>		log(…);</a:t>
            </a:r>
          </a:p>
          <a:p>
            <a:r>
              <a:rPr lang="en-US" dirty="0"/>
              <a:t>		</a:t>
            </a:r>
            <a:r>
              <a:rPr lang="en-US" dirty="0" err="1"/>
              <a:t>super.hget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() {</a:t>
            </a:r>
          </a:p>
          <a:p>
            <a:r>
              <a:rPr lang="en-US" dirty="0"/>
              <a:t>		log(…);</a:t>
            </a:r>
          </a:p>
          <a:p>
            <a:r>
              <a:rPr lang="en-US" dirty="0"/>
              <a:t>		</a:t>
            </a:r>
            <a:r>
              <a:rPr lang="en-US" dirty="0" err="1"/>
              <a:t>super.hset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29A217-3495-41D0-76AB-EF7791E7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specialize a class?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96645-72DA-B45B-C430-C5990D0E18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Which OO principle to use?</a:t>
            </a:r>
          </a:p>
          <a:p>
            <a:r>
              <a:rPr lang="en-US" dirty="0"/>
              <a:t>Inheritance!!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955AC-9A2E-63CD-313E-689026672D7E}"/>
              </a:ext>
            </a:extLst>
          </p:cNvPr>
          <p:cNvSpPr/>
          <p:nvPr/>
        </p:nvSpPr>
        <p:spPr>
          <a:xfrm>
            <a:off x="6515100" y="2286000"/>
            <a:ext cx="3797300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71C89-05FC-5722-C249-6820B5F5C981}"/>
              </a:ext>
            </a:extLst>
          </p:cNvPr>
          <p:cNvSpPr/>
          <p:nvPr/>
        </p:nvSpPr>
        <p:spPr>
          <a:xfrm>
            <a:off x="6515100" y="3429000"/>
            <a:ext cx="3797300" cy="11303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animBg="1"/>
      <p:bldP spid="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2CB30-6524-9752-F6DD-2B8B0A86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can I pass a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to </a:t>
            </a:r>
            <a:r>
              <a:rPr lang="en-US" dirty="0" err="1">
                <a:latin typeface="Consolas" panose="020B0609020204030204" pitchFamily="49" charset="0"/>
              </a:rPr>
              <a:t>libGameEngine</a:t>
            </a:r>
            <a:r>
              <a:rPr lang="en-US" dirty="0"/>
              <a:t> when it expects a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object?</a:t>
            </a:r>
          </a:p>
          <a:p>
            <a:pPr lvl="1"/>
            <a:r>
              <a:rPr lang="en-US" dirty="0"/>
              <a:t>Because it extends Jedis;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 </a:t>
            </a:r>
            <a:r>
              <a:rPr lang="en-US" b="1" i="1" dirty="0"/>
              <a:t>is a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Because of runtime polymorphism it will execute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 err="1"/>
              <a:t>’s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 methods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B83EEF-4F76-DAFC-3ED4-21606F23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pass </a:t>
            </a:r>
            <a:r>
              <a:rPr lang="en-US" dirty="0" err="1"/>
              <a:t>LoggedJedis</a:t>
            </a:r>
            <a:r>
              <a:rPr lang="en-US" dirty="0"/>
              <a:t> object to </a:t>
            </a:r>
            <a:r>
              <a:rPr lang="en-US" dirty="0" err="1"/>
              <a:t>libGameEngine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739D37-7880-83C4-BE8F-843B9027DF56}"/>
              </a:ext>
            </a:extLst>
          </p:cNvPr>
          <p:cNvGrpSpPr/>
          <p:nvPr/>
        </p:nvGrpSpPr>
        <p:grpSpPr>
          <a:xfrm>
            <a:off x="382074" y="1372042"/>
            <a:ext cx="10884237" cy="2151343"/>
            <a:chOff x="750277" y="1245042"/>
            <a:chExt cx="10884237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25F721-48D1-5154-20BE-86389701CC90}"/>
                </a:ext>
              </a:extLst>
            </p:cNvPr>
            <p:cNvGrpSpPr/>
            <p:nvPr/>
          </p:nvGrpSpPr>
          <p:grpSpPr>
            <a:xfrm>
              <a:off x="750277" y="1245042"/>
              <a:ext cx="10884237" cy="1884215"/>
              <a:chOff x="750277" y="1245042"/>
              <a:chExt cx="10884237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646E562-583E-E5BA-BB14-11680C5B2DFB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988A533-3B3E-FAA4-5725-91BB1270BB9B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DFFE24-720E-84E6-7E63-601C67BA881D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F782B-9B0E-0167-EBBA-1121C5F1EFD4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88DFE70-CC58-EDF0-3F76-B149020AD2F6}"/>
                  </a:ext>
                </a:extLst>
              </p:cNvPr>
              <p:cNvCxnSpPr>
                <a:cxnSpLocks/>
                <a:endCxn id="15" idx="1"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B8BABCD-6B89-C25A-B99D-E89C40070ECD}"/>
                  </a:ext>
                </a:extLst>
              </p:cNvPr>
              <p:cNvSpPr/>
              <p:nvPr/>
            </p:nvSpPr>
            <p:spPr>
              <a:xfrm>
                <a:off x="9205008" y="1704904"/>
                <a:ext cx="2429506" cy="1019908"/>
              </a:xfrm>
              <a:prstGeom prst="round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Another 3</a:t>
                </a:r>
                <a:r>
                  <a:rPr lang="en-US" sz="2400" baseline="30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rd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party library </a:t>
                </a:r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libGameEngine</a:t>
                </a:r>
                <a:endParaRPr 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FD88B3-B3D7-FEE9-AAC0-A12A6DADBA95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62D2FE-7E92-0C7F-0761-EDD60E686351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8897E78-B37E-8E54-2E66-00349C367264}"/>
              </a:ext>
            </a:extLst>
          </p:cNvPr>
          <p:cNvSpPr/>
          <p:nvPr/>
        </p:nvSpPr>
        <p:spPr>
          <a:xfrm>
            <a:off x="6667465" y="1247877"/>
            <a:ext cx="2192579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AC1D-5EB7-D548-58C5-41D505FF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F7247-4BCF-6107-C830-CED5F651D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Can’t get </a:t>
            </a:r>
            <a:r>
              <a:rPr lang="en-US" dirty="0" err="1">
                <a:latin typeface="Consolas" panose="020B0609020204030204" pitchFamily="49" charset="0"/>
              </a:rPr>
              <a:t>libRedis</a:t>
            </a:r>
            <a:r>
              <a:rPr lang="en-US" dirty="0"/>
              <a:t> library to return a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0EFF73-DE23-0AF3-3E61-81D8BF30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024F8D-F9D9-65EC-E697-275B974B908C}"/>
              </a:ext>
            </a:extLst>
          </p:cNvPr>
          <p:cNvGrpSpPr/>
          <p:nvPr/>
        </p:nvGrpSpPr>
        <p:grpSpPr>
          <a:xfrm>
            <a:off x="763074" y="1740342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CCD399B-BD80-ED0A-C014-518EFD121231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47DBCA3-6472-EAF6-3AF5-0CC419E59955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9FB3434-89F1-566E-DD3B-6F8D2D6470B4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6A0911-A275-ABD3-1708-AD6CD57C9E1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5013264-2124-5BEF-B277-EB546855F71B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CBE45CB-9A8C-DFCB-F9C2-2FEFA51F1355}"/>
                  </a:ext>
                </a:extLst>
              </p:cNvPr>
              <p:cNvCxnSpPr>
                <a:cxnSpLocks/>
                <a:stCxn id="13" idx="3"/>
                <a:endCxn id="4" idx="1"/>
              </p:cNvCxnSpPr>
              <p:nvPr/>
            </p:nvCxnSpPr>
            <p:spPr>
              <a:xfrm flipV="1">
                <a:off x="7163162" y="2213729"/>
                <a:ext cx="1818132" cy="1129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2D5EC1-5D8D-7BB3-79C2-7C62DF2C3FD9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3CB5F9-6BA9-A41E-CE23-9E3A35073F24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B0A41B-21FD-5586-7B03-55321981FD06}"/>
              </a:ext>
            </a:extLst>
          </p:cNvPr>
          <p:cNvSpPr/>
          <p:nvPr/>
        </p:nvSpPr>
        <p:spPr>
          <a:xfrm>
            <a:off x="1115751" y="3763376"/>
            <a:ext cx="773525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i="1" cap="none" spc="0" dirty="0">
                <a:ln/>
                <a:solidFill>
                  <a:schemeClr val="accent4"/>
                </a:solidFill>
                <a:effectLst/>
              </a:rPr>
              <a:t>How to convert Jedis object to </a:t>
            </a:r>
            <a:r>
              <a:rPr lang="en-US" sz="2800" b="1" i="1" cap="none" spc="0" dirty="0" err="1">
                <a:ln/>
                <a:solidFill>
                  <a:schemeClr val="accent4"/>
                </a:solidFill>
                <a:effectLst/>
              </a:rPr>
              <a:t>LoggedJedis</a:t>
            </a:r>
            <a:r>
              <a:rPr lang="en-US" sz="2800" b="1" i="1" cap="none" spc="0" dirty="0">
                <a:ln/>
                <a:solidFill>
                  <a:schemeClr val="accent4"/>
                </a:solidFill>
                <a:effectLst/>
              </a:rPr>
              <a:t> object?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57427-8657-34E1-3CB4-B254D14831AC}"/>
              </a:ext>
            </a:extLst>
          </p:cNvPr>
          <p:cNvSpPr/>
          <p:nvPr/>
        </p:nvSpPr>
        <p:spPr>
          <a:xfrm>
            <a:off x="2812145" y="1740342"/>
            <a:ext cx="2192579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0B452A-4006-03EC-41EA-E93F9615637B}"/>
              </a:ext>
            </a:extLst>
          </p:cNvPr>
          <p:cNvSpPr/>
          <p:nvPr/>
        </p:nvSpPr>
        <p:spPr>
          <a:xfrm>
            <a:off x="8994091" y="2199075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961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F151F-A016-D3DE-6E4E-AD3465C2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7A177-667F-2CCC-3DE6-0CEF51D6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Option 1 - Manually copy the fields</a:t>
            </a: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r>
              <a:rPr lang="en-US" dirty="0">
                <a:ln/>
                <a:solidFill>
                  <a:schemeClr val="accent4"/>
                </a:solidFill>
              </a:rPr>
              <a:t>Error-prone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Can’t access private fields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Must deep clone any references contained by Jedis object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Must keep updated with any changes in </a:t>
            </a:r>
            <a:r>
              <a:rPr lang="en-US" dirty="0" err="1">
                <a:ln/>
                <a:solidFill>
                  <a:schemeClr val="accent4"/>
                </a:solidFill>
              </a:rPr>
              <a:t>libRedis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43968B-4F7D-05D0-D9D9-DE878C8D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523F04-A0B6-7BA6-DE1D-D0E85BB23BE6}"/>
              </a:ext>
            </a:extLst>
          </p:cNvPr>
          <p:cNvGrpSpPr/>
          <p:nvPr/>
        </p:nvGrpSpPr>
        <p:grpSpPr>
          <a:xfrm>
            <a:off x="873162" y="1277657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25A04E-D43A-7BA0-A0A3-B7D4FF982286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0D0B2CA-33ED-9168-BA66-E0439A6D8681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B3D16FF-CAE2-EE07-AD25-6B0A2C2CB8D7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921D26-4158-390F-B3E7-942FB0ADBA8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CADC9-891A-E554-4EDD-41233AC5B272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B2F2D5-677C-B85E-7D88-F23FE7B1ED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3DD218-7197-E290-8E74-D959A86D7280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BEB34-942B-BA67-4E62-1EE779962B91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5D64FB-4F98-1CE7-EC86-2D3F3B88064B}"/>
              </a:ext>
            </a:extLst>
          </p:cNvPr>
          <p:cNvSpPr txBox="1"/>
          <p:nvPr/>
        </p:nvSpPr>
        <p:spPr>
          <a:xfrm>
            <a:off x="3650881" y="3191057"/>
            <a:ext cx="5756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loggedJedis.setUrl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jedis.getUrl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loggedJedis.setPort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jedis.getPort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C39278-7EF5-03EA-7B77-9540484446C9}"/>
              </a:ext>
            </a:extLst>
          </p:cNvPr>
          <p:cNvSpPr/>
          <p:nvPr/>
        </p:nvSpPr>
        <p:spPr>
          <a:xfrm>
            <a:off x="9327893" y="1738503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161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D2C7-6255-B4D0-E1CB-63F41CE7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7956F-71E0-02AB-208F-67C3398A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Proxy option: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 </a:t>
            </a:r>
            <a:r>
              <a:rPr lang="en-US" i="1" dirty="0"/>
              <a:t>contains </a:t>
            </a:r>
            <a:r>
              <a:rPr lang="en-US" dirty="0"/>
              <a:t>the original/target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F9B001-4FDA-52BF-72E9-A7A91632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04E0EC-D248-652F-8BC7-58469FC5C608}"/>
              </a:ext>
            </a:extLst>
          </p:cNvPr>
          <p:cNvGrpSpPr/>
          <p:nvPr/>
        </p:nvGrpSpPr>
        <p:grpSpPr>
          <a:xfrm>
            <a:off x="763074" y="1740342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3C87F9-E275-92D3-99D0-DB117375E419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DCE25F9-0BEF-C8F0-CCAE-ED22485050F6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A672DBE-8448-7DA8-D731-F92552EFD188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8AD688-B992-F0EB-B195-E08BE1FEB401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73E1FA5-2A68-238F-5004-7444151F9DE7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8F14165-AE2E-8488-E37C-7968ADDCA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0D8695-92C7-475B-419A-96E5E5F36EC9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BB2D2-480C-57D1-FC5B-7A9FB9BF9E7A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3A0F10-AA4D-704A-3ECE-AB0EB0543529}"/>
              </a:ext>
            </a:extLst>
          </p:cNvPr>
          <p:cNvSpPr txBox="1"/>
          <p:nvPr/>
        </p:nvSpPr>
        <p:spPr>
          <a:xfrm>
            <a:off x="2234271" y="3749850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loggedJedis.setJedis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B61DA-A3B7-9E57-5484-F09D8A38C668}"/>
              </a:ext>
            </a:extLst>
          </p:cNvPr>
          <p:cNvSpPr/>
          <p:nvPr/>
        </p:nvSpPr>
        <p:spPr>
          <a:xfrm>
            <a:off x="2234271" y="3660851"/>
            <a:ext cx="6071529" cy="9744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A5B378-ECC4-871A-A86A-44903C977CD4}"/>
              </a:ext>
            </a:extLst>
          </p:cNvPr>
          <p:cNvSpPr/>
          <p:nvPr/>
        </p:nvSpPr>
        <p:spPr>
          <a:xfrm>
            <a:off x="9217805" y="2210364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12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CC80-DCA4-A2F3-68CB-B34A12A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6B47569-8DB3-FC60-EAEF-9C27B888621E}"/>
              </a:ext>
            </a:extLst>
          </p:cNvPr>
          <p:cNvGrpSpPr/>
          <p:nvPr/>
        </p:nvGrpSpPr>
        <p:grpSpPr>
          <a:xfrm>
            <a:off x="1055077" y="1406768"/>
            <a:ext cx="3962400" cy="3697333"/>
            <a:chOff x="6553200" y="1477107"/>
            <a:chExt cx="3962400" cy="369733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644DAFC-8440-8D74-5434-7B150617869E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F07D3C6-F0B8-5E53-1C94-B84402F39034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6476910-F87F-D22C-E793-C00A67F72758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DEC17F4-151A-FE6B-AA7A-06725AF6F604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C00A58-6D13-19D8-A3D3-67F57C1DB035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DDBBBF-EF97-1F04-C922-5792C2EAF778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09E86A-CB42-8767-31E5-8264A38FECE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AAE7FB-78C4-EF60-31DE-F01BBE1B2438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19D73-3A4F-1952-D5D5-64D3581C136C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1F15233-0357-E5FB-978B-C8C49A1B978D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5620A36-DC1D-57AC-4958-BE3968A550C5}"/>
                  </a:ext>
                </a:extLst>
              </p:cNvPr>
              <p:cNvCxnSpPr>
                <a:cxnSpLocks/>
                <a:stCxn id="13" idx="0"/>
                <a:endCxn id="18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5EA1FB9F-46E5-090A-04BF-25D09A068E07}"/>
                  </a:ext>
                </a:extLst>
              </p:cNvPr>
              <p:cNvCxnSpPr>
                <a:cxnSpLocks/>
                <a:stCxn id="17" idx="0"/>
                <a:endCxn id="7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9BB24F2-7083-1D0C-07AE-F60741C9E463}"/>
                  </a:ext>
                </a:extLst>
              </p:cNvPr>
              <p:cNvCxnSpPr>
                <a:cxnSpLocks/>
                <a:stCxn id="18" idx="0"/>
                <a:endCxn id="8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C487434-A16E-FA8A-B8C1-BD6D661CA7BD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7A5902F-C6BD-8E9A-D319-A813594BEF7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3CF7E8A-566C-CBDB-7599-D8865044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33425" cy="5046453"/>
          </a:xfrm>
        </p:spPr>
        <p:txBody>
          <a:bodyPr/>
          <a:lstStyle/>
          <a:p>
            <a:r>
              <a:rPr lang="en-US" dirty="0"/>
              <a:t>class Jedis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JedisProxy</a:t>
            </a:r>
            <a:r>
              <a:rPr lang="en-US" dirty="0"/>
              <a:t> </a:t>
            </a:r>
            <a:r>
              <a:rPr lang="en-US" b="1" dirty="0"/>
              <a:t>extends Jedis</a:t>
            </a:r>
            <a:r>
              <a:rPr lang="en-US" dirty="0"/>
              <a:t>{</a:t>
            </a:r>
          </a:p>
          <a:p>
            <a:r>
              <a:rPr lang="en-US" dirty="0"/>
              <a:t>	private Jedis </a:t>
            </a:r>
            <a:r>
              <a:rPr lang="en-US" dirty="0" err="1"/>
              <a:t>jedis</a:t>
            </a:r>
            <a:r>
              <a:rPr lang="en-US" dirty="0"/>
              <a:t>; // Wrap jedis obj</a:t>
            </a:r>
          </a:p>
          <a:p>
            <a:endParaRPr lang="en-US" dirty="0"/>
          </a:p>
          <a:p>
            <a:r>
              <a:rPr lang="en-US" dirty="0"/>
              <a:t>	public log() { </a:t>
            </a:r>
            <a:r>
              <a:rPr lang="en-US" dirty="0" err="1"/>
              <a:t>S.o.p</a:t>
            </a:r>
            <a:r>
              <a:rPr lang="en-US" dirty="0"/>
              <a:t>(…); 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return </a:t>
            </a:r>
            <a:r>
              <a:rPr lang="en-US" dirty="0" err="1"/>
              <a:t>jedis.hget</a:t>
            </a:r>
            <a:r>
              <a:rPr lang="en-US" dirty="0"/>
              <a:t>(id);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(id, 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5D4868-2E65-9E86-5EB1-4C9A543D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Proxy object wraps and extends target class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5455C6-C0CD-FAC3-3B41-90C481704CBD}"/>
              </a:ext>
            </a:extLst>
          </p:cNvPr>
          <p:cNvGrpSpPr/>
          <p:nvPr/>
        </p:nvGrpSpPr>
        <p:grpSpPr>
          <a:xfrm>
            <a:off x="1834661" y="1969476"/>
            <a:ext cx="2403231" cy="1582615"/>
            <a:chOff x="7332784" y="2039815"/>
            <a:chExt cx="2403231" cy="15826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B5C5B5-30FA-ED5C-C165-0D90B57B8290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C0E506-2D25-82A7-8A42-E63FADD97413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73EC3C-78B4-53A2-3C3D-968B3DFB308E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FC153E-09ED-C471-3F73-D984E3C1F996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29C690-BA7F-29F1-E72A-8E3C2C5928FF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FF8E1C5-5A33-BBEA-75AC-E6FFA242A5F6}"/>
              </a:ext>
            </a:extLst>
          </p:cNvPr>
          <p:cNvSpPr/>
          <p:nvPr/>
        </p:nvSpPr>
        <p:spPr>
          <a:xfrm>
            <a:off x="6096000" y="2139294"/>
            <a:ext cx="4841631" cy="52753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CB0751-5F1D-BC8F-961C-D8F98C8112AB}"/>
              </a:ext>
            </a:extLst>
          </p:cNvPr>
          <p:cNvSpPr/>
          <p:nvPr/>
        </p:nvSpPr>
        <p:spPr>
          <a:xfrm>
            <a:off x="6176512" y="3182813"/>
            <a:ext cx="4841631" cy="101534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01D447-E2AC-FF60-76E1-CBAC67D9F281}"/>
              </a:ext>
            </a:extLst>
          </p:cNvPr>
          <p:cNvSpPr/>
          <p:nvPr/>
        </p:nvSpPr>
        <p:spPr>
          <a:xfrm>
            <a:off x="286814" y="5362056"/>
            <a:ext cx="63078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Proxies intercept the method invocations</a:t>
            </a:r>
            <a:endParaRPr lang="en-US" sz="28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F73071-C02C-FBDF-3CBA-0E03E9589E26}"/>
              </a:ext>
            </a:extLst>
          </p:cNvPr>
          <p:cNvSpPr/>
          <p:nvPr/>
        </p:nvSpPr>
        <p:spPr>
          <a:xfrm>
            <a:off x="6095999" y="2651201"/>
            <a:ext cx="4841631" cy="52322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2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2" grpId="0" animBg="1"/>
      <p:bldP spid="2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74EDA-EAE7-046B-A976-E0246A2F4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 method invocation calls logging functionality</a:t>
            </a:r>
          </a:p>
          <a:p>
            <a:r>
              <a:rPr lang="en-US" dirty="0"/>
              <a:t>No need to change </a:t>
            </a:r>
            <a:r>
              <a:rPr lang="en-US" dirty="0" err="1">
                <a:latin typeface="Consolas" panose="020B0609020204030204" pitchFamily="49" charset="0"/>
              </a:rPr>
              <a:t>libRedis</a:t>
            </a:r>
            <a:r>
              <a:rPr lang="en-US" dirty="0"/>
              <a:t> or </a:t>
            </a:r>
            <a:r>
              <a:rPr lang="en-US" dirty="0" err="1">
                <a:latin typeface="Consolas" panose="020B0609020204030204" pitchFamily="49" charset="0"/>
              </a:rPr>
              <a:t>libGameEngine</a:t>
            </a:r>
            <a:r>
              <a:rPr lang="en-US" dirty="0"/>
              <a:t> source code</a:t>
            </a:r>
          </a:p>
          <a:p>
            <a:r>
              <a:rPr lang="en-US" dirty="0"/>
              <a:t>No need to manually copy any fields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F3E645-00D2-A93A-E535-5B244B45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gain?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287D36-0538-BB86-ED39-BF160DDC4498}"/>
              </a:ext>
            </a:extLst>
          </p:cNvPr>
          <p:cNvGrpSpPr/>
          <p:nvPr/>
        </p:nvGrpSpPr>
        <p:grpSpPr>
          <a:xfrm>
            <a:off x="737674" y="854015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CB8618-C2B7-D0BC-67EE-AB660BA7D1CF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6B7DC26-999D-1BCB-C662-C86D197D2A3C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9CAED22-E4F7-2445-AA98-E5698E5D44D1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9A651-9797-F31B-3812-7E8179A22EB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0ED83C-3747-6B7A-4073-1E2188D7C72C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C2292E2-AC50-69EB-F725-5F8D841CC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7D7C99-BD97-49CE-AA55-453C7390CE47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4524D2-D19D-9925-99C3-483BB93DC59D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E9978A-8254-72E4-9E62-8C0C356A68BB}"/>
              </a:ext>
            </a:extLst>
          </p:cNvPr>
          <p:cNvSpPr txBox="1"/>
          <p:nvPr/>
        </p:nvSpPr>
        <p:spPr>
          <a:xfrm>
            <a:off x="3832566" y="2774525"/>
            <a:ext cx="5449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Wrap </a:t>
            </a:r>
            <a:r>
              <a:rPr lang="en-US" sz="2000" b="1" dirty="0">
                <a:latin typeface="Consolas" panose="020B0609020204030204" pitchFamily="49" charset="0"/>
                <a:cs typeface="Helvetica" panose="020B0604020202020204" pitchFamily="34" charset="0"/>
              </a:rPr>
              <a:t>Jedis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object in a </a:t>
            </a:r>
            <a:r>
              <a:rPr lang="en-US" sz="2000" b="1" dirty="0" err="1">
                <a:latin typeface="Consolas" panose="020B0609020204030204" pitchFamily="49" charset="0"/>
                <a:cs typeface="Helvetica" panose="020B0604020202020204" pitchFamily="34" charset="0"/>
              </a:rPr>
              <a:t>LoggedJedis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proxy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ABC99-5497-5218-7E05-4BD279F1BDAF}"/>
              </a:ext>
            </a:extLst>
          </p:cNvPr>
          <p:cNvSpPr txBox="1"/>
          <p:nvPr/>
        </p:nvSpPr>
        <p:spPr>
          <a:xfrm>
            <a:off x="3524982" y="3134925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loggedJedis.setJedis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A12A7E-C9B5-F754-DB29-B4A53E466646}"/>
              </a:ext>
            </a:extLst>
          </p:cNvPr>
          <p:cNvSpPr/>
          <p:nvPr/>
        </p:nvSpPr>
        <p:spPr>
          <a:xfrm>
            <a:off x="9186590" y="1377449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1199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9054B4-49FC-B8E5-A4EA-E48A1790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SQL {</a:t>
            </a:r>
          </a:p>
          <a:p>
            <a:r>
              <a:rPr lang="en-US" dirty="0"/>
              <a:t>	public void </a:t>
            </a:r>
            <a:r>
              <a:rPr lang="en-US" dirty="0" err="1"/>
              <a:t>executeQuery</a:t>
            </a:r>
            <a:r>
              <a:rPr lang="en-US" dirty="0"/>
              <a:t>(String query)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SQLProxy</a:t>
            </a:r>
            <a:r>
              <a:rPr lang="en-US" dirty="0"/>
              <a:t> extends Query{</a:t>
            </a:r>
          </a:p>
          <a:p>
            <a:r>
              <a:rPr lang="en-US" dirty="0"/>
              <a:t>	public log() { </a:t>
            </a:r>
            <a:r>
              <a:rPr lang="en-US" dirty="0" err="1"/>
              <a:t>S.o.p</a:t>
            </a:r>
            <a:r>
              <a:rPr lang="en-US" dirty="0"/>
              <a:t>(…); 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executeQuery</a:t>
            </a:r>
            <a:r>
              <a:rPr lang="en-US" dirty="0"/>
              <a:t>(String query)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</a:t>
            </a:r>
            <a:r>
              <a:rPr lang="en-US" dirty="0" err="1"/>
              <a:t>query.executeQuery</a:t>
            </a:r>
            <a:r>
              <a:rPr lang="en-US" dirty="0"/>
              <a:t>(query);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SQL </a:t>
            </a:r>
            <a:r>
              <a:rPr lang="en-US" dirty="0" err="1"/>
              <a:t>sql</a:t>
            </a:r>
            <a:r>
              <a:rPr lang="en-US" dirty="0"/>
              <a:t> = …; // </a:t>
            </a:r>
            <a:r>
              <a:rPr lang="en-US" dirty="0" err="1"/>
              <a:t>sql</a:t>
            </a:r>
            <a:r>
              <a:rPr lang="en-US" dirty="0"/>
              <a:t> object</a:t>
            </a:r>
          </a:p>
          <a:p>
            <a:r>
              <a:rPr lang="en-US" dirty="0" err="1"/>
              <a:t>SQLProxy</a:t>
            </a:r>
            <a:r>
              <a:rPr lang="en-US" dirty="0"/>
              <a:t> </a:t>
            </a:r>
            <a:r>
              <a:rPr lang="en-US" dirty="0" err="1"/>
              <a:t>sqlProxy</a:t>
            </a:r>
            <a:r>
              <a:rPr lang="en-US" dirty="0"/>
              <a:t> = new </a:t>
            </a:r>
            <a:r>
              <a:rPr lang="en-US" dirty="0" err="1"/>
              <a:t>SQLProxy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);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A81E4E-1053-CE38-AE80-342AF6CE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limitations?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1A5D5-B593-26AD-C055-0F9FB0DAFAF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Explicitly create a class that wraps the original object type</a:t>
            </a:r>
          </a:p>
          <a:p>
            <a:r>
              <a:rPr lang="en-US" dirty="0"/>
              <a:t>Explicitly create objects of this proxy class</a:t>
            </a:r>
          </a:p>
          <a:p>
            <a:r>
              <a:rPr lang="en-US" dirty="0"/>
              <a:t>Proxy object must </a:t>
            </a:r>
            <a:r>
              <a:rPr lang="en-US" i="1" dirty="0"/>
              <a:t>at least </a:t>
            </a:r>
            <a:r>
              <a:rPr lang="en-US" dirty="0"/>
              <a:t>manually forward all method invocations to the target object</a:t>
            </a:r>
          </a:p>
          <a:p>
            <a:pPr lvl="1"/>
            <a:r>
              <a:rPr lang="en-US" dirty="0"/>
              <a:t>Or the target object’s method is not invoked at all and functionality breaks</a:t>
            </a:r>
          </a:p>
          <a:p>
            <a:r>
              <a:rPr lang="en-US" b="1" i="1" dirty="0"/>
              <a:t>Limitation: </a:t>
            </a:r>
            <a:r>
              <a:rPr lang="en-US" dirty="0"/>
              <a:t>proxy classes must be statically designed for each “</a:t>
            </a:r>
            <a:r>
              <a:rPr lang="en-US" dirty="0" err="1"/>
              <a:t>proxyable</a:t>
            </a:r>
            <a:r>
              <a:rPr lang="en-US" dirty="0"/>
              <a:t>” class</a:t>
            </a:r>
          </a:p>
          <a:p>
            <a:pPr lvl="1"/>
            <a:r>
              <a:rPr lang="en-US" dirty="0"/>
              <a:t>Duplicated logging logic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06E33-B9D1-B9A8-2335-0BC1905D2E15}"/>
              </a:ext>
            </a:extLst>
          </p:cNvPr>
          <p:cNvSpPr/>
          <p:nvPr/>
        </p:nvSpPr>
        <p:spPr>
          <a:xfrm>
            <a:off x="6176512" y="1600200"/>
            <a:ext cx="5101088" cy="25019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79E49-5C43-BE17-BE51-8144B38F118C}"/>
              </a:ext>
            </a:extLst>
          </p:cNvPr>
          <p:cNvSpPr/>
          <p:nvPr/>
        </p:nvSpPr>
        <p:spPr>
          <a:xfrm>
            <a:off x="6176512" y="4144753"/>
            <a:ext cx="5101088" cy="77254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8A221B-A092-08D3-8B0C-A0CE274B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logging to other classes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6FFF0E-9CE2-31D3-6790-454207F3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Duplicated work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EECB1-3A1D-C039-1E6C-907C3DF3360F}"/>
              </a:ext>
            </a:extLst>
          </p:cNvPr>
          <p:cNvGrpSpPr/>
          <p:nvPr/>
        </p:nvGrpSpPr>
        <p:grpSpPr>
          <a:xfrm>
            <a:off x="1055077" y="1406768"/>
            <a:ext cx="3992980" cy="3697333"/>
            <a:chOff x="6553200" y="1477107"/>
            <a:chExt cx="3992980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9F2009-FF2D-F1A6-54DE-B36835FF8395}"/>
                </a:ext>
              </a:extLst>
            </p:cNvPr>
            <p:cNvGrpSpPr/>
            <p:nvPr/>
          </p:nvGrpSpPr>
          <p:grpSpPr>
            <a:xfrm>
              <a:off x="6553200" y="1477107"/>
              <a:ext cx="3992980" cy="3371772"/>
              <a:chOff x="6553200" y="1477107"/>
              <a:chExt cx="3992980" cy="337177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7896A1-0E6D-EB04-3F38-33D80BCEF9D1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31E322-C3EA-59BB-CD80-8F3C4D3B63BA}"/>
                  </a:ext>
                </a:extLst>
              </p:cNvPr>
              <p:cNvSpPr/>
              <p:nvPr/>
            </p:nvSpPr>
            <p:spPr>
              <a:xfrm>
                <a:off x="7262223" y="1507802"/>
                <a:ext cx="2544351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SQLProxy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21A4C1-FBFA-3595-5E3C-B086551AF406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0B23FA-EE0B-FE2B-2113-15A386476232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015859-C824-1C88-BCA8-A93BA8DD9E01}"/>
                  </a:ext>
                </a:extLst>
              </p:cNvPr>
              <p:cNvSpPr txBox="1"/>
              <p:nvPr/>
            </p:nvSpPr>
            <p:spPr>
              <a:xfrm>
                <a:off x="6715568" y="4479547"/>
                <a:ext cx="10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D764A0-9EFD-CF21-DCF2-ED1EE217A738}"/>
                  </a:ext>
                </a:extLst>
              </p:cNvPr>
              <p:cNvSpPr txBox="1"/>
              <p:nvPr/>
            </p:nvSpPr>
            <p:spPr>
              <a:xfrm>
                <a:off x="9460626" y="4479547"/>
                <a:ext cx="10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update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67F1B6-971D-0890-9973-FC70C6EBA64B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28BFF9-5742-F750-34E5-0B24F7AFEC1B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236E0A6-5B59-DD1A-550A-3B889E0AE629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C2F257B-6C92-D864-8852-9BB498D7D2A8}"/>
                  </a:ext>
                </a:extLst>
              </p:cNvPr>
              <p:cNvCxnSpPr>
                <a:cxnSpLocks/>
                <a:stCxn id="13" idx="0"/>
                <a:endCxn id="17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CB29231-840C-B752-18A5-334CE66E0A70}"/>
                  </a:ext>
                </a:extLst>
              </p:cNvPr>
              <p:cNvCxnSpPr>
                <a:cxnSpLocks/>
                <a:stCxn id="16" idx="0"/>
                <a:endCxn id="24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462ABC6-0956-C977-5613-5844C25F80B9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9527760-C19B-83B7-ECAD-580A4B6271EF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2B3D185-35C3-B50E-E6DE-1E4D7FCDE7E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1A6729-9392-8C1A-C9AA-586CE8DD84B0}"/>
              </a:ext>
            </a:extLst>
          </p:cNvPr>
          <p:cNvGrpSpPr/>
          <p:nvPr/>
        </p:nvGrpSpPr>
        <p:grpSpPr>
          <a:xfrm>
            <a:off x="1834661" y="1969476"/>
            <a:ext cx="2403231" cy="1582615"/>
            <a:chOff x="7332784" y="2039815"/>
            <a:chExt cx="2403231" cy="1582615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80C0203-EB80-4219-1E48-E28D75CAE343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grpFill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SQL object</a:t>
              </a:r>
              <a:endParaRPr lang="en-US" sz="28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6BD5941-364C-35BA-33F5-D2D0F1992EBC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9BE95B-5F1B-93C3-A803-11E10A80CA6F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B0826D1-236B-0BF1-E0E0-4DF551B66E88}"/>
                </a:ext>
              </a:extLst>
            </p:cNvPr>
            <p:cNvSpPr txBox="1"/>
            <p:nvPr/>
          </p:nvSpPr>
          <p:spPr>
            <a:xfrm>
              <a:off x="7584859" y="3050875"/>
              <a:ext cx="108555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insert</a:t>
              </a:r>
              <a:r>
                <a:rPr lang="en-US" dirty="0"/>
                <a:t>()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21897F-7448-A791-3D3B-ADBC140D457D}"/>
                </a:ext>
              </a:extLst>
            </p:cNvPr>
            <p:cNvSpPr txBox="1"/>
            <p:nvPr/>
          </p:nvSpPr>
          <p:spPr>
            <a:xfrm>
              <a:off x="8624668" y="3042487"/>
              <a:ext cx="108555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update</a:t>
              </a:r>
              <a:r>
                <a:rPr lang="en-US" dirty="0"/>
                <a:t>()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D9194E-16B1-F53C-7085-37DEC5CBDCCD}"/>
              </a:ext>
            </a:extLst>
          </p:cNvPr>
          <p:cNvGrpSpPr/>
          <p:nvPr/>
        </p:nvGrpSpPr>
        <p:grpSpPr>
          <a:xfrm>
            <a:off x="5378773" y="1406768"/>
            <a:ext cx="3970500" cy="3697333"/>
            <a:chOff x="6553200" y="1477107"/>
            <a:chExt cx="3970500" cy="369733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37B964-75E6-859F-2D23-4DDF0A2F693D}"/>
                </a:ext>
              </a:extLst>
            </p:cNvPr>
            <p:cNvGrpSpPr/>
            <p:nvPr/>
          </p:nvGrpSpPr>
          <p:grpSpPr>
            <a:xfrm>
              <a:off x="6553200" y="1477107"/>
              <a:ext cx="3970500" cy="3349813"/>
              <a:chOff x="6553200" y="1477107"/>
              <a:chExt cx="3970500" cy="3349813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3A92EB5-ED9C-E29F-53B0-5536D5C97E2F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DF91022-B8E5-E5DA-11DC-3C23BEBAAE60}"/>
                  </a:ext>
                </a:extLst>
              </p:cNvPr>
              <p:cNvSpPr/>
              <p:nvPr/>
            </p:nvSpPr>
            <p:spPr>
              <a:xfrm>
                <a:off x="6967337" y="1507802"/>
                <a:ext cx="3134128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StudentProxy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E9A6BBF-148F-9065-EAF2-4286D2C9DEAA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5FA8711-8B03-17C7-8945-CEEF014606C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8D32C2-A40E-A737-085E-16E82114F907}"/>
                  </a:ext>
                </a:extLst>
              </p:cNvPr>
              <p:cNvSpPr txBox="1"/>
              <p:nvPr/>
            </p:nvSpPr>
            <p:spPr>
              <a:xfrm>
                <a:off x="6575305" y="4288751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calc_gpa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BBCF8D-E3F6-86E4-9375-694A2DDAC3A8}"/>
                  </a:ext>
                </a:extLst>
              </p:cNvPr>
              <p:cNvSpPr txBox="1"/>
              <p:nvPr/>
            </p:nvSpPr>
            <p:spPr>
              <a:xfrm>
                <a:off x="9184872" y="4261960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graduate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DB5EAE3-2237-5E1C-E7C4-C1C63FEB4FF3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6DAE094-39E9-FF1E-207C-E1748A64B182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CE333EF-DCEC-F4C8-9831-59DD64E45E4F}"/>
                  </a:ext>
                </a:extLst>
              </p:cNvPr>
              <p:cNvCxnSpPr>
                <a:stCxn id="34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F0DF0A9-1580-AE32-2F1D-83C6F68CA4BC}"/>
                  </a:ext>
                </a:extLst>
              </p:cNvPr>
              <p:cNvCxnSpPr>
                <a:cxnSpLocks/>
                <a:stCxn id="35" idx="0"/>
                <a:endCxn id="39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BCBEDC69-C177-CC9A-A1D0-CA4B48B7296E}"/>
                  </a:ext>
                </a:extLst>
              </p:cNvPr>
              <p:cNvCxnSpPr>
                <a:cxnSpLocks/>
                <a:stCxn id="38" idx="0"/>
                <a:endCxn id="46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DDB4A16-97D3-4D45-B930-E6C6678FEC5F}"/>
                  </a:ext>
                </a:extLst>
              </p:cNvPr>
              <p:cNvCxnSpPr>
                <a:cxnSpLocks/>
                <a:stCxn id="39" idx="0"/>
                <a:endCxn id="47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49EC437-12D6-436E-2D17-B3D64A8FE8AC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B031CC0-10AD-7793-196B-1B648AEBB8FD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EDB0294-6FC8-2372-B567-45D1249D0B38}"/>
              </a:ext>
            </a:extLst>
          </p:cNvPr>
          <p:cNvGrpSpPr/>
          <p:nvPr/>
        </p:nvGrpSpPr>
        <p:grpSpPr>
          <a:xfrm>
            <a:off x="6137206" y="1969476"/>
            <a:ext cx="2525226" cy="1582615"/>
            <a:chOff x="7311633" y="2039815"/>
            <a:chExt cx="2525226" cy="158261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0EE8EF-915E-FA0F-6634-4589D98DF9DD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 object</a:t>
              </a:r>
              <a:endParaRPr lang="en-US" sz="28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70CD40-4FC5-B71D-5344-7B72046D1005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748E62C-8812-E35E-368A-5289B792BA5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CA02001-5C64-682D-4139-A8E9BF376CA1}"/>
                </a:ext>
              </a:extLst>
            </p:cNvPr>
            <p:cNvSpPr txBox="1"/>
            <p:nvPr/>
          </p:nvSpPr>
          <p:spPr>
            <a:xfrm>
              <a:off x="7311633" y="305087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Calc_gpa</a:t>
              </a:r>
              <a:r>
                <a:rPr lang="en-US" dirty="0"/>
                <a:t>()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FFE457-D46D-3D71-7B5F-2A7B9D89B599}"/>
                </a:ext>
              </a:extLst>
            </p:cNvPr>
            <p:cNvSpPr txBox="1"/>
            <p:nvPr/>
          </p:nvSpPr>
          <p:spPr>
            <a:xfrm>
              <a:off x="8498031" y="30424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graduate</a:t>
              </a:r>
              <a:r>
                <a:rPr lang="en-US" dirty="0"/>
                <a:t>()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E01768C-515E-A6C1-0EA3-CE9D4E4C0098}"/>
              </a:ext>
            </a:extLst>
          </p:cNvPr>
          <p:cNvSpPr txBox="1"/>
          <p:nvPr/>
        </p:nvSpPr>
        <p:spPr>
          <a:xfrm>
            <a:off x="3916652" y="5381456"/>
            <a:ext cx="718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Duplicated work designing proxy classes for each  class</a:t>
            </a:r>
          </a:p>
        </p:txBody>
      </p:sp>
    </p:spTree>
    <p:extLst>
      <p:ext uri="{BB962C8B-B14F-4D97-AF65-F5344CB8AC3E}">
        <p14:creationId xmlns:p14="http://schemas.microsoft.com/office/powerpoint/2010/main" val="73467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CA579-C567-1887-E399-22B0EDB1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243738-8098-EDF4-1A5A-B802FA9E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goals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25244F9-DA3C-39DE-43EE-02A515016D5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Want to reuse the proxy functionality (logging, for example)</a:t>
            </a:r>
          </a:p>
          <a:p>
            <a:r>
              <a:rPr lang="en-US" dirty="0"/>
              <a:t>Would be nice to </a:t>
            </a:r>
            <a:r>
              <a:rPr lang="en-US" b="1" i="1" dirty="0"/>
              <a:t>dynamically </a:t>
            </a:r>
            <a:r>
              <a:rPr lang="en-US" dirty="0"/>
              <a:t>create a </a:t>
            </a:r>
            <a:r>
              <a:rPr lang="en-US" b="1" i="1" dirty="0"/>
              <a:t>subclass</a:t>
            </a:r>
            <a:r>
              <a:rPr lang="en-US" dirty="0"/>
              <a:t> for the target object class that wraps any target object with the proxy functionality</a:t>
            </a:r>
          </a:p>
          <a:p>
            <a:r>
              <a:rPr lang="en-US" dirty="0"/>
              <a:t>E.g. magical method which accepted the </a:t>
            </a:r>
            <a:r>
              <a:rPr lang="en-US" dirty="0">
                <a:latin typeface="Consolas" panose="020B0609020204030204" pitchFamily="49" charset="0"/>
              </a:rPr>
              <a:t>log() </a:t>
            </a:r>
            <a:r>
              <a:rPr lang="en-US" dirty="0"/>
              <a:t>method and generated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/>
              <a:t> </a:t>
            </a:r>
            <a:r>
              <a:rPr lang="en-US" b="1" i="1" dirty="0"/>
              <a:t>on the fly</a:t>
            </a:r>
          </a:p>
          <a:p>
            <a:pPr marL="168275" lvl="1" indent="0">
              <a:buNone/>
            </a:pP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FD6E8E-0BC6-FDD1-9EC0-F7FA2D3ACD12}"/>
              </a:ext>
            </a:extLst>
          </p:cNvPr>
          <p:cNvGrpSpPr/>
          <p:nvPr/>
        </p:nvGrpSpPr>
        <p:grpSpPr>
          <a:xfrm>
            <a:off x="6144723" y="785004"/>
            <a:ext cx="3468154" cy="3697333"/>
            <a:chOff x="6906723" y="1477107"/>
            <a:chExt cx="3468154" cy="369733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59CAD4-9460-096F-171F-72BD4D927AF0}"/>
                </a:ext>
              </a:extLst>
            </p:cNvPr>
            <p:cNvGrpSpPr/>
            <p:nvPr/>
          </p:nvGrpSpPr>
          <p:grpSpPr>
            <a:xfrm>
              <a:off x="6906723" y="1477107"/>
              <a:ext cx="3468154" cy="3371772"/>
              <a:chOff x="6906723" y="1477107"/>
              <a:chExt cx="3468154" cy="3371772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513D19-FB9F-6767-1780-9181C931410A}"/>
                  </a:ext>
                </a:extLst>
              </p:cNvPr>
              <p:cNvSpPr/>
              <p:nvPr/>
            </p:nvSpPr>
            <p:spPr>
              <a:xfrm>
                <a:off x="6918210" y="1477107"/>
                <a:ext cx="3362928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066FF0A-B729-384B-1333-47520E034199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F0F4AC5-4C92-BFBD-A913-1F90223BB0C9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9B7E6D-B484-682C-FDF6-7FE8E547E487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4D1631E-379E-2495-30A9-86001C3AF3E7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B6B395E-BF99-D3AB-0114-20348523BD5D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E6B43B-C249-68DE-0165-5C3E7E7703F2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53AE1C-4624-A5F8-1CB3-370EDCDA6BBD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3734929-55D4-4C50-430D-5D1401CEBDE4}"/>
                  </a:ext>
                </a:extLst>
              </p:cNvPr>
              <p:cNvCxnSpPr>
                <a:stCxn id="36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A9126E0-422E-2E4D-C9DD-CBE2C22DC739}"/>
                  </a:ext>
                </a:extLst>
              </p:cNvPr>
              <p:cNvCxnSpPr>
                <a:cxnSpLocks/>
                <a:stCxn id="37" idx="0"/>
                <a:endCxn id="41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865F78D-47CD-6C2F-F957-8C79B677FDB3}"/>
                  </a:ext>
                </a:extLst>
              </p:cNvPr>
              <p:cNvCxnSpPr>
                <a:cxnSpLocks/>
                <a:stCxn id="40" idx="0"/>
                <a:endCxn id="48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685D393-9AFC-650F-530D-DB16075ABACE}"/>
                  </a:ext>
                </a:extLst>
              </p:cNvPr>
              <p:cNvCxnSpPr>
                <a:cxnSpLocks/>
                <a:stCxn id="41" idx="0"/>
                <a:endCxn id="49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F4D47A9-3603-3A66-2FE0-9D79515DA99F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9F274CD-F0D1-E0B1-47BA-73ABE2820C0B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6AC286-3CD3-96EF-27DA-175E6D2F1635}"/>
              </a:ext>
            </a:extLst>
          </p:cNvPr>
          <p:cNvGrpSpPr/>
          <p:nvPr/>
        </p:nvGrpSpPr>
        <p:grpSpPr>
          <a:xfrm>
            <a:off x="6570784" y="1347712"/>
            <a:ext cx="2403231" cy="1582615"/>
            <a:chOff x="7332784" y="2039815"/>
            <a:chExt cx="2403231" cy="158261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ECB84EB-89B7-4206-127E-F158471141C1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7E7B62-A35D-5601-E6AE-9AA9B606028B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E3611A-E592-3652-FA16-38671F0B3663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3FC133-746B-54F9-F400-7C686EF5EDFB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BCF7CAE-7134-0065-8788-E63BE82B8B86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3F473DC-132B-2A2F-CCCB-FC6A6EF11758}"/>
              </a:ext>
            </a:extLst>
          </p:cNvPr>
          <p:cNvSpPr/>
          <p:nvPr/>
        </p:nvSpPr>
        <p:spPr>
          <a:xfrm>
            <a:off x="10196189" y="1752158"/>
            <a:ext cx="1512276" cy="703384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Jedis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552A2-0F57-5D0E-449E-1FDC7209627E}"/>
              </a:ext>
            </a:extLst>
          </p:cNvPr>
          <p:cNvSpPr/>
          <p:nvPr/>
        </p:nvSpPr>
        <p:spPr>
          <a:xfrm>
            <a:off x="9870834" y="2873011"/>
            <a:ext cx="2162987" cy="70338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JedisProxy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99C67A-06C2-1EEA-3898-36C761B89560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10952327" y="2455542"/>
            <a:ext cx="1" cy="4174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D6F7F6-4C5F-B27A-F81D-D8AB0B1B4A3C}"/>
              </a:ext>
            </a:extLst>
          </p:cNvPr>
          <p:cNvSpPr txBox="1"/>
          <p:nvPr/>
        </p:nvSpPr>
        <p:spPr>
          <a:xfrm>
            <a:off x="9972293" y="2455487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74798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0382-B5F6-7CFC-8F68-94624562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2401B-3ED0-0422-9AF9-3BF17F14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target, [FUNCTION encapsulating the additional functionality]) {</a:t>
            </a:r>
          </a:p>
          <a:p>
            <a:endParaRPr lang="en-US" dirty="0"/>
          </a:p>
          <a:p>
            <a:r>
              <a:rPr lang="en-US" dirty="0"/>
              <a:t>	// 1. Create </a:t>
            </a:r>
            <a:r>
              <a:rPr lang="en-US" dirty="0" err="1"/>
              <a:t>proxyClass</a:t>
            </a:r>
            <a:r>
              <a:rPr lang="en-US" dirty="0"/>
              <a:t> which is a subclass of </a:t>
            </a:r>
            <a:r>
              <a:rPr lang="en-US" dirty="0" err="1"/>
              <a:t>target.getClass</a:t>
            </a:r>
            <a:r>
              <a:rPr lang="en-US" dirty="0"/>
              <a:t>()</a:t>
            </a:r>
          </a:p>
          <a:p>
            <a:r>
              <a:rPr lang="en-US" dirty="0"/>
              <a:t>	// 2. This </a:t>
            </a:r>
            <a:r>
              <a:rPr lang="en-US" dirty="0" err="1"/>
              <a:t>proxyclass</a:t>
            </a:r>
            <a:r>
              <a:rPr lang="en-US" dirty="0"/>
              <a:t> will intercept all method invocations on itself</a:t>
            </a:r>
          </a:p>
          <a:p>
            <a:r>
              <a:rPr lang="en-US" dirty="0"/>
              <a:t>	// 3. And invoke the additional functionality and then retarget them to the target object</a:t>
            </a:r>
          </a:p>
          <a:p>
            <a:r>
              <a:rPr lang="en-US" dirty="0"/>
              <a:t>	// 4. Create and return an object of </a:t>
            </a:r>
            <a:r>
              <a:rPr lang="en-US" dirty="0" err="1"/>
              <a:t>proxyClass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6E0279-F225-C0AE-B565-D9FB9069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goals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C44BE27-292E-D6A9-C689-69C0A94871C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Want to reuse the proxy functionality (logging, for example)</a:t>
            </a:r>
          </a:p>
          <a:p>
            <a:r>
              <a:rPr lang="en-US" dirty="0"/>
              <a:t>Would be nice to </a:t>
            </a:r>
            <a:r>
              <a:rPr lang="en-US" b="1" i="1" dirty="0"/>
              <a:t>dynamically </a:t>
            </a:r>
            <a:r>
              <a:rPr lang="en-US" dirty="0"/>
              <a:t>create a </a:t>
            </a:r>
            <a:r>
              <a:rPr lang="en-US" b="1" i="1" dirty="0"/>
              <a:t>subclass</a:t>
            </a:r>
            <a:r>
              <a:rPr lang="en-US" dirty="0"/>
              <a:t> for the target object class that wraps any target object with the proxy functionality</a:t>
            </a:r>
          </a:p>
          <a:p>
            <a:r>
              <a:rPr lang="en-US" dirty="0"/>
              <a:t>E.g. magical method which accepted the </a:t>
            </a:r>
            <a:r>
              <a:rPr lang="en-US" dirty="0">
                <a:latin typeface="Consolas" panose="020B0609020204030204" pitchFamily="49" charset="0"/>
              </a:rPr>
              <a:t>log() </a:t>
            </a:r>
            <a:r>
              <a:rPr lang="en-US" dirty="0"/>
              <a:t>method and generated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/>
              <a:t> </a:t>
            </a:r>
            <a:r>
              <a:rPr lang="en-US" b="1" i="1" dirty="0"/>
              <a:t>on the fly</a:t>
            </a:r>
          </a:p>
          <a:p>
            <a:pPr marL="168275" lvl="1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3B5C1-43F0-B29C-C564-8AA9185C6B2C}"/>
              </a:ext>
            </a:extLst>
          </p:cNvPr>
          <p:cNvSpPr/>
          <p:nvPr/>
        </p:nvSpPr>
        <p:spPr>
          <a:xfrm>
            <a:off x="6176512" y="558800"/>
            <a:ext cx="5812288" cy="8890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31E91-2717-8BBE-2D72-47B805E84846}"/>
              </a:ext>
            </a:extLst>
          </p:cNvPr>
          <p:cNvSpPr/>
          <p:nvPr/>
        </p:nvSpPr>
        <p:spPr>
          <a:xfrm>
            <a:off x="6176512" y="1447800"/>
            <a:ext cx="5812288" cy="69627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D6C8B-983F-80C0-5AC6-F7ED31D72B45}"/>
              </a:ext>
            </a:extLst>
          </p:cNvPr>
          <p:cNvSpPr/>
          <p:nvPr/>
        </p:nvSpPr>
        <p:spPr>
          <a:xfrm>
            <a:off x="6176512" y="2006599"/>
            <a:ext cx="5812288" cy="13016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6513D-4148-A267-BABE-082151E47876}"/>
              </a:ext>
            </a:extLst>
          </p:cNvPr>
          <p:cNvSpPr/>
          <p:nvPr/>
        </p:nvSpPr>
        <p:spPr>
          <a:xfrm>
            <a:off x="6176512" y="3308230"/>
            <a:ext cx="5812288" cy="54832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300F3C-19BD-9885-7943-726F08CA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ByteBuddy</a:t>
            </a:r>
            <a:r>
              <a:rPr lang="en-US" dirty="0"/>
              <a:t>, </a:t>
            </a:r>
            <a:r>
              <a:rPr lang="en-US" dirty="0" err="1"/>
              <a:t>Javassist</a:t>
            </a:r>
            <a:r>
              <a:rPr lang="en-US" dirty="0"/>
              <a:t> libraries allow proxy creation via dynamic subclassing</a:t>
            </a:r>
          </a:p>
          <a:p>
            <a:pPr lvl="1"/>
            <a:r>
              <a:rPr lang="en-US" dirty="0" err="1"/>
              <a:t>ByteBuddy</a:t>
            </a:r>
            <a:r>
              <a:rPr lang="en-US" dirty="0"/>
              <a:t> and </a:t>
            </a:r>
            <a:r>
              <a:rPr lang="en-US" dirty="0" err="1"/>
              <a:t>Javassist</a:t>
            </a:r>
            <a:r>
              <a:rPr lang="en-US" dirty="0"/>
              <a:t> hide bytecode manipulation complexities</a:t>
            </a:r>
          </a:p>
          <a:p>
            <a:pPr lvl="1"/>
            <a:r>
              <a:rPr lang="en-US" dirty="0"/>
              <a:t>Internally uses ASM library which gives complete bytecode generation/manipulation capabilities </a:t>
            </a:r>
          </a:p>
          <a:p>
            <a:r>
              <a:rPr lang="en-US" dirty="0"/>
              <a:t>Java also has a dynamic proxy functionality</a:t>
            </a:r>
          </a:p>
          <a:p>
            <a:pPr lvl="1"/>
            <a:r>
              <a:rPr lang="en-US" dirty="0"/>
              <a:t>IMHO, it’s unnecessarily complicated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3934F5-D9FF-4163-30C2-5A6A53EA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</p:spTree>
    <p:extLst>
      <p:ext uri="{BB962C8B-B14F-4D97-AF65-F5344CB8AC3E}">
        <p14:creationId xmlns:p14="http://schemas.microsoft.com/office/powerpoint/2010/main" val="18252011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5348D-47B7-5F19-B2AD-69457891B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678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 …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43B0FE-25D0-E59A-429F-255625B0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3A8496-B181-7645-152E-616871B1B3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Create a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ProxyFactory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and set the parent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Implement the interface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MethodHandler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(possibly as an anonymous inner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Override the invoke method to log </a:t>
            </a:r>
          </a:p>
          <a:p>
            <a:pPr marL="463550" lvl="1" indent="-285750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Then finally invoke the target object’s 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D1363-772C-E29A-97E0-6D2D5BACF64B}"/>
              </a:ext>
            </a:extLst>
          </p:cNvPr>
          <p:cNvSpPr/>
          <p:nvPr/>
        </p:nvSpPr>
        <p:spPr>
          <a:xfrm>
            <a:off x="6015487" y="2256568"/>
            <a:ext cx="6167888" cy="27599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833671-2881-F8CF-0434-0E23857E6146}"/>
              </a:ext>
            </a:extLst>
          </p:cNvPr>
          <p:cNvSpPr/>
          <p:nvPr/>
        </p:nvSpPr>
        <p:spPr>
          <a:xfrm>
            <a:off x="6015487" y="1284082"/>
            <a:ext cx="6167888" cy="8837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10DC1-B801-67AD-6277-81E1E754DFE7}"/>
              </a:ext>
            </a:extLst>
          </p:cNvPr>
          <p:cNvSpPr txBox="1"/>
          <p:nvPr/>
        </p:nvSpPr>
        <p:spPr>
          <a:xfrm>
            <a:off x="6902331" y="4689727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All methods of object intercepted by </a:t>
            </a:r>
            <a:r>
              <a:rPr lang="en-US" sz="2400" b="1" dirty="0">
                <a:latin typeface="Consolas" panose="020B0609020204030204" pitchFamily="49" charset="0"/>
              </a:rPr>
              <a:t>invoke</a:t>
            </a:r>
            <a:r>
              <a:rPr lang="en-US" sz="2400" b="1" i="1" dirty="0"/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9405D-6A6F-40B4-47F4-9EBA24EDCFD8}"/>
              </a:ext>
            </a:extLst>
          </p:cNvPr>
          <p:cNvSpPr txBox="1"/>
          <p:nvPr/>
        </p:nvSpPr>
        <p:spPr>
          <a:xfrm>
            <a:off x="10388301" y="2872983"/>
            <a:ext cx="1803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Proxy’s</a:t>
            </a:r>
          </a:p>
          <a:p>
            <a:r>
              <a:rPr lang="en-US" sz="2400" b="1" i="1" dirty="0"/>
              <a:t>additional</a:t>
            </a:r>
          </a:p>
          <a:p>
            <a:r>
              <a:rPr lang="en-US" sz="2400" b="1" i="1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159051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/>
      <p:bldP spid="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FFD4-A242-8F25-93DD-5A6274DD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8CC6A-60B2-47B2-3DB4-A6144F28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678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 …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008FA7-6DBD-9D69-6D13-C2DDFC63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B4FAC5-B744-3BE8-8653-94EE879BDF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Arguments to invoke method</a:t>
            </a:r>
          </a:p>
          <a:p>
            <a:pPr marL="463550" lvl="1" indent="-285750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self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target object</a:t>
            </a:r>
          </a:p>
          <a:p>
            <a:pPr marL="463550" lvl="1" indent="-285750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proceed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invoked method in the target object</a:t>
            </a:r>
          </a:p>
          <a:p>
            <a:pPr marL="463550" lvl="1" indent="-285750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thisMethod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invoked method in the proxy object</a:t>
            </a:r>
          </a:p>
          <a:p>
            <a:pPr marL="463550" lvl="1" indent="-285750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args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any arguments passed to the method invocation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1E9DB-16F5-D594-D5B5-0731605AD9AC}"/>
              </a:ext>
            </a:extLst>
          </p:cNvPr>
          <p:cNvSpPr/>
          <p:nvPr/>
        </p:nvSpPr>
        <p:spPr>
          <a:xfrm>
            <a:off x="6015487" y="2256568"/>
            <a:ext cx="6167888" cy="27599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91380-6550-6048-BC35-A48DF6E63FB5}"/>
              </a:ext>
            </a:extLst>
          </p:cNvPr>
          <p:cNvSpPr/>
          <p:nvPr/>
        </p:nvSpPr>
        <p:spPr>
          <a:xfrm>
            <a:off x="6015487" y="1284082"/>
            <a:ext cx="6167888" cy="8837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1AAD5-1B57-2D5D-0353-EC29517C5E3A}"/>
              </a:ext>
            </a:extLst>
          </p:cNvPr>
          <p:cNvSpPr txBox="1"/>
          <p:nvPr/>
        </p:nvSpPr>
        <p:spPr>
          <a:xfrm>
            <a:off x="6902331" y="4689727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All methods of object intercepted by </a:t>
            </a:r>
            <a:r>
              <a:rPr lang="en-US" sz="2400" b="1" dirty="0">
                <a:latin typeface="Consolas" panose="020B0609020204030204" pitchFamily="49" charset="0"/>
              </a:rPr>
              <a:t>invoke</a:t>
            </a:r>
            <a:r>
              <a:rPr lang="en-US" sz="2400" b="1" i="1" dirty="0"/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DA455-6BDC-6FDB-D246-9552C774D3D4}"/>
              </a:ext>
            </a:extLst>
          </p:cNvPr>
          <p:cNvSpPr txBox="1"/>
          <p:nvPr/>
        </p:nvSpPr>
        <p:spPr>
          <a:xfrm>
            <a:off x="10388301" y="2872983"/>
            <a:ext cx="1803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Proxy’s</a:t>
            </a:r>
          </a:p>
          <a:p>
            <a:r>
              <a:rPr lang="en-US" sz="2400" b="1" i="1" dirty="0"/>
              <a:t>additional</a:t>
            </a:r>
          </a:p>
          <a:p>
            <a:r>
              <a:rPr lang="en-US" sz="2400" b="1" i="1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671911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B6C8-700A-4237-4184-CEA7CD81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97F96-1CF6-DE9D-4223-E251EEB18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932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// … previous slide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6F3250-4FF8-0697-6769-C79EE37A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290596-5B40-C376-64C7-0FD9C37192A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Create the proxy object by getting the constructor of the proxy class and invoking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on it, using 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Set the 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Return the proxy object, which is a subclass of the original class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DD58C1-741A-C7AC-C0CA-F44685D054CD}"/>
              </a:ext>
            </a:extLst>
          </p:cNvPr>
          <p:cNvSpPr/>
          <p:nvPr/>
        </p:nvSpPr>
        <p:spPr>
          <a:xfrm>
            <a:off x="6015487" y="1284082"/>
            <a:ext cx="6167888" cy="13575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64CCD-0710-EBE1-53E3-370C67AB4023}"/>
              </a:ext>
            </a:extLst>
          </p:cNvPr>
          <p:cNvSpPr/>
          <p:nvPr/>
        </p:nvSpPr>
        <p:spPr>
          <a:xfrm>
            <a:off x="6024112" y="2630282"/>
            <a:ext cx="6167888" cy="11289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22F5-D582-2078-7F84-3E499CCD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919D0B-98CD-2A27-8F17-3D15B023D52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00"/>
            </a:solidFill>
            <a:prstDash val="sysDot"/>
          </a:ln>
        </p:spPr>
        <p:txBody>
          <a:bodyPr>
            <a:normAutofit lnSpcReduction="10000"/>
          </a:bodyPr>
          <a:lstStyle/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jedisProxy</a:t>
            </a:r>
            <a:r>
              <a:rPr lang="en-US" dirty="0"/>
              <a:t> = (Jedis) </a:t>
            </a:r>
            <a:r>
              <a:rPr lang="en-US" dirty="0" err="1"/>
              <a:t>createProxy</a:t>
            </a:r>
            <a:r>
              <a:rPr lang="en-US" dirty="0"/>
              <a:t>(jedis);</a:t>
            </a:r>
          </a:p>
          <a:p>
            <a:r>
              <a:rPr lang="en-US" dirty="0" err="1"/>
              <a:t>jedisProxy.hset</a:t>
            </a:r>
            <a:r>
              <a:rPr lang="en-US" dirty="0"/>
              <a:t>(…); 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jedisProxy</a:t>
            </a:r>
            <a:r>
              <a:rPr lang="en-US" dirty="0"/>
              <a:t> has type “subclass of Jedis” and is generated at runtime</a:t>
            </a:r>
          </a:p>
          <a:p>
            <a:r>
              <a:rPr lang="en-US" dirty="0"/>
              <a:t>// </a:t>
            </a:r>
            <a:r>
              <a:rPr lang="en-US" dirty="0" err="1"/>
              <a:t>hset</a:t>
            </a:r>
            <a:r>
              <a:rPr lang="en-US" dirty="0"/>
              <a:t> will first print the log and then perform </a:t>
            </a:r>
            <a:r>
              <a:rPr lang="en-US" dirty="0" err="1"/>
              <a:t>hset</a:t>
            </a:r>
            <a:r>
              <a:rPr lang="en-US" dirty="0"/>
              <a:t> operation</a:t>
            </a:r>
          </a:p>
          <a:p>
            <a:endParaRPr lang="en-US" dirty="0"/>
          </a:p>
          <a:p>
            <a:r>
              <a:rPr lang="en-US" dirty="0"/>
              <a:t>Student </a:t>
            </a:r>
            <a:r>
              <a:rPr lang="en-US" dirty="0" err="1"/>
              <a:t>student</a:t>
            </a:r>
            <a:r>
              <a:rPr lang="en-US" dirty="0"/>
              <a:t> = …;</a:t>
            </a:r>
          </a:p>
          <a:p>
            <a:endParaRPr lang="en-US" dirty="0"/>
          </a:p>
          <a:p>
            <a:r>
              <a:rPr lang="en-US" dirty="0"/>
              <a:t>Student </a:t>
            </a:r>
            <a:r>
              <a:rPr lang="en-US" dirty="0" err="1"/>
              <a:t>studentProxy</a:t>
            </a:r>
            <a:r>
              <a:rPr lang="en-US" dirty="0"/>
              <a:t> = </a:t>
            </a:r>
            <a:r>
              <a:rPr lang="en-US" dirty="0" err="1"/>
              <a:t>createProxy</a:t>
            </a:r>
            <a:r>
              <a:rPr lang="en-US" dirty="0"/>
              <a:t>(student);</a:t>
            </a:r>
          </a:p>
          <a:p>
            <a:r>
              <a:rPr lang="en-US" dirty="0" err="1"/>
              <a:t>studentProxy.getName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studentProxy</a:t>
            </a:r>
            <a:r>
              <a:rPr lang="en-US" dirty="0"/>
              <a:t> has type “subclass of Student” and is generated at runtime</a:t>
            </a:r>
          </a:p>
          <a:p>
            <a:r>
              <a:rPr lang="en-US" dirty="0"/>
              <a:t>// </a:t>
            </a:r>
            <a:r>
              <a:rPr lang="en-US" dirty="0" err="1"/>
              <a:t>getName</a:t>
            </a:r>
            <a:r>
              <a:rPr lang="en-US" dirty="0"/>
              <a:t>() will first print the log and then perform the </a:t>
            </a:r>
            <a:r>
              <a:rPr lang="en-US" dirty="0" err="1"/>
              <a:t>getName</a:t>
            </a:r>
            <a:r>
              <a:rPr lang="en-US" dirty="0"/>
              <a:t> operation</a:t>
            </a:r>
          </a:p>
          <a:p>
            <a:endParaRPr lang="en-US" dirty="0"/>
          </a:p>
          <a:p>
            <a:r>
              <a:rPr lang="en-US" dirty="0"/>
              <a:t>// … Can dynamically create proxies of _any_</a:t>
            </a:r>
          </a:p>
          <a:p>
            <a:r>
              <a:rPr lang="en-US" dirty="0"/>
              <a:t>// object using </a:t>
            </a:r>
            <a:r>
              <a:rPr lang="en-US" dirty="0" err="1"/>
              <a:t>createProxy</a:t>
            </a:r>
            <a:r>
              <a:rPr lang="en-US" dirty="0"/>
              <a:t>() method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1AB453-F602-A19F-391C-DB15593D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solution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1E82567-130A-B2F1-D1C9-C5162EC2EDC6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58648-06CD-B430-E44E-9C32EC9C6D9B}"/>
              </a:ext>
            </a:extLst>
          </p:cNvPr>
          <p:cNvSpPr/>
          <p:nvPr/>
        </p:nvSpPr>
        <p:spPr>
          <a:xfrm>
            <a:off x="301701" y="1295262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1A9DD-8129-5798-C21C-B02F8A83F4CE}"/>
              </a:ext>
            </a:extLst>
          </p:cNvPr>
          <p:cNvSpPr/>
          <p:nvPr/>
        </p:nvSpPr>
        <p:spPr>
          <a:xfrm>
            <a:off x="301701" y="1894247"/>
            <a:ext cx="5874811" cy="210332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260C1-7386-CD52-91DF-3C45BB1F35D2}"/>
              </a:ext>
            </a:extLst>
          </p:cNvPr>
          <p:cNvSpPr/>
          <p:nvPr/>
        </p:nvSpPr>
        <p:spPr>
          <a:xfrm>
            <a:off x="301700" y="3980954"/>
            <a:ext cx="5874811" cy="142338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726DB-538B-8EA6-F16A-6DEF0AF8FA86}"/>
              </a:ext>
            </a:extLst>
          </p:cNvPr>
          <p:cNvSpPr/>
          <p:nvPr/>
        </p:nvSpPr>
        <p:spPr>
          <a:xfrm>
            <a:off x="6176511" y="785003"/>
            <a:ext cx="5874811" cy="419730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AB4F8-10D2-0DAC-0E17-2D6D4D1A80DD}"/>
              </a:ext>
            </a:extLst>
          </p:cNvPr>
          <p:cNvSpPr/>
          <p:nvPr/>
        </p:nvSpPr>
        <p:spPr>
          <a:xfrm>
            <a:off x="301700" y="696277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9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2" grpId="0" animBg="1"/>
      <p:bldP spid="2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29BFEF-08A6-848D-344F-F645D2876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Tapti Palit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5F22A-EECB-0D44-BB08-4849FD8CE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Proxies (contd.)</a:t>
            </a:r>
          </a:p>
        </p:txBody>
      </p:sp>
    </p:spTree>
    <p:extLst>
      <p:ext uri="{BB962C8B-B14F-4D97-AF65-F5344CB8AC3E}">
        <p14:creationId xmlns:p14="http://schemas.microsoft.com/office/powerpoint/2010/main" val="30162035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70AF09-587F-D678-94B4-8D392D63C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proxies in Java</a:t>
            </a:r>
          </a:p>
          <a:p>
            <a:pPr lvl="1"/>
            <a:r>
              <a:rPr lang="en-US" dirty="0"/>
              <a:t>Recap</a:t>
            </a:r>
          </a:p>
          <a:p>
            <a:pPr lvl="1"/>
            <a:r>
              <a:rPr lang="en-US" dirty="0"/>
              <a:t>Demo</a:t>
            </a:r>
          </a:p>
          <a:p>
            <a:pPr lvl="1"/>
            <a:r>
              <a:rPr lang="en-US" dirty="0"/>
              <a:t>Use cases</a:t>
            </a:r>
          </a:p>
          <a:p>
            <a:pPr lvl="2"/>
            <a:r>
              <a:rPr lang="en-US" dirty="0"/>
              <a:t>Lazy loading</a:t>
            </a:r>
          </a:p>
          <a:p>
            <a:pPr lvl="2"/>
            <a:r>
              <a:rPr lang="en-US" dirty="0"/>
              <a:t>Mock testing</a:t>
            </a:r>
          </a:p>
          <a:p>
            <a:r>
              <a:rPr lang="en-US" dirty="0"/>
              <a:t>Software architecture</a:t>
            </a:r>
          </a:p>
          <a:p>
            <a:r>
              <a:rPr lang="en-US" dirty="0"/>
              <a:t>Software Security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BAF34-0591-8AA5-E155-B1880F9C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07C56E-5D96-53EB-DAE3-066C826CAD36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0616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EA87BB-C102-D254-1BD3-807C8283F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HW1 submission</a:t>
            </a:r>
          </a:p>
          <a:p>
            <a:pPr lvl="1"/>
            <a:r>
              <a:rPr lang="en-US" dirty="0"/>
              <a:t>On Canvas – HW will be created when Canvas comes up</a:t>
            </a:r>
          </a:p>
          <a:p>
            <a:r>
              <a:rPr lang="en-US" dirty="0"/>
              <a:t>Submission instructions (added to handout)</a:t>
            </a:r>
          </a:p>
          <a:p>
            <a:pPr lvl="1"/>
            <a:r>
              <a:rPr lang="en-US" dirty="0"/>
              <a:t>Make sure you don't have any private keys hardcoded in the code. You will lose points if we find that!</a:t>
            </a:r>
          </a:p>
          <a:p>
            <a:pPr lvl="1"/>
            <a:r>
              <a:rPr lang="en-US" dirty="0"/>
              <a:t>Please add a README.md file to your repository that explicitly specifies any assumptions you have made, beyond what the assignment already specifies. </a:t>
            </a:r>
          </a:p>
          <a:p>
            <a:pPr lvl="2"/>
            <a:r>
              <a:rPr lang="en-US" dirty="0"/>
              <a:t>This README.md should also explain how to set up the GITHUB API key.</a:t>
            </a:r>
          </a:p>
          <a:p>
            <a:pPr lvl="1"/>
            <a:r>
              <a:rPr lang="en-US" dirty="0"/>
              <a:t>Make sure your solution runs if we execute the command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install &amp;&amp;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exec:java</a:t>
            </a:r>
            <a:r>
              <a:rPr lang="en-US" dirty="0"/>
              <a:t>. (We will have Redis server running already)</a:t>
            </a:r>
          </a:p>
          <a:p>
            <a:pPr lvl="1"/>
            <a:r>
              <a:rPr lang="en-US" dirty="0"/>
              <a:t>Zip the contents of your repository. Do NOT include the repository/s you cloned as part of this homework.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024C7E-DCBB-56FC-EEC9-B8EC50C9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56733913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61002D-A478-096E-48F7-CEE50FAC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Emails: Add ECS 160 to subject line</a:t>
            </a:r>
          </a:p>
          <a:p>
            <a:pPr lvl="1"/>
            <a:r>
              <a:rPr lang="en-US" dirty="0"/>
              <a:t>No need for High Priority, unless really High Priority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Only for 1-on-1 discussions</a:t>
            </a:r>
          </a:p>
          <a:p>
            <a:r>
              <a:rPr lang="en-US" dirty="0">
                <a:sym typeface="Wingdings" panose="05000000000000000000" pitchFamily="2" charset="2"/>
              </a:rPr>
              <a:t>Midterm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Everything including dynamic proxies + some software architecture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3A3FB3-F3B9-8CA0-C859-6B78A90D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9307820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36196F-F4FD-01E8-6FC0-B69A9D23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89A92-C0B6-BA39-1B23-BAFFC5B5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0202DB-B590-0993-76A5-6BFEDC0894A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proxy is a wrapper around a target object</a:t>
            </a:r>
          </a:p>
          <a:p>
            <a:r>
              <a:rPr lang="en-US" dirty="0"/>
              <a:t>The proxy intercepts method invocations </a:t>
            </a:r>
          </a:p>
          <a:p>
            <a:pPr lvl="1"/>
            <a:r>
              <a:rPr lang="en-US" dirty="0"/>
              <a:t>Performs additional functionality</a:t>
            </a:r>
          </a:p>
          <a:p>
            <a:pPr lvl="1"/>
            <a:r>
              <a:rPr lang="en-US" dirty="0"/>
              <a:t>Dispatches the method to the target object</a:t>
            </a:r>
          </a:p>
          <a:p>
            <a:r>
              <a:rPr lang="en-US" dirty="0"/>
              <a:t>Proxy class extends target class</a:t>
            </a:r>
          </a:p>
          <a:p>
            <a:pPr lvl="1"/>
            <a:r>
              <a:rPr lang="en-US" dirty="0"/>
              <a:t>Allows proxy to replace the target object for all uses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B85869-6596-472D-1C96-738D956BE9A3}"/>
              </a:ext>
            </a:extLst>
          </p:cNvPr>
          <p:cNvGrpSpPr/>
          <p:nvPr/>
        </p:nvGrpSpPr>
        <p:grpSpPr>
          <a:xfrm>
            <a:off x="6015487" y="1026543"/>
            <a:ext cx="3469611" cy="3697333"/>
            <a:chOff x="6553200" y="1477107"/>
            <a:chExt cx="3962400" cy="36973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BDFC41-22A3-241F-58CC-DB888D11FE61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38E957-33A9-E550-5DB4-75E15AA3AD16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E35B5C2-26E1-F004-06F2-488A9518FF41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622A4A-40BA-3942-A8C0-F7DFDF155BFE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70B8B0-34CC-968B-6D4D-69BC1CE2A762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E38498-486D-49D1-4AE3-FBCDD629803C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D9314C-2EA0-1BDD-8641-B97B685954E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A00BD8-4A16-6B1A-B258-E3CF8C01678B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2DD156-6731-1B07-7255-0FCD866D43A1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0199610-D72B-3201-F676-B900195331D1}"/>
                  </a:ext>
                </a:extLst>
              </p:cNvPr>
              <p:cNvCxnSpPr>
                <a:stCxn id="15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0CC6A06-4D06-5401-E7C6-087536947828}"/>
                  </a:ext>
                </a:extLst>
              </p:cNvPr>
              <p:cNvCxnSpPr>
                <a:cxnSpLocks/>
                <a:stCxn id="16" idx="0"/>
                <a:endCxn id="20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F0A8F87-F8AE-D92C-DBFD-EFA567FCE04D}"/>
                  </a:ext>
                </a:extLst>
              </p:cNvPr>
              <p:cNvCxnSpPr>
                <a:cxnSpLocks/>
                <a:stCxn id="19" idx="0"/>
                <a:endCxn id="27" idx="2"/>
              </p:cNvCxnSpPr>
              <p:nvPr/>
            </p:nvCxnSpPr>
            <p:spPr>
              <a:xfrm flipH="1" flipV="1">
                <a:off x="7937300" y="3613637"/>
                <a:ext cx="63698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05C092C-7847-5D96-6291-7EE35FBB303A}"/>
                  </a:ext>
                </a:extLst>
              </p:cNvPr>
              <p:cNvCxnSpPr>
                <a:cxnSpLocks/>
                <a:stCxn id="20" idx="0"/>
                <a:endCxn id="28" idx="2"/>
              </p:cNvCxnSpPr>
              <p:nvPr/>
            </p:nvCxnSpPr>
            <p:spPr>
              <a:xfrm flipV="1">
                <a:off x="9168571" y="3613637"/>
                <a:ext cx="74473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C442B4-95FE-05AB-F023-E9A259D75BA8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34C4315-7D9A-C89B-9C74-352062A819F0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0538E6-090B-126A-FC76-E75DC9051335}"/>
              </a:ext>
            </a:extLst>
          </p:cNvPr>
          <p:cNvGrpSpPr/>
          <p:nvPr/>
        </p:nvGrpSpPr>
        <p:grpSpPr>
          <a:xfrm>
            <a:off x="6572466" y="1589251"/>
            <a:ext cx="2355652" cy="1582615"/>
            <a:chOff x="7332784" y="2039815"/>
            <a:chExt cx="2403231" cy="1582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F2A5B9-3663-DFCB-E6F2-6D6FBC721259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46592C0-5E2E-39F5-27F6-DCE302660D97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46E7B28-AFCC-B3E8-665C-E7853ABDE232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75B51A-3A0C-9BF4-D81C-CD66E42B2617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8C6287D-07D0-B1C5-B2DD-A6AF47E93DC2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99ED4A4-8AD2-865D-BD72-88FA7087EB98}"/>
              </a:ext>
            </a:extLst>
          </p:cNvPr>
          <p:cNvSpPr/>
          <p:nvPr/>
        </p:nvSpPr>
        <p:spPr>
          <a:xfrm>
            <a:off x="6392779" y="3319854"/>
            <a:ext cx="2871538" cy="592489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E0BD077-1ED4-B59E-01A1-772E7E49D4D9}"/>
              </a:ext>
            </a:extLst>
          </p:cNvPr>
          <p:cNvGrpSpPr/>
          <p:nvPr/>
        </p:nvGrpSpPr>
        <p:grpSpPr>
          <a:xfrm>
            <a:off x="9794040" y="1939403"/>
            <a:ext cx="2162987" cy="1824237"/>
            <a:chOff x="11799040" y="2728104"/>
            <a:chExt cx="2162987" cy="18242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9C4E17-A73E-DB1A-D0CE-18666B1E626A}"/>
                </a:ext>
              </a:extLst>
            </p:cNvPr>
            <p:cNvSpPr/>
            <p:nvPr/>
          </p:nvSpPr>
          <p:spPr>
            <a:xfrm>
              <a:off x="12124395" y="2728104"/>
              <a:ext cx="1512276" cy="703384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</a:t>
              </a:r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07B4266-F519-E8BC-3580-25180DBB7F28}"/>
                </a:ext>
              </a:extLst>
            </p:cNvPr>
            <p:cNvSpPr/>
            <p:nvPr/>
          </p:nvSpPr>
          <p:spPr>
            <a:xfrm>
              <a:off x="11799040" y="3848957"/>
              <a:ext cx="2162987" cy="7033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JedisProxy</a:t>
              </a:r>
              <a:endParaRPr lang="en-US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37403E9-960C-FA21-AC9D-116497771CB0}"/>
                </a:ext>
              </a:extLst>
            </p:cNvPr>
            <p:cNvCxnSpPr>
              <a:cxnSpLocks/>
              <a:stCxn id="33" idx="0"/>
              <a:endCxn id="32" idx="2"/>
            </p:cNvCxnSpPr>
            <p:nvPr/>
          </p:nvCxnSpPr>
          <p:spPr>
            <a:xfrm flipH="1" flipV="1">
              <a:off x="12880533" y="3431488"/>
              <a:ext cx="1" cy="4174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BFF858-E63D-E072-879D-14B412B8F2B3}"/>
                </a:ext>
              </a:extLst>
            </p:cNvPr>
            <p:cNvSpPr txBox="1"/>
            <p:nvPr/>
          </p:nvSpPr>
          <p:spPr>
            <a:xfrm>
              <a:off x="11900499" y="3431433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extends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246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20A5F2-01DD-D454-95B4-0E14B2CAE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proxies allow you to create Proxy classes at runtime</a:t>
            </a:r>
          </a:p>
          <a:p>
            <a:pPr lvl="1"/>
            <a:r>
              <a:rPr lang="en-US" dirty="0"/>
              <a:t>Of objects of any type</a:t>
            </a:r>
          </a:p>
          <a:p>
            <a:pPr lvl="1"/>
            <a:r>
              <a:rPr lang="en-US" dirty="0"/>
              <a:t>With any additional functionality</a:t>
            </a:r>
          </a:p>
          <a:p>
            <a:r>
              <a:rPr lang="en-US" dirty="0"/>
              <a:t>Needs bytecode instrumentation (using </a:t>
            </a:r>
            <a:r>
              <a:rPr lang="en-US" dirty="0" err="1"/>
              <a:t>JavaAssist</a:t>
            </a:r>
            <a:r>
              <a:rPr lang="en-US" dirty="0"/>
              <a:t>)</a:t>
            </a:r>
          </a:p>
          <a:p>
            <a:r>
              <a:rPr lang="en-US" dirty="0"/>
              <a:t>Imagine you have a method </a:t>
            </a:r>
            <a:r>
              <a:rPr lang="en-US" dirty="0">
                <a:latin typeface="Consolas" panose="020B0609020204030204" pitchFamily="49" charset="0"/>
              </a:rPr>
              <a:t>Object </a:t>
            </a:r>
            <a:r>
              <a:rPr lang="en-US" dirty="0" err="1">
                <a:latin typeface="Consolas" panose="020B0609020204030204" pitchFamily="49" charset="0"/>
              </a:rPr>
              <a:t>createProxy</a:t>
            </a:r>
            <a:r>
              <a:rPr lang="en-US" dirty="0">
                <a:latin typeface="Consolas" panose="020B0609020204030204" pitchFamily="49" charset="0"/>
              </a:rPr>
              <a:t>(Object target)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Jedis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 err="1">
                <a:latin typeface="Consolas" panose="020B0609020204030204" pitchFamily="49" charset="0"/>
              </a:rPr>
              <a:t>createProxy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Student </a:t>
            </a:r>
            <a:r>
              <a:rPr lang="en-US" dirty="0" err="1">
                <a:latin typeface="Consolas" panose="020B0609020204030204" pitchFamily="49" charset="0"/>
              </a:rPr>
              <a:t>studentProxy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StudentProxy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 err="1">
                <a:latin typeface="Consolas" panose="020B0609020204030204" pitchFamily="49" charset="0"/>
              </a:rPr>
              <a:t>createProxy</a:t>
            </a:r>
            <a:r>
              <a:rPr lang="en-US" dirty="0">
                <a:latin typeface="Consolas" panose="020B0609020204030204" pitchFamily="49" charset="0"/>
              </a:rPr>
              <a:t>(student);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E07155-4FB5-F193-DA89-0F41E4FE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</p:spTree>
    <p:extLst>
      <p:ext uri="{BB962C8B-B14F-4D97-AF65-F5344CB8AC3E}">
        <p14:creationId xmlns:p14="http://schemas.microsoft.com/office/powerpoint/2010/main" val="6020621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370A70-6ED5-09F0-73F0-A9DABD1C1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(target) {};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D258C1-2CAB-473A-78F5-8E3075EB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28C0D85-54A3-634F-F85A-CA68F8B43398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TargetClassProxy</a:t>
            </a:r>
            <a:r>
              <a:rPr lang="en-US" dirty="0"/>
              <a:t> extends </a:t>
            </a:r>
            <a:r>
              <a:rPr lang="en-US" dirty="0" err="1"/>
              <a:t>TargetClass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TargetClass</a:t>
            </a:r>
            <a:r>
              <a:rPr lang="en-US" dirty="0"/>
              <a:t> target;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target.doThis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D5AB9-486D-815B-204A-E028B0181FF7}"/>
              </a:ext>
            </a:extLst>
          </p:cNvPr>
          <p:cNvSpPr txBox="1"/>
          <p:nvPr/>
        </p:nvSpPr>
        <p:spPr>
          <a:xfrm>
            <a:off x="1828800" y="5396964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DDB84-1CCD-0718-0AB7-26F8B7B83CEC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8B122-220D-5BA3-68BA-D05E27713307}"/>
              </a:ext>
            </a:extLst>
          </p:cNvPr>
          <p:cNvSpPr/>
          <p:nvPr/>
        </p:nvSpPr>
        <p:spPr>
          <a:xfrm>
            <a:off x="543099" y="785004"/>
            <a:ext cx="3930024" cy="157437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A1E71-BAA9-7000-71E3-C33DFBAC37EF}"/>
              </a:ext>
            </a:extLst>
          </p:cNvPr>
          <p:cNvSpPr/>
          <p:nvPr/>
        </p:nvSpPr>
        <p:spPr>
          <a:xfrm>
            <a:off x="543098" y="2359378"/>
            <a:ext cx="5101345" cy="44026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54E64-E053-6DC9-5E29-D4EAEAB0DDDF}"/>
              </a:ext>
            </a:extLst>
          </p:cNvPr>
          <p:cNvSpPr/>
          <p:nvPr/>
        </p:nvSpPr>
        <p:spPr>
          <a:xfrm>
            <a:off x="543098" y="2799644"/>
            <a:ext cx="5101345" cy="44026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E27D4-0155-E9C2-99B6-B03FA516B4E6}"/>
              </a:ext>
            </a:extLst>
          </p:cNvPr>
          <p:cNvSpPr/>
          <p:nvPr/>
        </p:nvSpPr>
        <p:spPr>
          <a:xfrm>
            <a:off x="543098" y="3308230"/>
            <a:ext cx="5101345" cy="217817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11C2-1CE8-96F3-DA15-777BA1E5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01462-8ED1-E017-95D0-D0FD266E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(target) {};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B14897-47A3-6987-08D8-88A92AFA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F2BF640-7F2C-E328-A599-0DEEFD40BCA2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TargetClassProxy</a:t>
            </a:r>
            <a:r>
              <a:rPr lang="en-US" dirty="0"/>
              <a:t> extends </a:t>
            </a:r>
            <a:r>
              <a:rPr lang="en-US" dirty="0" err="1"/>
              <a:t>TargetClass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TargetClass</a:t>
            </a:r>
            <a:r>
              <a:rPr lang="en-US" dirty="0"/>
              <a:t> target;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target.doThis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7EA0E-CBE2-44F1-9A80-D3BD2D7BEB0B}"/>
              </a:ext>
            </a:extLst>
          </p:cNvPr>
          <p:cNvSpPr txBox="1"/>
          <p:nvPr/>
        </p:nvSpPr>
        <p:spPr>
          <a:xfrm>
            <a:off x="1828800" y="5396964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08A91-5B81-99B1-D620-081DE5B18545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7D82CA-9E33-E50E-7DDB-D109B5ED85BE}"/>
              </a:ext>
            </a:extLst>
          </p:cNvPr>
          <p:cNvSpPr/>
          <p:nvPr/>
        </p:nvSpPr>
        <p:spPr>
          <a:xfrm>
            <a:off x="6176511" y="740640"/>
            <a:ext cx="5472389" cy="52322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6E2CC-9E04-E2ED-967A-0A51723CF5B0}"/>
              </a:ext>
            </a:extLst>
          </p:cNvPr>
          <p:cNvSpPr/>
          <p:nvPr/>
        </p:nvSpPr>
        <p:spPr>
          <a:xfrm>
            <a:off x="6176511" y="3602373"/>
            <a:ext cx="5472389" cy="170586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F7290-03C2-EBC6-F937-68BFE7D1A867}"/>
              </a:ext>
            </a:extLst>
          </p:cNvPr>
          <p:cNvSpPr/>
          <p:nvPr/>
        </p:nvSpPr>
        <p:spPr>
          <a:xfrm>
            <a:off x="6176510" y="1263859"/>
            <a:ext cx="5472389" cy="100520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304580-E52E-5EE8-6159-C990AEBDA83B}"/>
              </a:ext>
            </a:extLst>
          </p:cNvPr>
          <p:cNvSpPr/>
          <p:nvPr/>
        </p:nvSpPr>
        <p:spPr>
          <a:xfrm>
            <a:off x="6176510" y="2245317"/>
            <a:ext cx="5472389" cy="135705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91E48-F000-21B7-DD35-45FBF0A4251B}"/>
              </a:ext>
            </a:extLst>
          </p:cNvPr>
          <p:cNvSpPr txBox="1"/>
          <p:nvPr/>
        </p:nvSpPr>
        <p:spPr>
          <a:xfrm>
            <a:off x="9487269" y="4732057"/>
            <a:ext cx="2479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Additional Functionality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751AE-A217-4D9C-E2D9-A18CEB1CE376}"/>
              </a:ext>
            </a:extLst>
          </p:cNvPr>
          <p:cNvSpPr txBox="1"/>
          <p:nvPr/>
        </p:nvSpPr>
        <p:spPr>
          <a:xfrm>
            <a:off x="9644139" y="406254"/>
            <a:ext cx="2165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Can handle any 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FCFC8-74DB-E49E-9F5D-CB5626FF8A48}"/>
              </a:ext>
            </a:extLst>
          </p:cNvPr>
          <p:cNvSpPr txBox="1"/>
          <p:nvPr/>
        </p:nvSpPr>
        <p:spPr>
          <a:xfrm>
            <a:off x="9794354" y="162014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Set 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AD53CB-B771-B1DB-2D7D-F95FE1149DF4}"/>
              </a:ext>
            </a:extLst>
          </p:cNvPr>
          <p:cNvSpPr txBox="1"/>
          <p:nvPr/>
        </p:nvSpPr>
        <p:spPr>
          <a:xfrm>
            <a:off x="9939728" y="2839553"/>
            <a:ext cx="240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Generate proxy class, create object, set additional functionality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2C586-3B61-5808-E586-F2BC42CAD22D}"/>
              </a:ext>
            </a:extLst>
          </p:cNvPr>
          <p:cNvSpPr txBox="1"/>
          <p:nvPr/>
        </p:nvSpPr>
        <p:spPr>
          <a:xfrm>
            <a:off x="10114628" y="3779372"/>
            <a:ext cx="205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Javassist</a:t>
            </a:r>
            <a:r>
              <a:rPr lang="en-US" b="1" i="1" dirty="0"/>
              <a:t> will call invoke() for all proxy methods</a:t>
            </a:r>
          </a:p>
        </p:txBody>
      </p:sp>
    </p:spTree>
    <p:extLst>
      <p:ext uri="{BB962C8B-B14F-4D97-AF65-F5344CB8AC3E}">
        <p14:creationId xmlns:p14="http://schemas.microsoft.com/office/powerpoint/2010/main" val="109739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15" grpId="0" animBg="1"/>
      <p:bldP spid="15" grpId="1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8" grpId="0"/>
      <p:bldP spid="8" grpId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5E05-99EA-4079-77DF-568CC861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8A3B40-C72E-630A-CDD8-F27EE5DD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MyMethodHandler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 Class&lt;?&gt; </a:t>
            </a:r>
            <a:r>
              <a:rPr lang="en-US" dirty="0" err="1">
                <a:highlight>
                  <a:srgbClr val="B9B9FF"/>
                </a:highlight>
              </a:rPr>
              <a:t>proxyClass</a:t>
            </a:r>
            <a:r>
              <a:rPr lang="en-US" dirty="0">
                <a:highlight>
                  <a:srgbClr val="B9B9FF"/>
                </a:highlight>
              </a:rPr>
              <a:t> = </a:t>
            </a:r>
            <a:r>
              <a:rPr lang="en-US" dirty="0" err="1">
                <a:highlight>
                  <a:srgbClr val="B9B9FF"/>
                </a:highlight>
              </a:rPr>
              <a:t>proxyFactory.createClass</a:t>
            </a:r>
            <a:r>
              <a:rPr lang="en-US" dirty="0">
                <a:highlight>
                  <a:srgbClr val="B9B9FF"/>
                </a:highlight>
              </a:rPr>
              <a:t>();</a:t>
            </a:r>
          </a:p>
          <a:p>
            <a:r>
              <a:rPr lang="en-US" dirty="0"/>
              <a:t> </a:t>
            </a:r>
            <a:r>
              <a:rPr lang="en-US" dirty="0">
                <a:highlight>
                  <a:srgbClr val="FFD5D5"/>
                </a:highlight>
              </a:rPr>
              <a:t>Object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 =  </a:t>
            </a:r>
            <a:r>
              <a:rPr lang="en-US" dirty="0" err="1">
                <a:highlight>
                  <a:srgbClr val="FFD5D5"/>
                </a:highlight>
              </a:rPr>
              <a:t>proxyClass.getDeclaredConstructor</a:t>
            </a:r>
            <a:r>
              <a:rPr lang="en-US" dirty="0">
                <a:highlight>
                  <a:srgbClr val="FFD5D5"/>
                </a:highlight>
              </a:rPr>
              <a:t>().</a:t>
            </a:r>
            <a:r>
              <a:rPr lang="en-US" dirty="0" err="1">
                <a:highlight>
                  <a:srgbClr val="FFD5D5"/>
                </a:highlight>
              </a:rPr>
              <a:t>newInstance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  <a:p>
            <a:r>
              <a:rPr lang="en-US" dirty="0">
                <a:highlight>
                  <a:srgbClr val="FFD5D5"/>
                </a:highlight>
              </a:rPr>
              <a:t> ((</a:t>
            </a:r>
            <a:r>
              <a:rPr lang="en-US" dirty="0" err="1">
                <a:highlight>
                  <a:srgbClr val="FFD5D5"/>
                </a:highlight>
              </a:rPr>
              <a:t>javassist.util.proxy.Proxy</a:t>
            </a:r>
            <a:r>
              <a:rPr lang="en-US" dirty="0">
                <a:highlight>
                  <a:srgbClr val="FFD5D5"/>
                </a:highlight>
              </a:rPr>
              <a:t>)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).</a:t>
            </a:r>
            <a:r>
              <a:rPr lang="en-US" dirty="0" err="1">
                <a:highlight>
                  <a:srgbClr val="FFD5D5"/>
                </a:highlight>
              </a:rPr>
              <a:t>setHandler</a:t>
            </a:r>
            <a:r>
              <a:rPr lang="en-US" dirty="0">
                <a:highlight>
                  <a:srgbClr val="FFD5D5"/>
                </a:highlight>
              </a:rPr>
              <a:t>(</a:t>
            </a:r>
            <a:r>
              <a:rPr lang="en-US" dirty="0" err="1">
                <a:highlight>
                  <a:srgbClr val="FFD5D5"/>
                </a:highlight>
              </a:rPr>
              <a:t>methodHandler</a:t>
            </a:r>
            <a:r>
              <a:rPr lang="en-US" dirty="0">
                <a:highlight>
                  <a:srgbClr val="FFD5D5"/>
                </a:highlight>
              </a:rPr>
              <a:t>);  </a:t>
            </a:r>
          </a:p>
          <a:p>
            <a:r>
              <a:rPr lang="en-US" dirty="0">
                <a:highlight>
                  <a:srgbClr val="FFD5D5"/>
                </a:highlight>
              </a:rPr>
              <a:t> return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Object target;</a:t>
            </a:r>
          </a:p>
          <a:p>
            <a:r>
              <a:rPr lang="en-US" dirty="0">
                <a:highlight>
                  <a:srgbClr val="FFFF00"/>
                </a:highlight>
              </a:rPr>
              <a:t>	public Object invoke(Object self,</a:t>
            </a:r>
          </a:p>
          <a:p>
            <a:r>
              <a:rPr lang="en-US" dirty="0">
                <a:highlight>
                  <a:srgbClr val="FFFF00"/>
                </a:highlight>
              </a:rPr>
              <a:t>		Method proceed,</a:t>
            </a:r>
          </a:p>
          <a:p>
            <a:r>
              <a:rPr lang="en-US" dirty="0">
                <a:highlight>
                  <a:srgbClr val="FFFF00"/>
                </a:highlight>
              </a:rPr>
              <a:t>		Method </a:t>
            </a:r>
            <a:r>
              <a:rPr lang="en-US" dirty="0" err="1">
                <a:highlight>
                  <a:srgbClr val="FFFF00"/>
                </a:highlight>
              </a:rPr>
              <a:t>thisMethod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		Object[]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 throws Throwable {</a:t>
            </a:r>
          </a:p>
          <a:p>
            <a:r>
              <a:rPr lang="en-US" dirty="0">
                <a:highlight>
                  <a:srgbClr val="FFFF00"/>
                </a:highlight>
              </a:rPr>
              <a:t>		// Any </a:t>
            </a:r>
            <a:r>
              <a:rPr lang="en-US">
                <a:highlight>
                  <a:srgbClr val="FFFF00"/>
                </a:highlight>
              </a:rPr>
              <a:t>additional functionality;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		return </a:t>
            </a:r>
            <a:r>
              <a:rPr lang="en-US" dirty="0" err="1">
                <a:highlight>
                  <a:srgbClr val="FFFF00"/>
                </a:highlight>
              </a:rPr>
              <a:t>proceed.invoke</a:t>
            </a:r>
            <a:r>
              <a:rPr lang="en-US" dirty="0">
                <a:highlight>
                  <a:srgbClr val="FFFF00"/>
                </a:highlight>
              </a:rPr>
              <a:t>(target,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>
                <a:highlight>
                  <a:srgbClr val="FFFF00"/>
                </a:highlight>
              </a:rPr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4EEF03-C120-324D-7588-D6BA8670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7B8F1C0-D89F-A800-528C-EB7FA3DB0DD4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class </a:t>
            </a:r>
            <a:r>
              <a:rPr lang="en-US" dirty="0" err="1">
                <a:highlight>
                  <a:srgbClr val="B9B9FF"/>
                </a:highlight>
              </a:rPr>
              <a:t>TargetClassProxy</a:t>
            </a:r>
            <a:r>
              <a:rPr lang="en-US" dirty="0">
                <a:highlight>
                  <a:srgbClr val="B9B9FF"/>
                </a:highlight>
              </a:rPr>
              <a:t> extends </a:t>
            </a:r>
            <a:r>
              <a:rPr lang="en-US" dirty="0" err="1">
                <a:highlight>
                  <a:srgbClr val="B9B9FF"/>
                </a:highlight>
              </a:rPr>
              <a:t>TargetClass</a:t>
            </a:r>
            <a:r>
              <a:rPr lang="en-US" dirty="0">
                <a:highlight>
                  <a:srgbClr val="B9B9FF"/>
                </a:highlight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</a:t>
            </a:r>
            <a:r>
              <a:rPr lang="en-US" dirty="0" err="1">
                <a:highlight>
                  <a:srgbClr val="00FFFF"/>
                </a:highlight>
              </a:rPr>
              <a:t>TargetClass</a:t>
            </a:r>
            <a:r>
              <a:rPr lang="en-US" dirty="0">
                <a:highlight>
                  <a:srgbClr val="00FFFF"/>
                </a:highlight>
              </a:rPr>
              <a:t> target;</a:t>
            </a:r>
            <a:br>
              <a:rPr lang="en-US" dirty="0">
                <a:highlight>
                  <a:srgbClr val="00FFFF"/>
                </a:highlight>
              </a:rPr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public void </a:t>
            </a:r>
            <a:r>
              <a:rPr lang="en-US" dirty="0" err="1">
                <a:highlight>
                  <a:srgbClr val="FFFF00"/>
                </a:highlight>
              </a:rPr>
              <a:t>doThis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r>
              <a:rPr lang="en-US" dirty="0">
                <a:highlight>
                  <a:srgbClr val="FFFF00"/>
                </a:highlight>
              </a:rPr>
              <a:t>		// additional functionality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target.doThis</a:t>
            </a:r>
            <a:r>
              <a:rPr lang="en-US" dirty="0">
                <a:highlight>
                  <a:srgbClr val="FFFF00"/>
                </a:highlight>
              </a:rPr>
              <a:t>();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	}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	public void </a:t>
            </a:r>
            <a:r>
              <a:rPr lang="en-US" dirty="0" err="1">
                <a:highlight>
                  <a:srgbClr val="FFFF00"/>
                </a:highlight>
              </a:rPr>
              <a:t>doThat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r>
              <a:rPr lang="en-US" dirty="0">
                <a:highlight>
                  <a:srgbClr val="FFFF00"/>
                </a:highlight>
              </a:rPr>
              <a:t>		// additional functionality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target.doThat</a:t>
            </a:r>
            <a:r>
              <a:rPr lang="en-US" dirty="0">
                <a:highlight>
                  <a:srgbClr val="FFFF00"/>
                </a:highlight>
              </a:rPr>
              <a:t>();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>
                <a:highlight>
                  <a:srgbClr val="FFD5D5"/>
                </a:highlight>
              </a:rPr>
              <a:t>TargetClassProxy</a:t>
            </a:r>
            <a:r>
              <a:rPr lang="en-US" dirty="0">
                <a:highlight>
                  <a:srgbClr val="FFD5D5"/>
                </a:highlight>
              </a:rPr>
              <a:t> proxy = new </a:t>
            </a:r>
            <a:r>
              <a:rPr lang="en-US" dirty="0" err="1">
                <a:highlight>
                  <a:srgbClr val="FFD5D5"/>
                </a:highlight>
              </a:rPr>
              <a:t>TargetClassProxy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9E677-BAF3-949D-5AB0-AB66F60A10AD}"/>
              </a:ext>
            </a:extLst>
          </p:cNvPr>
          <p:cNvSpPr txBox="1"/>
          <p:nvPr/>
        </p:nvSpPr>
        <p:spPr>
          <a:xfrm>
            <a:off x="3168316" y="5569847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CD762-F6FF-42AE-F341-792926BEFF3E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B3C9A-688B-C293-2045-2675218DC50A}"/>
              </a:ext>
            </a:extLst>
          </p:cNvPr>
          <p:cNvSpPr txBox="1"/>
          <p:nvPr/>
        </p:nvSpPr>
        <p:spPr>
          <a:xfrm>
            <a:off x="10283070" y="3835519"/>
            <a:ext cx="2052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/>
              <a:t>Javassist</a:t>
            </a:r>
            <a:r>
              <a:rPr lang="en-US" sz="1600" b="1" i="1" dirty="0"/>
              <a:t> will call invoke() for all proxy methods</a:t>
            </a:r>
          </a:p>
        </p:txBody>
      </p:sp>
    </p:spTree>
    <p:extLst>
      <p:ext uri="{BB962C8B-B14F-4D97-AF65-F5344CB8AC3E}">
        <p14:creationId xmlns:p14="http://schemas.microsoft.com/office/powerpoint/2010/main" val="334212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8904-1EA7-B386-F174-EDEFA5E1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D36EF-A47F-1B09-5CC9-F34C9774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TargetClass</a:t>
            </a:r>
            <a:r>
              <a:rPr lang="en-US" sz="1200" dirty="0"/>
              <a:t> {</a:t>
            </a:r>
          </a:p>
          <a:p>
            <a:r>
              <a:rPr lang="en-US" sz="1200" dirty="0"/>
              <a:t>	// private fields</a:t>
            </a:r>
          </a:p>
          <a:p>
            <a:r>
              <a:rPr lang="en-US" sz="1200" dirty="0"/>
              <a:t>	// public methods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doThis</a:t>
            </a:r>
            <a:r>
              <a:rPr lang="en-US" sz="1200" dirty="0"/>
              <a:t>() { //… }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doThat</a:t>
            </a:r>
            <a:r>
              <a:rPr lang="en-US" sz="1200" dirty="0"/>
              <a:t>() { //… }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B9B9FF"/>
                </a:highlight>
              </a:rPr>
              <a:t>class Proxy0 extends </a:t>
            </a:r>
            <a:r>
              <a:rPr lang="en-US" sz="1200" dirty="0" err="1">
                <a:highlight>
                  <a:srgbClr val="B9B9FF"/>
                </a:highlight>
              </a:rPr>
              <a:t>TargetClass</a:t>
            </a:r>
            <a:r>
              <a:rPr lang="en-US" sz="1200" dirty="0">
                <a:highlight>
                  <a:srgbClr val="B9B9FF"/>
                </a:highlight>
              </a:rPr>
              <a:t> implements </a:t>
            </a:r>
            <a:r>
              <a:rPr lang="en-US" sz="1200" dirty="0" err="1">
                <a:highlight>
                  <a:srgbClr val="B9B9FF"/>
                </a:highlight>
              </a:rPr>
              <a:t>javassist.util.proxy.Proxy</a:t>
            </a:r>
            <a:r>
              <a:rPr lang="en-US" sz="1200" dirty="0">
                <a:highlight>
                  <a:srgbClr val="B9B9FF"/>
                </a:highlight>
              </a:rPr>
              <a:t> </a:t>
            </a: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	private </a:t>
            </a:r>
            <a:r>
              <a:rPr lang="en-US" sz="1200" dirty="0" err="1"/>
              <a:t>MethodHandler</a:t>
            </a:r>
            <a:r>
              <a:rPr lang="en-US" sz="1200" dirty="0"/>
              <a:t> handler;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	Method </a:t>
            </a:r>
            <a:r>
              <a:rPr lang="en-US" sz="1200" dirty="0" err="1"/>
              <a:t>getSuperMethod</a:t>
            </a:r>
            <a:r>
              <a:rPr lang="en-US" sz="1200" dirty="0"/>
              <a:t>(String name) {// use reflection }</a:t>
            </a:r>
            <a:br>
              <a:rPr lang="en-US" sz="1200" dirty="0"/>
            </a:br>
            <a:r>
              <a:rPr lang="en-US" sz="1200" dirty="0"/>
              <a:t>	Method </a:t>
            </a:r>
            <a:r>
              <a:rPr lang="en-US" sz="1200" dirty="0" err="1"/>
              <a:t>getMethod</a:t>
            </a:r>
            <a:r>
              <a:rPr lang="en-US" sz="1200" dirty="0"/>
              <a:t>(String name) {// use reflection }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r>
              <a:rPr lang="en-US" sz="1200" dirty="0">
                <a:highlight>
                  <a:srgbClr val="FFFF00"/>
                </a:highlight>
              </a:rPr>
              <a:t>public void 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()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		</a:t>
            </a:r>
            <a:r>
              <a:rPr lang="en-US" sz="1200" dirty="0" err="1">
                <a:highlight>
                  <a:srgbClr val="FFFF00"/>
                </a:highlight>
              </a:rPr>
              <a:t>handler.invoke</a:t>
            </a:r>
            <a:r>
              <a:rPr lang="en-US" sz="1200" dirty="0">
                <a:highlight>
                  <a:srgbClr val="FFFF00"/>
                </a:highlight>
              </a:rPr>
              <a:t>(this, </a:t>
            </a:r>
            <a:r>
              <a:rPr lang="en-US" sz="1200" dirty="0" err="1">
                <a:highlight>
                  <a:srgbClr val="FFFF00"/>
                </a:highlight>
              </a:rPr>
              <a:t>getSuperMethod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”), </a:t>
            </a:r>
            <a:r>
              <a:rPr lang="en-US" sz="1200" dirty="0" err="1">
                <a:highlight>
                  <a:srgbClr val="FFFF00"/>
                </a:highlight>
              </a:rPr>
              <a:t>getMethod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”), []);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	}</a:t>
            </a:r>
          </a:p>
          <a:p>
            <a:endParaRPr lang="en-US" sz="1200" dirty="0">
              <a:highlight>
                <a:srgbClr val="FFFF00"/>
              </a:highlight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	public void 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()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		 </a:t>
            </a:r>
            <a:r>
              <a:rPr lang="en-US" sz="1200" dirty="0" err="1">
                <a:highlight>
                  <a:srgbClr val="FFFF00"/>
                </a:highlight>
              </a:rPr>
              <a:t>handler.invoke</a:t>
            </a:r>
            <a:r>
              <a:rPr lang="en-US" sz="1200" dirty="0">
                <a:highlight>
                  <a:srgbClr val="FFFF00"/>
                </a:highlight>
              </a:rPr>
              <a:t>(this, </a:t>
            </a:r>
            <a:r>
              <a:rPr lang="en-US" sz="1200" dirty="0" err="1">
                <a:highlight>
                  <a:srgbClr val="FFFF00"/>
                </a:highlight>
              </a:rPr>
              <a:t>getSuperMethod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”), </a:t>
            </a:r>
            <a:r>
              <a:rPr lang="en-US" sz="1200" dirty="0" err="1">
                <a:highlight>
                  <a:srgbClr val="FFFF00"/>
                </a:highlight>
              </a:rPr>
              <a:t>getMethod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”), []);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	}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86B47D-BF78-BB61-B877-135E33B7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Javassist</a:t>
            </a:r>
            <a:r>
              <a:rPr lang="en-US" dirty="0"/>
              <a:t> … behind the scenes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26ED690-B035-2A63-DE3F-3388DA93566D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MyMethodHandler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 Class&lt;?&gt; </a:t>
            </a:r>
            <a:r>
              <a:rPr lang="en-US" dirty="0" err="1">
                <a:highlight>
                  <a:srgbClr val="B9B9FF"/>
                </a:highlight>
              </a:rPr>
              <a:t>proxyClass</a:t>
            </a:r>
            <a:r>
              <a:rPr lang="en-US" dirty="0">
                <a:highlight>
                  <a:srgbClr val="B9B9FF"/>
                </a:highlight>
              </a:rPr>
              <a:t> = </a:t>
            </a:r>
            <a:r>
              <a:rPr lang="en-US" dirty="0" err="1">
                <a:highlight>
                  <a:srgbClr val="B9B9FF"/>
                </a:highlight>
              </a:rPr>
              <a:t>proxyFactory.createClass</a:t>
            </a:r>
            <a:r>
              <a:rPr lang="en-US" dirty="0">
                <a:highlight>
                  <a:srgbClr val="B9B9FF"/>
                </a:highlight>
              </a:rPr>
              <a:t>();</a:t>
            </a:r>
          </a:p>
          <a:p>
            <a:r>
              <a:rPr lang="en-US" dirty="0"/>
              <a:t> </a:t>
            </a:r>
            <a:r>
              <a:rPr lang="en-US" dirty="0">
                <a:highlight>
                  <a:srgbClr val="FFD5D5"/>
                </a:highlight>
              </a:rPr>
              <a:t>Object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 =  </a:t>
            </a:r>
            <a:r>
              <a:rPr lang="en-US" dirty="0" err="1">
                <a:highlight>
                  <a:srgbClr val="FFD5D5"/>
                </a:highlight>
              </a:rPr>
              <a:t>proxyClass.getDeclaredConstructor</a:t>
            </a:r>
            <a:r>
              <a:rPr lang="en-US" dirty="0">
                <a:highlight>
                  <a:srgbClr val="FFD5D5"/>
                </a:highlight>
              </a:rPr>
              <a:t>().</a:t>
            </a:r>
            <a:r>
              <a:rPr lang="en-US" dirty="0" err="1">
                <a:highlight>
                  <a:srgbClr val="FFD5D5"/>
                </a:highlight>
              </a:rPr>
              <a:t>newInstance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  <a:p>
            <a:r>
              <a:rPr lang="en-US" dirty="0">
                <a:highlight>
                  <a:srgbClr val="FFD5D5"/>
                </a:highlight>
              </a:rPr>
              <a:t> ((</a:t>
            </a:r>
            <a:r>
              <a:rPr lang="en-US" dirty="0" err="1">
                <a:highlight>
                  <a:srgbClr val="FFD5D5"/>
                </a:highlight>
              </a:rPr>
              <a:t>javassist.util.proxy.Proxy</a:t>
            </a:r>
            <a:r>
              <a:rPr lang="en-US" dirty="0">
                <a:highlight>
                  <a:srgbClr val="FFD5D5"/>
                </a:highlight>
              </a:rPr>
              <a:t>)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).</a:t>
            </a:r>
            <a:r>
              <a:rPr lang="en-US" dirty="0" err="1">
                <a:highlight>
                  <a:srgbClr val="FFD5D5"/>
                </a:highlight>
              </a:rPr>
              <a:t>setHandler</a:t>
            </a:r>
            <a:r>
              <a:rPr lang="en-US" dirty="0">
                <a:highlight>
                  <a:srgbClr val="FFD5D5"/>
                </a:highlight>
              </a:rPr>
              <a:t>(</a:t>
            </a:r>
            <a:r>
              <a:rPr lang="en-US" dirty="0" err="1">
                <a:highlight>
                  <a:srgbClr val="FFD5D5"/>
                </a:highlight>
              </a:rPr>
              <a:t>methodHandler</a:t>
            </a:r>
            <a:r>
              <a:rPr lang="en-US" dirty="0">
                <a:highlight>
                  <a:srgbClr val="FFD5D5"/>
                </a:highlight>
              </a:rPr>
              <a:t>);  </a:t>
            </a:r>
          </a:p>
          <a:p>
            <a:r>
              <a:rPr lang="en-US" dirty="0">
                <a:highlight>
                  <a:srgbClr val="FFD5D5"/>
                </a:highlight>
              </a:rPr>
              <a:t> return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Object target;</a:t>
            </a:r>
          </a:p>
          <a:p>
            <a:r>
              <a:rPr lang="en-US" dirty="0">
                <a:highlight>
                  <a:srgbClr val="FFFF00"/>
                </a:highlight>
              </a:rPr>
              <a:t>	public Object invoke(Object self,</a:t>
            </a:r>
          </a:p>
          <a:p>
            <a:r>
              <a:rPr lang="en-US" dirty="0">
                <a:highlight>
                  <a:srgbClr val="FFFF00"/>
                </a:highlight>
              </a:rPr>
              <a:t>		Method proceed,</a:t>
            </a:r>
          </a:p>
          <a:p>
            <a:r>
              <a:rPr lang="en-US" dirty="0">
                <a:highlight>
                  <a:srgbClr val="FFFF00"/>
                </a:highlight>
              </a:rPr>
              <a:t>		Method </a:t>
            </a:r>
            <a:r>
              <a:rPr lang="en-US" dirty="0" err="1">
                <a:highlight>
                  <a:srgbClr val="FFFF00"/>
                </a:highlight>
              </a:rPr>
              <a:t>thisMethod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		Object[]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 throws Throwable {</a:t>
            </a:r>
          </a:p>
          <a:p>
            <a:r>
              <a:rPr lang="en-US" dirty="0">
                <a:highlight>
                  <a:srgbClr val="FFFF00"/>
                </a:highlight>
              </a:rPr>
              <a:t>		// Any additional functionality;</a:t>
            </a:r>
          </a:p>
          <a:p>
            <a:r>
              <a:rPr lang="en-US" dirty="0">
                <a:highlight>
                  <a:srgbClr val="FFFF00"/>
                </a:highlight>
              </a:rPr>
              <a:t>		return </a:t>
            </a:r>
            <a:r>
              <a:rPr lang="en-US" dirty="0" err="1">
                <a:highlight>
                  <a:srgbClr val="FFFF00"/>
                </a:highlight>
              </a:rPr>
              <a:t>proceed.invoke</a:t>
            </a:r>
            <a:r>
              <a:rPr lang="en-US" dirty="0">
                <a:highlight>
                  <a:srgbClr val="FFFF00"/>
                </a:highlight>
              </a:rPr>
              <a:t>(target,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>
                <a:highlight>
                  <a:srgbClr val="FFFF00"/>
                </a:highlight>
              </a:rPr>
              <a:t>    }</a:t>
            </a:r>
            <a:endParaRPr lang="en-US" dirty="0"/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TargetClass</a:t>
            </a:r>
            <a:r>
              <a:rPr lang="en-US" dirty="0"/>
              <a:t> t = new </a:t>
            </a:r>
            <a:r>
              <a:rPr lang="en-US" dirty="0" err="1"/>
              <a:t>TargetClass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 err="1"/>
              <a:t>TargetClass</a:t>
            </a:r>
            <a:r>
              <a:rPr lang="en-US" dirty="0"/>
              <a:t> </a:t>
            </a:r>
            <a:r>
              <a:rPr lang="en-US" dirty="0" err="1"/>
              <a:t>proxyT</a:t>
            </a:r>
            <a:r>
              <a:rPr lang="en-US" dirty="0"/>
              <a:t> = (</a:t>
            </a:r>
            <a:r>
              <a:rPr lang="en-US" dirty="0" err="1"/>
              <a:t>TargetClass</a:t>
            </a:r>
            <a:r>
              <a:rPr lang="en-US" dirty="0"/>
              <a:t>) </a:t>
            </a:r>
            <a:r>
              <a:rPr lang="en-US" dirty="0" err="1"/>
              <a:t>createProxy</a:t>
            </a:r>
            <a:r>
              <a:rPr lang="en-US" dirty="0"/>
              <a:t>(t);</a:t>
            </a:r>
            <a:br>
              <a:rPr lang="en-US" dirty="0"/>
            </a:br>
            <a:r>
              <a:rPr lang="en-US" dirty="0" err="1"/>
              <a:t>proxyT.doThis</a:t>
            </a:r>
            <a:r>
              <a:rPr lang="en-US" dirty="0"/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32FAB-088C-DFDD-2660-7EA131188BBF}"/>
              </a:ext>
            </a:extLst>
          </p:cNvPr>
          <p:cNvSpPr txBox="1"/>
          <p:nvPr/>
        </p:nvSpPr>
        <p:spPr>
          <a:xfrm>
            <a:off x="6096000" y="5396964"/>
            <a:ext cx="5353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err="1"/>
              <a:t>Javassist</a:t>
            </a:r>
            <a:r>
              <a:rPr lang="en-US" sz="2800" b="1" i="1" dirty="0"/>
              <a:t> runtime-generated class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DFE7A9-159E-8040-3BD7-4A4703618105}"/>
              </a:ext>
            </a:extLst>
          </p:cNvPr>
          <p:cNvGrpSpPr/>
          <p:nvPr/>
        </p:nvGrpSpPr>
        <p:grpSpPr>
          <a:xfrm>
            <a:off x="543099" y="1845763"/>
            <a:ext cx="9579469" cy="727297"/>
            <a:chOff x="543100" y="2206710"/>
            <a:chExt cx="9579469" cy="7272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48358A-3B34-A041-F408-10C431F8A960}"/>
                </a:ext>
              </a:extLst>
            </p:cNvPr>
            <p:cNvSpPr/>
            <p:nvPr/>
          </p:nvSpPr>
          <p:spPr>
            <a:xfrm>
              <a:off x="543100" y="2206710"/>
              <a:ext cx="5175911" cy="40815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9B36D2-9915-2C4B-E4DE-C024637DA9D4}"/>
                </a:ext>
              </a:extLst>
            </p:cNvPr>
            <p:cNvSpPr/>
            <p:nvPr/>
          </p:nvSpPr>
          <p:spPr>
            <a:xfrm>
              <a:off x="6176513" y="2410787"/>
              <a:ext cx="3946056" cy="52322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D7611D88-1292-2099-AEDE-DBE3C0DD30C4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719011" y="2410787"/>
              <a:ext cx="457502" cy="26161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2EB97D2-00D3-A497-E8A4-1B4DD3D0FB08}"/>
              </a:ext>
            </a:extLst>
          </p:cNvPr>
          <p:cNvGrpSpPr/>
          <p:nvPr/>
        </p:nvGrpSpPr>
        <p:grpSpPr>
          <a:xfrm>
            <a:off x="543099" y="3672381"/>
            <a:ext cx="10694395" cy="1622544"/>
            <a:chOff x="543100" y="845776"/>
            <a:chExt cx="10694395" cy="162254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323B84-AC58-9998-BF99-5234D093C9B9}"/>
                </a:ext>
              </a:extLst>
            </p:cNvPr>
            <p:cNvSpPr/>
            <p:nvPr/>
          </p:nvSpPr>
          <p:spPr>
            <a:xfrm>
              <a:off x="543100" y="2206710"/>
              <a:ext cx="5175911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7BA817-D064-1AC7-1FEE-7A0B9EB55915}"/>
                </a:ext>
              </a:extLst>
            </p:cNvPr>
            <p:cNvSpPr/>
            <p:nvPr/>
          </p:nvSpPr>
          <p:spPr>
            <a:xfrm>
              <a:off x="6176512" y="845776"/>
              <a:ext cx="5060983" cy="874169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8E6B81EF-02A2-7C39-574D-766C56425689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5719011" y="1282861"/>
              <a:ext cx="457501" cy="1054654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4D71965-556C-B197-E2DD-E222E12E8B19}"/>
              </a:ext>
            </a:extLst>
          </p:cNvPr>
          <p:cNvGrpSpPr/>
          <p:nvPr/>
        </p:nvGrpSpPr>
        <p:grpSpPr>
          <a:xfrm>
            <a:off x="903763" y="3428999"/>
            <a:ext cx="10278587" cy="1067783"/>
            <a:chOff x="903763" y="3428999"/>
            <a:chExt cx="10278587" cy="106778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98E2600-18E4-0410-6EEE-3C33206DB0CE}"/>
                </a:ext>
              </a:extLst>
            </p:cNvPr>
            <p:cNvSpPr/>
            <p:nvPr/>
          </p:nvSpPr>
          <p:spPr>
            <a:xfrm>
              <a:off x="7073900" y="3931141"/>
              <a:ext cx="4108450" cy="240809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4583D6-32E1-F860-FC59-32D526A0461E}"/>
                </a:ext>
              </a:extLst>
            </p:cNvPr>
            <p:cNvSpPr/>
            <p:nvPr/>
          </p:nvSpPr>
          <p:spPr>
            <a:xfrm>
              <a:off x="903763" y="3428999"/>
              <a:ext cx="3744437" cy="1067783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705D260E-2EB9-8788-D3AE-865D4D2C14A8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rot="10800000">
              <a:off x="4648200" y="3931144"/>
              <a:ext cx="2425700" cy="12040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789BDF2-4634-BB7C-AF37-9134E4DCCCA5}"/>
              </a:ext>
            </a:extLst>
          </p:cNvPr>
          <p:cNvGrpSpPr/>
          <p:nvPr/>
        </p:nvGrpSpPr>
        <p:grpSpPr>
          <a:xfrm>
            <a:off x="1071315" y="1293227"/>
            <a:ext cx="9131765" cy="3096421"/>
            <a:chOff x="543101" y="-628101"/>
            <a:chExt cx="9131765" cy="309642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D81DD2C-E515-EC3C-5364-B933152F6429}"/>
                </a:ext>
              </a:extLst>
            </p:cNvPr>
            <p:cNvSpPr/>
            <p:nvPr/>
          </p:nvSpPr>
          <p:spPr>
            <a:xfrm>
              <a:off x="543101" y="2206710"/>
              <a:ext cx="3744438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BB3DA7-1F0C-905C-43D2-2BE16A7CB934}"/>
                </a:ext>
              </a:extLst>
            </p:cNvPr>
            <p:cNvSpPr/>
            <p:nvPr/>
          </p:nvSpPr>
          <p:spPr>
            <a:xfrm>
              <a:off x="5728810" y="-628101"/>
              <a:ext cx="3946056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7098EEFE-E6B6-EA1C-07DC-FE077FD0B6E0}"/>
                </a:ext>
              </a:extLst>
            </p:cNvPr>
            <p:cNvCxnSpPr>
              <a:cxnSpLocks/>
              <a:stCxn id="43" idx="3"/>
              <a:endCxn id="44" idx="1"/>
            </p:cNvCxnSpPr>
            <p:nvPr/>
          </p:nvCxnSpPr>
          <p:spPr>
            <a:xfrm flipV="1">
              <a:off x="4287539" y="-497296"/>
              <a:ext cx="1441271" cy="283481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878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4D51B-B8F2-24F1-FF7F-286F25750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https://github.com/davsec-teaching/javassist_demo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C91648-9FD3-EF0D-4C41-7206339F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3068628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C7758D-BFCE-7FEF-E1A3-B26BEB504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use cases</a:t>
            </a:r>
          </a:p>
          <a:p>
            <a:pPr lvl="1"/>
            <a:r>
              <a:rPr lang="en-US" dirty="0"/>
              <a:t>Lazy loading</a:t>
            </a:r>
          </a:p>
          <a:p>
            <a:pPr lvl="1"/>
            <a:r>
              <a:rPr lang="en-US" dirty="0"/>
              <a:t>Mock testing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8A4FC7-30D7-F0D9-6BE9-658260CD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use cases of proxies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E8CEA9-5CFA-5890-D2FD-44EE2F71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98" y="854015"/>
            <a:ext cx="1596189" cy="1596189"/>
          </a:xfrm>
          <a:prstGeom prst="rect">
            <a:avLst/>
          </a:prstGeom>
        </p:spPr>
      </p:pic>
      <p:pic>
        <p:nvPicPr>
          <p:cNvPr id="1026" name="Picture 2" descr="Mockito Tutorial | Mockito Framework Tutorial - Javatpoint">
            <a:extLst>
              <a:ext uri="{FF2B5EF4-FFF2-40B4-BE49-F238E27FC236}">
                <a16:creationId xmlns:a16="http://schemas.microsoft.com/office/drawing/2014/main" id="{F5A4118B-A503-4EF1-48DE-C4E02DF16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858" y="36178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syMock">
            <a:extLst>
              <a:ext uri="{FF2B5EF4-FFF2-40B4-BE49-F238E27FC236}">
                <a16:creationId xmlns:a16="http://schemas.microsoft.com/office/drawing/2014/main" id="{EA69CB83-9D14-31B8-C6F5-720A9233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3664402"/>
            <a:ext cx="53816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14626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9011-F243-2925-4B8C-CAFEF947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1DF6A9-0AE7-85F6-6027-F1A305BA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CC7C0B-E301-1DED-9BC2-D1B058C8D9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2ACA9B-DD42-983A-2EB7-0ABB893748BC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EE2B83A-9117-1A5E-D0EA-F4D3E8C2559E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A5DB19C-DF2F-2D7A-C553-7E5AB666896A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895815-6220-DC10-EDDF-0FACAC574242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F440EE-644D-813E-4106-A30E434EAD65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8A7B61-C621-389B-4062-0EE2D4D584BB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ED478F-CAE2-5251-58F7-32702368FD0F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887E86-9BB9-8B73-B550-1E1C81C17BD7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F12DF2-D8E5-3E02-23C7-FD6A350CC9C0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CF6560-67BB-5657-F65C-F22FE999C1E9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DB1902-1E1A-C905-7387-B243A71644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550C56A-5A55-392E-CD6D-0E131BED28C9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6A8A4CF-E550-338F-82D3-C10DD4421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55D81-B5A3-B22B-61A9-4F7FD152E7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C870C8-A52E-7CFE-47A9-F9003E62C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0CEDDB8-1512-9888-2DD6-805AAE4FA7BF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64EB66-464E-6BA0-B937-5E22EBB31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E73141-8FC8-A10B-5BA0-4D1D3DFD85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774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FF05-2822-58C7-20FD-9937AA83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F4E9F9-68C1-694E-9124-F7832998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DC8B57-DD41-E5FB-5A76-4D67A0325A2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r>
              <a:rPr lang="en-US" dirty="0"/>
              <a:t>High level overview</a:t>
            </a:r>
          </a:p>
          <a:p>
            <a:pPr lvl="1"/>
            <a:r>
              <a:rPr lang="en-US" dirty="0"/>
              <a:t>Load a post</a:t>
            </a:r>
          </a:p>
          <a:p>
            <a:pPr lvl="1"/>
            <a:r>
              <a:rPr lang="en-US" dirty="0"/>
              <a:t>For each reply</a:t>
            </a:r>
          </a:p>
          <a:p>
            <a:pPr lvl="2"/>
            <a:r>
              <a:rPr lang="en-US" dirty="0"/>
              <a:t>Load the reply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405AED2-DEA7-598E-CB10-5F986ACD1F1C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2D8F9E-4EB8-5AAB-2A0C-92808B7159C3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7F80B3-447D-09BD-2D50-6BA6ED7451C0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8BCD46-266F-66A3-BBDF-49FA2BA6DA16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776A40-6813-6D74-71BD-8D7B4BA667D0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25CDE5-880C-43EA-A67E-E769989C2449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55CF11-F5A1-6A17-0905-FDA6D1D57D92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11DBD5-5571-7466-48D6-C2EAAEE35984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6040B8-DE2F-1EC3-3F76-48F1268C6328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AF200E-F8B2-7607-06DA-05D7632DB673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D59083-94C2-749C-E493-782F681E9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1DE79F0-76AA-E0B7-E237-5FDD1DEB6F28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206AAB-89F2-4483-7CD4-14641B000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1050C86-A91F-6B40-D81D-A36BFB2182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B814A6-8D92-1114-F517-B29311089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BE3DDCB-3FB9-27A8-335B-2C9FD04DEB1F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A32CEFB-8AA7-68EA-CE4B-2D8B360BF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CFCE51C-F08F-08DA-1115-FF222C8449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98633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96D7-7E7F-0F8A-8AEF-FE2ED57E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99FD325-A4AE-8C34-01CA-30B59AA0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29" y="848609"/>
            <a:ext cx="6015488" cy="5046453"/>
          </a:xfrm>
        </p:spPr>
        <p:txBody>
          <a:bodyPr/>
          <a:lstStyle/>
          <a:p>
            <a:r>
              <a:rPr lang="en-US" sz="1600" dirty="0">
                <a:latin typeface="Consolas" panose="020B0609020204030204" pitchFamily="49" charset="0"/>
              </a:rPr>
              <a:t>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(“3208”);</a:t>
            </a:r>
          </a:p>
          <a:p>
            <a:r>
              <a:rPr lang="en-US" dirty="0"/>
              <a:t>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 err="1"/>
              <a:t>post.setId</a:t>
            </a:r>
            <a:r>
              <a:rPr lang="en-US" dirty="0"/>
              <a:t>(“3208”);</a:t>
            </a:r>
          </a:p>
          <a:p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List&lt;String&gt; replies = 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dirty="0" err="1"/>
              <a:t>replyMap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reply.setCreatedAt</a:t>
            </a:r>
            <a:r>
              <a:rPr lang="en-US" dirty="0"/>
              <a:t>(</a:t>
            </a:r>
            <a:r>
              <a:rPr lang="en-US" dirty="0" err="1"/>
              <a:t>replyMap.get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5AD6BD-3B0C-2FCB-C495-546F78B8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posts from Redis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4F4993-9A84-2848-97D0-07442A15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62" y="696277"/>
            <a:ext cx="5696745" cy="374384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0632174-C844-1330-B55E-6780095487DF}"/>
              </a:ext>
            </a:extLst>
          </p:cNvPr>
          <p:cNvSpPr/>
          <p:nvPr/>
        </p:nvSpPr>
        <p:spPr>
          <a:xfrm>
            <a:off x="97693" y="759882"/>
            <a:ext cx="6167888" cy="119732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A3DC1E-53AB-C994-6C8C-28BF86D04E2E}"/>
              </a:ext>
            </a:extLst>
          </p:cNvPr>
          <p:cNvSpPr/>
          <p:nvPr/>
        </p:nvSpPr>
        <p:spPr>
          <a:xfrm>
            <a:off x="6318855" y="3888658"/>
            <a:ext cx="5633413" cy="3304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D586A6-E37F-5790-0294-04CD9A7BD99F}"/>
              </a:ext>
            </a:extLst>
          </p:cNvPr>
          <p:cNvSpPr/>
          <p:nvPr/>
        </p:nvSpPr>
        <p:spPr>
          <a:xfrm>
            <a:off x="97693" y="2109537"/>
            <a:ext cx="6167888" cy="25186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88D9A3-BA7E-92AF-988E-F6C41CC97CED}"/>
              </a:ext>
            </a:extLst>
          </p:cNvPr>
          <p:cNvSpPr/>
          <p:nvPr/>
        </p:nvSpPr>
        <p:spPr>
          <a:xfrm>
            <a:off x="2997846" y="4844013"/>
            <a:ext cx="63616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replies loaded when the post is loaded</a:t>
            </a:r>
          </a:p>
        </p:txBody>
      </p:sp>
    </p:spTree>
    <p:extLst>
      <p:ext uri="{BB962C8B-B14F-4D97-AF65-F5344CB8AC3E}">
        <p14:creationId xmlns:p14="http://schemas.microsoft.com/office/powerpoint/2010/main" val="8563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7" grpId="0" animBg="1"/>
      <p:bldP spid="27" grpId="1" animBg="1"/>
      <p:bldP spid="31" grpId="0" animBg="1"/>
      <p:bldP spid="31" grpId="1" animBg="1"/>
      <p:bldP spid="3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3FBEA3-CECD-07E1-A5AD-1C67DBA25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65236-F1EF-6141-9AFC-66192071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4249-6196-CEBE-716B-D57C4395DDA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Improves UI responsiveness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6FF0B-D17F-3450-159A-F43E18931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486" y="696277"/>
            <a:ext cx="6041165" cy="4814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9DDAEB-443D-4708-D156-9C22C945A7A2}"/>
              </a:ext>
            </a:extLst>
          </p:cNvPr>
          <p:cNvSpPr/>
          <p:nvPr/>
        </p:nvSpPr>
        <p:spPr>
          <a:xfrm>
            <a:off x="6268249" y="5119261"/>
            <a:ext cx="1656551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2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EF4D-0EFE-4722-E051-9094B862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CF73C-917C-7686-5CA7-A6CFCA35D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A05476-CCFF-A2D3-34A3-0B9B2854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842B-F05F-DC63-0934-D0663FB3DFF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Clicking on ‘+’ loads the remaining replies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0D678-B5CC-4F56-9498-B3684AEB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47" y="0"/>
            <a:ext cx="41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3676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F2DAA7-85D6-FFEF-8A10-82D94CCC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// event handler to be triggered on click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{return replies;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2F9BB0-D2D1-9F7C-4D24-6A43AEBC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UI code for posts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EBB28C-8298-D78E-249C-C35D2E1C8AF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Imagine this is a single application</a:t>
            </a:r>
          </a:p>
          <a:p>
            <a:pPr lvl="1"/>
            <a:r>
              <a:rPr lang="en-US" dirty="0"/>
              <a:t>Ignore network for a moment</a:t>
            </a:r>
          </a:p>
          <a:p>
            <a:r>
              <a:rPr lang="en-US" dirty="0"/>
              <a:t>Java UI</a:t>
            </a:r>
          </a:p>
          <a:p>
            <a:pPr lvl="1"/>
            <a:r>
              <a:rPr lang="en-US" dirty="0"/>
              <a:t>Window, Button</a:t>
            </a:r>
          </a:p>
          <a:p>
            <a:r>
              <a:rPr lang="en-US" dirty="0"/>
              <a:t>Java objects of type Post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6314BB-1D2F-176D-9CCF-14BEE161ABD4}"/>
              </a:ext>
            </a:extLst>
          </p:cNvPr>
          <p:cNvSpPr/>
          <p:nvPr/>
        </p:nvSpPr>
        <p:spPr>
          <a:xfrm>
            <a:off x="6176512" y="696277"/>
            <a:ext cx="4475446" cy="186243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7F981C-56FD-A5F2-280F-D98D87A2DE56}"/>
              </a:ext>
            </a:extLst>
          </p:cNvPr>
          <p:cNvSpPr/>
          <p:nvPr/>
        </p:nvSpPr>
        <p:spPr>
          <a:xfrm>
            <a:off x="6176512" y="2565182"/>
            <a:ext cx="4475446" cy="160576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DA892-CBD0-A0F7-47C0-B62EC7CE0BE5}"/>
              </a:ext>
            </a:extLst>
          </p:cNvPr>
          <p:cNvSpPr/>
          <p:nvPr/>
        </p:nvSpPr>
        <p:spPr>
          <a:xfrm>
            <a:off x="6409122" y="4467232"/>
            <a:ext cx="4475446" cy="87479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A7F5-CBD2-B124-7076-6D1D2CC1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C46BB1-2E7A-A429-A0E5-65D050D5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// event handler to be triggered on click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{return replies;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75828B-93B4-B709-3BC0-D10984FF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AAFECA-F238-4DF2-EB1E-225C9E59A26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only loads the post</a:t>
            </a:r>
          </a:p>
          <a:p>
            <a:pPr lvl="1"/>
            <a:r>
              <a:rPr lang="en-US" dirty="0"/>
              <a:t>Replies loaded from database when the button is clicked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onClick</a:t>
            </a:r>
            <a:r>
              <a:rPr lang="en-US" dirty="0"/>
              <a:t> event is triggered</a:t>
            </a:r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A6ED3E-98A4-5D61-942A-053F98304A21}"/>
              </a:ext>
            </a:extLst>
          </p:cNvPr>
          <p:cNvSpPr/>
          <p:nvPr/>
        </p:nvSpPr>
        <p:spPr>
          <a:xfrm>
            <a:off x="6409122" y="4467232"/>
            <a:ext cx="4475446" cy="20904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27B23-33CF-BC24-C608-8AE59C0DD1DF}"/>
              </a:ext>
            </a:extLst>
          </p:cNvPr>
          <p:cNvSpPr/>
          <p:nvPr/>
        </p:nvSpPr>
        <p:spPr>
          <a:xfrm>
            <a:off x="6096000" y="983873"/>
            <a:ext cx="5823284" cy="69627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0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1954A-B823-AF04-CBE2-C83F05F9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2FB67A8-D936-677B-D3F5-BD91DC909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// original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 method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Post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(String id)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</a:t>
            </a:r>
            <a:r>
              <a:rPr lang="en-US" sz="1600" dirty="0">
                <a:latin typeface="Consolas" panose="020B0609020204030204" pitchFamily="49" charset="0"/>
              </a:rPr>
              <a:t>id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List&lt;String&gt; replies =   	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dirty="0" err="1"/>
              <a:t>replyMap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reply.setCreatedAt</a:t>
            </a:r>
            <a:r>
              <a:rPr lang="en-US" dirty="0"/>
              <a:t>(</a:t>
            </a:r>
            <a:r>
              <a:rPr lang="en-US" dirty="0" err="1"/>
              <a:t>replyMap.get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post;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3DE05B-A5A0-0A6E-15D4-7F8EA16B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357D7E-7B4C-2EC8-CAE5-B32CCACAD9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Original </a:t>
            </a:r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method</a:t>
            </a:r>
          </a:p>
          <a:p>
            <a:r>
              <a:rPr lang="en-US" dirty="0"/>
              <a:t>How many database accesses?</a:t>
            </a:r>
          </a:p>
          <a:p>
            <a:pPr lvl="1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7612B-6B20-EEDF-4C0E-63A52FC5C932}"/>
              </a:ext>
            </a:extLst>
          </p:cNvPr>
          <p:cNvSpPr/>
          <p:nvPr/>
        </p:nvSpPr>
        <p:spPr>
          <a:xfrm>
            <a:off x="6176512" y="1611737"/>
            <a:ext cx="4475446" cy="107531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008F3-0BF5-8DE0-3EC6-50C200075C3D}"/>
              </a:ext>
            </a:extLst>
          </p:cNvPr>
          <p:cNvSpPr/>
          <p:nvPr/>
        </p:nvSpPr>
        <p:spPr>
          <a:xfrm>
            <a:off x="6569543" y="3737145"/>
            <a:ext cx="5125151" cy="12679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4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D6CE-2B6E-A56F-E155-87324DF9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632556-1E00-9E9D-A131-1B94AC52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// original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 method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Post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(String id)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</a:t>
            </a:r>
            <a:r>
              <a:rPr lang="en-US" sz="1600" dirty="0">
                <a:latin typeface="Consolas" panose="020B0609020204030204" pitchFamily="49" charset="0"/>
              </a:rPr>
              <a:t>id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List&lt;String&gt; replies =   	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strike="sngStrike" dirty="0" err="1">
                <a:solidFill>
                  <a:srgbClr val="B8B8B8"/>
                </a:solidFill>
              </a:rPr>
              <a:t>replyMap</a:t>
            </a:r>
            <a:r>
              <a:rPr lang="en-US" strike="sngStrike" dirty="0">
                <a:solidFill>
                  <a:srgbClr val="B8B8B8"/>
                </a:solidFill>
              </a:rPr>
              <a:t> = </a:t>
            </a:r>
            <a:r>
              <a:rPr lang="en-US" strike="sngStrike" dirty="0" err="1">
                <a:solidFill>
                  <a:srgbClr val="B8B8B8"/>
                </a:solidFill>
              </a:rPr>
              <a:t>jedis.hgetAll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replyId</a:t>
            </a:r>
            <a:r>
              <a:rPr lang="en-US" strike="sngStrike" dirty="0">
                <a:solidFill>
                  <a:srgbClr val="B8B8B8"/>
                </a:solidFill>
              </a:rPr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strike="sngStrike" dirty="0" err="1">
                <a:solidFill>
                  <a:srgbClr val="B8B8B8"/>
                </a:solidFill>
              </a:rPr>
              <a:t>reply.setCreatedAt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replyMap.get</a:t>
            </a:r>
            <a:r>
              <a:rPr lang="en-US" strike="sngStrike" dirty="0">
                <a:solidFill>
                  <a:srgbClr val="B8B8B8"/>
                </a:solidFill>
              </a:rPr>
              <a:t>(“</a:t>
            </a:r>
            <a:r>
              <a:rPr lang="en-US" strike="sngStrike" dirty="0" err="1">
                <a:solidFill>
                  <a:srgbClr val="B8B8B8"/>
                </a:solidFill>
              </a:rPr>
              <a:t>createdAt</a:t>
            </a:r>
            <a:r>
              <a:rPr lang="en-US" strike="sngStrike" dirty="0">
                <a:solidFill>
                  <a:srgbClr val="B8B8B8"/>
                </a:solidFill>
              </a:rPr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post;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229C24-2F65-48EE-5209-CE0C0091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7C8EE8-458F-A37E-2EC0-0A1C520CADD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method with lazy loading</a:t>
            </a:r>
          </a:p>
          <a:p>
            <a:pPr lvl="1"/>
            <a:r>
              <a:rPr lang="en-US" dirty="0"/>
              <a:t>Only load the post fields and the ids of the replies</a:t>
            </a:r>
          </a:p>
          <a:p>
            <a:r>
              <a:rPr lang="en-US" dirty="0"/>
              <a:t>How many database accesses?</a:t>
            </a:r>
          </a:p>
          <a:p>
            <a:r>
              <a:rPr lang="en-US" dirty="0"/>
              <a:t>Much faster (even more so for on-disk SQL databases)</a:t>
            </a:r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8AF45-AC14-C21C-5866-91222C4729A1}"/>
              </a:ext>
            </a:extLst>
          </p:cNvPr>
          <p:cNvSpPr/>
          <p:nvPr/>
        </p:nvSpPr>
        <p:spPr>
          <a:xfrm>
            <a:off x="6176512" y="1611737"/>
            <a:ext cx="4475446" cy="107531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1ACC2-0595-70D3-B2F6-00BB7AB91629}"/>
              </a:ext>
            </a:extLst>
          </p:cNvPr>
          <p:cNvSpPr/>
          <p:nvPr/>
        </p:nvSpPr>
        <p:spPr>
          <a:xfrm>
            <a:off x="6352974" y="3721596"/>
            <a:ext cx="5518183" cy="13076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4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A737-0765-F575-3073-CB99889D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8CA2EC-ED83-08A8-4920-A66E945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populated, so must </a:t>
            </a:r>
          </a:p>
          <a:p>
            <a:r>
              <a:rPr lang="en-US" dirty="0"/>
              <a:t>		 // invoke </a:t>
            </a:r>
            <a:r>
              <a:rPr lang="en-US" dirty="0" err="1"/>
              <a:t>loadPost</a:t>
            </a:r>
            <a:endParaRPr lang="en-US" dirty="0"/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8150B9-ED75-0253-FAE9-A433BCCC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9C7299-4189-9277-F56C-F3CBA90683C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onClick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fetches the replies only if the button is clicked</a:t>
            </a:r>
            <a:endParaRPr lang="en-US" dirty="0"/>
          </a:p>
          <a:p>
            <a:pPr lvl="1"/>
            <a:r>
              <a:rPr lang="en-US" dirty="0"/>
              <a:t>Fetch all the replies</a:t>
            </a:r>
          </a:p>
          <a:p>
            <a:pPr lvl="1"/>
            <a:r>
              <a:rPr lang="en-US" dirty="0"/>
              <a:t>Draw them on the UI Window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0FF78-FCE5-A5FD-B333-93FB71E428BD}"/>
              </a:ext>
            </a:extLst>
          </p:cNvPr>
          <p:cNvSpPr/>
          <p:nvPr/>
        </p:nvSpPr>
        <p:spPr>
          <a:xfrm>
            <a:off x="7131017" y="1587674"/>
            <a:ext cx="4780246" cy="12598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8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4425-B5A1-726E-0FC5-ACF32012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populated, so must </a:t>
            </a:r>
          </a:p>
          <a:p>
            <a:r>
              <a:rPr lang="en-US" dirty="0"/>
              <a:t>		 // invoke </a:t>
            </a:r>
            <a:r>
              <a:rPr lang="en-US" dirty="0" err="1"/>
              <a:t>loadPost</a:t>
            </a:r>
            <a:endParaRPr lang="en-US" dirty="0"/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029F3-74FF-A7FC-B585-41641151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68960C-C778-2936-F3B5-E694905879E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UI designers shouldn’t have to worry about backend concerns</a:t>
            </a:r>
          </a:p>
          <a:p>
            <a:r>
              <a:rPr lang="en-US" dirty="0"/>
              <a:t>Shouldn’t have to know which method to know which method to invoke to load the reply</a:t>
            </a:r>
          </a:p>
          <a:p>
            <a:r>
              <a:rPr lang="en-US" dirty="0"/>
              <a:t>Only </a:t>
            </a:r>
            <a:r>
              <a:rPr lang="en-US" sz="2400" dirty="0" err="1">
                <a:latin typeface="Consolas" panose="020B0609020204030204" pitchFamily="49" charset="0"/>
              </a:rPr>
              <a:t>window.add</a:t>
            </a:r>
            <a:r>
              <a:rPr lang="en-US" sz="2400" dirty="0">
                <a:latin typeface="Consolas" panose="020B0609020204030204" pitchFamily="49" charset="0"/>
              </a:rPr>
              <a:t>(new </a:t>
            </a:r>
            <a:r>
              <a:rPr lang="en-US" sz="2400" dirty="0" err="1">
                <a:latin typeface="Consolas" panose="020B0609020204030204" pitchFamily="49" charset="0"/>
              </a:rPr>
              <a:t>UIText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reply.getContent</a:t>
            </a:r>
            <a:r>
              <a:rPr lang="en-US" sz="2400" dirty="0">
                <a:latin typeface="Consolas" panose="020B0609020204030204" pitchFamily="49" charset="0"/>
              </a:rPr>
              <a:t>()));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How to achieve this?</a:t>
            </a:r>
            <a:endParaRPr lang="en-U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A9993-2FD6-842A-A5C9-B56CCFBF8B58}"/>
              </a:ext>
            </a:extLst>
          </p:cNvPr>
          <p:cNvSpPr/>
          <p:nvPr/>
        </p:nvSpPr>
        <p:spPr>
          <a:xfrm>
            <a:off x="7155080" y="2502569"/>
            <a:ext cx="4780246" cy="4170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5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4C49B1-D918-1CC7-A5ED-29EC9DE2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</a:t>
            </a:r>
          </a:p>
          <a:p>
            <a:r>
              <a:rPr lang="en-US" dirty="0"/>
              <a:t>		List&lt;Post&gt; </a:t>
            </a:r>
            <a:r>
              <a:rPr lang="en-US" dirty="0" err="1"/>
              <a:t>newReplies</a:t>
            </a:r>
            <a:r>
              <a:rPr lang="en-US" dirty="0"/>
              <a:t> = …;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this.getReplies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</a:t>
            </a:r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newReplies.add</a:t>
            </a:r>
            <a:r>
              <a:rPr lang="en-US" dirty="0"/>
              <a:t>(reply);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this.setReplies</a:t>
            </a:r>
            <a:r>
              <a:rPr lang="en-US" dirty="0"/>
              <a:t>(</a:t>
            </a:r>
            <a:r>
              <a:rPr lang="en-US" dirty="0" err="1"/>
              <a:t>newReplies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C395B4-54CC-2366-0610-6D2045FB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option 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9CD24C-FEEA-0469-D766-A6CF39060AB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Stick the lazy loading logic in the Post class</a:t>
            </a:r>
          </a:p>
          <a:p>
            <a:r>
              <a:rPr lang="en-US" dirty="0"/>
              <a:t>Terrible, terrible idea!!</a:t>
            </a:r>
          </a:p>
          <a:p>
            <a:r>
              <a:rPr lang="en-US" dirty="0"/>
              <a:t>Assume that posts are always lazy loaded</a:t>
            </a:r>
          </a:p>
          <a:p>
            <a:r>
              <a:rPr lang="en-US" dirty="0"/>
              <a:t>Assume that posts are always loaded from the database</a:t>
            </a:r>
          </a:p>
          <a:p>
            <a:r>
              <a:rPr lang="en-US" dirty="0"/>
              <a:t>Breaks all reusability </a:t>
            </a:r>
          </a:p>
          <a:p>
            <a:r>
              <a:rPr lang="en-US" dirty="0"/>
              <a:t>Breaks SRP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11B06D-5314-3580-29F9-F39AC6B2FE0F}"/>
              </a:ext>
            </a:extLst>
          </p:cNvPr>
          <p:cNvSpPr/>
          <p:nvPr/>
        </p:nvSpPr>
        <p:spPr>
          <a:xfrm>
            <a:off x="6858301" y="2542674"/>
            <a:ext cx="4951624" cy="17566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7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F2D32F-616D-77EE-99CC-3A74B366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EBC5-14AD-AF99-98CC-E5A3155FF8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Dynamic proxy use cases</a:t>
            </a:r>
          </a:p>
        </p:txBody>
      </p:sp>
    </p:spTree>
    <p:extLst>
      <p:ext uri="{BB962C8B-B14F-4D97-AF65-F5344CB8AC3E}">
        <p14:creationId xmlns:p14="http://schemas.microsoft.com/office/powerpoint/2010/main" val="22711926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8B45D7-2456-EA4B-BD50-C0409BF4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Lazy loading with dynamic proxies</a:t>
            </a:r>
          </a:p>
          <a:p>
            <a:r>
              <a:rPr lang="en-US" dirty="0"/>
              <a:t>Mock testing</a:t>
            </a:r>
          </a:p>
          <a:p>
            <a:r>
              <a:rPr lang="en-US" dirty="0"/>
              <a:t>Reflection, annotations, dynamic proxies – final thoughts</a:t>
            </a:r>
          </a:p>
          <a:p>
            <a:r>
              <a:rPr lang="en-US" dirty="0"/>
              <a:t>Software architecture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BAF6A4-E4DB-31D6-185C-EFB5E438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21D508-0127-AB8E-20DA-885AE73A3CC0}"/>
              </a:ext>
            </a:extLst>
          </p:cNvPr>
          <p:cNvCxnSpPr/>
          <p:nvPr/>
        </p:nvCxnSpPr>
        <p:spPr>
          <a:xfrm>
            <a:off x="0" y="2867378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03319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3CB6E4-2584-AB7E-B7EA-84B42E2B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Homework due tomorrow 11:59 PM</a:t>
            </a:r>
          </a:p>
          <a:p>
            <a:r>
              <a:rPr lang="en-US" dirty="0"/>
              <a:t>Canvas HW will be created soon</a:t>
            </a:r>
          </a:p>
          <a:p>
            <a:r>
              <a:rPr lang="en-US" dirty="0"/>
              <a:t>Quiz on Friday</a:t>
            </a:r>
          </a:p>
          <a:p>
            <a:pPr lvl="1"/>
            <a:r>
              <a:rPr lang="en-US" dirty="0"/>
              <a:t>10 minutes</a:t>
            </a:r>
          </a:p>
          <a:p>
            <a:pPr lvl="1"/>
            <a:r>
              <a:rPr lang="en-US" dirty="0"/>
              <a:t>Will cover reflective programming </a:t>
            </a:r>
          </a:p>
          <a:p>
            <a:pPr lvl="2"/>
            <a:r>
              <a:rPr lang="en-US" dirty="0"/>
              <a:t>Reflection, annotations, and proxies</a:t>
            </a:r>
          </a:p>
          <a:p>
            <a:pPr lvl="3"/>
            <a:r>
              <a:rPr lang="en-US"/>
              <a:t>Not </a:t>
            </a:r>
            <a:r>
              <a:rPr lang="en-US" dirty="0"/>
              <a:t>include lazy loading, mock testing</a:t>
            </a:r>
          </a:p>
          <a:p>
            <a:pPr lvl="1"/>
            <a:r>
              <a:rPr lang="en-US" dirty="0"/>
              <a:t>Will have MCQs and short answers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570FDD-9BEB-C655-EB6C-66CC053F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3681600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F9C9-0387-5E71-2779-177DFBF8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AE21C5-ADB6-DD31-0E54-7B3B58E7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C17C4F-F57F-B43E-39F6-94AE5A05FB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r>
              <a:rPr lang="en-US" dirty="0"/>
              <a:t>High level overview</a:t>
            </a:r>
          </a:p>
          <a:p>
            <a:pPr lvl="1"/>
            <a:r>
              <a:rPr lang="en-US" dirty="0"/>
              <a:t>Load a post</a:t>
            </a:r>
          </a:p>
          <a:p>
            <a:pPr lvl="1"/>
            <a:r>
              <a:rPr lang="en-US" dirty="0"/>
              <a:t>For each reply</a:t>
            </a:r>
          </a:p>
          <a:p>
            <a:pPr lvl="2"/>
            <a:r>
              <a:rPr lang="en-US" dirty="0"/>
              <a:t>Load the reply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679B87-1BFF-4B2F-8831-DB053A92A8E7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E45DED-B28F-6B00-D163-AC5B51F9B2DD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AB9E9F-5A11-1AF9-666F-13291B70AB43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154B43-3E5C-830E-247B-E8F0B4625A6B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24C4E5-3793-1FB5-9CAD-4C19380C5FC9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45C33B-8116-E82B-CB1B-6E3F2D8F5EBA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A12320-158D-E515-63CB-24A98860ACE9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D36235-B8CF-236F-B3A4-0506714C21B3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B70F23-1859-1645-3013-A09B064AC35D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57B16B-795C-3C8D-1B53-77C955E09B84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918BA4-F833-311A-974F-2F31CB21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B771898-EB8F-2E2F-44A5-88B1B6B68D60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4001E55-F84D-F2FB-4802-3B290AB23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44458F-E004-D065-3876-FBF90032C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1B9BFF6-7715-4B7B-938F-1D553DDDD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06EB8B7-7C3E-CF7B-3ACD-DACA084B9D9C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A9CB18-3312-2F63-8638-A3DC4185E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61C569-FC00-9FC3-C602-512C996D9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17890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C7E1-BD1F-E424-8865-6FA6129A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55C7D-6286-928F-5FA0-85A70BAC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BA6D96-20DE-0C2C-1029-9CBB54C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E68B-DE9A-B9E9-4F3A-70EAFD34815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Clicking on ‘+’ loads the remaining replies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A680B-540C-E998-F045-8EE95AF7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486" y="696277"/>
            <a:ext cx="6041165" cy="4814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394694-F208-0A56-A30A-F9DF0005EA8A}"/>
              </a:ext>
            </a:extLst>
          </p:cNvPr>
          <p:cNvSpPr/>
          <p:nvPr/>
        </p:nvSpPr>
        <p:spPr>
          <a:xfrm>
            <a:off x="6268249" y="5119261"/>
            <a:ext cx="1656551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6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BAD2-E99F-CE3E-979B-8123420E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B4BDA3-511B-806D-A742-6B22F762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64F21-A1C2-E25F-88E2-2790BBEF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83CF8-0662-1985-9415-780BE10FA52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Clicking on ‘+’ loads the remaining replies</a:t>
            </a:r>
          </a:p>
          <a:p>
            <a:r>
              <a:rPr lang="en-US" dirty="0"/>
              <a:t>Dynamic proxies simplify implementing lazy loading</a:t>
            </a:r>
          </a:p>
          <a:p>
            <a:r>
              <a:rPr lang="en-US" dirty="0"/>
              <a:t>This class: </a:t>
            </a:r>
            <a:r>
              <a:rPr lang="en-US" i="1" dirty="0"/>
              <a:t>sketch of a solution (not full solution)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FB92D-1DB2-CB8F-D327-EB9F7643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47" y="0"/>
            <a:ext cx="41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473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CE77-04E5-5727-5897-E071D75A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3AAEA6-22AD-E98A-727A-BF5FF78A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8DCB5-1DBC-2199-C2BF-1365740B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FCE1C-C179-1391-BA0E-CC82FBB958E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proxy is a wrapper around a target object</a:t>
            </a:r>
          </a:p>
          <a:p>
            <a:r>
              <a:rPr lang="en-US" dirty="0"/>
              <a:t>The proxy intercepts method invocations </a:t>
            </a:r>
          </a:p>
          <a:p>
            <a:pPr lvl="1"/>
            <a:r>
              <a:rPr lang="en-US" dirty="0"/>
              <a:t>Performs additional functionality</a:t>
            </a:r>
          </a:p>
          <a:p>
            <a:pPr lvl="1"/>
            <a:r>
              <a:rPr lang="en-US" dirty="0"/>
              <a:t>Dispatches the method to the target object</a:t>
            </a:r>
          </a:p>
          <a:p>
            <a:r>
              <a:rPr lang="en-US" dirty="0"/>
              <a:t>Proxy class extends target class</a:t>
            </a:r>
          </a:p>
          <a:p>
            <a:pPr lvl="1"/>
            <a:r>
              <a:rPr lang="en-US" dirty="0"/>
              <a:t>Allows proxy to replace the target object for all uses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D2065E-6498-D421-434B-90CA1EE41750}"/>
              </a:ext>
            </a:extLst>
          </p:cNvPr>
          <p:cNvGrpSpPr/>
          <p:nvPr/>
        </p:nvGrpSpPr>
        <p:grpSpPr>
          <a:xfrm>
            <a:off x="6015487" y="1026543"/>
            <a:ext cx="3469611" cy="3697333"/>
            <a:chOff x="6553200" y="1477107"/>
            <a:chExt cx="3962400" cy="36973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ADCB48B-13D4-B26D-0762-5B0354E47964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1FA6174-32CF-15E0-0D83-E72B8E8DE7F5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24714C-A60B-A55E-9B92-3062A295CD2C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D30837-6C4C-4336-34CD-9626C856638B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145BE4-5549-D825-59F2-6B23B5BA2859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FA9AAC-C788-C313-7172-D85E6098F693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7A03F3-A5C6-CD5A-C22A-8097BCA4286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A5DB7E-D73E-7BBD-7612-AD49BDA89778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9CE3C6-40E7-5454-7D41-166086EAD4E3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9F85AE2-EE20-AB78-BB98-F0296AE319AB}"/>
                  </a:ext>
                </a:extLst>
              </p:cNvPr>
              <p:cNvCxnSpPr>
                <a:stCxn id="15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84AA36E-39C3-A798-1515-3CB859ABC8F7}"/>
                  </a:ext>
                </a:extLst>
              </p:cNvPr>
              <p:cNvCxnSpPr>
                <a:cxnSpLocks/>
                <a:stCxn id="16" idx="0"/>
                <a:endCxn id="20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A8DCAD7-B6E6-60DE-23D4-5EE70BC02851}"/>
                  </a:ext>
                </a:extLst>
              </p:cNvPr>
              <p:cNvCxnSpPr>
                <a:cxnSpLocks/>
                <a:stCxn id="19" idx="0"/>
                <a:endCxn id="27" idx="2"/>
              </p:cNvCxnSpPr>
              <p:nvPr/>
            </p:nvCxnSpPr>
            <p:spPr>
              <a:xfrm flipH="1" flipV="1">
                <a:off x="7937300" y="3613637"/>
                <a:ext cx="63698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432FBBE-3403-EA5F-1386-187B10C38F0C}"/>
                  </a:ext>
                </a:extLst>
              </p:cNvPr>
              <p:cNvCxnSpPr>
                <a:cxnSpLocks/>
                <a:stCxn id="20" idx="0"/>
                <a:endCxn id="28" idx="2"/>
              </p:cNvCxnSpPr>
              <p:nvPr/>
            </p:nvCxnSpPr>
            <p:spPr>
              <a:xfrm flipV="1">
                <a:off x="9168571" y="3613637"/>
                <a:ext cx="74473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85D935-A9D2-5B01-CFA1-3DA11856A440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127D19D-7ACD-5843-AAAA-5EBED7395364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455FC7-B68C-ED84-E256-8EF9901AB897}"/>
              </a:ext>
            </a:extLst>
          </p:cNvPr>
          <p:cNvGrpSpPr/>
          <p:nvPr/>
        </p:nvGrpSpPr>
        <p:grpSpPr>
          <a:xfrm>
            <a:off x="6572466" y="1589251"/>
            <a:ext cx="2355652" cy="1582615"/>
            <a:chOff x="7332784" y="2039815"/>
            <a:chExt cx="2403231" cy="1582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E989A1-7CE6-7602-17D7-15452A58B2F1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43E4CD-7740-4105-A7E3-634478DC7EF9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3EC170-0F87-0BB9-CE31-710F66684AA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AEE775-4DF0-4403-0D63-D04610A61B76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93C264-E377-3293-045E-537C832C3659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AF7A2A2-7674-DCFB-99AC-A6305C29B654}"/>
              </a:ext>
            </a:extLst>
          </p:cNvPr>
          <p:cNvSpPr/>
          <p:nvPr/>
        </p:nvSpPr>
        <p:spPr>
          <a:xfrm>
            <a:off x="6392779" y="3319854"/>
            <a:ext cx="2871538" cy="592489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F3B520-3FD9-5D2A-DAAC-EEDA89CE23FF}"/>
              </a:ext>
            </a:extLst>
          </p:cNvPr>
          <p:cNvGrpSpPr/>
          <p:nvPr/>
        </p:nvGrpSpPr>
        <p:grpSpPr>
          <a:xfrm>
            <a:off x="9794040" y="1939403"/>
            <a:ext cx="2162987" cy="1824237"/>
            <a:chOff x="11799040" y="2728104"/>
            <a:chExt cx="2162987" cy="18242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6C3B950-8D5F-7149-5615-954956A93684}"/>
                </a:ext>
              </a:extLst>
            </p:cNvPr>
            <p:cNvSpPr/>
            <p:nvPr/>
          </p:nvSpPr>
          <p:spPr>
            <a:xfrm>
              <a:off x="12124395" y="2728104"/>
              <a:ext cx="1512276" cy="703384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</a:t>
              </a:r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CD70427-CBFC-8C9C-4E5B-47F23C9D2551}"/>
                </a:ext>
              </a:extLst>
            </p:cNvPr>
            <p:cNvSpPr/>
            <p:nvPr/>
          </p:nvSpPr>
          <p:spPr>
            <a:xfrm>
              <a:off x="11799040" y="3848957"/>
              <a:ext cx="2162987" cy="7033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JedisProxy</a:t>
              </a:r>
              <a:endParaRPr lang="en-US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7A123B-C791-EF49-9E71-B0F3F8EBA711}"/>
                </a:ext>
              </a:extLst>
            </p:cNvPr>
            <p:cNvCxnSpPr>
              <a:cxnSpLocks/>
              <a:stCxn id="33" idx="0"/>
              <a:endCxn id="32" idx="2"/>
            </p:cNvCxnSpPr>
            <p:nvPr/>
          </p:nvCxnSpPr>
          <p:spPr>
            <a:xfrm flipH="1" flipV="1">
              <a:off x="12880533" y="3431488"/>
              <a:ext cx="1" cy="4174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0C2333-2E3F-CE43-9622-C80ACD21D0F5}"/>
                </a:ext>
              </a:extLst>
            </p:cNvPr>
            <p:cNvSpPr txBox="1"/>
            <p:nvPr/>
          </p:nvSpPr>
          <p:spPr>
            <a:xfrm>
              <a:off x="11900499" y="3431433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extends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37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753B3-AACA-CB56-0F9E-7CA15D49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152C85-93B8-88C8-FFE7-AFF5E960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for lazy loading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0951D-20CC-81DA-EFBE-5175993A49C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High level approach</a:t>
            </a:r>
          </a:p>
          <a:p>
            <a:pPr lvl="1"/>
            <a:r>
              <a:rPr lang="en-US" dirty="0"/>
              <a:t>Create reply Post objects with only the </a:t>
            </a:r>
            <a:r>
              <a:rPr lang="en-US" dirty="0" err="1">
                <a:latin typeface="Consolas" panose="020B0609020204030204" pitchFamily="49" charset="0"/>
              </a:rPr>
              <a:t>postId</a:t>
            </a:r>
            <a:r>
              <a:rPr lang="en-US" dirty="0"/>
              <a:t> (do not load the data using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 a dynamic proxy for the Post object and have it intercept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invocation</a:t>
            </a:r>
          </a:p>
          <a:p>
            <a:pPr lvl="1"/>
            <a:r>
              <a:rPr lang="en-US" dirty="0"/>
              <a:t>Only when the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is invoked, perform </a:t>
            </a:r>
            <a:r>
              <a:rPr lang="en-US" dirty="0" err="1">
                <a:latin typeface="Consolas" panose="020B0609020204030204" pitchFamily="49" charset="0"/>
              </a:rPr>
              <a:t>loadReplies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to load all</a:t>
            </a:r>
            <a:r>
              <a:rPr lang="en-US" dirty="0"/>
              <a:t> the reply post objects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AA667C-B5FC-28E3-6FB6-AA41EE2D50D7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B7E6BF-02BE-1E8E-C688-BAC9769F7297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4CE68B-5937-41E7-1CB5-DE439B26440B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60413E-C107-CAE1-FBB5-F460DD120B1B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A4A3D5F-A058-9C80-E990-FC7138A80672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AC89303-72F2-9BB2-38CF-6E5A9831ED1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34F73F-B5DA-D90F-7FAD-AD9C07005853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0AF2D3-00A6-AA84-BF34-2DD78719AC3B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859B60-FD5C-09FE-20A8-A2C806592372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6A8C9AA-D88C-3DED-4799-97AD91649BC8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E58D2CC-B2BF-1780-F87F-A8BE6B47FCF7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8A92DD4-45F1-B0D9-DEB3-3620A6317C1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C0EE0D5-7709-EFDE-4B32-919F998BE423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2A74A2-5DFD-3DE9-8E9E-9231725B0723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7667A6-CC3C-7B49-45EB-9ACC5BEA4A8C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A904DF0-327D-6E84-B4B3-7D025A916E2F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CA3E97-DE8B-6E1B-1C21-DEE9B3D575F2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0C89F3-6577-50EA-EF85-5104C866F509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5B3F03-7A13-D3C7-21BA-467734D799FE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281EF9-12F1-9268-11DE-9E79F79D8396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65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43D1-F1BE-087E-3651-6554D8BD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61BFE2-38E2-6D3E-AA4A-F55AC3DE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1E40F9-E6F3-D98B-310F-DA12184E1AA1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28490FB-4AE0-C52D-76AA-5C44E9BA9828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9614A66-DEA4-AD2F-AE0D-63DEDB5E5CB2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5A7DC7-773A-A202-3B4C-CF429BDC63FC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940D34-03AA-316D-30E5-9B76052A85D3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97B3F6A-BE8C-1FA1-DC6F-EE03263B15E6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5B418-DF87-F207-72BB-1CCE1A494781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2F2C08-0134-7B61-2FE0-32A2842E3E5F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2A09A-E961-00D6-6DA4-997FB17C6333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FD46FD2-75E7-506E-FF0B-9438386BEE7C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94AD27D-717A-391A-6B31-B7A9AFA2C29E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5DA63CB-646C-9D25-C099-78CE287421BE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7D3A62-0163-C224-9B10-EE4ACEEA2B4A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171CC4-7DF6-DC2A-21D2-49E7185EAB82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73CE6E-11CF-ED83-BC1E-0F144C1D2FCB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632536-9CEB-312F-68D3-EF2999BFEBB8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3F96A4-7E3E-CB3D-A75C-7175CF428A18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F1324-AD0D-8812-2872-5D92335E4B9C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505326-2CDC-FCB0-45E3-8B124CF4C3AF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9D9A4A-25E0-FC54-947D-092BC22C50CA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37121C6-62DD-1DF3-F542-782CFF9BB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Post </a:t>
            </a:r>
            <a:r>
              <a:rPr lang="en-US" dirty="0" err="1"/>
              <a:t>loadPost</a:t>
            </a:r>
            <a:r>
              <a:rPr lang="en-US" dirty="0"/>
              <a:t>(String id) {</a:t>
            </a:r>
          </a:p>
          <a:p>
            <a:r>
              <a:rPr lang="en-US" dirty="0"/>
              <a:t> map = </a:t>
            </a:r>
            <a:r>
              <a:rPr lang="en-US" dirty="0" err="1"/>
              <a:t>jedis.hgetAll</a:t>
            </a:r>
            <a:r>
              <a:rPr lang="en-US" dirty="0"/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(id);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dirty="0"/>
            </a:br>
            <a:r>
              <a:rPr lang="en-US" dirty="0"/>
              <a:t> List&lt;String&gt; replies =   	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childPosts</a:t>
            </a:r>
            <a:r>
              <a:rPr lang="en-US" dirty="0"/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// does not load the reply details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</a:t>
            </a:r>
            <a:r>
              <a:rPr lang="en-US" dirty="0" err="1"/>
              <a:t>createLazyLoadProxy</a:t>
            </a:r>
            <a:r>
              <a:rPr lang="en-US" dirty="0"/>
              <a:t>(post);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39188-70C5-9EA0-CC70-C307706B96E9}"/>
              </a:ext>
            </a:extLst>
          </p:cNvPr>
          <p:cNvSpPr/>
          <p:nvPr/>
        </p:nvSpPr>
        <p:spPr>
          <a:xfrm>
            <a:off x="846709" y="3412304"/>
            <a:ext cx="4018802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DC3CA-93B2-3CB8-723C-412568F2939A}"/>
              </a:ext>
            </a:extLst>
          </p:cNvPr>
          <p:cNvSpPr txBox="1"/>
          <p:nvPr/>
        </p:nvSpPr>
        <p:spPr>
          <a:xfrm>
            <a:off x="4152815" y="2903491"/>
            <a:ext cx="2821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Only set the Reply ID</a:t>
            </a:r>
          </a:p>
        </p:txBody>
      </p:sp>
    </p:spTree>
    <p:extLst>
      <p:ext uri="{BB962C8B-B14F-4D97-AF65-F5344CB8AC3E}">
        <p14:creationId xmlns:p14="http://schemas.microsoft.com/office/powerpoint/2010/main" val="307647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6205-EBFC-8CE2-ECBA-13CF203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E0FD91-1E49-B5B4-89D6-9AAA0E2E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FFA7D9-A2AE-8C97-39AB-9BF2AE6995B5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DF35DF-A059-980A-9E54-CAAAB38BF36E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899C1A-2087-6D6D-F9AD-325200EBA6CC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F2F94EF-9D38-35C7-DD1F-80C69C951FAE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832223-A099-6675-A87B-0227B045EF41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D03AD3-6D77-7746-9B47-0E9C57E2B676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22B77C-7F47-0ABE-9079-A76BDEF42389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18A04A-1418-5CA1-2E2E-EAB91B0C81E4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95CDCA-9818-099D-80D5-26A9C6B02789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02BF50A-A6C3-E6E5-56B9-FF23D3660897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A2D85EA-C283-626B-7343-1413600A52A8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7855D87-9BB1-4E01-D869-302652691C9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A9C5E3-0CE4-DC52-0EAE-7DFED47453BB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B82C35-D991-DAAF-12C8-E539EB4658A1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3CEAAF-F778-2097-337A-7AF2CBEA6CCD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0931E80-ABD9-4716-3038-6F53D1CF6F4A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D66C81-A5F6-3256-20F7-F257BA1774BD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671E606-24DE-D739-6682-0123C668B090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54DF49-7524-E60F-9C32-E981AD80B742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26E1FE-9FB3-BCD1-BF91-195CBD56B529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E2C0BA5-72E0-0029-43FE-0EE6AA78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List&lt;Post&gt; </a:t>
            </a:r>
            <a:r>
              <a:rPr lang="en-US" dirty="0" err="1"/>
              <a:t>loadReplies</a:t>
            </a:r>
            <a:r>
              <a:rPr lang="en-US" dirty="0"/>
              <a:t>() {</a:t>
            </a:r>
          </a:p>
          <a:p>
            <a:r>
              <a:rPr lang="en-US" dirty="0"/>
              <a:t>	List&lt;Post&gt; </a:t>
            </a:r>
            <a:r>
              <a:rPr lang="en-US" dirty="0" err="1"/>
              <a:t>newReplies</a:t>
            </a:r>
            <a:r>
              <a:rPr lang="en-US" dirty="0"/>
              <a:t> = …;</a:t>
            </a:r>
          </a:p>
          <a:p>
            <a:r>
              <a:rPr lang="en-US" dirty="0"/>
              <a:t>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this.getReplies</a:t>
            </a:r>
            <a:r>
              <a:rPr lang="en-US" dirty="0"/>
              <a:t>()) {</a:t>
            </a:r>
          </a:p>
          <a:p>
            <a:r>
              <a:rPr lang="en-US" dirty="0"/>
              <a:t>	 // only the id is populated</a:t>
            </a:r>
          </a:p>
          <a:p>
            <a:r>
              <a:rPr lang="en-US" dirty="0"/>
              <a:t>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 </a:t>
            </a:r>
            <a:r>
              <a:rPr lang="en-US" dirty="0" err="1"/>
              <a:t>newReplies.add</a:t>
            </a:r>
            <a:r>
              <a:rPr lang="en-US" dirty="0"/>
              <a:t>(reply);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</a:t>
            </a:r>
            <a:r>
              <a:rPr lang="en-US" dirty="0" err="1"/>
              <a:t>this.setReplies</a:t>
            </a:r>
            <a:r>
              <a:rPr lang="en-US" dirty="0"/>
              <a:t>(</a:t>
            </a:r>
            <a:r>
              <a:rPr lang="en-US" dirty="0" err="1"/>
              <a:t>newReplies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DE434-BC54-1E05-6850-E837A95C66FB}"/>
              </a:ext>
            </a:extLst>
          </p:cNvPr>
          <p:cNvSpPr txBox="1"/>
          <p:nvPr/>
        </p:nvSpPr>
        <p:spPr>
          <a:xfrm>
            <a:off x="5972733" y="5377780"/>
            <a:ext cx="621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Lazy loading code is provided by the proxy class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2CE4C-999D-B73D-07FC-780D537AC682}"/>
              </a:ext>
            </a:extLst>
          </p:cNvPr>
          <p:cNvSpPr/>
          <p:nvPr/>
        </p:nvSpPr>
        <p:spPr>
          <a:xfrm>
            <a:off x="566626" y="732678"/>
            <a:ext cx="4018802" cy="4244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617F2-F808-97F0-68B3-93C4B13B565F}"/>
              </a:ext>
            </a:extLst>
          </p:cNvPr>
          <p:cNvSpPr txBox="1"/>
          <p:nvPr/>
        </p:nvSpPr>
        <p:spPr>
          <a:xfrm>
            <a:off x="4549066" y="692713"/>
            <a:ext cx="4860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 calls </a:t>
            </a:r>
            <a:r>
              <a:rPr lang="en-US" sz="2400" b="1" i="1" dirty="0" err="1"/>
              <a:t>loadReplies</a:t>
            </a:r>
            <a:r>
              <a:rPr lang="en-US" sz="2400" b="1" i="1" dirty="0"/>
              <a:t> transparently</a:t>
            </a:r>
          </a:p>
        </p:txBody>
      </p:sp>
    </p:spTree>
    <p:extLst>
      <p:ext uri="{BB962C8B-B14F-4D97-AF65-F5344CB8AC3E}">
        <p14:creationId xmlns:p14="http://schemas.microsoft.com/office/powerpoint/2010/main" val="253128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42E3-D39D-3119-D14B-9BC8ABA1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8B0EC8-DFBA-EB4B-3F29-C28C62A0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13BAD7-A2EF-CFCC-68F0-41C1CE5E65BC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BDEA8CD-FC8C-B756-AF4F-877557258051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7DE81D-96AE-56C6-B7A3-324428C55781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71C5B4-BF59-1243-93A5-1F12EAA40253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FCA8BF-0396-A4D0-E8C4-511FF6E637BD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F56D17-57C9-0286-D7D2-FEF78E14C754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36EDC-072D-9D47-1DDC-2DB31D3CEA26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3379F7-D4A0-44B2-A061-292CD27A601C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D666E-16F5-1FD0-3E60-B0DB9F06D299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D0441BD-125F-F3A1-C97F-17E85C79A9DA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F9C67D5-528F-957B-9445-0F7D81D0998E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BD03488-D392-8CE8-0E2A-827F9CE84A5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3722EBC-C601-35A9-B7CB-A1E393D06438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E445F5-0A7B-171E-33C8-69C84BAC96D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DBCABF-B77A-8601-2F6B-EDD896F63362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4A1ECF-C880-1C5F-358B-4D543EFABD4D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E5E777-F4A0-FEA3-FB9A-3DD716A117ED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E211EB4-488A-36B5-7E5B-04BCD5C1FDF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A92A14-87C0-D85C-B294-F6A1C89C81A2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0168A8-68BA-F705-D5DB-1DA2533681C0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C16ED9C-C67E-1F4F-6C30-0D2C1A22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createLazyLoadProxy</a:t>
            </a:r>
            <a:r>
              <a:rPr lang="en-US" dirty="0"/>
              <a:t>(Object target) {</a:t>
            </a:r>
          </a:p>
          <a:p>
            <a:r>
              <a:rPr lang="en-US" dirty="0"/>
              <a:t>	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	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	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LazyLoadMethodHandler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/>
              <a:t>	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	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	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	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invoke(…) throws Throwable {</a:t>
            </a:r>
          </a:p>
          <a:p>
            <a:r>
              <a:rPr lang="en-US" dirty="0"/>
              <a:t>		// Code to invoke </a:t>
            </a:r>
            <a:r>
              <a:rPr lang="en-US" dirty="0" err="1"/>
              <a:t>loadReplies</a:t>
            </a:r>
            <a:r>
              <a:rPr lang="en-US" dirty="0"/>
              <a:t>();</a:t>
            </a:r>
          </a:p>
          <a:p>
            <a:r>
              <a:rPr lang="en-US" dirty="0"/>
              <a:t>		// if </a:t>
            </a:r>
            <a:r>
              <a:rPr lang="en-US" dirty="0" err="1"/>
              <a:t>getReplies</a:t>
            </a:r>
            <a:r>
              <a:rPr lang="en-US" dirty="0"/>
              <a:t>() is invoked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DB0AF-F261-544B-A91D-FFD5BC6BCDD1}"/>
              </a:ext>
            </a:extLst>
          </p:cNvPr>
          <p:cNvSpPr txBox="1"/>
          <p:nvPr/>
        </p:nvSpPr>
        <p:spPr>
          <a:xfrm>
            <a:off x="5972733" y="5377780"/>
            <a:ext cx="598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createLazyLoadProxy</a:t>
            </a:r>
            <a:r>
              <a:rPr lang="en-US" sz="2400" b="1" i="1" dirty="0"/>
              <a:t> returns the proxy object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43324C-DDDD-8857-3213-C3D047474711}"/>
              </a:ext>
            </a:extLst>
          </p:cNvPr>
          <p:cNvSpPr/>
          <p:nvPr/>
        </p:nvSpPr>
        <p:spPr>
          <a:xfrm>
            <a:off x="382910" y="732354"/>
            <a:ext cx="4736008" cy="4244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BE4B-AF39-342F-4812-1B505D4970FA}"/>
              </a:ext>
            </a:extLst>
          </p:cNvPr>
          <p:cNvSpPr txBox="1"/>
          <p:nvPr/>
        </p:nvSpPr>
        <p:spPr>
          <a:xfrm>
            <a:off x="5361965" y="682156"/>
            <a:ext cx="332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Create </a:t>
            </a:r>
            <a:r>
              <a:rPr lang="en-US" sz="2400" b="1" i="1" dirty="0" err="1"/>
              <a:t>PostProxy</a:t>
            </a:r>
            <a:r>
              <a:rPr lang="en-US" sz="2400" b="1" i="1" dirty="0"/>
              <a:t> objects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57F15B-65C1-090D-B4C9-B749751FCA67}"/>
              </a:ext>
            </a:extLst>
          </p:cNvPr>
          <p:cNvSpPr/>
          <p:nvPr/>
        </p:nvSpPr>
        <p:spPr>
          <a:xfrm>
            <a:off x="486065" y="3722021"/>
            <a:ext cx="5085574" cy="202070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9DF5D2-05AB-855C-2F04-494C9AE9CEEA}"/>
              </a:ext>
            </a:extLst>
          </p:cNvPr>
          <p:cNvSpPr txBox="1"/>
          <p:nvPr/>
        </p:nvSpPr>
        <p:spPr>
          <a:xfrm>
            <a:off x="2276423" y="4985726"/>
            <a:ext cx="2744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Invoke </a:t>
            </a:r>
            <a:r>
              <a:rPr lang="en-US" sz="2400" b="1" i="1" dirty="0" err="1"/>
              <a:t>loadReplies</a:t>
            </a:r>
            <a:r>
              <a:rPr lang="en-US" sz="2400" b="1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110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  <p:bldP spid="12" grpId="0" animBg="1"/>
      <p:bldP spid="12" grpId="1" animBg="1"/>
      <p:bldP spid="22" grpId="0"/>
      <p:bldP spid="22" grpId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0B33-F56B-6E88-E091-47087637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E7FD44-BB33-CEDC-5F21-86E66099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for lazy loading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599DA8-00AD-BACE-84DD-B2713BCFFCB9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28021D-49FB-A98D-A54A-AE2DAEA07C3A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49408A-F8C1-E4F7-CCFD-C0CE619C7D60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793613-4368-C275-D7EC-DE3DF4AA7B51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9C16E1-7FAD-5389-69FB-D3C901B2C055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99CF46C-5271-C91E-E577-DE7EFDE74B7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E7238-E31F-8BB8-8CDF-128408B39E72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BBA2E8-1923-4ACB-886F-E2630C12612D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679110-F5B0-43AF-DA23-B7ABC5197398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95C66A5-E1B6-F08D-662B-4DC77502800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FE13287-85CC-E1C2-5980-130DE6A06E92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AE95B27-33E1-91CF-E76E-F4429EA4D907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4DF8009-872A-0883-CCE9-F9D7333C56B6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E3470C-AF65-1BED-92BE-508DC0CC8EF2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8DC98E-C0F1-1AE3-EC0F-0FE940F305EA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38630C0-C77F-27B6-B7E6-6F07AB528949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532A48-EE2D-8577-BA89-74DD17F9CF45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64B001-BF99-4277-3833-2747E5246F2D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C34CDB-A4BF-8D23-0C33-45397F34816E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8FA458-E7E4-1C28-DB27-5F924F9D078C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320DEA8-611A-35A8-81D5-3C3ECC1C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5" y="781102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</a:t>
            </a:r>
            <a:r>
              <a:rPr lang="en-US" strike="sngStrike" dirty="0">
                <a:solidFill>
                  <a:srgbClr val="B8B8B8"/>
                </a:solidFill>
              </a:rPr>
              <a:t>Reply </a:t>
            </a:r>
            <a:r>
              <a:rPr lang="en-US" strike="sngStrike" dirty="0" err="1">
                <a:solidFill>
                  <a:srgbClr val="B8B8B8"/>
                </a:solidFill>
              </a:rPr>
              <a:t>reply</a:t>
            </a:r>
            <a:r>
              <a:rPr lang="en-US" strike="sngStrike" dirty="0">
                <a:solidFill>
                  <a:srgbClr val="B8B8B8"/>
                </a:solidFill>
              </a:rPr>
              <a:t> = </a:t>
            </a:r>
            <a:r>
              <a:rPr lang="en-US" strike="sngStrike" dirty="0" err="1">
                <a:solidFill>
                  <a:srgbClr val="B8B8B8"/>
                </a:solidFill>
              </a:rPr>
              <a:t>loadPost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reply.getId</a:t>
            </a:r>
            <a:r>
              <a:rPr lang="en-US" strike="sngStrike" dirty="0">
                <a:solidFill>
                  <a:srgbClr val="B8B8B8"/>
                </a:solidFill>
              </a:rPr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603DE30-DFFB-442E-12CA-26CAC403585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005138" y="1614311"/>
            <a:ext cx="3333711" cy="3074919"/>
          </a:xfrm>
          <a:prstGeom prst="curvedConnector4">
            <a:avLst>
              <a:gd name="adj1" fmla="val 46571"/>
              <a:gd name="adj2" fmla="val 107434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935644C-BFDF-314C-0680-9733868319D5}"/>
              </a:ext>
            </a:extLst>
          </p:cNvPr>
          <p:cNvSpPr/>
          <p:nvPr/>
        </p:nvSpPr>
        <p:spPr>
          <a:xfrm>
            <a:off x="7186863" y="3696639"/>
            <a:ext cx="2205790" cy="4170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0ED7CD-B103-F015-88A0-F1398236B8D1}"/>
              </a:ext>
            </a:extLst>
          </p:cNvPr>
          <p:cNvSpPr txBox="1"/>
          <p:nvPr/>
        </p:nvSpPr>
        <p:spPr>
          <a:xfrm>
            <a:off x="2838643" y="1115091"/>
            <a:ext cx="2417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post is a proxy object</a:t>
            </a:r>
          </a:p>
        </p:txBody>
      </p:sp>
    </p:spTree>
    <p:extLst>
      <p:ext uri="{BB962C8B-B14F-4D97-AF65-F5344CB8AC3E}">
        <p14:creationId xmlns:p14="http://schemas.microsoft.com/office/powerpoint/2010/main" val="219800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E4B7-0544-9C0F-C177-9F646CC3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07340DF-7D20-18D0-F334-8F4DEA9C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@LazyLoad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r>
              <a:rPr lang="en-US" dirty="0"/>
              <a:t>, replies</a:t>
            </a:r>
          </a:p>
          <a:p>
            <a:r>
              <a:rPr lang="en-US" dirty="0"/>
              <a:t>	// All methods intercepted by dynamic proxy</a:t>
            </a:r>
          </a:p>
          <a:p>
            <a:r>
              <a:rPr lang="en-US" dirty="0"/>
              <a:t>	// replies lazy loaded by the dynamic proxy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C34B39-6B73-F486-D792-B72B2766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+ annotations + dynamic proxies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7A3C77-751E-572E-0E10-8F2466BF4D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combine proxies with reflection and annotation</a:t>
            </a:r>
          </a:p>
          <a:p>
            <a:r>
              <a:rPr lang="en-US" dirty="0"/>
              <a:t>Lazy loading only for annotated fields</a:t>
            </a:r>
          </a:p>
          <a:p>
            <a:pPr lvl="1"/>
            <a:r>
              <a:rPr lang="en-US" dirty="0"/>
              <a:t>Load the @LazyLoad annotated fields only when their getter is invoked</a:t>
            </a:r>
          </a:p>
          <a:p>
            <a:r>
              <a:rPr lang="en-US" b="1" i="1" dirty="0"/>
              <a:t>Transparent</a:t>
            </a:r>
            <a:r>
              <a:rPr lang="en-US" dirty="0"/>
              <a:t> lazy load from the programmer’s perspective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ED7DF-0756-4CD5-E58A-8249FB2B4387}"/>
              </a:ext>
            </a:extLst>
          </p:cNvPr>
          <p:cNvSpPr/>
          <p:nvPr/>
        </p:nvSpPr>
        <p:spPr>
          <a:xfrm>
            <a:off x="6260123" y="2027650"/>
            <a:ext cx="4905033" cy="7858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4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E0B2E-BDDC-2024-A3C6-53388B43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records</a:t>
            </a:r>
          </a:p>
          <a:p>
            <a:pPr lvl="1"/>
            <a:r>
              <a:rPr lang="en-US" dirty="0"/>
              <a:t>All ORMs such as Hibernate support lazy loading using annotations</a:t>
            </a:r>
          </a:p>
          <a:p>
            <a:r>
              <a:rPr lang="en-US" dirty="0"/>
              <a:t>File content</a:t>
            </a:r>
          </a:p>
          <a:p>
            <a:pPr lvl="1"/>
            <a:r>
              <a:rPr lang="en-US" dirty="0"/>
              <a:t>Lazy load 1 GB file</a:t>
            </a:r>
          </a:p>
          <a:p>
            <a:r>
              <a:rPr lang="en-US" dirty="0"/>
              <a:t>Content to be fetched over the network</a:t>
            </a:r>
          </a:p>
          <a:p>
            <a:pPr lvl="1"/>
            <a:r>
              <a:rPr lang="en-US" dirty="0"/>
              <a:t>Lazy load remote content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7BC86-A96D-5FB6-5807-ED414F83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</a:t>
            </a:r>
          </a:p>
        </p:txBody>
      </p:sp>
    </p:spTree>
    <p:extLst>
      <p:ext uri="{BB962C8B-B14F-4D97-AF65-F5344CB8AC3E}">
        <p14:creationId xmlns:p14="http://schemas.microsoft.com/office/powerpoint/2010/main" val="214907001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165-3211-8E7F-87DB-99F0C2D4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CFA0B-0CFE-C84D-97E2-8C2F507AA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EE6FEF-7B7A-3035-F39A-E84A775B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95A17-1E03-EE95-8C69-171FB6EF7F2B}"/>
              </a:ext>
            </a:extLst>
          </p:cNvPr>
          <p:cNvSpPr/>
          <p:nvPr/>
        </p:nvSpPr>
        <p:spPr>
          <a:xfrm>
            <a:off x="3785239" y="3071328"/>
            <a:ext cx="476438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i="1" dirty="0"/>
              <a:t>Proxies for mock testing</a:t>
            </a:r>
          </a:p>
        </p:txBody>
      </p:sp>
    </p:spTree>
    <p:extLst>
      <p:ext uri="{BB962C8B-B14F-4D97-AF65-F5344CB8AC3E}">
        <p14:creationId xmlns:p14="http://schemas.microsoft.com/office/powerpoint/2010/main" val="15962487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9706-6586-29C9-6091-5E951452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3EAD-B118-E117-410C-7DE619594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mocking?</a:t>
            </a:r>
          </a:p>
          <a:p>
            <a:pPr lvl="1"/>
            <a:r>
              <a:rPr lang="en-US" dirty="0"/>
              <a:t>Simulate the behavior of real objects in a controlled way</a:t>
            </a:r>
          </a:p>
          <a:p>
            <a:r>
              <a:rPr lang="en-US" dirty="0"/>
              <a:t>Useful during unit-testing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Isolate components for unit testing</a:t>
            </a:r>
          </a:p>
          <a:p>
            <a:pPr lvl="1"/>
            <a:r>
              <a:rPr lang="en-US" dirty="0"/>
              <a:t>External systems (APIs, Databases)</a:t>
            </a:r>
          </a:p>
          <a:p>
            <a:pPr lvl="1"/>
            <a:r>
              <a:rPr lang="en-US" dirty="0"/>
              <a:t>Complex or time-consuming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191668-141D-5DDD-D72C-F6389ACB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overview</a:t>
            </a:r>
          </a:p>
        </p:txBody>
      </p:sp>
    </p:spTree>
    <p:extLst>
      <p:ext uri="{BB962C8B-B14F-4D97-AF65-F5344CB8AC3E}">
        <p14:creationId xmlns:p14="http://schemas.microsoft.com/office/powerpoint/2010/main" val="60807925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6169-479E-D042-4BD0-8D4E74C5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78517E-C712-6E60-74DE-61F1ACAE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F9B4-EA73-4E27-6070-996A79395D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unit test </a:t>
            </a:r>
            <a:r>
              <a:rPr lang="en-US" dirty="0" err="1">
                <a:latin typeface="Consolas" panose="020B0609020204030204" pitchFamily="49" charset="0"/>
              </a:rPr>
              <a:t>composeEmail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But don’t want to actually send an email to a client!!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14D26-493F-DE54-2A83-4DB6B76EC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98257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public </a:t>
            </a:r>
            <a:r>
              <a:rPr lang="en-US" dirty="0" err="1"/>
              <a:t>EmailService</a:t>
            </a:r>
            <a:r>
              <a:rPr lang="en-US" dirty="0"/>
              <a:t> {</a:t>
            </a:r>
          </a:p>
          <a:p>
            <a:r>
              <a:rPr lang="en-US" dirty="0"/>
              <a:t>	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sendEmail</a:t>
            </a:r>
            <a:r>
              <a:rPr lang="en-US" dirty="0"/>
              <a:t>(...) {</a:t>
            </a:r>
          </a:p>
          <a:p>
            <a:r>
              <a:rPr lang="en-US" dirty="0"/>
              <a:t>		// send an email</a:t>
            </a:r>
          </a:p>
          <a:p>
            <a:r>
              <a:rPr lang="en-US" dirty="0"/>
              <a:t>		if (success) return true;</a:t>
            </a:r>
          </a:p>
          <a:p>
            <a:r>
              <a:rPr lang="en-US" dirty="0"/>
              <a:t>		return false;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EmailManager</a:t>
            </a:r>
            <a:r>
              <a:rPr lang="en-US" dirty="0"/>
              <a:t> {</a:t>
            </a:r>
          </a:p>
          <a:p>
            <a:r>
              <a:rPr lang="en-US" dirty="0"/>
              <a:t>	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private void </a:t>
            </a:r>
            <a:r>
              <a:rPr lang="en-US" dirty="0" err="1"/>
              <a:t>formatEmail</a:t>
            </a:r>
            <a:r>
              <a:rPr lang="en-US" dirty="0"/>
              <a:t>(String email) { … }</a:t>
            </a:r>
          </a:p>
          <a:p>
            <a:r>
              <a:rPr lang="en-US" dirty="0"/>
              <a:t>	private void </a:t>
            </a:r>
            <a:r>
              <a:rPr lang="en-US" dirty="0" err="1"/>
              <a:t>displayError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succ</a:t>
            </a:r>
            <a:r>
              <a:rPr lang="en-US" dirty="0"/>
              <a:t>) { …}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composeEmail</a:t>
            </a:r>
            <a:r>
              <a:rPr lang="en-US" dirty="0"/>
              <a:t>(...) {</a:t>
            </a:r>
          </a:p>
          <a:p>
            <a:r>
              <a:rPr lang="en-US" dirty="0"/>
              <a:t>		String email = ...;</a:t>
            </a:r>
          </a:p>
          <a:p>
            <a:r>
              <a:rPr lang="en-US" dirty="0"/>
              <a:t>		</a:t>
            </a:r>
            <a:r>
              <a:rPr lang="en-US" dirty="0" err="1"/>
              <a:t>formatEmail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boolean</a:t>
            </a:r>
            <a:r>
              <a:rPr lang="en-US" dirty="0"/>
              <a:t> success = </a:t>
            </a:r>
            <a:r>
              <a:rPr lang="en-US" dirty="0" err="1"/>
              <a:t>emailService.send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displayError</a:t>
            </a:r>
            <a:r>
              <a:rPr lang="en-US" dirty="0"/>
              <a:t>(success);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41DF5-2DC1-BDC5-0838-2EF436512ACC}"/>
              </a:ext>
            </a:extLst>
          </p:cNvPr>
          <p:cNvSpPr/>
          <p:nvPr/>
        </p:nvSpPr>
        <p:spPr>
          <a:xfrm>
            <a:off x="6176512" y="3694125"/>
            <a:ext cx="5649679" cy="16947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F4FCBF-3848-AE49-DEA8-950F9CBC4440}"/>
              </a:ext>
            </a:extLst>
          </p:cNvPr>
          <p:cNvSpPr/>
          <p:nvPr/>
        </p:nvSpPr>
        <p:spPr>
          <a:xfrm>
            <a:off x="6160247" y="696277"/>
            <a:ext cx="5649679" cy="16947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0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" grpId="0" animBg="1"/>
      <p:bldP spid="2" grpId="1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5691-3FEE-84B6-62F3-16BA4D1E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F6ED10-1118-B776-F3A4-33DF8728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Allows programmer to inject mock objects to </a:t>
            </a:r>
            <a:r>
              <a:rPr lang="en-US" b="1" i="1" dirty="0"/>
              <a:t>stub</a:t>
            </a:r>
            <a:r>
              <a:rPr lang="en-US" i="1" dirty="0"/>
              <a:t> </a:t>
            </a:r>
            <a:r>
              <a:rPr lang="en-US" dirty="0"/>
              <a:t>functionality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2A4667-CB5E-1937-7164-1CF62637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CAA2C-C68F-47CB-FDF7-EF23A153A742}"/>
              </a:ext>
            </a:extLst>
          </p:cNvPr>
          <p:cNvSpPr/>
          <p:nvPr/>
        </p:nvSpPr>
        <p:spPr>
          <a:xfrm>
            <a:off x="2414952" y="1711572"/>
            <a:ext cx="2532185" cy="1195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EmailManager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28BF3-0821-A217-84C3-DE8E91191471}"/>
              </a:ext>
            </a:extLst>
          </p:cNvPr>
          <p:cNvSpPr/>
          <p:nvPr/>
        </p:nvSpPr>
        <p:spPr>
          <a:xfrm>
            <a:off x="7176052" y="1711572"/>
            <a:ext cx="2532185" cy="11957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EmailService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A6A026-5BDF-D629-9819-8916C36D9907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015949" y="2287510"/>
            <a:ext cx="2160103" cy="21939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80774A-3994-B6D9-403A-E9829F2ACEB5}"/>
              </a:ext>
            </a:extLst>
          </p:cNvPr>
          <p:cNvSpPr txBox="1"/>
          <p:nvPr/>
        </p:nvSpPr>
        <p:spPr>
          <a:xfrm>
            <a:off x="5380890" y="182584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contains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6E812-960D-E03F-979E-E9486B619878}"/>
              </a:ext>
            </a:extLst>
          </p:cNvPr>
          <p:cNvSpPr/>
          <p:nvPr/>
        </p:nvSpPr>
        <p:spPr>
          <a:xfrm>
            <a:off x="7176049" y="3292589"/>
            <a:ext cx="2532185" cy="11957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Mock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EmailService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9F1D768-8982-0812-09E4-F1789B968AAB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rot="10800000">
            <a:off x="4947137" y="2309450"/>
            <a:ext cx="2228912" cy="1581017"/>
          </a:xfrm>
          <a:prstGeom prst="curvedConnector3">
            <a:avLst>
              <a:gd name="adj1" fmla="val 50000"/>
            </a:avLst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F4518B-D244-7475-791F-66DEA8D3023D}"/>
              </a:ext>
            </a:extLst>
          </p:cNvPr>
          <p:cNvSpPr txBox="1"/>
          <p:nvPr/>
        </p:nvSpPr>
        <p:spPr>
          <a:xfrm>
            <a:off x="5015952" y="3198167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inject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44B9C9-0D01-8B66-B84C-0F3450E2A4B3}"/>
              </a:ext>
            </a:extLst>
          </p:cNvPr>
          <p:cNvSpPr txBox="1"/>
          <p:nvPr/>
        </p:nvSpPr>
        <p:spPr>
          <a:xfrm>
            <a:off x="5997878" y="4779183"/>
            <a:ext cx="4888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Stubbed </a:t>
            </a:r>
            <a:r>
              <a:rPr lang="en-US" sz="2400" b="1" dirty="0" err="1">
                <a:latin typeface="Consolas" panose="020B0609020204030204" pitchFamily="49" charset="0"/>
              </a:rPr>
              <a:t>sendEmail</a:t>
            </a:r>
            <a:r>
              <a:rPr lang="en-US" sz="2400" b="1" dirty="0">
                <a:latin typeface="Consolas" panose="020B0609020204030204" pitchFamily="49" charset="0"/>
              </a:rPr>
              <a:t>()</a:t>
            </a:r>
            <a:r>
              <a:rPr lang="en-US" sz="2400" b="1" i="1" dirty="0">
                <a:latin typeface="Consolas" panose="020B0609020204030204" pitchFamily="49" charset="0"/>
              </a:rPr>
              <a:t> </a:t>
            </a:r>
            <a:r>
              <a:rPr lang="en-US" sz="2400" b="1" i="1" dirty="0"/>
              <a:t>function that does nothing</a:t>
            </a:r>
          </a:p>
        </p:txBody>
      </p:sp>
      <p:pic>
        <p:nvPicPr>
          <p:cNvPr id="6146" name="Picture 2" descr="EasyMock">
            <a:extLst>
              <a:ext uri="{FF2B5EF4-FFF2-40B4-BE49-F238E27FC236}">
                <a16:creationId xmlns:a16="http://schemas.microsoft.com/office/drawing/2014/main" id="{9859C29C-892B-E821-3245-3816412E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73" y="3309506"/>
            <a:ext cx="4400084" cy="69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nit Test - What is Mocking? and Why? - Mkyong.com">
            <a:extLst>
              <a:ext uri="{FF2B5EF4-FFF2-40B4-BE49-F238E27FC236}">
                <a16:creationId xmlns:a16="http://schemas.microsoft.com/office/drawing/2014/main" id="{12E46800-1802-4659-266C-5E9120A9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11" y="409451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1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F03DCE-7ADE-A17F-5C82-4E27CC11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0A3A44-2C19-DDF7-DF02-D53F3707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05E8A-DBD0-BB31-2A2B-86ED2E6B480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Previous cases proxies augmented the target object functionality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97BD42-8014-FC52-3C85-B3116F8CAD34}"/>
              </a:ext>
            </a:extLst>
          </p:cNvPr>
          <p:cNvGrpSpPr/>
          <p:nvPr/>
        </p:nvGrpSpPr>
        <p:grpSpPr>
          <a:xfrm>
            <a:off x="6891050" y="1348153"/>
            <a:ext cx="3962400" cy="3682782"/>
            <a:chOff x="6553200" y="1477107"/>
            <a:chExt cx="3962400" cy="3682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EECCCB-6CDF-B52B-92A5-2DF5B9CADBB0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51298"/>
              <a:chOff x="6553200" y="1477107"/>
              <a:chExt cx="3962400" cy="335129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02B258-D8D7-FA0D-4F29-29A50A427CBE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C8CEA6-FF3B-1A19-0558-C7A236FD372A}"/>
                  </a:ext>
                </a:extLst>
              </p:cNvPr>
              <p:cNvSpPr/>
              <p:nvPr/>
            </p:nvSpPr>
            <p:spPr>
              <a:xfrm>
                <a:off x="6907391" y="1507802"/>
                <a:ext cx="3254032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ArrayListProxy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58957-A70E-86CC-EA7B-1B61DCB70D28}"/>
                  </a:ext>
                </a:extLst>
              </p:cNvPr>
              <p:cNvSpPr/>
              <p:nvPr/>
            </p:nvSpPr>
            <p:spPr>
              <a:xfrm>
                <a:off x="8302678" y="4634975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2F67F4-BC49-2B88-7950-42B2C0FC4586}"/>
                  </a:ext>
                </a:extLst>
              </p:cNvPr>
              <p:cNvSpPr txBox="1"/>
              <p:nvPr/>
            </p:nvSpPr>
            <p:spPr>
              <a:xfrm>
                <a:off x="7543347" y="4448852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add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D72F6F-64F2-41D0-5EC7-DC9B68EB12EA}"/>
                  </a:ext>
                </a:extLst>
              </p:cNvPr>
              <p:cNvSpPr txBox="1"/>
              <p:nvPr/>
            </p:nvSpPr>
            <p:spPr>
              <a:xfrm>
                <a:off x="6919298" y="3934281"/>
                <a:ext cx="3223959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additional_functionality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5A362B2-6167-CF40-FE0E-557DE83C9EC7}"/>
                  </a:ext>
                </a:extLst>
              </p:cNvPr>
              <p:cNvCxnSpPr>
                <a:cxnSpLocks/>
                <a:stCxn id="11" idx="0"/>
                <a:endCxn id="15" idx="2"/>
              </p:cNvCxnSpPr>
              <p:nvPr/>
            </p:nvCxnSpPr>
            <p:spPr>
              <a:xfrm flipV="1">
                <a:off x="8531278" y="4303613"/>
                <a:ext cx="0" cy="331362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BED671F2-5AAE-25F5-162F-256E52E9B31A}"/>
                  </a:ext>
                </a:extLst>
              </p:cNvPr>
              <p:cNvCxnSpPr>
                <a:cxnSpLocks/>
                <a:stCxn id="15" idx="0"/>
                <a:endCxn id="21" idx="2"/>
              </p:cNvCxnSpPr>
              <p:nvPr/>
            </p:nvCxnSpPr>
            <p:spPr>
              <a:xfrm flipV="1">
                <a:off x="8531278" y="3598335"/>
                <a:ext cx="3121" cy="33594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8BE7BAC-D183-29D8-5146-A6B25091D65E}"/>
                </a:ext>
              </a:extLst>
            </p:cNvPr>
            <p:cNvCxnSpPr/>
            <p:nvPr/>
          </p:nvCxnSpPr>
          <p:spPr>
            <a:xfrm flipH="1" flipV="1">
              <a:off x="8520767" y="4803633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284198-E5FD-F49C-53AB-323824BF692F}"/>
              </a:ext>
            </a:extLst>
          </p:cNvPr>
          <p:cNvGrpSpPr/>
          <p:nvPr/>
        </p:nvGrpSpPr>
        <p:grpSpPr>
          <a:xfrm>
            <a:off x="7670634" y="1895559"/>
            <a:ext cx="2403231" cy="1582615"/>
            <a:chOff x="7332784" y="2039815"/>
            <a:chExt cx="2403231" cy="15826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BA8588-D116-2315-E308-0C16EED7D84A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ArrayList</a:t>
              </a:r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object</a:t>
              </a:r>
              <a:endParaRPr lang="en-US" sz="2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B2E167-AD7F-979C-E217-2CDF3412D043}"/>
                </a:ext>
              </a:extLst>
            </p:cNvPr>
            <p:cNvSpPr/>
            <p:nvPr/>
          </p:nvSpPr>
          <p:spPr>
            <a:xfrm>
              <a:off x="83057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4495BEE-74FB-CEAF-28CD-9C1CDFF4E019}"/>
              </a:ext>
            </a:extLst>
          </p:cNvPr>
          <p:cNvSpPr txBox="1"/>
          <p:nvPr/>
        </p:nvSpPr>
        <p:spPr>
          <a:xfrm>
            <a:off x="7881197" y="3123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add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1852925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B49B-8994-D633-30A1-655813B5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02C5AC-D45B-38DB-75C8-5FC4E5F1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B89C7C-4AF1-F80D-D442-753F9E4D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3E358-4EF4-8D5F-44E0-C3115D8877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cases proxies augmented the target object functionality</a:t>
            </a:r>
          </a:p>
          <a:p>
            <a:r>
              <a:rPr lang="en-US" dirty="0"/>
              <a:t>It can also hijack functionality and not invoke the target object’s method</a:t>
            </a:r>
          </a:p>
          <a:p>
            <a:r>
              <a:rPr lang="en-US" dirty="0" err="1"/>
              <a:t>ArrayList</a:t>
            </a:r>
            <a:r>
              <a:rPr lang="en-US" dirty="0"/>
              <a:t> proxy object can always return true for </a:t>
            </a:r>
            <a:r>
              <a:rPr lang="en-US" dirty="0">
                <a:latin typeface="Consolas" panose="020B0609020204030204" pitchFamily="49" charset="0"/>
              </a:rPr>
              <a:t>add() </a:t>
            </a:r>
            <a:r>
              <a:rPr lang="en-US" dirty="0"/>
              <a:t>invocation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35B9CB-8393-C8CF-1463-70660CC9D79A}"/>
              </a:ext>
            </a:extLst>
          </p:cNvPr>
          <p:cNvGrpSpPr/>
          <p:nvPr/>
        </p:nvGrpSpPr>
        <p:grpSpPr>
          <a:xfrm>
            <a:off x="6891050" y="1348153"/>
            <a:ext cx="3962400" cy="3682782"/>
            <a:chOff x="6553200" y="1477107"/>
            <a:chExt cx="3962400" cy="3682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66C6E-9076-8253-B1BE-0D6D97E97835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51298"/>
              <a:chOff x="6553200" y="1477107"/>
              <a:chExt cx="3962400" cy="335129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2009A8-4F77-CCB4-DBB5-5B8C2AAFC0D5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0C8F22-A1D1-5343-6A59-CE2B16929DA7}"/>
                  </a:ext>
                </a:extLst>
              </p:cNvPr>
              <p:cNvSpPr/>
              <p:nvPr/>
            </p:nvSpPr>
            <p:spPr>
              <a:xfrm>
                <a:off x="6907391" y="1507802"/>
                <a:ext cx="3254032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ArrayListProxy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875900-8C2E-6D53-ACF5-E36577198017}"/>
                  </a:ext>
                </a:extLst>
              </p:cNvPr>
              <p:cNvSpPr/>
              <p:nvPr/>
            </p:nvSpPr>
            <p:spPr>
              <a:xfrm>
                <a:off x="8302678" y="4634975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83257A-4F93-7D78-3234-E57044E597F4}"/>
                  </a:ext>
                </a:extLst>
              </p:cNvPr>
              <p:cNvSpPr txBox="1"/>
              <p:nvPr/>
            </p:nvSpPr>
            <p:spPr>
              <a:xfrm>
                <a:off x="7543347" y="4448852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add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A2BBD2-941F-68D9-8F27-7FA8F98A7318}"/>
                  </a:ext>
                </a:extLst>
              </p:cNvPr>
              <p:cNvSpPr txBox="1"/>
              <p:nvPr/>
            </p:nvSpPr>
            <p:spPr>
              <a:xfrm>
                <a:off x="7679121" y="3932702"/>
                <a:ext cx="1704313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return true;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E2A7324-52B6-C2FD-5C65-DF85487A3C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20215" y="4302034"/>
                <a:ext cx="0" cy="33294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EB61AAE-BF22-7C4E-ED0A-CA86B722E35A}"/>
                </a:ext>
              </a:extLst>
            </p:cNvPr>
            <p:cNvCxnSpPr/>
            <p:nvPr/>
          </p:nvCxnSpPr>
          <p:spPr>
            <a:xfrm flipH="1" flipV="1">
              <a:off x="8520767" y="4803633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4CD313-C78F-7FCB-ABDE-B185FFD10741}"/>
              </a:ext>
            </a:extLst>
          </p:cNvPr>
          <p:cNvGrpSpPr/>
          <p:nvPr/>
        </p:nvGrpSpPr>
        <p:grpSpPr>
          <a:xfrm>
            <a:off x="7670634" y="1895559"/>
            <a:ext cx="2403231" cy="1582615"/>
            <a:chOff x="7332784" y="2039815"/>
            <a:chExt cx="2403231" cy="15826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B3D3DF1-5FEB-1F7C-6B60-065137F82B6C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ArrayList</a:t>
              </a:r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object</a:t>
              </a:r>
              <a:endParaRPr lang="en-US" sz="2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7BAACD-9C1D-C7F2-6FBA-0891D5EF1DE9}"/>
                </a:ext>
              </a:extLst>
            </p:cNvPr>
            <p:cNvSpPr/>
            <p:nvPr/>
          </p:nvSpPr>
          <p:spPr>
            <a:xfrm>
              <a:off x="83057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A181B01-17E3-CCD5-A59C-158E217E5D2F}"/>
              </a:ext>
            </a:extLst>
          </p:cNvPr>
          <p:cNvSpPr txBox="1"/>
          <p:nvPr/>
        </p:nvSpPr>
        <p:spPr>
          <a:xfrm>
            <a:off x="7881197" y="3123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add</a:t>
            </a:r>
            <a:r>
              <a:rPr lang="en-US" dirty="0"/>
              <a:t>()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56D6A1C-31EB-F3FA-CC03-DD77CCA385B5}"/>
              </a:ext>
            </a:extLst>
          </p:cNvPr>
          <p:cNvCxnSpPr>
            <a:stCxn id="15" idx="2"/>
            <a:endCxn id="11" idx="3"/>
          </p:cNvCxnSpPr>
          <p:nvPr/>
        </p:nvCxnSpPr>
        <p:spPr>
          <a:xfrm rot="16200000" flipH="1">
            <a:off x="8768600" y="4273608"/>
            <a:ext cx="429656" cy="228600"/>
          </a:xfrm>
          <a:prstGeom prst="curvedConnector4">
            <a:avLst>
              <a:gd name="adj1" fmla="val 38745"/>
              <a:gd name="adj2" fmla="val 47277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532CD3F1-753F-C9A2-0432-B4843ECF8767}"/>
              </a:ext>
            </a:extLst>
          </p:cNvPr>
          <p:cNvSpPr/>
          <p:nvPr/>
        </p:nvSpPr>
        <p:spPr>
          <a:xfrm>
            <a:off x="8675461" y="3310271"/>
            <a:ext cx="365208" cy="31821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8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A81F-8296-536F-9CC4-FA3C93CB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06FCAD-7CCD-0254-2E7A-E19784C7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8F149-13C7-220E-B411-4D7BA3A13F3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cases proxies augmented the target object functionality</a:t>
            </a:r>
          </a:p>
          <a:p>
            <a:r>
              <a:rPr lang="en-US" dirty="0"/>
              <a:t>It can also hijack functionality and not invoke the target object’s method</a:t>
            </a:r>
          </a:p>
          <a:p>
            <a:r>
              <a:rPr lang="en-US" dirty="0" err="1"/>
              <a:t>ArrayList</a:t>
            </a:r>
            <a:r>
              <a:rPr lang="en-US" dirty="0"/>
              <a:t> proxy object can always return true for </a:t>
            </a:r>
            <a:r>
              <a:rPr lang="en-US" dirty="0">
                <a:latin typeface="Consolas" panose="020B0609020204030204" pitchFamily="49" charset="0"/>
              </a:rPr>
              <a:t>add() </a:t>
            </a:r>
            <a:r>
              <a:rPr lang="en-US" dirty="0"/>
              <a:t>invocation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C922B48-DD9A-B410-1D18-AE1401AB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963" y="784225"/>
            <a:ext cx="5632450" cy="50466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strike="sngStrike" dirty="0">
                <a:solidFill>
                  <a:srgbClr val="B8B8B8"/>
                </a:solidFill>
              </a:rPr>
              <a:t>return </a:t>
            </a:r>
            <a:r>
              <a:rPr lang="en-US" strike="sngStrike" dirty="0" err="1">
                <a:solidFill>
                  <a:srgbClr val="B8B8B8"/>
                </a:solidFill>
              </a:rPr>
              <a:t>proceed.invoke</a:t>
            </a:r>
            <a:r>
              <a:rPr lang="en-US" strike="sngStrike" dirty="0">
                <a:solidFill>
                  <a:srgbClr val="B8B8B8"/>
                </a:solidFill>
              </a:rPr>
              <a:t>(self, </a:t>
            </a:r>
            <a:r>
              <a:rPr lang="en-US" strike="sngStrike" dirty="0" err="1">
                <a:solidFill>
                  <a:srgbClr val="B8B8B8"/>
                </a:solidFill>
              </a:rPr>
              <a:t>args</a:t>
            </a:r>
            <a:r>
              <a:rPr lang="en-US" strike="sngStrike" dirty="0">
                <a:solidFill>
                  <a:srgbClr val="B8B8B8"/>
                </a:solidFill>
              </a:rPr>
              <a:t>);</a:t>
            </a:r>
          </a:p>
          <a:p>
            <a:r>
              <a:rPr lang="en-US" sz="1500" dirty="0"/>
              <a:t>		return new Boolean(true);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7D5726-3C20-283C-617B-E346A7803B6C}"/>
              </a:ext>
            </a:extLst>
          </p:cNvPr>
          <p:cNvSpPr/>
          <p:nvPr/>
        </p:nvSpPr>
        <p:spPr>
          <a:xfrm>
            <a:off x="6159734" y="3272588"/>
            <a:ext cx="5649679" cy="54622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D25C16-D33C-CE6A-3C65-890687B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static </a:t>
            </a:r>
            <a:r>
              <a:rPr lang="en-US" dirty="0" err="1"/>
              <a:t>org.mockito.ArgumentMatchers.anyInt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org.mockito.Mockito.mock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org.mockito.Mockito.when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List&lt;Number&gt; </a:t>
            </a:r>
            <a:r>
              <a:rPr lang="en-US" dirty="0" err="1"/>
              <a:t>myList</a:t>
            </a:r>
            <a:r>
              <a:rPr lang="en-US" dirty="0"/>
              <a:t> = mock(</a:t>
            </a:r>
            <a:r>
              <a:rPr lang="en-US" dirty="0" err="1"/>
              <a:t>ArrayList.class</a:t>
            </a:r>
            <a:r>
              <a:rPr lang="en-US" dirty="0"/>
              <a:t>);</a:t>
            </a:r>
          </a:p>
          <a:p>
            <a:r>
              <a:rPr lang="en-US" dirty="0"/>
              <a:t>        when(</a:t>
            </a:r>
            <a:r>
              <a:rPr lang="en-US" dirty="0" err="1"/>
              <a:t>myList.add</a:t>
            </a:r>
            <a:r>
              <a:rPr lang="en-US" dirty="0"/>
              <a:t>(10)).</a:t>
            </a:r>
            <a:r>
              <a:rPr lang="en-US" dirty="0" err="1"/>
              <a:t>thenReturn</a:t>
            </a:r>
            <a:r>
              <a:rPr lang="en-US" dirty="0"/>
              <a:t>(true);</a:t>
            </a:r>
          </a:p>
          <a:p>
            <a:r>
              <a:rPr lang="en-US" dirty="0"/>
              <a:t>          when(</a:t>
            </a:r>
            <a:r>
              <a:rPr lang="en-US" dirty="0" err="1"/>
              <a:t>myList.add</a:t>
            </a:r>
            <a:r>
              <a:rPr lang="en-US" dirty="0"/>
              <a:t>(</a:t>
            </a:r>
            <a:r>
              <a:rPr lang="en-US" dirty="0" err="1"/>
              <a:t>anyInt</a:t>
            </a:r>
            <a:r>
              <a:rPr lang="en-US" dirty="0"/>
              <a:t>())).</a:t>
            </a:r>
            <a:r>
              <a:rPr lang="en-US" dirty="0" err="1"/>
              <a:t>thenReturn</a:t>
            </a:r>
            <a:r>
              <a:rPr lang="en-US" dirty="0"/>
              <a:t>(false);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(30)); // return false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(10)); // return true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902A27-4704-08A0-1457-3EF653E6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E9347-CCBB-B022-1249-43DD3691698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Mockito’s </a:t>
            </a:r>
            <a:r>
              <a:rPr lang="en-US" dirty="0">
                <a:latin typeface="Consolas" panose="020B0609020204030204" pitchFamily="49" charset="0"/>
              </a:rPr>
              <a:t>mock() </a:t>
            </a:r>
            <a:r>
              <a:rPr lang="en-US" dirty="0"/>
              <a:t>method injects a proxy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Configure the proxy object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when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thenReturn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5C443-6A24-153B-A2B0-5F185A85FFDA}"/>
              </a:ext>
            </a:extLst>
          </p:cNvPr>
          <p:cNvSpPr/>
          <p:nvPr/>
        </p:nvSpPr>
        <p:spPr>
          <a:xfrm flipV="1">
            <a:off x="6160245" y="2801164"/>
            <a:ext cx="5649679" cy="46741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8217E-6915-ED20-B6C5-8B6954DF4F7C}"/>
              </a:ext>
            </a:extLst>
          </p:cNvPr>
          <p:cNvSpPr/>
          <p:nvPr/>
        </p:nvSpPr>
        <p:spPr>
          <a:xfrm flipV="1">
            <a:off x="6160244" y="3268578"/>
            <a:ext cx="5649679" cy="32084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6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E306-BA90-EAA3-7FE7-5520DB37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CB7E65-DC75-116F-2FC5-F15B10E74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static </a:t>
            </a:r>
            <a:r>
              <a:rPr lang="en-US" dirty="0" err="1"/>
              <a:t>org.mockito.ArgumentMatchers.anyInt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org.mockito.Mockito.mock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org.mockito.Mockito.when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List&lt;Number&gt; </a:t>
            </a:r>
            <a:r>
              <a:rPr lang="en-US" dirty="0" err="1"/>
              <a:t>myList</a:t>
            </a:r>
            <a:r>
              <a:rPr lang="en-US" dirty="0"/>
              <a:t> = mock(</a:t>
            </a:r>
            <a:r>
              <a:rPr lang="en-US" dirty="0" err="1"/>
              <a:t>ArrayList.class</a:t>
            </a:r>
            <a:r>
              <a:rPr lang="en-US" dirty="0"/>
              <a:t>);</a:t>
            </a:r>
          </a:p>
          <a:p>
            <a:r>
              <a:rPr lang="en-US" dirty="0"/>
              <a:t>        when(</a:t>
            </a:r>
            <a:r>
              <a:rPr lang="en-US" dirty="0" err="1"/>
              <a:t>myList.add</a:t>
            </a:r>
            <a:r>
              <a:rPr lang="en-US" dirty="0"/>
              <a:t>(10)).</a:t>
            </a:r>
            <a:r>
              <a:rPr lang="en-US" dirty="0" err="1"/>
              <a:t>thenReturn</a:t>
            </a:r>
            <a:r>
              <a:rPr lang="en-US" dirty="0"/>
              <a:t>(true);</a:t>
            </a:r>
          </a:p>
          <a:p>
            <a:r>
              <a:rPr lang="en-US" dirty="0"/>
              <a:t>          when(</a:t>
            </a:r>
            <a:r>
              <a:rPr lang="en-US" dirty="0" err="1"/>
              <a:t>myList.add</a:t>
            </a:r>
            <a:r>
              <a:rPr lang="en-US" dirty="0"/>
              <a:t>(</a:t>
            </a:r>
            <a:r>
              <a:rPr lang="en-US" dirty="0" err="1"/>
              <a:t>anyInt</a:t>
            </a:r>
            <a:r>
              <a:rPr lang="en-US" dirty="0"/>
              <a:t>())).</a:t>
            </a:r>
            <a:r>
              <a:rPr lang="en-US" dirty="0" err="1"/>
              <a:t>thenReturn</a:t>
            </a:r>
            <a:r>
              <a:rPr lang="en-US" dirty="0"/>
              <a:t>(false);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(30)); // return false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(10)); // return true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1FD1C-9C5E-46B6-A916-842886AD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3C3294-DB00-9B02-B50E-63EF2A9BF9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Mockito’s </a:t>
            </a:r>
            <a:r>
              <a:rPr lang="en-US" dirty="0">
                <a:latin typeface="Consolas" panose="020B0609020204030204" pitchFamily="49" charset="0"/>
              </a:rPr>
              <a:t>mock() </a:t>
            </a:r>
            <a:r>
              <a:rPr lang="en-US" dirty="0"/>
              <a:t>method injects a proxy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Configure the proxy object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when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thenReturn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Mockito proxy objects record method invocations the first time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Then replay the configured return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8F8D92-A706-3BF8-D36B-361F82EC5F42}"/>
              </a:ext>
            </a:extLst>
          </p:cNvPr>
          <p:cNvSpPr/>
          <p:nvPr/>
        </p:nvSpPr>
        <p:spPr>
          <a:xfrm flipV="1">
            <a:off x="6160245" y="2801164"/>
            <a:ext cx="5649679" cy="46741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23B30-917D-F085-2FBD-49E57CABAD36}"/>
              </a:ext>
            </a:extLst>
          </p:cNvPr>
          <p:cNvSpPr/>
          <p:nvPr/>
        </p:nvSpPr>
        <p:spPr>
          <a:xfrm flipV="1">
            <a:off x="6160244" y="3268578"/>
            <a:ext cx="5649679" cy="32084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7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317F-C8D1-1C9D-0BF5-68468E34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1FC05E-7696-C866-F685-BDD3ED8C5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63088" cy="4912411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/>
              <a:t>import ...;</a:t>
            </a:r>
          </a:p>
          <a:p>
            <a:endParaRPr lang="en-US" sz="1400" dirty="0"/>
          </a:p>
          <a:p>
            <a:r>
              <a:rPr lang="en-US" sz="1400" dirty="0"/>
              <a:t>public class </a:t>
            </a:r>
            <a:r>
              <a:rPr lang="en-US" sz="1400" dirty="0" err="1"/>
              <a:t>EmailManagerTest</a:t>
            </a:r>
            <a:r>
              <a:rPr lang="en-US" sz="1400" dirty="0"/>
              <a:t> {</a:t>
            </a:r>
          </a:p>
          <a:p>
            <a:r>
              <a:rPr lang="en-US" sz="1400" dirty="0"/>
              <a:t>    @Mock</a:t>
            </a:r>
          </a:p>
          <a:p>
            <a:r>
              <a:rPr lang="en-US" sz="1400" dirty="0"/>
              <a:t>    private </a:t>
            </a:r>
            <a:r>
              <a:rPr lang="en-US" sz="1400" dirty="0" err="1"/>
              <a:t>EmailService</a:t>
            </a:r>
            <a:r>
              <a:rPr lang="en-US" sz="1400" dirty="0"/>
              <a:t> </a:t>
            </a:r>
            <a:r>
              <a:rPr lang="en-US" sz="1400" dirty="0" err="1"/>
              <a:t>emailService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dirty="0"/>
              <a:t>    @InjectMocks</a:t>
            </a:r>
          </a:p>
          <a:p>
            <a:r>
              <a:rPr lang="en-US" sz="1400" dirty="0"/>
              <a:t>    private </a:t>
            </a:r>
            <a:r>
              <a:rPr lang="en-US" sz="1400" dirty="0" err="1"/>
              <a:t>EmailManager</a:t>
            </a:r>
            <a:r>
              <a:rPr lang="en-US" sz="1400" dirty="0"/>
              <a:t> </a:t>
            </a:r>
            <a:r>
              <a:rPr lang="en-US" sz="1400" dirty="0" err="1"/>
              <a:t>emailManager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dirty="0"/>
              <a:t>    @BeforeEach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setUp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MockitoAnnotations.openMocks</a:t>
            </a:r>
            <a:r>
              <a:rPr lang="en-US" sz="1400" dirty="0"/>
              <a:t>(this); // Initialize mocks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@Test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testComposeEmail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// Stub the </a:t>
            </a:r>
            <a:r>
              <a:rPr lang="en-US" sz="1400" dirty="0" err="1"/>
              <a:t>sendEmail</a:t>
            </a:r>
            <a:r>
              <a:rPr lang="en-US" sz="1400" dirty="0"/>
              <a:t> method to return true</a:t>
            </a:r>
          </a:p>
          <a:p>
            <a:r>
              <a:rPr lang="en-US" sz="1400" dirty="0"/>
              <a:t>        when(</a:t>
            </a:r>
            <a:r>
              <a:rPr lang="en-US" sz="1400" dirty="0" err="1"/>
              <a:t>emailService.sendEmail</a:t>
            </a:r>
            <a:r>
              <a:rPr lang="en-US" sz="1400" dirty="0"/>
              <a:t>(</a:t>
            </a:r>
            <a:r>
              <a:rPr lang="en-US" sz="1400" dirty="0" err="1"/>
              <a:t>anyString</a:t>
            </a:r>
            <a:r>
              <a:rPr lang="en-US" sz="1400" dirty="0"/>
              <a:t>())).</a:t>
            </a:r>
            <a:r>
              <a:rPr lang="en-US" sz="1400" dirty="0" err="1"/>
              <a:t>thenReturn</a:t>
            </a:r>
            <a:r>
              <a:rPr lang="en-US" sz="1400" dirty="0"/>
              <a:t>(true);</a:t>
            </a:r>
          </a:p>
          <a:p>
            <a:endParaRPr lang="en-US" sz="1400" dirty="0"/>
          </a:p>
          <a:p>
            <a:r>
              <a:rPr lang="en-US" sz="1400" dirty="0"/>
              <a:t>        // Call the method under test</a:t>
            </a:r>
          </a:p>
          <a:p>
            <a:r>
              <a:rPr lang="en-US" sz="1400" dirty="0"/>
              <a:t>        String result = </a:t>
            </a:r>
            <a:r>
              <a:rPr lang="en-US" sz="1400" dirty="0" err="1"/>
              <a:t>emailManager.composeEmail</a:t>
            </a:r>
            <a:r>
              <a:rPr lang="en-US" sz="1400" dirty="0"/>
              <a:t>();</a:t>
            </a:r>
          </a:p>
          <a:p>
            <a:r>
              <a:rPr lang="en-US" sz="1400" dirty="0"/>
              <a:t>	   // do any assertion checks</a:t>
            </a:r>
          </a:p>
          <a:p>
            <a:endParaRPr lang="en-US" sz="1400" dirty="0"/>
          </a:p>
          <a:p>
            <a:r>
              <a:rPr lang="en-US" sz="1400" dirty="0"/>
              <a:t>	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1047CA-C017-9A46-1F9F-B8C053CF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JUnit test with Mockito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0125093-DECE-06B3-C7BD-7F600746C152}"/>
              </a:ext>
            </a:extLst>
          </p:cNvPr>
          <p:cNvSpPr txBox="1">
            <a:spLocks/>
          </p:cNvSpPr>
          <p:nvPr/>
        </p:nvSpPr>
        <p:spPr bwMode="auto">
          <a:xfrm>
            <a:off x="278255" y="696277"/>
            <a:ext cx="5898257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public </a:t>
            </a:r>
            <a:r>
              <a:rPr lang="en-US" dirty="0" err="1"/>
              <a:t>EmailService</a:t>
            </a:r>
            <a:r>
              <a:rPr lang="en-US" dirty="0"/>
              <a:t> {</a:t>
            </a:r>
          </a:p>
          <a:p>
            <a:r>
              <a:rPr lang="en-US" dirty="0"/>
              <a:t>	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sendEmail</a:t>
            </a:r>
            <a:r>
              <a:rPr lang="en-US" dirty="0"/>
              <a:t>(...) {</a:t>
            </a:r>
          </a:p>
          <a:p>
            <a:r>
              <a:rPr lang="en-US" dirty="0"/>
              <a:t>		// send an email</a:t>
            </a:r>
          </a:p>
          <a:p>
            <a:r>
              <a:rPr lang="en-US" dirty="0"/>
              <a:t>		if (success) return true;</a:t>
            </a:r>
          </a:p>
          <a:p>
            <a:r>
              <a:rPr lang="en-US" dirty="0"/>
              <a:t>		return false;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EmailManager</a:t>
            </a:r>
            <a:r>
              <a:rPr lang="en-US" dirty="0"/>
              <a:t> {</a:t>
            </a:r>
          </a:p>
          <a:p>
            <a:r>
              <a:rPr lang="en-US" dirty="0"/>
              <a:t>	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private void </a:t>
            </a:r>
            <a:r>
              <a:rPr lang="en-US" dirty="0" err="1"/>
              <a:t>formatEmail</a:t>
            </a:r>
            <a:r>
              <a:rPr lang="en-US" dirty="0"/>
              <a:t>(String email) { … }</a:t>
            </a:r>
          </a:p>
          <a:p>
            <a:r>
              <a:rPr lang="en-US" dirty="0"/>
              <a:t>	private void </a:t>
            </a:r>
            <a:r>
              <a:rPr lang="en-US" dirty="0" err="1"/>
              <a:t>displayError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succ</a:t>
            </a:r>
            <a:r>
              <a:rPr lang="en-US" dirty="0"/>
              <a:t>) { …}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composeEmail</a:t>
            </a:r>
            <a:r>
              <a:rPr lang="en-US" dirty="0"/>
              <a:t>(...) {</a:t>
            </a:r>
          </a:p>
          <a:p>
            <a:r>
              <a:rPr lang="en-US" dirty="0"/>
              <a:t>		String email = ...;</a:t>
            </a:r>
          </a:p>
          <a:p>
            <a:r>
              <a:rPr lang="en-US" dirty="0"/>
              <a:t>		</a:t>
            </a:r>
            <a:r>
              <a:rPr lang="en-US" dirty="0" err="1"/>
              <a:t>formatEmail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boolean</a:t>
            </a:r>
            <a:r>
              <a:rPr lang="en-US" dirty="0"/>
              <a:t> success = </a:t>
            </a:r>
            <a:r>
              <a:rPr lang="en-US" dirty="0" err="1"/>
              <a:t>emailService.send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displayError</a:t>
            </a:r>
            <a:r>
              <a:rPr lang="en-US" dirty="0"/>
              <a:t>(success);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666153-554C-FB17-FD2B-D524135B8102}"/>
              </a:ext>
            </a:extLst>
          </p:cNvPr>
          <p:cNvSpPr/>
          <p:nvPr/>
        </p:nvSpPr>
        <p:spPr>
          <a:xfrm flipV="1">
            <a:off x="6283217" y="1307863"/>
            <a:ext cx="4280510" cy="43690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DBC532-56F6-140A-223B-2945783051F2}"/>
              </a:ext>
            </a:extLst>
          </p:cNvPr>
          <p:cNvSpPr/>
          <p:nvPr/>
        </p:nvSpPr>
        <p:spPr>
          <a:xfrm flipV="1">
            <a:off x="6283217" y="1833492"/>
            <a:ext cx="4280510" cy="47390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1348F-4357-4AD0-FEE0-F2F3E21C3D69}"/>
              </a:ext>
            </a:extLst>
          </p:cNvPr>
          <p:cNvSpPr/>
          <p:nvPr/>
        </p:nvSpPr>
        <p:spPr>
          <a:xfrm flipV="1">
            <a:off x="6283217" y="2307394"/>
            <a:ext cx="4280510" cy="112160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0BB6E7-055D-4790-DE04-25EFE9B6075A}"/>
              </a:ext>
            </a:extLst>
          </p:cNvPr>
          <p:cNvSpPr/>
          <p:nvPr/>
        </p:nvSpPr>
        <p:spPr>
          <a:xfrm flipV="1">
            <a:off x="6176512" y="4037664"/>
            <a:ext cx="5526204" cy="4862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5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9D680B-A3DE-DDE8-E502-D853667A5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Reflection, annotations, and dynamic proxies are very powerful</a:t>
            </a:r>
          </a:p>
          <a:p>
            <a:pPr lvl="1"/>
            <a:r>
              <a:rPr lang="en-US" dirty="0"/>
              <a:t>Must be used judiciously</a:t>
            </a:r>
          </a:p>
          <a:p>
            <a:pPr lvl="1"/>
            <a:r>
              <a:rPr lang="en-US" dirty="0"/>
              <a:t>Typically, not used in regular application development</a:t>
            </a:r>
          </a:p>
          <a:p>
            <a:pPr lvl="1"/>
            <a:r>
              <a:rPr lang="en-US" dirty="0"/>
              <a:t>Used in framework development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322AB1-0C11-5849-60C4-6B925E76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points</a:t>
            </a:r>
          </a:p>
        </p:txBody>
      </p:sp>
    </p:spTree>
    <p:extLst>
      <p:ext uri="{BB962C8B-B14F-4D97-AF65-F5344CB8AC3E}">
        <p14:creationId xmlns:p14="http://schemas.microsoft.com/office/powerpoint/2010/main" val="258555151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466A-A38A-9C41-693D-3C176C71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552D56-1B85-3D6B-9131-7D9BA47F0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@Entity</a:t>
            </a:r>
          </a:p>
          <a:p>
            <a:r>
              <a:rPr lang="en-US" dirty="0"/>
              <a:t>class </a:t>
            </a:r>
            <a:r>
              <a:rPr lang="en-US" dirty="0" err="1"/>
              <a:t>InsuranceClient</a:t>
            </a:r>
            <a:r>
              <a:rPr lang="en-US" dirty="0"/>
              <a:t> {</a:t>
            </a:r>
          </a:p>
          <a:p>
            <a:r>
              <a:rPr lang="en-US" dirty="0"/>
              <a:t>	@Id</a:t>
            </a:r>
          </a:p>
          <a:p>
            <a:r>
              <a:rPr lang="en-US" dirty="0"/>
              <a:t>	private Integer </a:t>
            </a:r>
            <a:r>
              <a:rPr lang="en-US" dirty="0" err="1"/>
              <a:t>insuranceClientId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@Column(name = “address”)</a:t>
            </a:r>
          </a:p>
          <a:p>
            <a:r>
              <a:rPr lang="en-US" dirty="0"/>
              <a:t>	private String address;</a:t>
            </a:r>
          </a:p>
          <a:p>
            <a:endParaRPr lang="en-US" dirty="0"/>
          </a:p>
          <a:p>
            <a:r>
              <a:rPr lang="en-US" dirty="0"/>
              <a:t>	@OneToMany(fetch = </a:t>
            </a:r>
            <a:r>
              <a:rPr lang="en-US" dirty="0" err="1"/>
              <a:t>FetchType.LAZY</a:t>
            </a:r>
            <a:r>
              <a:rPr lang="en-US" dirty="0"/>
              <a:t>)	List&lt;Policy&gt; policies;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InsuranceClient</a:t>
            </a:r>
            <a:r>
              <a:rPr lang="en-US" dirty="0"/>
              <a:t> client = …;</a:t>
            </a:r>
          </a:p>
          <a:p>
            <a:r>
              <a:rPr lang="en-US" dirty="0" err="1"/>
              <a:t>client.getPolicies</a:t>
            </a:r>
            <a:r>
              <a:rPr lang="en-US" dirty="0"/>
              <a:t>(); // sometimes takes seconds</a:t>
            </a:r>
          </a:p>
          <a:p>
            <a:r>
              <a:rPr lang="en-US" dirty="0"/>
              <a:t>			      // 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9B3E79-EC7C-8750-4FE9-16A33587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points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C18AB-0957-D590-6C38-A1257F03A93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Frameworks using reflection, annotations, and dynamic proxies are widely used</a:t>
            </a:r>
          </a:p>
          <a:p>
            <a:pPr lvl="1"/>
            <a:r>
              <a:rPr lang="en-US" dirty="0"/>
              <a:t>Beneficial to know how they work under-the-hood</a:t>
            </a:r>
          </a:p>
          <a:p>
            <a:pPr lvl="1"/>
            <a:r>
              <a:rPr lang="en-US" dirty="0"/>
              <a:t>Very helpful in debugging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37846-DE61-43AF-0FB5-07BFCCAC1AEA}"/>
              </a:ext>
            </a:extLst>
          </p:cNvPr>
          <p:cNvSpPr/>
          <p:nvPr/>
        </p:nvSpPr>
        <p:spPr>
          <a:xfrm>
            <a:off x="6300069" y="2692160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3" grpId="1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28D950-D957-E4E4-7B22-84D642A48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persist(Post post) {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persist(Student student) {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studentName</a:t>
            </a:r>
            <a:r>
              <a:rPr lang="en-US" dirty="0"/>
              <a:t>”, </a:t>
            </a:r>
            <a:r>
              <a:rPr lang="en-US" dirty="0" err="1"/>
              <a:t>student.getName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454F3-14A4-129D-6A27-B1CD26AA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75E69-D3D5-B7B9-7B93-882DFF66B0C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>
                <a:latin typeface="Consolas" panose="020B0609020204030204" pitchFamily="49" charset="0"/>
              </a:rPr>
              <a:t>persist()</a:t>
            </a:r>
            <a:r>
              <a:rPr lang="en-US" dirty="0"/>
              <a:t> method had to be duplicated for each class</a:t>
            </a:r>
          </a:p>
          <a:p>
            <a:pPr lvl="1"/>
            <a:r>
              <a:rPr lang="en-US" dirty="0"/>
              <a:t>Reflection allows for dynamic field access and method invocation</a:t>
            </a:r>
          </a:p>
          <a:p>
            <a:pPr lvl="2"/>
            <a:r>
              <a:rPr lang="en-US" dirty="0"/>
              <a:t>Partially solved the problem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FFDF64-5195-C20A-FC62-5F7743D8AC33}"/>
              </a:ext>
            </a:extLst>
          </p:cNvPr>
          <p:cNvSpPr/>
          <p:nvPr/>
        </p:nvSpPr>
        <p:spPr>
          <a:xfrm>
            <a:off x="6540701" y="2643111"/>
            <a:ext cx="4905033" cy="13779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5DA7B-B944-60C4-29FD-ADEA00A849B8}"/>
              </a:ext>
            </a:extLst>
          </p:cNvPr>
          <p:cNvSpPr/>
          <p:nvPr/>
        </p:nvSpPr>
        <p:spPr>
          <a:xfrm>
            <a:off x="6540701" y="4021014"/>
            <a:ext cx="4905033" cy="13779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8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6098-C887-1617-5FC5-2D499ADD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94ACB-6420-83D3-3AB8-E756E24E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7489D0-99C7-81F8-0434-06E8F1AE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ED6A-9994-EA70-98D8-4A23D984126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>
                <a:latin typeface="Consolas" panose="020B0609020204030204" pitchFamily="49" charset="0"/>
              </a:rPr>
              <a:t>persist()</a:t>
            </a:r>
            <a:r>
              <a:rPr lang="en-US" dirty="0"/>
              <a:t> method had to be duplicated for each class</a:t>
            </a:r>
          </a:p>
          <a:p>
            <a:pPr lvl="1"/>
            <a:r>
              <a:rPr lang="en-US" dirty="0"/>
              <a:t>Reflection allows for dynamic field access and method invocation</a:t>
            </a:r>
          </a:p>
          <a:p>
            <a:pPr lvl="2"/>
            <a:r>
              <a:rPr lang="en-US" dirty="0"/>
              <a:t>Partially solved the problem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97E519-640B-9E9D-F419-071497C3498E}"/>
              </a:ext>
            </a:extLst>
          </p:cNvPr>
          <p:cNvSpPr/>
          <p:nvPr/>
        </p:nvSpPr>
        <p:spPr>
          <a:xfrm>
            <a:off x="6540701" y="2483556"/>
            <a:ext cx="4905033" cy="160302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36971-A52E-7277-1C43-3DAB80A2DAE2}"/>
              </a:ext>
            </a:extLst>
          </p:cNvPr>
          <p:cNvSpPr/>
          <p:nvPr/>
        </p:nvSpPr>
        <p:spPr>
          <a:xfrm>
            <a:off x="6096000" y="4526844"/>
            <a:ext cx="5349734" cy="97367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0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EC27-7F42-568F-E3DB-64B1A59E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BE582-0E40-6A05-4D17-CA5D6B783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@retention(Retention.RUNTIME)</a:t>
            </a:r>
          </a:p>
          <a:p>
            <a:r>
              <a:rPr lang="en-US" dirty="0"/>
              <a:t>@interface </a:t>
            </a:r>
            <a:r>
              <a:rPr lang="en-US" dirty="0" err="1"/>
              <a:t>Persistable</a:t>
            </a:r>
            <a:r>
              <a:rPr lang="en-US" dirty="0"/>
              <a:t> {}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Object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Integer </a:t>
            </a:r>
            <a:r>
              <a:rPr lang="en-US" dirty="0" err="1"/>
              <a:t>tempField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E5876A-0C7E-E540-7D06-E127477C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DA1228-652E-3980-DAA8-C7484B3026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we don’t want to persist all fields in an object? </a:t>
            </a:r>
          </a:p>
          <a:p>
            <a:pPr lvl="1"/>
            <a:r>
              <a:rPr lang="en-US" dirty="0"/>
              <a:t>Annotations allow adding meta-data to fields, methods, etc.</a:t>
            </a:r>
          </a:p>
          <a:p>
            <a:pPr lvl="1"/>
            <a:r>
              <a:rPr lang="en-US" dirty="0"/>
              <a:t>Annotations with </a:t>
            </a:r>
            <a:r>
              <a:rPr lang="en-US" dirty="0" err="1">
                <a:latin typeface="Consolas" panose="020B0609020204030204" pitchFamily="49" charset="0"/>
              </a:rPr>
              <a:t>Retention.RUNTIME</a:t>
            </a:r>
            <a:r>
              <a:rPr lang="en-US" dirty="0"/>
              <a:t> are available at runtime</a:t>
            </a:r>
          </a:p>
          <a:p>
            <a:pPr lvl="1"/>
            <a:r>
              <a:rPr lang="en-US" dirty="0"/>
              <a:t>Annotating individual fields allows us to selectively persist 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F8327-5AAA-9FE0-41E8-E002A27C8158}"/>
              </a:ext>
            </a:extLst>
          </p:cNvPr>
          <p:cNvSpPr/>
          <p:nvPr/>
        </p:nvSpPr>
        <p:spPr>
          <a:xfrm>
            <a:off x="6259347" y="785004"/>
            <a:ext cx="4905033" cy="60960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C708-8785-5ECC-44AA-F987BC777B2A}"/>
              </a:ext>
            </a:extLst>
          </p:cNvPr>
          <p:cNvSpPr/>
          <p:nvPr/>
        </p:nvSpPr>
        <p:spPr>
          <a:xfrm>
            <a:off x="6259346" y="4351584"/>
            <a:ext cx="4905033" cy="60960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7440E-89C7-B22D-8678-478D548BB719}"/>
              </a:ext>
            </a:extLst>
          </p:cNvPr>
          <p:cNvSpPr/>
          <p:nvPr/>
        </p:nvSpPr>
        <p:spPr>
          <a:xfrm>
            <a:off x="6259347" y="2123591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 animBg="1"/>
      <p:bldP spid="7" grpId="1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49D0-3351-D9EF-8B06-32E27C97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6C9BF-94B5-2F60-C868-4836CDD1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@retention(Retention.RUNTIME)</a:t>
            </a:r>
          </a:p>
          <a:p>
            <a:r>
              <a:rPr lang="en-US" dirty="0"/>
              <a:t>@interface </a:t>
            </a:r>
            <a:r>
              <a:rPr lang="en-US" dirty="0" err="1"/>
              <a:t>Persistable</a:t>
            </a:r>
            <a:r>
              <a:rPr lang="en-US" dirty="0"/>
              <a:t> {}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Object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@LazyLoad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Integer </a:t>
            </a:r>
            <a:r>
              <a:rPr lang="en-US" dirty="0" err="1"/>
              <a:t>tempField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892D10-5134-A3B2-B87F-6427406E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4CF4A2-A3D6-6406-4D0B-F9CADD4BF29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I want to </a:t>
            </a:r>
            <a:r>
              <a:rPr lang="en-US" i="1" dirty="0"/>
              <a:t>lazy-load </a:t>
            </a:r>
            <a:r>
              <a:rPr lang="en-US" dirty="0"/>
              <a:t>one or more fields</a:t>
            </a:r>
          </a:p>
          <a:p>
            <a:pPr lvl="1"/>
            <a:r>
              <a:rPr lang="en-US" dirty="0"/>
              <a:t>Dynamic proxies allow us to intercept method invocation</a:t>
            </a:r>
          </a:p>
          <a:p>
            <a:pPr lvl="2"/>
            <a:r>
              <a:rPr lang="en-US" dirty="0"/>
              <a:t>Allowing lazy-loading of fields only when the field is accessed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18A1C-E814-02E3-03A3-86650CA8B7B4}"/>
              </a:ext>
            </a:extLst>
          </p:cNvPr>
          <p:cNvSpPr/>
          <p:nvPr/>
        </p:nvSpPr>
        <p:spPr>
          <a:xfrm>
            <a:off x="6540701" y="4057899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8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F14C-46A4-0521-D0EC-444A14A9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AC53CC-A934-878B-2B36-2397F9F9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97C186-42BC-146F-2C62-FA8FCC08710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I want to </a:t>
            </a:r>
            <a:r>
              <a:rPr lang="en-US" i="1" dirty="0"/>
              <a:t>lazy-load </a:t>
            </a:r>
            <a:r>
              <a:rPr lang="en-US" dirty="0"/>
              <a:t>one or more fields</a:t>
            </a:r>
          </a:p>
          <a:p>
            <a:pPr lvl="1"/>
            <a:r>
              <a:rPr lang="en-US" dirty="0"/>
              <a:t>Dynamic proxies allow us to intercept method invocation</a:t>
            </a:r>
          </a:p>
          <a:p>
            <a:pPr lvl="2"/>
            <a:r>
              <a:rPr lang="en-US" dirty="0"/>
              <a:t>Allowing lazy-loading of fields only when the field is accessed</a:t>
            </a:r>
          </a:p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A944FD-B389-CBD0-9FC8-F9A6E50086E8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1094812-AB9A-BED3-87DE-593001C0678A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EB3E5CB-1FB6-B978-A1D6-7D7C196F10CC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C8ADAE8-4F18-EA15-B080-CB159B0E3E5C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5CE5A5-D6EA-5995-B318-571A56EB7646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2415266-90BD-D00B-CAD8-3C8E0BD02550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C9D413-0699-CD6F-218E-9E0A828E5266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06521C-D3F8-1E60-EA88-C44231EB787A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B42A44-75BA-D5C4-A72F-47E44791A443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5074380-52C7-B929-10F9-33DC2F520CE7}"/>
                  </a:ext>
                </a:extLst>
              </p:cNvPr>
              <p:cNvCxnSpPr>
                <a:stCxn id="27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794FA2A-A23E-30CA-B072-D6A2D752B9B6}"/>
                  </a:ext>
                </a:extLst>
              </p:cNvPr>
              <p:cNvCxnSpPr>
                <a:cxnSpLocks/>
                <a:stCxn id="28" idx="0"/>
                <a:endCxn id="38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30CB5EA-D067-D069-172D-3CE006D26292}"/>
                  </a:ext>
                </a:extLst>
              </p:cNvPr>
              <p:cNvCxnSpPr>
                <a:cxnSpLocks/>
                <a:stCxn id="31" idx="0"/>
                <a:endCxn id="37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F401BCF-7F2D-99F5-B68B-5FB4BCB98477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CD959A2-3DB7-B735-2B22-74444C0627AA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6C048C-6877-5B9C-0DD8-B1575F8A2838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420E23-404A-9F2D-E4FC-ECD2E550E2AB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9A0A43F-CDD7-3E08-CB9D-CB68ACED4FFC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86AC02D-2FAB-D7CC-B480-6053B781A02C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EB86CF-531F-B0A8-E223-067FD4B78B81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92A3EA7-0593-D9E2-AAF7-BC3925DEA38F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897514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AF86-99B6-9C73-F2FC-23E90D7D2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9B6C0-4941-D99B-4BC0-E2D1934F1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and proxies have application way beyond just Redis persistence and logging</a:t>
            </a:r>
          </a:p>
          <a:p>
            <a:r>
              <a:rPr lang="en-US" dirty="0"/>
              <a:t>Used in microservice frameworks, MVC frameworks, dependency injection, database persistence, and so on, in many languages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42339E-34B5-93D3-389D-91A61844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2" name="Picture 2" descr="Web Development with Spring Boot Java | Study Coding with Shad">
            <a:extLst>
              <a:ext uri="{FF2B5EF4-FFF2-40B4-BE49-F238E27FC236}">
                <a16:creationId xmlns:a16="http://schemas.microsoft.com/office/drawing/2014/main" id="{3E76B91A-7BE8-039C-53AE-4900F6A08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569" y="3454587"/>
            <a:ext cx="1799492" cy="101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icronaut Framework · GitHub">
            <a:extLst>
              <a:ext uri="{FF2B5EF4-FFF2-40B4-BE49-F238E27FC236}">
                <a16:creationId xmlns:a16="http://schemas.microsoft.com/office/drawing/2014/main" id="{7B78F951-9B73-E41C-9CC7-0CCCFAC04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831" y="4067552"/>
            <a:ext cx="1506415" cy="150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Spring MVC: A Comprehensive Guide | by Prabhakar Kulkarni | Medium">
            <a:extLst>
              <a:ext uri="{FF2B5EF4-FFF2-40B4-BE49-F238E27FC236}">
                <a16:creationId xmlns:a16="http://schemas.microsoft.com/office/drawing/2014/main" id="{BD3DD0A0-8A83-4ABB-BEE5-AE7FE951F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288" y="4422507"/>
            <a:ext cx="2726596" cy="131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Log4j - Wikipedia">
            <a:extLst>
              <a:ext uri="{FF2B5EF4-FFF2-40B4-BE49-F238E27FC236}">
                <a16:creationId xmlns:a16="http://schemas.microsoft.com/office/drawing/2014/main" id="{A46F5160-6929-D79D-11F8-D6510090F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36" y="3278433"/>
            <a:ext cx="2875083" cy="118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45431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607EAC-5C78-A70C-4943-42F4252D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74811" cy="5046453"/>
          </a:xfrm>
        </p:spPr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java.lang.reflect.InvocationHandler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java.lang.reflect.Method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DynamicInvocationHandler</a:t>
            </a:r>
            <a:r>
              <a:rPr lang="en-US" dirty="0"/>
              <a:t> </a:t>
            </a:r>
          </a:p>
          <a:p>
            <a:r>
              <a:rPr lang="en-US" dirty="0"/>
              <a:t>		implements </a:t>
            </a:r>
            <a:r>
              <a:rPr lang="en-US" dirty="0" err="1"/>
              <a:t>InvocationHandler</a:t>
            </a:r>
            <a:r>
              <a:rPr lang="en-US" dirty="0"/>
              <a:t> {</a:t>
            </a:r>
          </a:p>
          <a:p>
            <a:r>
              <a:rPr lang="en-US" dirty="0"/>
              <a:t>    Object target;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DynamicInvocationHandler</a:t>
            </a:r>
            <a:r>
              <a:rPr lang="en-US" dirty="0"/>
              <a:t>(Object target) {</a:t>
            </a:r>
          </a:p>
          <a:p>
            <a:r>
              <a:rPr lang="en-US" dirty="0"/>
              <a:t>        </a:t>
            </a:r>
            <a:r>
              <a:rPr lang="en-US" dirty="0" err="1"/>
              <a:t>this.target</a:t>
            </a:r>
            <a:r>
              <a:rPr lang="en-US" dirty="0"/>
              <a:t> = target;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Object invoke(Object proxy, Method </a:t>
            </a:r>
            <a:r>
              <a:rPr lang="en-US" dirty="0" err="1"/>
              <a:t>method</a:t>
            </a:r>
            <a:r>
              <a:rPr lang="en-US" dirty="0"/>
              <a:t>, 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        log(“Accessing” + </a:t>
            </a:r>
            <a:r>
              <a:rPr lang="en-US" dirty="0" err="1"/>
              <a:t>method.getName</a:t>
            </a:r>
            <a:r>
              <a:rPr lang="en-US" dirty="0"/>
              <a:t>());</a:t>
            </a:r>
          </a:p>
          <a:p>
            <a:r>
              <a:rPr lang="en-US" dirty="0"/>
              <a:t>        return </a:t>
            </a:r>
            <a:r>
              <a:rPr lang="en-US" dirty="0" err="1"/>
              <a:t>method.invoke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0CDE2-E8D5-7018-26B5-538C7F46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A26CC-FE70-A679-6D92-D519583EFCC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 reflection allows you to dynamically create a proxy for any(*</a:t>
            </a:r>
            <a:r>
              <a:rPr lang="en-US" sz="1000" dirty="0"/>
              <a:t>restrictions apply</a:t>
            </a:r>
            <a:r>
              <a:rPr lang="en-US" dirty="0"/>
              <a:t>) </a:t>
            </a:r>
            <a:r>
              <a:rPr lang="en-US" i="1" dirty="0"/>
              <a:t>target</a:t>
            </a:r>
            <a:r>
              <a:rPr lang="en-US" dirty="0"/>
              <a:t> object</a:t>
            </a:r>
          </a:p>
          <a:p>
            <a:r>
              <a:rPr lang="en-US" dirty="0"/>
              <a:t>Wraps a target object</a:t>
            </a:r>
          </a:p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InvocationHandler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- encapsulates the proxy’s functionality (e.g. logging)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Dispatches the target object’s 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be applied to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any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object of any type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4C1D17-8609-CCA4-F1B2-E1ED6A75517E}"/>
              </a:ext>
            </a:extLst>
          </p:cNvPr>
          <p:cNvSpPr/>
          <p:nvPr/>
        </p:nvSpPr>
        <p:spPr>
          <a:xfrm>
            <a:off x="6176512" y="2432370"/>
            <a:ext cx="5874811" cy="117833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6A6778-BCFC-6912-B5B2-F5E04ED71BC2}"/>
              </a:ext>
            </a:extLst>
          </p:cNvPr>
          <p:cNvSpPr/>
          <p:nvPr/>
        </p:nvSpPr>
        <p:spPr>
          <a:xfrm>
            <a:off x="6176511" y="4425294"/>
            <a:ext cx="5874811" cy="3928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5FF1B2-8470-DBF5-72F9-5989BBE962F4}"/>
              </a:ext>
            </a:extLst>
          </p:cNvPr>
          <p:cNvSpPr/>
          <p:nvPr/>
        </p:nvSpPr>
        <p:spPr>
          <a:xfrm>
            <a:off x="6176511" y="1382449"/>
            <a:ext cx="5874811" cy="69627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2" grpId="0" animBg="1"/>
      <p:bldP spid="2" grpId="1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590B02-22B0-850E-4EFD-6AE06A05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D256CB-D3E4-8A94-7D50-6B6284379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77E1A6-74E4-8CC6-7555-484CC93C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8493B-3B06-FD52-472C-0E5008F7172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object type must implement an interface</a:t>
            </a:r>
          </a:p>
          <a:p>
            <a:r>
              <a:rPr lang="en-US" dirty="0" err="1">
                <a:latin typeface="Consolas" panose="020B0609020204030204" pitchFamily="49" charset="0"/>
              </a:rPr>
              <a:t>Proxy.newProxyInstance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creates a proxy that implements the interface</a:t>
            </a:r>
          </a:p>
          <a:p>
            <a:r>
              <a:rPr lang="en-US" dirty="0"/>
              <a:t>Pass the original object to the Invocation Handler</a:t>
            </a:r>
          </a:p>
          <a:p>
            <a:r>
              <a:rPr lang="en-US" dirty="0"/>
              <a:t>Returns an object of the interface type</a:t>
            </a:r>
          </a:p>
          <a:p>
            <a:pPr marL="168275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943E2-C51D-0E30-111C-F7C71FFFA0A9}"/>
              </a:ext>
            </a:extLst>
          </p:cNvPr>
          <p:cNvSpPr/>
          <p:nvPr/>
        </p:nvSpPr>
        <p:spPr>
          <a:xfrm>
            <a:off x="6015487" y="2385508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66200-2551-8803-FA1B-B460BA2C08C1}"/>
              </a:ext>
            </a:extLst>
          </p:cNvPr>
          <p:cNvSpPr/>
          <p:nvPr/>
        </p:nvSpPr>
        <p:spPr>
          <a:xfrm>
            <a:off x="6015486" y="5093539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67DB0-801C-6DAA-18C4-0C67B4468FC3}"/>
              </a:ext>
            </a:extLst>
          </p:cNvPr>
          <p:cNvSpPr/>
          <p:nvPr/>
        </p:nvSpPr>
        <p:spPr>
          <a:xfrm>
            <a:off x="6015486" y="5445231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7" grpId="0" animBg="1"/>
      <p:bldP spid="7" grpId="1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85F2A5-244B-3615-A678-C5785942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013C75-A1D1-FEC3-EADC-5FC7A98E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  <a:p>
            <a:r>
              <a:rPr lang="en-US" dirty="0" err="1"/>
              <a:t>proxyObject.hget</a:t>
            </a:r>
            <a:r>
              <a:rPr lang="en-US" dirty="0"/>
              <a:t>(…); // Prints “accessing </a:t>
            </a:r>
            <a:r>
              <a:rPr lang="en-US" dirty="0" err="1"/>
              <a:t>hget</a:t>
            </a:r>
            <a:r>
              <a:rPr lang="en-US" dirty="0"/>
              <a:t>”</a:t>
            </a:r>
          </a:p>
          <a:p>
            <a:r>
              <a:rPr lang="en-US" dirty="0" err="1"/>
              <a:t>proxyObject.hset</a:t>
            </a:r>
            <a:r>
              <a:rPr lang="en-US" dirty="0"/>
              <a:t>(…); // Prints “accessing </a:t>
            </a:r>
            <a:r>
              <a:rPr lang="en-US" dirty="0" err="1"/>
              <a:t>hset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40583F-DE10-3C44-CD9E-E6907DB8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51207-9FC7-4807-E27B-4CF7F4E2F2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method invocation on the proxy object invokes the </a:t>
            </a:r>
            <a:r>
              <a:rPr lang="en-US" dirty="0" err="1">
                <a:latin typeface="Consolas" panose="020B0609020204030204" pitchFamily="49" charset="0"/>
              </a:rPr>
              <a:t>InvocationHandler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765A1-4E23-73D6-AD9C-DCC175B42B41}"/>
              </a:ext>
            </a:extLst>
          </p:cNvPr>
          <p:cNvSpPr/>
          <p:nvPr/>
        </p:nvSpPr>
        <p:spPr>
          <a:xfrm>
            <a:off x="6015486" y="5093539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0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7A30F4-069E-9F18-AADE-6DD0C767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2F6CD7-2A41-7C36-F7A6-DEBC8C04E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  <a:p>
            <a:r>
              <a:rPr lang="en-US" dirty="0" err="1"/>
              <a:t>proxyObject.hget</a:t>
            </a:r>
            <a:r>
              <a:rPr lang="en-US" dirty="0"/>
              <a:t>(…); // Prints “accessing </a:t>
            </a:r>
            <a:r>
              <a:rPr lang="en-US" dirty="0" err="1"/>
              <a:t>hget</a:t>
            </a:r>
            <a:r>
              <a:rPr lang="en-US" dirty="0"/>
              <a:t>”</a:t>
            </a:r>
          </a:p>
          <a:p>
            <a:r>
              <a:rPr lang="en-US" dirty="0" err="1"/>
              <a:t>proxyObject.hset</a:t>
            </a:r>
            <a:r>
              <a:rPr lang="en-US" dirty="0"/>
              <a:t>(…); // Prints “accessing </a:t>
            </a:r>
            <a:r>
              <a:rPr lang="en-US" dirty="0" err="1"/>
              <a:t>hset</a:t>
            </a:r>
            <a:r>
              <a:rPr lang="en-US" dirty="0"/>
              <a:t>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75DAAD-8F9D-C541-741A-F6B17621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7C9D0-F23B-805C-AB41-5F74142476F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Returns an object of the interface type</a:t>
            </a:r>
          </a:p>
          <a:p>
            <a:r>
              <a:rPr lang="en-US" dirty="0"/>
              <a:t>Limitation: can only access the fields defined in the interface</a:t>
            </a:r>
          </a:p>
          <a:p>
            <a:r>
              <a:rPr lang="en-US" b="1" dirty="0"/>
              <a:t>Why?</a:t>
            </a:r>
          </a:p>
          <a:p>
            <a:pPr lvl="1"/>
            <a:r>
              <a:rPr lang="en-US" dirty="0"/>
              <a:t>What is the difference between dynamic proxy and the static proxy example? </a:t>
            </a:r>
          </a:p>
          <a:p>
            <a:pPr marL="168275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7551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21D284-FE20-9CF0-82FE-CAC6A0EC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2F1C0F8-F70B-ABCC-D7F1-12744D4BA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3" y="785004"/>
            <a:ext cx="5633414" cy="50464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Map </a:t>
            </a:r>
            <a:r>
              <a:rPr lang="en-US" dirty="0" err="1"/>
              <a:t>childMap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// populate contents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B355D2-8152-515A-1B46-FEAD27CB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85C8E0-4846-2513-024A-46E87B8C79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load()</a:t>
            </a:r>
            <a:r>
              <a:rPr lang="en-US" dirty="0"/>
              <a:t> method loads a single post from the Redis database</a:t>
            </a:r>
          </a:p>
          <a:p>
            <a:pPr lvl="1"/>
            <a:r>
              <a:rPr lang="en-US" dirty="0"/>
              <a:t>Imagine you stored the reply post ids as a CSV</a:t>
            </a:r>
          </a:p>
          <a:p>
            <a:pPr lvl="1"/>
            <a:r>
              <a:rPr lang="en-US" dirty="0"/>
              <a:t>Make separate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/>
              <a:t> calls to load the children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D42935-C9BA-7F87-35E5-267E4D5A976A}"/>
              </a:ext>
            </a:extLst>
          </p:cNvPr>
          <p:cNvSpPr/>
          <p:nvPr/>
        </p:nvSpPr>
        <p:spPr>
          <a:xfrm>
            <a:off x="6176513" y="3539927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724C7-DF25-E62F-3CBB-0CC062888D9F}"/>
              </a:ext>
            </a:extLst>
          </p:cNvPr>
          <p:cNvSpPr/>
          <p:nvPr/>
        </p:nvSpPr>
        <p:spPr>
          <a:xfrm>
            <a:off x="6176513" y="4032296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06F49-4304-5D67-76D5-43AB76B926CB}"/>
              </a:ext>
            </a:extLst>
          </p:cNvPr>
          <p:cNvSpPr/>
          <p:nvPr/>
        </p:nvSpPr>
        <p:spPr>
          <a:xfrm>
            <a:off x="6176513" y="4343983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07B1E4-920F-7503-80B5-C5DAC882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AAFF8B-FFF2-4994-1A7A-1796D3A50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Map </a:t>
            </a:r>
            <a:r>
              <a:rPr lang="en-US" dirty="0" err="1"/>
              <a:t>childMap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// populate contents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D7B1A0-722A-0443-D3A1-C54B49A3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C537DD-B166-067A-5045-AF6F78C5661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operations are slow</a:t>
            </a:r>
          </a:p>
          <a:p>
            <a:r>
              <a:rPr lang="en-US" dirty="0"/>
              <a:t>What if you just wanted to access one particular post and then load the reply posts </a:t>
            </a:r>
            <a:r>
              <a:rPr lang="en-US" b="1" i="1" dirty="0"/>
              <a:t>on demand?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60326-594C-391A-099D-46F174B8FCE2}"/>
              </a:ext>
            </a:extLst>
          </p:cNvPr>
          <p:cNvSpPr/>
          <p:nvPr/>
        </p:nvSpPr>
        <p:spPr>
          <a:xfrm>
            <a:off x="6904892" y="4008850"/>
            <a:ext cx="4905033" cy="11258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7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C1D150-D8B2-0E45-5A61-2E1C1058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CB8CAB-E419-A4AC-17E9-34CE7F59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</a:t>
            </a:r>
            <a:r>
              <a:rPr lang="en-US" dirty="0" err="1"/>
              <a:t>child.setPostId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19EC1-6D81-69B3-FCAE-A29834C3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369AFE-F4C0-4B46-161D-BE19046634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 level approach</a:t>
            </a:r>
          </a:p>
          <a:p>
            <a:pPr lvl="1"/>
            <a:r>
              <a:rPr lang="en-US" dirty="0"/>
              <a:t>Create reply Post objects with only the </a:t>
            </a:r>
            <a:r>
              <a:rPr lang="en-US" dirty="0" err="1">
                <a:latin typeface="Consolas" panose="020B0609020204030204" pitchFamily="49" charset="0"/>
              </a:rPr>
              <a:t>postId</a:t>
            </a:r>
            <a:r>
              <a:rPr lang="en-US" dirty="0"/>
              <a:t> (do not load the data using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 a </a:t>
            </a:r>
            <a:r>
              <a:rPr lang="en-US" dirty="0" err="1"/>
              <a:t>Javassist</a:t>
            </a:r>
            <a:r>
              <a:rPr lang="en-US" dirty="0"/>
              <a:t> proxy for the Post object and have it intercept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invocation</a:t>
            </a:r>
          </a:p>
          <a:p>
            <a:pPr lvl="1"/>
            <a:r>
              <a:rPr lang="en-US" dirty="0"/>
              <a:t>Only when the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is invoked, perform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calls for the reply post objects</a:t>
            </a:r>
          </a:p>
          <a:p>
            <a:r>
              <a:rPr lang="en-US" dirty="0"/>
              <a:t>Significant performance improvement for SQL databases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7A23B-6559-4C54-9C42-6C65B13AD858}"/>
              </a:ext>
            </a:extLst>
          </p:cNvPr>
          <p:cNvSpPr/>
          <p:nvPr/>
        </p:nvSpPr>
        <p:spPr>
          <a:xfrm>
            <a:off x="6904892" y="4008850"/>
            <a:ext cx="4905033" cy="11258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C267A2-C613-B4AF-6BFB-BBD2436E8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7D3B1B-77DC-8093-D917-2B181B026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Object code is a representation of the source code at a lower level</a:t>
            </a:r>
          </a:p>
          <a:p>
            <a:r>
              <a:rPr lang="en-US" dirty="0"/>
              <a:t>C compiler translates it to machine code</a:t>
            </a:r>
          </a:p>
          <a:p>
            <a:pPr lvl="1"/>
            <a:r>
              <a:rPr lang="en-US" dirty="0"/>
              <a:t>Directly runnable on the hardware (hardware specific) [Demo: X86, ARM]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945D14-0E80-DA70-5BB2-567FAF76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Recap: what is object code?</a:t>
            </a:r>
          </a:p>
        </p:txBody>
      </p:sp>
      <p:pic>
        <p:nvPicPr>
          <p:cNvPr id="1026" name="Picture 2" descr="Download C File ICON free | FreePNGimg">
            <a:extLst>
              <a:ext uri="{FF2B5EF4-FFF2-40B4-BE49-F238E27FC236}">
                <a16:creationId xmlns:a16="http://schemas.microsoft.com/office/drawing/2014/main" id="{2DFE2098-A418-0BF8-DF9F-2D8122C36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4" y="3464166"/>
            <a:ext cx="1729685" cy="183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ro to x86 Assembly with FASM – Coding">
            <a:extLst>
              <a:ext uri="{FF2B5EF4-FFF2-40B4-BE49-F238E27FC236}">
                <a16:creationId xmlns:a16="http://schemas.microsoft.com/office/drawing/2014/main" id="{4C88DD94-073B-6636-DC66-888919B75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08" y="3032734"/>
            <a:ext cx="3178364" cy="267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GNU Compiler Collection (GCC) | Incredibuild">
            <a:extLst>
              <a:ext uri="{FF2B5EF4-FFF2-40B4-BE49-F238E27FC236}">
                <a16:creationId xmlns:a16="http://schemas.microsoft.com/office/drawing/2014/main" id="{0F2C18E3-8A40-196E-9828-C4CB1E0DB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907" y="2853408"/>
            <a:ext cx="28670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2C081C-5BE4-2629-1C65-3883FF947E2D}"/>
              </a:ext>
            </a:extLst>
          </p:cNvPr>
          <p:cNvCxnSpPr>
            <a:stCxn id="1026" idx="3"/>
          </p:cNvCxnSpPr>
          <p:nvPr/>
        </p:nvCxnSpPr>
        <p:spPr>
          <a:xfrm flipV="1">
            <a:off x="3739459" y="4380581"/>
            <a:ext cx="1031833" cy="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07ACD4-9F8E-DA01-168A-C68C14014C9D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6500977" y="4368890"/>
            <a:ext cx="1299931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22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6944C9-5540-F04A-B985-30D60321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1028C5-EFAB-A296-F739-45205AED1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Object code is a representation of the source code at a lower level</a:t>
            </a:r>
          </a:p>
          <a:p>
            <a:r>
              <a:rPr lang="en-US" dirty="0"/>
              <a:t>Java compiler translates it to an “Intermediate Representation (bytecode)” [Demo]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1D853-D4A0-D121-0B02-8CE3EEFEE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object code?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7AD1D7F-2CA0-7470-480A-A98D9BB788F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Java File Viewer - Apps on Google Play">
            <a:extLst>
              <a:ext uri="{FF2B5EF4-FFF2-40B4-BE49-F238E27FC236}">
                <a16:creationId xmlns:a16="http://schemas.microsoft.com/office/drawing/2014/main" id="{E7520AF0-357E-5242-05DB-126C75B73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2952295"/>
            <a:ext cx="2051538" cy="20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4C22E7-EFB6-0B99-5A06-F0702FDFFA39}"/>
              </a:ext>
            </a:extLst>
          </p:cNvPr>
          <p:cNvSpPr/>
          <p:nvPr/>
        </p:nvSpPr>
        <p:spPr>
          <a:xfrm>
            <a:off x="5109558" y="3516399"/>
            <a:ext cx="15977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B4D50C-6C08-133D-8D28-FBC1BA58868D}"/>
              </a:ext>
            </a:extLst>
          </p:cNvPr>
          <p:cNvCxnSpPr>
            <a:stCxn id="2050" idx="3"/>
            <a:endCxn id="5" idx="1"/>
          </p:cNvCxnSpPr>
          <p:nvPr/>
        </p:nvCxnSpPr>
        <p:spPr>
          <a:xfrm>
            <a:off x="3880339" y="3978064"/>
            <a:ext cx="1229219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D844EC-7954-E84D-1F5A-AEF5493D412B}"/>
              </a:ext>
            </a:extLst>
          </p:cNvPr>
          <p:cNvSpPr txBox="1"/>
          <p:nvPr/>
        </p:nvSpPr>
        <p:spPr>
          <a:xfrm>
            <a:off x="7688635" y="1992905"/>
            <a:ext cx="40210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Compiled from "MyApp.java"</a:t>
            </a:r>
          </a:p>
          <a:p>
            <a:r>
              <a:rPr lang="en-US" sz="1400" dirty="0"/>
              <a:t>public class </a:t>
            </a:r>
            <a:r>
              <a:rPr lang="en-US" sz="1400" dirty="0" err="1"/>
              <a:t>MyApp</a:t>
            </a:r>
            <a:r>
              <a:rPr lang="en-US" sz="1400" dirty="0"/>
              <a:t> {</a:t>
            </a:r>
          </a:p>
          <a:p>
            <a:r>
              <a:rPr lang="en-US" sz="1400" dirty="0"/>
              <a:t>  public </a:t>
            </a:r>
            <a:r>
              <a:rPr lang="en-US" sz="1400" dirty="0" err="1"/>
              <a:t>MyApp</a:t>
            </a:r>
            <a:r>
              <a:rPr lang="en-US" sz="1400" dirty="0"/>
              <a:t>();</a:t>
            </a:r>
          </a:p>
          <a:p>
            <a:r>
              <a:rPr lang="en-US" sz="1400" dirty="0"/>
              <a:t>    Code:</a:t>
            </a:r>
          </a:p>
          <a:p>
            <a:r>
              <a:rPr lang="en-US" sz="1400" dirty="0"/>
              <a:t>       0: aload_0</a:t>
            </a:r>
          </a:p>
          <a:p>
            <a:r>
              <a:rPr lang="en-US" sz="1400" dirty="0"/>
              <a:t>       1: </a:t>
            </a:r>
            <a:r>
              <a:rPr lang="en-US" sz="1400" dirty="0" err="1"/>
              <a:t>invokespecial</a:t>
            </a:r>
            <a:r>
              <a:rPr lang="en-US" sz="1400" dirty="0"/>
              <a:t> #1                  // Method java/lang/Object."&lt;</a:t>
            </a:r>
            <a:r>
              <a:rPr lang="en-US" sz="1400" dirty="0" err="1"/>
              <a:t>init</a:t>
            </a:r>
            <a:r>
              <a:rPr lang="en-US" sz="1400" dirty="0"/>
              <a:t>&gt;":()V</a:t>
            </a:r>
          </a:p>
          <a:p>
            <a:r>
              <a:rPr lang="en-US" sz="1400" dirty="0"/>
              <a:t>       4: return</a:t>
            </a:r>
          </a:p>
          <a:p>
            <a:endParaRPr lang="en-US" sz="1400" dirty="0"/>
          </a:p>
          <a:p>
            <a:r>
              <a:rPr lang="en-US" sz="1400" dirty="0"/>
              <a:t>  public static void main(</a:t>
            </a:r>
            <a:r>
              <a:rPr lang="en-US" sz="1400" dirty="0" err="1"/>
              <a:t>java.lang.String</a:t>
            </a:r>
            <a:r>
              <a:rPr lang="en-US" sz="1400" dirty="0"/>
              <a:t>[]);</a:t>
            </a:r>
          </a:p>
          <a:p>
            <a:r>
              <a:rPr lang="en-US" sz="1400" dirty="0"/>
              <a:t>    Code:</a:t>
            </a:r>
          </a:p>
          <a:p>
            <a:r>
              <a:rPr lang="en-US" sz="1400" dirty="0"/>
              <a:t>       0: </a:t>
            </a:r>
            <a:r>
              <a:rPr lang="en-US" sz="1400" dirty="0" err="1"/>
              <a:t>getstatic</a:t>
            </a:r>
            <a:r>
              <a:rPr lang="en-US" sz="1400" dirty="0"/>
              <a:t>     #7                  // Field java/lang/</a:t>
            </a:r>
            <a:r>
              <a:rPr lang="en-US" sz="1400" dirty="0" err="1"/>
              <a:t>System.out:Ljava</a:t>
            </a:r>
            <a:r>
              <a:rPr lang="en-US" sz="1400" dirty="0"/>
              <a:t>/io/</a:t>
            </a:r>
            <a:r>
              <a:rPr lang="en-US" sz="1400" dirty="0" err="1"/>
              <a:t>PrintStream</a:t>
            </a:r>
            <a:r>
              <a:rPr lang="en-US" sz="1400" dirty="0"/>
              <a:t>;</a:t>
            </a:r>
          </a:p>
          <a:p>
            <a:r>
              <a:rPr lang="en-US" sz="1400" dirty="0"/>
              <a:t>       3: </a:t>
            </a:r>
            <a:r>
              <a:rPr lang="en-US" sz="1400" dirty="0" err="1"/>
              <a:t>ldc</a:t>
            </a:r>
            <a:r>
              <a:rPr lang="en-US" sz="1400" dirty="0"/>
              <a:t>           #13                 // String Hello!</a:t>
            </a:r>
          </a:p>
          <a:p>
            <a:r>
              <a:rPr lang="en-US" sz="1400" dirty="0"/>
              <a:t>       5: </a:t>
            </a:r>
            <a:r>
              <a:rPr lang="en-US" sz="1400" dirty="0" err="1"/>
              <a:t>invokevirtual</a:t>
            </a:r>
            <a:r>
              <a:rPr lang="en-US" sz="1400" dirty="0"/>
              <a:t> #15                 // Method java/io/</a:t>
            </a:r>
            <a:r>
              <a:rPr lang="en-US" sz="1400" dirty="0" err="1"/>
              <a:t>PrintStream.println</a:t>
            </a:r>
            <a:r>
              <a:rPr lang="en-US" sz="1400" dirty="0"/>
              <a:t>:(</a:t>
            </a:r>
            <a:r>
              <a:rPr lang="en-US" sz="1400" dirty="0" err="1"/>
              <a:t>Ljava</a:t>
            </a:r>
            <a:r>
              <a:rPr lang="en-US" sz="1400" dirty="0"/>
              <a:t>/lang/String;)V</a:t>
            </a:r>
          </a:p>
          <a:p>
            <a:r>
              <a:rPr lang="en-US" sz="1400" dirty="0"/>
              <a:t>       8: return</a:t>
            </a:r>
          </a:p>
          <a:p>
            <a:r>
              <a:rPr lang="en-US" sz="14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268287-BB6D-A7E6-EB7F-76386B76528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6707303" y="3978064"/>
            <a:ext cx="98133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8BCAA9-A8F5-8F7C-81B3-3E5969C09DD3}"/>
              </a:ext>
            </a:extLst>
          </p:cNvPr>
          <p:cNvSpPr txBox="1"/>
          <p:nvPr/>
        </p:nvSpPr>
        <p:spPr>
          <a:xfrm>
            <a:off x="6224954" y="5111262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9DF073-E8DF-D9A6-D237-978A59246F4D}"/>
              </a:ext>
            </a:extLst>
          </p:cNvPr>
          <p:cNvSpPr txBox="1"/>
          <p:nvPr/>
        </p:nvSpPr>
        <p:spPr>
          <a:xfrm>
            <a:off x="797169" y="5123876"/>
            <a:ext cx="1974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MyApp.java</a:t>
            </a:r>
          </a:p>
        </p:txBody>
      </p:sp>
    </p:spTree>
    <p:extLst>
      <p:ext uri="{BB962C8B-B14F-4D97-AF65-F5344CB8AC3E}">
        <p14:creationId xmlns:p14="http://schemas.microsoft.com/office/powerpoint/2010/main" val="12302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8" grpId="0"/>
      <p:bldP spid="19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BE410-E5E3-4A3F-349D-8FDB1A00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Hardware does not know how to run Java bytecode</a:t>
            </a:r>
          </a:p>
          <a:p>
            <a:r>
              <a:rPr lang="en-US" dirty="0"/>
              <a:t>Needs a Java Virtual Machine (JVM) to execute the bytecode instructions at runtime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9CE01-2051-555A-0107-CE53AADC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Java bytecode interpretation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18C0081-D08F-58D5-0EE5-A4119A12819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7D292-881A-D9DD-E215-615E1C82B913}"/>
              </a:ext>
            </a:extLst>
          </p:cNvPr>
          <p:cNvSpPr/>
          <p:nvPr/>
        </p:nvSpPr>
        <p:spPr>
          <a:xfrm>
            <a:off x="653704" y="3724228"/>
            <a:ext cx="22813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MyApp.class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74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528A33B2-143B-5F78-410A-A04E92D40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416" y="3072909"/>
            <a:ext cx="3355402" cy="188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E9F0CB-AE7D-CFCC-12CC-5CFE6AA50D62}"/>
              </a:ext>
            </a:extLst>
          </p:cNvPr>
          <p:cNvCxnSpPr>
            <a:stCxn id="5" idx="3"/>
            <a:endCxn id="3074" idx="1"/>
          </p:cNvCxnSpPr>
          <p:nvPr/>
        </p:nvCxnSpPr>
        <p:spPr>
          <a:xfrm>
            <a:off x="2935098" y="4016616"/>
            <a:ext cx="476318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C3355A0-02AD-3121-76C2-F56736E6DFB7}"/>
              </a:ext>
            </a:extLst>
          </p:cNvPr>
          <p:cNvCxnSpPr>
            <a:stCxn id="3074" idx="0"/>
            <a:endCxn id="3074" idx="3"/>
          </p:cNvCxnSpPr>
          <p:nvPr/>
        </p:nvCxnSpPr>
        <p:spPr>
          <a:xfrm rot="16200000" flipH="1">
            <a:off x="5456113" y="2705912"/>
            <a:ext cx="943707" cy="1677701"/>
          </a:xfrm>
          <a:prstGeom prst="bentConnector4">
            <a:avLst>
              <a:gd name="adj1" fmla="val -62733"/>
              <a:gd name="adj2" fmla="val 15415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B8F1E0-AD85-2573-19CA-6F0B3A12B490}"/>
              </a:ext>
            </a:extLst>
          </p:cNvPr>
          <p:cNvCxnSpPr>
            <a:cxnSpLocks/>
          </p:cNvCxnSpPr>
          <p:nvPr/>
        </p:nvCxnSpPr>
        <p:spPr>
          <a:xfrm>
            <a:off x="6766817" y="4527651"/>
            <a:ext cx="3221245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FA26CD-1582-32D2-6F38-AB1B3DCC6D29}"/>
              </a:ext>
            </a:extLst>
          </p:cNvPr>
          <p:cNvSpPr/>
          <p:nvPr/>
        </p:nvSpPr>
        <p:spPr>
          <a:xfrm>
            <a:off x="6766817" y="220177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02C5F9-8B6D-0DF1-040C-2D40974EAFE8}"/>
              </a:ext>
            </a:extLst>
          </p:cNvPr>
          <p:cNvSpPr/>
          <p:nvPr/>
        </p:nvSpPr>
        <p:spPr>
          <a:xfrm>
            <a:off x="7605016" y="4211128"/>
            <a:ext cx="1676399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b="1" i="1" dirty="0"/>
          </a:p>
        </p:txBody>
      </p:sp>
      <p:pic>
        <p:nvPicPr>
          <p:cNvPr id="31" name="Picture 4" descr="Intro to x86 Assembly with FASM – Coding">
            <a:extLst>
              <a:ext uri="{FF2B5EF4-FFF2-40B4-BE49-F238E27FC236}">
                <a16:creationId xmlns:a16="http://schemas.microsoft.com/office/drawing/2014/main" id="{BF6E4F2B-2EB4-0ACA-EDC8-A2A4EC14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062" y="3724228"/>
            <a:ext cx="2026514" cy="170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4F9741-801D-78CD-4995-12D9907C1E7C}"/>
              </a:ext>
            </a:extLst>
          </p:cNvPr>
          <p:cNvSpPr txBox="1"/>
          <p:nvPr/>
        </p:nvSpPr>
        <p:spPr>
          <a:xfrm>
            <a:off x="3962400" y="520504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[java]</a:t>
            </a:r>
          </a:p>
        </p:txBody>
      </p:sp>
    </p:spTree>
    <p:extLst>
      <p:ext uri="{BB962C8B-B14F-4D97-AF65-F5344CB8AC3E}">
        <p14:creationId xmlns:p14="http://schemas.microsoft.com/office/powerpoint/2010/main" val="82711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7B77E7-A10C-59C9-F933-7B57E1A9E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D6F94-EAEF-47A1-29DA-E912ECFD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TL;DR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BA4CA2C-0A9C-585C-60F7-8953D593124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89DD8A-6AEB-AAA2-3F21-554AC925E404}"/>
              </a:ext>
            </a:extLst>
          </p:cNvPr>
          <p:cNvSpPr txBox="1"/>
          <p:nvPr/>
        </p:nvSpPr>
        <p:spPr>
          <a:xfrm>
            <a:off x="1782723" y="5126797"/>
            <a:ext cx="9165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Both steps performed when we press RUN on the IDE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884BB8E2-CD2F-24EE-4766-DE60BE23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31007-323F-3C35-FBB9-FCBE39F65E5D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B784D-D091-3AC1-0DF6-4379730F242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7533D0-0505-CE0E-710A-DCE13F3D0234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FF4E2-41E6-A27C-D6B9-CF938C87C74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1A02A9-9137-2E8C-0611-0F2E25159F56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088C-CDAD-A8AE-B859-AA0128B9CFB0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865BB954-BFAD-5B1D-CB6D-7CD2AAF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B4FDD60-D06F-AFF4-D6DB-CF810F7EE179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8314C-D9ED-FFFA-D3F2-680951061D0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3644C-3433-6C37-255A-DB842901A3A6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66E787-B7FE-07C0-4EEB-3FB409A640DC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87A529D5-9756-5C86-68B9-2F6754AD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20B7AA0-0AD3-6AEA-B819-2D57056C5A79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4F1DB-A369-A3AC-7746-30416703DB5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14B39E-505D-1010-575D-611FC014BC35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</p:spTree>
    <p:extLst>
      <p:ext uri="{BB962C8B-B14F-4D97-AF65-F5344CB8AC3E}">
        <p14:creationId xmlns:p14="http://schemas.microsoft.com/office/powerpoint/2010/main" val="333012315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053F4-0A97-2C61-DA87-58704AD6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checks happen at compile time</a:t>
            </a:r>
          </a:p>
          <a:p>
            <a:pPr lvl="1"/>
            <a:r>
              <a:rPr lang="en-US" dirty="0"/>
              <a:t>Syntax checking</a:t>
            </a:r>
          </a:p>
          <a:p>
            <a:pPr lvl="1"/>
            <a:r>
              <a:rPr lang="en-US" dirty="0"/>
              <a:t>Type-checking, generic type checking </a:t>
            </a:r>
          </a:p>
          <a:p>
            <a:pPr lvl="1"/>
            <a:r>
              <a:rPr lang="en-US" dirty="0"/>
              <a:t>… and so on</a:t>
            </a:r>
          </a:p>
          <a:p>
            <a:r>
              <a:rPr lang="en-US" dirty="0"/>
              <a:t>Other checks happen at run time</a:t>
            </a:r>
          </a:p>
          <a:p>
            <a:pPr lvl="1"/>
            <a:r>
              <a:rPr lang="en-US" dirty="0"/>
              <a:t>Runtime polymorphism</a:t>
            </a:r>
          </a:p>
          <a:p>
            <a:pPr lvl="1"/>
            <a:r>
              <a:rPr lang="en-US" dirty="0"/>
              <a:t>Array index out of bounds access</a:t>
            </a:r>
          </a:p>
          <a:p>
            <a:pPr lvl="1"/>
            <a:r>
              <a:rPr lang="en-US" dirty="0"/>
              <a:t>Null pointer access</a:t>
            </a:r>
          </a:p>
          <a:p>
            <a:pPr lvl="1"/>
            <a:r>
              <a:rPr lang="en-US" dirty="0"/>
              <a:t>File not found checks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A958CC-2E4A-01B0-AB8A-394A44BB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FC3CD92-C4CB-A2AB-A816-DB794569690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665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82108C-7CA5-4A4A-0870-E26D284C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127A5-032A-1370-71F4-456CEA802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 reflection, proxies, and annotations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7855E-B874-CD4B-9E25-A46E84BBF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4043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10AE-4318-16EC-7677-073A21AF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C4ED01-1342-2ACE-ECBA-7BF6B5CC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Review: runtime polymorphism</a:t>
            </a:r>
          </a:p>
          <a:p>
            <a:r>
              <a:rPr lang="en-US" dirty="0"/>
              <a:t>Reflection (quick recap)</a:t>
            </a:r>
          </a:p>
          <a:p>
            <a:r>
              <a:rPr lang="en-US" dirty="0"/>
              <a:t>Annotations in detail</a:t>
            </a:r>
          </a:p>
          <a:p>
            <a:r>
              <a:rPr lang="en-US" dirty="0"/>
              <a:t>Hibernate demo</a:t>
            </a:r>
          </a:p>
          <a:p>
            <a:r>
              <a:rPr lang="en-US" dirty="0"/>
              <a:t>Misc. reflection-related topics</a:t>
            </a:r>
          </a:p>
          <a:p>
            <a:r>
              <a:rPr lang="en-US" dirty="0"/>
              <a:t>Proxy design pattern</a:t>
            </a:r>
          </a:p>
          <a:p>
            <a:r>
              <a:rPr lang="en-US" dirty="0"/>
              <a:t>Java dynamic proxies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5B87BC-5F43-C2C9-9604-28D1AFF0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EC0949-A1C8-664D-6142-4B875C59334B}"/>
              </a:ext>
            </a:extLst>
          </p:cNvPr>
          <p:cNvCxnSpPr/>
          <p:nvPr/>
        </p:nvCxnSpPr>
        <p:spPr>
          <a:xfrm>
            <a:off x="134815" y="4337538"/>
            <a:ext cx="11922369" cy="0"/>
          </a:xfrm>
          <a:prstGeom prst="line">
            <a:avLst/>
          </a:prstGeom>
          <a:ln w="254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6124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2065FC-FD89-FC2F-E398-E6772AF1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3B4968-48C8-CB5C-888D-6B8ADAD4E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object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Airplane extends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(“Airplane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Flyable f = new Flyable();</a:t>
            </a:r>
          </a:p>
          <a:p>
            <a:r>
              <a:rPr lang="en-US" dirty="0"/>
              <a:t>        Flyable fa = new Airplane();</a:t>
            </a:r>
          </a:p>
          <a:p>
            <a:r>
              <a:rPr lang="en-US" dirty="0"/>
              <a:t>        Airplane a = new Airplane();</a:t>
            </a:r>
          </a:p>
          <a:p>
            <a:r>
              <a:rPr lang="en-US" dirty="0"/>
              <a:t>        </a:t>
            </a:r>
            <a:r>
              <a:rPr lang="en-US" dirty="0" err="1"/>
              <a:t>f.fly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a.fly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E2C70D-C7CE-E89E-7407-6DAA672E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336500-3F13-81AB-729B-1CB43ED7CC3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What is runtime polymorphism?</a:t>
            </a:r>
          </a:p>
          <a:p>
            <a:r>
              <a:rPr lang="en-US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288242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B350C1-72C2-7118-C592-0D0ACD5A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5933F-86C4-EE90-B316-3B60D4D4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accelerating.”);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Vehicle v = new Car(); // This compiles</a:t>
            </a:r>
          </a:p>
          <a:p>
            <a:r>
              <a:rPr lang="en-US" dirty="0"/>
              <a:t>			      // A Car IS-A Vehicle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2AB3B7-0DA6-9682-2AEF-E89CD73F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56D37-F3FF-2E2C-7BAD-0AC6343D1FA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parent type reference can refer to a child type object</a:t>
            </a:r>
          </a:p>
        </p:txBody>
      </p:sp>
    </p:spTree>
    <p:extLst>
      <p:ext uri="{BB962C8B-B14F-4D97-AF65-F5344CB8AC3E}">
        <p14:creationId xmlns:p14="http://schemas.microsoft.com/office/powerpoint/2010/main" val="286042726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2A802F-43B3-0D34-DAD0-11086716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F0A8FA-13D0-62A0-0A65-D43DE6F5D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accelerating.”);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void </a:t>
            </a:r>
            <a:r>
              <a:rPr lang="en-US" dirty="0" err="1"/>
              <a:t>soundHorn</a:t>
            </a:r>
            <a:r>
              <a:rPr lang="en-US" dirty="0"/>
              <a:t>()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Vehicle v = new Car(); // This compiles</a:t>
            </a:r>
          </a:p>
          <a:p>
            <a:r>
              <a:rPr lang="en-US" dirty="0"/>
              <a:t>			      // A Car IS-A Vehicle</a:t>
            </a:r>
          </a:p>
          <a:p>
            <a:endParaRPr lang="en-US" dirty="0"/>
          </a:p>
          <a:p>
            <a:r>
              <a:rPr lang="en-US" dirty="0" err="1"/>
              <a:t>v.accelerate</a:t>
            </a:r>
            <a:r>
              <a:rPr lang="en-US" dirty="0"/>
              <a:t>(); // What does this print?</a:t>
            </a:r>
          </a:p>
          <a:p>
            <a:r>
              <a:rPr lang="en-US" dirty="0" err="1"/>
              <a:t>v.soundHorn</a:t>
            </a:r>
            <a:r>
              <a:rPr lang="en-US" dirty="0"/>
              <a:t>();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9A8737-086D-528A-7680-929DAA22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3EC51-3D1C-AAF3-98A3-B167509DD1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parent type reference can refer to a child type object</a:t>
            </a:r>
          </a:p>
          <a:p>
            <a:r>
              <a:rPr lang="en-US" dirty="0"/>
              <a:t>Invoking an overridden method results in the child’s method being invoked</a:t>
            </a:r>
          </a:p>
        </p:txBody>
      </p:sp>
    </p:spTree>
    <p:extLst>
      <p:ext uri="{BB962C8B-B14F-4D97-AF65-F5344CB8AC3E}">
        <p14:creationId xmlns:p14="http://schemas.microsoft.com/office/powerpoint/2010/main" val="402242703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7A1631-A85E-3C6E-58B4-29EC4D73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45FA90-E17D-E81C-FEEE-7E3F0F44B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object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Airplane extends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(“Airplane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Flyable f = new Flyable();</a:t>
            </a:r>
          </a:p>
          <a:p>
            <a:r>
              <a:rPr lang="en-US" dirty="0"/>
              <a:t>        Flyable fa = new Airplane();</a:t>
            </a:r>
          </a:p>
          <a:p>
            <a:r>
              <a:rPr lang="en-US" dirty="0"/>
              <a:t>        Airplane a = new Flyable();</a:t>
            </a:r>
          </a:p>
          <a:p>
            <a:r>
              <a:rPr lang="en-US" dirty="0"/>
              <a:t>        </a:t>
            </a:r>
            <a:r>
              <a:rPr lang="en-US" dirty="0" err="1"/>
              <a:t>f.fly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a.fly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8365DC-CB5B-9CE9-831E-33C60EF5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6AAF01-07F1-D624-C3E6-391B714826E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What happens if I compile and run?</a:t>
            </a:r>
          </a:p>
          <a:p>
            <a:r>
              <a:rPr lang="en-US" dirty="0"/>
              <a:t>An airplane is a flyable, but a flyable is not an airplane</a:t>
            </a:r>
          </a:p>
          <a:p>
            <a:r>
              <a:rPr lang="en-US" b="1" i="1" dirty="0"/>
              <a:t>Critical for understanding the next modules</a:t>
            </a:r>
          </a:p>
        </p:txBody>
      </p:sp>
    </p:spTree>
    <p:extLst>
      <p:ext uri="{BB962C8B-B14F-4D97-AF65-F5344CB8AC3E}">
        <p14:creationId xmlns:p14="http://schemas.microsoft.com/office/powerpoint/2010/main" val="11038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15412</TotalTime>
  <Words>15595</Words>
  <Application>Microsoft Office PowerPoint</Application>
  <PresentationFormat>Widescreen</PresentationFormat>
  <Paragraphs>2611</Paragraphs>
  <Slides>171</Slides>
  <Notes>63</Notes>
  <HiddenSlides>18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171</vt:i4>
      </vt:variant>
    </vt:vector>
  </HeadingPairs>
  <TitlesOfParts>
    <vt:vector size="178" baseType="lpstr">
      <vt:lpstr>Arial</vt:lpstr>
      <vt:lpstr>Calibri</vt:lpstr>
      <vt:lpstr>Consolas</vt:lpstr>
      <vt:lpstr>Helvetica</vt:lpstr>
      <vt:lpstr>ui-monospace</vt:lpstr>
      <vt:lpstr>Wingdings</vt:lpstr>
      <vt:lpstr>Preso 2022 Watertower Stats</vt:lpstr>
      <vt:lpstr>PowerPoint Presentation</vt:lpstr>
      <vt:lpstr>Agenda</vt:lpstr>
      <vt:lpstr>Next few topics</vt:lpstr>
      <vt:lpstr>Recall: Redis persistence from HW1</vt:lpstr>
      <vt:lpstr>Potential design</vt:lpstr>
      <vt:lpstr>Thought experiment</vt:lpstr>
      <vt:lpstr>Goal: reuse persistence code</vt:lpstr>
      <vt:lpstr>Goal: reuse persistence code</vt:lpstr>
      <vt:lpstr>Background</vt:lpstr>
      <vt:lpstr>Background</vt:lpstr>
      <vt:lpstr>Reflection and metaprogramming</vt:lpstr>
      <vt:lpstr>Reflection and metaprogramming</vt:lpstr>
      <vt:lpstr>Java reflection</vt:lpstr>
      <vt:lpstr>Key classes</vt:lpstr>
      <vt:lpstr>Key classes</vt:lpstr>
      <vt:lpstr>Key classes</vt:lpstr>
      <vt:lpstr>Key classes</vt:lpstr>
      <vt:lpstr>Reflection example</vt:lpstr>
      <vt:lpstr>Same reflection code works on all objects</vt:lpstr>
      <vt:lpstr>Reflection API</vt:lpstr>
      <vt:lpstr>Reflection demo</vt:lpstr>
      <vt:lpstr>Reflection demo Github link</vt:lpstr>
      <vt:lpstr>PowerPoint Presentation</vt:lpstr>
      <vt:lpstr>Announcements</vt:lpstr>
      <vt:lpstr>Agenda</vt:lpstr>
      <vt:lpstr>Reflection and metaprogramming</vt:lpstr>
      <vt:lpstr>Key classes</vt:lpstr>
      <vt:lpstr>Reflection recap</vt:lpstr>
      <vt:lpstr>Reflection recap</vt:lpstr>
      <vt:lpstr>Reflection and metaprogramming</vt:lpstr>
      <vt:lpstr>Why reflection?</vt:lpstr>
      <vt:lpstr>Possible ideas</vt:lpstr>
      <vt:lpstr>Possible ideas</vt:lpstr>
      <vt:lpstr>Possible ideas</vt:lpstr>
      <vt:lpstr>Possible ideas</vt:lpstr>
      <vt:lpstr>Why reflection?</vt:lpstr>
      <vt:lpstr>Reflection recap</vt:lpstr>
      <vt:lpstr>Loading all classes</vt:lpstr>
      <vt:lpstr>PowerPoint Presentation</vt:lpstr>
      <vt:lpstr>Reflection recap</vt:lpstr>
      <vt:lpstr>Discussion: design problem</vt:lpstr>
      <vt:lpstr>Discussion: design problem</vt:lpstr>
      <vt:lpstr>Design problem</vt:lpstr>
      <vt:lpstr>Design problem</vt:lpstr>
      <vt:lpstr>Design problem</vt:lpstr>
      <vt:lpstr>Drawback of previous approach</vt:lpstr>
      <vt:lpstr>Java annotations</vt:lpstr>
      <vt:lpstr>Annotation targets</vt:lpstr>
      <vt:lpstr>Annotations for compiler checks</vt:lpstr>
      <vt:lpstr>Few common predefined annotations</vt:lpstr>
      <vt:lpstr>Defining new annotations</vt:lpstr>
      <vt:lpstr>Recall: compilation toolchain</vt:lpstr>
      <vt:lpstr>Reflection can access annotations</vt:lpstr>
      <vt:lpstr>Drawback of previous approach</vt:lpstr>
      <vt:lpstr>Full solution</vt:lpstr>
      <vt:lpstr>Reflection (recap)</vt:lpstr>
      <vt:lpstr>Recall: compilation toolchain</vt:lpstr>
      <vt:lpstr>Annotations and retention policies</vt:lpstr>
      <vt:lpstr>Reflection + annotations: summary</vt:lpstr>
      <vt:lpstr>Distribute persistence framework as a library</vt:lpstr>
      <vt:lpstr>Object relational mapping (ORM) frameworks</vt:lpstr>
      <vt:lpstr>Unit testing frameworks</vt:lpstr>
      <vt:lpstr>… and more</vt:lpstr>
      <vt:lpstr>Downsides of reflection</vt:lpstr>
      <vt:lpstr>Latency hierarchy</vt:lpstr>
      <vt:lpstr>PowerPoint Presentation</vt:lpstr>
      <vt:lpstr>Agenda</vt:lpstr>
      <vt:lpstr>Reflection alternatives and optimizations</vt:lpstr>
      <vt:lpstr>Reflection alternatives and optimizations</vt:lpstr>
      <vt:lpstr>Bytecode instrumentation</vt:lpstr>
      <vt:lpstr>Bytecode instrumentation</vt:lpstr>
      <vt:lpstr>Runtime bytecode generation and manipulation</vt:lpstr>
      <vt:lpstr>Runtime bytecode generation and manipulation</vt:lpstr>
      <vt:lpstr>Reflection in JavaScript [Not in Syllabus]</vt:lpstr>
      <vt:lpstr>Reflection in C++ [Not in Syllabus]</vt:lpstr>
      <vt:lpstr>PowerPoint Presentation</vt:lpstr>
      <vt:lpstr>Agenda</vt:lpstr>
      <vt:lpstr>Background: super</vt:lpstr>
      <vt:lpstr>Design patterns – quick overview</vt:lpstr>
      <vt:lpstr>Proxy design pattern - what is a proxy object?</vt:lpstr>
      <vt:lpstr>The need for method “interception”</vt:lpstr>
      <vt:lpstr>How to specialize a class?</vt:lpstr>
      <vt:lpstr>Can pass LoggedJedis object to libGameEngine </vt:lpstr>
      <vt:lpstr>But can’t modify Jedis library</vt:lpstr>
      <vt:lpstr>But can’t modify Jedis library</vt:lpstr>
      <vt:lpstr>But can’t modify Jedis library</vt:lpstr>
      <vt:lpstr>Proxy object wraps and extends target class</vt:lpstr>
      <vt:lpstr>What did we gain?</vt:lpstr>
      <vt:lpstr>What are the limitations?</vt:lpstr>
      <vt:lpstr>Duplicated work</vt:lpstr>
      <vt:lpstr>Proxy goals</vt:lpstr>
      <vt:lpstr>Proxy goals</vt:lpstr>
      <vt:lpstr>Runtime bytecode generation and manipulation</vt:lpstr>
      <vt:lpstr>Proxying using Javassist (extra-credit HW2)</vt:lpstr>
      <vt:lpstr>Proxying using Javassist (extra-credit HW2)</vt:lpstr>
      <vt:lpstr>Proxying using Javassist (extra-credit HW2)</vt:lpstr>
      <vt:lpstr>Complete solution</vt:lpstr>
      <vt:lpstr>PowerPoint Presentation</vt:lpstr>
      <vt:lpstr>Agenda</vt:lpstr>
      <vt:lpstr>Announcements</vt:lpstr>
      <vt:lpstr>Announcements</vt:lpstr>
      <vt:lpstr>Proxies: recap</vt:lpstr>
      <vt:lpstr>Proxies: recap</vt:lpstr>
      <vt:lpstr>Proxies: recap</vt:lpstr>
      <vt:lpstr>Proxies: recap</vt:lpstr>
      <vt:lpstr>Proxies: recap</vt:lpstr>
      <vt:lpstr>Javassist … behind the scenes</vt:lpstr>
      <vt:lpstr>Demo</vt:lpstr>
      <vt:lpstr>Real world use cases of proxies</vt:lpstr>
      <vt:lpstr>Loading posts</vt:lpstr>
      <vt:lpstr>Loading posts</vt:lpstr>
      <vt:lpstr>Loading posts from Redis</vt:lpstr>
      <vt:lpstr>Lazy loading posts UI</vt:lpstr>
      <vt:lpstr>Lazy loading posts UI</vt:lpstr>
      <vt:lpstr>Mock UI code for posts</vt:lpstr>
      <vt:lpstr>Lazy loading replies</vt:lpstr>
      <vt:lpstr>Lazy loading replies</vt:lpstr>
      <vt:lpstr>Lazy loading replies</vt:lpstr>
      <vt:lpstr>Lazy loading replies</vt:lpstr>
      <vt:lpstr>Problem</vt:lpstr>
      <vt:lpstr>An option …</vt:lpstr>
      <vt:lpstr>PowerPoint Presentation</vt:lpstr>
      <vt:lpstr>Agenda</vt:lpstr>
      <vt:lpstr>Announcements</vt:lpstr>
      <vt:lpstr>Loading posts</vt:lpstr>
      <vt:lpstr>Lazy loading posts UI</vt:lpstr>
      <vt:lpstr>Lazy loading posts UI</vt:lpstr>
      <vt:lpstr>Proxies: recap</vt:lpstr>
      <vt:lpstr>Proxies for lazy loading</vt:lpstr>
      <vt:lpstr>Proxies for lazy loading</vt:lpstr>
      <vt:lpstr>Proxies for lazy loading</vt:lpstr>
      <vt:lpstr>Proxies for lazy loading</vt:lpstr>
      <vt:lpstr>Proxies for lazy loading</vt:lpstr>
      <vt:lpstr>Reflection + annotations + dynamic proxies</vt:lpstr>
      <vt:lpstr>Lazy loading</vt:lpstr>
      <vt:lpstr>PowerPoint Presentation</vt:lpstr>
      <vt:lpstr>Mocking overview</vt:lpstr>
      <vt:lpstr>Mocking overview</vt:lpstr>
      <vt:lpstr>Mockito overview</vt:lpstr>
      <vt:lpstr>Proxy can hijack functionality</vt:lpstr>
      <vt:lpstr>Proxy can hijack functionality</vt:lpstr>
      <vt:lpstr>Proxy can hijack functionality</vt:lpstr>
      <vt:lpstr>Mock an ArrayList</vt:lpstr>
      <vt:lpstr>Mock an ArrayList</vt:lpstr>
      <vt:lpstr>Writing a JUnit test with Mockito</vt:lpstr>
      <vt:lpstr>Concluding points</vt:lpstr>
      <vt:lpstr>Concluding points</vt:lpstr>
      <vt:lpstr>Summary</vt:lpstr>
      <vt:lpstr>Summary</vt:lpstr>
      <vt:lpstr>Summary</vt:lpstr>
      <vt:lpstr>Summary</vt:lpstr>
      <vt:lpstr>Summary</vt:lpstr>
      <vt:lpstr>Summary</vt:lpstr>
      <vt:lpstr>Java dynamic proxy</vt:lpstr>
      <vt:lpstr>Java dynamic proxy</vt:lpstr>
      <vt:lpstr>Java dynamic proxy</vt:lpstr>
      <vt:lpstr>Java dynamic proxy</vt:lpstr>
      <vt:lpstr>Motivation for proxies – lazy loading (extra-credit HW2)</vt:lpstr>
      <vt:lpstr>Motivation for proxies – lazy loading (extra-credit HW2)</vt:lpstr>
      <vt:lpstr>Motivation for proxies – lazy loading (extra-credit HW2)</vt:lpstr>
      <vt:lpstr>Recap: what is object code?</vt:lpstr>
      <vt:lpstr>What is object code?</vt:lpstr>
      <vt:lpstr>Java bytecode interpretation </vt:lpstr>
      <vt:lpstr>TL;DR</vt:lpstr>
      <vt:lpstr>Why does it matter?</vt:lpstr>
      <vt:lpstr>PowerPoint Presentation</vt:lpstr>
      <vt:lpstr>Agenda</vt:lpstr>
      <vt:lpstr>Runtime polymorphism</vt:lpstr>
      <vt:lpstr>Runtime polymorphism</vt:lpstr>
      <vt:lpstr>Runtime polymorphism</vt:lpstr>
      <vt:lpstr>Question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1546</cp:revision>
  <dcterms:created xsi:type="dcterms:W3CDTF">2019-06-30T03:25:06Z</dcterms:created>
  <dcterms:modified xsi:type="dcterms:W3CDTF">2025-10-31T21:00:37Z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