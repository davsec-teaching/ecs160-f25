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55"/>
  </p:notesMasterIdLst>
  <p:handoutMasterIdLst>
    <p:handoutMasterId r:id="rId156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8" r:id="rId38"/>
    <p:sldId id="452" r:id="rId39"/>
    <p:sldId id="456" r:id="rId40"/>
    <p:sldId id="459" r:id="rId41"/>
    <p:sldId id="450" r:id="rId42"/>
    <p:sldId id="460" r:id="rId43"/>
    <p:sldId id="461" r:id="rId44"/>
    <p:sldId id="462" r:id="rId45"/>
    <p:sldId id="463" r:id="rId46"/>
    <p:sldId id="336" r:id="rId47"/>
    <p:sldId id="258" r:id="rId48"/>
    <p:sldId id="261" r:id="rId49"/>
    <p:sldId id="259" r:id="rId50"/>
    <p:sldId id="260" r:id="rId51"/>
    <p:sldId id="264" r:id="rId52"/>
    <p:sldId id="321" r:id="rId53"/>
    <p:sldId id="323" r:id="rId54"/>
    <p:sldId id="337" r:id="rId55"/>
    <p:sldId id="338" r:id="rId56"/>
    <p:sldId id="354" r:id="rId57"/>
    <p:sldId id="355" r:id="rId58"/>
    <p:sldId id="294" r:id="rId59"/>
    <p:sldId id="273" r:id="rId60"/>
    <p:sldId id="275" r:id="rId61"/>
    <p:sldId id="274" r:id="rId62"/>
    <p:sldId id="271" r:id="rId63"/>
    <p:sldId id="272" r:id="rId64"/>
    <p:sldId id="340" r:id="rId65"/>
    <p:sldId id="345" r:id="rId66"/>
    <p:sldId id="464" r:id="rId67"/>
    <p:sldId id="465" r:id="rId68"/>
    <p:sldId id="346" r:id="rId69"/>
    <p:sldId id="344" r:id="rId70"/>
    <p:sldId id="466" r:id="rId71"/>
    <p:sldId id="467" r:id="rId72"/>
    <p:sldId id="347" r:id="rId73"/>
    <p:sldId id="342" r:id="rId74"/>
    <p:sldId id="343" r:id="rId75"/>
    <p:sldId id="381" r:id="rId76"/>
    <p:sldId id="382" r:id="rId77"/>
    <p:sldId id="393" r:id="rId78"/>
    <p:sldId id="257" r:id="rId79"/>
    <p:sldId id="391" r:id="rId80"/>
    <p:sldId id="350" r:id="rId81"/>
    <p:sldId id="392" r:id="rId82"/>
    <p:sldId id="394" r:id="rId83"/>
    <p:sldId id="395" r:id="rId84"/>
    <p:sldId id="396" r:id="rId85"/>
    <p:sldId id="397" r:id="rId86"/>
    <p:sldId id="361" r:id="rId87"/>
    <p:sldId id="400" r:id="rId88"/>
    <p:sldId id="349" r:id="rId89"/>
    <p:sldId id="380" r:id="rId90"/>
    <p:sldId id="366" r:id="rId91"/>
    <p:sldId id="402" r:id="rId92"/>
    <p:sldId id="368" r:id="rId93"/>
    <p:sldId id="398" r:id="rId94"/>
    <p:sldId id="407" r:id="rId95"/>
    <p:sldId id="399" r:id="rId96"/>
    <p:sldId id="371" r:id="rId97"/>
    <p:sldId id="414" r:id="rId98"/>
    <p:sldId id="413" r:id="rId99"/>
    <p:sldId id="416" r:id="rId100"/>
    <p:sldId id="415" r:id="rId101"/>
    <p:sldId id="372" r:id="rId102"/>
    <p:sldId id="411" r:id="rId103"/>
    <p:sldId id="412" r:id="rId104"/>
    <p:sldId id="410" r:id="rId105"/>
    <p:sldId id="417" r:id="rId106"/>
    <p:sldId id="418" r:id="rId107"/>
    <p:sldId id="419" r:id="rId108"/>
    <p:sldId id="420" r:id="rId109"/>
    <p:sldId id="421" r:id="rId110"/>
    <p:sldId id="422" r:id="rId111"/>
    <p:sldId id="423" r:id="rId112"/>
    <p:sldId id="424" r:id="rId113"/>
    <p:sldId id="426" r:id="rId114"/>
    <p:sldId id="427" r:id="rId115"/>
    <p:sldId id="405" r:id="rId116"/>
    <p:sldId id="430" r:id="rId117"/>
    <p:sldId id="429" r:id="rId118"/>
    <p:sldId id="401" r:id="rId119"/>
    <p:sldId id="378" r:id="rId120"/>
    <p:sldId id="432" r:id="rId121"/>
    <p:sldId id="262" r:id="rId122"/>
    <p:sldId id="433" r:id="rId123"/>
    <p:sldId id="270" r:id="rId124"/>
    <p:sldId id="434" r:id="rId125"/>
    <p:sldId id="435" r:id="rId126"/>
    <p:sldId id="436" r:id="rId127"/>
    <p:sldId id="431" r:id="rId128"/>
    <p:sldId id="263" r:id="rId129"/>
    <p:sldId id="408" r:id="rId130"/>
    <p:sldId id="409" r:id="rId131"/>
    <p:sldId id="376" r:id="rId132"/>
    <p:sldId id="403" r:id="rId133"/>
    <p:sldId id="404" r:id="rId134"/>
    <p:sldId id="406" r:id="rId135"/>
    <p:sldId id="377" r:id="rId136"/>
    <p:sldId id="348" r:id="rId137"/>
    <p:sldId id="364" r:id="rId138"/>
    <p:sldId id="369" r:id="rId139"/>
    <p:sldId id="365" r:id="rId140"/>
    <p:sldId id="373" r:id="rId141"/>
    <p:sldId id="374" r:id="rId142"/>
    <p:sldId id="375" r:id="rId143"/>
    <p:sldId id="316" r:id="rId144"/>
    <p:sldId id="317" r:id="rId145"/>
    <p:sldId id="318" r:id="rId146"/>
    <p:sldId id="437" r:id="rId147"/>
    <p:sldId id="320" r:id="rId148"/>
    <p:sldId id="352" r:id="rId149"/>
    <p:sldId id="353" r:id="rId150"/>
    <p:sldId id="357" r:id="rId151"/>
    <p:sldId id="358" r:id="rId152"/>
    <p:sldId id="359" r:id="rId153"/>
    <p:sldId id="360" r:id="rId15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DDDDFF"/>
    <a:srgbClr val="B9B9FF"/>
    <a:srgbClr val="0000FF"/>
    <a:srgbClr val="003399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78" autoAdjust="0"/>
  </p:normalViewPr>
  <p:slideViewPr>
    <p:cSldViewPr snapToGrid="0">
      <p:cViewPr varScale="1">
        <p:scale>
          <a:sx n="119" d="100"/>
          <a:sy n="119" d="100"/>
        </p:scale>
        <p:origin x="435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handoutMaster" Target="handoutMasters/handout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microsoft.com/office/2015/10/relationships/revisionInfo" Target="revisionInfo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microsoft.com/office/2018/10/relationships/authors" Target="author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Do another recap of proxies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We’ve been talking about lazy loading for a while</a:t>
            </a:r>
          </a:p>
        </p:txBody>
      </p:sp>
    </p:spTree>
    <p:extLst>
      <p:ext uri="{BB962C8B-B14F-4D97-AF65-F5344CB8AC3E}">
        <p14:creationId xmlns:p14="http://schemas.microsoft.com/office/powerpoint/2010/main" val="8711460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17,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17,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Friday, October 17,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CAB537-15A3-C239-8C9F-524030D4E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743A-1F5A-AA77-6640-BB92E82404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Reflection, annotations, proxies</a:t>
            </a:r>
          </a:p>
        </p:txBody>
      </p:sp>
    </p:spTree>
    <p:extLst>
      <p:ext uri="{BB962C8B-B14F-4D97-AF65-F5344CB8AC3E}">
        <p14:creationId xmlns:p14="http://schemas.microsoft.com/office/powerpoint/2010/main" val="322872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A25-8951-201A-8758-74304594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D515A7-FB73-7C40-6D81-B9491664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 // equivalent to calling </a:t>
            </a:r>
            <a:r>
              <a:rPr lang="en-US" dirty="0" err="1">
                <a:latin typeface="Consolas" panose="020B0609020204030204" pitchFamily="49" charset="0"/>
              </a:rPr>
              <a:t>obj.m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 // equivalent to </a:t>
            </a:r>
            <a:r>
              <a:rPr lang="en-US" dirty="0" err="1">
                <a:latin typeface="Consolas" panose="020B0609020204030204" pitchFamily="49" charset="0"/>
              </a:rPr>
              <a:t>obj.f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Load classes using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ClassLoader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C05F55-8B6B-8F37-076C-2393D9C98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7995163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41676B-5781-067B-2D32-192EFCDF6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Auto-wiring</a:t>
            </a:r>
          </a:p>
          <a:p>
            <a:r>
              <a:rPr lang="en-US" dirty="0"/>
              <a:t>Can’t express </a:t>
            </a:r>
            <a:r>
              <a:rPr lang="en-US" dirty="0" err="1"/>
              <a:t>autowiring</a:t>
            </a:r>
            <a:r>
              <a:rPr lang="en-US" dirty="0"/>
              <a:t> using compile time reflection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656550-DD39-5BC7-5D88-BB8D35D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722553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 and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B8E175-B6FC-7489-C9D6-ED757B3EE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(conclusion)</a:t>
            </a:r>
          </a:p>
          <a:p>
            <a:r>
              <a:rPr lang="en-US" dirty="0"/>
              <a:t>Proxies</a:t>
            </a:r>
          </a:p>
          <a:p>
            <a:pPr lvl="1"/>
            <a:r>
              <a:rPr lang="en-US" dirty="0"/>
              <a:t>Static proxies</a:t>
            </a:r>
          </a:p>
          <a:p>
            <a:pPr lvl="1"/>
            <a:r>
              <a:rPr lang="en-US" dirty="0"/>
              <a:t>Dynamic proxies</a:t>
            </a:r>
          </a:p>
          <a:p>
            <a:r>
              <a:rPr lang="en-US" dirty="0"/>
              <a:t>Proxy use-cases</a:t>
            </a:r>
          </a:p>
          <a:p>
            <a:pPr lvl="1"/>
            <a:r>
              <a:rPr lang="en-US" dirty="0"/>
              <a:t>Lazy-loading</a:t>
            </a:r>
          </a:p>
          <a:p>
            <a:pPr lvl="1"/>
            <a:r>
              <a:rPr lang="en-US" dirty="0"/>
              <a:t>Mock-testing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F1BA0-8F16-65CB-8245-12C87258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E99A68-2416-190C-2C2F-8E3E82682A69}"/>
              </a:ext>
            </a:extLst>
          </p:cNvPr>
          <p:cNvCxnSpPr/>
          <p:nvPr/>
        </p:nvCxnSpPr>
        <p:spPr>
          <a:xfrm>
            <a:off x="0" y="3318933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21607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342185" y="3161691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atin typeface="Consolas" panose="020B0609020204030204" pitchFamily="49" charset="0"/>
              </a:rPr>
              <a:t>javac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atin typeface="Consolas" panose="020B0609020204030204" pitchFamily="49" charset="0"/>
              </a:rPr>
              <a:t>javac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super.executeQuery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F9FA-3BEB-C027-4D9B-D7C7CC1E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C56DD47-3F7A-BC22-597C-1625A0963DF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93581-EA23-91F2-69DE-5D0E919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364A63B1-2A9F-C6C7-A56E-B9D936C8C574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7D135-7207-0E3B-9D17-14E7262403C4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9E116-71D5-BF4B-637D-54EBDA7CB197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72D97-1A2A-B4C4-D006-4429052A4E47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BF9EA-3273-5372-4BF1-87D69F3D47C8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65F82-9EEB-A061-FB41-E270F910792B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36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678BC-17DD-26D3-93FC-6345362A461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dynamically create proxies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arbitrary additional functionality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Jedis 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(jedis);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Student 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(student);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F48F75-8A42-E0F2-9369-1F138751715A}"/>
              </a:ext>
            </a:extLst>
          </p:cNvPr>
          <p:cNvSpPr/>
          <p:nvPr/>
        </p:nvSpPr>
        <p:spPr>
          <a:xfrm>
            <a:off x="6176511" y="785004"/>
            <a:ext cx="5874811" cy="4903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EF526-380D-7A73-63C4-F39E94A5562D}"/>
              </a:ext>
            </a:extLst>
          </p:cNvPr>
          <p:cNvSpPr txBox="1"/>
          <p:nvPr/>
        </p:nvSpPr>
        <p:spPr>
          <a:xfrm>
            <a:off x="8444115" y="415672"/>
            <a:ext cx="3823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Create proxy of any object of any type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779EC3-1A7D-5148-0BEA-B421DFDE62BA}"/>
              </a:ext>
            </a:extLst>
          </p:cNvPr>
          <p:cNvSpPr/>
          <p:nvPr/>
        </p:nvSpPr>
        <p:spPr>
          <a:xfrm>
            <a:off x="6176511" y="1819719"/>
            <a:ext cx="5874811" cy="219882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build="allAtOnce"/>
      <p:bldP spid="8" grpId="0" animBg="1"/>
      <p:bldP spid="8" grpId="1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pPr lvl="1"/>
            <a:r>
              <a:rPr lang="en-US" dirty="0"/>
              <a:t>And likely multiple other OO rules</a:t>
            </a: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8C2A9-6D78-6924-1812-7A065B67B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9836D2-A4FD-3A7A-203C-D5C71C076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4444BF3-7E39-1523-202E-3A133DB8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3C365-ECCC-1080-E695-52EA5E4AE29A}"/>
              </a:ext>
            </a:extLst>
          </p:cNvPr>
          <p:cNvSpPr/>
          <p:nvPr/>
        </p:nvSpPr>
        <p:spPr>
          <a:xfrm>
            <a:off x="3785239" y="3071328"/>
            <a:ext cx="462152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lazy loading</a:t>
            </a:r>
          </a:p>
        </p:txBody>
      </p:sp>
    </p:spTree>
    <p:extLst>
      <p:ext uri="{BB962C8B-B14F-4D97-AF65-F5344CB8AC3E}">
        <p14:creationId xmlns:p14="http://schemas.microsoft.com/office/powerpoint/2010/main" val="314828839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18" y="1794445"/>
            <a:ext cx="5633413" cy="5046453"/>
          </a:xfrm>
        </p:spPr>
        <p:txBody>
          <a:bodyPr/>
          <a:lstStyle/>
          <a:p>
            <a:r>
              <a:rPr lang="en-US" dirty="0"/>
              <a:t>	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4620126" y="2334126"/>
            <a:ext cx="3718723" cy="2355104"/>
          </a:xfrm>
          <a:prstGeom prst="curvedConnector4">
            <a:avLst>
              <a:gd name="adj1" fmla="val 46926"/>
              <a:gd name="adj2" fmla="val 115837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956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reply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2987386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9248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13929</TotalTime>
  <Words>13525</Words>
  <Application>Microsoft Office PowerPoint</Application>
  <PresentationFormat>Widescreen</PresentationFormat>
  <Paragraphs>2261</Paragraphs>
  <Slides>153</Slides>
  <Notes>58</Notes>
  <HiddenSlides>18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153</vt:i4>
      </vt:variant>
    </vt:vector>
  </HeadingPairs>
  <TitlesOfParts>
    <vt:vector size="159" baseType="lpstr">
      <vt:lpstr>Arial</vt:lpstr>
      <vt:lpstr>Calibri</vt:lpstr>
      <vt:lpstr>Consolas</vt:lpstr>
      <vt:lpstr>Helvetica</vt:lpstr>
      <vt:lpstr>ui-monospace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PowerPoint Presentation</vt:lpstr>
      <vt:lpstr>Reflection recap</vt:lpstr>
      <vt:lpstr>Discussion: design problem</vt:lpstr>
      <vt:lpstr>Discussion: design problem</vt:lpstr>
      <vt:lpstr>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Agenda</vt:lpstr>
      <vt:lpstr>Reflection alternatives and optimizations</vt:lpstr>
      <vt:lpstr>Runtime bytecode generation and manipulation</vt:lpstr>
      <vt:lpstr>Bytecode instrumentation</vt:lpstr>
      <vt:lpstr>Bytecode instrumentation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Proxies: recap</vt:lpstr>
      <vt:lpstr>Proxies: recap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Proxies: recap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1439</cp:revision>
  <dcterms:created xsi:type="dcterms:W3CDTF">2019-06-30T03:25:06Z</dcterms:created>
  <dcterms:modified xsi:type="dcterms:W3CDTF">2025-10-17T18:41:42Z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