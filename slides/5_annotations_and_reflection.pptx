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72"/>
  </p:notesMasterIdLst>
  <p:handoutMasterIdLst>
    <p:handoutMasterId r:id="rId173"/>
  </p:handoutMasterIdLst>
  <p:sldIdLst>
    <p:sldId id="256" r:id="rId2"/>
    <p:sldId id="438" r:id="rId3"/>
    <p:sldId id="279" r:id="rId4"/>
    <p:sldId id="277" r:id="rId5"/>
    <p:sldId id="278" r:id="rId6"/>
    <p:sldId id="282" r:id="rId7"/>
    <p:sldId id="283" r:id="rId8"/>
    <p:sldId id="443" r:id="rId9"/>
    <p:sldId id="330" r:id="rId10"/>
    <p:sldId id="291" r:id="rId11"/>
    <p:sldId id="265" r:id="rId12"/>
    <p:sldId id="442" r:id="rId13"/>
    <p:sldId id="289" r:id="rId14"/>
    <p:sldId id="266" r:id="rId15"/>
    <p:sldId id="440" r:id="rId16"/>
    <p:sldId id="439" r:id="rId17"/>
    <p:sldId id="441" r:id="rId18"/>
    <p:sldId id="267" r:id="rId19"/>
    <p:sldId id="285" r:id="rId20"/>
    <p:sldId id="287" r:id="rId21"/>
    <p:sldId id="290" r:id="rId22"/>
    <p:sldId id="324" r:id="rId23"/>
    <p:sldId id="325" r:id="rId24"/>
    <p:sldId id="451" r:id="rId25"/>
    <p:sldId id="453" r:id="rId26"/>
    <p:sldId id="444" r:id="rId27"/>
    <p:sldId id="449" r:id="rId28"/>
    <p:sldId id="327" r:id="rId29"/>
    <p:sldId id="341" r:id="rId30"/>
    <p:sldId id="454" r:id="rId31"/>
    <p:sldId id="328" r:id="rId32"/>
    <p:sldId id="331" r:id="rId33"/>
    <p:sldId id="333" r:id="rId34"/>
    <p:sldId id="332" r:id="rId35"/>
    <p:sldId id="335" r:id="rId36"/>
    <p:sldId id="329" r:id="rId37"/>
    <p:sldId id="458" r:id="rId38"/>
    <p:sldId id="452" r:id="rId39"/>
    <p:sldId id="456" r:id="rId40"/>
    <p:sldId id="459" r:id="rId41"/>
    <p:sldId id="450" r:id="rId42"/>
    <p:sldId id="460" r:id="rId43"/>
    <p:sldId id="461" r:id="rId44"/>
    <p:sldId id="462" r:id="rId45"/>
    <p:sldId id="463" r:id="rId46"/>
    <p:sldId id="336" r:id="rId47"/>
    <p:sldId id="258" r:id="rId48"/>
    <p:sldId id="261" r:id="rId49"/>
    <p:sldId id="259" r:id="rId50"/>
    <p:sldId id="260" r:id="rId51"/>
    <p:sldId id="264" r:id="rId52"/>
    <p:sldId id="321" r:id="rId53"/>
    <p:sldId id="323" r:id="rId54"/>
    <p:sldId id="337" r:id="rId55"/>
    <p:sldId id="338" r:id="rId56"/>
    <p:sldId id="354" r:id="rId57"/>
    <p:sldId id="355" r:id="rId58"/>
    <p:sldId id="294" r:id="rId59"/>
    <p:sldId id="273" r:id="rId60"/>
    <p:sldId id="275" r:id="rId61"/>
    <p:sldId id="274" r:id="rId62"/>
    <p:sldId id="271" r:id="rId63"/>
    <p:sldId id="272" r:id="rId64"/>
    <p:sldId id="340" r:id="rId65"/>
    <p:sldId id="345" r:id="rId66"/>
    <p:sldId id="464" r:id="rId67"/>
    <p:sldId id="465" r:id="rId68"/>
    <p:sldId id="346" r:id="rId69"/>
    <p:sldId id="468" r:id="rId70"/>
    <p:sldId id="466" r:id="rId71"/>
    <p:sldId id="467" r:id="rId72"/>
    <p:sldId id="344" r:id="rId73"/>
    <p:sldId id="347" r:id="rId74"/>
    <p:sldId id="342" r:id="rId75"/>
    <p:sldId id="343" r:id="rId76"/>
    <p:sldId id="381" r:id="rId77"/>
    <p:sldId id="382" r:id="rId78"/>
    <p:sldId id="393" r:id="rId79"/>
    <p:sldId id="257" r:id="rId80"/>
    <p:sldId id="391" r:id="rId81"/>
    <p:sldId id="350" r:id="rId82"/>
    <p:sldId id="392" r:id="rId83"/>
    <p:sldId id="394" r:id="rId84"/>
    <p:sldId id="395" r:id="rId85"/>
    <p:sldId id="396" r:id="rId86"/>
    <p:sldId id="397" r:id="rId87"/>
    <p:sldId id="361" r:id="rId88"/>
    <p:sldId id="400" r:id="rId89"/>
    <p:sldId id="349" r:id="rId90"/>
    <p:sldId id="380" r:id="rId91"/>
    <p:sldId id="366" r:id="rId92"/>
    <p:sldId id="402" r:id="rId93"/>
    <p:sldId id="368" r:id="rId94"/>
    <p:sldId id="398" r:id="rId95"/>
    <p:sldId id="407" r:id="rId96"/>
    <p:sldId id="399" r:id="rId97"/>
    <p:sldId id="371" r:id="rId98"/>
    <p:sldId id="414" r:id="rId99"/>
    <p:sldId id="473" r:id="rId100"/>
    <p:sldId id="474" r:id="rId101"/>
    <p:sldId id="475" r:id="rId102"/>
    <p:sldId id="413" r:id="rId103"/>
    <p:sldId id="469" r:id="rId104"/>
    <p:sldId id="416" r:id="rId105"/>
    <p:sldId id="470" r:id="rId106"/>
    <p:sldId id="471" r:id="rId107"/>
    <p:sldId id="472" r:id="rId108"/>
    <p:sldId id="415" r:id="rId109"/>
    <p:sldId id="372" r:id="rId110"/>
    <p:sldId id="411" r:id="rId111"/>
    <p:sldId id="412" r:id="rId112"/>
    <p:sldId id="410" r:id="rId113"/>
    <p:sldId id="417" r:id="rId114"/>
    <p:sldId id="418" r:id="rId115"/>
    <p:sldId id="419" r:id="rId116"/>
    <p:sldId id="420" r:id="rId117"/>
    <p:sldId id="421" r:id="rId118"/>
    <p:sldId id="422" r:id="rId119"/>
    <p:sldId id="423" r:id="rId120"/>
    <p:sldId id="424" r:id="rId121"/>
    <p:sldId id="478" r:id="rId122"/>
    <p:sldId id="479" r:id="rId123"/>
    <p:sldId id="484" r:id="rId124"/>
    <p:sldId id="480" r:id="rId125"/>
    <p:sldId id="476" r:id="rId126"/>
    <p:sldId id="477" r:id="rId127"/>
    <p:sldId id="427" r:id="rId128"/>
    <p:sldId id="405" r:id="rId129"/>
    <p:sldId id="430" r:id="rId130"/>
    <p:sldId id="481" r:id="rId131"/>
    <p:sldId id="482" r:id="rId132"/>
    <p:sldId id="429" r:id="rId133"/>
    <p:sldId id="401" r:id="rId134"/>
    <p:sldId id="378" r:id="rId135"/>
    <p:sldId id="432" r:id="rId136"/>
    <p:sldId id="262" r:id="rId137"/>
    <p:sldId id="433" r:id="rId138"/>
    <p:sldId id="270" r:id="rId139"/>
    <p:sldId id="434" r:id="rId140"/>
    <p:sldId id="435" r:id="rId141"/>
    <p:sldId id="436" r:id="rId142"/>
    <p:sldId id="431" r:id="rId143"/>
    <p:sldId id="485" r:id="rId144"/>
    <p:sldId id="263" r:id="rId145"/>
    <p:sldId id="408" r:id="rId146"/>
    <p:sldId id="409" r:id="rId147"/>
    <p:sldId id="376" r:id="rId148"/>
    <p:sldId id="483" r:id="rId149"/>
    <p:sldId id="403" r:id="rId150"/>
    <p:sldId id="404" r:id="rId151"/>
    <p:sldId id="406" r:id="rId152"/>
    <p:sldId id="377" r:id="rId153"/>
    <p:sldId id="348" r:id="rId154"/>
    <p:sldId id="364" r:id="rId155"/>
    <p:sldId id="369" r:id="rId156"/>
    <p:sldId id="365" r:id="rId157"/>
    <p:sldId id="373" r:id="rId158"/>
    <p:sldId id="374" r:id="rId159"/>
    <p:sldId id="375" r:id="rId160"/>
    <p:sldId id="316" r:id="rId161"/>
    <p:sldId id="317" r:id="rId162"/>
    <p:sldId id="318" r:id="rId163"/>
    <p:sldId id="437" r:id="rId164"/>
    <p:sldId id="320" r:id="rId165"/>
    <p:sldId id="352" r:id="rId166"/>
    <p:sldId id="353" r:id="rId167"/>
    <p:sldId id="357" r:id="rId168"/>
    <p:sldId id="358" r:id="rId169"/>
    <p:sldId id="359" r:id="rId170"/>
    <p:sldId id="360" r:id="rId171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D5D5"/>
    <a:srgbClr val="B9B9FF"/>
    <a:srgbClr val="B8B8B8"/>
    <a:srgbClr val="DDDDFF"/>
    <a:srgbClr val="0000FF"/>
    <a:srgbClr val="003399"/>
    <a:srgbClr val="E6E0EC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119" d="100"/>
          <a:sy n="119" d="100"/>
        </p:scale>
        <p:origin x="435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ableStyles" Target="tableStyles.xml"/><Relationship Id="rId172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presProps" Target="presProps.xml"/><Relationship Id="rId179" Type="http://schemas.microsoft.com/office/2015/10/relationships/revisionInfo" Target="revisionInfo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microsoft.com/office/2018/10/relationships/authors" Target="author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viewProps" Target="view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C050-FAAC-FA69-8F0A-F8053EA71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6AF15-7103-F9C5-2507-B69123344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A0CA-CE56-0E4D-EDB5-2DCA5D643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5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90AAC-9122-941C-3F0A-E272BD85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E953B-EA84-C09F-D446-DF2B695E0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2091B-0BD4-B922-097D-F90C28F5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41933776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63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3454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/>
              <a:t>Common design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73671-BF6F-7730-74DF-3DF303D7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32572-338B-B7C6-1A6B-C8CF61CDA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075C1C-C6FA-68EE-C840-27F5473F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609772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9AC66-5250-6A19-3E03-EF55062C5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723362-C40A-1D6E-8195-0BBC8C2A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DA588E-1F9E-DEDD-78D5-B1353A901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8707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7227-EE9A-CCBB-7E50-E07C535E2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26EAD9-2FCB-3FF5-E7F3-97B9CB831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3B4DD-8DF5-3A9F-4B5F-36E6E5C01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06584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3865-F2AC-F4CC-41DC-C5DE5A603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1A7BD-1492-3776-B176-ECC34CAFC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E4BBD7-A830-A540-6318-791B159D4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559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BEC5-EC88-737E-2B95-17D1E51C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4C3B-CBD3-F05F-1702-5F529B41EF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29726-9A61-926B-EE08-0B710C3E1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236500092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22,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22,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22,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22,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Wednesday, October 22,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javassist_demo" TargetMode="Externa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eg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6F8AE3-17D0-9984-24F0-86E176671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reflection</a:t>
            </a:r>
          </a:p>
          <a:p>
            <a:r>
              <a:rPr lang="en-US" dirty="0"/>
              <a:t>Quiz (10 minute)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CEE2A2-23A4-F37A-DE2E-494D77ED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6558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Focus shifts from individual programmer perspective</a:t>
            </a:r>
          </a:p>
          <a:p>
            <a:r>
              <a:rPr lang="en-US" dirty="0"/>
              <a:t>Focus more on the larger software eco-system</a:t>
            </a:r>
          </a:p>
          <a:p>
            <a:r>
              <a:rPr lang="en-US" dirty="0"/>
              <a:t>How do you design code that can be easily reused by others?</a:t>
            </a:r>
          </a:p>
          <a:p>
            <a:pPr lvl="1"/>
            <a:r>
              <a:rPr lang="en-US" dirty="0"/>
              <a:t>How do we design frameworks and libraries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reduces </a:t>
            </a:r>
            <a:r>
              <a:rPr lang="en-US" dirty="0"/>
              <a:t>programmer effort?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ensures</a:t>
            </a:r>
            <a:r>
              <a:rPr lang="en-US" dirty="0"/>
              <a:t> the programmer cannot </a:t>
            </a:r>
            <a:r>
              <a:rPr lang="en-US" i="1" dirty="0"/>
              <a:t>accidentally</a:t>
            </a:r>
            <a:r>
              <a:rPr lang="en-US" dirty="0"/>
              <a:t> misuse it? </a:t>
            </a:r>
          </a:p>
          <a:p>
            <a:pPr lvl="3"/>
            <a:r>
              <a:rPr lang="en-US" dirty="0"/>
              <a:t>You assume </a:t>
            </a:r>
            <a:r>
              <a:rPr lang="en-US" dirty="0" err="1">
                <a:latin typeface="Consolas" panose="020B0609020204030204" pitchFamily="49" charset="0"/>
              </a:rPr>
              <a:t>methodA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is invoked </a:t>
            </a:r>
            <a:r>
              <a:rPr lang="en-US" i="1" dirty="0"/>
              <a:t>before </a:t>
            </a:r>
            <a:r>
              <a:rPr lang="en-US" dirty="0" err="1">
                <a:latin typeface="Consolas" panose="020B0609020204030204" pitchFamily="49" charset="0"/>
              </a:rPr>
              <a:t>methodB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but the programmer might not know this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you design the Redis persistence class? 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Redis persistence from HW1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Student implements </a:t>
            </a:r>
            <a:r>
              <a:rPr lang="en-US" dirty="0" err="1"/>
              <a:t>Persistable</a:t>
            </a:r>
            <a:r>
              <a:rPr lang="en-US" dirty="0"/>
              <a:t>{ </a:t>
            </a:r>
          </a:p>
          <a:p>
            <a:r>
              <a:rPr lang="en-US" dirty="0"/>
              <a:t>	void serialize() { return String(id + name + age + …);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Persistable</a:t>
            </a:r>
            <a:r>
              <a:rPr lang="en-US" dirty="0"/>
              <a:t> { void persist(String id, </a:t>
            </a:r>
            <a:r>
              <a:rPr lang="en-US" dirty="0" err="1"/>
              <a:t>Stirng</a:t>
            </a:r>
            <a:r>
              <a:rPr lang="en-US" dirty="0"/>
              <a:t> value) { </a:t>
            </a:r>
            <a:r>
              <a:rPr lang="en-US" dirty="0" err="1"/>
              <a:t>jedis.hset</a:t>
            </a:r>
            <a:r>
              <a:rPr lang="en-US" dirty="0"/>
              <a:t>(id, value);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Post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Imagine HW2 assignment asks you to do the following - </a:t>
            </a:r>
          </a:p>
          <a:p>
            <a:r>
              <a:rPr lang="en-US" dirty="0"/>
              <a:t>Design classes for social </a:t>
            </a:r>
            <a:r>
              <a:rPr lang="en-US"/>
              <a:t>media platform</a:t>
            </a:r>
            <a:endParaRPr lang="en-US" dirty="0"/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I wrote the persistence code once, why should I have to write it again?</a:t>
            </a:r>
          </a:p>
          <a:p>
            <a:r>
              <a:rPr lang="en-US" b="1" i="1" dirty="0"/>
              <a:t>… what are the options?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Instance method invocation</a:t>
            </a:r>
          </a:p>
          <a:p>
            <a:pPr lvl="1"/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Not applicable to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static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functions [in Java]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], Rust macros)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all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b="1" i="1" dirty="0"/>
              <a:t>… what can we do with these objects of type Class, Method, Field, </a:t>
            </a:r>
            <a:r>
              <a:rPr lang="en-US" b="1" i="1" dirty="0" err="1"/>
              <a:t>etc</a:t>
            </a:r>
            <a:r>
              <a:rPr lang="en-US" b="1" i="1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getters in an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455670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57060" y="3710132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964594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 and then “Welcome to ECS 160”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b="1" i="1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282EC0-7B3F-D9A9-43A7-472DAFB4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B35606-7EF2-6F65-DDEE-FE87B7FBCB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000" dirty="0"/>
              <a:t>Java reflection, proxies, and annotations</a:t>
            </a:r>
          </a:p>
        </p:txBody>
      </p:sp>
    </p:spTree>
    <p:extLst>
      <p:ext uri="{BB962C8B-B14F-4D97-AF65-F5344CB8AC3E}">
        <p14:creationId xmlns:p14="http://schemas.microsoft.com/office/powerpoint/2010/main" val="669124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AD2B5D-F965-B793-0B97-6923BE39B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working on your assignments!</a:t>
            </a:r>
          </a:p>
          <a:p>
            <a:r>
              <a:rPr lang="en-US" dirty="0"/>
              <a:t>Next quiz on 10/24</a:t>
            </a:r>
          </a:p>
          <a:p>
            <a:pPr lvl="1"/>
            <a:r>
              <a:rPr lang="en-US" dirty="0"/>
              <a:t>Will cover everything covered till 10/20 (inclusive)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3F651-F249-02A4-463C-5AC5515D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569741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3EF007-83AA-03FB-CED8-67EE81AA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  <a:p>
            <a:r>
              <a:rPr lang="en-US" dirty="0"/>
              <a:t>Reflection demo</a:t>
            </a:r>
          </a:p>
          <a:p>
            <a:r>
              <a:rPr lang="en-US" dirty="0"/>
              <a:t>Annotations (recap)</a:t>
            </a:r>
          </a:p>
          <a:p>
            <a:r>
              <a:rPr lang="en-US" dirty="0"/>
              <a:t>Annotations demo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3D0085-8D0D-F87E-6F60-31E704FC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84865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DE6DA-01D2-C2FB-26EA-90BE135EA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2848F-E33D-EEC3-0480-81E5EDF8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</a:p>
          <a:p>
            <a:pPr lvl="1"/>
            <a:r>
              <a:rPr lang="en-US" dirty="0"/>
              <a:t>You can perform these operations from within Java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AF8D45-3D61-855D-75BF-EAC8B76B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76796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CAB537-15A3-C239-8C9F-524030D4E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8743A-1F5A-AA77-6640-BB92E82404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Reflection, annotations, proxies</a:t>
            </a:r>
          </a:p>
        </p:txBody>
      </p:sp>
    </p:spTree>
    <p:extLst>
      <p:ext uri="{BB962C8B-B14F-4D97-AF65-F5344CB8AC3E}">
        <p14:creationId xmlns:p14="http://schemas.microsoft.com/office/powerpoint/2010/main" val="3228724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9FA25-8951-201A-8758-743045941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D515A7-FB73-7C40-6D81-B94916641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 // equivalent to calling </a:t>
            </a:r>
            <a:r>
              <a:rPr lang="en-US" dirty="0" err="1">
                <a:latin typeface="Consolas" panose="020B0609020204030204" pitchFamily="49" charset="0"/>
              </a:rPr>
              <a:t>obj.m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 // equivalent to </a:t>
            </a:r>
            <a:r>
              <a:rPr lang="en-US" dirty="0" err="1">
                <a:latin typeface="Consolas" panose="020B0609020204030204" pitchFamily="49" charset="0"/>
              </a:rPr>
              <a:t>obj.f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Load classes using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ClassLoader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C05F55-8B6B-8F37-076C-2393D9C98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7995163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41676B-5781-067B-2D32-192EFCDF6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Auto-wiring</a:t>
            </a:r>
          </a:p>
          <a:p>
            <a:r>
              <a:rPr lang="en-US" dirty="0"/>
              <a:t>Can’t express </a:t>
            </a:r>
            <a:r>
              <a:rPr lang="en-US" dirty="0" err="1"/>
              <a:t>autowiring</a:t>
            </a:r>
            <a:r>
              <a:rPr lang="en-US" dirty="0"/>
              <a:t> using compile time reflection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656550-DD39-5BC7-5D88-BB8D35D61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7225537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4E6B3A-2230-169A-30A3-5D1440DFF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71CA-2BD4-82BF-C9F9-3DE701979E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 and proxies</a:t>
            </a:r>
          </a:p>
        </p:txBody>
      </p:sp>
    </p:spTree>
    <p:extLst>
      <p:ext uri="{BB962C8B-B14F-4D97-AF65-F5344CB8AC3E}">
        <p14:creationId xmlns:p14="http://schemas.microsoft.com/office/powerpoint/2010/main" val="37383516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B8E175-B6FC-7489-C9D6-ED757B3EE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(final thoughts)</a:t>
            </a:r>
          </a:p>
          <a:p>
            <a:r>
              <a:rPr lang="en-US" dirty="0"/>
              <a:t>Proxies</a:t>
            </a:r>
          </a:p>
          <a:p>
            <a:pPr lvl="1"/>
            <a:r>
              <a:rPr lang="en-US" dirty="0"/>
              <a:t>Static proxies</a:t>
            </a:r>
          </a:p>
          <a:p>
            <a:pPr lvl="1"/>
            <a:r>
              <a:rPr lang="en-US" dirty="0"/>
              <a:t>Dynamic proxies</a:t>
            </a:r>
          </a:p>
          <a:p>
            <a:r>
              <a:rPr lang="en-US" dirty="0"/>
              <a:t>Proxy use-cases</a:t>
            </a:r>
          </a:p>
          <a:p>
            <a:pPr lvl="1"/>
            <a:r>
              <a:rPr lang="en-US" dirty="0"/>
              <a:t>Lazy-loading</a:t>
            </a:r>
          </a:p>
          <a:p>
            <a:pPr lvl="1"/>
            <a:r>
              <a:rPr lang="en-US" dirty="0"/>
              <a:t>Mock-testing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F1BA0-8F16-65CB-8245-12C87258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E99A68-2416-190C-2C2F-8E3E82682A69}"/>
              </a:ext>
            </a:extLst>
          </p:cNvPr>
          <p:cNvCxnSpPr/>
          <p:nvPr/>
        </p:nvCxnSpPr>
        <p:spPr>
          <a:xfrm>
            <a:off x="0" y="3318933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21607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176512" y="3161691"/>
            <a:ext cx="5276935" cy="227658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BBDA-BC91-0EB6-F884-A28511DC8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AF8260-2720-98BF-8571-4BA95354B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@Retention(RetentionPolicy.RUNTIME)</a:t>
            </a:r>
          </a:p>
          <a:p>
            <a:r>
              <a:rPr lang="en-US" b="1" dirty="0"/>
              <a:t>public @interface </a:t>
            </a:r>
            <a:r>
              <a:rPr lang="en-US" b="1" dirty="0" err="1"/>
              <a:t>Persistable</a:t>
            </a:r>
            <a:r>
              <a:rPr lang="en-US" b="1" dirty="0"/>
              <a:t> {</a:t>
            </a:r>
          </a:p>
          <a:p>
            <a:r>
              <a:rPr lang="en-US" b="1" dirty="0"/>
              <a:t>}</a:t>
            </a:r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r>
              <a:rPr lang="en-US" dirty="0"/>
              <a:t>	</a:t>
            </a:r>
            <a:r>
              <a:rPr lang="en-US" b="1" dirty="0"/>
              <a:t>@Persistable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Integer </a:t>
            </a:r>
            <a:r>
              <a:rPr lang="en-US" dirty="0" err="1"/>
              <a:t>tempVal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// … set up Jedis Session</a:t>
            </a:r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(Object obj)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dirty="0" err="1"/>
              <a:t>obj.getDeclaredFields</a:t>
            </a:r>
            <a:r>
              <a:rPr lang="en-US" dirty="0"/>
              <a:t>()) {</a:t>
            </a:r>
          </a:p>
          <a:p>
            <a:r>
              <a:rPr lang="en-US" dirty="0"/>
              <a:t>		   if (</a:t>
            </a:r>
            <a:r>
              <a:rPr lang="en-US" b="1" dirty="0" err="1"/>
              <a:t>f.isAnnotationPresent</a:t>
            </a:r>
            <a:r>
              <a:rPr lang="en-US" b="1" dirty="0"/>
              <a:t>(</a:t>
            </a:r>
            <a:r>
              <a:rPr lang="en-US" b="1" dirty="0" err="1"/>
              <a:t>Persistable.class</a:t>
            </a:r>
            <a:r>
              <a:rPr lang="en-US" dirty="0"/>
              <a:t>) {</a:t>
            </a:r>
          </a:p>
          <a:p>
            <a:r>
              <a:rPr lang="en-US" dirty="0"/>
              <a:t>		      </a:t>
            </a:r>
            <a:r>
              <a:rPr lang="en-US" dirty="0" err="1"/>
              <a:t>f.setAccessible</a:t>
            </a:r>
            <a:r>
              <a:rPr lang="en-US" dirty="0"/>
              <a:t>(true);</a:t>
            </a:r>
          </a:p>
          <a:p>
            <a:r>
              <a:rPr lang="en-US" dirty="0"/>
              <a:t>		   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dirty="0" err="1"/>
              <a:t>f.get</a:t>
            </a:r>
            <a:r>
              <a:rPr lang="en-US" dirty="0"/>
              <a:t>(obj);</a:t>
            </a:r>
          </a:p>
          <a:p>
            <a:r>
              <a:rPr lang="en-US" dirty="0"/>
              <a:t>		   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4129E2-00DF-A89D-94E9-C8768AF8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16B3A9-194F-AF71-05D4-2CE0253C75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4E014-5D42-1867-C2B8-60E908008F32}"/>
              </a:ext>
            </a:extLst>
          </p:cNvPr>
          <p:cNvSpPr/>
          <p:nvPr/>
        </p:nvSpPr>
        <p:spPr>
          <a:xfrm>
            <a:off x="6232660" y="2815389"/>
            <a:ext cx="5276935" cy="268705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9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F5E706-135A-E059-8F73-E08F9CFFD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8E7F12-730F-FC8E-FB53-7695F6FE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D40832-B7DF-9C7B-E9C0-8E140C259422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29FA14-C091-E3A8-57FB-C9BE57CC46E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460A73-A1B0-8CFB-1D1B-54873123209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Special library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B8DF4-0443-5223-25CF-67EC8A503975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DF2E6DCB-70FC-E689-171C-8CE2B0E7E7CE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5FF91-0058-642B-7AC3-5649CA787081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535C85-7363-415A-BBB3-BD5BC55DF534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50AC5D-257F-F140-B7B2-3C6ED4355107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94C8D-9D71-2E51-C631-33715EC8BF32}"/>
              </a:ext>
            </a:extLst>
          </p:cNvPr>
          <p:cNvSpPr/>
          <p:nvPr/>
        </p:nvSpPr>
        <p:spPr>
          <a:xfrm>
            <a:off x="7157153" y="2320318"/>
            <a:ext cx="4296293" cy="129212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DD1EE5-C8C5-2D25-0C44-4D482BBED9A6}"/>
              </a:ext>
            </a:extLst>
          </p:cNvPr>
          <p:cNvSpPr/>
          <p:nvPr/>
        </p:nvSpPr>
        <p:spPr>
          <a:xfrm>
            <a:off x="7157153" y="3703974"/>
            <a:ext cx="4296293" cy="11389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C2EC-DDD3-F3B5-8DA3-68D178E1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D1384D-032A-BEEC-23D6-075F64284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0CDE1E-9B7A-92B4-6C70-CD6529AA3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70BAE-4ABB-1399-2E2F-263380922C50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7E1728-2FC2-C47F-11D4-212C1669235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FB7835-DCD0-B99B-4C16-D3DD309C2A4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Bytecode instrumentation libraries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52FA1F-10C4-3341-A007-080EB873AB36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ED343CEB-9E0A-8CA1-58F5-F949AA2B5E7D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DEC22-14D8-6F24-30B7-3DCF5E05B409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A60A5-0788-620E-2CB9-CC9D6E2927AC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C53DD7-61BC-FE01-48F3-BDEF02F158BD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290442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2"/>
              <a:ext cx="1054204" cy="63304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72606-AFA5-6B7B-7E46-4202320C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RunTime</a:t>
            </a:r>
            <a:r>
              <a:rPr lang="en-US" dirty="0"/>
              <a:t> Type Information (RTTI) maintains type information for each object</a:t>
            </a:r>
          </a:p>
          <a:p>
            <a:r>
              <a:rPr lang="en-US" dirty="0"/>
              <a:t>But no language-level support for dynamic invocation</a:t>
            </a:r>
          </a:p>
          <a:p>
            <a:r>
              <a:rPr lang="en-US" dirty="0"/>
              <a:t>Possible to programmatically enable support for dynamic invocation</a:t>
            </a:r>
          </a:p>
          <a:p>
            <a:r>
              <a:rPr lang="en-US" dirty="0"/>
              <a:t>Describe with pseudo-code how you would design reflection for C++. Assume that the programmer must manually enable reflection for a class 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C4F17B-750B-7D1F-706B-94674448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C++</a:t>
            </a:r>
            <a:r>
              <a:rPr lang="en-US" sz="3600" b="1" dirty="0"/>
              <a:t> </a:t>
            </a:r>
            <a:r>
              <a:rPr lang="en-US" sz="1600" b="1" dirty="0"/>
              <a:t>[Not in Syllabus]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740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1C6F73-B198-8B72-4F72-867A90332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A5FC8-F326-B925-DE62-4A66F194DD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</p:txBody>
      </p:sp>
    </p:spTree>
    <p:extLst>
      <p:ext uri="{BB962C8B-B14F-4D97-AF65-F5344CB8AC3E}">
        <p14:creationId xmlns:p14="http://schemas.microsoft.com/office/powerpoint/2010/main" val="9242261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6071CB-363F-23E3-67C0-29D85E49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  <a:p>
            <a:pPr lvl="1"/>
            <a:r>
              <a:rPr lang="en-US" dirty="0"/>
              <a:t>Proxy design pattern</a:t>
            </a:r>
          </a:p>
          <a:p>
            <a:pPr lvl="1"/>
            <a:r>
              <a:rPr lang="en-US" dirty="0"/>
              <a:t>Dynamic proxies in Java</a:t>
            </a:r>
          </a:p>
          <a:p>
            <a:pPr lvl="1"/>
            <a:r>
              <a:rPr lang="en-US" dirty="0"/>
              <a:t>Use case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58C1ED-906F-E138-5D46-C2BDAF83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536A39E-12CA-59A3-08DB-3C5DF1B0CA31}"/>
              </a:ext>
            </a:extLst>
          </p:cNvPr>
          <p:cNvCxnSpPr/>
          <p:nvPr/>
        </p:nvCxnSpPr>
        <p:spPr>
          <a:xfrm>
            <a:off x="105508" y="2602523"/>
            <a:ext cx="118872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86363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D15018-764E-A07F-637B-FD07094CB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Classes and objects abstract object behavior</a:t>
            </a:r>
          </a:p>
          <a:p>
            <a:pPr lvl="1"/>
            <a:r>
              <a:rPr lang="en-US" dirty="0"/>
              <a:t>Focus on reusing object behavior</a:t>
            </a:r>
          </a:p>
          <a:p>
            <a:r>
              <a:rPr lang="en-US" dirty="0"/>
              <a:t>Design patterns abstract object instantiation, composition, and behavior</a:t>
            </a:r>
          </a:p>
          <a:p>
            <a:pPr lvl="1"/>
            <a:r>
              <a:rPr lang="en-US" dirty="0"/>
              <a:t>Focus on abstracting the class design itself</a:t>
            </a:r>
          </a:p>
          <a:p>
            <a:pPr lvl="1"/>
            <a:r>
              <a:rPr lang="en-US" dirty="0"/>
              <a:t>Some design issues keep reoccurring</a:t>
            </a:r>
          </a:p>
          <a:p>
            <a:pPr lvl="2"/>
            <a:r>
              <a:rPr lang="en-US" dirty="0"/>
              <a:t>Allows software engineers to </a:t>
            </a:r>
            <a:r>
              <a:rPr lang="en-US" i="1" dirty="0"/>
              <a:t>reuse </a:t>
            </a:r>
            <a:r>
              <a:rPr lang="en-US" dirty="0"/>
              <a:t>previous class designs and architectures</a:t>
            </a:r>
          </a:p>
          <a:p>
            <a:r>
              <a:rPr lang="en-US" dirty="0"/>
              <a:t>Design patterns used in regular applications (reflection typically used only in frameworks)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CF0D9B-3FF0-F5F8-99C8-2C8863BB5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 – quick overview</a:t>
            </a:r>
          </a:p>
        </p:txBody>
      </p:sp>
    </p:spTree>
    <p:extLst>
      <p:ext uri="{BB962C8B-B14F-4D97-AF65-F5344CB8AC3E}">
        <p14:creationId xmlns:p14="http://schemas.microsoft.com/office/powerpoint/2010/main" val="48199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809544" cy="1828798"/>
              <a:chOff x="750277" y="1300459"/>
              <a:chExt cx="10809544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stCxn id="12" idx="3"/>
                <a:endCxn id="15" idx="1"/>
              </p:cNvCxnSpPr>
              <p:nvPr/>
            </p:nvCxnSpPr>
            <p:spPr>
              <a:xfrm>
                <a:off x="7163162" y="2214858"/>
                <a:ext cx="2041845" cy="1315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7" y="1657468"/>
                <a:ext cx="2354814" cy="1141089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libGameEngine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884237" cy="2151343"/>
            <a:chOff x="750277" y="1245042"/>
            <a:chExt cx="10884237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884237" cy="1884215"/>
              <a:chOff x="750277" y="1245042"/>
              <a:chExt cx="10884237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2429506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stCxn id="13" idx="3"/>
                <a:endCxn id="4" idx="1"/>
              </p:cNvCxnSpPr>
              <p:nvPr/>
            </p:nvCxnSpPr>
            <p:spPr>
              <a:xfrm flipV="1">
                <a:off x="7163162" y="2213729"/>
                <a:ext cx="1818132" cy="1129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0B452A-4006-03EC-41EA-E93F9615637B}"/>
              </a:ext>
            </a:extLst>
          </p:cNvPr>
          <p:cNvSpPr/>
          <p:nvPr/>
        </p:nvSpPr>
        <p:spPr>
          <a:xfrm>
            <a:off x="8994091" y="2199075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Can’t access private fields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3650881" y="3191057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C39278-7EF5-03EA-7B77-9540484446C9}"/>
              </a:ext>
            </a:extLst>
          </p:cNvPr>
          <p:cNvSpPr/>
          <p:nvPr/>
        </p:nvSpPr>
        <p:spPr>
          <a:xfrm>
            <a:off x="9327893" y="1738503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FA5B378-ECC4-871A-A86A-44903C977CD4}"/>
              </a:ext>
            </a:extLst>
          </p:cNvPr>
          <p:cNvSpPr/>
          <p:nvPr/>
        </p:nvSpPr>
        <p:spPr>
          <a:xfrm>
            <a:off x="9217805" y="2210364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A12A7E-C9B5-F754-DB29-B4A53E466646}"/>
              </a:ext>
            </a:extLst>
          </p:cNvPr>
          <p:cNvSpPr/>
          <p:nvPr/>
        </p:nvSpPr>
        <p:spPr>
          <a:xfrm>
            <a:off x="9186590" y="1377449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query.executeQuery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also has a dynamic proxy functionality</a:t>
            </a:r>
          </a:p>
          <a:p>
            <a:pPr lvl="1"/>
            <a:r>
              <a:rPr lang="en-US" dirty="0"/>
              <a:t>IMHO, it’s unnecessarily complicated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BF9FA-3BEB-C027-4D9B-D7C7CC1EC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C56DD47-3F7A-BC22-597C-1625A0963DF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693581-EA23-91F2-69DE-5D0E919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364A63B1-2A9F-C6C7-A56E-B9D936C8C574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E7D135-7207-0E3B-9D17-14E7262403C4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9E116-71D5-BF4B-637D-54EBDA7CB197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C72D97-1A2A-B4C4-D006-4429052A4E47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ABF9EA-3273-5372-4BF1-87D69F3D47C8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665F82-9EEB-A061-FB41-E270F910792B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36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9BFEF-08A6-848D-344F-F645D2876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5F22A-EECB-0D44-BB08-4849FD8CE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 (contd.)</a:t>
            </a:r>
          </a:p>
        </p:txBody>
      </p:sp>
    </p:spTree>
    <p:extLst>
      <p:ext uri="{BB962C8B-B14F-4D97-AF65-F5344CB8AC3E}">
        <p14:creationId xmlns:p14="http://schemas.microsoft.com/office/powerpoint/2010/main" val="301620359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70AF09-587F-D678-94B4-8D392D63C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proxies in Java</a:t>
            </a:r>
          </a:p>
          <a:p>
            <a:pPr lvl="1"/>
            <a:r>
              <a:rPr lang="en-US" dirty="0"/>
              <a:t>Recap</a:t>
            </a:r>
          </a:p>
          <a:p>
            <a:pPr lvl="1"/>
            <a:r>
              <a:rPr lang="en-US" dirty="0"/>
              <a:t>Demo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Lazy loading</a:t>
            </a:r>
          </a:p>
          <a:p>
            <a:pPr lvl="2"/>
            <a:r>
              <a:rPr lang="en-US" dirty="0"/>
              <a:t>Mock testing</a:t>
            </a:r>
          </a:p>
          <a:p>
            <a:r>
              <a:rPr lang="en-US" dirty="0"/>
              <a:t>Software architecture</a:t>
            </a:r>
          </a:p>
          <a:p>
            <a:r>
              <a:rPr lang="en-US" dirty="0"/>
              <a:t>Software Security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5BAF34-0591-8AA5-E155-B1880F9C7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07C56E-5D96-53EB-DAE3-066C826CAD36}"/>
              </a:ext>
            </a:extLst>
          </p:cNvPr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106160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5EA87BB-C102-D254-1BD3-807C8283F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HW1 submission</a:t>
            </a:r>
          </a:p>
          <a:p>
            <a:pPr lvl="1"/>
            <a:r>
              <a:rPr lang="en-US" dirty="0"/>
              <a:t>On Canvas – HW will be created when Canvas comes up</a:t>
            </a:r>
          </a:p>
          <a:p>
            <a:r>
              <a:rPr lang="en-US" dirty="0"/>
              <a:t>Submission instructions (added to handout)</a:t>
            </a:r>
          </a:p>
          <a:p>
            <a:pPr lvl="1"/>
            <a:r>
              <a:rPr lang="en-US" dirty="0"/>
              <a:t>Make sure you don't have any private keys hardcoded in the code. You will lose points if we find that!</a:t>
            </a:r>
          </a:p>
          <a:p>
            <a:pPr lvl="1"/>
            <a:r>
              <a:rPr lang="en-US" dirty="0"/>
              <a:t>Please add a README.md file to your repository that explicitly specifies any assumptions you have made, beyond what the assignment already specifies. </a:t>
            </a:r>
          </a:p>
          <a:p>
            <a:pPr lvl="2"/>
            <a:r>
              <a:rPr lang="en-US" dirty="0"/>
              <a:t>This README.md should also explain how to set up the GITHUB API key.</a:t>
            </a:r>
          </a:p>
          <a:p>
            <a:pPr lvl="1"/>
            <a:r>
              <a:rPr lang="en-US" dirty="0"/>
              <a:t>Make sure your solution runs if we execute the command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&amp;&amp;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exec:java</a:t>
            </a:r>
            <a:r>
              <a:rPr lang="en-US" dirty="0"/>
              <a:t>. (We will have Redis server running already)</a:t>
            </a:r>
          </a:p>
          <a:p>
            <a:pPr lvl="1"/>
            <a:r>
              <a:rPr lang="en-US" dirty="0"/>
              <a:t>Zip the contents of your repository. Do NOT include the repository/s you cloned as part of this homework.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024C7E-DCBB-56FC-EEC9-B8EC50C9F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56733913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61002D-A478-096E-48F7-CEE50FAC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Emails: Add ECS 160 to subject line</a:t>
            </a:r>
          </a:p>
          <a:p>
            <a:pPr lvl="1"/>
            <a:r>
              <a:rPr lang="en-US" dirty="0"/>
              <a:t>No need for High Priority, unless really High Priority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Only for 1-on-1 discussions</a:t>
            </a:r>
          </a:p>
          <a:p>
            <a:r>
              <a:rPr lang="en-US" dirty="0">
                <a:sym typeface="Wingdings" panose="05000000000000000000" pitchFamily="2" charset="2"/>
              </a:rPr>
              <a:t>Midterm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Everything including dynamic proxies + some software architecture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3A3FB3-F3B9-8CA0-C859-6B78A90DE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93078207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36196F-F4FD-01E8-6FC0-B69A9D23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289A92-C0B6-BA39-1B23-BAFFC5B5A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0202DB-B590-0993-76A5-6BFEDC0894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DB85869-6596-472D-1C96-738D956BE9A3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BDFC41-22A3-241F-58CC-DB888D11FE61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438E957-33A9-E550-5DB4-75E15AA3AD16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E35B5C2-26E1-F004-06F2-488A9518FF41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D622A4A-40BA-3942-A8C0-F7DFDF155BFE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70B8B0-34CC-968B-6D4D-69BC1CE2A76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1E38498-486D-49D1-4AE3-FBCDD629803C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9D9314C-2EA0-1BDD-8641-B97B685954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00BD8-4A16-6B1A-B258-E3CF8C01678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2DD156-6731-1B07-7255-0FCD866D43A1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0199610-D72B-3201-F676-B900195331D1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0CC6A06-4D06-5401-E7C6-087536947828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0A8F87-F8AE-D92C-DBFD-EFA567FCE04D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05C092C-7847-5D96-6291-7EE35FBB303A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FC442B4-95FE-05AB-F023-E9A259D75BA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34C4315-7D9A-C89B-9C74-352062A819F0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0538E6-090B-126A-FC76-E75DC9051335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CF2A5B9-3663-DFCB-E6F2-6D6FBC72125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6592C0-5E2E-39F5-27F6-DCE302660D97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46E7B28-AFCC-B3E8-665C-E7853ABDE232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75B51A-3A0C-9BF4-D81C-CD66E42B2617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8C6287D-07D0-B1C5-B2DD-A6AF47E93DC2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99ED4A4-8AD2-865D-BD72-88FA7087EB98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E0BD077-1ED4-B59E-01A1-772E7E49D4D9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9C4E17-A73E-DB1A-D0CE-18666B1E626A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07B4266-F519-E8BC-3580-25180DBB7F28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37403E9-960C-FA21-AC9D-116497771CB0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BFF858-E63D-E072-879D-14B412B8F2B3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246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20A5F2-01DD-D454-95B4-0E14B2CAE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proxies allow you to create Proxy classes at runtime</a:t>
            </a:r>
          </a:p>
          <a:p>
            <a:pPr lvl="1"/>
            <a:r>
              <a:rPr lang="en-US" dirty="0"/>
              <a:t>Of objects of any type</a:t>
            </a:r>
          </a:p>
          <a:p>
            <a:pPr lvl="1"/>
            <a:r>
              <a:rPr lang="en-US" dirty="0"/>
              <a:t>With any additional functionality</a:t>
            </a:r>
          </a:p>
          <a:p>
            <a:r>
              <a:rPr lang="en-US" dirty="0"/>
              <a:t>Needs bytecode instrumentation (using </a:t>
            </a:r>
            <a:r>
              <a:rPr lang="en-US" dirty="0" err="1"/>
              <a:t>JavaAssist</a:t>
            </a:r>
            <a:r>
              <a:rPr lang="en-US" dirty="0"/>
              <a:t>)</a:t>
            </a:r>
          </a:p>
          <a:p>
            <a:r>
              <a:rPr lang="en-US" dirty="0"/>
              <a:t>Imagine you have a method </a:t>
            </a:r>
            <a:r>
              <a:rPr lang="en-US" dirty="0">
                <a:latin typeface="Consolas" panose="020B0609020204030204" pitchFamily="49" charset="0"/>
              </a:rPr>
              <a:t>Object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(Object target)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Jedis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</a:t>
            </a:r>
            <a:r>
              <a:rPr lang="en-US" dirty="0" err="1">
                <a:latin typeface="Consolas" panose="020B0609020204030204" pitchFamily="49" charset="0"/>
              </a:rPr>
              <a:t>studentProxy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StudentProxy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(student);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E07155-4FB5-F193-DA89-0F41E4FE0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</p:spTree>
    <p:extLst>
      <p:ext uri="{BB962C8B-B14F-4D97-AF65-F5344CB8AC3E}">
        <p14:creationId xmlns:p14="http://schemas.microsoft.com/office/powerpoint/2010/main" val="60206210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628C0D85-54A3-634F-F85A-CA68F8B43398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D5AB9-486D-815B-204A-E028B0181FF7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DDB84-1CCD-0718-0AB7-26F8B7B83CEC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8B122-220D-5BA3-68BA-D05E27713307}"/>
              </a:ext>
            </a:extLst>
          </p:cNvPr>
          <p:cNvSpPr/>
          <p:nvPr/>
        </p:nvSpPr>
        <p:spPr>
          <a:xfrm>
            <a:off x="543099" y="785004"/>
            <a:ext cx="3930024" cy="157437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3A1E71-BAA9-7000-71E3-C33DFBAC37EF}"/>
              </a:ext>
            </a:extLst>
          </p:cNvPr>
          <p:cNvSpPr/>
          <p:nvPr/>
        </p:nvSpPr>
        <p:spPr>
          <a:xfrm>
            <a:off x="543098" y="2359378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54E64-E053-6DC9-5E29-D4EAEAB0DDDF}"/>
              </a:ext>
            </a:extLst>
          </p:cNvPr>
          <p:cNvSpPr/>
          <p:nvPr/>
        </p:nvSpPr>
        <p:spPr>
          <a:xfrm>
            <a:off x="543098" y="2799644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9E27D4-0155-E9C2-99B6-B03FA516B4E6}"/>
              </a:ext>
            </a:extLst>
          </p:cNvPr>
          <p:cNvSpPr/>
          <p:nvPr/>
        </p:nvSpPr>
        <p:spPr>
          <a:xfrm>
            <a:off x="543098" y="3308230"/>
            <a:ext cx="5101345" cy="217817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311C2-1CE8-96F3-DA15-777BA1E56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501462-8ED1-E017-95D0-D0FD266EA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B14897-47A3-6987-08D8-88A92AFA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F2BF640-7F2C-E328-A599-0DEEFD40BCA2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67EA0E-CBE2-44F1-9A80-D3BD2D7BEB0B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08A91-5B81-99B1-D620-081DE5B18545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D82CA-9E33-E50E-7DDB-D109B5ED85BE}"/>
              </a:ext>
            </a:extLst>
          </p:cNvPr>
          <p:cNvSpPr/>
          <p:nvPr/>
        </p:nvSpPr>
        <p:spPr>
          <a:xfrm>
            <a:off x="6176511" y="740640"/>
            <a:ext cx="5472389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86E2CC-9E04-E2ED-967A-0A51723CF5B0}"/>
              </a:ext>
            </a:extLst>
          </p:cNvPr>
          <p:cNvSpPr/>
          <p:nvPr/>
        </p:nvSpPr>
        <p:spPr>
          <a:xfrm>
            <a:off x="6176511" y="3602373"/>
            <a:ext cx="5472389" cy="170586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F7290-03C2-EBC6-F937-68BFE7D1A867}"/>
              </a:ext>
            </a:extLst>
          </p:cNvPr>
          <p:cNvSpPr/>
          <p:nvPr/>
        </p:nvSpPr>
        <p:spPr>
          <a:xfrm>
            <a:off x="6176510" y="1263859"/>
            <a:ext cx="5472389" cy="100520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304580-E52E-5EE8-6159-C990AEBDA83B}"/>
              </a:ext>
            </a:extLst>
          </p:cNvPr>
          <p:cNvSpPr/>
          <p:nvPr/>
        </p:nvSpPr>
        <p:spPr>
          <a:xfrm>
            <a:off x="6176510" y="2245317"/>
            <a:ext cx="5472389" cy="135705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991E48-F000-21B7-DD35-45FBF0A4251B}"/>
              </a:ext>
            </a:extLst>
          </p:cNvPr>
          <p:cNvSpPr txBox="1"/>
          <p:nvPr/>
        </p:nvSpPr>
        <p:spPr>
          <a:xfrm>
            <a:off x="9487269" y="4732057"/>
            <a:ext cx="247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Additional Functionality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751AE-A217-4D9C-E2D9-A18CEB1CE376}"/>
              </a:ext>
            </a:extLst>
          </p:cNvPr>
          <p:cNvSpPr txBox="1"/>
          <p:nvPr/>
        </p:nvSpPr>
        <p:spPr>
          <a:xfrm>
            <a:off x="9644139" y="406254"/>
            <a:ext cx="2165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handle any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FCFC8-74DB-E49E-9F5D-CB5626FF8A48}"/>
              </a:ext>
            </a:extLst>
          </p:cNvPr>
          <p:cNvSpPr txBox="1"/>
          <p:nvPr/>
        </p:nvSpPr>
        <p:spPr>
          <a:xfrm>
            <a:off x="9794354" y="16201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Set 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AD53CB-B771-B1DB-2D7D-F95FE1149DF4}"/>
              </a:ext>
            </a:extLst>
          </p:cNvPr>
          <p:cNvSpPr txBox="1"/>
          <p:nvPr/>
        </p:nvSpPr>
        <p:spPr>
          <a:xfrm>
            <a:off x="9939728" y="2839553"/>
            <a:ext cx="240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/>
              <a:t>Generate proxy class, create object, set additional functionality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2C586-3B61-5808-E586-F2BC42CAD22D}"/>
              </a:ext>
            </a:extLst>
          </p:cNvPr>
          <p:cNvSpPr txBox="1"/>
          <p:nvPr/>
        </p:nvSpPr>
        <p:spPr>
          <a:xfrm>
            <a:off x="10114628" y="3779372"/>
            <a:ext cx="205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Javassist</a:t>
            </a:r>
            <a:r>
              <a:rPr lang="en-US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1097398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15" grpId="0" animBg="1"/>
      <p:bldP spid="15" grpId="1" animBg="1"/>
      <p:bldP spid="16" grpId="0"/>
      <p:bldP spid="16" grpId="1"/>
      <p:bldP spid="17" grpId="0"/>
      <p:bldP spid="17" grpId="1"/>
      <p:bldP spid="18" grpId="0"/>
      <p:bldP spid="18" grpId="1"/>
      <p:bldP spid="19" grpId="0"/>
      <p:bldP spid="19" grpId="1"/>
      <p:bldP spid="8" grpId="0"/>
      <p:bldP spid="8" grpId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5E05-99EA-4079-77DF-568CC861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8A3B40-C72E-630A-CDD8-F27EE5DD9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</a:t>
            </a:r>
            <a:r>
              <a:rPr lang="en-US">
                <a:highlight>
                  <a:srgbClr val="FFFF00"/>
                </a:highlight>
              </a:rPr>
              <a:t>additional functionality;</a:t>
            </a:r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4EEF03-C120-324D-7588-D6BA86705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B8F1C0-D89F-A800-528C-EB7FA3DB0DD4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class </a:t>
            </a:r>
            <a:r>
              <a:rPr lang="en-US" dirty="0" err="1">
                <a:highlight>
                  <a:srgbClr val="B9B9FF"/>
                </a:highlight>
              </a:rPr>
              <a:t>TargetClassProxy</a:t>
            </a:r>
            <a:r>
              <a:rPr lang="en-US" dirty="0">
                <a:highlight>
                  <a:srgbClr val="B9B9FF"/>
                </a:highlight>
              </a:rPr>
              <a:t> extends </a:t>
            </a:r>
            <a:r>
              <a:rPr lang="en-US" dirty="0" err="1">
                <a:highlight>
                  <a:srgbClr val="B9B9FF"/>
                </a:highlight>
              </a:rPr>
              <a:t>TargetClass</a:t>
            </a:r>
            <a:r>
              <a:rPr lang="en-US" dirty="0">
                <a:highlight>
                  <a:srgbClr val="B9B9FF"/>
                </a:highlight>
              </a:rPr>
              <a:t> </a:t>
            </a: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</a:t>
            </a:r>
            <a:r>
              <a:rPr lang="en-US" dirty="0" err="1">
                <a:highlight>
                  <a:srgbClr val="00FFFF"/>
                </a:highlight>
              </a:rPr>
              <a:t>TargetClass</a:t>
            </a:r>
            <a:r>
              <a:rPr lang="en-US" dirty="0">
                <a:highlight>
                  <a:srgbClr val="00FFFF"/>
                </a:highlight>
              </a:rPr>
              <a:t> target;</a:t>
            </a:r>
            <a:br>
              <a:rPr lang="en-US" dirty="0">
                <a:highlight>
                  <a:srgbClr val="00FFFF"/>
                </a:highlight>
              </a:rPr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FFFF00"/>
                </a:highlight>
              </a:rPr>
              <a:t>public void </a:t>
            </a:r>
            <a:r>
              <a:rPr lang="en-US" dirty="0" err="1">
                <a:highlight>
                  <a:srgbClr val="FFFF00"/>
                </a:highlight>
              </a:rPr>
              <a:t>doThis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target.doThis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public void </a:t>
            </a:r>
            <a:r>
              <a:rPr lang="en-US" dirty="0" err="1">
                <a:highlight>
                  <a:srgbClr val="FFFF00"/>
                </a:highlight>
              </a:rPr>
              <a:t>doThat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target.doThat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 proxy = new </a:t>
            </a:r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49E677-BAF3-949D-5AB0-AB66F60A10AD}"/>
              </a:ext>
            </a:extLst>
          </p:cNvPr>
          <p:cNvSpPr txBox="1"/>
          <p:nvPr/>
        </p:nvSpPr>
        <p:spPr>
          <a:xfrm>
            <a:off x="3168316" y="5569847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CD762-F6FF-42AE-F341-792926BEFF3E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B3C9A-688B-C293-2045-2675218DC50A}"/>
              </a:ext>
            </a:extLst>
          </p:cNvPr>
          <p:cNvSpPr txBox="1"/>
          <p:nvPr/>
        </p:nvSpPr>
        <p:spPr>
          <a:xfrm>
            <a:off x="10283070" y="3835519"/>
            <a:ext cx="2052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 err="1"/>
              <a:t>Javassist</a:t>
            </a:r>
            <a:r>
              <a:rPr lang="en-US" sz="1600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334212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B4D51B-B8F2-24F1-FF7F-286F25750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https://github.com/davsec-teaching/javassist_demo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C91648-9FD3-EF0D-4C41-7206339F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73068628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r>
              <a:rPr lang="en-US" dirty="0"/>
              <a:t>Breaks SRP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F2D32F-616D-77EE-99CC-3A74B36648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E6EBC5-14AD-AF99-98CC-E5A3155FF8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Dynamic proxy use cases</a:t>
            </a:r>
          </a:p>
        </p:txBody>
      </p:sp>
    </p:spTree>
    <p:extLst>
      <p:ext uri="{BB962C8B-B14F-4D97-AF65-F5344CB8AC3E}">
        <p14:creationId xmlns:p14="http://schemas.microsoft.com/office/powerpoint/2010/main" val="22711926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8B45D7-2456-EA4B-BD50-C0409BF48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Lazy loading with dynamic proxies</a:t>
            </a:r>
          </a:p>
          <a:p>
            <a:r>
              <a:rPr lang="en-US" dirty="0"/>
              <a:t>Mock testing</a:t>
            </a:r>
          </a:p>
          <a:p>
            <a:r>
              <a:rPr lang="en-US" dirty="0"/>
              <a:t>Reflection, annotations, dynamic proxies – final thoughts</a:t>
            </a:r>
          </a:p>
          <a:p>
            <a:r>
              <a:rPr lang="en-US" dirty="0"/>
              <a:t>Software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BAF6A4-E4DB-31D6-185C-EFB5E4381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21D508-0127-AB8E-20DA-885AE73A3CC0}"/>
              </a:ext>
            </a:extLst>
          </p:cNvPr>
          <p:cNvCxnSpPr/>
          <p:nvPr/>
        </p:nvCxnSpPr>
        <p:spPr>
          <a:xfrm>
            <a:off x="0" y="2867378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30331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3CB6E4-2584-AB7E-B7EA-84B42E2BA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Homework due tomorrow 11:59 PM</a:t>
            </a:r>
          </a:p>
          <a:p>
            <a:r>
              <a:rPr lang="en-US" dirty="0"/>
              <a:t>Canvas HW will be created soon</a:t>
            </a:r>
          </a:p>
          <a:p>
            <a:r>
              <a:rPr lang="en-US" dirty="0"/>
              <a:t>Quiz on Friday</a:t>
            </a:r>
          </a:p>
          <a:p>
            <a:pPr lvl="1"/>
            <a:r>
              <a:rPr lang="en-US" dirty="0"/>
              <a:t>10 minutes</a:t>
            </a:r>
          </a:p>
          <a:p>
            <a:pPr lvl="1"/>
            <a:r>
              <a:rPr lang="en-US" dirty="0"/>
              <a:t>Will cover reflective programming </a:t>
            </a:r>
          </a:p>
          <a:p>
            <a:pPr lvl="2"/>
            <a:r>
              <a:rPr lang="en-US" dirty="0"/>
              <a:t>Reflection, annotations, and proxies</a:t>
            </a:r>
          </a:p>
          <a:p>
            <a:pPr lvl="3"/>
            <a:r>
              <a:rPr lang="en-US"/>
              <a:t>Not </a:t>
            </a:r>
            <a:r>
              <a:rPr lang="en-US" dirty="0"/>
              <a:t>include lazy loading, mock testing</a:t>
            </a:r>
          </a:p>
          <a:p>
            <a:pPr lvl="1"/>
            <a:r>
              <a:rPr lang="en-US" dirty="0"/>
              <a:t>Will have MCQs and short answers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570FDD-9BEB-C655-EB6C-66CC053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3681600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F9C9-0387-5E71-2779-177DFBF80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AE21C5-ADB6-DD31-0E54-7B3B58E7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C17C4F-F57F-B43E-39F6-94AE5A05FB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679B87-1BFF-4B2F-8831-DB053A92A8E7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E45DED-B28F-6B00-D163-AC5B51F9B2DD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AB9E9F-5A11-1AF9-666F-13291B70AB43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154B43-3E5C-830E-247B-E8F0B4625A6B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24C4E5-3793-1FB5-9CAD-4C19380C5FC9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845C33B-8116-E82B-CB1B-6E3F2D8F5EBA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A12320-158D-E515-63CB-24A98860ACE9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3D36235-B8CF-236F-B3A4-0506714C21B3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2B70F23-1859-1645-3013-A09B064AC35D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C57B16B-795C-3C8D-1B53-77C955E09B84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1918BA4-F833-311A-974F-2F31CB210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B771898-EB8F-2E2F-44A5-88B1B6B68D60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4001E55-F84D-F2FB-4802-3B290AB230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F44458F-E004-D065-3876-FBF90032C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1B9BFF6-7715-4B7B-938F-1D553DDDD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06EB8B7-7C3E-CF7B-3ACD-DACA084B9D9C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6A9CB18-3312-2F63-8638-A3DC4185E2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561C569-FC00-9FC3-C602-512C996D9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178904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8C7E1-BD1F-E424-8865-6FA6129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455C7D-6286-928F-5FA0-85A70BAC4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EBA6D96-20DE-0C2C-1029-9CBB54C0C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FE68B-DE9A-B9E9-4F3A-70EAFD34815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3A680B-540C-E998-F045-8EE95AF75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9394694-F208-0A56-A30A-F9DF0005EA8A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6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BAD2-E99F-CE3E-979B-8123420EF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B4BDA3-511B-806D-A742-6B22F7624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864F21-A1C2-E25F-88E2-2790BBEFB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83CF8-0662-1985-9415-780BE10FA5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Clicking on ‘+’ loads the remaining replies</a:t>
            </a:r>
          </a:p>
          <a:p>
            <a:r>
              <a:rPr lang="en-US" dirty="0"/>
              <a:t>Dynamic proxies simplify implementing lazy loading</a:t>
            </a:r>
          </a:p>
          <a:p>
            <a:r>
              <a:rPr lang="en-US" dirty="0"/>
              <a:t>This class: </a:t>
            </a:r>
            <a:r>
              <a:rPr lang="en-US" i="1" dirty="0"/>
              <a:t>sketch of a solution (not full solution)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BFB92D-1DB2-CB8F-D327-EB9F7643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6473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Post </a:t>
            </a:r>
            <a:r>
              <a:rPr lang="en-US" dirty="0" err="1"/>
              <a:t>loadPost</a:t>
            </a:r>
            <a:r>
              <a:rPr lang="en-US" dirty="0"/>
              <a:t>(String id) {</a:t>
            </a:r>
          </a:p>
          <a:p>
            <a:r>
              <a:rPr lang="en-US" dirty="0"/>
              <a:t> map = </a:t>
            </a:r>
            <a:r>
              <a:rPr lang="en-US" dirty="0" err="1"/>
              <a:t>jedis.hgetAll</a:t>
            </a:r>
            <a:r>
              <a:rPr lang="en-US" dirty="0"/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(id);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dirty="0"/>
            </a:br>
            <a:r>
              <a:rPr lang="en-US" dirty="0"/>
              <a:t> List&lt;String&gt; replies =   	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childPosts</a:t>
            </a:r>
            <a:r>
              <a:rPr lang="en-US" dirty="0"/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// does not load the reply details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</a:t>
            </a:r>
            <a:r>
              <a:rPr lang="en-US" dirty="0" err="1"/>
              <a:t>createLazyLoadProxy</a:t>
            </a:r>
            <a:r>
              <a:rPr lang="en-US" dirty="0"/>
              <a:t>(post);</a:t>
            </a:r>
          </a:p>
          <a:p>
            <a:r>
              <a:rPr lang="en-US" dirty="0"/>
              <a:t>}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339188-70C5-9EA0-CC70-C307706B96E9}"/>
              </a:ext>
            </a:extLst>
          </p:cNvPr>
          <p:cNvSpPr/>
          <p:nvPr/>
        </p:nvSpPr>
        <p:spPr>
          <a:xfrm>
            <a:off x="846709" y="3412304"/>
            <a:ext cx="4018802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DC3CA-93B2-3CB8-723C-412568F2939A}"/>
              </a:ext>
            </a:extLst>
          </p:cNvPr>
          <p:cNvSpPr txBox="1"/>
          <p:nvPr/>
        </p:nvSpPr>
        <p:spPr>
          <a:xfrm>
            <a:off x="4152815" y="2903491"/>
            <a:ext cx="2821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Only set the Reply ID</a:t>
            </a:r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56205-EBFC-8CE2-ECBA-13CF2036F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E0FD91-1E49-B5B4-89D6-9AAA0E2E9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FFA7D9-A2AE-8C97-39AB-9BF2AE6995B5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DF35DF-A059-980A-9E54-CAAAB38BF36E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7899C1A-2087-6D6D-F9AD-325200EBA6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F2F94EF-9D38-35C7-DD1F-80C69C951FAE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9832223-A099-6675-A87B-0227B045EF41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D03AD3-6D77-7746-9B47-0E9C57E2B67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E22B77C-7F47-0ABE-9079-A76BDEF42389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18A04A-1418-5CA1-2E2E-EAB91B0C81E4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795CDCA-9818-099D-80D5-26A9C6B0278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02BF50A-A6C3-E6E5-56B9-FF23D3660897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A2D85EA-C283-626B-7343-1413600A52A8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7855D87-9BB1-4E01-D869-302652691C9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BA9C5E3-0CE4-DC52-0EAE-7DFED47453BB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B82C35-D991-DAAF-12C8-E539EB4658A1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C3CEAAF-F778-2097-337A-7AF2CBEA6CCD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0931E80-ABD9-4716-3038-6F53D1CF6F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DD66C81-A5F6-3256-20F7-F257BA1774B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71E606-24DE-D739-6682-0123C668B090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854DF49-7524-E60F-9C32-E981AD80B74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A26E1FE-9FB3-BCD1-BF91-195CBD56B529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E2C0BA5-72E0-0029-43FE-0EE6AA78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 // only the id is populated</a:t>
            </a:r>
          </a:p>
          <a:p>
            <a:r>
              <a:rPr lang="en-US" dirty="0"/>
              <a:t>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BDE434-BC54-1E05-6850-E837A95C66FB}"/>
              </a:ext>
            </a:extLst>
          </p:cNvPr>
          <p:cNvSpPr txBox="1"/>
          <p:nvPr/>
        </p:nvSpPr>
        <p:spPr>
          <a:xfrm>
            <a:off x="5972733" y="5377780"/>
            <a:ext cx="6219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Lazy loading code is provided by the proxy class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32CE4C-999D-B73D-07FC-780D537AC682}"/>
              </a:ext>
            </a:extLst>
          </p:cNvPr>
          <p:cNvSpPr/>
          <p:nvPr/>
        </p:nvSpPr>
        <p:spPr>
          <a:xfrm>
            <a:off x="566626" y="732678"/>
            <a:ext cx="4018802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9617F2-F808-97F0-68B3-93C4B13B565F}"/>
              </a:ext>
            </a:extLst>
          </p:cNvPr>
          <p:cNvSpPr txBox="1"/>
          <p:nvPr/>
        </p:nvSpPr>
        <p:spPr>
          <a:xfrm>
            <a:off x="4549066" y="692713"/>
            <a:ext cx="48603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 calls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 transparently</a:t>
            </a:r>
          </a:p>
        </p:txBody>
      </p:sp>
    </p:spTree>
    <p:extLst>
      <p:ext uri="{BB962C8B-B14F-4D97-AF65-F5344CB8AC3E}">
        <p14:creationId xmlns:p14="http://schemas.microsoft.com/office/powerpoint/2010/main" val="2531281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D42E3-D39D-3119-D14B-9BC8ABA1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B8B0EC8-DFBA-EB4B-3F29-C28C62A0F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13BAD7-A2EF-CFCC-68F0-41C1CE5E65BC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DEA8CD-FC8C-B756-AF4F-877557258051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7DE81D-96AE-56C6-B7A3-324428C5578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71C5B4-BF59-1243-93A5-1F12EAA40253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FCA8BF-0396-A4D0-E8C4-511FF6E637BD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8F56D17-57C9-0286-D7D2-FEF78E14C754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36EDC-072D-9D47-1DDC-2DB31D3CEA2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3379F7-D4A0-44B2-A061-292CD27A601C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D666E-16F5-1FD0-3E60-B0DB9F06D29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D0441BD-125F-F3A1-C97F-17E85C79A9DA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F9C67D5-528F-957B-9445-0F7D81D0998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BD03488-D392-8CE8-0E2A-827F9CE84A5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3722EBC-C601-35A9-B7CB-A1E393D0643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6E445F5-0A7B-171E-33C8-69C84BAC96D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3DBCABF-B77A-8601-2F6B-EDD896F63362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A4A1ECF-C880-1C5F-358B-4D543EFABD4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7E5E777-F4A0-FEA3-FB9A-3DD716A117E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E211EB4-488A-36B5-7E5B-04BCD5C1FDF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6A92A14-87C0-D85C-B294-F6A1C89C81A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0168A8-68BA-F705-D5DB-1DA2533681C0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C16ED9C-C67E-1F4F-6C30-0D2C1A221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createLazyLoadProxy</a:t>
            </a:r>
            <a:r>
              <a:rPr lang="en-US" dirty="0"/>
              <a:t>(Object target) {</a:t>
            </a:r>
          </a:p>
          <a:p>
            <a:r>
              <a:rPr lang="en-US" dirty="0"/>
              <a:t>	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	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	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LazyLoadMethodHandler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/>
              <a:t>	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	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	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	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invoke(…) throws Throwable {</a:t>
            </a:r>
          </a:p>
          <a:p>
            <a:r>
              <a:rPr lang="en-US" dirty="0"/>
              <a:t>		// Code to invoke </a:t>
            </a:r>
            <a:r>
              <a:rPr lang="en-US" dirty="0" err="1"/>
              <a:t>loadReplies</a:t>
            </a:r>
            <a:r>
              <a:rPr lang="en-US" dirty="0"/>
              <a:t>();</a:t>
            </a:r>
          </a:p>
          <a:p>
            <a:r>
              <a:rPr lang="en-US" dirty="0"/>
              <a:t>		// if </a:t>
            </a:r>
            <a:r>
              <a:rPr lang="en-US" dirty="0" err="1"/>
              <a:t>getReplies</a:t>
            </a:r>
            <a:r>
              <a:rPr lang="en-US" dirty="0"/>
              <a:t>() is invoked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0DB0AF-F261-544B-A91D-FFD5BC6BCDD1}"/>
              </a:ext>
            </a:extLst>
          </p:cNvPr>
          <p:cNvSpPr txBox="1"/>
          <p:nvPr/>
        </p:nvSpPr>
        <p:spPr>
          <a:xfrm>
            <a:off x="5972733" y="5377780"/>
            <a:ext cx="598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createLazyLoadProxy</a:t>
            </a:r>
            <a:r>
              <a:rPr lang="en-US" sz="2400" b="1" i="1" dirty="0"/>
              <a:t> returns the proxy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43324C-DDDD-8857-3213-C3D047474711}"/>
              </a:ext>
            </a:extLst>
          </p:cNvPr>
          <p:cNvSpPr/>
          <p:nvPr/>
        </p:nvSpPr>
        <p:spPr>
          <a:xfrm>
            <a:off x="382910" y="732354"/>
            <a:ext cx="4736008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50BE4B-AF39-342F-4812-1B505D4970FA}"/>
              </a:ext>
            </a:extLst>
          </p:cNvPr>
          <p:cNvSpPr txBox="1"/>
          <p:nvPr/>
        </p:nvSpPr>
        <p:spPr>
          <a:xfrm>
            <a:off x="5361965" y="682156"/>
            <a:ext cx="332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Create </a:t>
            </a:r>
            <a:r>
              <a:rPr lang="en-US" sz="2400" b="1" i="1" dirty="0" err="1"/>
              <a:t>PostProxy</a:t>
            </a:r>
            <a:r>
              <a:rPr lang="en-US" sz="2400" b="1" i="1" dirty="0"/>
              <a:t> objects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57F15B-65C1-090D-B4C9-B749751FCA67}"/>
              </a:ext>
            </a:extLst>
          </p:cNvPr>
          <p:cNvSpPr/>
          <p:nvPr/>
        </p:nvSpPr>
        <p:spPr>
          <a:xfrm>
            <a:off x="486065" y="3722021"/>
            <a:ext cx="5085574" cy="202070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9DF5D2-05AB-855C-2F04-494C9AE9CEEA}"/>
              </a:ext>
            </a:extLst>
          </p:cNvPr>
          <p:cNvSpPr txBox="1"/>
          <p:nvPr/>
        </p:nvSpPr>
        <p:spPr>
          <a:xfrm>
            <a:off x="2276423" y="4985726"/>
            <a:ext cx="27449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Invoke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1109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  <p:bldP spid="12" grpId="0" animBg="1"/>
      <p:bldP spid="12" grpId="1" animBg="1"/>
      <p:bldP spid="22" grpId="0"/>
      <p:bldP spid="22" grpId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5005138" y="1614311"/>
            <a:ext cx="3333711" cy="3074919"/>
          </a:xfrm>
          <a:prstGeom prst="curvedConnector4">
            <a:avLst>
              <a:gd name="adj1" fmla="val 46571"/>
              <a:gd name="adj2" fmla="val 107434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17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post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7E306-BA90-EAA3-7FE7-5520DB379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B7E65-DC75-116F-2FC5-F15B10E74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021FD1C-9C5E-46B6-A916-842886ADB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C3C3294-DB00-9B02-B50E-63EF2A9BF9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Mockito proxy objects record method invocations the first time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replay the configured return value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8F8D92-A706-3BF8-D36B-361F82EC5F42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123B30-917D-F085-2FBD-49E57CABAD36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777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7863"/>
            <a:ext cx="4280510" cy="436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473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D6098-C887-1617-5FC5-2D499ADD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94ACB-6420-83D3-3AB8-E756E24ED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7489D0-99C7-81F8-0434-06E8F1AE5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8ED6A-9994-EA70-98D8-4A23D984126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97E519-640B-9E9D-F419-071497C3498E}"/>
              </a:ext>
            </a:extLst>
          </p:cNvPr>
          <p:cNvSpPr/>
          <p:nvPr/>
        </p:nvSpPr>
        <p:spPr>
          <a:xfrm>
            <a:off x="6540701" y="2483556"/>
            <a:ext cx="4905033" cy="160302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136971-A52E-7277-1C43-3DAB80A2DAE2}"/>
              </a:ext>
            </a:extLst>
          </p:cNvPr>
          <p:cNvSpPr/>
          <p:nvPr/>
        </p:nvSpPr>
        <p:spPr>
          <a:xfrm>
            <a:off x="6096000" y="4526844"/>
            <a:ext cx="5349734" cy="97367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0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15156</TotalTime>
  <Words>15293</Words>
  <Application>Microsoft Office PowerPoint</Application>
  <PresentationFormat>Widescreen</PresentationFormat>
  <Paragraphs>2574</Paragraphs>
  <Slides>170</Slides>
  <Notes>63</Notes>
  <HiddenSlides>18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170</vt:i4>
      </vt:variant>
    </vt:vector>
  </HeadingPairs>
  <TitlesOfParts>
    <vt:vector size="177" baseType="lpstr">
      <vt:lpstr>Arial</vt:lpstr>
      <vt:lpstr>Calibri</vt:lpstr>
      <vt:lpstr>Consolas</vt:lpstr>
      <vt:lpstr>Helvetica</vt:lpstr>
      <vt:lpstr>ui-monospace</vt:lpstr>
      <vt:lpstr>Wingdings</vt:lpstr>
      <vt:lpstr>Preso 2022 Watertower Stats</vt:lpstr>
      <vt:lpstr>PowerPoint Presentation</vt:lpstr>
      <vt:lpstr>Agenda</vt:lpstr>
      <vt:lpstr>Next few topics</vt:lpstr>
      <vt:lpstr>Recall: Redis persistence from HW1</vt:lpstr>
      <vt:lpstr>Potential design</vt:lpstr>
      <vt:lpstr>Thought experiment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PowerPoint Presentation</vt:lpstr>
      <vt:lpstr>Announcements</vt:lpstr>
      <vt:lpstr>Agenda</vt:lpstr>
      <vt:lpstr>Reflection and metaprogramming</vt:lpstr>
      <vt:lpstr>Key classes</vt:lpstr>
      <vt:lpstr>Reflection recap</vt:lpstr>
      <vt:lpstr>Reflection recap</vt:lpstr>
      <vt:lpstr>Reflection and metaprogramming</vt:lpstr>
      <vt:lpstr>Why reflection?</vt:lpstr>
      <vt:lpstr>Possible ideas</vt:lpstr>
      <vt:lpstr>Possible ideas</vt:lpstr>
      <vt:lpstr>Possible ideas</vt:lpstr>
      <vt:lpstr>Possible ideas</vt:lpstr>
      <vt:lpstr>Why reflection?</vt:lpstr>
      <vt:lpstr>Reflection recap</vt:lpstr>
      <vt:lpstr>Loading all classes</vt:lpstr>
      <vt:lpstr>PowerPoint Presentation</vt:lpstr>
      <vt:lpstr>Reflection recap</vt:lpstr>
      <vt:lpstr>Discussion: design problem</vt:lpstr>
      <vt:lpstr>Discussion: design problem</vt:lpstr>
      <vt:lpstr>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PowerPoint Presentation</vt:lpstr>
      <vt:lpstr>Agenda</vt:lpstr>
      <vt:lpstr>Reflection alternatives and optimizations</vt:lpstr>
      <vt:lpstr>Reflection alternatives and optimizations</vt:lpstr>
      <vt:lpstr>Bytecode instrumentation</vt:lpstr>
      <vt:lpstr>Bytecode instrumentation</vt:lpstr>
      <vt:lpstr>Runtime bytecode generation and manipulation</vt:lpstr>
      <vt:lpstr>Runtime bytecode generation and manipulation</vt:lpstr>
      <vt:lpstr>Reflection in JavaScript [Not in Syllabus]</vt:lpstr>
      <vt:lpstr>Reflection in C++ [Not in Syllabus]</vt:lpstr>
      <vt:lpstr>PowerPoint Presentation</vt:lpstr>
      <vt:lpstr>Agenda</vt:lpstr>
      <vt:lpstr>Background: super</vt:lpstr>
      <vt:lpstr>Design patterns – quick overview</vt:lpstr>
      <vt:lpstr>Proxy design pattern - what is a proxy object?</vt:lpstr>
      <vt:lpstr>The need for method “interception”</vt:lpstr>
      <vt:lpstr>How to specialize a class?</vt:lpstr>
      <vt:lpstr>Can pass LoggedJedis object to libGameEngine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 (extra-credit HW2)</vt:lpstr>
      <vt:lpstr>Proxying using Javassist (extra-credit HW2)</vt:lpstr>
      <vt:lpstr>Proxying using Javassist (extra-credit HW2)</vt:lpstr>
      <vt:lpstr>Complete solution</vt:lpstr>
      <vt:lpstr>PowerPoint Presentation</vt:lpstr>
      <vt:lpstr>Agenda</vt:lpstr>
      <vt:lpstr>Announcements</vt:lpstr>
      <vt:lpstr>Announcements</vt:lpstr>
      <vt:lpstr>Proxies: recap</vt:lpstr>
      <vt:lpstr>Proxies: recap</vt:lpstr>
      <vt:lpstr>Proxies: recap</vt:lpstr>
      <vt:lpstr>Proxies: recap</vt:lpstr>
      <vt:lpstr>Proxies: recap</vt:lpstr>
      <vt:lpstr>Demo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PowerPoint Presentation</vt:lpstr>
      <vt:lpstr>Agenda</vt:lpstr>
      <vt:lpstr>Announcements</vt:lpstr>
      <vt:lpstr>Loading posts</vt:lpstr>
      <vt:lpstr>Lazy loading posts UI</vt:lpstr>
      <vt:lpstr>Lazy loading posts UI</vt:lpstr>
      <vt:lpstr>Proxies: recap</vt:lpstr>
      <vt:lpstr>Proxies for lazy loading</vt:lpstr>
      <vt:lpstr>Proxies for lazy loading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1531</cp:revision>
  <dcterms:created xsi:type="dcterms:W3CDTF">2019-06-30T03:25:06Z</dcterms:created>
  <dcterms:modified xsi:type="dcterms:W3CDTF">2025-10-22T18:45:26Z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